
<file path=[Content_Types].xml><?xml version="1.0" encoding="utf-8"?>
<Types xmlns="http://schemas.openxmlformats.org/package/2006/content-types">
  <Default Extension="emf" ContentType="image/x-emf"/>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70" r:id="rId3"/>
    <p:sldId id="271" r:id="rId4"/>
    <p:sldId id="257" r:id="rId5"/>
    <p:sldId id="267" r:id="rId6"/>
    <p:sldId id="269" r:id="rId7"/>
    <p:sldId id="258" r:id="rId8"/>
    <p:sldId id="259" r:id="rId9"/>
    <p:sldId id="274" r:id="rId10"/>
    <p:sldId id="279" r:id="rId11"/>
    <p:sldId id="280" r:id="rId12"/>
    <p:sldId id="281" r:id="rId13"/>
    <p:sldId id="282" r:id="rId14"/>
    <p:sldId id="272" r:id="rId15"/>
    <p:sldId id="261" r:id="rId16"/>
    <p:sldId id="262" r:id="rId17"/>
    <p:sldId id="268" r:id="rId18"/>
    <p:sldId id="283" r:id="rId19"/>
    <p:sldId id="284" r:id="rId20"/>
    <p:sldId id="286" r:id="rId21"/>
    <p:sldId id="285" r:id="rId22"/>
    <p:sldId id="287" r:id="rId23"/>
    <p:sldId id="266" r:id="rId24"/>
    <p:sldId id="288" r:id="rId25"/>
    <p:sldId id="289" r:id="rId26"/>
    <p:sldId id="290" r:id="rId27"/>
    <p:sldId id="291" r:id="rId28"/>
    <p:sldId id="292" r:id="rId29"/>
    <p:sldId id="293" r:id="rId30"/>
    <p:sldId id="294" r:id="rId31"/>
    <p:sldId id="295" r:id="rId3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9E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36"/>
    <p:restoredTop sz="94659"/>
  </p:normalViewPr>
  <p:slideViewPr>
    <p:cSldViewPr snapToGrid="0">
      <p:cViewPr varScale="1">
        <p:scale>
          <a:sx n="95" d="100"/>
          <a:sy n="95" d="100"/>
        </p:scale>
        <p:origin x="184" y="1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E4212E-5C19-8F4B-B1E2-F483A68EF5E0}"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kumimoji="1" lang="ja-JP" altLang="en-US"/>
        </a:p>
      </dgm:t>
    </dgm:pt>
    <dgm:pt modelId="{18F8C3FE-0B33-2D4F-904F-DC3A3908A8CB}">
      <dgm:prSet/>
      <dgm:spPr/>
      <dgm:t>
        <a:bodyPr/>
        <a:lstStyle/>
        <a:p>
          <a:r>
            <a:rPr kumimoji="1" lang="en-US"/>
            <a:t>5. </a:t>
          </a:r>
          <a:r>
            <a:rPr kumimoji="1" lang="ja-JP"/>
            <a:t>提案手法</a:t>
          </a:r>
          <a:endParaRPr lang="ja-JP"/>
        </a:p>
      </dgm:t>
    </dgm:pt>
    <dgm:pt modelId="{AD220BA5-B6D8-D74B-9F8F-F29E66A9559C}" type="parTrans" cxnId="{127719F7-2871-8F45-9F70-7147AAC1362C}">
      <dgm:prSet/>
      <dgm:spPr/>
      <dgm:t>
        <a:bodyPr/>
        <a:lstStyle/>
        <a:p>
          <a:endParaRPr kumimoji="1" lang="ja-JP" altLang="en-US"/>
        </a:p>
      </dgm:t>
    </dgm:pt>
    <dgm:pt modelId="{738AF155-8850-AD4B-AE6B-4C21CC00CF4C}" type="sibTrans" cxnId="{127719F7-2871-8F45-9F70-7147AAC1362C}">
      <dgm:prSet/>
      <dgm:spPr/>
      <dgm:t>
        <a:bodyPr/>
        <a:lstStyle/>
        <a:p>
          <a:endParaRPr kumimoji="1" lang="ja-JP" altLang="en-US"/>
        </a:p>
      </dgm:t>
    </dgm:pt>
    <dgm:pt modelId="{82DFF773-1265-594C-9728-118A0770B472}">
      <dgm:prSet/>
      <dgm:spPr/>
      <dgm:t>
        <a:bodyPr/>
        <a:lstStyle/>
        <a:p>
          <a:r>
            <a:rPr kumimoji="1" lang="en-US"/>
            <a:t>6. </a:t>
          </a:r>
          <a:r>
            <a:rPr kumimoji="1" lang="ja-JP"/>
            <a:t>実験と考察</a:t>
          </a:r>
          <a:endParaRPr lang="ja-JP"/>
        </a:p>
      </dgm:t>
    </dgm:pt>
    <dgm:pt modelId="{912E3461-BA47-3740-BB77-D0C20103D0FD}" type="parTrans" cxnId="{91D080B9-15B0-FC41-A2BB-38B4F2461980}">
      <dgm:prSet/>
      <dgm:spPr/>
      <dgm:t>
        <a:bodyPr/>
        <a:lstStyle/>
        <a:p>
          <a:endParaRPr kumimoji="1" lang="ja-JP" altLang="en-US"/>
        </a:p>
      </dgm:t>
    </dgm:pt>
    <dgm:pt modelId="{E6A43458-EDB4-4647-B5A6-2D12C0E89E14}" type="sibTrans" cxnId="{91D080B9-15B0-FC41-A2BB-38B4F2461980}">
      <dgm:prSet/>
      <dgm:spPr/>
      <dgm:t>
        <a:bodyPr/>
        <a:lstStyle/>
        <a:p>
          <a:endParaRPr kumimoji="1" lang="ja-JP" altLang="en-US"/>
        </a:p>
      </dgm:t>
    </dgm:pt>
    <dgm:pt modelId="{8182B6BB-E90B-E340-B2E2-6FF5D863B169}">
      <dgm:prSet/>
      <dgm:spPr/>
      <dgm:t>
        <a:bodyPr/>
        <a:lstStyle/>
        <a:p>
          <a:r>
            <a:rPr kumimoji="1" lang="en-US"/>
            <a:t>7. </a:t>
          </a:r>
          <a:r>
            <a:rPr kumimoji="1" lang="ja-JP"/>
            <a:t>まとめと今後の展望</a:t>
          </a:r>
          <a:endParaRPr lang="ja-JP"/>
        </a:p>
      </dgm:t>
    </dgm:pt>
    <dgm:pt modelId="{D430B512-65B7-494D-B5F2-68EA7B874EC1}" type="parTrans" cxnId="{EC023042-EBE5-8B49-B0B7-F555E47E983E}">
      <dgm:prSet/>
      <dgm:spPr/>
      <dgm:t>
        <a:bodyPr/>
        <a:lstStyle/>
        <a:p>
          <a:endParaRPr kumimoji="1" lang="ja-JP" altLang="en-US"/>
        </a:p>
      </dgm:t>
    </dgm:pt>
    <dgm:pt modelId="{095C6E6D-7B7F-E94A-A1D4-61BEB25380F4}" type="sibTrans" cxnId="{EC023042-EBE5-8B49-B0B7-F555E47E983E}">
      <dgm:prSet/>
      <dgm:spPr/>
      <dgm:t>
        <a:bodyPr/>
        <a:lstStyle/>
        <a:p>
          <a:endParaRPr kumimoji="1" lang="ja-JP" altLang="en-US"/>
        </a:p>
      </dgm:t>
    </dgm:pt>
    <dgm:pt modelId="{F904DE24-B169-BA4B-A2CC-FFEACEC7C262}" type="pres">
      <dgm:prSet presAssocID="{D6E4212E-5C19-8F4B-B1E2-F483A68EF5E0}" presName="diagram" presStyleCnt="0">
        <dgm:presLayoutVars>
          <dgm:dir/>
          <dgm:resizeHandles val="exact"/>
        </dgm:presLayoutVars>
      </dgm:prSet>
      <dgm:spPr/>
    </dgm:pt>
    <dgm:pt modelId="{F3ABDC8A-847F-ED40-BAF7-11E46437FBCA}" type="pres">
      <dgm:prSet presAssocID="{18F8C3FE-0B33-2D4F-904F-DC3A3908A8CB}" presName="node" presStyleLbl="node1" presStyleIdx="0" presStyleCnt="3">
        <dgm:presLayoutVars>
          <dgm:bulletEnabled val="1"/>
        </dgm:presLayoutVars>
      </dgm:prSet>
      <dgm:spPr/>
    </dgm:pt>
    <dgm:pt modelId="{EBF15B37-1B0E-654A-AFB7-C1D385048774}" type="pres">
      <dgm:prSet presAssocID="{738AF155-8850-AD4B-AE6B-4C21CC00CF4C}" presName="sibTrans" presStyleCnt="0"/>
      <dgm:spPr/>
    </dgm:pt>
    <dgm:pt modelId="{F832F736-24E2-404D-90C6-7016F223FDD0}" type="pres">
      <dgm:prSet presAssocID="{82DFF773-1265-594C-9728-118A0770B472}" presName="node" presStyleLbl="node1" presStyleIdx="1" presStyleCnt="3">
        <dgm:presLayoutVars>
          <dgm:bulletEnabled val="1"/>
        </dgm:presLayoutVars>
      </dgm:prSet>
      <dgm:spPr/>
    </dgm:pt>
    <dgm:pt modelId="{D522F634-836F-3843-AAB6-A92807C1F64E}" type="pres">
      <dgm:prSet presAssocID="{E6A43458-EDB4-4647-B5A6-2D12C0E89E14}" presName="sibTrans" presStyleCnt="0"/>
      <dgm:spPr/>
    </dgm:pt>
    <dgm:pt modelId="{5F89D5B3-67E0-4B48-9689-60497892ACDC}" type="pres">
      <dgm:prSet presAssocID="{8182B6BB-E90B-E340-B2E2-6FF5D863B169}" presName="node" presStyleLbl="node1" presStyleIdx="2" presStyleCnt="3">
        <dgm:presLayoutVars>
          <dgm:bulletEnabled val="1"/>
        </dgm:presLayoutVars>
      </dgm:prSet>
      <dgm:spPr/>
    </dgm:pt>
  </dgm:ptLst>
  <dgm:cxnLst>
    <dgm:cxn modelId="{B9AB7C1D-76EE-2E44-AF33-32ABB95D498B}" type="presOf" srcId="{D6E4212E-5C19-8F4B-B1E2-F483A68EF5E0}" destId="{F904DE24-B169-BA4B-A2CC-FFEACEC7C262}" srcOrd="0" destOrd="0" presId="urn:microsoft.com/office/officeart/2005/8/layout/default"/>
    <dgm:cxn modelId="{EC023042-EBE5-8B49-B0B7-F555E47E983E}" srcId="{D6E4212E-5C19-8F4B-B1E2-F483A68EF5E0}" destId="{8182B6BB-E90B-E340-B2E2-6FF5D863B169}" srcOrd="2" destOrd="0" parTransId="{D430B512-65B7-494D-B5F2-68EA7B874EC1}" sibTransId="{095C6E6D-7B7F-E94A-A1D4-61BEB25380F4}"/>
    <dgm:cxn modelId="{3ED82B8A-F219-4144-BB7A-3A208E1A7348}" type="presOf" srcId="{18F8C3FE-0B33-2D4F-904F-DC3A3908A8CB}" destId="{F3ABDC8A-847F-ED40-BAF7-11E46437FBCA}" srcOrd="0" destOrd="0" presId="urn:microsoft.com/office/officeart/2005/8/layout/default"/>
    <dgm:cxn modelId="{5D65F0AB-0D93-5A47-9A89-15C6D98B8840}" type="presOf" srcId="{8182B6BB-E90B-E340-B2E2-6FF5D863B169}" destId="{5F89D5B3-67E0-4B48-9689-60497892ACDC}" srcOrd="0" destOrd="0" presId="urn:microsoft.com/office/officeart/2005/8/layout/default"/>
    <dgm:cxn modelId="{91D080B9-15B0-FC41-A2BB-38B4F2461980}" srcId="{D6E4212E-5C19-8F4B-B1E2-F483A68EF5E0}" destId="{82DFF773-1265-594C-9728-118A0770B472}" srcOrd="1" destOrd="0" parTransId="{912E3461-BA47-3740-BB77-D0C20103D0FD}" sibTransId="{E6A43458-EDB4-4647-B5A6-2D12C0E89E14}"/>
    <dgm:cxn modelId="{6FC67AC7-9C71-1647-B259-726DA598D7DD}" type="presOf" srcId="{82DFF773-1265-594C-9728-118A0770B472}" destId="{F832F736-24E2-404D-90C6-7016F223FDD0}" srcOrd="0" destOrd="0" presId="urn:microsoft.com/office/officeart/2005/8/layout/default"/>
    <dgm:cxn modelId="{127719F7-2871-8F45-9F70-7147AAC1362C}" srcId="{D6E4212E-5C19-8F4B-B1E2-F483A68EF5E0}" destId="{18F8C3FE-0B33-2D4F-904F-DC3A3908A8CB}" srcOrd="0" destOrd="0" parTransId="{AD220BA5-B6D8-D74B-9F8F-F29E66A9559C}" sibTransId="{738AF155-8850-AD4B-AE6B-4C21CC00CF4C}"/>
    <dgm:cxn modelId="{4F8D5B9A-9A28-9B4B-BB8E-58F9ED5FCAE2}" type="presParOf" srcId="{F904DE24-B169-BA4B-A2CC-FFEACEC7C262}" destId="{F3ABDC8A-847F-ED40-BAF7-11E46437FBCA}" srcOrd="0" destOrd="0" presId="urn:microsoft.com/office/officeart/2005/8/layout/default"/>
    <dgm:cxn modelId="{76BFDEB2-702A-0A4A-ACF0-04FBCE5CA01D}" type="presParOf" srcId="{F904DE24-B169-BA4B-A2CC-FFEACEC7C262}" destId="{EBF15B37-1B0E-654A-AFB7-C1D385048774}" srcOrd="1" destOrd="0" presId="urn:microsoft.com/office/officeart/2005/8/layout/default"/>
    <dgm:cxn modelId="{782BC4CA-BB6D-0244-A1A7-60060C52503E}" type="presParOf" srcId="{F904DE24-B169-BA4B-A2CC-FFEACEC7C262}" destId="{F832F736-24E2-404D-90C6-7016F223FDD0}" srcOrd="2" destOrd="0" presId="urn:microsoft.com/office/officeart/2005/8/layout/default"/>
    <dgm:cxn modelId="{91A5DE3A-3C25-0F4E-81AC-B33AAAAEE777}" type="presParOf" srcId="{F904DE24-B169-BA4B-A2CC-FFEACEC7C262}" destId="{D522F634-836F-3843-AAB6-A92807C1F64E}" srcOrd="3" destOrd="0" presId="urn:microsoft.com/office/officeart/2005/8/layout/default"/>
    <dgm:cxn modelId="{D9C72498-0838-E34E-9AD1-462E677E455B}" type="presParOf" srcId="{F904DE24-B169-BA4B-A2CC-FFEACEC7C262}" destId="{5F89D5B3-67E0-4B48-9689-60497892ACDC}"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297D67-2335-1A49-A67A-43E20BD6984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kumimoji="1" lang="ja-JP" altLang="en-US"/>
        </a:p>
      </dgm:t>
    </dgm:pt>
    <dgm:pt modelId="{39336AC0-BC9A-8346-97A9-F2B3DF0C645C}">
      <dgm:prSet/>
      <dgm:spPr/>
      <dgm:t>
        <a:bodyPr/>
        <a:lstStyle/>
        <a:p>
          <a:r>
            <a:rPr kumimoji="1" lang="en-US" dirty="0"/>
            <a:t>1. XAI </a:t>
          </a:r>
          <a:r>
            <a:rPr kumimoji="1" lang="ja-JP"/>
            <a:t>説明可能な</a:t>
          </a:r>
          <a:r>
            <a:rPr kumimoji="1" lang="en-US" dirty="0"/>
            <a:t>AI</a:t>
          </a:r>
          <a:endParaRPr lang="ja-JP"/>
        </a:p>
      </dgm:t>
    </dgm:pt>
    <dgm:pt modelId="{0F7F37E1-AEC8-9D47-A0D2-FD133110C0B6}" type="parTrans" cxnId="{FDFD3C00-72F7-1449-A706-04801D552F9D}">
      <dgm:prSet/>
      <dgm:spPr/>
      <dgm:t>
        <a:bodyPr/>
        <a:lstStyle/>
        <a:p>
          <a:endParaRPr kumimoji="1" lang="ja-JP" altLang="en-US"/>
        </a:p>
      </dgm:t>
    </dgm:pt>
    <dgm:pt modelId="{83CF659A-67A2-674A-BC8B-B68E485EF852}" type="sibTrans" cxnId="{FDFD3C00-72F7-1449-A706-04801D552F9D}">
      <dgm:prSet/>
      <dgm:spPr/>
      <dgm:t>
        <a:bodyPr/>
        <a:lstStyle/>
        <a:p>
          <a:endParaRPr kumimoji="1" lang="ja-JP" altLang="en-US"/>
        </a:p>
      </dgm:t>
    </dgm:pt>
    <dgm:pt modelId="{444E57FE-10C1-984B-8736-166AA76E002C}">
      <dgm:prSet/>
      <dgm:spPr/>
      <dgm:t>
        <a:bodyPr/>
        <a:lstStyle/>
        <a:p>
          <a:r>
            <a:rPr kumimoji="1" lang="en-US"/>
            <a:t>2. LIME </a:t>
          </a:r>
          <a:endParaRPr lang="ja-JP"/>
        </a:p>
      </dgm:t>
    </dgm:pt>
    <dgm:pt modelId="{32F67C7F-ECAD-F545-AF12-79F6FE573FCF}" type="parTrans" cxnId="{13063AA9-BDFE-4B4B-95EB-D0E964F6C3DA}">
      <dgm:prSet/>
      <dgm:spPr/>
      <dgm:t>
        <a:bodyPr/>
        <a:lstStyle/>
        <a:p>
          <a:endParaRPr kumimoji="1" lang="ja-JP" altLang="en-US"/>
        </a:p>
      </dgm:t>
    </dgm:pt>
    <dgm:pt modelId="{2F9B6A5C-4128-D744-BB4A-0DEE8E78035B}" type="sibTrans" cxnId="{13063AA9-BDFE-4B4B-95EB-D0E964F6C3DA}">
      <dgm:prSet/>
      <dgm:spPr/>
      <dgm:t>
        <a:bodyPr/>
        <a:lstStyle/>
        <a:p>
          <a:endParaRPr kumimoji="1" lang="ja-JP" altLang="en-US"/>
        </a:p>
      </dgm:t>
    </dgm:pt>
    <dgm:pt modelId="{2878BCE8-365D-1E4E-AFF4-63891E40A669}">
      <dgm:prSet/>
      <dgm:spPr/>
      <dgm:t>
        <a:bodyPr/>
        <a:lstStyle/>
        <a:p>
          <a:r>
            <a:rPr kumimoji="1" lang="en-US" dirty="0"/>
            <a:t>3. </a:t>
          </a:r>
          <a:r>
            <a:rPr kumimoji="1" lang="ja-JP"/>
            <a:t>多クラスに応用した</a:t>
          </a:r>
          <a:r>
            <a:rPr kumimoji="1" lang="en-US" dirty="0"/>
            <a:t>LIME</a:t>
          </a:r>
          <a:endParaRPr lang="ja-JP"/>
        </a:p>
      </dgm:t>
    </dgm:pt>
    <dgm:pt modelId="{A879E3EA-2457-8A44-84AF-B3016059ADD9}" type="parTrans" cxnId="{160753FC-8D09-D14B-94BF-C8DFDD739012}">
      <dgm:prSet/>
      <dgm:spPr/>
      <dgm:t>
        <a:bodyPr/>
        <a:lstStyle/>
        <a:p>
          <a:endParaRPr kumimoji="1" lang="ja-JP" altLang="en-US"/>
        </a:p>
      </dgm:t>
    </dgm:pt>
    <dgm:pt modelId="{4DAD5FFD-04BB-B646-B5A4-C45F1CD0843A}" type="sibTrans" cxnId="{160753FC-8D09-D14B-94BF-C8DFDD739012}">
      <dgm:prSet/>
      <dgm:spPr/>
      <dgm:t>
        <a:bodyPr/>
        <a:lstStyle/>
        <a:p>
          <a:endParaRPr kumimoji="1" lang="ja-JP" altLang="en-US"/>
        </a:p>
      </dgm:t>
    </dgm:pt>
    <dgm:pt modelId="{67912E96-88EB-464B-96D3-8F67478B934B}">
      <dgm:prSet/>
      <dgm:spPr/>
      <dgm:t>
        <a:bodyPr/>
        <a:lstStyle/>
        <a:p>
          <a:r>
            <a:rPr kumimoji="1" lang="en-US"/>
            <a:t>4. </a:t>
          </a:r>
          <a:r>
            <a:rPr kumimoji="1" lang="ja-JP"/>
            <a:t>関連研究</a:t>
          </a:r>
          <a:endParaRPr lang="ja-JP"/>
        </a:p>
      </dgm:t>
    </dgm:pt>
    <dgm:pt modelId="{19999930-D2B0-E543-A25C-E1E7BA31AE7A}" type="parTrans" cxnId="{E678BA67-CA35-E740-A3FE-224B5BBE9342}">
      <dgm:prSet/>
      <dgm:spPr/>
      <dgm:t>
        <a:bodyPr/>
        <a:lstStyle/>
        <a:p>
          <a:endParaRPr kumimoji="1" lang="ja-JP" altLang="en-US"/>
        </a:p>
      </dgm:t>
    </dgm:pt>
    <dgm:pt modelId="{8E5263C3-C765-4D41-9AB3-515678EB58CB}" type="sibTrans" cxnId="{E678BA67-CA35-E740-A3FE-224B5BBE9342}">
      <dgm:prSet/>
      <dgm:spPr/>
      <dgm:t>
        <a:bodyPr/>
        <a:lstStyle/>
        <a:p>
          <a:endParaRPr kumimoji="1" lang="ja-JP" altLang="en-US"/>
        </a:p>
      </dgm:t>
    </dgm:pt>
    <dgm:pt modelId="{57D25B86-D799-A74C-A61D-23C757F19004}" type="pres">
      <dgm:prSet presAssocID="{D2297D67-2335-1A49-A67A-43E20BD69848}" presName="diagram" presStyleCnt="0">
        <dgm:presLayoutVars>
          <dgm:dir/>
          <dgm:resizeHandles val="exact"/>
        </dgm:presLayoutVars>
      </dgm:prSet>
      <dgm:spPr/>
    </dgm:pt>
    <dgm:pt modelId="{196B397A-255C-E249-893A-AF9C7C735318}" type="pres">
      <dgm:prSet presAssocID="{39336AC0-BC9A-8346-97A9-F2B3DF0C645C}" presName="node" presStyleLbl="node1" presStyleIdx="0" presStyleCnt="4">
        <dgm:presLayoutVars>
          <dgm:bulletEnabled val="1"/>
        </dgm:presLayoutVars>
      </dgm:prSet>
      <dgm:spPr/>
    </dgm:pt>
    <dgm:pt modelId="{835CF90B-7BCF-1E4B-AB9C-08CF04EB912A}" type="pres">
      <dgm:prSet presAssocID="{83CF659A-67A2-674A-BC8B-B68E485EF852}" presName="sibTrans" presStyleCnt="0"/>
      <dgm:spPr/>
    </dgm:pt>
    <dgm:pt modelId="{CB5DDE45-0874-3448-965C-E5415C03A098}" type="pres">
      <dgm:prSet presAssocID="{444E57FE-10C1-984B-8736-166AA76E002C}" presName="node" presStyleLbl="node1" presStyleIdx="1" presStyleCnt="4">
        <dgm:presLayoutVars>
          <dgm:bulletEnabled val="1"/>
        </dgm:presLayoutVars>
      </dgm:prSet>
      <dgm:spPr/>
    </dgm:pt>
    <dgm:pt modelId="{15D157E6-CBA9-ED48-9462-F67D4ACD6A7D}" type="pres">
      <dgm:prSet presAssocID="{2F9B6A5C-4128-D744-BB4A-0DEE8E78035B}" presName="sibTrans" presStyleCnt="0"/>
      <dgm:spPr/>
    </dgm:pt>
    <dgm:pt modelId="{860E7F1E-11EE-B04C-A214-AC22AEF122F8}" type="pres">
      <dgm:prSet presAssocID="{2878BCE8-365D-1E4E-AFF4-63891E40A669}" presName="node" presStyleLbl="node1" presStyleIdx="2" presStyleCnt="4">
        <dgm:presLayoutVars>
          <dgm:bulletEnabled val="1"/>
        </dgm:presLayoutVars>
      </dgm:prSet>
      <dgm:spPr/>
    </dgm:pt>
    <dgm:pt modelId="{1B24CCE6-3B77-794C-81F4-C41F295D6CE8}" type="pres">
      <dgm:prSet presAssocID="{4DAD5FFD-04BB-B646-B5A4-C45F1CD0843A}" presName="sibTrans" presStyleCnt="0"/>
      <dgm:spPr/>
    </dgm:pt>
    <dgm:pt modelId="{106A719B-3928-8A46-9F77-27AB9EB095E5}" type="pres">
      <dgm:prSet presAssocID="{67912E96-88EB-464B-96D3-8F67478B934B}" presName="node" presStyleLbl="node1" presStyleIdx="3" presStyleCnt="4">
        <dgm:presLayoutVars>
          <dgm:bulletEnabled val="1"/>
        </dgm:presLayoutVars>
      </dgm:prSet>
      <dgm:spPr/>
    </dgm:pt>
  </dgm:ptLst>
  <dgm:cxnLst>
    <dgm:cxn modelId="{FDFD3C00-72F7-1449-A706-04801D552F9D}" srcId="{D2297D67-2335-1A49-A67A-43E20BD69848}" destId="{39336AC0-BC9A-8346-97A9-F2B3DF0C645C}" srcOrd="0" destOrd="0" parTransId="{0F7F37E1-AEC8-9D47-A0D2-FD133110C0B6}" sibTransId="{83CF659A-67A2-674A-BC8B-B68E485EF852}"/>
    <dgm:cxn modelId="{AB4AE654-681B-194D-8B37-C394FDB97B59}" type="presOf" srcId="{444E57FE-10C1-984B-8736-166AA76E002C}" destId="{CB5DDE45-0874-3448-965C-E5415C03A098}" srcOrd="0" destOrd="0" presId="urn:microsoft.com/office/officeart/2005/8/layout/default"/>
    <dgm:cxn modelId="{30027A59-1707-3D4F-98F0-68B9F0218D85}" type="presOf" srcId="{2878BCE8-365D-1E4E-AFF4-63891E40A669}" destId="{860E7F1E-11EE-B04C-A214-AC22AEF122F8}" srcOrd="0" destOrd="0" presId="urn:microsoft.com/office/officeart/2005/8/layout/default"/>
    <dgm:cxn modelId="{E678BA67-CA35-E740-A3FE-224B5BBE9342}" srcId="{D2297D67-2335-1A49-A67A-43E20BD69848}" destId="{67912E96-88EB-464B-96D3-8F67478B934B}" srcOrd="3" destOrd="0" parTransId="{19999930-D2B0-E543-A25C-E1E7BA31AE7A}" sibTransId="{8E5263C3-C765-4D41-9AB3-515678EB58CB}"/>
    <dgm:cxn modelId="{13063AA9-BDFE-4B4B-95EB-D0E964F6C3DA}" srcId="{D2297D67-2335-1A49-A67A-43E20BD69848}" destId="{444E57FE-10C1-984B-8736-166AA76E002C}" srcOrd="1" destOrd="0" parTransId="{32F67C7F-ECAD-F545-AF12-79F6FE573FCF}" sibTransId="{2F9B6A5C-4128-D744-BB4A-0DEE8E78035B}"/>
    <dgm:cxn modelId="{81C654D1-7E13-4B44-B1BF-41170938461F}" type="presOf" srcId="{39336AC0-BC9A-8346-97A9-F2B3DF0C645C}" destId="{196B397A-255C-E249-893A-AF9C7C735318}" srcOrd="0" destOrd="0" presId="urn:microsoft.com/office/officeart/2005/8/layout/default"/>
    <dgm:cxn modelId="{5212FAEA-0643-EC4B-9787-5FF5B28CB7EB}" type="presOf" srcId="{D2297D67-2335-1A49-A67A-43E20BD69848}" destId="{57D25B86-D799-A74C-A61D-23C757F19004}" srcOrd="0" destOrd="0" presId="urn:microsoft.com/office/officeart/2005/8/layout/default"/>
    <dgm:cxn modelId="{160753FC-8D09-D14B-94BF-C8DFDD739012}" srcId="{D2297D67-2335-1A49-A67A-43E20BD69848}" destId="{2878BCE8-365D-1E4E-AFF4-63891E40A669}" srcOrd="2" destOrd="0" parTransId="{A879E3EA-2457-8A44-84AF-B3016059ADD9}" sibTransId="{4DAD5FFD-04BB-B646-B5A4-C45F1CD0843A}"/>
    <dgm:cxn modelId="{08959DFF-5943-4E40-83D0-AA306DB8D3B7}" type="presOf" srcId="{67912E96-88EB-464B-96D3-8F67478B934B}" destId="{106A719B-3928-8A46-9F77-27AB9EB095E5}" srcOrd="0" destOrd="0" presId="urn:microsoft.com/office/officeart/2005/8/layout/default"/>
    <dgm:cxn modelId="{ADBE0091-1970-E443-B7E3-EF0401FA65FC}" type="presParOf" srcId="{57D25B86-D799-A74C-A61D-23C757F19004}" destId="{196B397A-255C-E249-893A-AF9C7C735318}" srcOrd="0" destOrd="0" presId="urn:microsoft.com/office/officeart/2005/8/layout/default"/>
    <dgm:cxn modelId="{32290ECD-2645-A240-8360-D61FBF565E3F}" type="presParOf" srcId="{57D25B86-D799-A74C-A61D-23C757F19004}" destId="{835CF90B-7BCF-1E4B-AB9C-08CF04EB912A}" srcOrd="1" destOrd="0" presId="urn:microsoft.com/office/officeart/2005/8/layout/default"/>
    <dgm:cxn modelId="{246B90B0-3B57-C94F-904E-5B7EB17261C5}" type="presParOf" srcId="{57D25B86-D799-A74C-A61D-23C757F19004}" destId="{CB5DDE45-0874-3448-965C-E5415C03A098}" srcOrd="2" destOrd="0" presId="urn:microsoft.com/office/officeart/2005/8/layout/default"/>
    <dgm:cxn modelId="{9BE7D426-743E-4D4C-8F1A-CCC9EC4DE2B8}" type="presParOf" srcId="{57D25B86-D799-A74C-A61D-23C757F19004}" destId="{15D157E6-CBA9-ED48-9462-F67D4ACD6A7D}" srcOrd="3" destOrd="0" presId="urn:microsoft.com/office/officeart/2005/8/layout/default"/>
    <dgm:cxn modelId="{4403A48B-B70F-DB44-AD59-9A74514CEE2A}" type="presParOf" srcId="{57D25B86-D799-A74C-A61D-23C757F19004}" destId="{860E7F1E-11EE-B04C-A214-AC22AEF122F8}" srcOrd="4" destOrd="0" presId="urn:microsoft.com/office/officeart/2005/8/layout/default"/>
    <dgm:cxn modelId="{87FF5FD9-232E-1645-93A1-3C0B45E9BE33}" type="presParOf" srcId="{57D25B86-D799-A74C-A61D-23C757F19004}" destId="{1B24CCE6-3B77-794C-81F4-C41F295D6CE8}" srcOrd="5" destOrd="0" presId="urn:microsoft.com/office/officeart/2005/8/layout/default"/>
    <dgm:cxn modelId="{1F5F9DB6-28CD-7D41-AFDD-BB4A9F09BC50}" type="presParOf" srcId="{57D25B86-D799-A74C-A61D-23C757F19004}" destId="{106A719B-3928-8A46-9F77-27AB9EB095E5}" srcOrd="6" destOrd="0" presId="urn:microsoft.com/office/officeart/2005/8/layout/defaul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ABDC8A-847F-ED40-BAF7-11E46437FBCA}">
      <dsp:nvSpPr>
        <dsp:cNvPr id="0" name=""/>
        <dsp:cNvSpPr/>
      </dsp:nvSpPr>
      <dsp:spPr>
        <a:xfrm>
          <a:off x="777999" y="2364"/>
          <a:ext cx="1915335" cy="1149201"/>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kumimoji="1" lang="en-US" sz="2600" kern="1200"/>
            <a:t>5. </a:t>
          </a:r>
          <a:r>
            <a:rPr kumimoji="1" lang="ja-JP" sz="2600" kern="1200"/>
            <a:t>提案手法</a:t>
          </a:r>
          <a:endParaRPr lang="ja-JP" sz="2600" kern="1200"/>
        </a:p>
      </dsp:txBody>
      <dsp:txXfrm>
        <a:off x="777999" y="2364"/>
        <a:ext cx="1915335" cy="1149201"/>
      </dsp:txXfrm>
    </dsp:sp>
    <dsp:sp modelId="{F832F736-24E2-404D-90C6-7016F223FDD0}">
      <dsp:nvSpPr>
        <dsp:cNvPr id="0" name=""/>
        <dsp:cNvSpPr/>
      </dsp:nvSpPr>
      <dsp:spPr>
        <a:xfrm>
          <a:off x="777999" y="1343099"/>
          <a:ext cx="1915335" cy="1149201"/>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kumimoji="1" lang="en-US" sz="2600" kern="1200"/>
            <a:t>6. </a:t>
          </a:r>
          <a:r>
            <a:rPr kumimoji="1" lang="ja-JP" sz="2600" kern="1200"/>
            <a:t>実験と考察</a:t>
          </a:r>
          <a:endParaRPr lang="ja-JP" sz="2600" kern="1200"/>
        </a:p>
      </dsp:txBody>
      <dsp:txXfrm>
        <a:off x="777999" y="1343099"/>
        <a:ext cx="1915335" cy="1149201"/>
      </dsp:txXfrm>
    </dsp:sp>
    <dsp:sp modelId="{5F89D5B3-67E0-4B48-9689-60497892ACDC}">
      <dsp:nvSpPr>
        <dsp:cNvPr id="0" name=""/>
        <dsp:cNvSpPr/>
      </dsp:nvSpPr>
      <dsp:spPr>
        <a:xfrm>
          <a:off x="777999" y="2683834"/>
          <a:ext cx="1915335" cy="1149201"/>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kumimoji="1" lang="en-US" sz="2600" kern="1200"/>
            <a:t>7. </a:t>
          </a:r>
          <a:r>
            <a:rPr kumimoji="1" lang="ja-JP" sz="2600" kern="1200"/>
            <a:t>まとめと今後の展望</a:t>
          </a:r>
          <a:endParaRPr lang="ja-JP" sz="2600" kern="1200"/>
        </a:p>
      </dsp:txBody>
      <dsp:txXfrm>
        <a:off x="777999" y="2683834"/>
        <a:ext cx="1915335" cy="11492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6B397A-255C-E249-893A-AF9C7C735318}">
      <dsp:nvSpPr>
        <dsp:cNvPr id="0" name=""/>
        <dsp:cNvSpPr/>
      </dsp:nvSpPr>
      <dsp:spPr>
        <a:xfrm>
          <a:off x="910799" y="2238"/>
          <a:ext cx="2048353" cy="1229012"/>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kumimoji="1" lang="en-US" sz="2400" kern="1200" dirty="0"/>
            <a:t>1. XAI </a:t>
          </a:r>
          <a:r>
            <a:rPr kumimoji="1" lang="ja-JP" sz="2400" kern="1200"/>
            <a:t>説明可能な</a:t>
          </a:r>
          <a:r>
            <a:rPr kumimoji="1" lang="en-US" sz="2400" kern="1200" dirty="0"/>
            <a:t>AI</a:t>
          </a:r>
          <a:endParaRPr lang="ja-JP" sz="2400" kern="1200"/>
        </a:p>
      </dsp:txBody>
      <dsp:txXfrm>
        <a:off x="910799" y="2238"/>
        <a:ext cx="2048353" cy="1229012"/>
      </dsp:txXfrm>
    </dsp:sp>
    <dsp:sp modelId="{CB5DDE45-0874-3448-965C-E5415C03A098}">
      <dsp:nvSpPr>
        <dsp:cNvPr id="0" name=""/>
        <dsp:cNvSpPr/>
      </dsp:nvSpPr>
      <dsp:spPr>
        <a:xfrm>
          <a:off x="910799" y="1436085"/>
          <a:ext cx="2048353" cy="1229012"/>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kumimoji="1" lang="en-US" sz="2400" kern="1200"/>
            <a:t>2. LIME </a:t>
          </a:r>
          <a:endParaRPr lang="ja-JP" sz="2400" kern="1200"/>
        </a:p>
      </dsp:txBody>
      <dsp:txXfrm>
        <a:off x="910799" y="1436085"/>
        <a:ext cx="2048353" cy="1229012"/>
      </dsp:txXfrm>
    </dsp:sp>
    <dsp:sp modelId="{860E7F1E-11EE-B04C-A214-AC22AEF122F8}">
      <dsp:nvSpPr>
        <dsp:cNvPr id="0" name=""/>
        <dsp:cNvSpPr/>
      </dsp:nvSpPr>
      <dsp:spPr>
        <a:xfrm>
          <a:off x="910799" y="2869933"/>
          <a:ext cx="2048353" cy="1229012"/>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kumimoji="1" lang="en-US" sz="2400" kern="1200" dirty="0"/>
            <a:t>3. </a:t>
          </a:r>
          <a:r>
            <a:rPr kumimoji="1" lang="ja-JP" sz="2400" kern="1200"/>
            <a:t>多クラスに応用した</a:t>
          </a:r>
          <a:r>
            <a:rPr kumimoji="1" lang="en-US" sz="2400" kern="1200" dirty="0"/>
            <a:t>LIME</a:t>
          </a:r>
          <a:endParaRPr lang="ja-JP" sz="2400" kern="1200"/>
        </a:p>
      </dsp:txBody>
      <dsp:txXfrm>
        <a:off x="910799" y="2869933"/>
        <a:ext cx="2048353" cy="1229012"/>
      </dsp:txXfrm>
    </dsp:sp>
    <dsp:sp modelId="{106A719B-3928-8A46-9F77-27AB9EB095E5}">
      <dsp:nvSpPr>
        <dsp:cNvPr id="0" name=""/>
        <dsp:cNvSpPr/>
      </dsp:nvSpPr>
      <dsp:spPr>
        <a:xfrm>
          <a:off x="910799" y="4303780"/>
          <a:ext cx="2048353" cy="1229012"/>
        </a:xfrm>
        <a:prstGeom prst="rect">
          <a:avLst/>
        </a:prstGeom>
        <a:solidFill>
          <a:schemeClr val="accent1">
            <a:hueOff val="0"/>
            <a:satOff val="0"/>
            <a:lumOff val="0"/>
            <a:alphaOff val="0"/>
          </a:schemeClr>
        </a:solidFill>
        <a:ln w="1905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kumimoji="1" lang="en-US" sz="2400" kern="1200"/>
            <a:t>4. </a:t>
          </a:r>
          <a:r>
            <a:rPr kumimoji="1" lang="ja-JP" sz="2400" kern="1200"/>
            <a:t>関連研究</a:t>
          </a:r>
          <a:endParaRPr lang="ja-JP" sz="2400" kern="1200"/>
        </a:p>
      </dsp:txBody>
      <dsp:txXfrm>
        <a:off x="910799" y="4303780"/>
        <a:ext cx="2048353" cy="122901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LIMEの基本的な仕組みを二値分類の例から説明し、Slide</a:t>
            </a:r>
            <a:r>
              <a:rPr dirty="0"/>
              <a:t> 6以降で多クラス分類へ話を広げる。今回はFisherの提案手法や実験結果には踏み込まず、研究の出発点を整理する。</a:t>
            </a:r>
          </a:p>
          <a:p>
            <a:endParaRPr dirty="0"/>
          </a:p>
          <a:p>
            <a:r>
              <a:rPr dirty="0"/>
              <a:t>[Sources]</a:t>
            </a:r>
          </a:p>
          <a:p>
            <a:r>
              <a:rPr dirty="0"/>
              <a:t>- https://</a:t>
            </a:r>
            <a:r>
              <a:rPr dirty="0" err="1"/>
              <a:t>arxiv.org</a:t>
            </a:r>
            <a:r>
              <a:rPr dirty="0"/>
              <a:t>/abs/1602.04938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XAIはExplainable</a:t>
            </a:r>
            <a:r>
              <a:rPr dirty="0"/>
              <a:t> Artificial Intelligenceの略。予測値だけでは分からない判断根拠を示し、予測の確認だけでなく、モデルが本質的でない特徴を学んでいないかを調べるデバッグにも役立つ。図の値は実験結果ではなく模式例。</a:t>
            </a:r>
          </a:p>
          <a:p>
            <a:endParaRPr dirty="0"/>
          </a:p>
          <a:p>
            <a:r>
              <a:rPr dirty="0"/>
              <a:t>[Sources]</a:t>
            </a:r>
          </a:p>
          <a:p>
            <a:r>
              <a:rPr dirty="0"/>
              <a:t>- https://</a:t>
            </a:r>
            <a:r>
              <a:rPr dirty="0" err="1"/>
              <a:t>arxiv.org</a:t>
            </a:r>
            <a:r>
              <a:rPr dirty="0"/>
              <a:t>/abs/1602.04938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D2F1E-E80A-D38C-27C6-E4DD3621B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5ABF99-7FAF-0DDA-FCA0-4300DA58A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4AAB7-9608-0CDC-C113-B41EF21CD4EA}"/>
              </a:ext>
            </a:extLst>
          </p:cNvPr>
          <p:cNvSpPr>
            <a:spLocks noGrp="1"/>
          </p:cNvSpPr>
          <p:nvPr>
            <p:ph type="body" idx="1"/>
          </p:nvPr>
        </p:nvSpPr>
        <p:spPr/>
        <p:txBody>
          <a:bodyPr/>
          <a:lstStyle/>
          <a:p>
            <a:r>
              <a:rPr dirty="0" err="1"/>
              <a:t>XAIはExplainable</a:t>
            </a:r>
            <a:r>
              <a:rPr dirty="0"/>
              <a:t> Artificial Intelligenceの略。予測値だけでは分からない判断根拠を示し、予測の確認だけでなく、モデルが本質的でない特徴を学んでいないかを調べるデバッグにも役立つ。図の値は実験結果ではなく模式例。</a:t>
            </a:r>
          </a:p>
          <a:p>
            <a:endParaRPr dirty="0"/>
          </a:p>
          <a:p>
            <a:r>
              <a:rPr dirty="0"/>
              <a:t>[Sources]</a:t>
            </a:r>
          </a:p>
          <a:p>
            <a:r>
              <a:rPr dirty="0"/>
              <a:t>- https://</a:t>
            </a:r>
            <a:r>
              <a:rPr dirty="0" err="1"/>
              <a:t>arxiv.org</a:t>
            </a:r>
            <a:r>
              <a:rPr dirty="0"/>
              <a:t>/abs/1602.04938</a:t>
            </a:r>
          </a:p>
        </p:txBody>
      </p:sp>
      <p:sp>
        <p:nvSpPr>
          <p:cNvPr id="4" name="Slide Number Placeholder 3">
            <a:extLst>
              <a:ext uri="{FF2B5EF4-FFF2-40B4-BE49-F238E27FC236}">
                <a16:creationId xmlns:a16="http://schemas.microsoft.com/office/drawing/2014/main" id="{DB40223A-206A-7457-0921-380E18E9E4B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69378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IMEはブラックボックス全体を一本の単純なモデルに置き換えるのではない。説明対象の入力周辺だけに重みを置き、その狭い範囲で元モデルと似た出力を返す解釈可能なモデルを学習する。したがって説明は局所的であり、別の入力では別の説明になりうる。</a:t>
            </a:r>
          </a:p>
          <a:p>
            <a:endParaRPr dirty="0"/>
          </a:p>
          <a:p>
            <a:r>
              <a:rPr dirty="0"/>
              <a:t>[Sources]</a:t>
            </a:r>
          </a:p>
          <a:p>
            <a:r>
              <a:rPr dirty="0"/>
              <a:t>- https://</a:t>
            </a:r>
            <a:r>
              <a:rPr dirty="0" err="1"/>
              <a:t>arxiv.org</a:t>
            </a:r>
            <a:r>
              <a:rPr dirty="0"/>
              <a:t>/abs/1602.04938</a:t>
            </a:r>
          </a:p>
          <a:p>
            <a:r>
              <a:rPr dirty="0"/>
              <a:t>
[Sources]
- Ribeiro, Singh &amp; </a:t>
            </a:r>
            <a:r>
              <a:rPr dirty="0" err="1"/>
              <a:t>Guestrin</a:t>
            </a:r>
            <a:r>
              <a:rPr dirty="0"/>
              <a:t>, ‘Why Should I Trust You?’, KDD 2016（LIMEの概念的根拠）
- Open Design Local </a:t>
            </a:r>
            <a:r>
              <a:rPr dirty="0" err="1"/>
              <a:t>Codexで作成した模式図。実験結果ではない</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件の入力を選び、周辺に人工サンプルを生成し、ブラックボックスの予測を取得する。元の入力に近いサンプルほど強く重み付けし、少数の特徴を使う局所モデルを学習する。目的関数の第1項は局所的な予測のずれ、第2項は説明モデルの複雑さを表す。</a:t>
            </a:r>
          </a:p>
          <a:p>
            <a:endParaRPr dirty="0"/>
          </a:p>
          <a:p>
            <a:r>
              <a:rPr dirty="0"/>
              <a:t>[Sources]</a:t>
            </a:r>
          </a:p>
          <a:p>
            <a:r>
              <a:rPr dirty="0"/>
              <a:t>- https://</a:t>
            </a:r>
            <a:r>
              <a:rPr dirty="0" err="1"/>
              <a:t>arxiv.org</a:t>
            </a:r>
            <a:r>
              <a:rPr dirty="0"/>
              <a:t>/abs/1602.04938</a:t>
            </a:r>
          </a:p>
          <a:p>
            <a:r>
              <a:rPr dirty="0"/>
              <a:t>- https://</a:t>
            </a:r>
            <a:r>
              <a:rPr dirty="0" err="1"/>
              <a:t>github.com</a:t>
            </a:r>
            <a:r>
              <a:rPr dirty="0"/>
              <a:t>/</a:t>
            </a:r>
            <a:r>
              <a:rPr dirty="0" err="1"/>
              <a:t>marcotcr</a:t>
            </a:r>
            <a:r>
              <a:rPr dirty="0"/>
              <a:t>/lime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ここで初めて多クラス分類へ広げる。one-vs-restは各クラスについて、そのクラス対その他という二値問題を作る代表的な多クラス化戦略。LIMEも多クラス分類器へ適用できるが、指定したラベルの確率列をクラスごとに別々に近似する。近傍は共有できても、局所モデルと特徴選択は別々になる。</a:t>
            </a:r>
          </a:p>
          <a:p>
            <a:endParaRPr dirty="0"/>
          </a:p>
          <a:p>
            <a:r>
              <a:rPr dirty="0"/>
              <a:t>[Sources]</a:t>
            </a:r>
          </a:p>
          <a:p>
            <a:r>
              <a:rPr dirty="0"/>
              <a:t>- https://</a:t>
            </a:r>
            <a:r>
              <a:rPr dirty="0" err="1"/>
              <a:t>arxiv.org</a:t>
            </a:r>
            <a:r>
              <a:rPr dirty="0"/>
              <a:t>/abs/1602.04938</a:t>
            </a:r>
          </a:p>
          <a:p>
            <a:r>
              <a:rPr dirty="0"/>
              <a:t>- https://</a:t>
            </a:r>
            <a:r>
              <a:rPr dirty="0" err="1"/>
              <a:t>github.com</a:t>
            </a:r>
            <a:r>
              <a:rPr dirty="0"/>
              <a:t>/</a:t>
            </a:r>
            <a:r>
              <a:rPr dirty="0" err="1"/>
              <a:t>marcotcr</a:t>
            </a:r>
            <a:r>
              <a:rPr dirty="0"/>
              <a:t>/lime/blob/master/lime/</a:t>
            </a:r>
            <a:r>
              <a:rPr dirty="0" err="1"/>
              <a:t>lime_base.py</a:t>
            </a:r>
            <a:endParaRPr dirty="0"/>
          </a:p>
          <a:p>
            <a:r>
              <a:rPr dirty="0"/>
              <a:t>- https://scikit-</a:t>
            </a:r>
            <a:r>
              <a:rPr dirty="0" err="1"/>
              <a:t>learn.org</a:t>
            </a:r>
            <a:r>
              <a:rPr dirty="0"/>
              <a:t>/stable/modules/generated/</a:t>
            </a:r>
            <a:r>
              <a:rPr dirty="0" err="1"/>
              <a:t>sklearn.multiclass.OneVsRestClassifier.html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クラス別の説明それぞれには意味がある。しかし、クラスごとに選ばれる特徴、順位、符号が異なると、利用者は複数の説明を横断してAとBの違いを組み立てなければならない。ここで問題にしているのは数理的な矛盾ではなく、多クラス全体を読む負担である。</a:t>
            </a:r>
          </a:p>
          <a:p>
            <a:endParaRPr dirty="0"/>
          </a:p>
          <a:p>
            <a:r>
              <a:rPr dirty="0"/>
              <a:t>[Sources]</a:t>
            </a:r>
          </a:p>
          <a:p>
            <a:r>
              <a:rPr dirty="0"/>
              <a:t>- https://</a:t>
            </a:r>
            <a:r>
              <a:rPr dirty="0" err="1"/>
              <a:t>arxiv.org</a:t>
            </a:r>
            <a:r>
              <a:rPr dirty="0"/>
              <a:t>/abs/2005.01427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11492790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研究目的は一つの指標を上げることではなく、多クラス説明のどの性質を改善するかを定義すること。予測再現なら忠実性、説明の一貫性なら共有構造や安定性、対比の理解なら人を含む評価が必要になる。次の段階では同じ入力に対する複数手法の出力を比較し、主対象を決める。</a:t>
            </a:r>
          </a:p>
          <a:p>
            <a:endParaRPr dirty="0"/>
          </a:p>
          <a:p>
            <a:r>
              <a:rPr dirty="0"/>
              <a:t>[Sources]</a:t>
            </a:r>
          </a:p>
          <a:p>
            <a:r>
              <a:rPr dirty="0"/>
              <a:t>- https://</a:t>
            </a:r>
            <a:r>
              <a:rPr dirty="0" err="1"/>
              <a:t>arxiv.org</a:t>
            </a:r>
            <a:r>
              <a:rPr dirty="0"/>
              <a:t>/abs/1602.04938</a:t>
            </a:r>
          </a:p>
          <a:p>
            <a:r>
              <a:rPr dirty="0"/>
              <a:t>- https://</a:t>
            </a:r>
            <a:r>
              <a:rPr dirty="0" err="1"/>
              <a:t>arxiv.org</a:t>
            </a:r>
            <a:r>
              <a:rPr dirty="0"/>
              <a:t>/abs/2005.01427</a:t>
            </a:r>
          </a:p>
          <a:p>
            <a:r>
              <a:rPr dirty="0"/>
              <a:t>- https://</a:t>
            </a:r>
            <a:r>
              <a:rPr dirty="0" err="1"/>
              <a:t>openreview.net</a:t>
            </a:r>
            <a:r>
              <a:rPr dirty="0"/>
              <a:t>/</a:t>
            </a:r>
            <a:r>
              <a:rPr dirty="0" err="1"/>
              <a:t>forum?id</a:t>
            </a:r>
            <a:r>
              <a:rPr dirty="0"/>
              <a:t>=R7946uagL2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評価設計の出典</a:t>
            </a:r>
            <a:r>
              <a:rPr dirty="0"/>
              <a:t>: docs/</a:t>
            </a:r>
            <a:r>
              <a:rPr dirty="0" err="1"/>
              <a:t>OVO_VS_OVR_EXPERIMENT_SUMMARY.md</a:t>
            </a:r>
            <a:r>
              <a:rPr dirty="0"/>
              <a:t>, </a:t>
            </a:r>
            <a:r>
              <a:rPr dirty="0" err="1"/>
              <a:t>src</a:t>
            </a:r>
            <a:r>
              <a:rPr dirty="0"/>
              <a:t>/</a:t>
            </a:r>
            <a:r>
              <a:rPr dirty="0" err="1"/>
              <a:t>fidelity.py</a:t>
            </a:r>
            <a:r>
              <a:rPr dirty="0"/>
              <a:t>, </a:t>
            </a:r>
            <a:r>
              <a:rPr dirty="0" err="1"/>
              <a:t>src</a:t>
            </a:r>
            <a:r>
              <a:rPr dirty="0"/>
              <a:t>/</a:t>
            </a:r>
            <a:r>
              <a:rPr dirty="0" err="1"/>
              <a:t>metrics.py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実験設定の出典</a:t>
            </a:r>
            <a:r>
              <a:rPr dirty="0"/>
              <a:t>: </a:t>
            </a:r>
            <a:r>
              <a:rPr dirty="0" err="1"/>
              <a:t>src</a:t>
            </a:r>
            <a:r>
              <a:rPr dirty="0"/>
              <a:t>/</a:t>
            </a:r>
            <a:r>
              <a:rPr dirty="0" err="1"/>
              <a:t>run_ovo_vs_ovr_experiment.py</a:t>
            </a:r>
            <a:r>
              <a:rPr dirty="0"/>
              <a:t>, </a:t>
            </a:r>
            <a:r>
              <a:rPr dirty="0" err="1"/>
              <a:t>src</a:t>
            </a:r>
            <a:r>
              <a:rPr dirty="0"/>
              <a:t>/</a:t>
            </a:r>
            <a:r>
              <a:rPr dirty="0" err="1"/>
              <a:t>run_blackbox_comparison_experiment.py</a:t>
            </a:r>
            <a:r>
              <a:rPr dirty="0"/>
              <a:t>, </a:t>
            </a:r>
            <a:r>
              <a:rPr dirty="0" err="1"/>
              <a:t>src</a:t>
            </a:r>
            <a:r>
              <a:rPr dirty="0"/>
              <a:t>/</a:t>
            </a:r>
            <a:r>
              <a:rPr dirty="0" err="1"/>
              <a:t>run_feature_role_experiment.py</a:t>
            </a:r>
            <a:r>
              <a:rPr dirty="0"/>
              <a:t>, </a:t>
            </a:r>
            <a:r>
              <a:rPr dirty="0" err="1"/>
              <a:t>src</a:t>
            </a:r>
            <a:r>
              <a:rPr dirty="0"/>
              <a:t>/</a:t>
            </a:r>
            <a:r>
              <a:rPr dirty="0" err="1"/>
              <a:t>run_timing_experiment.py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出典</a:t>
            </a:r>
            <a:r>
              <a:rPr dirty="0"/>
              <a:t>: results/</a:t>
            </a:r>
            <a:r>
              <a:rPr dirty="0" err="1"/>
              <a:t>pairwise_lime_baseline_comparison.png。説明</a:t>
            </a:r>
            <a:r>
              <a:rPr dirty="0"/>
              <a:t>: +0.0041は0.41ポイントであり、実用上大きいとは断言しない。5/18条件でHolm補正後も有意だが、主張は同じ特徴予算でも忠実度を保ったこと。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出典</a:t>
            </a:r>
            <a:r>
              <a:rPr dirty="0"/>
              <a:t>: results/</a:t>
            </a:r>
            <a:r>
              <a:rPr dirty="0" err="1"/>
              <a:t>blackbox_comparison.png。線形softmaxではlog</a:t>
            </a:r>
            <a:r>
              <a:rPr dirty="0"/>
              <a:t>(p1/p2)が線形スコア差と一致するためContrastiveが有利。非線形NNではsoftmaxでもlogit差が入力に対して非線形なので、その利点は弱まる。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出典</a:t>
            </a:r>
            <a:r>
              <a:rPr dirty="0"/>
              <a:t>: results/feature_role_comparison.png。共通特徴はAとBの確率を同方向に動かすため、各クラス単独の説明では重要でもA対Bの差には寄与しない。解釈性の直接的な人間評価ではなく、質問関連性を測る代理指標である。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出典</a:t>
            </a:r>
            <a:r>
              <a:rPr dirty="0"/>
              <a:t>: results/</a:t>
            </a:r>
            <a:r>
              <a:rPr dirty="0" err="1"/>
              <a:t>timing_scaling.png。C</a:t>
            </a:r>
            <a:r>
              <a:rPr dirty="0"/>
              <a:t>=10ではOVR 63.46ms、2クラスLIME 6.48ms、Contrastive 6.51ms。全クラス対を説明するOVOではなく、説明点のTop-1/Top-2の1ペアだけを作る場合の測定。</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説明時は、OVRとpairwiseが異なる問いへ答える点を明示する。解釈性を断定せず、既知の真値に対する特徴関連性が改善したと述べる。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OVO Logisticは失敗扱いではなく、正則化C、サンプル数、局所幅との相互作用を今後調べる。今回の結論は合成データとTop-1/Top-2に限定。</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最終結論。新規性は既存のpairwise説明やlog-oddsそのものではなく、Top-1/Top-2への適用と、OVR・通常LIME・log-odds </a:t>
            </a:r>
            <a:r>
              <a:rPr dirty="0" err="1"/>
              <a:t>Ridge・local</a:t>
            </a:r>
            <a:r>
              <a:rPr dirty="0"/>
              <a:t> </a:t>
            </a:r>
            <a:r>
              <a:rPr dirty="0" err="1"/>
              <a:t>logisticを同一条件で分解比較した実証設計に置く</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OV"/><Relationship Id="rId1" Type="http://schemas.microsoft.com/office/2007/relationships/media" Target="../media/media2.MOV"/><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OV"/><Relationship Id="rId1" Type="http://schemas.microsoft.com/office/2007/relationships/media" Target="../media/media3.MOV"/><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4.MOV"/><Relationship Id="rId1" Type="http://schemas.microsoft.com/office/2007/relationships/media" Target="../media/media4.MOV"/><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5.MOV"/><Relationship Id="rId1" Type="http://schemas.microsoft.com/office/2007/relationships/media" Target="../media/media5.MOV"/><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17A78FFF-9B69-4A91-AA42-579F155BBCE4}"/>
              </a:ext>
            </a:extLst>
          </p:cNvPr>
          <p:cNvSpPr>
            <a:spLocks noGrp="1"/>
          </p:cNvSpPr>
          <p:nvPr/>
        </p:nvSpPr>
        <p:spPr>
          <a:xfrm>
            <a:off x="0" y="0"/>
            <a:ext cx="171450" cy="6858000"/>
          </a:xfrm>
          <a:prstGeom prst="rect">
            <a:avLst/>
          </a:prstGeom>
          <a:solidFill>
            <a:srgbClr val="2563EB"/>
          </a:solidFill>
          <a:ln w="0">
            <a:solidFill>
              <a:srgbClr val="2563EB"/>
            </a:solidFill>
            <a:prstDash val="solid"/>
          </a:ln>
        </p:spPr>
        <p:txBody>
          <a:bodyPr/>
          <a:lstStyle/>
          <a:p>
            <a:endParaRPr lang="ja-JP" noProof="1"/>
          </a:p>
        </p:txBody>
      </p:sp>
      <p:sp>
        <p:nvSpPr>
          <p:cNvPr id="2" name="正方形/長方形 1">
            <a:extLst>
              <a:ext uri="{FF2B5EF4-FFF2-40B4-BE49-F238E27FC236}">
                <a16:creationId xmlns:a16="http://schemas.microsoft.com/office/drawing/2014/main" id="{F84B2074-DAA8-4AAB-BEB3-2641FD2B8DD5}"/>
              </a:ext>
            </a:extLst>
          </p:cNvPr>
          <p:cNvSpPr>
            <a:spLocks noGrp="1"/>
          </p:cNvSpPr>
          <p:nvPr/>
        </p:nvSpPr>
        <p:spPr>
          <a:xfrm>
            <a:off x="352985" y="215153"/>
            <a:ext cx="2857500" cy="323850"/>
          </a:xfrm>
          <a:prstGeom prst="rect">
            <a:avLst/>
          </a:prstGeom>
          <a:noFill/>
          <a:ln w="0">
            <a:noFill/>
            <a:prstDash val="solid"/>
          </a:ln>
        </p:spPr>
        <p:txBody>
          <a:bodyPr lIns="0" tIns="0" rIns="0" bIns="0" anchor="t">
            <a:noAutofit/>
          </a:bodyPr>
          <a:lstStyle/>
          <a:p>
            <a:pPr algn="l">
              <a:buNone/>
              <a:defRPr sz="1425" b="1">
                <a:solidFill>
                  <a:srgbClr val="2F6BDE"/>
                </a:solidFill>
                <a:latin typeface="Yu Gothic"/>
                <a:ea typeface="Yu Gothic"/>
                <a:cs typeface="Yu Gothic"/>
              </a:defRPr>
            </a:pPr>
            <a:r>
              <a:rPr lang="ja-JP" altLang="en-US" sz="1425" b="1" noProof="1">
                <a:solidFill>
                  <a:srgbClr val="2F6BDE"/>
                </a:solidFill>
                <a:latin typeface="Yu Gothic"/>
                <a:ea typeface="Yu Gothic"/>
                <a:cs typeface="Yu Gothic"/>
              </a:rPr>
              <a:t>齊藤研究室</a:t>
            </a:r>
            <a:r>
              <a:rPr lang="en-US" altLang="ja-JP" sz="1425" b="1" noProof="1">
                <a:solidFill>
                  <a:srgbClr val="2F6BDE"/>
                </a:solidFill>
                <a:latin typeface="Yu Gothic"/>
                <a:ea typeface="Yu Gothic"/>
                <a:cs typeface="Yu Gothic"/>
              </a:rPr>
              <a:t> </a:t>
            </a:r>
            <a:r>
              <a:rPr lang="ja-JP" sz="1425" b="1" noProof="1">
                <a:solidFill>
                  <a:srgbClr val="2F6BDE"/>
                </a:solidFill>
                <a:latin typeface="Yu Gothic"/>
                <a:ea typeface="Yu Gothic"/>
                <a:cs typeface="Yu Gothic"/>
              </a:rPr>
              <a:t>ゼミ中間発表</a:t>
            </a:r>
            <a:r>
              <a:rPr lang="en-US" altLang="ja-JP" sz="1425" b="1" noProof="1">
                <a:solidFill>
                  <a:srgbClr val="2F6BDE"/>
                </a:solidFill>
                <a:latin typeface="Yu Gothic"/>
                <a:ea typeface="Yu Gothic"/>
                <a:cs typeface="Yu Gothic"/>
              </a:rPr>
              <a:t>2026①</a:t>
            </a:r>
            <a:endParaRPr lang="ja-JP" sz="1425" b="1" noProof="1">
              <a:solidFill>
                <a:srgbClr val="2F6BDE"/>
              </a:solidFill>
              <a:latin typeface="Yu Gothic"/>
              <a:ea typeface="Yu Gothic"/>
              <a:cs typeface="Yu Gothic"/>
            </a:endParaRPr>
          </a:p>
        </p:txBody>
      </p:sp>
      <p:sp>
        <p:nvSpPr>
          <p:cNvPr id="3" name="cover-title">
            <a:extLst>
              <a:ext uri="{FF2B5EF4-FFF2-40B4-BE49-F238E27FC236}">
                <a16:creationId xmlns:a16="http://schemas.microsoft.com/office/drawing/2014/main" id="{2E43AB2B-2427-4746-ABA1-9F8EF1095148}"/>
              </a:ext>
            </a:extLst>
          </p:cNvPr>
          <p:cNvSpPr>
            <a:spLocks noGrp="1"/>
          </p:cNvSpPr>
          <p:nvPr/>
        </p:nvSpPr>
        <p:spPr>
          <a:xfrm>
            <a:off x="2029385" y="2571750"/>
            <a:ext cx="8853768" cy="1714500"/>
          </a:xfrm>
          <a:prstGeom prst="rect">
            <a:avLst/>
          </a:prstGeom>
          <a:noFill/>
          <a:ln w="0">
            <a:noFill/>
            <a:prstDash val="solid"/>
          </a:ln>
        </p:spPr>
        <p:txBody>
          <a:bodyPr lIns="0" tIns="0" rIns="0" bIns="0" anchor="t">
            <a:noAutofit/>
          </a:bodyPr>
          <a:lstStyle/>
          <a:p>
            <a:pPr algn="l">
              <a:lnSpc>
                <a:spcPct val="102000"/>
              </a:lnSpc>
              <a:buNone/>
              <a:defRPr sz="3750" b="1">
                <a:solidFill>
                  <a:srgbClr val="12233A"/>
                </a:solidFill>
                <a:latin typeface="Yu Gothic"/>
                <a:ea typeface="Yu Gothic"/>
                <a:cs typeface="Yu Gothic"/>
              </a:defRPr>
            </a:pPr>
            <a:r>
              <a:rPr lang="ja-JP" sz="6000" b="1" noProof="1">
                <a:solidFill>
                  <a:srgbClr val="12233A"/>
                </a:solidFill>
                <a:latin typeface="Yu Gothic"/>
                <a:ea typeface="Yu Gothic"/>
                <a:cs typeface="Yu Gothic"/>
              </a:rPr>
              <a:t>多クラス分類における</a:t>
            </a:r>
          </a:p>
          <a:p>
            <a:pPr algn="l">
              <a:lnSpc>
                <a:spcPct val="102000"/>
              </a:lnSpc>
              <a:buNone/>
              <a:defRPr sz="3750" b="1">
                <a:solidFill>
                  <a:srgbClr val="12233A"/>
                </a:solidFill>
                <a:latin typeface="Yu Gothic"/>
                <a:ea typeface="Yu Gothic"/>
                <a:cs typeface="Yu Gothic"/>
              </a:defRPr>
            </a:pPr>
            <a:r>
              <a:rPr lang="ja-JP" sz="6000" b="1" noProof="1">
                <a:solidFill>
                  <a:srgbClr val="12233A"/>
                </a:solidFill>
                <a:latin typeface="Yu Gothic"/>
                <a:ea typeface="Yu Gothic"/>
                <a:cs typeface="Yu Gothic"/>
              </a:rPr>
              <a:t>LIMEの説明方法と課題</a:t>
            </a:r>
          </a:p>
        </p:txBody>
      </p:sp>
      <p:cxnSp>
        <p:nvCxnSpPr>
          <p:cNvPr id="39" name="直線矢印コネクタ 16"/>
          <p:cNvCxnSpPr>
            <a:cxnSpLocks/>
          </p:cNvCxnSpPr>
          <p:nvPr/>
        </p:nvCxnSpPr>
        <p:spPr>
          <a:xfrm>
            <a:off x="685800" y="4476750"/>
            <a:ext cx="10708341" cy="0"/>
          </a:xfrm>
          <a:prstGeom prst="straightConnector1">
            <a:avLst/>
          </a:prstGeom>
          <a:ln w="19050">
            <a:solidFill>
              <a:srgbClr val="CBD5E1"/>
            </a:solidFill>
            <a:prstDash val="solid"/>
          </a:ln>
        </p:spPr>
      </p:cxnSp>
      <p:sp>
        <p:nvSpPr>
          <p:cNvPr id="6" name="正方形/長方形 5">
            <a:extLst>
              <a:ext uri="{FF2B5EF4-FFF2-40B4-BE49-F238E27FC236}">
                <a16:creationId xmlns:a16="http://schemas.microsoft.com/office/drawing/2014/main" id="{E06F0708-AD48-42F5-B4AE-2EE952E453FE}"/>
              </a:ext>
            </a:extLst>
          </p:cNvPr>
          <p:cNvSpPr>
            <a:spLocks noGrp="1"/>
          </p:cNvSpPr>
          <p:nvPr/>
        </p:nvSpPr>
        <p:spPr>
          <a:xfrm>
            <a:off x="4872317" y="4762500"/>
            <a:ext cx="3810000" cy="381000"/>
          </a:xfrm>
          <a:prstGeom prst="rect">
            <a:avLst/>
          </a:prstGeom>
          <a:noFill/>
          <a:ln w="0">
            <a:noFill/>
            <a:prstDash val="solid"/>
          </a:ln>
        </p:spPr>
        <p:txBody>
          <a:bodyPr lIns="0" tIns="0" rIns="0" bIns="0" anchor="t">
            <a:noAutofit/>
          </a:bodyPr>
          <a:lstStyle/>
          <a:p>
            <a:pPr algn="l">
              <a:buNone/>
              <a:defRPr sz="1350" b="1">
                <a:solidFill>
                  <a:srgbClr val="12233A"/>
                </a:solidFill>
                <a:latin typeface="Yu Gothic"/>
                <a:ea typeface="Yu Gothic"/>
                <a:cs typeface="Yu Gothic"/>
              </a:defRPr>
            </a:pPr>
            <a:r>
              <a:rPr lang="ja-JP" sz="2000" b="1" noProof="1">
                <a:solidFill>
                  <a:srgbClr val="12233A"/>
                </a:solidFill>
                <a:latin typeface="Yu Gothic"/>
                <a:ea typeface="Yu Gothic"/>
                <a:cs typeface="Yu Gothic"/>
              </a:rPr>
              <a:t>池亀 颯太　M1</a:t>
            </a:r>
          </a:p>
        </p:txBody>
      </p:sp>
      <p:sp>
        <p:nvSpPr>
          <p:cNvPr id="7" name="正方形/長方形 6">
            <a:extLst>
              <a:ext uri="{FF2B5EF4-FFF2-40B4-BE49-F238E27FC236}">
                <a16:creationId xmlns:a16="http://schemas.microsoft.com/office/drawing/2014/main" id="{5448BD7F-E594-4D25-AD2B-BAB2BB4E626A}"/>
              </a:ext>
            </a:extLst>
          </p:cNvPr>
          <p:cNvSpPr>
            <a:spLocks noGrp="1"/>
          </p:cNvSpPr>
          <p:nvPr/>
        </p:nvSpPr>
        <p:spPr>
          <a:xfrm>
            <a:off x="4872317" y="5219700"/>
            <a:ext cx="3810000" cy="304800"/>
          </a:xfrm>
          <a:prstGeom prst="rect">
            <a:avLst/>
          </a:prstGeom>
          <a:noFill/>
          <a:ln w="0">
            <a:noFill/>
            <a:prstDash val="solid"/>
          </a:ln>
        </p:spPr>
        <p:txBody>
          <a:bodyPr lIns="0" tIns="0" rIns="0" bIns="0" anchor="t">
            <a:noAutofit/>
          </a:bodyPr>
          <a:lstStyle/>
          <a:p>
            <a:pPr algn="l">
              <a:buNone/>
              <a:defRPr sz="1200" b="0">
                <a:solidFill>
                  <a:srgbClr val="667085"/>
                </a:solidFill>
                <a:latin typeface="Yu Gothic"/>
                <a:ea typeface="Yu Gothic"/>
                <a:cs typeface="Yu Gothic"/>
              </a:defRPr>
            </a:pPr>
            <a:r>
              <a:rPr lang="ja-JP" sz="2000" b="0" noProof="1">
                <a:solidFill>
                  <a:srgbClr val="667085"/>
                </a:solidFill>
                <a:latin typeface="Yu Gothic"/>
                <a:ea typeface="Yu Gothic"/>
                <a:cs typeface="Yu Gothic"/>
              </a:rPr>
              <a:t>2026年9月12日（土）</a:t>
            </a:r>
          </a:p>
        </p:txBody>
      </p:sp>
    </p:spTree>
    <p:extLst>
      <p:ext uri="{BB962C8B-B14F-4D97-AF65-F5344CB8AC3E}">
        <p14:creationId xmlns:p14="http://schemas.microsoft.com/office/powerpoint/2010/main" val="544476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E21CDED-6A67-2FAE-1483-98CD261D3B3A}"/>
              </a:ext>
            </a:extLst>
          </p:cNvPr>
          <p:cNvSpPr txBox="1"/>
          <p:nvPr/>
        </p:nvSpPr>
        <p:spPr>
          <a:xfrm>
            <a:off x="1064683" y="1113367"/>
            <a:ext cx="646331" cy="369332"/>
          </a:xfrm>
          <a:prstGeom prst="rect">
            <a:avLst/>
          </a:prstGeom>
          <a:noFill/>
        </p:spPr>
        <p:txBody>
          <a:bodyPr wrap="none" rtlCol="0">
            <a:spAutoFit/>
          </a:bodyPr>
          <a:lstStyle/>
          <a:p>
            <a:r>
              <a:rPr kumimoji="1" lang="ja-JP" noProof="1"/>
              <a:t>目次</a:t>
            </a:r>
          </a:p>
        </p:txBody>
      </p:sp>
      <p:graphicFrame>
        <p:nvGraphicFramePr>
          <p:cNvPr id="8" name="図表 7">
            <a:extLst>
              <a:ext uri="{FF2B5EF4-FFF2-40B4-BE49-F238E27FC236}">
                <a16:creationId xmlns:a16="http://schemas.microsoft.com/office/drawing/2014/main" id="{5AA66F07-FC1A-5333-946B-6237F9A2BD86}"/>
              </a:ext>
            </a:extLst>
          </p:cNvPr>
          <p:cNvGraphicFramePr/>
          <p:nvPr>
            <p:extLst>
              <p:ext uri="{D42A27DB-BD31-4B8C-83A1-F6EECF244321}">
                <p14:modId xmlns:p14="http://schemas.microsoft.com/office/powerpoint/2010/main" val="2141304364"/>
              </p:ext>
            </p:extLst>
          </p:nvPr>
        </p:nvGraphicFramePr>
        <p:xfrm>
          <a:off x="6790266" y="1381100"/>
          <a:ext cx="3471334" cy="383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図表 6">
            <a:extLst>
              <a:ext uri="{FF2B5EF4-FFF2-40B4-BE49-F238E27FC236}">
                <a16:creationId xmlns:a16="http://schemas.microsoft.com/office/drawing/2014/main" id="{B7A2C202-8145-21EE-FD6A-0AC2D9706DC5}"/>
              </a:ext>
            </a:extLst>
          </p:cNvPr>
          <p:cNvGraphicFramePr/>
          <p:nvPr>
            <p:extLst>
              <p:ext uri="{D42A27DB-BD31-4B8C-83A1-F6EECF244321}">
                <p14:modId xmlns:p14="http://schemas.microsoft.com/office/powerpoint/2010/main" val="2147855947"/>
              </p:ext>
            </p:extLst>
          </p:nvPr>
        </p:nvGraphicFramePr>
        <p:xfrm>
          <a:off x="1531783" y="1322969"/>
          <a:ext cx="3869952" cy="553503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157215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7B97C5D-D0D8-4DBF-13CF-B008296F31AF}"/>
              </a:ext>
            </a:extLst>
          </p:cNvPr>
          <p:cNvSpPr txBox="1"/>
          <p:nvPr/>
        </p:nvSpPr>
        <p:spPr>
          <a:xfrm>
            <a:off x="3686175" y="3200400"/>
            <a:ext cx="495649" cy="369332"/>
          </a:xfrm>
          <a:prstGeom prst="rect">
            <a:avLst/>
          </a:prstGeom>
          <a:noFill/>
        </p:spPr>
        <p:txBody>
          <a:bodyPr wrap="none" rtlCol="0">
            <a:spAutoFit/>
          </a:bodyPr>
          <a:lstStyle/>
          <a:p>
            <a:r>
              <a:rPr kumimoji="1" lang="ja-JP" noProof="1"/>
              <a:t>XAI</a:t>
            </a:r>
          </a:p>
        </p:txBody>
      </p:sp>
    </p:spTree>
    <p:extLst>
      <p:ext uri="{BB962C8B-B14F-4D97-AF65-F5344CB8AC3E}">
        <p14:creationId xmlns:p14="http://schemas.microsoft.com/office/powerpoint/2010/main" val="969040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
        <p:cNvGrpSpPr/>
        <p:nvPr/>
      </p:nvGrpSpPr>
      <p:grpSpPr>
        <a:xfrm>
          <a:off x="0" y="0"/>
          <a:ext cx="0" cy="0"/>
          <a:chOff x="0" y="0"/>
          <a:chExt cx="0" cy="0"/>
        </a:xfrm>
      </p:grpSpPr>
      <p:sp>
        <p:nvSpPr>
          <p:cNvPr id="35" name="正方形/長方形 34">
            <a:extLst>
              <a:ext uri="{FF2B5EF4-FFF2-40B4-BE49-F238E27FC236}">
                <a16:creationId xmlns:a16="http://schemas.microsoft.com/office/drawing/2014/main" id="{2EC6FA3A-EF6E-4DD5-9F3D-8DE9357801F0}"/>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2" name="slide-2-title">
            <a:extLst>
              <a:ext uri="{FF2B5EF4-FFF2-40B4-BE49-F238E27FC236}">
                <a16:creationId xmlns:a16="http://schemas.microsoft.com/office/drawing/2014/main" id="{C7DA64B8-E76C-44F5-86D4-3ED7FAD1A7A0}"/>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2233A"/>
                </a:solidFill>
                <a:latin typeface="Yu Gothic"/>
                <a:ea typeface="Yu Gothic"/>
                <a:cs typeface="Yu Gothic"/>
              </a:defRPr>
            </a:pPr>
            <a:r>
              <a:rPr lang="ja-JP" sz="2850" b="1" noProof="1">
                <a:solidFill>
                  <a:srgbClr val="12233A"/>
                </a:solidFill>
                <a:latin typeface="Yu Gothic"/>
                <a:ea typeface="Yu Gothic"/>
                <a:cs typeface="Yu Gothic"/>
              </a:rPr>
              <a:t>複雑なAIモデルの課題</a:t>
            </a:r>
          </a:p>
        </p:txBody>
      </p:sp>
      <p:sp>
        <p:nvSpPr>
          <p:cNvPr id="5" name="右矢印 4">
            <a:extLst>
              <a:ext uri="{FF2B5EF4-FFF2-40B4-BE49-F238E27FC236}">
                <a16:creationId xmlns:a16="http://schemas.microsoft.com/office/drawing/2014/main" id="{CF7D41FF-F54C-48C5-8774-3500F56DD139}"/>
              </a:ext>
            </a:extLst>
          </p:cNvPr>
          <p:cNvSpPr>
            <a:spLocks noGrp="1"/>
          </p:cNvSpPr>
          <p:nvPr/>
        </p:nvSpPr>
        <p:spPr>
          <a:xfrm>
            <a:off x="2968095" y="2457991"/>
            <a:ext cx="647700" cy="323850"/>
          </a:xfrm>
          <a:prstGeom prst="rightArrow">
            <a:avLst/>
          </a:prstGeom>
          <a:solidFill>
            <a:srgbClr val="2563EB"/>
          </a:solidFill>
          <a:ln w="0">
            <a:solidFill>
              <a:srgbClr val="2563EB"/>
            </a:solidFill>
            <a:prstDash val="solid"/>
          </a:ln>
        </p:spPr>
        <p:txBody>
          <a:bodyPr/>
          <a:lstStyle/>
          <a:p>
            <a:endParaRPr lang="ja-JP" noProof="1"/>
          </a:p>
        </p:txBody>
      </p:sp>
      <p:sp>
        <p:nvSpPr>
          <p:cNvPr id="6" name="右矢印 5">
            <a:extLst>
              <a:ext uri="{FF2B5EF4-FFF2-40B4-BE49-F238E27FC236}">
                <a16:creationId xmlns:a16="http://schemas.microsoft.com/office/drawing/2014/main" id="{AE686193-47DB-4E76-AAF1-B08B45F64CF7}"/>
              </a:ext>
            </a:extLst>
          </p:cNvPr>
          <p:cNvSpPr>
            <a:spLocks noGrp="1"/>
          </p:cNvSpPr>
          <p:nvPr/>
        </p:nvSpPr>
        <p:spPr>
          <a:xfrm>
            <a:off x="5730345" y="2457991"/>
            <a:ext cx="647700" cy="323850"/>
          </a:xfrm>
          <a:prstGeom prst="rightArrow">
            <a:avLst/>
          </a:prstGeom>
          <a:solidFill>
            <a:srgbClr val="2563EB"/>
          </a:solidFill>
          <a:ln w="0">
            <a:solidFill>
              <a:srgbClr val="2563EB"/>
            </a:solidFill>
            <a:prstDash val="solid"/>
          </a:ln>
        </p:spPr>
        <p:txBody>
          <a:bodyPr/>
          <a:lstStyle/>
          <a:p>
            <a:endParaRPr lang="ja-JP" noProof="1"/>
          </a:p>
        </p:txBody>
      </p:sp>
      <p:sp>
        <p:nvSpPr>
          <p:cNvPr id="9" name="正方形/長方形 8">
            <a:extLst>
              <a:ext uri="{FF2B5EF4-FFF2-40B4-BE49-F238E27FC236}">
                <a16:creationId xmlns:a16="http://schemas.microsoft.com/office/drawing/2014/main" id="{B497D0B8-981D-4543-BB62-3F998F6DBDE6}"/>
              </a:ext>
            </a:extLst>
          </p:cNvPr>
          <p:cNvSpPr>
            <a:spLocks noGrp="1"/>
          </p:cNvSpPr>
          <p:nvPr/>
        </p:nvSpPr>
        <p:spPr>
          <a:xfrm>
            <a:off x="720195" y="1905541"/>
            <a:ext cx="1809750" cy="323850"/>
          </a:xfrm>
          <a:prstGeom prst="rect">
            <a:avLst/>
          </a:prstGeom>
          <a:noFill/>
          <a:ln w="0">
            <a:noFill/>
            <a:prstDash val="solid"/>
          </a:ln>
        </p:spPr>
        <p:txBody>
          <a:bodyPr lIns="0" tIns="0" rIns="0" bIns="0" anchor="t">
            <a:noAutofit/>
          </a:bodyPr>
          <a:lstStyle/>
          <a:p>
            <a:pPr algn="l">
              <a:buNone/>
              <a:defRPr sz="1800" b="1">
                <a:solidFill>
                  <a:srgbClr val="111827"/>
                </a:solidFill>
                <a:latin typeface="Yu Gothic"/>
                <a:ea typeface="Yu Gothic"/>
                <a:cs typeface="Yu Gothic"/>
              </a:defRPr>
            </a:pPr>
            <a:r>
              <a:rPr lang="ja-JP" sz="1800" b="1" noProof="1">
                <a:solidFill>
                  <a:srgbClr val="111827"/>
                </a:solidFill>
                <a:latin typeface="Yu Gothic"/>
                <a:ea typeface="Yu Gothic"/>
                <a:cs typeface="Yu Gothic"/>
              </a:rPr>
              <a:t>乗客データ</a:t>
            </a:r>
          </a:p>
        </p:txBody>
      </p:sp>
      <p:cxnSp>
        <p:nvCxnSpPr>
          <p:cNvPr id="64" name="直線矢印コネクタ 43"/>
          <p:cNvCxnSpPr/>
          <p:nvPr/>
        </p:nvCxnSpPr>
        <p:spPr>
          <a:xfrm>
            <a:off x="720195" y="2181206"/>
            <a:ext cx="1714500" cy="0"/>
          </a:xfrm>
          <a:prstGeom prst="straightConnector1">
            <a:avLst/>
          </a:prstGeom>
          <a:ln w="9525">
            <a:solidFill>
              <a:srgbClr val="CBD5E1"/>
            </a:solidFill>
            <a:prstDash val="solid"/>
          </a:ln>
        </p:spPr>
      </p:cxnSp>
      <p:sp>
        <p:nvSpPr>
          <p:cNvPr id="11" name="正方形/長方形 10">
            <a:extLst>
              <a:ext uri="{FF2B5EF4-FFF2-40B4-BE49-F238E27FC236}">
                <a16:creationId xmlns:a16="http://schemas.microsoft.com/office/drawing/2014/main" id="{44B44796-4A5A-41BF-88C4-D8E9392134C4}"/>
              </a:ext>
            </a:extLst>
          </p:cNvPr>
          <p:cNvSpPr>
            <a:spLocks noGrp="1"/>
          </p:cNvSpPr>
          <p:nvPr/>
        </p:nvSpPr>
        <p:spPr>
          <a:xfrm>
            <a:off x="720195" y="2238917"/>
            <a:ext cx="1809750" cy="1238250"/>
          </a:xfrm>
          <a:prstGeom prst="rect">
            <a:avLst/>
          </a:prstGeom>
          <a:noFill/>
          <a:ln w="0">
            <a:noFill/>
            <a:prstDash val="solid"/>
          </a:ln>
        </p:spPr>
        <p:txBody>
          <a:bodyPr lIns="0" tIns="0" rIns="0" bIns="0" anchor="t">
            <a:noAutofit/>
          </a:bodyPr>
          <a:lstStyle/>
          <a:p>
            <a:pPr marL="285750" indent="-285750" algn="l">
              <a:buFont typeface="Arial" panose="020B0604020202020204" pitchFamily="34" charset="0"/>
              <a:buChar char="•"/>
              <a:defRPr sz="1575" b="0">
                <a:solidFill>
                  <a:srgbClr val="111827"/>
                </a:solidFill>
                <a:latin typeface="Yu Gothic"/>
                <a:ea typeface="Yu Gothic"/>
                <a:cs typeface="Yu Gothic"/>
              </a:defRPr>
            </a:pPr>
            <a:r>
              <a:rPr lang="ja-JP" sz="1575" b="0" noProof="1">
                <a:solidFill>
                  <a:srgbClr val="111827"/>
                </a:solidFill>
                <a:latin typeface="Yu Gothic"/>
                <a:ea typeface="Yu Gothic"/>
                <a:cs typeface="Yu Gothic"/>
              </a:rPr>
              <a:t>年齢　　　 22</a:t>
            </a:r>
            <a:endParaRPr lang="ja-JP" sz="1575" noProof="1">
              <a:solidFill>
                <a:srgbClr val="111827"/>
              </a:solidFill>
              <a:latin typeface="Yu Gothic"/>
              <a:ea typeface="Yu Gothic"/>
              <a:cs typeface="Yu Gothic"/>
            </a:endParaRPr>
          </a:p>
          <a:p>
            <a:pPr marL="285750" indent="-285750" algn="l">
              <a:buFont typeface="Arial" panose="020B0604020202020204" pitchFamily="34" charset="0"/>
              <a:buChar char="•"/>
              <a:defRPr sz="1575" b="0">
                <a:solidFill>
                  <a:srgbClr val="111827"/>
                </a:solidFill>
                <a:latin typeface="Yu Gothic"/>
                <a:ea typeface="Yu Gothic"/>
                <a:cs typeface="Yu Gothic"/>
              </a:defRPr>
            </a:pPr>
            <a:r>
              <a:rPr lang="ja-JP" sz="1575" b="0" noProof="1">
                <a:solidFill>
                  <a:srgbClr val="111827"/>
                </a:solidFill>
                <a:latin typeface="Yu Gothic"/>
                <a:ea typeface="Yu Gothic"/>
                <a:cs typeface="Yu Gothic"/>
              </a:rPr>
              <a:t>名前</a:t>
            </a:r>
            <a:r>
              <a:rPr lang="ja-JP" sz="1575" noProof="1">
                <a:solidFill>
                  <a:srgbClr val="111827"/>
                </a:solidFill>
                <a:latin typeface="Yu Gothic"/>
                <a:ea typeface="Yu Gothic"/>
                <a:cs typeface="Yu Gothic"/>
              </a:rPr>
              <a:t>　　　 Jane</a:t>
            </a:r>
            <a:endParaRPr lang="ja-JP" sz="1575" b="0" noProof="1">
              <a:solidFill>
                <a:srgbClr val="111827"/>
              </a:solidFill>
              <a:latin typeface="Yu Gothic"/>
              <a:ea typeface="Yu Gothic"/>
              <a:cs typeface="Yu Gothic"/>
            </a:endParaRPr>
          </a:p>
          <a:p>
            <a:pPr marL="285750" indent="-285750" algn="l">
              <a:buFont typeface="Arial" panose="020B0604020202020204" pitchFamily="34" charset="0"/>
              <a:buChar char="•"/>
              <a:defRPr sz="1575" b="0">
                <a:solidFill>
                  <a:srgbClr val="111827"/>
                </a:solidFill>
                <a:latin typeface="Yu Gothic"/>
                <a:ea typeface="Yu Gothic"/>
                <a:cs typeface="Yu Gothic"/>
              </a:defRPr>
            </a:pPr>
            <a:r>
              <a:rPr lang="ja-JP" sz="1575" b="0" noProof="1">
                <a:solidFill>
                  <a:srgbClr val="111827"/>
                </a:solidFill>
                <a:latin typeface="Yu Gothic"/>
                <a:ea typeface="Yu Gothic"/>
                <a:cs typeface="Yu Gothic"/>
              </a:rPr>
              <a:t>性別　　　 女性</a:t>
            </a:r>
          </a:p>
          <a:p>
            <a:pPr marL="285750" indent="-285750" algn="l">
              <a:buFont typeface="Arial" panose="020B0604020202020204" pitchFamily="34" charset="0"/>
              <a:buChar char="•"/>
              <a:defRPr sz="1575" b="0">
                <a:solidFill>
                  <a:srgbClr val="111827"/>
                </a:solidFill>
                <a:latin typeface="Yu Gothic"/>
                <a:ea typeface="Yu Gothic"/>
                <a:cs typeface="Yu Gothic"/>
              </a:defRPr>
            </a:pPr>
            <a:r>
              <a:rPr lang="ja-JP" sz="1575" b="0" noProof="1">
                <a:solidFill>
                  <a:srgbClr val="111827"/>
                </a:solidFill>
                <a:latin typeface="Yu Gothic"/>
                <a:ea typeface="Yu Gothic"/>
                <a:cs typeface="Yu Gothic"/>
              </a:rPr>
              <a:t>客室等級　 1等</a:t>
            </a:r>
          </a:p>
          <a:p>
            <a:pPr marL="285750" indent="-285750" algn="l">
              <a:buFont typeface="Arial" panose="020B0604020202020204" pitchFamily="34" charset="0"/>
              <a:buChar char="•"/>
              <a:defRPr sz="1575" b="0">
                <a:solidFill>
                  <a:srgbClr val="111827"/>
                </a:solidFill>
                <a:latin typeface="Yu Gothic"/>
                <a:ea typeface="Yu Gothic"/>
                <a:cs typeface="Yu Gothic"/>
              </a:defRPr>
            </a:pPr>
            <a:r>
              <a:rPr lang="ja-JP" sz="1575" b="0" noProof="1">
                <a:solidFill>
                  <a:srgbClr val="111827"/>
                </a:solidFill>
                <a:latin typeface="Yu Gothic"/>
                <a:ea typeface="Yu Gothic"/>
                <a:cs typeface="Yu Gothic"/>
              </a:rPr>
              <a:t>運賃　　　 71</a:t>
            </a:r>
          </a:p>
        </p:txBody>
      </p:sp>
      <p:sp>
        <p:nvSpPr>
          <p:cNvPr id="13" name="正方形/長方形 12">
            <a:extLst>
              <a:ext uri="{FF2B5EF4-FFF2-40B4-BE49-F238E27FC236}">
                <a16:creationId xmlns:a16="http://schemas.microsoft.com/office/drawing/2014/main" id="{86FE31E9-A27A-4303-A695-EBD1BE89B854}"/>
              </a:ext>
            </a:extLst>
          </p:cNvPr>
          <p:cNvSpPr>
            <a:spLocks noGrp="1"/>
          </p:cNvSpPr>
          <p:nvPr/>
        </p:nvSpPr>
        <p:spPr>
          <a:xfrm>
            <a:off x="3634845" y="1953166"/>
            <a:ext cx="2000250" cy="1333500"/>
          </a:xfrm>
          <a:prstGeom prst="rect">
            <a:avLst/>
          </a:prstGeom>
          <a:solidFill>
            <a:srgbClr val="111827"/>
          </a:solidFill>
          <a:ln w="0">
            <a:solidFill>
              <a:srgbClr val="111827"/>
            </a:solidFill>
            <a:prstDash val="solid"/>
          </a:ln>
        </p:spPr>
        <p:txBody>
          <a:bodyPr/>
          <a:lstStyle/>
          <a:p>
            <a:endParaRPr lang="ja-JP" noProof="1"/>
          </a:p>
        </p:txBody>
      </p:sp>
      <p:sp>
        <p:nvSpPr>
          <p:cNvPr id="14" name="正方形/長方形 13">
            <a:extLst>
              <a:ext uri="{FF2B5EF4-FFF2-40B4-BE49-F238E27FC236}">
                <a16:creationId xmlns:a16="http://schemas.microsoft.com/office/drawing/2014/main" id="{5AC9DA3E-7593-4816-9049-050F7332A8C4}"/>
              </a:ext>
            </a:extLst>
          </p:cNvPr>
          <p:cNvSpPr>
            <a:spLocks noGrp="1"/>
          </p:cNvSpPr>
          <p:nvPr/>
        </p:nvSpPr>
        <p:spPr>
          <a:xfrm>
            <a:off x="3634845" y="2210341"/>
            <a:ext cx="2000250" cy="838200"/>
          </a:xfrm>
          <a:prstGeom prst="rect">
            <a:avLst/>
          </a:prstGeom>
          <a:noFill/>
          <a:ln w="0">
            <a:noFill/>
            <a:prstDash val="solid"/>
          </a:ln>
        </p:spPr>
        <p:txBody>
          <a:bodyPr lIns="0" tIns="0" rIns="0" bIns="0" anchor="ctr">
            <a:noAutofit/>
          </a:bodyPr>
          <a:lstStyle/>
          <a:p>
            <a:pPr algn="ctr">
              <a:buNone/>
              <a:defRPr sz="2250" b="1">
                <a:solidFill>
                  <a:srgbClr val="FFFFFF"/>
                </a:solidFill>
                <a:latin typeface="Yu Gothic"/>
                <a:ea typeface="Yu Gothic"/>
                <a:cs typeface="Yu Gothic"/>
              </a:defRPr>
            </a:pPr>
            <a:r>
              <a:rPr lang="ja-JP" sz="2250" b="1" noProof="1">
                <a:solidFill>
                  <a:srgbClr val="FFFFFF"/>
                </a:solidFill>
                <a:latin typeface="Yu Gothic"/>
                <a:ea typeface="Yu Gothic"/>
                <a:cs typeface="Yu Gothic"/>
              </a:rPr>
              <a:t>BLACK</a:t>
            </a:r>
          </a:p>
          <a:p>
            <a:pPr algn="ctr">
              <a:buNone/>
              <a:defRPr sz="2250" b="1">
                <a:solidFill>
                  <a:srgbClr val="FFFFFF"/>
                </a:solidFill>
                <a:latin typeface="Yu Gothic"/>
                <a:ea typeface="Yu Gothic"/>
                <a:cs typeface="Yu Gothic"/>
              </a:defRPr>
            </a:pPr>
            <a:r>
              <a:rPr lang="ja-JP" sz="2250" b="1" noProof="1">
                <a:solidFill>
                  <a:srgbClr val="FFFFFF"/>
                </a:solidFill>
                <a:latin typeface="Yu Gothic"/>
                <a:ea typeface="Yu Gothic"/>
                <a:cs typeface="Yu Gothic"/>
              </a:rPr>
              <a:t>BOX</a:t>
            </a:r>
          </a:p>
        </p:txBody>
      </p:sp>
      <p:sp>
        <p:nvSpPr>
          <p:cNvPr id="16" name="正方形/長方形 15">
            <a:extLst>
              <a:ext uri="{FF2B5EF4-FFF2-40B4-BE49-F238E27FC236}">
                <a16:creationId xmlns:a16="http://schemas.microsoft.com/office/drawing/2014/main" id="{3049682F-0280-4316-BDBB-8BDF1272EFE5}"/>
              </a:ext>
            </a:extLst>
          </p:cNvPr>
          <p:cNvSpPr>
            <a:spLocks noGrp="1"/>
          </p:cNvSpPr>
          <p:nvPr/>
        </p:nvSpPr>
        <p:spPr>
          <a:xfrm>
            <a:off x="6625695" y="1981741"/>
            <a:ext cx="1238250" cy="285750"/>
          </a:xfrm>
          <a:prstGeom prst="rect">
            <a:avLst/>
          </a:prstGeom>
          <a:noFill/>
          <a:ln w="0">
            <a:noFill/>
            <a:prstDash val="solid"/>
          </a:ln>
        </p:spPr>
        <p:txBody>
          <a:bodyPr lIns="0" tIns="0" rIns="0" bIns="0" anchor="t">
            <a:noAutofit/>
          </a:bodyPr>
          <a:lstStyle/>
          <a:p>
            <a:pPr algn="ctr">
              <a:buNone/>
              <a:defRPr sz="1650" b="1">
                <a:solidFill>
                  <a:srgbClr val="2563EB"/>
                </a:solidFill>
                <a:latin typeface="Yu Gothic"/>
                <a:ea typeface="Yu Gothic"/>
                <a:cs typeface="Yu Gothic"/>
              </a:defRPr>
            </a:pPr>
            <a:r>
              <a:rPr lang="ja-JP" sz="1650" b="1" noProof="1">
                <a:solidFill>
                  <a:srgbClr val="2563EB"/>
                </a:solidFill>
                <a:latin typeface="Yu Gothic"/>
                <a:ea typeface="Yu Gothic"/>
                <a:cs typeface="Yu Gothic"/>
              </a:rPr>
              <a:t>予測</a:t>
            </a:r>
          </a:p>
        </p:txBody>
      </p:sp>
      <p:sp>
        <p:nvSpPr>
          <p:cNvPr id="17" name="正方形/長方形 16">
            <a:extLst>
              <a:ext uri="{FF2B5EF4-FFF2-40B4-BE49-F238E27FC236}">
                <a16:creationId xmlns:a16="http://schemas.microsoft.com/office/drawing/2014/main" id="{D8C1BE27-8892-4CD9-8EFA-DFB9BB0FD15F}"/>
              </a:ext>
            </a:extLst>
          </p:cNvPr>
          <p:cNvSpPr>
            <a:spLocks noGrp="1"/>
          </p:cNvSpPr>
          <p:nvPr/>
        </p:nvSpPr>
        <p:spPr>
          <a:xfrm>
            <a:off x="6625695" y="2419891"/>
            <a:ext cx="1238250" cy="266700"/>
          </a:xfrm>
          <a:prstGeom prst="rect">
            <a:avLst/>
          </a:prstGeom>
          <a:noFill/>
          <a:ln w="0">
            <a:noFill/>
            <a:prstDash val="solid"/>
          </a:ln>
        </p:spPr>
        <p:txBody>
          <a:bodyPr lIns="0" tIns="0" rIns="0" bIns="0" anchor="t">
            <a:noAutofit/>
          </a:bodyPr>
          <a:lstStyle/>
          <a:p>
            <a:pPr algn="ctr">
              <a:buNone/>
              <a:defRPr sz="1500" b="0">
                <a:solidFill>
                  <a:srgbClr val="111827"/>
                </a:solidFill>
                <a:latin typeface="Yu Gothic"/>
                <a:ea typeface="Yu Gothic"/>
                <a:cs typeface="Yu Gothic"/>
              </a:defRPr>
            </a:pPr>
            <a:r>
              <a:rPr lang="ja-JP" sz="1500" b="0" noProof="1">
                <a:solidFill>
                  <a:srgbClr val="111827"/>
                </a:solidFill>
                <a:latin typeface="Yu Gothic"/>
                <a:ea typeface="Yu Gothic"/>
                <a:cs typeface="Yu Gothic"/>
              </a:rPr>
              <a:t>生存確率</a:t>
            </a:r>
          </a:p>
        </p:txBody>
      </p:sp>
      <p:sp>
        <p:nvSpPr>
          <p:cNvPr id="18" name="正方形/長方形 17">
            <a:extLst>
              <a:ext uri="{FF2B5EF4-FFF2-40B4-BE49-F238E27FC236}">
                <a16:creationId xmlns:a16="http://schemas.microsoft.com/office/drawing/2014/main" id="{46A41101-F07F-4960-89B3-8AF86D00DFB1}"/>
              </a:ext>
            </a:extLst>
          </p:cNvPr>
          <p:cNvSpPr>
            <a:spLocks noGrp="1"/>
          </p:cNvSpPr>
          <p:nvPr/>
        </p:nvSpPr>
        <p:spPr>
          <a:xfrm>
            <a:off x="6625695" y="2715166"/>
            <a:ext cx="1238250" cy="457200"/>
          </a:xfrm>
          <a:prstGeom prst="rect">
            <a:avLst/>
          </a:prstGeom>
          <a:noFill/>
          <a:ln w="0">
            <a:noFill/>
            <a:prstDash val="solid"/>
          </a:ln>
        </p:spPr>
        <p:txBody>
          <a:bodyPr lIns="0" tIns="0" rIns="0" bIns="0" anchor="t">
            <a:noAutofit/>
          </a:bodyPr>
          <a:lstStyle/>
          <a:p>
            <a:pPr algn="ctr">
              <a:buNone/>
              <a:defRPr sz="2850" b="1">
                <a:solidFill>
                  <a:srgbClr val="2563EB"/>
                </a:solidFill>
                <a:latin typeface="Yu Gothic"/>
                <a:ea typeface="Yu Gothic"/>
                <a:cs typeface="Yu Gothic"/>
              </a:defRPr>
            </a:pPr>
            <a:r>
              <a:rPr lang="ja-JP" sz="2850" b="1" noProof="1">
                <a:solidFill>
                  <a:srgbClr val="2563EB"/>
                </a:solidFill>
                <a:latin typeface="Yu Gothic"/>
                <a:ea typeface="Yu Gothic"/>
                <a:cs typeface="Yu Gothic"/>
              </a:rPr>
              <a:t>0.78</a:t>
            </a:r>
          </a:p>
        </p:txBody>
      </p:sp>
      <p:pic>
        <p:nvPicPr>
          <p:cNvPr id="43" name="図 42">
            <a:extLst>
              <a:ext uri="{FF2B5EF4-FFF2-40B4-BE49-F238E27FC236}">
                <a16:creationId xmlns:a16="http://schemas.microsoft.com/office/drawing/2014/main" id="{4BC52433-BA3C-E782-7669-CE110681557F}"/>
              </a:ext>
            </a:extLst>
          </p:cNvPr>
          <p:cNvPicPr>
            <a:picLocks noChangeAspect="1"/>
          </p:cNvPicPr>
          <p:nvPr/>
        </p:nvPicPr>
        <p:blipFill>
          <a:blip r:embed="rId3"/>
          <a:stretch>
            <a:fillRect/>
          </a:stretch>
        </p:blipFill>
        <p:spPr>
          <a:xfrm>
            <a:off x="681566" y="4431101"/>
            <a:ext cx="2059225" cy="1893381"/>
          </a:xfrm>
          <a:prstGeom prst="rect">
            <a:avLst/>
          </a:prstGeom>
        </p:spPr>
      </p:pic>
      <p:pic>
        <p:nvPicPr>
          <p:cNvPr id="44" name="図 43">
            <a:extLst>
              <a:ext uri="{FF2B5EF4-FFF2-40B4-BE49-F238E27FC236}">
                <a16:creationId xmlns:a16="http://schemas.microsoft.com/office/drawing/2014/main" id="{1302AFA1-3830-F9E1-C37C-97AD857CF7BB}"/>
              </a:ext>
            </a:extLst>
          </p:cNvPr>
          <p:cNvPicPr>
            <a:picLocks noChangeAspect="1"/>
          </p:cNvPicPr>
          <p:nvPr/>
        </p:nvPicPr>
        <p:blipFill>
          <a:blip r:embed="rId4"/>
          <a:stretch>
            <a:fillRect/>
          </a:stretch>
        </p:blipFill>
        <p:spPr>
          <a:xfrm>
            <a:off x="5656442" y="4338502"/>
            <a:ext cx="2192499" cy="2015922"/>
          </a:xfrm>
          <a:prstGeom prst="rect">
            <a:avLst/>
          </a:prstGeom>
        </p:spPr>
      </p:pic>
      <p:sp>
        <p:nvSpPr>
          <p:cNvPr id="49" name="右矢印 48">
            <a:extLst>
              <a:ext uri="{FF2B5EF4-FFF2-40B4-BE49-F238E27FC236}">
                <a16:creationId xmlns:a16="http://schemas.microsoft.com/office/drawing/2014/main" id="{152AA240-681E-4078-DBDE-A22E19AEFB48}"/>
              </a:ext>
            </a:extLst>
          </p:cNvPr>
          <p:cNvSpPr>
            <a:spLocks noGrp="1"/>
          </p:cNvSpPr>
          <p:nvPr/>
        </p:nvSpPr>
        <p:spPr>
          <a:xfrm>
            <a:off x="2828756" y="4928084"/>
            <a:ext cx="522590" cy="261295"/>
          </a:xfrm>
          <a:prstGeom prst="rightArrow">
            <a:avLst/>
          </a:prstGeom>
          <a:solidFill>
            <a:srgbClr val="2563EB"/>
          </a:solidFill>
          <a:ln w="0">
            <a:solidFill>
              <a:srgbClr val="2563EB"/>
            </a:solidFill>
            <a:prstDash val="solid"/>
          </a:ln>
        </p:spPr>
        <p:txBody>
          <a:bodyPr/>
          <a:lstStyle/>
          <a:p>
            <a:endParaRPr lang="ja-JP" noProof="1"/>
          </a:p>
        </p:txBody>
      </p:sp>
      <p:sp>
        <p:nvSpPr>
          <p:cNvPr id="50" name="右矢印 49">
            <a:extLst>
              <a:ext uri="{FF2B5EF4-FFF2-40B4-BE49-F238E27FC236}">
                <a16:creationId xmlns:a16="http://schemas.microsoft.com/office/drawing/2014/main" id="{752375DB-29FA-44B2-AAE3-E73128F939E8}"/>
              </a:ext>
            </a:extLst>
          </p:cNvPr>
          <p:cNvSpPr>
            <a:spLocks noGrp="1"/>
          </p:cNvSpPr>
          <p:nvPr/>
        </p:nvSpPr>
        <p:spPr>
          <a:xfrm>
            <a:off x="5328537" y="4928084"/>
            <a:ext cx="522590" cy="261295"/>
          </a:xfrm>
          <a:prstGeom prst="rightArrow">
            <a:avLst/>
          </a:prstGeom>
          <a:solidFill>
            <a:srgbClr val="2563EB"/>
          </a:solidFill>
          <a:ln w="0">
            <a:solidFill>
              <a:srgbClr val="2563EB"/>
            </a:solidFill>
            <a:prstDash val="solid"/>
          </a:ln>
        </p:spPr>
        <p:txBody>
          <a:bodyPr/>
          <a:lstStyle/>
          <a:p>
            <a:endParaRPr lang="ja-JP" noProof="1"/>
          </a:p>
        </p:txBody>
      </p:sp>
      <p:sp>
        <p:nvSpPr>
          <p:cNvPr id="51" name="正方形/長方形 50">
            <a:extLst>
              <a:ext uri="{FF2B5EF4-FFF2-40B4-BE49-F238E27FC236}">
                <a16:creationId xmlns:a16="http://schemas.microsoft.com/office/drawing/2014/main" id="{C1D923FB-B379-B4A6-472E-2DA5AF5BFC71}"/>
              </a:ext>
            </a:extLst>
          </p:cNvPr>
          <p:cNvSpPr>
            <a:spLocks noGrp="1"/>
          </p:cNvSpPr>
          <p:nvPr/>
        </p:nvSpPr>
        <p:spPr>
          <a:xfrm>
            <a:off x="3495506" y="4618285"/>
            <a:ext cx="1613879" cy="1075919"/>
          </a:xfrm>
          <a:prstGeom prst="rect">
            <a:avLst/>
          </a:prstGeom>
          <a:solidFill>
            <a:srgbClr val="111827"/>
          </a:solidFill>
          <a:ln w="0">
            <a:solidFill>
              <a:srgbClr val="111827"/>
            </a:solidFill>
            <a:prstDash val="solid"/>
          </a:ln>
        </p:spPr>
        <p:txBody>
          <a:bodyPr/>
          <a:lstStyle/>
          <a:p>
            <a:endParaRPr lang="ja-JP" noProof="1"/>
          </a:p>
        </p:txBody>
      </p:sp>
      <p:sp>
        <p:nvSpPr>
          <p:cNvPr id="52" name="正方形/長方形 51">
            <a:extLst>
              <a:ext uri="{FF2B5EF4-FFF2-40B4-BE49-F238E27FC236}">
                <a16:creationId xmlns:a16="http://schemas.microsoft.com/office/drawing/2014/main" id="{86D43C8A-63E2-878E-34FE-D3AB59B87FDD}"/>
              </a:ext>
            </a:extLst>
          </p:cNvPr>
          <p:cNvSpPr>
            <a:spLocks noGrp="1"/>
          </p:cNvSpPr>
          <p:nvPr/>
        </p:nvSpPr>
        <p:spPr>
          <a:xfrm>
            <a:off x="3495506" y="4851522"/>
            <a:ext cx="1613879" cy="676292"/>
          </a:xfrm>
          <a:prstGeom prst="rect">
            <a:avLst/>
          </a:prstGeom>
          <a:noFill/>
          <a:ln w="0">
            <a:noFill/>
            <a:prstDash val="solid"/>
          </a:ln>
        </p:spPr>
        <p:txBody>
          <a:bodyPr lIns="0" tIns="0" rIns="0" bIns="0" anchor="ctr">
            <a:noAutofit/>
          </a:bodyPr>
          <a:lstStyle/>
          <a:p>
            <a:pPr algn="ctr">
              <a:buNone/>
              <a:defRPr sz="2250" b="1">
                <a:solidFill>
                  <a:srgbClr val="FFFFFF"/>
                </a:solidFill>
                <a:latin typeface="Yu Gothic"/>
                <a:ea typeface="Yu Gothic"/>
                <a:cs typeface="Yu Gothic"/>
              </a:defRPr>
            </a:pPr>
            <a:r>
              <a:rPr lang="ja-JP" sz="2250" b="1" noProof="1">
                <a:solidFill>
                  <a:srgbClr val="FFFFFF"/>
                </a:solidFill>
                <a:latin typeface="Yu Gothic"/>
                <a:ea typeface="Yu Gothic"/>
                <a:cs typeface="Yu Gothic"/>
              </a:rPr>
              <a:t>機械学習</a:t>
            </a:r>
            <a:br>
              <a:rPr lang="en-US" altLang="ja-JP" sz="2250" b="1" noProof="1">
                <a:solidFill>
                  <a:srgbClr val="FFFFFF"/>
                </a:solidFill>
                <a:latin typeface="Yu Gothic"/>
                <a:ea typeface="Yu Gothic"/>
                <a:cs typeface="Yu Gothic"/>
              </a:rPr>
            </a:br>
            <a:r>
              <a:rPr lang="ja-JP" sz="2250" b="1" noProof="1">
                <a:solidFill>
                  <a:srgbClr val="FFFFFF"/>
                </a:solidFill>
                <a:latin typeface="Yu Gothic"/>
                <a:ea typeface="Yu Gothic"/>
                <a:cs typeface="Yu Gothic"/>
              </a:rPr>
              <a:t>モデル</a:t>
            </a:r>
          </a:p>
        </p:txBody>
      </p:sp>
      <p:sp>
        <p:nvSpPr>
          <p:cNvPr id="53" name="テキスト ボックス 52">
            <a:extLst>
              <a:ext uri="{FF2B5EF4-FFF2-40B4-BE49-F238E27FC236}">
                <a16:creationId xmlns:a16="http://schemas.microsoft.com/office/drawing/2014/main" id="{E58D4C17-7C06-0105-45EA-DD32D8F9E22B}"/>
              </a:ext>
            </a:extLst>
          </p:cNvPr>
          <p:cNvSpPr txBox="1"/>
          <p:nvPr/>
        </p:nvSpPr>
        <p:spPr>
          <a:xfrm>
            <a:off x="8201263" y="4964512"/>
            <a:ext cx="3990737" cy="923330"/>
          </a:xfrm>
          <a:prstGeom prst="rect">
            <a:avLst/>
          </a:prstGeom>
          <a:noFill/>
        </p:spPr>
        <p:txBody>
          <a:bodyPr wrap="square" rtlCol="0">
            <a:spAutoFit/>
          </a:bodyPr>
          <a:lstStyle/>
          <a:p>
            <a:r>
              <a:rPr lang="ja-JP" noProof="1"/>
              <a:t>ニューラルネットワークやランダムフォレストは</a:t>
            </a:r>
            <a:br>
              <a:rPr lang="ja-JP" noProof="1"/>
            </a:br>
            <a:r>
              <a:rPr lang="ja-JP" noProof="1"/>
              <a:t>どう予測したかの説明がほぼ不可能</a:t>
            </a:r>
          </a:p>
        </p:txBody>
      </p:sp>
      <p:sp>
        <p:nvSpPr>
          <p:cNvPr id="54" name="テキスト ボックス 53">
            <a:extLst>
              <a:ext uri="{FF2B5EF4-FFF2-40B4-BE49-F238E27FC236}">
                <a16:creationId xmlns:a16="http://schemas.microsoft.com/office/drawing/2014/main" id="{4870606F-2875-D44E-7C27-E33F7F1EE4AA}"/>
              </a:ext>
            </a:extLst>
          </p:cNvPr>
          <p:cNvSpPr txBox="1"/>
          <p:nvPr/>
        </p:nvSpPr>
        <p:spPr>
          <a:xfrm>
            <a:off x="8069204" y="2181206"/>
            <a:ext cx="4122796" cy="861774"/>
          </a:xfrm>
          <a:prstGeom prst="rect">
            <a:avLst/>
          </a:prstGeom>
          <a:noFill/>
        </p:spPr>
        <p:txBody>
          <a:bodyPr wrap="square" rtlCol="0">
            <a:spAutoFit/>
          </a:bodyPr>
          <a:lstStyle/>
          <a:p>
            <a:r>
              <a:rPr lang="ja-JP" altLang="ja-JP" noProof="1"/>
              <a:t>予測精度と解釈可能性はトレードオフ</a:t>
            </a:r>
          </a:p>
          <a:p>
            <a:r>
              <a:rPr lang="ja-JP" altLang="en-US" sz="1600" noProof="1"/>
              <a:t>医療や金融のような説明責任が求められる現場では，解釈可能性も重要</a:t>
            </a:r>
            <a:endParaRPr kumimoji="1" lang="ja-JP" noProof="1"/>
          </a:p>
        </p:txBody>
      </p:sp>
      <p:sp>
        <p:nvSpPr>
          <p:cNvPr id="55" name="正方形/長方形 54">
            <a:extLst>
              <a:ext uri="{FF2B5EF4-FFF2-40B4-BE49-F238E27FC236}">
                <a16:creationId xmlns:a16="http://schemas.microsoft.com/office/drawing/2014/main" id="{D073CE75-503C-7B13-CC74-9C07867C42FA}"/>
              </a:ext>
            </a:extLst>
          </p:cNvPr>
          <p:cNvSpPr>
            <a:spLocks noGrp="1"/>
          </p:cNvSpPr>
          <p:nvPr/>
        </p:nvSpPr>
        <p:spPr>
          <a:xfrm>
            <a:off x="486832" y="1788251"/>
            <a:ext cx="2276475" cy="1714500"/>
          </a:xfrm>
          <a:prstGeom prst="rect">
            <a:avLst/>
          </a:prstGeom>
          <a:noFill/>
          <a:ln w="41275" cap="rnd" cmpd="dbl">
            <a:solidFill>
              <a:schemeClr val="accent4"/>
            </a:solidFill>
            <a:bevel/>
          </a:ln>
        </p:spPr>
        <p:style>
          <a:lnRef idx="2">
            <a:schemeClr val="accent4"/>
          </a:lnRef>
          <a:fillRef idx="1">
            <a:schemeClr val="lt1"/>
          </a:fillRef>
          <a:effectRef idx="0">
            <a:schemeClr val="accent4"/>
          </a:effectRef>
          <a:fontRef idx="minor">
            <a:schemeClr val="dk1"/>
          </a:fontRef>
        </p:style>
        <p:txBody>
          <a:bodyPr/>
          <a:lstStyle/>
          <a:p>
            <a:endParaRPr lang="ja-JP" noProof="1"/>
          </a:p>
        </p:txBody>
      </p:sp>
      <p:sp>
        <p:nvSpPr>
          <p:cNvPr id="56" name="正方形/長方形 55">
            <a:extLst>
              <a:ext uri="{FF2B5EF4-FFF2-40B4-BE49-F238E27FC236}">
                <a16:creationId xmlns:a16="http://schemas.microsoft.com/office/drawing/2014/main" id="{5BBAF048-75B6-D9C7-9F63-0ABA13A536AA}"/>
              </a:ext>
            </a:extLst>
          </p:cNvPr>
          <p:cNvSpPr>
            <a:spLocks noGrp="1"/>
          </p:cNvSpPr>
          <p:nvPr/>
        </p:nvSpPr>
        <p:spPr>
          <a:xfrm>
            <a:off x="6506632" y="1762666"/>
            <a:ext cx="1443509" cy="1714500"/>
          </a:xfrm>
          <a:prstGeom prst="rect">
            <a:avLst/>
          </a:prstGeom>
          <a:noFill/>
          <a:ln w="41275" cap="rnd" cmpd="dbl">
            <a:solidFill>
              <a:schemeClr val="accent4"/>
            </a:solidFill>
            <a:bevel/>
          </a:ln>
        </p:spPr>
        <p:style>
          <a:lnRef idx="2">
            <a:schemeClr val="accent4"/>
          </a:lnRef>
          <a:fillRef idx="1">
            <a:schemeClr val="lt1"/>
          </a:fillRef>
          <a:effectRef idx="0">
            <a:schemeClr val="accent4"/>
          </a:effectRef>
          <a:fontRef idx="minor">
            <a:schemeClr val="dk1"/>
          </a:fontRef>
        </p:style>
        <p:txBody>
          <a:bodyPr/>
          <a:lstStyle/>
          <a:p>
            <a:endParaRPr lang="ja-JP" noProof="1"/>
          </a:p>
        </p:txBody>
      </p:sp>
    </p:spTree>
    <p:extLst>
      <p:ext uri="{BB962C8B-B14F-4D97-AF65-F5344CB8AC3E}">
        <p14:creationId xmlns:p14="http://schemas.microsoft.com/office/powerpoint/2010/main" val="1565908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0FAB7-E38D-D461-CBFA-07030154AC9A}"/>
            </a:ext>
          </a:extLst>
        </p:cNvPr>
        <p:cNvGrpSpPr/>
        <p:nvPr/>
      </p:nvGrpSpPr>
      <p:grpSpPr>
        <a:xfrm>
          <a:off x="0" y="0"/>
          <a:ext cx="0" cy="0"/>
          <a:chOff x="0" y="0"/>
          <a:chExt cx="0" cy="0"/>
        </a:xfrm>
      </p:grpSpPr>
      <p:sp>
        <p:nvSpPr>
          <p:cNvPr id="35" name="正方形/長方形 34">
            <a:extLst>
              <a:ext uri="{FF2B5EF4-FFF2-40B4-BE49-F238E27FC236}">
                <a16:creationId xmlns:a16="http://schemas.microsoft.com/office/drawing/2014/main" id="{83225A2E-E4B0-7ECD-069D-EE751DA15187}"/>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2" name="slide-2-title">
            <a:extLst>
              <a:ext uri="{FF2B5EF4-FFF2-40B4-BE49-F238E27FC236}">
                <a16:creationId xmlns:a16="http://schemas.microsoft.com/office/drawing/2014/main" id="{486018BA-5A52-D9D4-A1DD-07011EF367AF}"/>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2233A"/>
                </a:solidFill>
                <a:latin typeface="Yu Gothic"/>
                <a:ea typeface="Yu Gothic"/>
                <a:cs typeface="Yu Gothic"/>
              </a:defRPr>
            </a:pPr>
            <a:r>
              <a:rPr lang="ja-JP" sz="2850" b="1" noProof="1">
                <a:solidFill>
                  <a:srgbClr val="12233A"/>
                </a:solidFill>
                <a:latin typeface="Yu Gothic"/>
                <a:ea typeface="Yu Gothic"/>
                <a:cs typeface="Yu Gothic"/>
              </a:rPr>
              <a:t>XAI</a:t>
            </a:r>
          </a:p>
        </p:txBody>
      </p:sp>
      <p:sp>
        <p:nvSpPr>
          <p:cNvPr id="7" name="右矢印 6">
            <a:extLst>
              <a:ext uri="{FF2B5EF4-FFF2-40B4-BE49-F238E27FC236}">
                <a16:creationId xmlns:a16="http://schemas.microsoft.com/office/drawing/2014/main" id="{D30E43B7-BF45-8AB1-26FB-40FB7B45EB1E}"/>
              </a:ext>
            </a:extLst>
          </p:cNvPr>
          <p:cNvSpPr>
            <a:spLocks noGrp="1"/>
          </p:cNvSpPr>
          <p:nvPr/>
        </p:nvSpPr>
        <p:spPr>
          <a:xfrm>
            <a:off x="8239125" y="2477262"/>
            <a:ext cx="647700" cy="323850"/>
          </a:xfrm>
          <a:prstGeom prst="rightArrow">
            <a:avLst/>
          </a:prstGeom>
          <a:solidFill>
            <a:srgbClr val="10B981"/>
          </a:solidFill>
          <a:ln w="0">
            <a:solidFill>
              <a:srgbClr val="10B981"/>
            </a:solidFill>
            <a:prstDash val="solid"/>
          </a:ln>
        </p:spPr>
        <p:txBody>
          <a:bodyPr/>
          <a:lstStyle/>
          <a:p>
            <a:endParaRPr lang="ja-JP" noProof="1"/>
          </a:p>
        </p:txBody>
      </p:sp>
      <p:sp>
        <p:nvSpPr>
          <p:cNvPr id="10" name="右矢印 9">
            <a:extLst>
              <a:ext uri="{FF2B5EF4-FFF2-40B4-BE49-F238E27FC236}">
                <a16:creationId xmlns:a16="http://schemas.microsoft.com/office/drawing/2014/main" id="{04B1F12F-9109-D8E8-FC6F-D72C5D12EC34}"/>
              </a:ext>
            </a:extLst>
          </p:cNvPr>
          <p:cNvSpPr>
            <a:spLocks noGrp="1"/>
          </p:cNvSpPr>
          <p:nvPr/>
        </p:nvSpPr>
        <p:spPr>
          <a:xfrm>
            <a:off x="3048000" y="2562987"/>
            <a:ext cx="647700" cy="323850"/>
          </a:xfrm>
          <a:prstGeom prst="rightArrow">
            <a:avLst/>
          </a:prstGeom>
          <a:solidFill>
            <a:srgbClr val="2563EB"/>
          </a:solidFill>
          <a:ln w="0">
            <a:solidFill>
              <a:srgbClr val="2563EB"/>
            </a:solidFill>
            <a:prstDash val="solid"/>
          </a:ln>
        </p:spPr>
        <p:txBody>
          <a:bodyPr/>
          <a:lstStyle/>
          <a:p>
            <a:endParaRPr lang="ja-JP" noProof="1"/>
          </a:p>
        </p:txBody>
      </p:sp>
      <p:sp>
        <p:nvSpPr>
          <p:cNvPr id="12" name="右矢印 11">
            <a:extLst>
              <a:ext uri="{FF2B5EF4-FFF2-40B4-BE49-F238E27FC236}">
                <a16:creationId xmlns:a16="http://schemas.microsoft.com/office/drawing/2014/main" id="{D29B0B41-C9AD-8668-2669-1562CD0906BE}"/>
              </a:ext>
            </a:extLst>
          </p:cNvPr>
          <p:cNvSpPr>
            <a:spLocks noGrp="1"/>
          </p:cNvSpPr>
          <p:nvPr/>
        </p:nvSpPr>
        <p:spPr>
          <a:xfrm>
            <a:off x="5810250" y="2562987"/>
            <a:ext cx="647700" cy="323850"/>
          </a:xfrm>
          <a:prstGeom prst="rightArrow">
            <a:avLst/>
          </a:prstGeom>
          <a:solidFill>
            <a:srgbClr val="2563EB"/>
          </a:solidFill>
          <a:ln w="0">
            <a:solidFill>
              <a:srgbClr val="2563EB"/>
            </a:solidFill>
            <a:prstDash val="solid"/>
          </a:ln>
        </p:spPr>
        <p:txBody>
          <a:bodyPr/>
          <a:lstStyle/>
          <a:p>
            <a:endParaRPr lang="ja-JP" noProof="1"/>
          </a:p>
        </p:txBody>
      </p:sp>
      <p:sp>
        <p:nvSpPr>
          <p:cNvPr id="36" name="正方形/長方形 35">
            <a:extLst>
              <a:ext uri="{FF2B5EF4-FFF2-40B4-BE49-F238E27FC236}">
                <a16:creationId xmlns:a16="http://schemas.microsoft.com/office/drawing/2014/main" id="{4895D028-8216-43C5-DE9F-EE6B33753FCF}"/>
              </a:ext>
            </a:extLst>
          </p:cNvPr>
          <p:cNvSpPr>
            <a:spLocks noGrp="1"/>
          </p:cNvSpPr>
          <p:nvPr/>
        </p:nvSpPr>
        <p:spPr>
          <a:xfrm>
            <a:off x="676275" y="1867662"/>
            <a:ext cx="2276475" cy="1714500"/>
          </a:xfrm>
          <a:prstGeom prst="rect">
            <a:avLst/>
          </a:prstGeom>
          <a:solidFill>
            <a:schemeClr val="lt1"/>
          </a:solidFill>
          <a:ln w="41275" cap="rnd" cmpd="dbl">
            <a:solidFill>
              <a:schemeClr val="accent4"/>
            </a:solidFill>
            <a:beve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a:lstStyle/>
          <a:p>
            <a:endParaRPr lang="ja-JP" noProof="1"/>
          </a:p>
        </p:txBody>
      </p:sp>
      <p:sp>
        <p:nvSpPr>
          <p:cNvPr id="37" name="正方形/長方形 36">
            <a:extLst>
              <a:ext uri="{FF2B5EF4-FFF2-40B4-BE49-F238E27FC236}">
                <a16:creationId xmlns:a16="http://schemas.microsoft.com/office/drawing/2014/main" id="{6E07434F-F25D-F953-75E4-1AEF36E3C30F}"/>
              </a:ext>
            </a:extLst>
          </p:cNvPr>
          <p:cNvSpPr>
            <a:spLocks noGrp="1"/>
          </p:cNvSpPr>
          <p:nvPr/>
        </p:nvSpPr>
        <p:spPr>
          <a:xfrm>
            <a:off x="904875" y="2010537"/>
            <a:ext cx="1809750" cy="323850"/>
          </a:xfrm>
          <a:prstGeom prst="rect">
            <a:avLst/>
          </a:prstGeom>
          <a:noFill/>
          <a:ln w="0">
            <a:noFill/>
            <a:prstDash val="solid"/>
          </a:ln>
        </p:spPr>
        <p:txBody>
          <a:bodyPr lIns="0" tIns="0" rIns="0" bIns="0" anchor="t">
            <a:noAutofit/>
          </a:bodyPr>
          <a:lstStyle/>
          <a:p>
            <a:pPr algn="l">
              <a:buNone/>
              <a:defRPr sz="1800" b="1">
                <a:solidFill>
                  <a:srgbClr val="111827"/>
                </a:solidFill>
                <a:latin typeface="Yu Gothic"/>
                <a:ea typeface="Yu Gothic"/>
                <a:cs typeface="Yu Gothic"/>
              </a:defRPr>
            </a:pPr>
            <a:r>
              <a:rPr lang="ja-JP" sz="1800" b="1" noProof="1">
                <a:solidFill>
                  <a:srgbClr val="111827"/>
                </a:solidFill>
                <a:latin typeface="Yu Gothic"/>
                <a:ea typeface="Yu Gothic"/>
                <a:cs typeface="Yu Gothic"/>
              </a:rPr>
              <a:t>乗客データ</a:t>
            </a:r>
          </a:p>
        </p:txBody>
      </p:sp>
      <p:cxnSp>
        <p:nvCxnSpPr>
          <p:cNvPr id="38" name="直線矢印コネクタ 43">
            <a:extLst>
              <a:ext uri="{FF2B5EF4-FFF2-40B4-BE49-F238E27FC236}">
                <a16:creationId xmlns:a16="http://schemas.microsoft.com/office/drawing/2014/main" id="{E1880F44-F5F1-889C-4C16-0D0E1293F015}"/>
              </a:ext>
            </a:extLst>
          </p:cNvPr>
          <p:cNvCxnSpPr/>
          <p:nvPr/>
        </p:nvCxnSpPr>
        <p:spPr>
          <a:xfrm>
            <a:off x="904875" y="2286202"/>
            <a:ext cx="1714500" cy="0"/>
          </a:xfrm>
          <a:prstGeom prst="straightConnector1">
            <a:avLst/>
          </a:prstGeom>
          <a:ln w="9525">
            <a:solidFill>
              <a:srgbClr val="CBD5E1"/>
            </a:solidFill>
            <a:prstDash val="solid"/>
          </a:ln>
        </p:spPr>
      </p:cxnSp>
      <p:sp>
        <p:nvSpPr>
          <p:cNvPr id="39" name="正方形/長方形 38">
            <a:extLst>
              <a:ext uri="{FF2B5EF4-FFF2-40B4-BE49-F238E27FC236}">
                <a16:creationId xmlns:a16="http://schemas.microsoft.com/office/drawing/2014/main" id="{F33EBFDA-1D24-83BD-05EF-B9AD19D0CD26}"/>
              </a:ext>
            </a:extLst>
          </p:cNvPr>
          <p:cNvSpPr>
            <a:spLocks noGrp="1"/>
          </p:cNvSpPr>
          <p:nvPr/>
        </p:nvSpPr>
        <p:spPr>
          <a:xfrm>
            <a:off x="904875" y="2343913"/>
            <a:ext cx="1809750" cy="1238250"/>
          </a:xfrm>
          <a:prstGeom prst="rect">
            <a:avLst/>
          </a:prstGeom>
          <a:noFill/>
          <a:ln w="0">
            <a:noFill/>
            <a:prstDash val="solid"/>
          </a:ln>
        </p:spPr>
        <p:txBody>
          <a:bodyPr lIns="0" tIns="0" rIns="0" bIns="0" anchor="t">
            <a:noAutofit/>
          </a:bodyPr>
          <a:lstStyle/>
          <a:p>
            <a:pPr marL="285750" indent="-285750" algn="l">
              <a:buFont typeface="Arial" panose="020B0604020202020204" pitchFamily="34" charset="0"/>
              <a:buChar char="•"/>
              <a:defRPr sz="1575" b="0">
                <a:solidFill>
                  <a:srgbClr val="111827"/>
                </a:solidFill>
                <a:latin typeface="Yu Gothic"/>
                <a:ea typeface="Yu Gothic"/>
                <a:cs typeface="Yu Gothic"/>
              </a:defRPr>
            </a:pPr>
            <a:r>
              <a:rPr lang="ja-JP" sz="1575" b="0" noProof="1">
                <a:solidFill>
                  <a:srgbClr val="111827"/>
                </a:solidFill>
                <a:latin typeface="Yu Gothic"/>
                <a:ea typeface="Yu Gothic"/>
                <a:cs typeface="Yu Gothic"/>
              </a:rPr>
              <a:t>年齢　　　 22</a:t>
            </a:r>
            <a:endParaRPr lang="ja-JP" sz="1575" noProof="1">
              <a:solidFill>
                <a:srgbClr val="111827"/>
              </a:solidFill>
              <a:latin typeface="Yu Gothic"/>
              <a:ea typeface="Yu Gothic"/>
              <a:cs typeface="Yu Gothic"/>
            </a:endParaRPr>
          </a:p>
          <a:p>
            <a:pPr marL="285750" indent="-285750" algn="l">
              <a:buFont typeface="Arial" panose="020B0604020202020204" pitchFamily="34" charset="0"/>
              <a:buChar char="•"/>
              <a:defRPr sz="1575" b="0">
                <a:solidFill>
                  <a:srgbClr val="111827"/>
                </a:solidFill>
                <a:latin typeface="Yu Gothic"/>
                <a:ea typeface="Yu Gothic"/>
                <a:cs typeface="Yu Gothic"/>
              </a:defRPr>
            </a:pPr>
            <a:r>
              <a:rPr lang="ja-JP" sz="1575" b="0" noProof="1">
                <a:solidFill>
                  <a:srgbClr val="111827"/>
                </a:solidFill>
                <a:latin typeface="Yu Gothic"/>
                <a:ea typeface="Yu Gothic"/>
                <a:cs typeface="Yu Gothic"/>
              </a:rPr>
              <a:t>名前</a:t>
            </a:r>
            <a:r>
              <a:rPr lang="ja-JP" sz="1575" noProof="1">
                <a:solidFill>
                  <a:srgbClr val="111827"/>
                </a:solidFill>
                <a:latin typeface="Yu Gothic"/>
                <a:ea typeface="Yu Gothic"/>
                <a:cs typeface="Yu Gothic"/>
              </a:rPr>
              <a:t>　　　 Jane</a:t>
            </a:r>
            <a:endParaRPr lang="ja-JP" sz="1575" b="0" noProof="1">
              <a:solidFill>
                <a:srgbClr val="111827"/>
              </a:solidFill>
              <a:latin typeface="Yu Gothic"/>
              <a:ea typeface="Yu Gothic"/>
              <a:cs typeface="Yu Gothic"/>
            </a:endParaRPr>
          </a:p>
          <a:p>
            <a:pPr marL="285750" indent="-285750" algn="l">
              <a:buFont typeface="Arial" panose="020B0604020202020204" pitchFamily="34" charset="0"/>
              <a:buChar char="•"/>
              <a:defRPr sz="1575" b="0">
                <a:solidFill>
                  <a:srgbClr val="111827"/>
                </a:solidFill>
                <a:latin typeface="Yu Gothic"/>
                <a:ea typeface="Yu Gothic"/>
                <a:cs typeface="Yu Gothic"/>
              </a:defRPr>
            </a:pPr>
            <a:r>
              <a:rPr lang="ja-JP" sz="1575" b="0" noProof="1">
                <a:solidFill>
                  <a:srgbClr val="111827"/>
                </a:solidFill>
                <a:latin typeface="Yu Gothic"/>
                <a:ea typeface="Yu Gothic"/>
                <a:cs typeface="Yu Gothic"/>
              </a:rPr>
              <a:t>性別　　　 女性</a:t>
            </a:r>
          </a:p>
          <a:p>
            <a:pPr marL="285750" indent="-285750" algn="l">
              <a:buFont typeface="Arial" panose="020B0604020202020204" pitchFamily="34" charset="0"/>
              <a:buChar char="•"/>
              <a:defRPr sz="1575" b="0">
                <a:solidFill>
                  <a:srgbClr val="111827"/>
                </a:solidFill>
                <a:latin typeface="Yu Gothic"/>
                <a:ea typeface="Yu Gothic"/>
                <a:cs typeface="Yu Gothic"/>
              </a:defRPr>
            </a:pPr>
            <a:r>
              <a:rPr lang="ja-JP" sz="1575" b="0" noProof="1">
                <a:solidFill>
                  <a:srgbClr val="111827"/>
                </a:solidFill>
                <a:latin typeface="Yu Gothic"/>
                <a:ea typeface="Yu Gothic"/>
                <a:cs typeface="Yu Gothic"/>
              </a:rPr>
              <a:t>客室等級　 1等</a:t>
            </a:r>
          </a:p>
          <a:p>
            <a:pPr marL="285750" indent="-285750" algn="l">
              <a:buFont typeface="Arial" panose="020B0604020202020204" pitchFamily="34" charset="0"/>
              <a:buChar char="•"/>
              <a:defRPr sz="1575" b="0">
                <a:solidFill>
                  <a:srgbClr val="111827"/>
                </a:solidFill>
                <a:latin typeface="Yu Gothic"/>
                <a:ea typeface="Yu Gothic"/>
                <a:cs typeface="Yu Gothic"/>
              </a:defRPr>
            </a:pPr>
            <a:r>
              <a:rPr lang="ja-JP" sz="1575" b="0" noProof="1">
                <a:solidFill>
                  <a:srgbClr val="111827"/>
                </a:solidFill>
                <a:latin typeface="Yu Gothic"/>
                <a:ea typeface="Yu Gothic"/>
                <a:cs typeface="Yu Gothic"/>
              </a:rPr>
              <a:t>運賃　　　 71</a:t>
            </a:r>
          </a:p>
        </p:txBody>
      </p:sp>
      <p:sp>
        <p:nvSpPr>
          <p:cNvPr id="40" name="正方形/長方形 39">
            <a:extLst>
              <a:ext uri="{FF2B5EF4-FFF2-40B4-BE49-F238E27FC236}">
                <a16:creationId xmlns:a16="http://schemas.microsoft.com/office/drawing/2014/main" id="{5D2CCE5E-142C-88EB-EB58-DD1269FFAF27}"/>
              </a:ext>
            </a:extLst>
          </p:cNvPr>
          <p:cNvSpPr>
            <a:spLocks noGrp="1"/>
          </p:cNvSpPr>
          <p:nvPr/>
        </p:nvSpPr>
        <p:spPr>
          <a:xfrm>
            <a:off x="3714750" y="2058162"/>
            <a:ext cx="2000250" cy="1333500"/>
          </a:xfrm>
          <a:prstGeom prst="rect">
            <a:avLst/>
          </a:prstGeom>
          <a:solidFill>
            <a:srgbClr val="111827"/>
          </a:solidFill>
          <a:ln w="0">
            <a:solidFill>
              <a:srgbClr val="111827"/>
            </a:solidFill>
            <a:prstDash val="solid"/>
          </a:ln>
        </p:spPr>
        <p:txBody>
          <a:bodyPr/>
          <a:lstStyle/>
          <a:p>
            <a:endParaRPr lang="ja-JP" noProof="1"/>
          </a:p>
        </p:txBody>
      </p:sp>
      <p:sp>
        <p:nvSpPr>
          <p:cNvPr id="41" name="正方形/長方形 40">
            <a:extLst>
              <a:ext uri="{FF2B5EF4-FFF2-40B4-BE49-F238E27FC236}">
                <a16:creationId xmlns:a16="http://schemas.microsoft.com/office/drawing/2014/main" id="{3A98CF65-C0A9-535F-DE00-E954258E5E91}"/>
              </a:ext>
            </a:extLst>
          </p:cNvPr>
          <p:cNvSpPr>
            <a:spLocks noGrp="1"/>
          </p:cNvSpPr>
          <p:nvPr/>
        </p:nvSpPr>
        <p:spPr>
          <a:xfrm>
            <a:off x="3714750" y="2315337"/>
            <a:ext cx="2000250" cy="838200"/>
          </a:xfrm>
          <a:prstGeom prst="rect">
            <a:avLst/>
          </a:prstGeom>
          <a:noFill/>
          <a:ln w="0">
            <a:noFill/>
            <a:prstDash val="solid"/>
          </a:ln>
        </p:spPr>
        <p:txBody>
          <a:bodyPr lIns="0" tIns="0" rIns="0" bIns="0" anchor="ctr">
            <a:noAutofit/>
          </a:bodyPr>
          <a:lstStyle/>
          <a:p>
            <a:pPr algn="ctr">
              <a:buNone/>
              <a:defRPr sz="2250" b="1">
                <a:solidFill>
                  <a:srgbClr val="FFFFFF"/>
                </a:solidFill>
                <a:latin typeface="Yu Gothic"/>
                <a:ea typeface="Yu Gothic"/>
                <a:cs typeface="Yu Gothic"/>
              </a:defRPr>
            </a:pPr>
            <a:r>
              <a:rPr lang="ja-JP" sz="2250" b="1" noProof="1">
                <a:solidFill>
                  <a:srgbClr val="FFFFFF"/>
                </a:solidFill>
                <a:latin typeface="Yu Gothic"/>
                <a:ea typeface="Yu Gothic"/>
                <a:cs typeface="Yu Gothic"/>
              </a:rPr>
              <a:t>BLACK</a:t>
            </a:r>
          </a:p>
          <a:p>
            <a:pPr algn="ctr">
              <a:buNone/>
              <a:defRPr sz="2250" b="1">
                <a:solidFill>
                  <a:srgbClr val="FFFFFF"/>
                </a:solidFill>
                <a:latin typeface="Yu Gothic"/>
                <a:ea typeface="Yu Gothic"/>
                <a:cs typeface="Yu Gothic"/>
              </a:defRPr>
            </a:pPr>
            <a:r>
              <a:rPr lang="ja-JP" sz="2250" b="1" noProof="1">
                <a:solidFill>
                  <a:srgbClr val="FFFFFF"/>
                </a:solidFill>
                <a:latin typeface="Yu Gothic"/>
                <a:ea typeface="Yu Gothic"/>
                <a:cs typeface="Yu Gothic"/>
              </a:rPr>
              <a:t>BOX</a:t>
            </a:r>
          </a:p>
        </p:txBody>
      </p:sp>
      <p:sp>
        <p:nvSpPr>
          <p:cNvPr id="42" name="正方形/長方形 41">
            <a:extLst>
              <a:ext uri="{FF2B5EF4-FFF2-40B4-BE49-F238E27FC236}">
                <a16:creationId xmlns:a16="http://schemas.microsoft.com/office/drawing/2014/main" id="{CB9FE3FE-126F-EB11-7A7F-2D9F4C7EE072}"/>
              </a:ext>
            </a:extLst>
          </p:cNvPr>
          <p:cNvSpPr>
            <a:spLocks noGrp="1"/>
          </p:cNvSpPr>
          <p:nvPr/>
        </p:nvSpPr>
        <p:spPr>
          <a:xfrm>
            <a:off x="6477000" y="1867662"/>
            <a:ext cx="1666875" cy="1714500"/>
          </a:xfrm>
          <a:prstGeom prst="rect">
            <a:avLst/>
          </a:prstGeom>
          <a:solidFill>
            <a:schemeClr val="lt1"/>
          </a:solidFill>
          <a:ln w="41275" cap="rnd" cmpd="dbl">
            <a:solidFill>
              <a:schemeClr val="accent4"/>
            </a:solidFill>
            <a:beve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a:lstStyle/>
          <a:p>
            <a:endParaRPr lang="ja-JP" noProof="1"/>
          </a:p>
        </p:txBody>
      </p:sp>
      <p:sp>
        <p:nvSpPr>
          <p:cNvPr id="43" name="正方形/長方形 42">
            <a:extLst>
              <a:ext uri="{FF2B5EF4-FFF2-40B4-BE49-F238E27FC236}">
                <a16:creationId xmlns:a16="http://schemas.microsoft.com/office/drawing/2014/main" id="{94FDAEB5-DED9-EF22-48D3-1F13595C29AD}"/>
              </a:ext>
            </a:extLst>
          </p:cNvPr>
          <p:cNvSpPr>
            <a:spLocks noGrp="1"/>
          </p:cNvSpPr>
          <p:nvPr/>
        </p:nvSpPr>
        <p:spPr>
          <a:xfrm>
            <a:off x="6705600" y="2086737"/>
            <a:ext cx="1238250" cy="285750"/>
          </a:xfrm>
          <a:prstGeom prst="rect">
            <a:avLst/>
          </a:prstGeom>
          <a:noFill/>
          <a:ln w="0">
            <a:noFill/>
            <a:prstDash val="solid"/>
          </a:ln>
        </p:spPr>
        <p:txBody>
          <a:bodyPr lIns="0" tIns="0" rIns="0" bIns="0" anchor="t">
            <a:noAutofit/>
          </a:bodyPr>
          <a:lstStyle/>
          <a:p>
            <a:pPr algn="ctr">
              <a:buNone/>
              <a:defRPr sz="1650" b="1">
                <a:solidFill>
                  <a:srgbClr val="2563EB"/>
                </a:solidFill>
                <a:latin typeface="Yu Gothic"/>
                <a:ea typeface="Yu Gothic"/>
                <a:cs typeface="Yu Gothic"/>
              </a:defRPr>
            </a:pPr>
            <a:r>
              <a:rPr lang="ja-JP" sz="1650" b="1" noProof="1">
                <a:solidFill>
                  <a:srgbClr val="2563EB"/>
                </a:solidFill>
                <a:latin typeface="Yu Gothic"/>
                <a:ea typeface="Yu Gothic"/>
                <a:cs typeface="Yu Gothic"/>
              </a:rPr>
              <a:t>予測</a:t>
            </a:r>
          </a:p>
        </p:txBody>
      </p:sp>
      <p:sp>
        <p:nvSpPr>
          <p:cNvPr id="44" name="正方形/長方形 43">
            <a:extLst>
              <a:ext uri="{FF2B5EF4-FFF2-40B4-BE49-F238E27FC236}">
                <a16:creationId xmlns:a16="http://schemas.microsoft.com/office/drawing/2014/main" id="{DB5F8A68-7F4D-744D-5DB5-47799F2C2F67}"/>
              </a:ext>
            </a:extLst>
          </p:cNvPr>
          <p:cNvSpPr>
            <a:spLocks noGrp="1"/>
          </p:cNvSpPr>
          <p:nvPr/>
        </p:nvSpPr>
        <p:spPr>
          <a:xfrm>
            <a:off x="6705600" y="2524887"/>
            <a:ext cx="1238250" cy="266700"/>
          </a:xfrm>
          <a:prstGeom prst="rect">
            <a:avLst/>
          </a:prstGeom>
          <a:noFill/>
          <a:ln w="0">
            <a:noFill/>
            <a:prstDash val="solid"/>
          </a:ln>
        </p:spPr>
        <p:txBody>
          <a:bodyPr lIns="0" tIns="0" rIns="0" bIns="0" anchor="t">
            <a:noAutofit/>
          </a:bodyPr>
          <a:lstStyle/>
          <a:p>
            <a:pPr algn="ctr">
              <a:buNone/>
              <a:defRPr sz="1500" b="0">
                <a:solidFill>
                  <a:srgbClr val="111827"/>
                </a:solidFill>
                <a:latin typeface="Yu Gothic"/>
                <a:ea typeface="Yu Gothic"/>
                <a:cs typeface="Yu Gothic"/>
              </a:defRPr>
            </a:pPr>
            <a:r>
              <a:rPr lang="ja-JP" sz="1500" b="0" noProof="1">
                <a:solidFill>
                  <a:srgbClr val="111827"/>
                </a:solidFill>
                <a:latin typeface="Yu Gothic"/>
                <a:ea typeface="Yu Gothic"/>
                <a:cs typeface="Yu Gothic"/>
              </a:rPr>
              <a:t>生存確率</a:t>
            </a:r>
          </a:p>
        </p:txBody>
      </p:sp>
      <p:sp>
        <p:nvSpPr>
          <p:cNvPr id="45" name="正方形/長方形 44">
            <a:extLst>
              <a:ext uri="{FF2B5EF4-FFF2-40B4-BE49-F238E27FC236}">
                <a16:creationId xmlns:a16="http://schemas.microsoft.com/office/drawing/2014/main" id="{8DF652D9-F8FE-9D43-A610-6A3AC8073097}"/>
              </a:ext>
            </a:extLst>
          </p:cNvPr>
          <p:cNvSpPr>
            <a:spLocks noGrp="1"/>
          </p:cNvSpPr>
          <p:nvPr/>
        </p:nvSpPr>
        <p:spPr>
          <a:xfrm>
            <a:off x="6705600" y="2820162"/>
            <a:ext cx="1238250" cy="457200"/>
          </a:xfrm>
          <a:prstGeom prst="rect">
            <a:avLst/>
          </a:prstGeom>
          <a:noFill/>
          <a:ln w="0">
            <a:noFill/>
            <a:prstDash val="solid"/>
          </a:ln>
        </p:spPr>
        <p:txBody>
          <a:bodyPr lIns="0" tIns="0" rIns="0" bIns="0" anchor="t">
            <a:noAutofit/>
          </a:bodyPr>
          <a:lstStyle/>
          <a:p>
            <a:pPr algn="ctr">
              <a:buNone/>
              <a:defRPr sz="2850" b="1">
                <a:solidFill>
                  <a:srgbClr val="2563EB"/>
                </a:solidFill>
                <a:latin typeface="Yu Gothic"/>
                <a:ea typeface="Yu Gothic"/>
                <a:cs typeface="Yu Gothic"/>
              </a:defRPr>
            </a:pPr>
            <a:r>
              <a:rPr lang="ja-JP" sz="2850" b="1" noProof="1">
                <a:solidFill>
                  <a:srgbClr val="2563EB"/>
                </a:solidFill>
                <a:latin typeface="Yu Gothic"/>
                <a:ea typeface="Yu Gothic"/>
                <a:cs typeface="Yu Gothic"/>
              </a:rPr>
              <a:t>0.78</a:t>
            </a:r>
          </a:p>
        </p:txBody>
      </p:sp>
      <p:sp>
        <p:nvSpPr>
          <p:cNvPr id="50" name="テキスト ボックス 49">
            <a:extLst>
              <a:ext uri="{FF2B5EF4-FFF2-40B4-BE49-F238E27FC236}">
                <a16:creationId xmlns:a16="http://schemas.microsoft.com/office/drawing/2014/main" id="{F27425C6-C75A-B065-707A-E247B394B1CA}"/>
              </a:ext>
            </a:extLst>
          </p:cNvPr>
          <p:cNvSpPr txBox="1"/>
          <p:nvPr/>
        </p:nvSpPr>
        <p:spPr>
          <a:xfrm>
            <a:off x="628650" y="3816557"/>
            <a:ext cx="4708340" cy="369332"/>
          </a:xfrm>
          <a:prstGeom prst="rect">
            <a:avLst/>
          </a:prstGeom>
          <a:noFill/>
        </p:spPr>
        <p:txBody>
          <a:bodyPr wrap="none" rtlCol="0">
            <a:spAutoFit/>
          </a:bodyPr>
          <a:lstStyle/>
          <a:p>
            <a:r>
              <a:rPr kumimoji="1" lang="ja-JP" noProof="1"/>
              <a:t>2. モデルの誤学習の</a:t>
            </a:r>
            <a:r>
              <a:rPr kumimoji="1" lang="ja-JP" altLang="en-US" noProof="1"/>
              <a:t>検知</a:t>
            </a:r>
            <a:r>
              <a:rPr kumimoji="1" lang="ja-JP" noProof="1"/>
              <a:t>(予期せぬズル</a:t>
            </a:r>
            <a:r>
              <a:rPr kumimoji="1" lang="ja-JP" altLang="en-US" noProof="1"/>
              <a:t>など</a:t>
            </a:r>
            <a:r>
              <a:rPr kumimoji="1" lang="ja-JP" noProof="1"/>
              <a:t>)</a:t>
            </a:r>
          </a:p>
        </p:txBody>
      </p:sp>
      <p:pic>
        <p:nvPicPr>
          <p:cNvPr id="53" name="図 52">
            <a:extLst>
              <a:ext uri="{FF2B5EF4-FFF2-40B4-BE49-F238E27FC236}">
                <a16:creationId xmlns:a16="http://schemas.microsoft.com/office/drawing/2014/main" id="{D18CBCB8-2A77-9994-214A-AD4FB884A2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6749" y="4561244"/>
            <a:ext cx="1848115" cy="1834007"/>
          </a:xfrm>
          <a:prstGeom prst="rect">
            <a:avLst/>
          </a:prstGeom>
        </p:spPr>
      </p:pic>
      <p:pic>
        <p:nvPicPr>
          <p:cNvPr id="55" name="図 54">
            <a:extLst>
              <a:ext uri="{FF2B5EF4-FFF2-40B4-BE49-F238E27FC236}">
                <a16:creationId xmlns:a16="http://schemas.microsoft.com/office/drawing/2014/main" id="{198567EF-C91B-A93C-8528-65100093A6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2585" y="4557730"/>
            <a:ext cx="1848115" cy="1841034"/>
          </a:xfrm>
          <a:prstGeom prst="rect">
            <a:avLst/>
          </a:prstGeom>
        </p:spPr>
      </p:pic>
      <p:sp>
        <p:nvSpPr>
          <p:cNvPr id="4" name="正方形/長方形 3">
            <a:extLst>
              <a:ext uri="{FF2B5EF4-FFF2-40B4-BE49-F238E27FC236}">
                <a16:creationId xmlns:a16="http://schemas.microsoft.com/office/drawing/2014/main" id="{7BE34941-21EA-59B2-B26B-598AF61BF524}"/>
              </a:ext>
            </a:extLst>
          </p:cNvPr>
          <p:cNvSpPr>
            <a:spLocks noGrp="1"/>
          </p:cNvSpPr>
          <p:nvPr/>
        </p:nvSpPr>
        <p:spPr>
          <a:xfrm>
            <a:off x="9001125" y="1636116"/>
            <a:ext cx="2667000" cy="2049556"/>
          </a:xfrm>
          <a:prstGeom prst="rect">
            <a:avLst/>
          </a:prstGeom>
          <a:solidFill>
            <a:schemeClr val="lt1"/>
          </a:solidFill>
          <a:ln w="41275" cap="rnd" cmpd="dbl">
            <a:solidFill>
              <a:schemeClr val="accent6"/>
            </a:solidFill>
            <a:beve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a:lstStyle/>
          <a:p>
            <a:endParaRPr lang="ja-JP" noProof="1"/>
          </a:p>
        </p:txBody>
      </p:sp>
      <p:sp>
        <p:nvSpPr>
          <p:cNvPr id="5" name="正方形/長方形 4">
            <a:extLst>
              <a:ext uri="{FF2B5EF4-FFF2-40B4-BE49-F238E27FC236}">
                <a16:creationId xmlns:a16="http://schemas.microsoft.com/office/drawing/2014/main" id="{D1B73467-5DB3-3009-FB60-E1A5911C8F82}"/>
              </a:ext>
            </a:extLst>
          </p:cNvPr>
          <p:cNvSpPr>
            <a:spLocks noGrp="1"/>
          </p:cNvSpPr>
          <p:nvPr/>
        </p:nvSpPr>
        <p:spPr>
          <a:xfrm>
            <a:off x="9105900" y="1840063"/>
            <a:ext cx="2171700" cy="323850"/>
          </a:xfrm>
          <a:prstGeom prst="rect">
            <a:avLst/>
          </a:prstGeom>
          <a:noFill/>
          <a:ln w="0">
            <a:noFill/>
            <a:prstDash val="solid"/>
          </a:ln>
        </p:spPr>
        <p:txBody>
          <a:bodyPr lIns="0" tIns="0" rIns="0" bIns="0" anchor="t">
            <a:noAutofit/>
          </a:bodyPr>
          <a:lstStyle/>
          <a:p>
            <a:pPr algn="l">
              <a:buNone/>
              <a:defRPr sz="1800" b="1">
                <a:solidFill>
                  <a:srgbClr val="10B981"/>
                </a:solidFill>
                <a:latin typeface="Yu Gothic"/>
                <a:ea typeface="Yu Gothic"/>
                <a:cs typeface="Yu Gothic"/>
              </a:defRPr>
            </a:pPr>
            <a:r>
              <a:rPr lang="ja-JP" sz="1800" b="1" noProof="1">
                <a:solidFill>
                  <a:srgbClr val="10B981"/>
                </a:solidFill>
                <a:latin typeface="Yu Gothic"/>
                <a:ea typeface="Yu Gothic"/>
                <a:cs typeface="Yu Gothic"/>
              </a:rPr>
              <a:t>XAIによる説明</a:t>
            </a:r>
          </a:p>
        </p:txBody>
      </p:sp>
      <p:sp>
        <p:nvSpPr>
          <p:cNvPr id="6" name="正方形/長方形 5">
            <a:extLst>
              <a:ext uri="{FF2B5EF4-FFF2-40B4-BE49-F238E27FC236}">
                <a16:creationId xmlns:a16="http://schemas.microsoft.com/office/drawing/2014/main" id="{A9A6FFDC-7AE5-9E0E-96DD-5CEDD6649D6C}"/>
              </a:ext>
            </a:extLst>
          </p:cNvPr>
          <p:cNvSpPr>
            <a:spLocks noGrp="1"/>
          </p:cNvSpPr>
          <p:nvPr/>
        </p:nvSpPr>
        <p:spPr>
          <a:xfrm>
            <a:off x="9105900" y="2314072"/>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Yu Gothic"/>
                <a:ea typeface="Yu Gothic"/>
                <a:cs typeface="Yu Gothic"/>
              </a:defRPr>
            </a:pPr>
            <a:r>
              <a:rPr lang="ja-JP" sz="1425" b="1" noProof="1">
                <a:solidFill>
                  <a:srgbClr val="111827"/>
                </a:solidFill>
                <a:latin typeface="Yu Gothic"/>
                <a:ea typeface="Yu Gothic"/>
                <a:cs typeface="Yu Gothic"/>
              </a:rPr>
              <a:t>運賃</a:t>
            </a:r>
          </a:p>
        </p:txBody>
      </p:sp>
      <p:sp>
        <p:nvSpPr>
          <p:cNvPr id="8" name="正方形/長方形 7">
            <a:extLst>
              <a:ext uri="{FF2B5EF4-FFF2-40B4-BE49-F238E27FC236}">
                <a16:creationId xmlns:a16="http://schemas.microsoft.com/office/drawing/2014/main" id="{5A6289A8-9D03-3F3E-2289-5F15E966EB31}"/>
              </a:ext>
            </a:extLst>
          </p:cNvPr>
          <p:cNvSpPr>
            <a:spLocks noGrp="1"/>
          </p:cNvSpPr>
          <p:nvPr/>
        </p:nvSpPr>
        <p:spPr>
          <a:xfrm>
            <a:off x="10334625" y="2333122"/>
            <a:ext cx="571500" cy="190500"/>
          </a:xfrm>
          <a:prstGeom prst="rect">
            <a:avLst/>
          </a:prstGeom>
          <a:solidFill>
            <a:srgbClr val="10B981"/>
          </a:solidFill>
          <a:ln w="0">
            <a:solidFill>
              <a:srgbClr val="10B981"/>
            </a:solidFill>
            <a:prstDash val="solid"/>
          </a:ln>
        </p:spPr>
        <p:txBody>
          <a:bodyPr/>
          <a:lstStyle/>
          <a:p>
            <a:endParaRPr lang="ja-JP" noProof="1"/>
          </a:p>
        </p:txBody>
      </p:sp>
      <p:sp>
        <p:nvSpPr>
          <p:cNvPr id="9" name="正方形/長方形 8">
            <a:extLst>
              <a:ext uri="{FF2B5EF4-FFF2-40B4-BE49-F238E27FC236}">
                <a16:creationId xmlns:a16="http://schemas.microsoft.com/office/drawing/2014/main" id="{373CFCB1-E2F5-7DBE-DE1B-60284A60C28C}"/>
              </a:ext>
            </a:extLst>
          </p:cNvPr>
          <p:cNvSpPr>
            <a:spLocks noGrp="1"/>
          </p:cNvSpPr>
          <p:nvPr/>
        </p:nvSpPr>
        <p:spPr>
          <a:xfrm>
            <a:off x="10953750" y="2285497"/>
            <a:ext cx="571500" cy="266700"/>
          </a:xfrm>
          <a:prstGeom prst="rect">
            <a:avLst/>
          </a:prstGeom>
          <a:noFill/>
          <a:ln w="0">
            <a:noFill/>
            <a:prstDash val="solid"/>
          </a:ln>
        </p:spPr>
        <p:txBody>
          <a:bodyPr lIns="0" tIns="0" rIns="0" bIns="0" anchor="t">
            <a:noAutofit/>
          </a:bodyPr>
          <a:lstStyle/>
          <a:p>
            <a:pPr algn="r">
              <a:buNone/>
              <a:defRPr sz="1275" b="1">
                <a:solidFill>
                  <a:srgbClr val="10B981"/>
                </a:solidFill>
                <a:latin typeface="Yu Gothic"/>
                <a:ea typeface="Yu Gothic"/>
                <a:cs typeface="Yu Gothic"/>
              </a:defRPr>
            </a:pPr>
            <a:r>
              <a:rPr lang="ja-JP" sz="1275" b="1" noProof="1">
                <a:solidFill>
                  <a:srgbClr val="10B981"/>
                </a:solidFill>
                <a:latin typeface="Yu Gothic"/>
                <a:ea typeface="Yu Gothic"/>
                <a:cs typeface="Yu Gothic"/>
              </a:rPr>
              <a:t>+0.50</a:t>
            </a:r>
          </a:p>
        </p:txBody>
      </p:sp>
      <p:sp>
        <p:nvSpPr>
          <p:cNvPr id="11" name="正方形/長方形 10">
            <a:extLst>
              <a:ext uri="{FF2B5EF4-FFF2-40B4-BE49-F238E27FC236}">
                <a16:creationId xmlns:a16="http://schemas.microsoft.com/office/drawing/2014/main" id="{8DD3C08C-55DB-6B9F-9C93-97CE31A17462}"/>
              </a:ext>
            </a:extLst>
          </p:cNvPr>
          <p:cNvSpPr>
            <a:spLocks noGrp="1"/>
          </p:cNvSpPr>
          <p:nvPr/>
        </p:nvSpPr>
        <p:spPr>
          <a:xfrm>
            <a:off x="9105900" y="2809372"/>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Yu Gothic"/>
                <a:ea typeface="Yu Gothic"/>
                <a:cs typeface="Yu Gothic"/>
              </a:defRPr>
            </a:pPr>
            <a:r>
              <a:rPr lang="ja-JP" sz="1425" b="1" noProof="1">
                <a:solidFill>
                  <a:srgbClr val="111827"/>
                </a:solidFill>
                <a:latin typeface="Yu Gothic"/>
                <a:ea typeface="Yu Gothic"/>
                <a:cs typeface="Yu Gothic"/>
              </a:rPr>
              <a:t>年齢</a:t>
            </a:r>
          </a:p>
        </p:txBody>
      </p:sp>
      <p:sp>
        <p:nvSpPr>
          <p:cNvPr id="13" name="正方形/長方形 12">
            <a:extLst>
              <a:ext uri="{FF2B5EF4-FFF2-40B4-BE49-F238E27FC236}">
                <a16:creationId xmlns:a16="http://schemas.microsoft.com/office/drawing/2014/main" id="{E3825E94-9F7B-464F-E7C4-7AC6B1AFB783}"/>
              </a:ext>
            </a:extLst>
          </p:cNvPr>
          <p:cNvSpPr>
            <a:spLocks noGrp="1"/>
          </p:cNvSpPr>
          <p:nvPr/>
        </p:nvSpPr>
        <p:spPr>
          <a:xfrm>
            <a:off x="9963150" y="2828422"/>
            <a:ext cx="371475" cy="190500"/>
          </a:xfrm>
          <a:prstGeom prst="rect">
            <a:avLst/>
          </a:prstGeom>
          <a:solidFill>
            <a:srgbClr val="EF4444"/>
          </a:solidFill>
          <a:ln w="0">
            <a:solidFill>
              <a:srgbClr val="EF4444"/>
            </a:solidFill>
            <a:prstDash val="solid"/>
          </a:ln>
        </p:spPr>
        <p:txBody>
          <a:bodyPr/>
          <a:lstStyle/>
          <a:p>
            <a:endParaRPr lang="ja-JP" noProof="1"/>
          </a:p>
        </p:txBody>
      </p:sp>
      <p:sp>
        <p:nvSpPr>
          <p:cNvPr id="14" name="正方形/長方形 13">
            <a:extLst>
              <a:ext uri="{FF2B5EF4-FFF2-40B4-BE49-F238E27FC236}">
                <a16:creationId xmlns:a16="http://schemas.microsoft.com/office/drawing/2014/main" id="{64610E52-861D-8D7D-0CBA-67816A3D29E9}"/>
              </a:ext>
            </a:extLst>
          </p:cNvPr>
          <p:cNvSpPr>
            <a:spLocks noGrp="1"/>
          </p:cNvSpPr>
          <p:nvPr/>
        </p:nvSpPr>
        <p:spPr>
          <a:xfrm>
            <a:off x="10953750" y="2780797"/>
            <a:ext cx="571500" cy="266700"/>
          </a:xfrm>
          <a:prstGeom prst="rect">
            <a:avLst/>
          </a:prstGeom>
          <a:noFill/>
          <a:ln w="0">
            <a:noFill/>
            <a:prstDash val="solid"/>
          </a:ln>
        </p:spPr>
        <p:txBody>
          <a:bodyPr lIns="0" tIns="0" rIns="0" bIns="0" anchor="t">
            <a:noAutofit/>
          </a:bodyPr>
          <a:lstStyle/>
          <a:p>
            <a:pPr algn="r">
              <a:buNone/>
              <a:defRPr sz="1275" b="1">
                <a:solidFill>
                  <a:srgbClr val="EF4444"/>
                </a:solidFill>
                <a:latin typeface="Yu Gothic"/>
                <a:ea typeface="Yu Gothic"/>
                <a:cs typeface="Yu Gothic"/>
              </a:defRPr>
            </a:pPr>
            <a:r>
              <a:rPr lang="ja-JP" sz="1275" b="1" noProof="1">
                <a:solidFill>
                  <a:srgbClr val="EF4444"/>
                </a:solidFill>
                <a:latin typeface="Yu Gothic"/>
                <a:ea typeface="Yu Gothic"/>
                <a:cs typeface="Yu Gothic"/>
              </a:rPr>
              <a:t>−0.20</a:t>
            </a:r>
          </a:p>
        </p:txBody>
      </p:sp>
      <p:sp>
        <p:nvSpPr>
          <p:cNvPr id="15" name="正方形/長方形 14">
            <a:extLst>
              <a:ext uri="{FF2B5EF4-FFF2-40B4-BE49-F238E27FC236}">
                <a16:creationId xmlns:a16="http://schemas.microsoft.com/office/drawing/2014/main" id="{900FE2C9-96E8-1435-3DFA-63EF48820151}"/>
              </a:ext>
            </a:extLst>
          </p:cNvPr>
          <p:cNvSpPr>
            <a:spLocks noGrp="1"/>
          </p:cNvSpPr>
          <p:nvPr/>
        </p:nvSpPr>
        <p:spPr>
          <a:xfrm>
            <a:off x="9105900" y="3304672"/>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Yu Gothic"/>
                <a:ea typeface="Yu Gothic"/>
                <a:cs typeface="Yu Gothic"/>
              </a:defRPr>
            </a:pPr>
            <a:r>
              <a:rPr lang="ja-JP" sz="1425" b="1" noProof="1">
                <a:solidFill>
                  <a:srgbClr val="111827"/>
                </a:solidFill>
                <a:latin typeface="Yu Gothic"/>
                <a:ea typeface="Yu Gothic"/>
                <a:cs typeface="Yu Gothic"/>
              </a:rPr>
              <a:t>客室等級</a:t>
            </a:r>
          </a:p>
        </p:txBody>
      </p:sp>
      <p:sp>
        <p:nvSpPr>
          <p:cNvPr id="16" name="正方形/長方形 15">
            <a:extLst>
              <a:ext uri="{FF2B5EF4-FFF2-40B4-BE49-F238E27FC236}">
                <a16:creationId xmlns:a16="http://schemas.microsoft.com/office/drawing/2014/main" id="{9D32287A-AC01-2106-D06E-0ACEF608D053}"/>
              </a:ext>
            </a:extLst>
          </p:cNvPr>
          <p:cNvSpPr>
            <a:spLocks noGrp="1"/>
          </p:cNvSpPr>
          <p:nvPr/>
        </p:nvSpPr>
        <p:spPr>
          <a:xfrm>
            <a:off x="10334625" y="3323722"/>
            <a:ext cx="266700" cy="190500"/>
          </a:xfrm>
          <a:prstGeom prst="rect">
            <a:avLst/>
          </a:prstGeom>
          <a:solidFill>
            <a:srgbClr val="10B981"/>
          </a:solidFill>
          <a:ln w="0">
            <a:solidFill>
              <a:srgbClr val="10B981"/>
            </a:solidFill>
            <a:prstDash val="solid"/>
          </a:ln>
        </p:spPr>
        <p:txBody>
          <a:bodyPr/>
          <a:lstStyle/>
          <a:p>
            <a:endParaRPr lang="ja-JP" noProof="1"/>
          </a:p>
        </p:txBody>
      </p:sp>
      <p:sp>
        <p:nvSpPr>
          <p:cNvPr id="17" name="正方形/長方形 16">
            <a:extLst>
              <a:ext uri="{FF2B5EF4-FFF2-40B4-BE49-F238E27FC236}">
                <a16:creationId xmlns:a16="http://schemas.microsoft.com/office/drawing/2014/main" id="{810FF06D-1808-078F-AF78-B3CAB723F2F5}"/>
              </a:ext>
            </a:extLst>
          </p:cNvPr>
          <p:cNvSpPr>
            <a:spLocks noGrp="1"/>
          </p:cNvSpPr>
          <p:nvPr/>
        </p:nvSpPr>
        <p:spPr>
          <a:xfrm>
            <a:off x="10953750" y="3276097"/>
            <a:ext cx="571500" cy="266700"/>
          </a:xfrm>
          <a:prstGeom prst="rect">
            <a:avLst/>
          </a:prstGeom>
          <a:noFill/>
          <a:ln w="0">
            <a:noFill/>
            <a:prstDash val="solid"/>
          </a:ln>
        </p:spPr>
        <p:txBody>
          <a:bodyPr lIns="0" tIns="0" rIns="0" bIns="0" anchor="t">
            <a:noAutofit/>
          </a:bodyPr>
          <a:lstStyle/>
          <a:p>
            <a:pPr algn="r">
              <a:buNone/>
              <a:defRPr sz="1275" b="1">
                <a:solidFill>
                  <a:srgbClr val="10B981"/>
                </a:solidFill>
                <a:latin typeface="Yu Gothic"/>
                <a:ea typeface="Yu Gothic"/>
                <a:cs typeface="Yu Gothic"/>
              </a:defRPr>
            </a:pPr>
            <a:r>
              <a:rPr lang="ja-JP" sz="1275" b="1" noProof="1">
                <a:solidFill>
                  <a:srgbClr val="10B981"/>
                </a:solidFill>
                <a:latin typeface="Yu Gothic"/>
                <a:ea typeface="Yu Gothic"/>
                <a:cs typeface="Yu Gothic"/>
              </a:rPr>
              <a:t>+0.15</a:t>
            </a:r>
          </a:p>
        </p:txBody>
      </p:sp>
      <p:sp>
        <p:nvSpPr>
          <p:cNvPr id="3" name="テキスト ボックス 2">
            <a:extLst>
              <a:ext uri="{FF2B5EF4-FFF2-40B4-BE49-F238E27FC236}">
                <a16:creationId xmlns:a16="http://schemas.microsoft.com/office/drawing/2014/main" id="{4BE0B363-3D81-B6DC-C386-0D520379A452}"/>
              </a:ext>
            </a:extLst>
          </p:cNvPr>
          <p:cNvSpPr txBox="1"/>
          <p:nvPr/>
        </p:nvSpPr>
        <p:spPr>
          <a:xfrm>
            <a:off x="628650" y="996117"/>
            <a:ext cx="6183103" cy="923330"/>
          </a:xfrm>
          <a:prstGeom prst="rect">
            <a:avLst/>
          </a:prstGeom>
          <a:noFill/>
        </p:spPr>
        <p:txBody>
          <a:bodyPr wrap="none" rtlCol="0">
            <a:spAutoFit/>
          </a:bodyPr>
          <a:lstStyle/>
          <a:p>
            <a:r>
              <a:rPr kumimoji="1" lang="ja-JP" altLang="en-US"/>
              <a:t>複雑な</a:t>
            </a:r>
            <a:r>
              <a:rPr kumimoji="1" lang="en-US" altLang="ja-JP" dirty="0"/>
              <a:t>AI</a:t>
            </a:r>
            <a:r>
              <a:rPr kumimoji="1" lang="ja-JP" altLang="en-US"/>
              <a:t>の処理を説明するツール</a:t>
            </a:r>
            <a:br>
              <a:rPr kumimoji="1" lang="en-US" altLang="ja-JP" dirty="0"/>
            </a:br>
            <a:r>
              <a:rPr kumimoji="1" lang="en-US" altLang="ja-JP" dirty="0"/>
              <a:t>1. </a:t>
            </a:r>
            <a:r>
              <a:rPr lang="ja-JP" altLang="ja-JP" noProof="1"/>
              <a:t>「なぜその判断に至ったのか」のプロセスや理由を提示</a:t>
            </a:r>
          </a:p>
          <a:p>
            <a:endParaRPr kumimoji="1" lang="ja-JP" altLang="en-US"/>
          </a:p>
        </p:txBody>
      </p:sp>
      <p:sp>
        <p:nvSpPr>
          <p:cNvPr id="18" name="テキスト ボックス 17">
            <a:extLst>
              <a:ext uri="{FF2B5EF4-FFF2-40B4-BE49-F238E27FC236}">
                <a16:creationId xmlns:a16="http://schemas.microsoft.com/office/drawing/2014/main" id="{0B051C82-1280-8ABC-2820-0547C6A9BC07}"/>
              </a:ext>
            </a:extLst>
          </p:cNvPr>
          <p:cNvSpPr txBox="1"/>
          <p:nvPr/>
        </p:nvSpPr>
        <p:spPr>
          <a:xfrm>
            <a:off x="6067961" y="4828861"/>
            <a:ext cx="5457289" cy="1200329"/>
          </a:xfrm>
          <a:prstGeom prst="rect">
            <a:avLst/>
          </a:prstGeom>
          <a:noFill/>
        </p:spPr>
        <p:txBody>
          <a:bodyPr wrap="square" rtlCol="0">
            <a:spAutoFit/>
          </a:bodyPr>
          <a:lstStyle/>
          <a:p>
            <a:r>
              <a:rPr kumimoji="1" lang="ja-JP" altLang="en-US"/>
              <a:t>例</a:t>
            </a:r>
            <a:r>
              <a:rPr kumimoji="1" lang="en-US" altLang="ja-JP" dirty="0"/>
              <a:t> : </a:t>
            </a:r>
            <a:r>
              <a:rPr kumimoji="1" lang="ja-JP" altLang="en-US"/>
              <a:t>ハスキー犬の画像認識</a:t>
            </a:r>
            <a:endParaRPr kumimoji="1" lang="en-US" altLang="ja-JP" dirty="0"/>
          </a:p>
          <a:p>
            <a:r>
              <a:rPr lang="ja-JP" altLang="en-US"/>
              <a:t>犬ではなく，背景の雪によってハスキー犬か否かを判断していた</a:t>
            </a:r>
            <a:endParaRPr lang="en-US" altLang="ja-JP" dirty="0"/>
          </a:p>
          <a:p>
            <a:r>
              <a:rPr lang="en-US" altLang="ja-JP" dirty="0"/>
              <a:t>→</a:t>
            </a:r>
            <a:r>
              <a:rPr lang="ja-JP" altLang="en-US"/>
              <a:t>モデルが誤った学習をしている</a:t>
            </a:r>
            <a:endParaRPr kumimoji="1" lang="ja-JP" altLang="en-US"/>
          </a:p>
        </p:txBody>
      </p:sp>
      <p:sp>
        <p:nvSpPr>
          <p:cNvPr id="19" name="テキスト ボックス 18">
            <a:extLst>
              <a:ext uri="{FF2B5EF4-FFF2-40B4-BE49-F238E27FC236}">
                <a16:creationId xmlns:a16="http://schemas.microsoft.com/office/drawing/2014/main" id="{75362BDC-EAA7-0066-86B2-88D99AEAD70B}"/>
              </a:ext>
            </a:extLst>
          </p:cNvPr>
          <p:cNvSpPr txBox="1"/>
          <p:nvPr/>
        </p:nvSpPr>
        <p:spPr>
          <a:xfrm>
            <a:off x="1399400" y="4253467"/>
            <a:ext cx="902811" cy="307777"/>
          </a:xfrm>
          <a:prstGeom prst="rect">
            <a:avLst/>
          </a:prstGeom>
          <a:noFill/>
        </p:spPr>
        <p:txBody>
          <a:bodyPr wrap="none" rtlCol="0">
            <a:spAutoFit/>
          </a:bodyPr>
          <a:lstStyle/>
          <a:p>
            <a:r>
              <a:rPr kumimoji="1" lang="ja-JP" altLang="en-US" sz="1400"/>
              <a:t>入力画像</a:t>
            </a:r>
          </a:p>
        </p:txBody>
      </p:sp>
      <p:sp>
        <p:nvSpPr>
          <p:cNvPr id="20" name="テキスト ボックス 19">
            <a:extLst>
              <a:ext uri="{FF2B5EF4-FFF2-40B4-BE49-F238E27FC236}">
                <a16:creationId xmlns:a16="http://schemas.microsoft.com/office/drawing/2014/main" id="{C565AFB0-C915-D7B6-876E-CE06C471380A}"/>
              </a:ext>
            </a:extLst>
          </p:cNvPr>
          <p:cNvSpPr txBox="1"/>
          <p:nvPr/>
        </p:nvSpPr>
        <p:spPr>
          <a:xfrm>
            <a:off x="3545324" y="4244192"/>
            <a:ext cx="2339102" cy="307777"/>
          </a:xfrm>
          <a:prstGeom prst="rect">
            <a:avLst/>
          </a:prstGeom>
          <a:noFill/>
        </p:spPr>
        <p:txBody>
          <a:bodyPr wrap="none" rtlCol="0">
            <a:spAutoFit/>
          </a:bodyPr>
          <a:lstStyle/>
          <a:p>
            <a:r>
              <a:rPr kumimoji="1" lang="ja-JP" altLang="en-US" sz="1400"/>
              <a:t>説明の根拠となったパーツ</a:t>
            </a:r>
          </a:p>
        </p:txBody>
      </p:sp>
      <p:sp>
        <p:nvSpPr>
          <p:cNvPr id="21" name="テキスト ボックス 20">
            <a:extLst>
              <a:ext uri="{FF2B5EF4-FFF2-40B4-BE49-F238E27FC236}">
                <a16:creationId xmlns:a16="http://schemas.microsoft.com/office/drawing/2014/main" id="{5851E3AA-88AA-B545-4D02-BEF25D0A3D8E}"/>
              </a:ext>
            </a:extLst>
          </p:cNvPr>
          <p:cNvSpPr txBox="1"/>
          <p:nvPr/>
        </p:nvSpPr>
        <p:spPr>
          <a:xfrm>
            <a:off x="0" y="6487566"/>
            <a:ext cx="6686446" cy="415498"/>
          </a:xfrm>
          <a:prstGeom prst="rect">
            <a:avLst/>
          </a:prstGeom>
          <a:noFill/>
        </p:spPr>
        <p:txBody>
          <a:bodyPr wrap="none" rtlCol="0">
            <a:spAutoFit/>
          </a:bodyPr>
          <a:lstStyle/>
          <a:p>
            <a:r>
              <a:rPr lang="en-US" altLang="ja-JP" sz="1050" dirty="0"/>
              <a:t>[1]</a:t>
            </a:r>
            <a:r>
              <a:rPr lang="ja-JP" altLang="ja-JP" sz="1050"/>
              <a:t>Ribeiro, M. T., Singh, S., &amp; Guestrin, C. (2016). "Why should I trust you?": Explaining the predictions of any classifier. </a:t>
            </a:r>
            <a:br>
              <a:rPr lang="en-US" altLang="ja-JP" sz="1050" dirty="0"/>
            </a:br>
            <a:r>
              <a:rPr lang="ja-JP" altLang="ja-JP" sz="1050" i="1"/>
              <a:t>Proceedings of the 22nd ACM SIGKDD international conference on knowledge discovery and data mining</a:t>
            </a:r>
            <a:r>
              <a:rPr lang="ja-JP" altLang="ja-JP" sz="1050"/>
              <a:t>, 1135-1144.</a:t>
            </a:r>
            <a:endParaRPr kumimoji="1" lang="ja-JP" altLang="en-US" sz="1050"/>
          </a:p>
        </p:txBody>
      </p:sp>
    </p:spTree>
    <p:extLst>
      <p:ext uri="{BB962C8B-B14F-4D97-AF65-F5344CB8AC3E}">
        <p14:creationId xmlns:p14="http://schemas.microsoft.com/office/powerpoint/2010/main" val="1930983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8F38C32-F40E-CB2D-FFFE-27F092D99E1D}"/>
              </a:ext>
            </a:extLst>
          </p:cNvPr>
          <p:cNvSpPr txBox="1"/>
          <p:nvPr/>
        </p:nvSpPr>
        <p:spPr>
          <a:xfrm>
            <a:off x="4105275" y="3686175"/>
            <a:ext cx="649537" cy="369332"/>
          </a:xfrm>
          <a:prstGeom prst="rect">
            <a:avLst/>
          </a:prstGeom>
          <a:noFill/>
        </p:spPr>
        <p:txBody>
          <a:bodyPr wrap="none" rtlCol="0">
            <a:spAutoFit/>
          </a:bodyPr>
          <a:lstStyle/>
          <a:p>
            <a:r>
              <a:rPr kumimoji="1" lang="ja-JP" noProof="1"/>
              <a:t>LIME</a:t>
            </a:r>
          </a:p>
        </p:txBody>
      </p:sp>
    </p:spTree>
    <p:extLst>
      <p:ext uri="{BB962C8B-B14F-4D97-AF65-F5344CB8AC3E}">
        <p14:creationId xmlns:p14="http://schemas.microsoft.com/office/powerpoint/2010/main" val="588544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
        <p:cNvGrpSpPr/>
        <p:nvPr/>
      </p:nvGrpSpPr>
      <p:grpSpPr>
        <a:xfrm>
          <a:off x="0" y="0"/>
          <a:ext cx="0" cy="0"/>
          <a:chOff x="0" y="0"/>
          <a:chExt cx="0" cy="0"/>
        </a:xfrm>
      </p:grpSpPr>
      <p:sp>
        <p:nvSpPr>
          <p:cNvPr id="38" name="正方形/長方形 37">
            <a:extLst>
              <a:ext uri="{FF2B5EF4-FFF2-40B4-BE49-F238E27FC236}">
                <a16:creationId xmlns:a16="http://schemas.microsoft.com/office/drawing/2014/main" id="{A5CABAE7-EE96-43F6-8798-508681155297}"/>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2" name="slide-3-title">
            <a:extLst>
              <a:ext uri="{FF2B5EF4-FFF2-40B4-BE49-F238E27FC236}">
                <a16:creationId xmlns:a16="http://schemas.microsoft.com/office/drawing/2014/main" id="{F2977694-D0B3-41BB-BD59-7C652764FDBD}"/>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2233A"/>
                </a:solidFill>
                <a:latin typeface="Yu Gothic"/>
                <a:ea typeface="Yu Gothic"/>
                <a:cs typeface="Yu Gothic"/>
              </a:defRPr>
            </a:pPr>
            <a:r>
              <a:rPr lang="ja-JP" sz="2850" b="1" noProof="1">
                <a:solidFill>
                  <a:srgbClr val="12233A"/>
                </a:solidFill>
                <a:latin typeface="Yu Gothic"/>
                <a:ea typeface="Yu Gothic"/>
                <a:cs typeface="Yu Gothic"/>
              </a:rPr>
              <a:t>LIME </a:t>
            </a:r>
          </a:p>
        </p:txBody>
      </p:sp>
      <p:sp>
        <p:nvSpPr>
          <p:cNvPr id="5" name="正方形/長方形 4">
            <a:extLst>
              <a:ext uri="{FF2B5EF4-FFF2-40B4-BE49-F238E27FC236}">
                <a16:creationId xmlns:a16="http://schemas.microsoft.com/office/drawing/2014/main" id="{74BDF188-2E3E-46A9-8518-B56A08BC8684}"/>
              </a:ext>
            </a:extLst>
          </p:cNvPr>
          <p:cNvSpPr>
            <a:spLocks noGrp="1"/>
          </p:cNvSpPr>
          <p:nvPr/>
        </p:nvSpPr>
        <p:spPr>
          <a:xfrm>
            <a:off x="258317" y="2281174"/>
            <a:ext cx="4177227" cy="457200"/>
          </a:xfrm>
          <a:prstGeom prst="rect">
            <a:avLst/>
          </a:prstGeom>
          <a:noFill/>
          <a:ln w="0">
            <a:noFill/>
            <a:prstDash val="solid"/>
          </a:ln>
        </p:spPr>
        <p:txBody>
          <a:bodyPr lIns="0" tIns="0" rIns="0" bIns="0" anchor="t">
            <a:noAutofit/>
          </a:bodyPr>
          <a:lstStyle/>
          <a:p>
            <a:pPr algn="l">
              <a:buNone/>
              <a:defRPr sz="2400" b="1">
                <a:solidFill>
                  <a:srgbClr val="2F6BDE"/>
                </a:solidFill>
                <a:latin typeface="Yu Gothic"/>
                <a:ea typeface="Yu Gothic"/>
                <a:cs typeface="Yu Gothic"/>
              </a:defRPr>
            </a:pPr>
            <a:r>
              <a:rPr lang="ja-JP" sz="4400" b="1" noProof="1">
                <a:solidFill>
                  <a:srgbClr val="2F6BDE"/>
                </a:solidFill>
                <a:latin typeface="Yu Gothic"/>
                <a:ea typeface="Yu Gothic"/>
                <a:cs typeface="Yu Gothic"/>
              </a:rPr>
              <a:t>LIME</a:t>
            </a:r>
            <a:endParaRPr lang="ja-JP" sz="2800" b="1" noProof="1">
              <a:solidFill>
                <a:srgbClr val="2F6BDE"/>
              </a:solidFill>
              <a:latin typeface="Yu Gothic"/>
              <a:ea typeface="Yu Gothic"/>
              <a:cs typeface="Yu Gothic"/>
            </a:endParaRPr>
          </a:p>
        </p:txBody>
      </p:sp>
      <p:sp>
        <p:nvSpPr>
          <p:cNvPr id="6" name="正方形/長方形 5">
            <a:extLst>
              <a:ext uri="{FF2B5EF4-FFF2-40B4-BE49-F238E27FC236}">
                <a16:creationId xmlns:a16="http://schemas.microsoft.com/office/drawing/2014/main" id="{25BC8E6A-AD03-4BC1-8F71-70EF8E678E5D}"/>
              </a:ext>
            </a:extLst>
          </p:cNvPr>
          <p:cNvSpPr>
            <a:spLocks noGrp="1"/>
          </p:cNvSpPr>
          <p:nvPr/>
        </p:nvSpPr>
        <p:spPr>
          <a:xfrm>
            <a:off x="258318" y="2862199"/>
            <a:ext cx="5581650" cy="1714500"/>
          </a:xfrm>
          <a:prstGeom prst="rect">
            <a:avLst/>
          </a:prstGeom>
          <a:noFill/>
          <a:ln w="0">
            <a:noFill/>
            <a:prstDash val="solid"/>
          </a:ln>
        </p:spPr>
        <p:txBody>
          <a:bodyPr lIns="0" tIns="0" rIns="0" bIns="0" anchor="t">
            <a:noAutofit/>
          </a:bodyPr>
          <a:lstStyle/>
          <a:p>
            <a:pPr algn="l">
              <a:lnSpc>
                <a:spcPct val="106000"/>
              </a:lnSpc>
              <a:buNone/>
              <a:defRPr sz="1500" b="1">
                <a:solidFill>
                  <a:srgbClr val="12233A"/>
                </a:solidFill>
                <a:latin typeface="Yu Gothic"/>
                <a:ea typeface="Yu Gothic"/>
                <a:cs typeface="Yu Gothic"/>
              </a:defRPr>
            </a:pPr>
            <a:r>
              <a:rPr lang="ja-JP" sz="2400" b="1" noProof="1">
                <a:solidFill>
                  <a:srgbClr val="12233A"/>
                </a:solidFill>
                <a:latin typeface="Yu Gothic"/>
                <a:ea typeface="Yu Gothic"/>
                <a:cs typeface="Yu Gothic"/>
              </a:rPr>
              <a:t>Local		</a:t>
            </a:r>
            <a:r>
              <a:rPr lang="en-US" altLang="ja-JP" sz="2400" b="1" noProof="1">
                <a:solidFill>
                  <a:srgbClr val="12233A"/>
                </a:solidFill>
                <a:latin typeface="Yu Gothic"/>
                <a:ea typeface="Yu Gothic"/>
                <a:cs typeface="Yu Gothic"/>
              </a:rPr>
              <a:t>	</a:t>
            </a:r>
            <a:r>
              <a:rPr lang="ja-JP" sz="2400" b="1" noProof="1">
                <a:solidFill>
                  <a:srgbClr val="12233A"/>
                </a:solidFill>
                <a:latin typeface="Yu Gothic"/>
                <a:ea typeface="Yu Gothic"/>
                <a:cs typeface="Yu Gothic"/>
              </a:rPr>
              <a:t>局所的</a:t>
            </a:r>
          </a:p>
          <a:p>
            <a:pPr algn="l">
              <a:lnSpc>
                <a:spcPct val="106000"/>
              </a:lnSpc>
              <a:buNone/>
              <a:defRPr sz="1500" b="1">
                <a:solidFill>
                  <a:srgbClr val="12233A"/>
                </a:solidFill>
                <a:latin typeface="Yu Gothic"/>
                <a:ea typeface="Yu Gothic"/>
                <a:cs typeface="Yu Gothic"/>
              </a:defRPr>
            </a:pPr>
            <a:r>
              <a:rPr lang="ja-JP" sz="2400" b="1" noProof="1">
                <a:solidFill>
                  <a:srgbClr val="12233A"/>
                </a:solidFill>
                <a:latin typeface="Yu Gothic"/>
                <a:ea typeface="Yu Gothic"/>
                <a:cs typeface="Yu Gothic"/>
              </a:rPr>
              <a:t>Interpretable</a:t>
            </a:r>
            <a:r>
              <a:rPr lang="en-US" altLang="ja-JP" sz="2400" b="1" noProof="1">
                <a:solidFill>
                  <a:srgbClr val="12233A"/>
                </a:solidFill>
                <a:latin typeface="Yu Gothic"/>
                <a:ea typeface="Yu Gothic"/>
                <a:cs typeface="Yu Gothic"/>
              </a:rPr>
              <a:t>	</a:t>
            </a:r>
            <a:r>
              <a:rPr lang="ja-JP" sz="2400" b="1" noProof="1">
                <a:solidFill>
                  <a:srgbClr val="12233A"/>
                </a:solidFill>
                <a:latin typeface="Yu Gothic"/>
                <a:ea typeface="Yu Gothic"/>
                <a:cs typeface="Yu Gothic"/>
              </a:rPr>
              <a:t>解釈可能</a:t>
            </a:r>
          </a:p>
          <a:p>
            <a:pPr algn="l">
              <a:lnSpc>
                <a:spcPct val="106000"/>
              </a:lnSpc>
              <a:buNone/>
              <a:defRPr sz="1500" b="1">
                <a:solidFill>
                  <a:srgbClr val="12233A"/>
                </a:solidFill>
                <a:latin typeface="Yu Gothic"/>
                <a:ea typeface="Yu Gothic"/>
                <a:cs typeface="Yu Gothic"/>
              </a:defRPr>
            </a:pPr>
            <a:r>
              <a:rPr lang="ja-JP" sz="2400" b="1" noProof="1">
                <a:solidFill>
                  <a:srgbClr val="12233A"/>
                </a:solidFill>
                <a:latin typeface="Yu Gothic"/>
                <a:ea typeface="Yu Gothic"/>
                <a:cs typeface="Yu Gothic"/>
              </a:rPr>
              <a:t>Model-agnostic </a:t>
            </a:r>
            <a:r>
              <a:rPr lang="en-US" altLang="ja-JP" sz="2400" b="1" noProof="1">
                <a:solidFill>
                  <a:srgbClr val="12233A"/>
                </a:solidFill>
                <a:latin typeface="Yu Gothic"/>
                <a:ea typeface="Yu Gothic"/>
                <a:cs typeface="Yu Gothic"/>
              </a:rPr>
              <a:t>	</a:t>
            </a:r>
            <a:r>
              <a:rPr lang="ja-JP" sz="2400" b="1" noProof="1">
                <a:solidFill>
                  <a:srgbClr val="FF0000"/>
                </a:solidFill>
                <a:latin typeface="Yu Gothic"/>
                <a:ea typeface="Yu Gothic"/>
                <a:cs typeface="Yu Gothic"/>
              </a:rPr>
              <a:t>モデル非依存</a:t>
            </a:r>
          </a:p>
          <a:p>
            <a:pPr algn="l">
              <a:lnSpc>
                <a:spcPct val="106000"/>
              </a:lnSpc>
              <a:buNone/>
              <a:defRPr sz="1500" b="1">
                <a:solidFill>
                  <a:srgbClr val="12233A"/>
                </a:solidFill>
                <a:latin typeface="Yu Gothic"/>
                <a:ea typeface="Yu Gothic"/>
                <a:cs typeface="Yu Gothic"/>
              </a:defRPr>
            </a:pPr>
            <a:r>
              <a:rPr lang="ja-JP" sz="2400" b="1" noProof="1">
                <a:solidFill>
                  <a:srgbClr val="12233A"/>
                </a:solidFill>
                <a:latin typeface="Yu Gothic"/>
                <a:ea typeface="Yu Gothic"/>
                <a:cs typeface="Yu Gothic"/>
              </a:rPr>
              <a:t>Explanations	説明</a:t>
            </a:r>
          </a:p>
        </p:txBody>
      </p:sp>
      <p:sp>
        <p:nvSpPr>
          <p:cNvPr id="7" name="正方形/長方形 6">
            <a:extLst>
              <a:ext uri="{FF2B5EF4-FFF2-40B4-BE49-F238E27FC236}">
                <a16:creationId xmlns:a16="http://schemas.microsoft.com/office/drawing/2014/main" id="{2A29B0FF-82CB-4F7C-913D-7E72B0F562E5}"/>
              </a:ext>
            </a:extLst>
          </p:cNvPr>
          <p:cNvSpPr>
            <a:spLocks noGrp="1"/>
          </p:cNvSpPr>
          <p:nvPr/>
        </p:nvSpPr>
        <p:spPr>
          <a:xfrm>
            <a:off x="567750" y="4571111"/>
            <a:ext cx="5272218" cy="552450"/>
          </a:xfrm>
          <a:prstGeom prst="rect">
            <a:avLst/>
          </a:prstGeom>
          <a:noFill/>
          <a:ln w="0">
            <a:noFill/>
            <a:prstDash val="solid"/>
          </a:ln>
        </p:spPr>
        <p:txBody>
          <a:bodyPr lIns="0" tIns="0" rIns="0" bIns="0" anchor="t">
            <a:noAutofit/>
          </a:bodyPr>
          <a:lstStyle/>
          <a:p>
            <a:pPr algn="l">
              <a:lnSpc>
                <a:spcPct val="108000"/>
              </a:lnSpc>
              <a:buNone/>
              <a:defRPr sz="1350" b="0">
                <a:solidFill>
                  <a:srgbClr val="667085"/>
                </a:solidFill>
                <a:latin typeface="Yu Gothic"/>
                <a:ea typeface="Yu Gothic"/>
                <a:cs typeface="Yu Gothic"/>
              </a:defRPr>
            </a:pPr>
            <a:r>
              <a:rPr lang="ja-JP" sz="1400" b="0" noProof="1">
                <a:solidFill>
                  <a:srgbClr val="667085"/>
                </a:solidFill>
                <a:latin typeface="Yu Gothic"/>
                <a:ea typeface="Yu Gothic"/>
                <a:cs typeface="Yu Gothic"/>
              </a:rPr>
              <a:t>モデル内部を見ず，入力と予測だけを使う</a:t>
            </a:r>
          </a:p>
        </p:txBody>
      </p:sp>
      <p:pic>
        <p:nvPicPr>
          <p:cNvPr id="11" name="図 10">
            <a:extLst>
              <a:ext uri="{FF2B5EF4-FFF2-40B4-BE49-F238E27FC236}">
                <a16:creationId xmlns:a16="http://schemas.microsoft.com/office/drawing/2014/main" id="{DD219A03-AEA4-B412-EA21-B6822712B71B}"/>
              </a:ext>
            </a:extLst>
          </p:cNvPr>
          <p:cNvPicPr>
            <a:picLocks noChangeAspect="1"/>
          </p:cNvPicPr>
          <p:nvPr/>
        </p:nvPicPr>
        <p:blipFill>
          <a:blip r:embed="rId3"/>
          <a:stretch>
            <a:fillRect/>
          </a:stretch>
        </p:blipFill>
        <p:spPr>
          <a:xfrm>
            <a:off x="4441599" y="1804468"/>
            <a:ext cx="4411145" cy="4055885"/>
          </a:xfrm>
          <a:prstGeom prst="rect">
            <a:avLst/>
          </a:prstGeom>
        </p:spPr>
      </p:pic>
      <p:sp>
        <p:nvSpPr>
          <p:cNvPr id="28" name="テキスト ボックス 27">
            <a:extLst>
              <a:ext uri="{FF2B5EF4-FFF2-40B4-BE49-F238E27FC236}">
                <a16:creationId xmlns:a16="http://schemas.microsoft.com/office/drawing/2014/main" id="{024389A8-1F5F-F243-5052-2FDB1CB778AE}"/>
              </a:ext>
            </a:extLst>
          </p:cNvPr>
          <p:cNvSpPr txBox="1"/>
          <p:nvPr/>
        </p:nvSpPr>
        <p:spPr>
          <a:xfrm>
            <a:off x="6812453" y="3292862"/>
            <a:ext cx="1107996" cy="369332"/>
          </a:xfrm>
          <a:prstGeom prst="rect">
            <a:avLst/>
          </a:prstGeom>
          <a:noFill/>
        </p:spPr>
        <p:txBody>
          <a:bodyPr wrap="none" rtlCol="0">
            <a:spAutoFit/>
          </a:bodyPr>
          <a:lstStyle/>
          <a:p>
            <a:r>
              <a:rPr kumimoji="1" lang="ja-JP" noProof="1"/>
              <a:t>説明対象</a:t>
            </a:r>
          </a:p>
        </p:txBody>
      </p:sp>
      <p:sp>
        <p:nvSpPr>
          <p:cNvPr id="32" name="テキスト ボックス 31">
            <a:extLst>
              <a:ext uri="{FF2B5EF4-FFF2-40B4-BE49-F238E27FC236}">
                <a16:creationId xmlns:a16="http://schemas.microsoft.com/office/drawing/2014/main" id="{443FEB40-AF37-EC83-0339-2B9D49D01D7B}"/>
              </a:ext>
            </a:extLst>
          </p:cNvPr>
          <p:cNvSpPr txBox="1"/>
          <p:nvPr/>
        </p:nvSpPr>
        <p:spPr>
          <a:xfrm>
            <a:off x="6498253" y="1977467"/>
            <a:ext cx="1338828" cy="369332"/>
          </a:xfrm>
          <a:prstGeom prst="rect">
            <a:avLst/>
          </a:prstGeom>
          <a:noFill/>
        </p:spPr>
        <p:txBody>
          <a:bodyPr wrap="none" rtlCol="0">
            <a:spAutoFit/>
          </a:bodyPr>
          <a:lstStyle/>
          <a:p>
            <a:r>
              <a:rPr kumimoji="1" lang="ja-JP" noProof="1"/>
              <a:t>近似の直線</a:t>
            </a:r>
          </a:p>
        </p:txBody>
      </p:sp>
      <p:pic>
        <p:nvPicPr>
          <p:cNvPr id="33" name="図 32">
            <a:extLst>
              <a:ext uri="{FF2B5EF4-FFF2-40B4-BE49-F238E27FC236}">
                <a16:creationId xmlns:a16="http://schemas.microsoft.com/office/drawing/2014/main" id="{61D870EE-63F4-6843-9954-CD03503F0202}"/>
              </a:ext>
            </a:extLst>
          </p:cNvPr>
          <p:cNvPicPr>
            <a:picLocks noChangeAspect="1"/>
          </p:cNvPicPr>
          <p:nvPr/>
        </p:nvPicPr>
        <p:blipFill>
          <a:blip r:embed="rId4"/>
          <a:stretch>
            <a:fillRect/>
          </a:stretch>
        </p:blipFill>
        <p:spPr>
          <a:xfrm>
            <a:off x="8328171" y="2003899"/>
            <a:ext cx="3131127" cy="228600"/>
          </a:xfrm>
          <a:prstGeom prst="rect">
            <a:avLst/>
          </a:prstGeom>
        </p:spPr>
      </p:pic>
      <p:sp>
        <p:nvSpPr>
          <p:cNvPr id="3" name="正方形/長方形 2">
            <a:extLst>
              <a:ext uri="{FF2B5EF4-FFF2-40B4-BE49-F238E27FC236}">
                <a16:creationId xmlns:a16="http://schemas.microsoft.com/office/drawing/2014/main" id="{3CAB0DB8-E479-F425-6134-333D0E0F9021}"/>
              </a:ext>
            </a:extLst>
          </p:cNvPr>
          <p:cNvSpPr>
            <a:spLocks noGrp="1"/>
          </p:cNvSpPr>
          <p:nvPr/>
        </p:nvSpPr>
        <p:spPr>
          <a:xfrm>
            <a:off x="9010650" y="2850231"/>
            <a:ext cx="2667000" cy="2049556"/>
          </a:xfrm>
          <a:prstGeom prst="rect">
            <a:avLst/>
          </a:prstGeom>
          <a:solidFill>
            <a:schemeClr val="lt1"/>
          </a:solidFill>
          <a:ln w="41275" cap="rnd" cmpd="dbl">
            <a:solidFill>
              <a:schemeClr val="accent6"/>
            </a:solidFill>
            <a:beve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a:lstStyle/>
          <a:p>
            <a:endParaRPr lang="ja-JP" noProof="1"/>
          </a:p>
        </p:txBody>
      </p:sp>
      <p:sp>
        <p:nvSpPr>
          <p:cNvPr id="4" name="正方形/長方形 3">
            <a:extLst>
              <a:ext uri="{FF2B5EF4-FFF2-40B4-BE49-F238E27FC236}">
                <a16:creationId xmlns:a16="http://schemas.microsoft.com/office/drawing/2014/main" id="{96E9A7E1-D1FC-3A38-20EB-094FED1FE74E}"/>
              </a:ext>
            </a:extLst>
          </p:cNvPr>
          <p:cNvSpPr>
            <a:spLocks noGrp="1"/>
          </p:cNvSpPr>
          <p:nvPr/>
        </p:nvSpPr>
        <p:spPr>
          <a:xfrm>
            <a:off x="9115425" y="3054178"/>
            <a:ext cx="2171700" cy="323850"/>
          </a:xfrm>
          <a:prstGeom prst="rect">
            <a:avLst/>
          </a:prstGeom>
          <a:noFill/>
          <a:ln w="0">
            <a:noFill/>
            <a:prstDash val="solid"/>
          </a:ln>
        </p:spPr>
        <p:txBody>
          <a:bodyPr lIns="0" tIns="0" rIns="0" bIns="0" anchor="t">
            <a:noAutofit/>
          </a:bodyPr>
          <a:lstStyle/>
          <a:p>
            <a:pPr algn="l">
              <a:buNone/>
              <a:defRPr sz="1800" b="1">
                <a:solidFill>
                  <a:srgbClr val="10B981"/>
                </a:solidFill>
                <a:latin typeface="Yu Gothic"/>
                <a:ea typeface="Yu Gothic"/>
                <a:cs typeface="Yu Gothic"/>
              </a:defRPr>
            </a:pPr>
            <a:r>
              <a:rPr lang="ja-JP" sz="1800" b="1" noProof="1">
                <a:solidFill>
                  <a:srgbClr val="10B981"/>
                </a:solidFill>
                <a:latin typeface="Yu Gothic"/>
                <a:ea typeface="Yu Gothic"/>
                <a:cs typeface="Yu Gothic"/>
              </a:rPr>
              <a:t>XAIによる説明</a:t>
            </a:r>
          </a:p>
        </p:txBody>
      </p:sp>
      <p:sp>
        <p:nvSpPr>
          <p:cNvPr id="8" name="正方形/長方形 7">
            <a:extLst>
              <a:ext uri="{FF2B5EF4-FFF2-40B4-BE49-F238E27FC236}">
                <a16:creationId xmlns:a16="http://schemas.microsoft.com/office/drawing/2014/main" id="{2C24D344-052C-D561-3497-2A5BA0207ECA}"/>
              </a:ext>
            </a:extLst>
          </p:cNvPr>
          <p:cNvSpPr>
            <a:spLocks noGrp="1"/>
          </p:cNvSpPr>
          <p:nvPr/>
        </p:nvSpPr>
        <p:spPr>
          <a:xfrm>
            <a:off x="9115425" y="3528187"/>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Yu Gothic"/>
                <a:ea typeface="Yu Gothic"/>
                <a:cs typeface="Yu Gothic"/>
              </a:defRPr>
            </a:pPr>
            <a:r>
              <a:rPr lang="ja-JP" sz="1425" b="1" noProof="1">
                <a:solidFill>
                  <a:srgbClr val="111827"/>
                </a:solidFill>
                <a:latin typeface="Yu Gothic"/>
                <a:ea typeface="Yu Gothic"/>
                <a:cs typeface="Yu Gothic"/>
              </a:rPr>
              <a:t>運賃</a:t>
            </a:r>
          </a:p>
        </p:txBody>
      </p:sp>
      <p:sp>
        <p:nvSpPr>
          <p:cNvPr id="9" name="正方形/長方形 8">
            <a:extLst>
              <a:ext uri="{FF2B5EF4-FFF2-40B4-BE49-F238E27FC236}">
                <a16:creationId xmlns:a16="http://schemas.microsoft.com/office/drawing/2014/main" id="{0D1F4FBB-B973-56CE-20F3-4AA14F5C62A2}"/>
              </a:ext>
            </a:extLst>
          </p:cNvPr>
          <p:cNvSpPr>
            <a:spLocks noGrp="1"/>
          </p:cNvSpPr>
          <p:nvPr/>
        </p:nvSpPr>
        <p:spPr>
          <a:xfrm>
            <a:off x="10344150" y="3547237"/>
            <a:ext cx="571500" cy="190500"/>
          </a:xfrm>
          <a:prstGeom prst="rect">
            <a:avLst/>
          </a:prstGeom>
          <a:solidFill>
            <a:srgbClr val="10B981"/>
          </a:solidFill>
          <a:ln w="0">
            <a:solidFill>
              <a:srgbClr val="10B981"/>
            </a:solidFill>
            <a:prstDash val="solid"/>
          </a:ln>
        </p:spPr>
        <p:txBody>
          <a:bodyPr/>
          <a:lstStyle/>
          <a:p>
            <a:endParaRPr lang="ja-JP" noProof="1"/>
          </a:p>
        </p:txBody>
      </p:sp>
      <p:sp>
        <p:nvSpPr>
          <p:cNvPr id="10" name="正方形/長方形 9">
            <a:extLst>
              <a:ext uri="{FF2B5EF4-FFF2-40B4-BE49-F238E27FC236}">
                <a16:creationId xmlns:a16="http://schemas.microsoft.com/office/drawing/2014/main" id="{36036B8B-23E8-8571-C473-AC5EDFB40895}"/>
              </a:ext>
            </a:extLst>
          </p:cNvPr>
          <p:cNvSpPr>
            <a:spLocks noGrp="1"/>
          </p:cNvSpPr>
          <p:nvPr/>
        </p:nvSpPr>
        <p:spPr>
          <a:xfrm>
            <a:off x="10963275" y="3499612"/>
            <a:ext cx="571500" cy="266700"/>
          </a:xfrm>
          <a:prstGeom prst="rect">
            <a:avLst/>
          </a:prstGeom>
          <a:noFill/>
          <a:ln w="0">
            <a:noFill/>
            <a:prstDash val="solid"/>
          </a:ln>
        </p:spPr>
        <p:txBody>
          <a:bodyPr lIns="0" tIns="0" rIns="0" bIns="0" anchor="t">
            <a:noAutofit/>
          </a:bodyPr>
          <a:lstStyle/>
          <a:p>
            <a:pPr algn="r">
              <a:buNone/>
              <a:defRPr sz="1275" b="1">
                <a:solidFill>
                  <a:srgbClr val="10B981"/>
                </a:solidFill>
                <a:latin typeface="Yu Gothic"/>
                <a:ea typeface="Yu Gothic"/>
                <a:cs typeface="Yu Gothic"/>
              </a:defRPr>
            </a:pPr>
            <a:r>
              <a:rPr lang="ja-JP" sz="1275" b="1" noProof="1">
                <a:solidFill>
                  <a:srgbClr val="10B981"/>
                </a:solidFill>
                <a:latin typeface="Yu Gothic"/>
                <a:ea typeface="Yu Gothic"/>
                <a:cs typeface="Yu Gothic"/>
              </a:rPr>
              <a:t>+0.50</a:t>
            </a:r>
          </a:p>
        </p:txBody>
      </p:sp>
      <p:sp>
        <p:nvSpPr>
          <p:cNvPr id="12" name="正方形/長方形 11">
            <a:extLst>
              <a:ext uri="{FF2B5EF4-FFF2-40B4-BE49-F238E27FC236}">
                <a16:creationId xmlns:a16="http://schemas.microsoft.com/office/drawing/2014/main" id="{733B194E-88AD-A783-DC47-319BB4ABE2A8}"/>
              </a:ext>
            </a:extLst>
          </p:cNvPr>
          <p:cNvSpPr>
            <a:spLocks noGrp="1"/>
          </p:cNvSpPr>
          <p:nvPr/>
        </p:nvSpPr>
        <p:spPr>
          <a:xfrm>
            <a:off x="9115425" y="4023487"/>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Yu Gothic"/>
                <a:ea typeface="Yu Gothic"/>
                <a:cs typeface="Yu Gothic"/>
              </a:defRPr>
            </a:pPr>
            <a:r>
              <a:rPr lang="ja-JP" sz="1425" b="1" noProof="1">
                <a:solidFill>
                  <a:srgbClr val="111827"/>
                </a:solidFill>
                <a:latin typeface="Yu Gothic"/>
                <a:ea typeface="Yu Gothic"/>
                <a:cs typeface="Yu Gothic"/>
              </a:rPr>
              <a:t>年齢</a:t>
            </a:r>
          </a:p>
        </p:txBody>
      </p:sp>
      <p:sp>
        <p:nvSpPr>
          <p:cNvPr id="13" name="正方形/長方形 12">
            <a:extLst>
              <a:ext uri="{FF2B5EF4-FFF2-40B4-BE49-F238E27FC236}">
                <a16:creationId xmlns:a16="http://schemas.microsoft.com/office/drawing/2014/main" id="{D8EA1E57-EAD8-0C01-8A0E-08630944EAD2}"/>
              </a:ext>
            </a:extLst>
          </p:cNvPr>
          <p:cNvSpPr>
            <a:spLocks noGrp="1"/>
          </p:cNvSpPr>
          <p:nvPr/>
        </p:nvSpPr>
        <p:spPr>
          <a:xfrm>
            <a:off x="9972675" y="4042537"/>
            <a:ext cx="371475" cy="190500"/>
          </a:xfrm>
          <a:prstGeom prst="rect">
            <a:avLst/>
          </a:prstGeom>
          <a:solidFill>
            <a:srgbClr val="EF4444"/>
          </a:solidFill>
          <a:ln w="0">
            <a:solidFill>
              <a:srgbClr val="EF4444"/>
            </a:solidFill>
            <a:prstDash val="solid"/>
          </a:ln>
        </p:spPr>
        <p:txBody>
          <a:bodyPr/>
          <a:lstStyle/>
          <a:p>
            <a:endParaRPr lang="ja-JP" noProof="1"/>
          </a:p>
        </p:txBody>
      </p:sp>
      <p:sp>
        <p:nvSpPr>
          <p:cNvPr id="14" name="正方形/長方形 13">
            <a:extLst>
              <a:ext uri="{FF2B5EF4-FFF2-40B4-BE49-F238E27FC236}">
                <a16:creationId xmlns:a16="http://schemas.microsoft.com/office/drawing/2014/main" id="{F02B9C82-13DF-88DF-81D6-FBB768190C74}"/>
              </a:ext>
            </a:extLst>
          </p:cNvPr>
          <p:cNvSpPr>
            <a:spLocks noGrp="1"/>
          </p:cNvSpPr>
          <p:nvPr/>
        </p:nvSpPr>
        <p:spPr>
          <a:xfrm>
            <a:off x="10963275" y="3994912"/>
            <a:ext cx="571500" cy="266700"/>
          </a:xfrm>
          <a:prstGeom prst="rect">
            <a:avLst/>
          </a:prstGeom>
          <a:noFill/>
          <a:ln w="0">
            <a:noFill/>
            <a:prstDash val="solid"/>
          </a:ln>
        </p:spPr>
        <p:txBody>
          <a:bodyPr lIns="0" tIns="0" rIns="0" bIns="0" anchor="t">
            <a:noAutofit/>
          </a:bodyPr>
          <a:lstStyle/>
          <a:p>
            <a:pPr algn="r">
              <a:buNone/>
              <a:defRPr sz="1275" b="1">
                <a:solidFill>
                  <a:srgbClr val="EF4444"/>
                </a:solidFill>
                <a:latin typeface="Yu Gothic"/>
                <a:ea typeface="Yu Gothic"/>
                <a:cs typeface="Yu Gothic"/>
              </a:defRPr>
            </a:pPr>
            <a:r>
              <a:rPr lang="ja-JP" sz="1275" b="1" noProof="1">
                <a:solidFill>
                  <a:srgbClr val="EF4444"/>
                </a:solidFill>
                <a:latin typeface="Yu Gothic"/>
                <a:ea typeface="Yu Gothic"/>
                <a:cs typeface="Yu Gothic"/>
              </a:rPr>
              <a:t>−0.20</a:t>
            </a:r>
          </a:p>
        </p:txBody>
      </p:sp>
      <p:sp>
        <p:nvSpPr>
          <p:cNvPr id="15" name="正方形/長方形 14">
            <a:extLst>
              <a:ext uri="{FF2B5EF4-FFF2-40B4-BE49-F238E27FC236}">
                <a16:creationId xmlns:a16="http://schemas.microsoft.com/office/drawing/2014/main" id="{79DE4EB3-DE9F-1D96-48B1-E20322FDD8F8}"/>
              </a:ext>
            </a:extLst>
          </p:cNvPr>
          <p:cNvSpPr>
            <a:spLocks noGrp="1"/>
          </p:cNvSpPr>
          <p:nvPr/>
        </p:nvSpPr>
        <p:spPr>
          <a:xfrm>
            <a:off x="9115425" y="4518787"/>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Yu Gothic"/>
                <a:ea typeface="Yu Gothic"/>
                <a:cs typeface="Yu Gothic"/>
              </a:defRPr>
            </a:pPr>
            <a:r>
              <a:rPr lang="ja-JP" sz="1425" b="1" noProof="1">
                <a:solidFill>
                  <a:srgbClr val="111827"/>
                </a:solidFill>
                <a:latin typeface="Yu Gothic"/>
                <a:ea typeface="Yu Gothic"/>
                <a:cs typeface="Yu Gothic"/>
              </a:rPr>
              <a:t>客室等級</a:t>
            </a:r>
          </a:p>
        </p:txBody>
      </p:sp>
      <p:sp>
        <p:nvSpPr>
          <p:cNvPr id="16" name="正方形/長方形 15">
            <a:extLst>
              <a:ext uri="{FF2B5EF4-FFF2-40B4-BE49-F238E27FC236}">
                <a16:creationId xmlns:a16="http://schemas.microsoft.com/office/drawing/2014/main" id="{88E4198E-DFDE-E9BE-5627-5AF40695441E}"/>
              </a:ext>
            </a:extLst>
          </p:cNvPr>
          <p:cNvSpPr>
            <a:spLocks noGrp="1"/>
          </p:cNvSpPr>
          <p:nvPr/>
        </p:nvSpPr>
        <p:spPr>
          <a:xfrm>
            <a:off x="10344150" y="4537837"/>
            <a:ext cx="266700" cy="190500"/>
          </a:xfrm>
          <a:prstGeom prst="rect">
            <a:avLst/>
          </a:prstGeom>
          <a:solidFill>
            <a:srgbClr val="10B981"/>
          </a:solidFill>
          <a:ln w="0">
            <a:solidFill>
              <a:srgbClr val="10B981"/>
            </a:solidFill>
            <a:prstDash val="solid"/>
          </a:ln>
        </p:spPr>
        <p:txBody>
          <a:bodyPr/>
          <a:lstStyle/>
          <a:p>
            <a:endParaRPr lang="ja-JP" noProof="1"/>
          </a:p>
        </p:txBody>
      </p:sp>
      <p:sp>
        <p:nvSpPr>
          <p:cNvPr id="17" name="正方形/長方形 16">
            <a:extLst>
              <a:ext uri="{FF2B5EF4-FFF2-40B4-BE49-F238E27FC236}">
                <a16:creationId xmlns:a16="http://schemas.microsoft.com/office/drawing/2014/main" id="{2CAA3E78-AD9D-608B-3104-DAC1BBBE1251}"/>
              </a:ext>
            </a:extLst>
          </p:cNvPr>
          <p:cNvSpPr>
            <a:spLocks noGrp="1"/>
          </p:cNvSpPr>
          <p:nvPr/>
        </p:nvSpPr>
        <p:spPr>
          <a:xfrm>
            <a:off x="10963275" y="4490212"/>
            <a:ext cx="571500" cy="266700"/>
          </a:xfrm>
          <a:prstGeom prst="rect">
            <a:avLst/>
          </a:prstGeom>
          <a:noFill/>
          <a:ln w="0">
            <a:noFill/>
            <a:prstDash val="solid"/>
          </a:ln>
        </p:spPr>
        <p:txBody>
          <a:bodyPr lIns="0" tIns="0" rIns="0" bIns="0" anchor="t">
            <a:noAutofit/>
          </a:bodyPr>
          <a:lstStyle/>
          <a:p>
            <a:pPr algn="r">
              <a:buNone/>
              <a:defRPr sz="1275" b="1">
                <a:solidFill>
                  <a:srgbClr val="10B981"/>
                </a:solidFill>
                <a:latin typeface="Yu Gothic"/>
                <a:ea typeface="Yu Gothic"/>
                <a:cs typeface="Yu Gothic"/>
              </a:defRPr>
            </a:pPr>
            <a:r>
              <a:rPr lang="ja-JP" sz="1275" b="1" noProof="1">
                <a:solidFill>
                  <a:srgbClr val="10B981"/>
                </a:solidFill>
                <a:latin typeface="Yu Gothic"/>
                <a:ea typeface="Yu Gothic"/>
                <a:cs typeface="Yu Gothic"/>
              </a:rPr>
              <a:t>+0.15</a:t>
            </a:r>
          </a:p>
        </p:txBody>
      </p:sp>
      <p:sp>
        <p:nvSpPr>
          <p:cNvPr id="18" name="テキスト ボックス 17">
            <a:extLst>
              <a:ext uri="{FF2B5EF4-FFF2-40B4-BE49-F238E27FC236}">
                <a16:creationId xmlns:a16="http://schemas.microsoft.com/office/drawing/2014/main" id="{0651DD7C-4B20-AEB4-501D-DDE2B3C1CB00}"/>
              </a:ext>
            </a:extLst>
          </p:cNvPr>
          <p:cNvSpPr txBox="1"/>
          <p:nvPr/>
        </p:nvSpPr>
        <p:spPr>
          <a:xfrm>
            <a:off x="3371850" y="5923337"/>
            <a:ext cx="6128601" cy="369332"/>
          </a:xfrm>
          <a:prstGeom prst="rect">
            <a:avLst/>
          </a:prstGeom>
          <a:noFill/>
        </p:spPr>
        <p:txBody>
          <a:bodyPr wrap="none" rtlCol="0">
            <a:spAutoFit/>
          </a:bodyPr>
          <a:lstStyle/>
          <a:p>
            <a:r>
              <a:rPr kumimoji="1" lang="ja-JP" altLang="en-US"/>
              <a:t>複雑なモデル</a:t>
            </a:r>
            <a:r>
              <a:rPr kumimoji="1" lang="en-US" altLang="ja-JP" dirty="0"/>
              <a:t>(</a:t>
            </a:r>
            <a:r>
              <a:rPr kumimoji="1" lang="ja-JP" altLang="en-US"/>
              <a:t>曲線</a:t>
            </a:r>
            <a:r>
              <a:rPr kumimoji="1" lang="en-US" altLang="ja-JP" dirty="0"/>
              <a:t>)</a:t>
            </a:r>
            <a:r>
              <a:rPr kumimoji="1" lang="ja-JP" altLang="en-US"/>
              <a:t>を，簡単なモデル</a:t>
            </a:r>
            <a:r>
              <a:rPr kumimoji="1" lang="en-US" altLang="ja-JP" dirty="0"/>
              <a:t>(</a:t>
            </a:r>
            <a:r>
              <a:rPr kumimoji="1" lang="ja-JP" altLang="en-US"/>
              <a:t>直線</a:t>
            </a:r>
            <a:r>
              <a:rPr kumimoji="1" lang="en-US" altLang="ja-JP" dirty="0"/>
              <a:t>)</a:t>
            </a:r>
            <a:r>
              <a:rPr kumimoji="1" lang="ja-JP" altLang="en-US"/>
              <a:t>に置き換える</a:t>
            </a:r>
          </a:p>
        </p:txBody>
      </p:sp>
      <p:sp>
        <p:nvSpPr>
          <p:cNvPr id="19" name="テキスト ボックス 18">
            <a:extLst>
              <a:ext uri="{FF2B5EF4-FFF2-40B4-BE49-F238E27FC236}">
                <a16:creationId xmlns:a16="http://schemas.microsoft.com/office/drawing/2014/main" id="{A4DB578D-A3C5-4912-64CE-E1DB6ABAC1B3}"/>
              </a:ext>
            </a:extLst>
          </p:cNvPr>
          <p:cNvSpPr txBox="1"/>
          <p:nvPr/>
        </p:nvSpPr>
        <p:spPr>
          <a:xfrm>
            <a:off x="6267236" y="6311384"/>
            <a:ext cx="1479892" cy="369332"/>
          </a:xfrm>
          <a:prstGeom prst="rect">
            <a:avLst/>
          </a:prstGeom>
          <a:noFill/>
        </p:spPr>
        <p:txBody>
          <a:bodyPr wrap="none" rtlCol="0">
            <a:spAutoFit/>
          </a:bodyPr>
          <a:lstStyle/>
          <a:p>
            <a:r>
              <a:rPr kumimoji="1" lang="en-US" altLang="ja-JP" dirty="0"/>
              <a:t>(</a:t>
            </a:r>
            <a:r>
              <a:rPr kumimoji="1" lang="ja-JP" altLang="en-US"/>
              <a:t>サロゲート</a:t>
            </a:r>
            <a:r>
              <a:rPr kumimoji="1" lang="en-US" altLang="ja-JP" dirty="0"/>
              <a:t>)</a:t>
            </a:r>
            <a:endParaRPr kumimoji="1" lang="ja-JP" altLang="en-US"/>
          </a:p>
        </p:txBody>
      </p:sp>
    </p:spTree>
    <p:extLst>
      <p:ext uri="{BB962C8B-B14F-4D97-AF65-F5344CB8AC3E}">
        <p14:creationId xmlns:p14="http://schemas.microsoft.com/office/powerpoint/2010/main" val="1985531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E9A51388-D423-448C-A9E4-BF0E5CC22FD1}"/>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2" name="slide-4-title">
            <a:extLst>
              <a:ext uri="{FF2B5EF4-FFF2-40B4-BE49-F238E27FC236}">
                <a16:creationId xmlns:a16="http://schemas.microsoft.com/office/drawing/2014/main" id="{B88F81F8-218A-4596-BD6E-9744D41A4A20}"/>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buNone/>
              <a:defRPr sz="2850" b="1">
                <a:solidFill>
                  <a:srgbClr val="12233A"/>
                </a:solidFill>
                <a:latin typeface="Yu Gothic"/>
                <a:ea typeface="Yu Gothic"/>
                <a:cs typeface="Yu Gothic"/>
              </a:defRPr>
            </a:pPr>
            <a:r>
              <a:rPr lang="ja-JP" sz="2850" b="1" noProof="1">
                <a:solidFill>
                  <a:srgbClr val="12233A"/>
                </a:solidFill>
                <a:latin typeface="Yu Gothic"/>
                <a:ea typeface="Yu Gothic"/>
                <a:cs typeface="Yu Gothic"/>
              </a:rPr>
              <a:t>LIMEのアルゴリズム</a:t>
            </a:r>
          </a:p>
        </p:txBody>
      </p:sp>
      <p:sp>
        <p:nvSpPr>
          <p:cNvPr id="5" name="右矢印 4">
            <a:extLst>
              <a:ext uri="{FF2B5EF4-FFF2-40B4-BE49-F238E27FC236}">
                <a16:creationId xmlns:a16="http://schemas.microsoft.com/office/drawing/2014/main" id="{6B8844ED-9B4C-4FD8-B3C7-0C35C419C242}"/>
              </a:ext>
            </a:extLst>
          </p:cNvPr>
          <p:cNvSpPr>
            <a:spLocks noGrp="1"/>
          </p:cNvSpPr>
          <p:nvPr/>
        </p:nvSpPr>
        <p:spPr>
          <a:xfrm>
            <a:off x="2466975" y="2143125"/>
            <a:ext cx="666750" cy="266700"/>
          </a:xfrm>
          <a:prstGeom prst="rightArrow">
            <a:avLst/>
          </a:prstGeom>
          <a:solidFill>
            <a:srgbClr val="2563EB"/>
          </a:solidFill>
          <a:ln w="0">
            <a:solidFill>
              <a:srgbClr val="2563EB"/>
            </a:solidFill>
            <a:prstDash val="solid"/>
          </a:ln>
        </p:spPr>
        <p:txBody>
          <a:bodyPr/>
          <a:lstStyle/>
          <a:p>
            <a:endParaRPr lang="ja-JP" noProof="1"/>
          </a:p>
        </p:txBody>
      </p:sp>
      <p:sp>
        <p:nvSpPr>
          <p:cNvPr id="6" name="右矢印 5">
            <a:extLst>
              <a:ext uri="{FF2B5EF4-FFF2-40B4-BE49-F238E27FC236}">
                <a16:creationId xmlns:a16="http://schemas.microsoft.com/office/drawing/2014/main" id="{67C2B32D-8EF8-4A7C-8154-1888A139DE4C}"/>
              </a:ext>
            </a:extLst>
          </p:cNvPr>
          <p:cNvSpPr>
            <a:spLocks noGrp="1"/>
          </p:cNvSpPr>
          <p:nvPr/>
        </p:nvSpPr>
        <p:spPr>
          <a:xfrm>
            <a:off x="4752975" y="2143125"/>
            <a:ext cx="666750" cy="266700"/>
          </a:xfrm>
          <a:prstGeom prst="rightArrow">
            <a:avLst/>
          </a:prstGeom>
          <a:solidFill>
            <a:srgbClr val="2563EB"/>
          </a:solidFill>
          <a:ln w="0">
            <a:solidFill>
              <a:srgbClr val="2563EB"/>
            </a:solidFill>
            <a:prstDash val="solid"/>
          </a:ln>
        </p:spPr>
        <p:txBody>
          <a:bodyPr/>
          <a:lstStyle/>
          <a:p>
            <a:endParaRPr lang="ja-JP" noProof="1"/>
          </a:p>
        </p:txBody>
      </p:sp>
      <p:sp>
        <p:nvSpPr>
          <p:cNvPr id="7" name="右矢印 6">
            <a:extLst>
              <a:ext uri="{FF2B5EF4-FFF2-40B4-BE49-F238E27FC236}">
                <a16:creationId xmlns:a16="http://schemas.microsoft.com/office/drawing/2014/main" id="{BBE321E7-6135-48F1-9E66-4280517DA3C0}"/>
              </a:ext>
            </a:extLst>
          </p:cNvPr>
          <p:cNvSpPr>
            <a:spLocks noGrp="1"/>
          </p:cNvSpPr>
          <p:nvPr/>
        </p:nvSpPr>
        <p:spPr>
          <a:xfrm>
            <a:off x="7038975" y="2143125"/>
            <a:ext cx="666750" cy="266700"/>
          </a:xfrm>
          <a:prstGeom prst="rightArrow">
            <a:avLst/>
          </a:prstGeom>
          <a:solidFill>
            <a:srgbClr val="2563EB"/>
          </a:solidFill>
          <a:ln w="0">
            <a:solidFill>
              <a:srgbClr val="2563EB"/>
            </a:solidFill>
            <a:prstDash val="solid"/>
          </a:ln>
        </p:spPr>
        <p:txBody>
          <a:bodyPr/>
          <a:lstStyle/>
          <a:p>
            <a:endParaRPr lang="ja-JP" noProof="1"/>
          </a:p>
        </p:txBody>
      </p:sp>
      <p:sp>
        <p:nvSpPr>
          <p:cNvPr id="8" name="右矢印 7">
            <a:extLst>
              <a:ext uri="{FF2B5EF4-FFF2-40B4-BE49-F238E27FC236}">
                <a16:creationId xmlns:a16="http://schemas.microsoft.com/office/drawing/2014/main" id="{E4BF2AAE-ABE2-4360-99D9-6B9B2A8A3003}"/>
              </a:ext>
            </a:extLst>
          </p:cNvPr>
          <p:cNvSpPr>
            <a:spLocks noGrp="1"/>
          </p:cNvSpPr>
          <p:nvPr/>
        </p:nvSpPr>
        <p:spPr>
          <a:xfrm>
            <a:off x="9324975" y="2143125"/>
            <a:ext cx="666750" cy="266700"/>
          </a:xfrm>
          <a:prstGeom prst="rightArrow">
            <a:avLst/>
          </a:prstGeom>
          <a:solidFill>
            <a:srgbClr val="2563EB"/>
          </a:solidFill>
          <a:ln w="0">
            <a:solidFill>
              <a:srgbClr val="2563EB"/>
            </a:solidFill>
            <a:prstDash val="solid"/>
          </a:ln>
        </p:spPr>
        <p:txBody>
          <a:bodyPr/>
          <a:lstStyle/>
          <a:p>
            <a:endParaRPr lang="ja-JP" noProof="1"/>
          </a:p>
        </p:txBody>
      </p:sp>
      <p:sp>
        <p:nvSpPr>
          <p:cNvPr id="9" name="正方形/長方形 8">
            <a:extLst>
              <a:ext uri="{FF2B5EF4-FFF2-40B4-BE49-F238E27FC236}">
                <a16:creationId xmlns:a16="http://schemas.microsoft.com/office/drawing/2014/main" id="{803CF79B-E99E-4B55-AE67-BA4C56704DB4}"/>
              </a:ext>
            </a:extLst>
          </p:cNvPr>
          <p:cNvSpPr>
            <a:spLocks noGrp="1"/>
          </p:cNvSpPr>
          <p:nvPr/>
        </p:nvSpPr>
        <p:spPr>
          <a:xfrm>
            <a:off x="514350" y="1600200"/>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10" name="正方形/長方形 9">
            <a:extLst>
              <a:ext uri="{FF2B5EF4-FFF2-40B4-BE49-F238E27FC236}">
                <a16:creationId xmlns:a16="http://schemas.microsoft.com/office/drawing/2014/main" id="{3C100994-F9AB-40C7-899C-AACB47AB9CCC}"/>
              </a:ext>
            </a:extLst>
          </p:cNvPr>
          <p:cNvSpPr>
            <a:spLocks noGrp="1"/>
          </p:cNvSpPr>
          <p:nvPr/>
        </p:nvSpPr>
        <p:spPr>
          <a:xfrm>
            <a:off x="685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rgbClr val="2563EB"/>
                </a:solidFill>
                <a:latin typeface="Yu Gothic"/>
                <a:ea typeface="Yu Gothic"/>
                <a:cs typeface="Yu Gothic"/>
              </a:rPr>
              <a:t>01</a:t>
            </a:r>
          </a:p>
        </p:txBody>
      </p:sp>
      <p:sp>
        <p:nvSpPr>
          <p:cNvPr id="11" name="正方形/長方形 10">
            <a:extLst>
              <a:ext uri="{FF2B5EF4-FFF2-40B4-BE49-F238E27FC236}">
                <a16:creationId xmlns:a16="http://schemas.microsoft.com/office/drawing/2014/main" id="{36A6719D-46B1-4863-B69E-E4D5F12A458D}"/>
              </a:ext>
            </a:extLst>
          </p:cNvPr>
          <p:cNvSpPr>
            <a:spLocks noGrp="1"/>
          </p:cNvSpPr>
          <p:nvPr/>
        </p:nvSpPr>
        <p:spPr>
          <a:xfrm>
            <a:off x="685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説明対象を</a:t>
            </a:r>
          </a:p>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1つ選ぶ</a:t>
            </a:r>
          </a:p>
        </p:txBody>
      </p:sp>
      <p:sp>
        <p:nvSpPr>
          <p:cNvPr id="12" name="正方形/長方形 11">
            <a:extLst>
              <a:ext uri="{FF2B5EF4-FFF2-40B4-BE49-F238E27FC236}">
                <a16:creationId xmlns:a16="http://schemas.microsoft.com/office/drawing/2014/main" id="{C839CFBB-15B4-41BC-9B25-7A14C64A2BEC}"/>
              </a:ext>
            </a:extLst>
          </p:cNvPr>
          <p:cNvSpPr>
            <a:spLocks noGrp="1"/>
          </p:cNvSpPr>
          <p:nvPr/>
        </p:nvSpPr>
        <p:spPr>
          <a:xfrm>
            <a:off x="2800350" y="1600200"/>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13" name="正方形/長方形 12">
            <a:extLst>
              <a:ext uri="{FF2B5EF4-FFF2-40B4-BE49-F238E27FC236}">
                <a16:creationId xmlns:a16="http://schemas.microsoft.com/office/drawing/2014/main" id="{0E56D9E4-5496-473E-BB29-D0567A20BC36}"/>
              </a:ext>
            </a:extLst>
          </p:cNvPr>
          <p:cNvSpPr>
            <a:spLocks noGrp="1"/>
          </p:cNvSpPr>
          <p:nvPr/>
        </p:nvSpPr>
        <p:spPr>
          <a:xfrm>
            <a:off x="2971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rgbClr val="2563EB"/>
                </a:solidFill>
                <a:latin typeface="Yu Gothic"/>
                <a:ea typeface="Yu Gothic"/>
                <a:cs typeface="Yu Gothic"/>
              </a:rPr>
              <a:t>02</a:t>
            </a:r>
          </a:p>
        </p:txBody>
      </p:sp>
      <p:sp>
        <p:nvSpPr>
          <p:cNvPr id="14" name="正方形/長方形 13">
            <a:extLst>
              <a:ext uri="{FF2B5EF4-FFF2-40B4-BE49-F238E27FC236}">
                <a16:creationId xmlns:a16="http://schemas.microsoft.com/office/drawing/2014/main" id="{79C05803-1C44-4C10-AB37-D683DA88F741}"/>
              </a:ext>
            </a:extLst>
          </p:cNvPr>
          <p:cNvSpPr>
            <a:spLocks noGrp="1"/>
          </p:cNvSpPr>
          <p:nvPr/>
        </p:nvSpPr>
        <p:spPr>
          <a:xfrm>
            <a:off x="2971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近傍サンプルを</a:t>
            </a:r>
          </a:p>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多数作る</a:t>
            </a:r>
          </a:p>
        </p:txBody>
      </p:sp>
      <p:sp>
        <p:nvSpPr>
          <p:cNvPr id="15" name="正方形/長方形 14">
            <a:extLst>
              <a:ext uri="{FF2B5EF4-FFF2-40B4-BE49-F238E27FC236}">
                <a16:creationId xmlns:a16="http://schemas.microsoft.com/office/drawing/2014/main" id="{1A9597DE-D3C9-49E6-B9E8-9CF1432A6438}"/>
              </a:ext>
            </a:extLst>
          </p:cNvPr>
          <p:cNvSpPr>
            <a:spLocks noGrp="1"/>
          </p:cNvSpPr>
          <p:nvPr/>
        </p:nvSpPr>
        <p:spPr>
          <a:xfrm>
            <a:off x="5086350" y="1600200"/>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16" name="正方形/長方形 15">
            <a:extLst>
              <a:ext uri="{FF2B5EF4-FFF2-40B4-BE49-F238E27FC236}">
                <a16:creationId xmlns:a16="http://schemas.microsoft.com/office/drawing/2014/main" id="{707F0283-81BB-4D64-837A-AE24550C7FDC}"/>
              </a:ext>
            </a:extLst>
          </p:cNvPr>
          <p:cNvSpPr>
            <a:spLocks noGrp="1"/>
          </p:cNvSpPr>
          <p:nvPr/>
        </p:nvSpPr>
        <p:spPr>
          <a:xfrm>
            <a:off x="5257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rgbClr val="2563EB"/>
                </a:solidFill>
                <a:latin typeface="Yu Gothic"/>
                <a:ea typeface="Yu Gothic"/>
                <a:cs typeface="Yu Gothic"/>
              </a:rPr>
              <a:t>03</a:t>
            </a:r>
          </a:p>
        </p:txBody>
      </p:sp>
      <p:sp>
        <p:nvSpPr>
          <p:cNvPr id="17" name="正方形/長方形 16">
            <a:extLst>
              <a:ext uri="{FF2B5EF4-FFF2-40B4-BE49-F238E27FC236}">
                <a16:creationId xmlns:a16="http://schemas.microsoft.com/office/drawing/2014/main" id="{0BE24583-8266-43EE-9569-8E14A7E8F2DE}"/>
              </a:ext>
            </a:extLst>
          </p:cNvPr>
          <p:cNvSpPr>
            <a:spLocks noGrp="1"/>
          </p:cNvSpPr>
          <p:nvPr/>
        </p:nvSpPr>
        <p:spPr>
          <a:xfrm>
            <a:off x="5172074" y="2134281"/>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ブラックボックスの</a:t>
            </a:r>
          </a:p>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予測を得る</a:t>
            </a:r>
          </a:p>
        </p:txBody>
      </p:sp>
      <p:sp>
        <p:nvSpPr>
          <p:cNvPr id="18" name="正方形/長方形 17">
            <a:extLst>
              <a:ext uri="{FF2B5EF4-FFF2-40B4-BE49-F238E27FC236}">
                <a16:creationId xmlns:a16="http://schemas.microsoft.com/office/drawing/2014/main" id="{B87BCA31-032B-40B5-B864-3F5D99033DC7}"/>
              </a:ext>
            </a:extLst>
          </p:cNvPr>
          <p:cNvSpPr>
            <a:spLocks noGrp="1"/>
          </p:cNvSpPr>
          <p:nvPr/>
        </p:nvSpPr>
        <p:spPr>
          <a:xfrm>
            <a:off x="7372350" y="1600200"/>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19" name="正方形/長方形 18">
            <a:extLst>
              <a:ext uri="{FF2B5EF4-FFF2-40B4-BE49-F238E27FC236}">
                <a16:creationId xmlns:a16="http://schemas.microsoft.com/office/drawing/2014/main" id="{0E68EC00-BE7D-427A-AECF-BDECEA00EA02}"/>
              </a:ext>
            </a:extLst>
          </p:cNvPr>
          <p:cNvSpPr>
            <a:spLocks noGrp="1"/>
          </p:cNvSpPr>
          <p:nvPr/>
        </p:nvSpPr>
        <p:spPr>
          <a:xfrm>
            <a:off x="7543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rgbClr val="2563EB"/>
                </a:solidFill>
                <a:latin typeface="Yu Gothic"/>
                <a:ea typeface="Yu Gothic"/>
                <a:cs typeface="Yu Gothic"/>
              </a:rPr>
              <a:t>04</a:t>
            </a:r>
          </a:p>
        </p:txBody>
      </p:sp>
      <p:sp>
        <p:nvSpPr>
          <p:cNvPr id="20" name="正方形/長方形 19">
            <a:extLst>
              <a:ext uri="{FF2B5EF4-FFF2-40B4-BE49-F238E27FC236}">
                <a16:creationId xmlns:a16="http://schemas.microsoft.com/office/drawing/2014/main" id="{99234844-DF1C-46D6-B875-BEDA4551C528}"/>
              </a:ext>
            </a:extLst>
          </p:cNvPr>
          <p:cNvSpPr>
            <a:spLocks noGrp="1"/>
          </p:cNvSpPr>
          <p:nvPr/>
        </p:nvSpPr>
        <p:spPr>
          <a:xfrm>
            <a:off x="7543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近いサンプルを</a:t>
            </a:r>
          </a:p>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強く重み付け</a:t>
            </a:r>
          </a:p>
        </p:txBody>
      </p:sp>
      <p:sp>
        <p:nvSpPr>
          <p:cNvPr id="21" name="正方形/長方形 20">
            <a:extLst>
              <a:ext uri="{FF2B5EF4-FFF2-40B4-BE49-F238E27FC236}">
                <a16:creationId xmlns:a16="http://schemas.microsoft.com/office/drawing/2014/main" id="{1D073FBD-B191-4B1C-A83B-0FF5ED0650F7}"/>
              </a:ext>
            </a:extLst>
          </p:cNvPr>
          <p:cNvSpPr>
            <a:spLocks noGrp="1"/>
          </p:cNvSpPr>
          <p:nvPr/>
        </p:nvSpPr>
        <p:spPr>
          <a:xfrm>
            <a:off x="9658350" y="1600200"/>
            <a:ext cx="1952625" cy="1381125"/>
          </a:xfrm>
          <a:prstGeom prst="rect">
            <a:avLst/>
          </a:prstGeom>
          <a:solidFill>
            <a:srgbClr val="D1FAE5"/>
          </a:solidFill>
          <a:ln w="19050">
            <a:solidFill>
              <a:srgbClr val="10B981"/>
            </a:solidFill>
            <a:prstDash val="solid"/>
          </a:ln>
          <a:effectLst>
            <a:outerShdw blurRad="50800" dist="38100" dir="2700000" algn="tl" rotWithShape="0">
              <a:prstClr val="black">
                <a:alpha val="40000"/>
              </a:prstClr>
            </a:outerShdw>
          </a:effectLst>
        </p:spPr>
        <p:txBody>
          <a:bodyPr/>
          <a:lstStyle/>
          <a:p>
            <a:endParaRPr lang="ja-JP" noProof="1"/>
          </a:p>
        </p:txBody>
      </p:sp>
      <p:sp>
        <p:nvSpPr>
          <p:cNvPr id="22" name="正方形/長方形 21">
            <a:extLst>
              <a:ext uri="{FF2B5EF4-FFF2-40B4-BE49-F238E27FC236}">
                <a16:creationId xmlns:a16="http://schemas.microsoft.com/office/drawing/2014/main" id="{96538127-B9A1-44C0-B12F-9AB935469740}"/>
              </a:ext>
            </a:extLst>
          </p:cNvPr>
          <p:cNvSpPr>
            <a:spLocks noGrp="1"/>
          </p:cNvSpPr>
          <p:nvPr/>
        </p:nvSpPr>
        <p:spPr>
          <a:xfrm>
            <a:off x="9829800" y="1752600"/>
            <a:ext cx="476250" cy="247650"/>
          </a:xfrm>
          <a:prstGeom prst="rect">
            <a:avLst/>
          </a:prstGeom>
          <a:noFill/>
          <a:ln w="0">
            <a:noFill/>
            <a:prstDash val="solid"/>
          </a:ln>
        </p:spPr>
        <p:txBody>
          <a:bodyPr lIns="0" tIns="0" rIns="0" bIns="0" anchor="t">
            <a:noAutofit/>
          </a:bodyPr>
          <a:lstStyle/>
          <a:p>
            <a:pPr algn="l">
              <a:buNone/>
              <a:defRPr sz="1275" b="1">
                <a:solidFill>
                  <a:srgbClr val="10B981"/>
                </a:solidFill>
                <a:latin typeface="Yu Gothic"/>
                <a:ea typeface="Yu Gothic"/>
                <a:cs typeface="Yu Gothic"/>
              </a:defRPr>
            </a:pPr>
            <a:r>
              <a:rPr lang="ja-JP" sz="1600" b="1" noProof="1">
                <a:solidFill>
                  <a:srgbClr val="10B981"/>
                </a:solidFill>
                <a:latin typeface="Yu Gothic"/>
                <a:ea typeface="Yu Gothic"/>
                <a:cs typeface="Yu Gothic"/>
              </a:rPr>
              <a:t>05</a:t>
            </a:r>
          </a:p>
        </p:txBody>
      </p:sp>
      <p:sp>
        <p:nvSpPr>
          <p:cNvPr id="23" name="正方形/長方形 22">
            <a:extLst>
              <a:ext uri="{FF2B5EF4-FFF2-40B4-BE49-F238E27FC236}">
                <a16:creationId xmlns:a16="http://schemas.microsoft.com/office/drawing/2014/main" id="{5C38DA0D-55F7-486D-823A-59D68EB35847}"/>
              </a:ext>
            </a:extLst>
          </p:cNvPr>
          <p:cNvSpPr>
            <a:spLocks noGrp="1"/>
          </p:cNvSpPr>
          <p:nvPr/>
        </p:nvSpPr>
        <p:spPr>
          <a:xfrm>
            <a:off x="9740154" y="2114550"/>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単純な局所モデルを</a:t>
            </a:r>
          </a:p>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学習する</a:t>
            </a:r>
          </a:p>
        </p:txBody>
      </p:sp>
      <p:cxnSp>
        <p:nvCxnSpPr>
          <p:cNvPr id="107" name="直線矢印コネクタ 58"/>
          <p:cNvCxnSpPr/>
          <p:nvPr/>
        </p:nvCxnSpPr>
        <p:spPr>
          <a:xfrm>
            <a:off x="523875" y="3362325"/>
            <a:ext cx="11049000" cy="0"/>
          </a:xfrm>
          <a:prstGeom prst="straightConnector1">
            <a:avLst/>
          </a:prstGeom>
          <a:ln w="19050">
            <a:solidFill>
              <a:srgbClr val="CBD5E1"/>
            </a:solidFill>
            <a:prstDash val="solid"/>
          </a:ln>
        </p:spPr>
      </p:cxnSp>
      <p:sp>
        <p:nvSpPr>
          <p:cNvPr id="25" name="正方形/長方形 24">
            <a:extLst>
              <a:ext uri="{FF2B5EF4-FFF2-40B4-BE49-F238E27FC236}">
                <a16:creationId xmlns:a16="http://schemas.microsoft.com/office/drawing/2014/main" id="{F978DE0E-8795-4644-A05E-64B77F5DF41C}"/>
              </a:ext>
            </a:extLst>
          </p:cNvPr>
          <p:cNvSpPr>
            <a:spLocks noGrp="1"/>
          </p:cNvSpPr>
          <p:nvPr/>
        </p:nvSpPr>
        <p:spPr>
          <a:xfrm>
            <a:off x="666750" y="3667125"/>
            <a:ext cx="2476500" cy="342900"/>
          </a:xfrm>
          <a:prstGeom prst="rect">
            <a:avLst/>
          </a:prstGeom>
          <a:noFill/>
          <a:ln w="0">
            <a:noFill/>
            <a:prstDash val="solid"/>
          </a:ln>
        </p:spPr>
        <p:txBody>
          <a:bodyPr lIns="0" tIns="0" rIns="0" bIns="0" anchor="t">
            <a:noAutofit/>
          </a:bodyPr>
          <a:lstStyle/>
          <a:p>
            <a:pPr algn="l">
              <a:buNone/>
              <a:defRPr sz="1800" b="1">
                <a:solidFill>
                  <a:srgbClr val="2563EB"/>
                </a:solidFill>
                <a:latin typeface="Yu Gothic"/>
                <a:ea typeface="Yu Gothic"/>
                <a:cs typeface="Yu Gothic"/>
              </a:defRPr>
            </a:pPr>
            <a:r>
              <a:rPr lang="ja-JP" sz="1800" b="1" noProof="1">
                <a:solidFill>
                  <a:srgbClr val="2563EB"/>
                </a:solidFill>
                <a:latin typeface="Yu Gothic"/>
                <a:ea typeface="Yu Gothic"/>
                <a:cs typeface="Yu Gothic"/>
              </a:rPr>
              <a:t>LIMEの目的関数</a:t>
            </a:r>
          </a:p>
        </p:txBody>
      </p:sp>
      <p:sp>
        <p:nvSpPr>
          <p:cNvPr id="30" name="正方形/長方形 29">
            <a:extLst>
              <a:ext uri="{FF2B5EF4-FFF2-40B4-BE49-F238E27FC236}">
                <a16:creationId xmlns:a16="http://schemas.microsoft.com/office/drawing/2014/main" id="{ADC570E3-8068-49BC-8287-8DBD23FB616F}"/>
              </a:ext>
            </a:extLst>
          </p:cNvPr>
          <p:cNvSpPr>
            <a:spLocks noGrp="1"/>
          </p:cNvSpPr>
          <p:nvPr/>
        </p:nvSpPr>
        <p:spPr>
          <a:xfrm>
            <a:off x="1846729" y="5048250"/>
            <a:ext cx="3384000" cy="1236009"/>
          </a:xfrm>
          <a:prstGeom prst="rect">
            <a:avLst/>
          </a:prstGeom>
          <a:noFill/>
          <a:ln w="41275">
            <a:solidFill>
              <a:srgbClr val="2563EB"/>
            </a:solidFill>
            <a:prstDash val="solid"/>
            <a:bevel/>
          </a:ln>
          <a:effectLst>
            <a:outerShdw blurRad="63500" sx="102000" sy="102000" algn="ctr" rotWithShape="0">
              <a:prstClr val="black">
                <a:alpha val="40000"/>
              </a:prstClr>
            </a:outerShdw>
          </a:effectLst>
        </p:spPr>
        <p:txBody>
          <a:bodyPr/>
          <a:lstStyle/>
          <a:p>
            <a:endParaRPr lang="ja-JP" noProof="1"/>
          </a:p>
        </p:txBody>
      </p:sp>
      <mc:AlternateContent xmlns:mc="http://schemas.openxmlformats.org/markup-compatibility/2006" xmlns:a14="http://schemas.microsoft.com/office/drawing/2010/main">
        <mc:Choice Requires="a14">
          <p:sp>
            <p:nvSpPr>
              <p:cNvPr id="31" name="正方形/長方形 30">
                <a:extLst>
                  <a:ext uri="{FF2B5EF4-FFF2-40B4-BE49-F238E27FC236}">
                    <a16:creationId xmlns:a16="http://schemas.microsoft.com/office/drawing/2014/main" id="{44DF11AC-6EF3-4048-8180-BFB46459E624}"/>
                  </a:ext>
                </a:extLst>
              </p:cNvPr>
              <p:cNvSpPr>
                <a:spLocks noGrp="1"/>
              </p:cNvSpPr>
              <p:nvPr/>
            </p:nvSpPr>
            <p:spPr>
              <a:xfrm>
                <a:off x="1714500" y="5153025"/>
                <a:ext cx="3619500" cy="533400"/>
              </a:xfrm>
              <a:prstGeom prst="rect">
                <a:avLst/>
              </a:prstGeom>
              <a:noFill/>
              <a:ln w="0">
                <a:noFill/>
                <a:prstDash val="solid"/>
              </a:ln>
            </p:spPr>
            <p:txBody>
              <a:bodyPr lIns="0" tIns="0" rIns="0" bIns="0" anchor="t">
                <a:noAutofit/>
              </a:bodyPr>
              <a:lstStyle/>
              <a:p>
                <a:pPr algn="ctr">
                  <a:buNone/>
                  <a:defRPr sz="1575" b="1">
                    <a:solidFill>
                      <a:srgbClr val="2563EB"/>
                    </a:solidFill>
                    <a:latin typeface="Yu Gothic"/>
                    <a:ea typeface="Yu Gothic"/>
                    <a:cs typeface="Yu Gothic"/>
                  </a:defRPr>
                </a:pPr>
                <a:br>
                  <a:rPr lang="ja-JP" sz="1575" b="1" noProof="1">
                    <a:solidFill>
                      <a:srgbClr val="2563EB"/>
                    </a:solidFill>
                    <a:latin typeface="Yu Gothic"/>
                    <a:ea typeface="Yu Gothic"/>
                    <a:cs typeface="Yu Gothic"/>
                  </a:rPr>
                </a:br>
                <a:br>
                  <a:rPr lang="ja-JP" sz="1575" b="1" noProof="1">
                    <a:solidFill>
                      <a:srgbClr val="2563EB"/>
                    </a:solidFill>
                    <a:latin typeface="Yu Gothic"/>
                    <a:ea typeface="Yu Gothic"/>
                    <a:cs typeface="Yu Gothic"/>
                  </a:rPr>
                </a:br>
                <a:r>
                  <a:rPr lang="ja-JP" sz="1575" b="1" noProof="1">
                    <a:solidFill>
                      <a:srgbClr val="2563EB"/>
                    </a:solidFill>
                    <a:latin typeface="Yu Gothic"/>
                    <a:ea typeface="Yu Gothic"/>
                    <a:cs typeface="Yu Gothic"/>
                  </a:rPr>
                  <a:t>対象点の近くで予測を再現</a:t>
                </a:r>
                <a:br>
                  <a:rPr lang="ja-JP" sz="1575" b="1" noProof="1">
                    <a:solidFill>
                      <a:srgbClr val="2563EB"/>
                    </a:solidFill>
                    <a:latin typeface="Yu Gothic"/>
                    <a:ea typeface="Yu Gothic"/>
                    <a:cs typeface="Yu Gothic"/>
                  </a:rPr>
                </a:br>
                <a:r>
                  <a:rPr lang="ja-JP" sz="1575" b="1" noProof="1">
                    <a:solidFill>
                      <a:srgbClr val="2563EB"/>
                    </a:solidFill>
                    <a:latin typeface="Yu Gothic"/>
                    <a:ea typeface="Yu Gothic"/>
                    <a:cs typeface="Yu Gothic"/>
                  </a:rPr>
                  <a:t>（元モデル </a:t>
                </a:r>
                <a14:m>
                  <m:oMath xmlns:m="http://schemas.openxmlformats.org/officeDocument/2006/math">
                    <m:r>
                      <a:rPr lang="ja-JP" sz="1575" b="1" i="1" noProof="1" dirty="0" smtClean="0">
                        <a:solidFill>
                          <a:srgbClr val="2563EB"/>
                        </a:solidFill>
                        <a:latin typeface="Cambria Math" panose="02040503050406030204" pitchFamily="18" charset="0"/>
                        <a:ea typeface="Yu Gothic"/>
                        <a:cs typeface="Yu Gothic"/>
                      </a:rPr>
                      <m:t>𝒇</m:t>
                    </m:r>
                  </m:oMath>
                </a14:m>
                <a:r>
                  <a:rPr lang="ja-JP" sz="1575" b="1" noProof="1">
                    <a:solidFill>
                      <a:srgbClr val="2563EB"/>
                    </a:solidFill>
                    <a:latin typeface="Yu Gothic"/>
                    <a:ea typeface="Yu Gothic"/>
                    <a:cs typeface="Yu Gothic"/>
                  </a:rPr>
                  <a:t> と予測モデル </a:t>
                </a:r>
                <a14:m>
                  <m:oMath xmlns:m="http://schemas.openxmlformats.org/officeDocument/2006/math">
                    <m:r>
                      <a:rPr lang="ja-JP" sz="1575" b="1" i="1" noProof="1" dirty="0" smtClean="0">
                        <a:solidFill>
                          <a:srgbClr val="2563EB"/>
                        </a:solidFill>
                        <a:latin typeface="Cambria Math" panose="02040503050406030204" pitchFamily="18" charset="0"/>
                        <a:ea typeface="Yu Gothic"/>
                        <a:cs typeface="Yu Gothic"/>
                      </a:rPr>
                      <m:t>𝒈</m:t>
                    </m:r>
                  </m:oMath>
                </a14:m>
                <a:r>
                  <a:rPr lang="ja-JP" sz="1575" b="1" noProof="1">
                    <a:solidFill>
                      <a:srgbClr val="2563EB"/>
                    </a:solidFill>
                    <a:latin typeface="Yu Gothic"/>
                    <a:ea typeface="Yu Gothic"/>
                    <a:cs typeface="Yu Gothic"/>
                  </a:rPr>
                  <a:t> の差）</a:t>
                </a:r>
              </a:p>
            </p:txBody>
          </p:sp>
        </mc:Choice>
        <mc:Fallback xmlns="">
          <p:sp>
            <p:nvSpPr>
              <p:cNvPr id="31" name="正方形/長方形 30">
                <a:extLst>
                  <a:ext uri="{FF2B5EF4-FFF2-40B4-BE49-F238E27FC236}">
                    <a16:creationId xmlns:a16="http://schemas.microsoft.com/office/drawing/2014/main" id="{44DF11AC-6EF3-4048-8180-BFB46459E624}"/>
                  </a:ext>
                </a:extLst>
              </p:cNvPr>
              <p:cNvSpPr>
                <a:spLocks noGrp="1" noRot="1" noChangeAspect="1" noMove="1" noResize="1" noEditPoints="1" noAdjustHandles="1" noChangeArrowheads="1" noChangeShapeType="1" noTextEdit="1"/>
              </p:cNvSpPr>
              <p:nvPr/>
            </p:nvSpPr>
            <p:spPr>
              <a:xfrm>
                <a:off x="1714500" y="5153025"/>
                <a:ext cx="3619500" cy="533400"/>
              </a:xfrm>
              <a:prstGeom prst="rect">
                <a:avLst/>
              </a:prstGeom>
              <a:blipFill>
                <a:blip r:embed="rId3"/>
                <a:stretch>
                  <a:fillRect b="-100000"/>
                </a:stretch>
              </a:blipFill>
              <a:ln w="0">
                <a:noFill/>
                <a:prstDash val="solid"/>
              </a:ln>
            </p:spPr>
            <p:txBody>
              <a:bodyPr/>
              <a:lstStyle/>
              <a:p>
                <a:r>
                  <a:rPr lang="ja-JP" altLang="en-US">
                    <a:noFill/>
                  </a:rPr>
                  <a:t> </a:t>
                </a:r>
              </a:p>
            </p:txBody>
          </p:sp>
        </mc:Fallback>
      </mc:AlternateContent>
      <p:sp>
        <p:nvSpPr>
          <p:cNvPr id="32" name="正方形/長方形 31">
            <a:extLst>
              <a:ext uri="{FF2B5EF4-FFF2-40B4-BE49-F238E27FC236}">
                <a16:creationId xmlns:a16="http://schemas.microsoft.com/office/drawing/2014/main" id="{B08EA841-27BB-487C-AD94-F0AB9A1BA6B1}"/>
              </a:ext>
            </a:extLst>
          </p:cNvPr>
          <p:cNvSpPr>
            <a:spLocks noGrp="1"/>
          </p:cNvSpPr>
          <p:nvPr/>
        </p:nvSpPr>
        <p:spPr>
          <a:xfrm>
            <a:off x="5779994" y="5519830"/>
            <a:ext cx="552450" cy="476250"/>
          </a:xfrm>
          <a:prstGeom prst="rect">
            <a:avLst/>
          </a:prstGeom>
          <a:noFill/>
          <a:ln w="0">
            <a:noFill/>
            <a:prstDash val="solid"/>
          </a:ln>
        </p:spPr>
        <p:txBody>
          <a:bodyPr lIns="0" tIns="0" rIns="0" bIns="0" anchor="t">
            <a:noAutofit/>
          </a:bodyPr>
          <a:lstStyle/>
          <a:p>
            <a:pPr algn="ctr">
              <a:buNone/>
              <a:defRPr sz="2400" b="1">
                <a:solidFill>
                  <a:srgbClr val="111827"/>
                </a:solidFill>
                <a:latin typeface="Yu Gothic"/>
                <a:ea typeface="Yu Gothic"/>
                <a:cs typeface="Yu Gothic"/>
              </a:defRPr>
            </a:pPr>
            <a:r>
              <a:rPr lang="ja-JP" sz="2400" b="1" noProof="1">
                <a:solidFill>
                  <a:srgbClr val="111827"/>
                </a:solidFill>
                <a:latin typeface="Yu Gothic"/>
                <a:ea typeface="Yu Gothic"/>
                <a:cs typeface="Yu Gothic"/>
              </a:rPr>
              <a:t>＋</a:t>
            </a:r>
          </a:p>
        </p:txBody>
      </p:sp>
      <p:sp>
        <p:nvSpPr>
          <p:cNvPr id="33" name="正方形/長方形 32">
            <a:extLst>
              <a:ext uri="{FF2B5EF4-FFF2-40B4-BE49-F238E27FC236}">
                <a16:creationId xmlns:a16="http://schemas.microsoft.com/office/drawing/2014/main" id="{BA684434-869B-46F4-9C4F-52D923F007E0}"/>
              </a:ext>
            </a:extLst>
          </p:cNvPr>
          <p:cNvSpPr>
            <a:spLocks noGrp="1"/>
          </p:cNvSpPr>
          <p:nvPr/>
        </p:nvSpPr>
        <p:spPr>
          <a:xfrm>
            <a:off x="6814293" y="5048250"/>
            <a:ext cx="3487271" cy="1236010"/>
          </a:xfrm>
          <a:prstGeom prst="rect">
            <a:avLst/>
          </a:prstGeom>
          <a:noFill/>
          <a:ln w="41275">
            <a:solidFill>
              <a:srgbClr val="10B981"/>
            </a:solidFill>
            <a:prstDash val="solid"/>
            <a:bevel/>
          </a:ln>
          <a:effectLst>
            <a:outerShdw blurRad="63500" sx="102000" sy="102000" algn="ctr" rotWithShape="0">
              <a:prstClr val="black">
                <a:alpha val="40000"/>
              </a:prstClr>
            </a:outerShdw>
          </a:effectLst>
        </p:spPr>
        <p:txBody>
          <a:bodyPr/>
          <a:lstStyle/>
          <a:p>
            <a:endParaRPr lang="ja-JP" noProof="1"/>
          </a:p>
        </p:txBody>
      </p:sp>
      <p:sp>
        <p:nvSpPr>
          <p:cNvPr id="34" name="正方形/長方形 33">
            <a:extLst>
              <a:ext uri="{FF2B5EF4-FFF2-40B4-BE49-F238E27FC236}">
                <a16:creationId xmlns:a16="http://schemas.microsoft.com/office/drawing/2014/main" id="{6E00E308-AD4A-4754-94BA-164218CABF44}"/>
              </a:ext>
            </a:extLst>
          </p:cNvPr>
          <p:cNvSpPr>
            <a:spLocks noGrp="1"/>
          </p:cNvSpPr>
          <p:nvPr/>
        </p:nvSpPr>
        <p:spPr>
          <a:xfrm>
            <a:off x="6762750" y="5153025"/>
            <a:ext cx="3619500" cy="346074"/>
          </a:xfrm>
          <a:prstGeom prst="rect">
            <a:avLst/>
          </a:prstGeom>
          <a:noFill/>
          <a:ln w="0">
            <a:noFill/>
            <a:prstDash val="solid"/>
          </a:ln>
        </p:spPr>
        <p:txBody>
          <a:bodyPr lIns="0" tIns="0" rIns="0" bIns="0" anchor="t">
            <a:noAutofit/>
          </a:bodyPr>
          <a:lstStyle/>
          <a:p>
            <a:pPr algn="ctr">
              <a:buNone/>
              <a:defRPr sz="1575" b="1">
                <a:solidFill>
                  <a:srgbClr val="10B981"/>
                </a:solidFill>
                <a:latin typeface="Yu Gothic"/>
                <a:ea typeface="Yu Gothic"/>
                <a:cs typeface="Yu Gothic"/>
              </a:defRPr>
            </a:pPr>
            <a:br>
              <a:rPr lang="ja-JP" sz="1575" b="1" noProof="1">
                <a:solidFill>
                  <a:srgbClr val="10B981"/>
                </a:solidFill>
                <a:latin typeface="Yu Gothic"/>
                <a:ea typeface="Yu Gothic"/>
                <a:cs typeface="Yu Gothic"/>
              </a:rPr>
            </a:br>
            <a:br>
              <a:rPr lang="ja-JP" sz="1575" b="1" noProof="1">
                <a:solidFill>
                  <a:srgbClr val="10B981"/>
                </a:solidFill>
                <a:latin typeface="Yu Gothic"/>
                <a:ea typeface="Yu Gothic"/>
                <a:cs typeface="Yu Gothic"/>
              </a:rPr>
            </a:br>
            <a:r>
              <a:rPr lang="ja-JP" sz="1575" b="1" noProof="1">
                <a:solidFill>
                  <a:srgbClr val="10B981"/>
                </a:solidFill>
                <a:latin typeface="Yu Gothic"/>
                <a:ea typeface="Yu Gothic"/>
                <a:cs typeface="Yu Gothic"/>
              </a:rPr>
              <a:t>人が理解できる程度に単純</a:t>
            </a:r>
            <a:br>
              <a:rPr lang="ja-JP" sz="1575" b="1" noProof="1">
                <a:solidFill>
                  <a:srgbClr val="10B981"/>
                </a:solidFill>
                <a:latin typeface="Yu Gothic"/>
                <a:ea typeface="Yu Gothic"/>
                <a:cs typeface="Yu Gothic"/>
              </a:rPr>
            </a:br>
            <a:r>
              <a:rPr lang="ja-JP" sz="1575" b="1" noProof="1">
                <a:solidFill>
                  <a:srgbClr val="10B981"/>
                </a:solidFill>
                <a:latin typeface="Yu Gothic"/>
                <a:ea typeface="Yu Gothic"/>
                <a:cs typeface="Yu Gothic"/>
              </a:rPr>
              <a:t>（説明に使う特徴量の数を絞る罰則項）</a:t>
            </a:r>
          </a:p>
        </p:txBody>
      </p:sp>
      <p:pic>
        <p:nvPicPr>
          <p:cNvPr id="24" name="図 23">
            <a:extLst>
              <a:ext uri="{FF2B5EF4-FFF2-40B4-BE49-F238E27FC236}">
                <a16:creationId xmlns:a16="http://schemas.microsoft.com/office/drawing/2014/main" id="{4EF24772-832D-564C-3554-2B2632238581}"/>
              </a:ext>
            </a:extLst>
          </p:cNvPr>
          <p:cNvPicPr>
            <a:picLocks noChangeAspect="1"/>
          </p:cNvPicPr>
          <p:nvPr/>
        </p:nvPicPr>
        <p:blipFill>
          <a:blip r:embed="rId4"/>
          <a:stretch>
            <a:fillRect/>
          </a:stretch>
        </p:blipFill>
        <p:spPr>
          <a:xfrm>
            <a:off x="3704291" y="4033837"/>
            <a:ext cx="5016500" cy="711200"/>
          </a:xfrm>
          <a:prstGeom prst="rect">
            <a:avLst/>
          </a:prstGeom>
        </p:spPr>
      </p:pic>
      <p:pic>
        <p:nvPicPr>
          <p:cNvPr id="40" name="図 39">
            <a:extLst>
              <a:ext uri="{FF2B5EF4-FFF2-40B4-BE49-F238E27FC236}">
                <a16:creationId xmlns:a16="http://schemas.microsoft.com/office/drawing/2014/main" id="{04CE3D3E-7159-044E-51D5-6F00ECC045B5}"/>
              </a:ext>
            </a:extLst>
          </p:cNvPr>
          <p:cNvPicPr>
            <a:picLocks noChangeAspect="1"/>
          </p:cNvPicPr>
          <p:nvPr/>
        </p:nvPicPr>
        <p:blipFill>
          <a:blip r:embed="rId5"/>
          <a:stretch>
            <a:fillRect/>
          </a:stretch>
        </p:blipFill>
        <p:spPr>
          <a:xfrm>
            <a:off x="8254486" y="5153025"/>
            <a:ext cx="636028" cy="346074"/>
          </a:xfrm>
          <a:prstGeom prst="rect">
            <a:avLst/>
          </a:prstGeom>
        </p:spPr>
      </p:pic>
      <p:pic>
        <p:nvPicPr>
          <p:cNvPr id="41" name="図 40">
            <a:extLst>
              <a:ext uri="{FF2B5EF4-FFF2-40B4-BE49-F238E27FC236}">
                <a16:creationId xmlns:a16="http://schemas.microsoft.com/office/drawing/2014/main" id="{1D124B92-3624-B788-623F-D7D02912D517}"/>
              </a:ext>
            </a:extLst>
          </p:cNvPr>
          <p:cNvPicPr>
            <a:picLocks noChangeAspect="1"/>
          </p:cNvPicPr>
          <p:nvPr/>
        </p:nvPicPr>
        <p:blipFill>
          <a:blip r:embed="rId6"/>
          <a:stretch>
            <a:fillRect/>
          </a:stretch>
        </p:blipFill>
        <p:spPr>
          <a:xfrm>
            <a:off x="2838076" y="5153025"/>
            <a:ext cx="1372347" cy="323419"/>
          </a:xfrm>
          <a:prstGeom prst="rect">
            <a:avLst/>
          </a:prstGeom>
        </p:spPr>
      </p:pic>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E044DA4A-0E02-8240-98EE-607E4A4339CC}"/>
                  </a:ext>
                </a:extLst>
              </p:cNvPr>
              <p:cNvSpPr txBox="1"/>
              <p:nvPr/>
            </p:nvSpPr>
            <p:spPr>
              <a:xfrm>
                <a:off x="4333338" y="6492173"/>
                <a:ext cx="3667158" cy="369332"/>
              </a:xfrm>
              <a:prstGeom prst="rect">
                <a:avLst/>
              </a:prstGeom>
              <a:noFill/>
            </p:spPr>
            <p:txBody>
              <a:bodyPr wrap="none" rtlCol="0">
                <a:spAutoFit/>
              </a:bodyPr>
              <a:lstStyle/>
              <a:p>
                <a:r>
                  <a:rPr kumimoji="1" lang="ja-JP" noProof="1"/>
                  <a:t>を最小にするような </a:t>
                </a:r>
                <a14:m>
                  <m:oMath xmlns:m="http://schemas.openxmlformats.org/officeDocument/2006/math">
                    <m:r>
                      <a:rPr kumimoji="1" lang="ja-JP" i="1" noProof="1" dirty="0" smtClean="0">
                        <a:latin typeface="Cambria Math" panose="02040503050406030204" pitchFamily="18" charset="0"/>
                      </a:rPr>
                      <m:t>𝑔</m:t>
                    </m:r>
                  </m:oMath>
                </a14:m>
                <a:r>
                  <a:rPr kumimoji="1" lang="ja-JP" noProof="1"/>
                  <a:t> を見つける</a:t>
                </a:r>
              </a:p>
            </p:txBody>
          </p:sp>
        </mc:Choice>
        <mc:Fallback xmlns="">
          <p:sp>
            <p:nvSpPr>
              <p:cNvPr id="42" name="テキスト ボックス 41">
                <a:extLst>
                  <a:ext uri="{FF2B5EF4-FFF2-40B4-BE49-F238E27FC236}">
                    <a16:creationId xmlns:a16="http://schemas.microsoft.com/office/drawing/2014/main" id="{E044DA4A-0E02-8240-98EE-607E4A4339CC}"/>
                  </a:ext>
                </a:extLst>
              </p:cNvPr>
              <p:cNvSpPr txBox="1">
                <a:spLocks noRot="1" noChangeAspect="1" noMove="1" noResize="1" noEditPoints="1" noAdjustHandles="1" noChangeArrowheads="1" noChangeShapeType="1" noTextEdit="1"/>
              </p:cNvSpPr>
              <p:nvPr/>
            </p:nvSpPr>
            <p:spPr>
              <a:xfrm>
                <a:off x="4333338" y="6492173"/>
                <a:ext cx="3667158" cy="369332"/>
              </a:xfrm>
              <a:prstGeom prst="rect">
                <a:avLst/>
              </a:prstGeom>
              <a:blipFill>
                <a:blip r:embed="rId7"/>
                <a:stretch>
                  <a:fillRect l="-1730" t="-16667" r="-692" b="-2000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63146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2F41E53D-A720-C1FB-69D7-B6520F92BBE1}"/>
              </a:ext>
            </a:extLst>
          </p:cNvPr>
          <p:cNvSpPr>
            <a:spLocks noGrp="1"/>
          </p:cNvSpPr>
          <p:nvPr/>
        </p:nvSpPr>
        <p:spPr>
          <a:xfrm>
            <a:off x="2800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0" name="正方形/長方形 9">
            <a:extLst>
              <a:ext uri="{FF2B5EF4-FFF2-40B4-BE49-F238E27FC236}">
                <a16:creationId xmlns:a16="http://schemas.microsoft.com/office/drawing/2014/main" id="{A02CAE2C-CDBF-3842-E1E0-EE85C1D35FD6}"/>
              </a:ext>
            </a:extLst>
          </p:cNvPr>
          <p:cNvSpPr>
            <a:spLocks noGrp="1"/>
          </p:cNvSpPr>
          <p:nvPr/>
        </p:nvSpPr>
        <p:spPr>
          <a:xfrm>
            <a:off x="2971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chemeClr val="bg1">
                    <a:lumMod val="65000"/>
                  </a:schemeClr>
                </a:solidFill>
                <a:latin typeface="Yu Gothic"/>
                <a:ea typeface="Yu Gothic"/>
                <a:cs typeface="Yu Gothic"/>
              </a:rPr>
              <a:t>02</a:t>
            </a:r>
          </a:p>
        </p:txBody>
      </p:sp>
      <p:sp>
        <p:nvSpPr>
          <p:cNvPr id="11" name="正方形/長方形 10">
            <a:extLst>
              <a:ext uri="{FF2B5EF4-FFF2-40B4-BE49-F238E27FC236}">
                <a16:creationId xmlns:a16="http://schemas.microsoft.com/office/drawing/2014/main" id="{7E7FB131-EDD9-51FB-59C2-D521296E8E67}"/>
              </a:ext>
            </a:extLst>
          </p:cNvPr>
          <p:cNvSpPr>
            <a:spLocks noGrp="1"/>
          </p:cNvSpPr>
          <p:nvPr/>
        </p:nvSpPr>
        <p:spPr>
          <a:xfrm>
            <a:off x="2971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近傍サンプルを</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多数作る</a:t>
            </a:r>
          </a:p>
        </p:txBody>
      </p:sp>
      <p:sp>
        <p:nvSpPr>
          <p:cNvPr id="12" name="正方形/長方形 11">
            <a:extLst>
              <a:ext uri="{FF2B5EF4-FFF2-40B4-BE49-F238E27FC236}">
                <a16:creationId xmlns:a16="http://schemas.microsoft.com/office/drawing/2014/main" id="{F8883DC9-B2D5-6891-BE88-AF9626B3A98F}"/>
              </a:ext>
            </a:extLst>
          </p:cNvPr>
          <p:cNvSpPr>
            <a:spLocks noGrp="1"/>
          </p:cNvSpPr>
          <p:nvPr/>
        </p:nvSpPr>
        <p:spPr>
          <a:xfrm>
            <a:off x="5086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3" name="正方形/長方形 12">
            <a:extLst>
              <a:ext uri="{FF2B5EF4-FFF2-40B4-BE49-F238E27FC236}">
                <a16:creationId xmlns:a16="http://schemas.microsoft.com/office/drawing/2014/main" id="{2D4D0B34-FAD8-873D-7B8A-529F44CA9D52}"/>
              </a:ext>
            </a:extLst>
          </p:cNvPr>
          <p:cNvSpPr>
            <a:spLocks noGrp="1"/>
          </p:cNvSpPr>
          <p:nvPr/>
        </p:nvSpPr>
        <p:spPr>
          <a:xfrm>
            <a:off x="5257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chemeClr val="bg1">
                    <a:lumMod val="65000"/>
                  </a:schemeClr>
                </a:solidFill>
                <a:latin typeface="Yu Gothic"/>
                <a:ea typeface="Yu Gothic"/>
                <a:cs typeface="Yu Gothic"/>
              </a:rPr>
              <a:t>03</a:t>
            </a:r>
          </a:p>
        </p:txBody>
      </p:sp>
      <p:sp>
        <p:nvSpPr>
          <p:cNvPr id="14" name="正方形/長方形 13">
            <a:extLst>
              <a:ext uri="{FF2B5EF4-FFF2-40B4-BE49-F238E27FC236}">
                <a16:creationId xmlns:a16="http://schemas.microsoft.com/office/drawing/2014/main" id="{A40471F9-A826-81C1-5912-2D51B0EC8AF5}"/>
              </a:ext>
            </a:extLst>
          </p:cNvPr>
          <p:cNvSpPr>
            <a:spLocks noGrp="1"/>
          </p:cNvSpPr>
          <p:nvPr/>
        </p:nvSpPr>
        <p:spPr>
          <a:xfrm>
            <a:off x="5172074" y="1614327"/>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ブラックボックスの</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予測を得る</a:t>
            </a:r>
          </a:p>
        </p:txBody>
      </p:sp>
      <p:sp>
        <p:nvSpPr>
          <p:cNvPr id="15" name="正方形/長方形 14">
            <a:extLst>
              <a:ext uri="{FF2B5EF4-FFF2-40B4-BE49-F238E27FC236}">
                <a16:creationId xmlns:a16="http://schemas.microsoft.com/office/drawing/2014/main" id="{C81C6085-F8F1-EDBF-4605-3D491A31EEF7}"/>
              </a:ext>
            </a:extLst>
          </p:cNvPr>
          <p:cNvSpPr>
            <a:spLocks noGrp="1"/>
          </p:cNvSpPr>
          <p:nvPr/>
        </p:nvSpPr>
        <p:spPr>
          <a:xfrm>
            <a:off x="7372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6" name="正方形/長方形 15">
            <a:extLst>
              <a:ext uri="{FF2B5EF4-FFF2-40B4-BE49-F238E27FC236}">
                <a16:creationId xmlns:a16="http://schemas.microsoft.com/office/drawing/2014/main" id="{98660CCB-CBF6-5F69-8E16-EDCF383EC170}"/>
              </a:ext>
            </a:extLst>
          </p:cNvPr>
          <p:cNvSpPr>
            <a:spLocks noGrp="1"/>
          </p:cNvSpPr>
          <p:nvPr/>
        </p:nvSpPr>
        <p:spPr>
          <a:xfrm>
            <a:off x="7543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chemeClr val="bg1">
                    <a:lumMod val="65000"/>
                  </a:schemeClr>
                </a:solidFill>
                <a:latin typeface="Yu Gothic"/>
                <a:ea typeface="Yu Gothic"/>
                <a:cs typeface="Yu Gothic"/>
              </a:rPr>
              <a:t>04</a:t>
            </a:r>
          </a:p>
        </p:txBody>
      </p:sp>
      <p:sp>
        <p:nvSpPr>
          <p:cNvPr id="17" name="正方形/長方形 16">
            <a:extLst>
              <a:ext uri="{FF2B5EF4-FFF2-40B4-BE49-F238E27FC236}">
                <a16:creationId xmlns:a16="http://schemas.microsoft.com/office/drawing/2014/main" id="{51681764-E807-5A70-4FB6-4A8C59143046}"/>
              </a:ext>
            </a:extLst>
          </p:cNvPr>
          <p:cNvSpPr>
            <a:spLocks noGrp="1"/>
          </p:cNvSpPr>
          <p:nvPr/>
        </p:nvSpPr>
        <p:spPr>
          <a:xfrm>
            <a:off x="7543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近いサンプルを</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強く重み付け</a:t>
            </a:r>
          </a:p>
        </p:txBody>
      </p:sp>
      <p:sp>
        <p:nvSpPr>
          <p:cNvPr id="18" name="正方形/長方形 17">
            <a:extLst>
              <a:ext uri="{FF2B5EF4-FFF2-40B4-BE49-F238E27FC236}">
                <a16:creationId xmlns:a16="http://schemas.microsoft.com/office/drawing/2014/main" id="{B81A5DC7-2F03-6F4C-7C0D-9DAE5665F208}"/>
              </a:ext>
            </a:extLst>
          </p:cNvPr>
          <p:cNvSpPr>
            <a:spLocks noGrp="1"/>
          </p:cNvSpPr>
          <p:nvPr/>
        </p:nvSpPr>
        <p:spPr>
          <a:xfrm>
            <a:off x="9658350" y="1080246"/>
            <a:ext cx="1952625" cy="1381125"/>
          </a:xfrm>
          <a:prstGeom prst="rect">
            <a:avLst/>
          </a:prstGeom>
          <a:solidFill>
            <a:srgbClr val="D1FAE5">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9" name="正方形/長方形 18">
            <a:extLst>
              <a:ext uri="{FF2B5EF4-FFF2-40B4-BE49-F238E27FC236}">
                <a16:creationId xmlns:a16="http://schemas.microsoft.com/office/drawing/2014/main" id="{4FFCB6B6-4749-50B0-15D3-9C181317CCE2}"/>
              </a:ext>
            </a:extLst>
          </p:cNvPr>
          <p:cNvSpPr>
            <a:spLocks noGrp="1"/>
          </p:cNvSpPr>
          <p:nvPr/>
        </p:nvSpPr>
        <p:spPr>
          <a:xfrm>
            <a:off x="9829800" y="1232646"/>
            <a:ext cx="476250" cy="247650"/>
          </a:xfrm>
          <a:prstGeom prst="rect">
            <a:avLst/>
          </a:prstGeom>
          <a:noFill/>
          <a:ln w="0">
            <a:noFill/>
            <a:prstDash val="solid"/>
          </a:ln>
        </p:spPr>
        <p:txBody>
          <a:bodyPr lIns="0" tIns="0" rIns="0" bIns="0" anchor="t">
            <a:noAutofit/>
          </a:bodyPr>
          <a:lstStyle/>
          <a:p>
            <a:pPr algn="l">
              <a:buNone/>
              <a:defRPr sz="1275" b="1">
                <a:solidFill>
                  <a:srgbClr val="10B981"/>
                </a:solidFill>
                <a:latin typeface="Yu Gothic"/>
                <a:ea typeface="Yu Gothic"/>
                <a:cs typeface="Yu Gothic"/>
              </a:defRPr>
            </a:pPr>
            <a:r>
              <a:rPr lang="ja-JP" sz="1600" b="1" noProof="1">
                <a:solidFill>
                  <a:schemeClr val="bg1">
                    <a:lumMod val="65000"/>
                  </a:schemeClr>
                </a:solidFill>
                <a:latin typeface="Yu Gothic"/>
                <a:ea typeface="Yu Gothic"/>
                <a:cs typeface="Yu Gothic"/>
              </a:rPr>
              <a:t>05</a:t>
            </a:r>
          </a:p>
        </p:txBody>
      </p:sp>
      <p:sp>
        <p:nvSpPr>
          <p:cNvPr id="20" name="正方形/長方形 19">
            <a:extLst>
              <a:ext uri="{FF2B5EF4-FFF2-40B4-BE49-F238E27FC236}">
                <a16:creationId xmlns:a16="http://schemas.microsoft.com/office/drawing/2014/main" id="{984C6D74-BB5E-BB98-D405-7EA7A79B0306}"/>
              </a:ext>
            </a:extLst>
          </p:cNvPr>
          <p:cNvSpPr>
            <a:spLocks noGrp="1"/>
          </p:cNvSpPr>
          <p:nvPr/>
        </p:nvSpPr>
        <p:spPr>
          <a:xfrm>
            <a:off x="9740154" y="1594596"/>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単純な局所モデルを</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学習する</a:t>
            </a:r>
          </a:p>
        </p:txBody>
      </p:sp>
      <p:sp>
        <p:nvSpPr>
          <p:cNvPr id="24" name="正方形/長方形 23">
            <a:extLst>
              <a:ext uri="{FF2B5EF4-FFF2-40B4-BE49-F238E27FC236}">
                <a16:creationId xmlns:a16="http://schemas.microsoft.com/office/drawing/2014/main" id="{65E9C2AE-FF01-FF45-F9E1-D8B80210363F}"/>
              </a:ext>
            </a:extLst>
          </p:cNvPr>
          <p:cNvSpPr>
            <a:spLocks noGrp="1"/>
          </p:cNvSpPr>
          <p:nvPr/>
        </p:nvSpPr>
        <p:spPr>
          <a:xfrm>
            <a:off x="514350" y="1080246"/>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25" name="正方形/長方形 24">
            <a:extLst>
              <a:ext uri="{FF2B5EF4-FFF2-40B4-BE49-F238E27FC236}">
                <a16:creationId xmlns:a16="http://schemas.microsoft.com/office/drawing/2014/main" id="{EA841F48-90DF-8393-A0E2-D7FC6294950E}"/>
              </a:ext>
            </a:extLst>
          </p:cNvPr>
          <p:cNvSpPr>
            <a:spLocks noGrp="1"/>
          </p:cNvSpPr>
          <p:nvPr/>
        </p:nvSpPr>
        <p:spPr>
          <a:xfrm>
            <a:off x="685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rgbClr val="2563EB"/>
                </a:solidFill>
                <a:latin typeface="Yu Gothic"/>
                <a:ea typeface="Yu Gothic"/>
                <a:cs typeface="Yu Gothic"/>
              </a:rPr>
              <a:t>01</a:t>
            </a:r>
          </a:p>
        </p:txBody>
      </p:sp>
      <p:sp>
        <p:nvSpPr>
          <p:cNvPr id="26" name="正方形/長方形 25">
            <a:extLst>
              <a:ext uri="{FF2B5EF4-FFF2-40B4-BE49-F238E27FC236}">
                <a16:creationId xmlns:a16="http://schemas.microsoft.com/office/drawing/2014/main" id="{45C49E04-CE98-24EA-D9C0-474487B460F6}"/>
              </a:ext>
            </a:extLst>
          </p:cNvPr>
          <p:cNvSpPr>
            <a:spLocks noGrp="1"/>
          </p:cNvSpPr>
          <p:nvPr/>
        </p:nvSpPr>
        <p:spPr>
          <a:xfrm>
            <a:off x="685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説明対象を</a:t>
            </a:r>
          </a:p>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1つ選ぶ</a:t>
            </a:r>
          </a:p>
        </p:txBody>
      </p:sp>
      <p:sp>
        <p:nvSpPr>
          <p:cNvPr id="5" name="正方形/長方形 4">
            <a:extLst>
              <a:ext uri="{FF2B5EF4-FFF2-40B4-BE49-F238E27FC236}">
                <a16:creationId xmlns:a16="http://schemas.microsoft.com/office/drawing/2014/main" id="{AE4B24F0-6B6D-89FE-0D48-F31A84E9629B}"/>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6" name="slide-4-title">
            <a:extLst>
              <a:ext uri="{FF2B5EF4-FFF2-40B4-BE49-F238E27FC236}">
                <a16:creationId xmlns:a16="http://schemas.microsoft.com/office/drawing/2014/main" id="{FD337B4B-5865-3819-19E3-67C55B5FE62D}"/>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buNone/>
              <a:defRPr sz="2850" b="1">
                <a:solidFill>
                  <a:srgbClr val="12233A"/>
                </a:solidFill>
                <a:latin typeface="Yu Gothic"/>
                <a:ea typeface="Yu Gothic"/>
                <a:cs typeface="Yu Gothic"/>
              </a:defRPr>
            </a:pPr>
            <a:r>
              <a:rPr lang="ja-JP" sz="2850" b="1" noProof="1">
                <a:solidFill>
                  <a:srgbClr val="12233A"/>
                </a:solidFill>
                <a:latin typeface="Yu Gothic"/>
                <a:ea typeface="Yu Gothic"/>
                <a:cs typeface="Yu Gothic"/>
              </a:rPr>
              <a:t>LIMEのアルゴリズム</a:t>
            </a:r>
          </a:p>
        </p:txBody>
      </p:sp>
      <p:pic>
        <p:nvPicPr>
          <p:cNvPr id="31" name="画面収録 2026-09-09 18.02.34">
            <a:hlinkClick r:id="" action="ppaction://media"/>
            <a:extLst>
              <a:ext uri="{FF2B5EF4-FFF2-40B4-BE49-F238E27FC236}">
                <a16:creationId xmlns:a16="http://schemas.microsoft.com/office/drawing/2014/main" id="{992D6A4E-55C9-A740-C86F-C8B57E5415A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022027" y="2737596"/>
            <a:ext cx="6147946" cy="3960000"/>
          </a:xfrm>
          <a:prstGeom prst="rect">
            <a:avLst/>
          </a:prstGeom>
        </p:spPr>
      </p:pic>
    </p:spTree>
    <p:extLst>
      <p:ext uri="{BB962C8B-B14F-4D97-AF65-F5344CB8AC3E}">
        <p14:creationId xmlns:p14="http://schemas.microsoft.com/office/powerpoint/2010/main" val="297160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26"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1"/>
                </p:tgtEl>
              </p:cMediaNode>
            </p:video>
            <p:seq concurrent="1" nextAc="seek">
              <p:cTn id="8" restart="whenNotActive" fill="hold" evtFilter="cancelBubble" nodeType="interactiveSeq">
                <p:stCondLst>
                  <p:cond evt="onClick" delay="0">
                    <p:tgtEl>
                      <p:spTgt spid="3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1"/>
                                        </p:tgtEl>
                                      </p:cBhvr>
                                    </p:cmd>
                                  </p:childTnLst>
                                </p:cTn>
                              </p:par>
                            </p:childTnLst>
                          </p:cTn>
                        </p:par>
                      </p:childTnLst>
                    </p:cTn>
                  </p:par>
                </p:childTnLst>
              </p:cTn>
              <p:nextCondLst>
                <p:cond evt="onClick" delay="0">
                  <p:tgtEl>
                    <p:spTgt spid="31"/>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D1D7D-C8D5-DA78-0A4F-EECD226507EE}"/>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710083C8-0CDE-C1A2-0FBD-72189BC77A10}"/>
              </a:ext>
            </a:extLst>
          </p:cNvPr>
          <p:cNvSpPr>
            <a:spLocks noGrp="1"/>
          </p:cNvSpPr>
          <p:nvPr/>
        </p:nvSpPr>
        <p:spPr>
          <a:xfrm>
            <a:off x="514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7" name="正方形/長方形 6">
            <a:extLst>
              <a:ext uri="{FF2B5EF4-FFF2-40B4-BE49-F238E27FC236}">
                <a16:creationId xmlns:a16="http://schemas.microsoft.com/office/drawing/2014/main" id="{18F89DDC-426D-E355-EA8C-4603864C1121}"/>
              </a:ext>
            </a:extLst>
          </p:cNvPr>
          <p:cNvSpPr>
            <a:spLocks noGrp="1"/>
          </p:cNvSpPr>
          <p:nvPr/>
        </p:nvSpPr>
        <p:spPr>
          <a:xfrm>
            <a:off x="685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chemeClr val="bg1">
                    <a:lumMod val="65000"/>
                  </a:schemeClr>
                </a:solidFill>
                <a:latin typeface="Yu Gothic"/>
                <a:ea typeface="Yu Gothic"/>
                <a:cs typeface="Yu Gothic"/>
              </a:rPr>
              <a:t>01</a:t>
            </a:r>
          </a:p>
        </p:txBody>
      </p:sp>
      <p:sp>
        <p:nvSpPr>
          <p:cNvPr id="8" name="正方形/長方形 7">
            <a:extLst>
              <a:ext uri="{FF2B5EF4-FFF2-40B4-BE49-F238E27FC236}">
                <a16:creationId xmlns:a16="http://schemas.microsoft.com/office/drawing/2014/main" id="{B0DF8E90-C879-0733-B5E1-8D29F984B50F}"/>
              </a:ext>
            </a:extLst>
          </p:cNvPr>
          <p:cNvSpPr>
            <a:spLocks noGrp="1"/>
          </p:cNvSpPr>
          <p:nvPr/>
        </p:nvSpPr>
        <p:spPr>
          <a:xfrm>
            <a:off x="685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説明対象を</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1つ選ぶ</a:t>
            </a:r>
          </a:p>
        </p:txBody>
      </p:sp>
      <p:sp>
        <p:nvSpPr>
          <p:cNvPr id="12" name="正方形/長方形 11">
            <a:extLst>
              <a:ext uri="{FF2B5EF4-FFF2-40B4-BE49-F238E27FC236}">
                <a16:creationId xmlns:a16="http://schemas.microsoft.com/office/drawing/2014/main" id="{6EEBDC03-24AD-A445-8C42-41A319C900D3}"/>
              </a:ext>
            </a:extLst>
          </p:cNvPr>
          <p:cNvSpPr>
            <a:spLocks noGrp="1"/>
          </p:cNvSpPr>
          <p:nvPr/>
        </p:nvSpPr>
        <p:spPr>
          <a:xfrm>
            <a:off x="5086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3" name="正方形/長方形 12">
            <a:extLst>
              <a:ext uri="{FF2B5EF4-FFF2-40B4-BE49-F238E27FC236}">
                <a16:creationId xmlns:a16="http://schemas.microsoft.com/office/drawing/2014/main" id="{A80E067D-3520-0395-17A3-A4AC286C82BB}"/>
              </a:ext>
            </a:extLst>
          </p:cNvPr>
          <p:cNvSpPr>
            <a:spLocks noGrp="1"/>
          </p:cNvSpPr>
          <p:nvPr/>
        </p:nvSpPr>
        <p:spPr>
          <a:xfrm>
            <a:off x="5257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chemeClr val="bg1">
                    <a:lumMod val="65000"/>
                  </a:schemeClr>
                </a:solidFill>
                <a:latin typeface="Yu Gothic"/>
                <a:ea typeface="Yu Gothic"/>
                <a:cs typeface="Yu Gothic"/>
              </a:rPr>
              <a:t>03</a:t>
            </a:r>
          </a:p>
        </p:txBody>
      </p:sp>
      <p:sp>
        <p:nvSpPr>
          <p:cNvPr id="14" name="正方形/長方形 13">
            <a:extLst>
              <a:ext uri="{FF2B5EF4-FFF2-40B4-BE49-F238E27FC236}">
                <a16:creationId xmlns:a16="http://schemas.microsoft.com/office/drawing/2014/main" id="{6C207B62-144F-0A54-7865-87A0A5A68470}"/>
              </a:ext>
            </a:extLst>
          </p:cNvPr>
          <p:cNvSpPr>
            <a:spLocks noGrp="1"/>
          </p:cNvSpPr>
          <p:nvPr/>
        </p:nvSpPr>
        <p:spPr>
          <a:xfrm>
            <a:off x="5172074" y="1614327"/>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ブラックボックスの</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予測を得る</a:t>
            </a:r>
          </a:p>
        </p:txBody>
      </p:sp>
      <p:sp>
        <p:nvSpPr>
          <p:cNvPr id="15" name="正方形/長方形 14">
            <a:extLst>
              <a:ext uri="{FF2B5EF4-FFF2-40B4-BE49-F238E27FC236}">
                <a16:creationId xmlns:a16="http://schemas.microsoft.com/office/drawing/2014/main" id="{9ED779F2-EE9E-70AA-1CD8-E349D13703EE}"/>
              </a:ext>
            </a:extLst>
          </p:cNvPr>
          <p:cNvSpPr>
            <a:spLocks noGrp="1"/>
          </p:cNvSpPr>
          <p:nvPr/>
        </p:nvSpPr>
        <p:spPr>
          <a:xfrm>
            <a:off x="7372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6" name="正方形/長方形 15">
            <a:extLst>
              <a:ext uri="{FF2B5EF4-FFF2-40B4-BE49-F238E27FC236}">
                <a16:creationId xmlns:a16="http://schemas.microsoft.com/office/drawing/2014/main" id="{BD66C05F-1257-0ECC-608B-A2E6220EDAC3}"/>
              </a:ext>
            </a:extLst>
          </p:cNvPr>
          <p:cNvSpPr>
            <a:spLocks noGrp="1"/>
          </p:cNvSpPr>
          <p:nvPr/>
        </p:nvSpPr>
        <p:spPr>
          <a:xfrm>
            <a:off x="7543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chemeClr val="bg1">
                    <a:lumMod val="65000"/>
                  </a:schemeClr>
                </a:solidFill>
                <a:latin typeface="Yu Gothic"/>
                <a:ea typeface="Yu Gothic"/>
                <a:cs typeface="Yu Gothic"/>
              </a:rPr>
              <a:t>04</a:t>
            </a:r>
          </a:p>
        </p:txBody>
      </p:sp>
      <p:sp>
        <p:nvSpPr>
          <p:cNvPr id="17" name="正方形/長方形 16">
            <a:extLst>
              <a:ext uri="{FF2B5EF4-FFF2-40B4-BE49-F238E27FC236}">
                <a16:creationId xmlns:a16="http://schemas.microsoft.com/office/drawing/2014/main" id="{73A1B258-1988-7C8E-4747-2388AB90733D}"/>
              </a:ext>
            </a:extLst>
          </p:cNvPr>
          <p:cNvSpPr>
            <a:spLocks noGrp="1"/>
          </p:cNvSpPr>
          <p:nvPr/>
        </p:nvSpPr>
        <p:spPr>
          <a:xfrm>
            <a:off x="7543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近いサンプルを</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強く重み付け</a:t>
            </a:r>
          </a:p>
        </p:txBody>
      </p:sp>
      <p:sp>
        <p:nvSpPr>
          <p:cNvPr id="18" name="正方形/長方形 17">
            <a:extLst>
              <a:ext uri="{FF2B5EF4-FFF2-40B4-BE49-F238E27FC236}">
                <a16:creationId xmlns:a16="http://schemas.microsoft.com/office/drawing/2014/main" id="{D0EE61CE-A8AA-91DC-1A3A-42DC102BAC2D}"/>
              </a:ext>
            </a:extLst>
          </p:cNvPr>
          <p:cNvSpPr>
            <a:spLocks noGrp="1"/>
          </p:cNvSpPr>
          <p:nvPr/>
        </p:nvSpPr>
        <p:spPr>
          <a:xfrm>
            <a:off x="9658350" y="1080246"/>
            <a:ext cx="1952625" cy="1381125"/>
          </a:xfrm>
          <a:prstGeom prst="rect">
            <a:avLst/>
          </a:prstGeom>
          <a:solidFill>
            <a:srgbClr val="D1FAE5">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9" name="正方形/長方形 18">
            <a:extLst>
              <a:ext uri="{FF2B5EF4-FFF2-40B4-BE49-F238E27FC236}">
                <a16:creationId xmlns:a16="http://schemas.microsoft.com/office/drawing/2014/main" id="{4F31E889-B862-C530-FC7C-A7E47584FFC7}"/>
              </a:ext>
            </a:extLst>
          </p:cNvPr>
          <p:cNvSpPr>
            <a:spLocks noGrp="1"/>
          </p:cNvSpPr>
          <p:nvPr/>
        </p:nvSpPr>
        <p:spPr>
          <a:xfrm>
            <a:off x="9829800" y="1232646"/>
            <a:ext cx="476250" cy="247650"/>
          </a:xfrm>
          <a:prstGeom prst="rect">
            <a:avLst/>
          </a:prstGeom>
          <a:noFill/>
          <a:ln w="0">
            <a:noFill/>
            <a:prstDash val="solid"/>
          </a:ln>
        </p:spPr>
        <p:txBody>
          <a:bodyPr lIns="0" tIns="0" rIns="0" bIns="0" anchor="t">
            <a:noAutofit/>
          </a:bodyPr>
          <a:lstStyle/>
          <a:p>
            <a:pPr algn="l">
              <a:buNone/>
              <a:defRPr sz="1275" b="1">
                <a:solidFill>
                  <a:srgbClr val="10B981"/>
                </a:solidFill>
                <a:latin typeface="Yu Gothic"/>
                <a:ea typeface="Yu Gothic"/>
                <a:cs typeface="Yu Gothic"/>
              </a:defRPr>
            </a:pPr>
            <a:r>
              <a:rPr lang="ja-JP" sz="1600" b="1" noProof="1">
                <a:solidFill>
                  <a:schemeClr val="bg1">
                    <a:lumMod val="65000"/>
                  </a:schemeClr>
                </a:solidFill>
                <a:latin typeface="Yu Gothic"/>
                <a:ea typeface="Yu Gothic"/>
                <a:cs typeface="Yu Gothic"/>
              </a:rPr>
              <a:t>05</a:t>
            </a:r>
          </a:p>
        </p:txBody>
      </p:sp>
      <p:sp>
        <p:nvSpPr>
          <p:cNvPr id="20" name="正方形/長方形 19">
            <a:extLst>
              <a:ext uri="{FF2B5EF4-FFF2-40B4-BE49-F238E27FC236}">
                <a16:creationId xmlns:a16="http://schemas.microsoft.com/office/drawing/2014/main" id="{5B522025-B22B-F584-8746-2E09D61CFA54}"/>
              </a:ext>
            </a:extLst>
          </p:cNvPr>
          <p:cNvSpPr>
            <a:spLocks noGrp="1"/>
          </p:cNvSpPr>
          <p:nvPr/>
        </p:nvSpPr>
        <p:spPr>
          <a:xfrm>
            <a:off x="9740154" y="1594596"/>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単純な局所モデルを</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学習する</a:t>
            </a:r>
          </a:p>
        </p:txBody>
      </p:sp>
      <p:sp>
        <p:nvSpPr>
          <p:cNvPr id="2" name="正方形/長方形 1">
            <a:extLst>
              <a:ext uri="{FF2B5EF4-FFF2-40B4-BE49-F238E27FC236}">
                <a16:creationId xmlns:a16="http://schemas.microsoft.com/office/drawing/2014/main" id="{6AE96CC5-FD73-DA8A-3D83-ABC00B3E08DD}"/>
              </a:ext>
            </a:extLst>
          </p:cNvPr>
          <p:cNvSpPr>
            <a:spLocks noGrp="1"/>
          </p:cNvSpPr>
          <p:nvPr/>
        </p:nvSpPr>
        <p:spPr>
          <a:xfrm>
            <a:off x="2800350" y="1080246"/>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3" name="正方形/長方形 2">
            <a:extLst>
              <a:ext uri="{FF2B5EF4-FFF2-40B4-BE49-F238E27FC236}">
                <a16:creationId xmlns:a16="http://schemas.microsoft.com/office/drawing/2014/main" id="{21C00F8F-3EAE-CE0D-BB05-284CD69A6772}"/>
              </a:ext>
            </a:extLst>
          </p:cNvPr>
          <p:cNvSpPr>
            <a:spLocks noGrp="1"/>
          </p:cNvSpPr>
          <p:nvPr/>
        </p:nvSpPr>
        <p:spPr>
          <a:xfrm>
            <a:off x="2971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rgbClr val="2563EB"/>
                </a:solidFill>
                <a:latin typeface="Yu Gothic"/>
                <a:ea typeface="Yu Gothic"/>
                <a:cs typeface="Yu Gothic"/>
              </a:rPr>
              <a:t>02</a:t>
            </a:r>
          </a:p>
        </p:txBody>
      </p:sp>
      <p:sp>
        <p:nvSpPr>
          <p:cNvPr id="4" name="正方形/長方形 3">
            <a:extLst>
              <a:ext uri="{FF2B5EF4-FFF2-40B4-BE49-F238E27FC236}">
                <a16:creationId xmlns:a16="http://schemas.microsoft.com/office/drawing/2014/main" id="{066D0BD8-96A6-77CD-BAED-C00F1983B8FF}"/>
              </a:ext>
            </a:extLst>
          </p:cNvPr>
          <p:cNvSpPr>
            <a:spLocks noGrp="1"/>
          </p:cNvSpPr>
          <p:nvPr/>
        </p:nvSpPr>
        <p:spPr>
          <a:xfrm>
            <a:off x="2971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近傍サンプルを</a:t>
            </a:r>
          </a:p>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多数作る</a:t>
            </a:r>
          </a:p>
        </p:txBody>
      </p:sp>
      <p:sp>
        <p:nvSpPr>
          <p:cNvPr id="5" name="正方形/長方形 4">
            <a:extLst>
              <a:ext uri="{FF2B5EF4-FFF2-40B4-BE49-F238E27FC236}">
                <a16:creationId xmlns:a16="http://schemas.microsoft.com/office/drawing/2014/main" id="{4AB5D658-B073-38DB-0D31-1E8E296B1A8A}"/>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9" name="slide-4-title">
            <a:extLst>
              <a:ext uri="{FF2B5EF4-FFF2-40B4-BE49-F238E27FC236}">
                <a16:creationId xmlns:a16="http://schemas.microsoft.com/office/drawing/2014/main" id="{E3197D2D-A790-DCFE-F242-198245B2F519}"/>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buNone/>
              <a:defRPr sz="2850" b="1">
                <a:solidFill>
                  <a:srgbClr val="12233A"/>
                </a:solidFill>
                <a:latin typeface="Yu Gothic"/>
                <a:ea typeface="Yu Gothic"/>
                <a:cs typeface="Yu Gothic"/>
              </a:defRPr>
            </a:pPr>
            <a:r>
              <a:rPr lang="ja-JP" sz="2850" b="1" noProof="1">
                <a:solidFill>
                  <a:srgbClr val="12233A"/>
                </a:solidFill>
                <a:latin typeface="Yu Gothic"/>
                <a:ea typeface="Yu Gothic"/>
                <a:cs typeface="Yu Gothic"/>
              </a:rPr>
              <a:t>LIMEのアルゴリズム</a:t>
            </a:r>
          </a:p>
        </p:txBody>
      </p:sp>
      <p:pic>
        <p:nvPicPr>
          <p:cNvPr id="21" name="画面収録 2026-09-09 18.02.34 3">
            <a:hlinkClick r:id="" action="ppaction://media"/>
            <a:extLst>
              <a:ext uri="{FF2B5EF4-FFF2-40B4-BE49-F238E27FC236}">
                <a16:creationId xmlns:a16="http://schemas.microsoft.com/office/drawing/2014/main" id="{600EA6E4-7BBA-B7BE-F55B-B0B97391A9BF}"/>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022027" y="2737596"/>
            <a:ext cx="6147945" cy="3960000"/>
          </a:xfrm>
          <a:prstGeom prst="rect">
            <a:avLst/>
          </a:prstGeom>
        </p:spPr>
      </p:pic>
    </p:spTree>
    <p:extLst>
      <p:ext uri="{BB962C8B-B14F-4D97-AF65-F5344CB8AC3E}">
        <p14:creationId xmlns:p14="http://schemas.microsoft.com/office/powerpoint/2010/main" val="4208616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56"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1"/>
                </p:tgtEl>
              </p:cMediaNode>
            </p:video>
            <p:seq concurrent="1" nextAc="seek">
              <p:cTn id="8" restart="whenNotActive" fill="hold" evtFilter="cancelBubble" nodeType="interactiveSeq">
                <p:stCondLst>
                  <p:cond evt="onClick" delay="0">
                    <p:tgtEl>
                      <p:spTgt spid="2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1B688-D899-C2F8-6743-A38C0E3AE354}"/>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A6968BF9-7080-9640-517E-4BFDC9D920B5}"/>
              </a:ext>
            </a:extLst>
          </p:cNvPr>
          <p:cNvSpPr>
            <a:spLocks noGrp="1"/>
          </p:cNvSpPr>
          <p:nvPr/>
        </p:nvSpPr>
        <p:spPr>
          <a:xfrm>
            <a:off x="514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7" name="正方形/長方形 6">
            <a:extLst>
              <a:ext uri="{FF2B5EF4-FFF2-40B4-BE49-F238E27FC236}">
                <a16:creationId xmlns:a16="http://schemas.microsoft.com/office/drawing/2014/main" id="{B1BDF870-9B25-01C0-CCC4-3458282DD1E4}"/>
              </a:ext>
            </a:extLst>
          </p:cNvPr>
          <p:cNvSpPr>
            <a:spLocks noGrp="1"/>
          </p:cNvSpPr>
          <p:nvPr/>
        </p:nvSpPr>
        <p:spPr>
          <a:xfrm>
            <a:off x="685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chemeClr val="bg1">
                    <a:lumMod val="65000"/>
                  </a:schemeClr>
                </a:solidFill>
                <a:latin typeface="Yu Gothic"/>
                <a:ea typeface="Yu Gothic"/>
                <a:cs typeface="Yu Gothic"/>
              </a:rPr>
              <a:t>01</a:t>
            </a:r>
          </a:p>
        </p:txBody>
      </p:sp>
      <p:sp>
        <p:nvSpPr>
          <p:cNvPr id="8" name="正方形/長方形 7">
            <a:extLst>
              <a:ext uri="{FF2B5EF4-FFF2-40B4-BE49-F238E27FC236}">
                <a16:creationId xmlns:a16="http://schemas.microsoft.com/office/drawing/2014/main" id="{5DBBF450-508C-2094-A846-DF22F4B17BD0}"/>
              </a:ext>
            </a:extLst>
          </p:cNvPr>
          <p:cNvSpPr>
            <a:spLocks noGrp="1"/>
          </p:cNvSpPr>
          <p:nvPr/>
        </p:nvSpPr>
        <p:spPr>
          <a:xfrm>
            <a:off x="685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説明対象を</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1つ選ぶ</a:t>
            </a:r>
          </a:p>
        </p:txBody>
      </p:sp>
      <p:sp>
        <p:nvSpPr>
          <p:cNvPr id="9" name="正方形/長方形 8">
            <a:extLst>
              <a:ext uri="{FF2B5EF4-FFF2-40B4-BE49-F238E27FC236}">
                <a16:creationId xmlns:a16="http://schemas.microsoft.com/office/drawing/2014/main" id="{8D708216-6C8A-7FFB-955D-4261AAA30822}"/>
              </a:ext>
            </a:extLst>
          </p:cNvPr>
          <p:cNvSpPr>
            <a:spLocks noGrp="1"/>
          </p:cNvSpPr>
          <p:nvPr/>
        </p:nvSpPr>
        <p:spPr>
          <a:xfrm>
            <a:off x="2800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0" name="正方形/長方形 9">
            <a:extLst>
              <a:ext uri="{FF2B5EF4-FFF2-40B4-BE49-F238E27FC236}">
                <a16:creationId xmlns:a16="http://schemas.microsoft.com/office/drawing/2014/main" id="{FDE8823F-C600-9E00-0EEE-E8E9636D2631}"/>
              </a:ext>
            </a:extLst>
          </p:cNvPr>
          <p:cNvSpPr>
            <a:spLocks noGrp="1"/>
          </p:cNvSpPr>
          <p:nvPr/>
        </p:nvSpPr>
        <p:spPr>
          <a:xfrm>
            <a:off x="2971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chemeClr val="bg1">
                    <a:lumMod val="65000"/>
                  </a:schemeClr>
                </a:solidFill>
                <a:latin typeface="Yu Gothic"/>
                <a:ea typeface="Yu Gothic"/>
                <a:cs typeface="Yu Gothic"/>
              </a:rPr>
              <a:t>02</a:t>
            </a:r>
          </a:p>
        </p:txBody>
      </p:sp>
      <p:sp>
        <p:nvSpPr>
          <p:cNvPr id="11" name="正方形/長方形 10">
            <a:extLst>
              <a:ext uri="{FF2B5EF4-FFF2-40B4-BE49-F238E27FC236}">
                <a16:creationId xmlns:a16="http://schemas.microsoft.com/office/drawing/2014/main" id="{D5DAD645-D15A-AE43-F189-DAAA852C70A4}"/>
              </a:ext>
            </a:extLst>
          </p:cNvPr>
          <p:cNvSpPr>
            <a:spLocks noGrp="1"/>
          </p:cNvSpPr>
          <p:nvPr/>
        </p:nvSpPr>
        <p:spPr>
          <a:xfrm>
            <a:off x="2971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近傍サンプルを</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多数作る</a:t>
            </a:r>
          </a:p>
        </p:txBody>
      </p:sp>
      <p:sp>
        <p:nvSpPr>
          <p:cNvPr id="15" name="正方形/長方形 14">
            <a:extLst>
              <a:ext uri="{FF2B5EF4-FFF2-40B4-BE49-F238E27FC236}">
                <a16:creationId xmlns:a16="http://schemas.microsoft.com/office/drawing/2014/main" id="{0A5B0454-3FE0-6B8A-6988-B65205695725}"/>
              </a:ext>
            </a:extLst>
          </p:cNvPr>
          <p:cNvSpPr>
            <a:spLocks noGrp="1"/>
          </p:cNvSpPr>
          <p:nvPr/>
        </p:nvSpPr>
        <p:spPr>
          <a:xfrm>
            <a:off x="7372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6" name="正方形/長方形 15">
            <a:extLst>
              <a:ext uri="{FF2B5EF4-FFF2-40B4-BE49-F238E27FC236}">
                <a16:creationId xmlns:a16="http://schemas.microsoft.com/office/drawing/2014/main" id="{3709A8D8-901D-4795-E093-CAE6CEAE4C29}"/>
              </a:ext>
            </a:extLst>
          </p:cNvPr>
          <p:cNvSpPr>
            <a:spLocks noGrp="1"/>
          </p:cNvSpPr>
          <p:nvPr/>
        </p:nvSpPr>
        <p:spPr>
          <a:xfrm>
            <a:off x="7543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chemeClr val="bg1">
                    <a:lumMod val="65000"/>
                  </a:schemeClr>
                </a:solidFill>
                <a:latin typeface="Yu Gothic"/>
                <a:ea typeface="Yu Gothic"/>
                <a:cs typeface="Yu Gothic"/>
              </a:rPr>
              <a:t>04</a:t>
            </a:r>
          </a:p>
        </p:txBody>
      </p:sp>
      <p:sp>
        <p:nvSpPr>
          <p:cNvPr id="17" name="正方形/長方形 16">
            <a:extLst>
              <a:ext uri="{FF2B5EF4-FFF2-40B4-BE49-F238E27FC236}">
                <a16:creationId xmlns:a16="http://schemas.microsoft.com/office/drawing/2014/main" id="{AB00427C-8EE8-5726-A172-5EFA76185C84}"/>
              </a:ext>
            </a:extLst>
          </p:cNvPr>
          <p:cNvSpPr>
            <a:spLocks noGrp="1"/>
          </p:cNvSpPr>
          <p:nvPr/>
        </p:nvSpPr>
        <p:spPr>
          <a:xfrm>
            <a:off x="7543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近いサンプルを</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強く重み付け</a:t>
            </a:r>
          </a:p>
        </p:txBody>
      </p:sp>
      <p:sp>
        <p:nvSpPr>
          <p:cNvPr id="18" name="正方形/長方形 17">
            <a:extLst>
              <a:ext uri="{FF2B5EF4-FFF2-40B4-BE49-F238E27FC236}">
                <a16:creationId xmlns:a16="http://schemas.microsoft.com/office/drawing/2014/main" id="{0097BD7E-BF61-E3F7-6DC0-1C4EAEFB5B82}"/>
              </a:ext>
            </a:extLst>
          </p:cNvPr>
          <p:cNvSpPr>
            <a:spLocks noGrp="1"/>
          </p:cNvSpPr>
          <p:nvPr/>
        </p:nvSpPr>
        <p:spPr>
          <a:xfrm>
            <a:off x="9658350" y="1080246"/>
            <a:ext cx="1952625" cy="1381125"/>
          </a:xfrm>
          <a:prstGeom prst="rect">
            <a:avLst/>
          </a:prstGeom>
          <a:solidFill>
            <a:srgbClr val="D1FAE5">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9" name="正方形/長方形 18">
            <a:extLst>
              <a:ext uri="{FF2B5EF4-FFF2-40B4-BE49-F238E27FC236}">
                <a16:creationId xmlns:a16="http://schemas.microsoft.com/office/drawing/2014/main" id="{02DBDFD1-4E7A-5761-1371-64C5D3154E9B}"/>
              </a:ext>
            </a:extLst>
          </p:cNvPr>
          <p:cNvSpPr>
            <a:spLocks noGrp="1"/>
          </p:cNvSpPr>
          <p:nvPr/>
        </p:nvSpPr>
        <p:spPr>
          <a:xfrm>
            <a:off x="9829800" y="1232646"/>
            <a:ext cx="476250" cy="247650"/>
          </a:xfrm>
          <a:prstGeom prst="rect">
            <a:avLst/>
          </a:prstGeom>
          <a:noFill/>
          <a:ln w="0">
            <a:noFill/>
            <a:prstDash val="solid"/>
          </a:ln>
        </p:spPr>
        <p:txBody>
          <a:bodyPr lIns="0" tIns="0" rIns="0" bIns="0" anchor="t">
            <a:noAutofit/>
          </a:bodyPr>
          <a:lstStyle/>
          <a:p>
            <a:pPr algn="l">
              <a:buNone/>
              <a:defRPr sz="1275" b="1">
                <a:solidFill>
                  <a:srgbClr val="10B981"/>
                </a:solidFill>
                <a:latin typeface="Yu Gothic"/>
                <a:ea typeface="Yu Gothic"/>
                <a:cs typeface="Yu Gothic"/>
              </a:defRPr>
            </a:pPr>
            <a:r>
              <a:rPr lang="ja-JP" sz="1600" b="1" noProof="1">
                <a:solidFill>
                  <a:schemeClr val="bg1">
                    <a:lumMod val="65000"/>
                  </a:schemeClr>
                </a:solidFill>
                <a:latin typeface="Yu Gothic"/>
                <a:ea typeface="Yu Gothic"/>
                <a:cs typeface="Yu Gothic"/>
              </a:rPr>
              <a:t>05</a:t>
            </a:r>
          </a:p>
        </p:txBody>
      </p:sp>
      <p:sp>
        <p:nvSpPr>
          <p:cNvPr id="20" name="正方形/長方形 19">
            <a:extLst>
              <a:ext uri="{FF2B5EF4-FFF2-40B4-BE49-F238E27FC236}">
                <a16:creationId xmlns:a16="http://schemas.microsoft.com/office/drawing/2014/main" id="{5FF85026-5120-7F39-14E0-4BD0120FF5E5}"/>
              </a:ext>
            </a:extLst>
          </p:cNvPr>
          <p:cNvSpPr>
            <a:spLocks noGrp="1"/>
          </p:cNvSpPr>
          <p:nvPr/>
        </p:nvSpPr>
        <p:spPr>
          <a:xfrm>
            <a:off x="9740154" y="1594596"/>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単純な局所モデルを</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学習する</a:t>
            </a:r>
          </a:p>
        </p:txBody>
      </p:sp>
      <p:sp>
        <p:nvSpPr>
          <p:cNvPr id="2" name="正方形/長方形 1">
            <a:extLst>
              <a:ext uri="{FF2B5EF4-FFF2-40B4-BE49-F238E27FC236}">
                <a16:creationId xmlns:a16="http://schemas.microsoft.com/office/drawing/2014/main" id="{F91CB9A1-95E6-0848-9A3B-E6BB95E5EDC4}"/>
              </a:ext>
            </a:extLst>
          </p:cNvPr>
          <p:cNvSpPr>
            <a:spLocks noGrp="1"/>
          </p:cNvSpPr>
          <p:nvPr/>
        </p:nvSpPr>
        <p:spPr>
          <a:xfrm>
            <a:off x="5086350" y="1080246"/>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3" name="正方形/長方形 2">
            <a:extLst>
              <a:ext uri="{FF2B5EF4-FFF2-40B4-BE49-F238E27FC236}">
                <a16:creationId xmlns:a16="http://schemas.microsoft.com/office/drawing/2014/main" id="{627B3B70-4FC6-0F35-5FF6-9A09A78A7BD3}"/>
              </a:ext>
            </a:extLst>
          </p:cNvPr>
          <p:cNvSpPr>
            <a:spLocks noGrp="1"/>
          </p:cNvSpPr>
          <p:nvPr/>
        </p:nvSpPr>
        <p:spPr>
          <a:xfrm>
            <a:off x="5257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rgbClr val="2563EB"/>
                </a:solidFill>
                <a:latin typeface="Yu Gothic"/>
                <a:ea typeface="Yu Gothic"/>
                <a:cs typeface="Yu Gothic"/>
              </a:rPr>
              <a:t>03</a:t>
            </a:r>
          </a:p>
        </p:txBody>
      </p:sp>
      <p:sp>
        <p:nvSpPr>
          <p:cNvPr id="4" name="正方形/長方形 3">
            <a:extLst>
              <a:ext uri="{FF2B5EF4-FFF2-40B4-BE49-F238E27FC236}">
                <a16:creationId xmlns:a16="http://schemas.microsoft.com/office/drawing/2014/main" id="{DBB452A6-B84B-6494-DD5A-1DF6AB5F76C7}"/>
              </a:ext>
            </a:extLst>
          </p:cNvPr>
          <p:cNvSpPr>
            <a:spLocks noGrp="1"/>
          </p:cNvSpPr>
          <p:nvPr/>
        </p:nvSpPr>
        <p:spPr>
          <a:xfrm>
            <a:off x="5172074" y="1614327"/>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ブラックボックスの</a:t>
            </a:r>
          </a:p>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予測を得る</a:t>
            </a:r>
          </a:p>
        </p:txBody>
      </p:sp>
      <p:sp>
        <p:nvSpPr>
          <p:cNvPr id="5" name="正方形/長方形 4">
            <a:extLst>
              <a:ext uri="{FF2B5EF4-FFF2-40B4-BE49-F238E27FC236}">
                <a16:creationId xmlns:a16="http://schemas.microsoft.com/office/drawing/2014/main" id="{0FA4F3AA-3AA9-666F-45C4-BDCCC478200C}"/>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12" name="slide-4-title">
            <a:extLst>
              <a:ext uri="{FF2B5EF4-FFF2-40B4-BE49-F238E27FC236}">
                <a16:creationId xmlns:a16="http://schemas.microsoft.com/office/drawing/2014/main" id="{309ACB44-43FC-A70D-523B-35BAA3AFFC7A}"/>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buNone/>
              <a:defRPr sz="2850" b="1">
                <a:solidFill>
                  <a:srgbClr val="12233A"/>
                </a:solidFill>
                <a:latin typeface="Yu Gothic"/>
                <a:ea typeface="Yu Gothic"/>
                <a:cs typeface="Yu Gothic"/>
              </a:defRPr>
            </a:pPr>
            <a:r>
              <a:rPr lang="ja-JP" sz="2850" b="1" noProof="1">
                <a:solidFill>
                  <a:srgbClr val="12233A"/>
                </a:solidFill>
                <a:latin typeface="Yu Gothic"/>
                <a:ea typeface="Yu Gothic"/>
                <a:cs typeface="Yu Gothic"/>
              </a:rPr>
              <a:t>LIMEのアルゴリズム</a:t>
            </a:r>
          </a:p>
        </p:txBody>
      </p:sp>
      <p:pic>
        <p:nvPicPr>
          <p:cNvPr id="14" name="画面収録 2026-09-09 18.02.34 2">
            <a:hlinkClick r:id="" action="ppaction://media"/>
            <a:extLst>
              <a:ext uri="{FF2B5EF4-FFF2-40B4-BE49-F238E27FC236}">
                <a16:creationId xmlns:a16="http://schemas.microsoft.com/office/drawing/2014/main" id="{0C537316-77CD-5F58-F742-98E5BBF26B4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022027" y="2737596"/>
            <a:ext cx="6147945" cy="3960000"/>
          </a:xfrm>
          <a:prstGeom prst="rect">
            <a:avLst/>
          </a:prstGeom>
        </p:spPr>
      </p:pic>
    </p:spTree>
    <p:extLst>
      <p:ext uri="{BB962C8B-B14F-4D97-AF65-F5344CB8AC3E}">
        <p14:creationId xmlns:p14="http://schemas.microsoft.com/office/powerpoint/2010/main" val="2759729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2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B8B00-8BEC-F730-1625-1A742A0E4719}"/>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43EFFD5F-4B6D-7191-3F50-0B724B9E633F}"/>
              </a:ext>
            </a:extLst>
          </p:cNvPr>
          <p:cNvSpPr>
            <a:spLocks noGrp="1"/>
          </p:cNvSpPr>
          <p:nvPr/>
        </p:nvSpPr>
        <p:spPr>
          <a:xfrm>
            <a:off x="514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7" name="正方形/長方形 6">
            <a:extLst>
              <a:ext uri="{FF2B5EF4-FFF2-40B4-BE49-F238E27FC236}">
                <a16:creationId xmlns:a16="http://schemas.microsoft.com/office/drawing/2014/main" id="{C3941646-D2BA-45C5-D7C4-520FB381010E}"/>
              </a:ext>
            </a:extLst>
          </p:cNvPr>
          <p:cNvSpPr>
            <a:spLocks noGrp="1"/>
          </p:cNvSpPr>
          <p:nvPr/>
        </p:nvSpPr>
        <p:spPr>
          <a:xfrm>
            <a:off x="685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chemeClr val="bg1">
                    <a:lumMod val="65000"/>
                  </a:schemeClr>
                </a:solidFill>
                <a:latin typeface="Yu Gothic"/>
                <a:ea typeface="Yu Gothic"/>
                <a:cs typeface="Yu Gothic"/>
              </a:rPr>
              <a:t>01</a:t>
            </a:r>
          </a:p>
        </p:txBody>
      </p:sp>
      <p:sp>
        <p:nvSpPr>
          <p:cNvPr id="8" name="正方形/長方形 7">
            <a:extLst>
              <a:ext uri="{FF2B5EF4-FFF2-40B4-BE49-F238E27FC236}">
                <a16:creationId xmlns:a16="http://schemas.microsoft.com/office/drawing/2014/main" id="{3DC9EB6C-E29C-6B4F-D204-F841189B38EA}"/>
              </a:ext>
            </a:extLst>
          </p:cNvPr>
          <p:cNvSpPr>
            <a:spLocks noGrp="1"/>
          </p:cNvSpPr>
          <p:nvPr/>
        </p:nvSpPr>
        <p:spPr>
          <a:xfrm>
            <a:off x="685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説明対象を</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1つ選ぶ</a:t>
            </a:r>
          </a:p>
        </p:txBody>
      </p:sp>
      <p:sp>
        <p:nvSpPr>
          <p:cNvPr id="9" name="正方形/長方形 8">
            <a:extLst>
              <a:ext uri="{FF2B5EF4-FFF2-40B4-BE49-F238E27FC236}">
                <a16:creationId xmlns:a16="http://schemas.microsoft.com/office/drawing/2014/main" id="{3FD7E6DA-1178-FCAF-3238-14CF21480142}"/>
              </a:ext>
            </a:extLst>
          </p:cNvPr>
          <p:cNvSpPr>
            <a:spLocks noGrp="1"/>
          </p:cNvSpPr>
          <p:nvPr/>
        </p:nvSpPr>
        <p:spPr>
          <a:xfrm>
            <a:off x="2800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0" name="正方形/長方形 9">
            <a:extLst>
              <a:ext uri="{FF2B5EF4-FFF2-40B4-BE49-F238E27FC236}">
                <a16:creationId xmlns:a16="http://schemas.microsoft.com/office/drawing/2014/main" id="{8C8CA965-F6E3-A4A5-60B6-5B6F8C6D464F}"/>
              </a:ext>
            </a:extLst>
          </p:cNvPr>
          <p:cNvSpPr>
            <a:spLocks noGrp="1"/>
          </p:cNvSpPr>
          <p:nvPr/>
        </p:nvSpPr>
        <p:spPr>
          <a:xfrm>
            <a:off x="2971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chemeClr val="bg1">
                    <a:lumMod val="65000"/>
                  </a:schemeClr>
                </a:solidFill>
                <a:latin typeface="Yu Gothic"/>
                <a:ea typeface="Yu Gothic"/>
                <a:cs typeface="Yu Gothic"/>
              </a:rPr>
              <a:t>02</a:t>
            </a:r>
          </a:p>
        </p:txBody>
      </p:sp>
      <p:sp>
        <p:nvSpPr>
          <p:cNvPr id="11" name="正方形/長方形 10">
            <a:extLst>
              <a:ext uri="{FF2B5EF4-FFF2-40B4-BE49-F238E27FC236}">
                <a16:creationId xmlns:a16="http://schemas.microsoft.com/office/drawing/2014/main" id="{67B6094C-CDC7-1532-6586-9CE9CE437513}"/>
              </a:ext>
            </a:extLst>
          </p:cNvPr>
          <p:cNvSpPr>
            <a:spLocks noGrp="1"/>
          </p:cNvSpPr>
          <p:nvPr/>
        </p:nvSpPr>
        <p:spPr>
          <a:xfrm>
            <a:off x="2971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近傍サンプルを</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多数作る</a:t>
            </a:r>
          </a:p>
        </p:txBody>
      </p:sp>
      <p:sp>
        <p:nvSpPr>
          <p:cNvPr id="12" name="正方形/長方形 11">
            <a:extLst>
              <a:ext uri="{FF2B5EF4-FFF2-40B4-BE49-F238E27FC236}">
                <a16:creationId xmlns:a16="http://schemas.microsoft.com/office/drawing/2014/main" id="{EF9A0871-E3B6-BAE0-AE38-265F14EF4861}"/>
              </a:ext>
            </a:extLst>
          </p:cNvPr>
          <p:cNvSpPr>
            <a:spLocks noGrp="1"/>
          </p:cNvSpPr>
          <p:nvPr/>
        </p:nvSpPr>
        <p:spPr>
          <a:xfrm>
            <a:off x="5086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3" name="正方形/長方形 12">
            <a:extLst>
              <a:ext uri="{FF2B5EF4-FFF2-40B4-BE49-F238E27FC236}">
                <a16:creationId xmlns:a16="http://schemas.microsoft.com/office/drawing/2014/main" id="{45774B55-FF80-DE77-AB83-E89944027C31}"/>
              </a:ext>
            </a:extLst>
          </p:cNvPr>
          <p:cNvSpPr>
            <a:spLocks noGrp="1"/>
          </p:cNvSpPr>
          <p:nvPr/>
        </p:nvSpPr>
        <p:spPr>
          <a:xfrm>
            <a:off x="5257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chemeClr val="bg1">
                    <a:lumMod val="65000"/>
                  </a:schemeClr>
                </a:solidFill>
                <a:latin typeface="Yu Gothic"/>
                <a:ea typeface="Yu Gothic"/>
                <a:cs typeface="Yu Gothic"/>
              </a:rPr>
              <a:t>03</a:t>
            </a:r>
          </a:p>
        </p:txBody>
      </p:sp>
      <p:sp>
        <p:nvSpPr>
          <p:cNvPr id="14" name="正方形/長方形 13">
            <a:extLst>
              <a:ext uri="{FF2B5EF4-FFF2-40B4-BE49-F238E27FC236}">
                <a16:creationId xmlns:a16="http://schemas.microsoft.com/office/drawing/2014/main" id="{2E1FCBC6-B496-0FAB-6F43-331BC2407496}"/>
              </a:ext>
            </a:extLst>
          </p:cNvPr>
          <p:cNvSpPr>
            <a:spLocks noGrp="1"/>
          </p:cNvSpPr>
          <p:nvPr/>
        </p:nvSpPr>
        <p:spPr>
          <a:xfrm>
            <a:off x="5172074" y="1614327"/>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ブラックボックスの</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予測を得る</a:t>
            </a:r>
          </a:p>
        </p:txBody>
      </p:sp>
      <p:sp>
        <p:nvSpPr>
          <p:cNvPr id="18" name="正方形/長方形 17">
            <a:extLst>
              <a:ext uri="{FF2B5EF4-FFF2-40B4-BE49-F238E27FC236}">
                <a16:creationId xmlns:a16="http://schemas.microsoft.com/office/drawing/2014/main" id="{B65D1F28-B2CB-996D-A371-C9F363921E9C}"/>
              </a:ext>
            </a:extLst>
          </p:cNvPr>
          <p:cNvSpPr>
            <a:spLocks noGrp="1"/>
          </p:cNvSpPr>
          <p:nvPr/>
        </p:nvSpPr>
        <p:spPr>
          <a:xfrm>
            <a:off x="9658350" y="1080246"/>
            <a:ext cx="1952625" cy="1381125"/>
          </a:xfrm>
          <a:prstGeom prst="rect">
            <a:avLst/>
          </a:prstGeom>
          <a:solidFill>
            <a:srgbClr val="D1FAE5">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9" name="正方形/長方形 18">
            <a:extLst>
              <a:ext uri="{FF2B5EF4-FFF2-40B4-BE49-F238E27FC236}">
                <a16:creationId xmlns:a16="http://schemas.microsoft.com/office/drawing/2014/main" id="{24D0DE74-B8B8-2A0C-4EF7-E1ECD971E9CB}"/>
              </a:ext>
            </a:extLst>
          </p:cNvPr>
          <p:cNvSpPr>
            <a:spLocks noGrp="1"/>
          </p:cNvSpPr>
          <p:nvPr/>
        </p:nvSpPr>
        <p:spPr>
          <a:xfrm>
            <a:off x="9829800" y="1232646"/>
            <a:ext cx="476250" cy="247650"/>
          </a:xfrm>
          <a:prstGeom prst="rect">
            <a:avLst/>
          </a:prstGeom>
          <a:noFill/>
          <a:ln w="0">
            <a:noFill/>
            <a:prstDash val="solid"/>
          </a:ln>
        </p:spPr>
        <p:txBody>
          <a:bodyPr lIns="0" tIns="0" rIns="0" bIns="0" anchor="t">
            <a:noAutofit/>
          </a:bodyPr>
          <a:lstStyle/>
          <a:p>
            <a:pPr algn="l">
              <a:buNone/>
              <a:defRPr sz="1275" b="1">
                <a:solidFill>
                  <a:srgbClr val="10B981"/>
                </a:solidFill>
                <a:latin typeface="Yu Gothic"/>
                <a:ea typeface="Yu Gothic"/>
                <a:cs typeface="Yu Gothic"/>
              </a:defRPr>
            </a:pPr>
            <a:r>
              <a:rPr lang="ja-JP" sz="1600" b="1" noProof="1">
                <a:solidFill>
                  <a:schemeClr val="bg1">
                    <a:lumMod val="65000"/>
                  </a:schemeClr>
                </a:solidFill>
                <a:latin typeface="Yu Gothic"/>
                <a:ea typeface="Yu Gothic"/>
                <a:cs typeface="Yu Gothic"/>
              </a:rPr>
              <a:t>05</a:t>
            </a:r>
          </a:p>
        </p:txBody>
      </p:sp>
      <p:sp>
        <p:nvSpPr>
          <p:cNvPr id="20" name="正方形/長方形 19">
            <a:extLst>
              <a:ext uri="{FF2B5EF4-FFF2-40B4-BE49-F238E27FC236}">
                <a16:creationId xmlns:a16="http://schemas.microsoft.com/office/drawing/2014/main" id="{DFBFE61B-48D2-78D4-8C15-47A51DC9BF7B}"/>
              </a:ext>
            </a:extLst>
          </p:cNvPr>
          <p:cNvSpPr>
            <a:spLocks noGrp="1"/>
          </p:cNvSpPr>
          <p:nvPr/>
        </p:nvSpPr>
        <p:spPr>
          <a:xfrm>
            <a:off x="9740154" y="1594596"/>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単純な局所モデルを</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学習する</a:t>
            </a:r>
          </a:p>
        </p:txBody>
      </p:sp>
      <p:sp>
        <p:nvSpPr>
          <p:cNvPr id="2" name="正方形/長方形 1">
            <a:extLst>
              <a:ext uri="{FF2B5EF4-FFF2-40B4-BE49-F238E27FC236}">
                <a16:creationId xmlns:a16="http://schemas.microsoft.com/office/drawing/2014/main" id="{9F866185-45FA-7C22-DDB8-F86F78303D5D}"/>
              </a:ext>
            </a:extLst>
          </p:cNvPr>
          <p:cNvSpPr>
            <a:spLocks noGrp="1"/>
          </p:cNvSpPr>
          <p:nvPr/>
        </p:nvSpPr>
        <p:spPr>
          <a:xfrm>
            <a:off x="7372350" y="1080246"/>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3" name="正方形/長方形 2">
            <a:extLst>
              <a:ext uri="{FF2B5EF4-FFF2-40B4-BE49-F238E27FC236}">
                <a16:creationId xmlns:a16="http://schemas.microsoft.com/office/drawing/2014/main" id="{928D2C8C-8AE4-B533-4108-AA6E270F2848}"/>
              </a:ext>
            </a:extLst>
          </p:cNvPr>
          <p:cNvSpPr>
            <a:spLocks noGrp="1"/>
          </p:cNvSpPr>
          <p:nvPr/>
        </p:nvSpPr>
        <p:spPr>
          <a:xfrm>
            <a:off x="7543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rgbClr val="2563EB"/>
                </a:solidFill>
                <a:latin typeface="Yu Gothic"/>
                <a:ea typeface="Yu Gothic"/>
                <a:cs typeface="Yu Gothic"/>
              </a:rPr>
              <a:t>04</a:t>
            </a:r>
          </a:p>
        </p:txBody>
      </p:sp>
      <p:sp>
        <p:nvSpPr>
          <p:cNvPr id="4" name="正方形/長方形 3">
            <a:extLst>
              <a:ext uri="{FF2B5EF4-FFF2-40B4-BE49-F238E27FC236}">
                <a16:creationId xmlns:a16="http://schemas.microsoft.com/office/drawing/2014/main" id="{8F556982-4D99-979B-0980-44636202A65E}"/>
              </a:ext>
            </a:extLst>
          </p:cNvPr>
          <p:cNvSpPr>
            <a:spLocks noGrp="1"/>
          </p:cNvSpPr>
          <p:nvPr/>
        </p:nvSpPr>
        <p:spPr>
          <a:xfrm>
            <a:off x="7543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近いサンプルを</a:t>
            </a:r>
          </a:p>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強く重み付け</a:t>
            </a:r>
          </a:p>
        </p:txBody>
      </p:sp>
      <p:sp>
        <p:nvSpPr>
          <p:cNvPr id="5" name="正方形/長方形 4">
            <a:extLst>
              <a:ext uri="{FF2B5EF4-FFF2-40B4-BE49-F238E27FC236}">
                <a16:creationId xmlns:a16="http://schemas.microsoft.com/office/drawing/2014/main" id="{B2B0DD3A-059B-3643-A753-0CC34E39479D}"/>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15" name="slide-4-title">
            <a:extLst>
              <a:ext uri="{FF2B5EF4-FFF2-40B4-BE49-F238E27FC236}">
                <a16:creationId xmlns:a16="http://schemas.microsoft.com/office/drawing/2014/main" id="{AA16A8F2-3321-3F15-4C66-39799696C4C9}"/>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buNone/>
              <a:defRPr sz="2850" b="1">
                <a:solidFill>
                  <a:srgbClr val="12233A"/>
                </a:solidFill>
                <a:latin typeface="Yu Gothic"/>
                <a:ea typeface="Yu Gothic"/>
                <a:cs typeface="Yu Gothic"/>
              </a:defRPr>
            </a:pPr>
            <a:r>
              <a:rPr lang="ja-JP" sz="2850" b="1" noProof="1">
                <a:solidFill>
                  <a:srgbClr val="12233A"/>
                </a:solidFill>
                <a:latin typeface="Yu Gothic"/>
                <a:ea typeface="Yu Gothic"/>
                <a:cs typeface="Yu Gothic"/>
              </a:rPr>
              <a:t>LIMEのアルゴリズム</a:t>
            </a:r>
          </a:p>
        </p:txBody>
      </p:sp>
      <p:pic>
        <p:nvPicPr>
          <p:cNvPr id="17" name="画面収録 2026-09-09 18.02.34 5">
            <a:hlinkClick r:id="" action="ppaction://media"/>
            <a:extLst>
              <a:ext uri="{FF2B5EF4-FFF2-40B4-BE49-F238E27FC236}">
                <a16:creationId xmlns:a16="http://schemas.microsoft.com/office/drawing/2014/main" id="{C87B006C-44FA-D773-7104-FF52091E527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022027" y="2737596"/>
            <a:ext cx="6147945" cy="3960000"/>
          </a:xfrm>
          <a:prstGeom prst="rect">
            <a:avLst/>
          </a:prstGeom>
        </p:spPr>
      </p:pic>
    </p:spTree>
    <p:extLst>
      <p:ext uri="{BB962C8B-B14F-4D97-AF65-F5344CB8AC3E}">
        <p14:creationId xmlns:p14="http://schemas.microsoft.com/office/powerpoint/2010/main" val="2218302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483"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7"/>
                </p:tgtEl>
              </p:cMediaNode>
            </p:video>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7"/>
                                        </p:tgtEl>
                                      </p:cBhvr>
                                    </p:cmd>
                                  </p:childTnLst>
                                </p:cTn>
                              </p:par>
                            </p:childTnLst>
                          </p:cTn>
                        </p:par>
                      </p:childTnLst>
                    </p:cTn>
                  </p:par>
                </p:childTnLst>
              </p:cTn>
              <p:nextCondLst>
                <p:cond evt="onClick" delay="0">
                  <p:tgtEl>
                    <p:spTgt spid="17"/>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B7F44-3B09-0537-786E-8621A381A310}"/>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EF5368AD-64BC-246E-EF82-77CBD2D5DA0C}"/>
              </a:ext>
            </a:extLst>
          </p:cNvPr>
          <p:cNvSpPr>
            <a:spLocks noGrp="1"/>
          </p:cNvSpPr>
          <p:nvPr/>
        </p:nvSpPr>
        <p:spPr>
          <a:xfrm>
            <a:off x="514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7" name="正方形/長方形 6">
            <a:extLst>
              <a:ext uri="{FF2B5EF4-FFF2-40B4-BE49-F238E27FC236}">
                <a16:creationId xmlns:a16="http://schemas.microsoft.com/office/drawing/2014/main" id="{E5717226-9A6C-88E2-9F0B-9F314D94C43B}"/>
              </a:ext>
            </a:extLst>
          </p:cNvPr>
          <p:cNvSpPr>
            <a:spLocks noGrp="1"/>
          </p:cNvSpPr>
          <p:nvPr/>
        </p:nvSpPr>
        <p:spPr>
          <a:xfrm>
            <a:off x="685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chemeClr val="bg1">
                    <a:lumMod val="65000"/>
                  </a:schemeClr>
                </a:solidFill>
                <a:latin typeface="Yu Gothic"/>
                <a:ea typeface="Yu Gothic"/>
                <a:cs typeface="Yu Gothic"/>
              </a:rPr>
              <a:t>01</a:t>
            </a:r>
          </a:p>
        </p:txBody>
      </p:sp>
      <p:sp>
        <p:nvSpPr>
          <p:cNvPr id="8" name="正方形/長方形 7">
            <a:extLst>
              <a:ext uri="{FF2B5EF4-FFF2-40B4-BE49-F238E27FC236}">
                <a16:creationId xmlns:a16="http://schemas.microsoft.com/office/drawing/2014/main" id="{B3BF9A55-8BA8-016C-8679-317A4EC842EF}"/>
              </a:ext>
            </a:extLst>
          </p:cNvPr>
          <p:cNvSpPr>
            <a:spLocks noGrp="1"/>
          </p:cNvSpPr>
          <p:nvPr/>
        </p:nvSpPr>
        <p:spPr>
          <a:xfrm>
            <a:off x="685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説明対象を</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1つ選ぶ</a:t>
            </a:r>
          </a:p>
        </p:txBody>
      </p:sp>
      <p:sp>
        <p:nvSpPr>
          <p:cNvPr id="9" name="正方形/長方形 8">
            <a:extLst>
              <a:ext uri="{FF2B5EF4-FFF2-40B4-BE49-F238E27FC236}">
                <a16:creationId xmlns:a16="http://schemas.microsoft.com/office/drawing/2014/main" id="{D542EA79-9A93-1950-5B8E-6B457882F004}"/>
              </a:ext>
            </a:extLst>
          </p:cNvPr>
          <p:cNvSpPr>
            <a:spLocks noGrp="1"/>
          </p:cNvSpPr>
          <p:nvPr/>
        </p:nvSpPr>
        <p:spPr>
          <a:xfrm>
            <a:off x="2800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0" name="正方形/長方形 9">
            <a:extLst>
              <a:ext uri="{FF2B5EF4-FFF2-40B4-BE49-F238E27FC236}">
                <a16:creationId xmlns:a16="http://schemas.microsoft.com/office/drawing/2014/main" id="{BAB4ABE1-35BC-39A1-9C62-8C0B223EEB4E}"/>
              </a:ext>
            </a:extLst>
          </p:cNvPr>
          <p:cNvSpPr>
            <a:spLocks noGrp="1"/>
          </p:cNvSpPr>
          <p:nvPr/>
        </p:nvSpPr>
        <p:spPr>
          <a:xfrm>
            <a:off x="2971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chemeClr val="bg1">
                    <a:lumMod val="65000"/>
                  </a:schemeClr>
                </a:solidFill>
                <a:latin typeface="Yu Gothic"/>
                <a:ea typeface="Yu Gothic"/>
                <a:cs typeface="Yu Gothic"/>
              </a:rPr>
              <a:t>02</a:t>
            </a:r>
          </a:p>
        </p:txBody>
      </p:sp>
      <p:sp>
        <p:nvSpPr>
          <p:cNvPr id="11" name="正方形/長方形 10">
            <a:extLst>
              <a:ext uri="{FF2B5EF4-FFF2-40B4-BE49-F238E27FC236}">
                <a16:creationId xmlns:a16="http://schemas.microsoft.com/office/drawing/2014/main" id="{EADD7E9A-B5E8-E0D9-46E5-C551676C5CE2}"/>
              </a:ext>
            </a:extLst>
          </p:cNvPr>
          <p:cNvSpPr>
            <a:spLocks noGrp="1"/>
          </p:cNvSpPr>
          <p:nvPr/>
        </p:nvSpPr>
        <p:spPr>
          <a:xfrm>
            <a:off x="2971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近傍サンプルを</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多数作る</a:t>
            </a:r>
          </a:p>
        </p:txBody>
      </p:sp>
      <p:sp>
        <p:nvSpPr>
          <p:cNvPr id="12" name="正方形/長方形 11">
            <a:extLst>
              <a:ext uri="{FF2B5EF4-FFF2-40B4-BE49-F238E27FC236}">
                <a16:creationId xmlns:a16="http://schemas.microsoft.com/office/drawing/2014/main" id="{610EB8F9-E635-B7CF-EA66-9BA500BEB301}"/>
              </a:ext>
            </a:extLst>
          </p:cNvPr>
          <p:cNvSpPr>
            <a:spLocks noGrp="1"/>
          </p:cNvSpPr>
          <p:nvPr/>
        </p:nvSpPr>
        <p:spPr>
          <a:xfrm>
            <a:off x="5086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3" name="正方形/長方形 12">
            <a:extLst>
              <a:ext uri="{FF2B5EF4-FFF2-40B4-BE49-F238E27FC236}">
                <a16:creationId xmlns:a16="http://schemas.microsoft.com/office/drawing/2014/main" id="{63EC6B09-93F7-CAFC-48DC-1D3A311A0104}"/>
              </a:ext>
            </a:extLst>
          </p:cNvPr>
          <p:cNvSpPr>
            <a:spLocks noGrp="1"/>
          </p:cNvSpPr>
          <p:nvPr/>
        </p:nvSpPr>
        <p:spPr>
          <a:xfrm>
            <a:off x="5257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chemeClr val="bg1">
                    <a:lumMod val="65000"/>
                  </a:schemeClr>
                </a:solidFill>
                <a:latin typeface="Yu Gothic"/>
                <a:ea typeface="Yu Gothic"/>
                <a:cs typeface="Yu Gothic"/>
              </a:rPr>
              <a:t>03</a:t>
            </a:r>
          </a:p>
        </p:txBody>
      </p:sp>
      <p:sp>
        <p:nvSpPr>
          <p:cNvPr id="14" name="正方形/長方形 13">
            <a:extLst>
              <a:ext uri="{FF2B5EF4-FFF2-40B4-BE49-F238E27FC236}">
                <a16:creationId xmlns:a16="http://schemas.microsoft.com/office/drawing/2014/main" id="{24813A5C-11C8-DB02-EA5F-D411DC9BDFDC}"/>
              </a:ext>
            </a:extLst>
          </p:cNvPr>
          <p:cNvSpPr>
            <a:spLocks noGrp="1"/>
          </p:cNvSpPr>
          <p:nvPr/>
        </p:nvSpPr>
        <p:spPr>
          <a:xfrm>
            <a:off x="5172074" y="1614327"/>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ブラックボックスの</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予測を得る</a:t>
            </a:r>
          </a:p>
        </p:txBody>
      </p:sp>
      <p:sp>
        <p:nvSpPr>
          <p:cNvPr id="15" name="正方形/長方形 14">
            <a:extLst>
              <a:ext uri="{FF2B5EF4-FFF2-40B4-BE49-F238E27FC236}">
                <a16:creationId xmlns:a16="http://schemas.microsoft.com/office/drawing/2014/main" id="{FEF74BA2-7BDA-7FCA-E01F-F8840F5A2C47}"/>
              </a:ext>
            </a:extLst>
          </p:cNvPr>
          <p:cNvSpPr>
            <a:spLocks noGrp="1"/>
          </p:cNvSpPr>
          <p:nvPr/>
        </p:nvSpPr>
        <p:spPr>
          <a:xfrm>
            <a:off x="7372350" y="1080246"/>
            <a:ext cx="1952625" cy="1381125"/>
          </a:xfrm>
          <a:prstGeom prst="rect">
            <a:avLst/>
          </a:prstGeom>
          <a:solidFill>
            <a:srgbClr val="F3F4F6">
              <a:alpha val="56000"/>
            </a:srgbClr>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solidFill>
                <a:schemeClr val="bg1">
                  <a:lumMod val="65000"/>
                </a:schemeClr>
              </a:solidFill>
            </a:endParaRPr>
          </a:p>
        </p:txBody>
      </p:sp>
      <p:sp>
        <p:nvSpPr>
          <p:cNvPr id="16" name="正方形/長方形 15">
            <a:extLst>
              <a:ext uri="{FF2B5EF4-FFF2-40B4-BE49-F238E27FC236}">
                <a16:creationId xmlns:a16="http://schemas.microsoft.com/office/drawing/2014/main" id="{CD51178C-D75C-5CF0-0F6B-E64283D88082}"/>
              </a:ext>
            </a:extLst>
          </p:cNvPr>
          <p:cNvSpPr>
            <a:spLocks noGrp="1"/>
          </p:cNvSpPr>
          <p:nvPr/>
        </p:nvSpPr>
        <p:spPr>
          <a:xfrm>
            <a:off x="7543800" y="1232646"/>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chemeClr val="bg1">
                    <a:lumMod val="65000"/>
                  </a:schemeClr>
                </a:solidFill>
                <a:latin typeface="Yu Gothic"/>
                <a:ea typeface="Yu Gothic"/>
                <a:cs typeface="Yu Gothic"/>
              </a:rPr>
              <a:t>04</a:t>
            </a:r>
          </a:p>
        </p:txBody>
      </p:sp>
      <p:sp>
        <p:nvSpPr>
          <p:cNvPr id="17" name="正方形/長方形 16">
            <a:extLst>
              <a:ext uri="{FF2B5EF4-FFF2-40B4-BE49-F238E27FC236}">
                <a16:creationId xmlns:a16="http://schemas.microsoft.com/office/drawing/2014/main" id="{6427D3AD-FEB3-6D9C-E607-2AD54EAD8F75}"/>
              </a:ext>
            </a:extLst>
          </p:cNvPr>
          <p:cNvSpPr>
            <a:spLocks noGrp="1"/>
          </p:cNvSpPr>
          <p:nvPr/>
        </p:nvSpPr>
        <p:spPr>
          <a:xfrm>
            <a:off x="7543800" y="1594596"/>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近いサンプルを</a:t>
            </a:r>
          </a:p>
          <a:p>
            <a:pPr algn="ctr">
              <a:buNone/>
              <a:defRPr sz="1500" b="1">
                <a:solidFill>
                  <a:srgbClr val="111827"/>
                </a:solidFill>
                <a:latin typeface="Yu Gothic"/>
                <a:ea typeface="Yu Gothic"/>
                <a:cs typeface="Yu Gothic"/>
              </a:defRPr>
            </a:pPr>
            <a:r>
              <a:rPr lang="ja-JP" sz="1600" b="1" noProof="1">
                <a:solidFill>
                  <a:schemeClr val="bg1">
                    <a:lumMod val="65000"/>
                  </a:schemeClr>
                </a:solidFill>
                <a:latin typeface="Yu Gothic"/>
                <a:ea typeface="Yu Gothic"/>
                <a:cs typeface="Yu Gothic"/>
              </a:rPr>
              <a:t>強く重み付け</a:t>
            </a:r>
          </a:p>
        </p:txBody>
      </p:sp>
      <p:sp>
        <p:nvSpPr>
          <p:cNvPr id="2" name="正方形/長方形 1">
            <a:extLst>
              <a:ext uri="{FF2B5EF4-FFF2-40B4-BE49-F238E27FC236}">
                <a16:creationId xmlns:a16="http://schemas.microsoft.com/office/drawing/2014/main" id="{8BB376D6-0E31-1C1A-4E24-FCB45B0EEE46}"/>
              </a:ext>
            </a:extLst>
          </p:cNvPr>
          <p:cNvSpPr>
            <a:spLocks noGrp="1"/>
          </p:cNvSpPr>
          <p:nvPr/>
        </p:nvSpPr>
        <p:spPr>
          <a:xfrm>
            <a:off x="9658350" y="1080246"/>
            <a:ext cx="1952625" cy="1381125"/>
          </a:xfrm>
          <a:prstGeom prst="rect">
            <a:avLst/>
          </a:prstGeom>
          <a:solidFill>
            <a:srgbClr val="D1FAE5"/>
          </a:solidFill>
          <a:ln w="19050">
            <a:solidFill>
              <a:srgbClr val="10B981"/>
            </a:solidFill>
            <a:prstDash val="solid"/>
          </a:ln>
          <a:effectLst>
            <a:outerShdw blurRad="50800" dist="38100" dir="2700000" algn="tl" rotWithShape="0">
              <a:prstClr val="black">
                <a:alpha val="40000"/>
              </a:prstClr>
            </a:outerShdw>
          </a:effectLst>
        </p:spPr>
        <p:txBody>
          <a:bodyPr/>
          <a:lstStyle/>
          <a:p>
            <a:endParaRPr lang="ja-JP" noProof="1"/>
          </a:p>
        </p:txBody>
      </p:sp>
      <p:sp>
        <p:nvSpPr>
          <p:cNvPr id="3" name="正方形/長方形 2">
            <a:extLst>
              <a:ext uri="{FF2B5EF4-FFF2-40B4-BE49-F238E27FC236}">
                <a16:creationId xmlns:a16="http://schemas.microsoft.com/office/drawing/2014/main" id="{03160ED9-62D9-3B0F-729D-BC69AFF46C96}"/>
              </a:ext>
            </a:extLst>
          </p:cNvPr>
          <p:cNvSpPr>
            <a:spLocks noGrp="1"/>
          </p:cNvSpPr>
          <p:nvPr/>
        </p:nvSpPr>
        <p:spPr>
          <a:xfrm>
            <a:off x="9829800" y="1232646"/>
            <a:ext cx="476250" cy="247650"/>
          </a:xfrm>
          <a:prstGeom prst="rect">
            <a:avLst/>
          </a:prstGeom>
          <a:noFill/>
          <a:ln w="0">
            <a:noFill/>
            <a:prstDash val="solid"/>
          </a:ln>
        </p:spPr>
        <p:txBody>
          <a:bodyPr lIns="0" tIns="0" rIns="0" bIns="0" anchor="t">
            <a:noAutofit/>
          </a:bodyPr>
          <a:lstStyle/>
          <a:p>
            <a:pPr algn="l">
              <a:buNone/>
              <a:defRPr sz="1275" b="1">
                <a:solidFill>
                  <a:srgbClr val="10B981"/>
                </a:solidFill>
                <a:latin typeface="Yu Gothic"/>
                <a:ea typeface="Yu Gothic"/>
                <a:cs typeface="Yu Gothic"/>
              </a:defRPr>
            </a:pPr>
            <a:r>
              <a:rPr lang="ja-JP" sz="1600" b="1" noProof="1">
                <a:solidFill>
                  <a:srgbClr val="10B981"/>
                </a:solidFill>
                <a:latin typeface="Yu Gothic"/>
                <a:ea typeface="Yu Gothic"/>
                <a:cs typeface="Yu Gothic"/>
              </a:rPr>
              <a:t>05</a:t>
            </a:r>
          </a:p>
        </p:txBody>
      </p:sp>
      <p:sp>
        <p:nvSpPr>
          <p:cNvPr id="4" name="正方形/長方形 3">
            <a:extLst>
              <a:ext uri="{FF2B5EF4-FFF2-40B4-BE49-F238E27FC236}">
                <a16:creationId xmlns:a16="http://schemas.microsoft.com/office/drawing/2014/main" id="{2AF270E5-F770-A111-3F16-59AB90B24098}"/>
              </a:ext>
            </a:extLst>
          </p:cNvPr>
          <p:cNvSpPr>
            <a:spLocks noGrp="1"/>
          </p:cNvSpPr>
          <p:nvPr/>
        </p:nvSpPr>
        <p:spPr>
          <a:xfrm>
            <a:off x="9740154" y="1594596"/>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単純な局所モデルを</a:t>
            </a:r>
          </a:p>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学習する</a:t>
            </a:r>
          </a:p>
        </p:txBody>
      </p:sp>
      <p:sp>
        <p:nvSpPr>
          <p:cNvPr id="5" name="正方形/長方形 4">
            <a:extLst>
              <a:ext uri="{FF2B5EF4-FFF2-40B4-BE49-F238E27FC236}">
                <a16:creationId xmlns:a16="http://schemas.microsoft.com/office/drawing/2014/main" id="{7C9FDA28-445D-3D8B-6F06-085F9C1BA8E7}"/>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18" name="slide-4-title">
            <a:extLst>
              <a:ext uri="{FF2B5EF4-FFF2-40B4-BE49-F238E27FC236}">
                <a16:creationId xmlns:a16="http://schemas.microsoft.com/office/drawing/2014/main" id="{D5B457B3-0683-CB63-247E-1F28015C5E46}"/>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buNone/>
              <a:defRPr sz="2850" b="1">
                <a:solidFill>
                  <a:srgbClr val="12233A"/>
                </a:solidFill>
                <a:latin typeface="Yu Gothic"/>
                <a:ea typeface="Yu Gothic"/>
                <a:cs typeface="Yu Gothic"/>
              </a:defRPr>
            </a:pPr>
            <a:r>
              <a:rPr lang="ja-JP" sz="2850" b="1" noProof="1">
                <a:solidFill>
                  <a:srgbClr val="12233A"/>
                </a:solidFill>
                <a:latin typeface="Yu Gothic"/>
                <a:ea typeface="Yu Gothic"/>
                <a:cs typeface="Yu Gothic"/>
              </a:rPr>
              <a:t>LIMEのアルゴリズム</a:t>
            </a:r>
          </a:p>
        </p:txBody>
      </p:sp>
      <p:pic>
        <p:nvPicPr>
          <p:cNvPr id="21" name="画面収録 2026-09-09 18.02.34 4">
            <a:hlinkClick r:id="" action="ppaction://media"/>
            <a:extLst>
              <a:ext uri="{FF2B5EF4-FFF2-40B4-BE49-F238E27FC236}">
                <a16:creationId xmlns:a16="http://schemas.microsoft.com/office/drawing/2014/main" id="{A71E4283-0CFC-0C34-F885-5605FC0AF48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022027" y="2737596"/>
            <a:ext cx="6147945" cy="3960000"/>
          </a:xfrm>
          <a:prstGeom prst="rect">
            <a:avLst/>
          </a:prstGeom>
        </p:spPr>
      </p:pic>
    </p:spTree>
    <p:extLst>
      <p:ext uri="{BB962C8B-B14F-4D97-AF65-F5344CB8AC3E}">
        <p14:creationId xmlns:p14="http://schemas.microsoft.com/office/powerpoint/2010/main" val="3789721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606"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1"/>
                </p:tgtEl>
              </p:cMediaNode>
            </p:video>
            <p:seq concurrent="1" nextAc="seek">
              <p:cTn id="8" restart="whenNotActive" fill="hold" evtFilter="cancelBubble" nodeType="interactiveSeq">
                <p:stCondLst>
                  <p:cond evt="onClick" delay="0">
                    <p:tgtEl>
                      <p:spTgt spid="2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7487436-7351-97DC-9EEA-F21DA6CC4EB6}"/>
              </a:ext>
            </a:extLst>
          </p:cNvPr>
          <p:cNvSpPr txBox="1"/>
          <p:nvPr/>
        </p:nvSpPr>
        <p:spPr>
          <a:xfrm>
            <a:off x="2457450" y="2705100"/>
            <a:ext cx="1572866" cy="369332"/>
          </a:xfrm>
          <a:prstGeom prst="rect">
            <a:avLst/>
          </a:prstGeom>
          <a:noFill/>
        </p:spPr>
        <p:txBody>
          <a:bodyPr wrap="none" rtlCol="0">
            <a:spAutoFit/>
          </a:bodyPr>
          <a:lstStyle/>
          <a:p>
            <a:r>
              <a:rPr kumimoji="1" lang="ja-JP" noProof="1"/>
              <a:t>多クラスLIME</a:t>
            </a:r>
          </a:p>
        </p:txBody>
      </p:sp>
    </p:spTree>
    <p:extLst>
      <p:ext uri="{BB962C8B-B14F-4D97-AF65-F5344CB8AC3E}">
        <p14:creationId xmlns:p14="http://schemas.microsoft.com/office/powerpoint/2010/main" val="3579565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
        <p:cNvGrpSpPr/>
        <p:nvPr/>
      </p:nvGrpSpPr>
      <p:grpSpPr>
        <a:xfrm>
          <a:off x="0" y="0"/>
          <a:ext cx="0" cy="0"/>
          <a:chOff x="0" y="0"/>
          <a:chExt cx="0" cy="0"/>
        </a:xfrm>
      </p:grpSpPr>
      <p:sp>
        <p:nvSpPr>
          <p:cNvPr id="43" name="正方形/長方形 42">
            <a:extLst>
              <a:ext uri="{FF2B5EF4-FFF2-40B4-BE49-F238E27FC236}">
                <a16:creationId xmlns:a16="http://schemas.microsoft.com/office/drawing/2014/main" id="{75B03E4F-669E-46AD-8995-B735FDE175D7}"/>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2" name="slide-6-title">
            <a:extLst>
              <a:ext uri="{FF2B5EF4-FFF2-40B4-BE49-F238E27FC236}">
                <a16:creationId xmlns:a16="http://schemas.microsoft.com/office/drawing/2014/main" id="{EAE8545E-ADD6-41B6-B78C-F298C201E6FC}"/>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2233A"/>
                </a:solidFill>
                <a:latin typeface="Yu Gothic"/>
                <a:ea typeface="Yu Gothic"/>
                <a:cs typeface="Yu Gothic"/>
              </a:defRPr>
            </a:pPr>
            <a:r>
              <a:rPr lang="ja-JP" sz="2850" b="1" noProof="1">
                <a:solidFill>
                  <a:srgbClr val="12233A"/>
                </a:solidFill>
                <a:latin typeface="Yu Gothic"/>
                <a:ea typeface="Yu Gothic"/>
                <a:cs typeface="Yu Gothic"/>
              </a:rPr>
              <a:t>多クラスLIMEでは</a:t>
            </a:r>
          </a:p>
        </p:txBody>
      </p:sp>
      <p:sp>
        <p:nvSpPr>
          <p:cNvPr id="3" name="slide-6-subtitle">
            <a:extLst>
              <a:ext uri="{FF2B5EF4-FFF2-40B4-BE49-F238E27FC236}">
                <a16:creationId xmlns:a16="http://schemas.microsoft.com/office/drawing/2014/main" id="{7D7A67F1-99D4-4FF0-9338-FD431E7F19B9}"/>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67085"/>
                </a:solidFill>
                <a:latin typeface="Yu Gothic"/>
                <a:ea typeface="Yu Gothic"/>
                <a:cs typeface="Yu Gothic"/>
              </a:defRPr>
            </a:pPr>
            <a:r>
              <a:rPr lang="ja-JP" sz="1500" b="0" noProof="1">
                <a:solidFill>
                  <a:srgbClr val="667085"/>
                </a:solidFill>
                <a:latin typeface="Yu Gothic"/>
                <a:ea typeface="Yu Gothic"/>
                <a:cs typeface="Yu Gothic"/>
              </a:rPr>
              <a:t>2値的な説明を繰り返す、one-vs-rest型の展開</a:t>
            </a:r>
          </a:p>
        </p:txBody>
      </p:sp>
      <p:sp>
        <p:nvSpPr>
          <p:cNvPr id="6" name="右矢印 5">
            <a:extLst>
              <a:ext uri="{FF2B5EF4-FFF2-40B4-BE49-F238E27FC236}">
                <a16:creationId xmlns:a16="http://schemas.microsoft.com/office/drawing/2014/main" id="{A392FB28-107F-4343-B6F4-C01FC65427E6}"/>
              </a:ext>
            </a:extLst>
          </p:cNvPr>
          <p:cNvSpPr>
            <a:spLocks noGrp="1"/>
          </p:cNvSpPr>
          <p:nvPr/>
        </p:nvSpPr>
        <p:spPr>
          <a:xfrm>
            <a:off x="6477000" y="2291584"/>
            <a:ext cx="781050" cy="228600"/>
          </a:xfrm>
          <a:prstGeom prst="rightArrow">
            <a:avLst/>
          </a:prstGeom>
          <a:solidFill>
            <a:srgbClr val="2563EB"/>
          </a:solidFill>
          <a:ln w="0">
            <a:solidFill>
              <a:srgbClr val="2563EB"/>
            </a:solidFill>
            <a:prstDash val="solid"/>
          </a:ln>
        </p:spPr>
        <p:txBody>
          <a:bodyPr/>
          <a:lstStyle/>
          <a:p>
            <a:endParaRPr lang="ja-JP" noProof="1"/>
          </a:p>
        </p:txBody>
      </p:sp>
      <p:sp>
        <p:nvSpPr>
          <p:cNvPr id="7" name="右矢印 6">
            <a:extLst>
              <a:ext uri="{FF2B5EF4-FFF2-40B4-BE49-F238E27FC236}">
                <a16:creationId xmlns:a16="http://schemas.microsoft.com/office/drawing/2014/main" id="{2C44CEEF-A69A-4B94-B7C1-F1084EEA7A7D}"/>
              </a:ext>
            </a:extLst>
          </p:cNvPr>
          <p:cNvSpPr>
            <a:spLocks noGrp="1"/>
          </p:cNvSpPr>
          <p:nvPr/>
        </p:nvSpPr>
        <p:spPr>
          <a:xfrm>
            <a:off x="6477000" y="3953696"/>
            <a:ext cx="781050" cy="228600"/>
          </a:xfrm>
          <a:prstGeom prst="rightArrow">
            <a:avLst/>
          </a:prstGeom>
          <a:solidFill>
            <a:srgbClr val="2563EB"/>
          </a:solidFill>
          <a:ln w="0">
            <a:solidFill>
              <a:srgbClr val="2563EB"/>
            </a:solidFill>
            <a:prstDash val="solid"/>
          </a:ln>
        </p:spPr>
        <p:txBody>
          <a:bodyPr/>
          <a:lstStyle/>
          <a:p>
            <a:endParaRPr lang="ja-JP" noProof="1"/>
          </a:p>
        </p:txBody>
      </p:sp>
      <p:sp>
        <p:nvSpPr>
          <p:cNvPr id="8" name="右矢印 7">
            <a:extLst>
              <a:ext uri="{FF2B5EF4-FFF2-40B4-BE49-F238E27FC236}">
                <a16:creationId xmlns:a16="http://schemas.microsoft.com/office/drawing/2014/main" id="{165C1FB6-07EB-4CB8-A00E-804DB69EC155}"/>
              </a:ext>
            </a:extLst>
          </p:cNvPr>
          <p:cNvSpPr>
            <a:spLocks noGrp="1"/>
          </p:cNvSpPr>
          <p:nvPr/>
        </p:nvSpPr>
        <p:spPr>
          <a:xfrm>
            <a:off x="6477000" y="5672959"/>
            <a:ext cx="781050" cy="228600"/>
          </a:xfrm>
          <a:prstGeom prst="rightArrow">
            <a:avLst/>
          </a:prstGeom>
          <a:solidFill>
            <a:srgbClr val="2563EB"/>
          </a:solidFill>
          <a:ln w="0">
            <a:solidFill>
              <a:srgbClr val="2563EB"/>
            </a:solidFill>
            <a:prstDash val="solid"/>
          </a:ln>
        </p:spPr>
        <p:txBody>
          <a:bodyPr/>
          <a:lstStyle/>
          <a:p>
            <a:endParaRPr lang="ja-JP" noProof="1"/>
          </a:p>
        </p:txBody>
      </p:sp>
      <p:sp>
        <p:nvSpPr>
          <p:cNvPr id="23" name="正方形/長方形 22">
            <a:extLst>
              <a:ext uri="{FF2B5EF4-FFF2-40B4-BE49-F238E27FC236}">
                <a16:creationId xmlns:a16="http://schemas.microsoft.com/office/drawing/2014/main" id="{1BA368D7-7D39-4F06-AD92-EA6E8938B8EF}"/>
              </a:ext>
            </a:extLst>
          </p:cNvPr>
          <p:cNvSpPr>
            <a:spLocks noGrp="1"/>
          </p:cNvSpPr>
          <p:nvPr/>
        </p:nvSpPr>
        <p:spPr>
          <a:xfrm>
            <a:off x="7394647" y="1862959"/>
            <a:ext cx="3040744" cy="952500"/>
          </a:xfrm>
          <a:prstGeom prst="rect">
            <a:avLst/>
          </a:prstGeom>
          <a:solidFill>
            <a:srgbClr val="FFFFFF"/>
          </a:solidFill>
          <a:ln w="19050">
            <a:solidFill>
              <a:srgbClr val="2563EB"/>
            </a:solidFill>
            <a:prstDash val="solid"/>
          </a:ln>
          <a:effectLst>
            <a:outerShdw blurRad="50800" dist="38100" dir="2700000" algn="tl" rotWithShape="0">
              <a:prstClr val="black">
                <a:alpha val="40000"/>
              </a:prstClr>
            </a:outerShdw>
          </a:effectLst>
        </p:spPr>
        <p:txBody>
          <a:bodyPr/>
          <a:lstStyle/>
          <a:p>
            <a:endParaRPr lang="ja-JP" noProof="1"/>
          </a:p>
        </p:txBody>
      </p:sp>
      <p:sp>
        <p:nvSpPr>
          <p:cNvPr id="24" name="正方形/長方形 23">
            <a:extLst>
              <a:ext uri="{FF2B5EF4-FFF2-40B4-BE49-F238E27FC236}">
                <a16:creationId xmlns:a16="http://schemas.microsoft.com/office/drawing/2014/main" id="{B9595C5D-93F3-4C71-8E12-DC56FE107BBF}"/>
              </a:ext>
            </a:extLst>
          </p:cNvPr>
          <p:cNvSpPr>
            <a:spLocks noGrp="1"/>
          </p:cNvSpPr>
          <p:nvPr/>
        </p:nvSpPr>
        <p:spPr>
          <a:xfrm>
            <a:off x="9512821" y="2263009"/>
            <a:ext cx="938750" cy="285750"/>
          </a:xfrm>
          <a:prstGeom prst="rect">
            <a:avLst/>
          </a:prstGeom>
          <a:noFill/>
          <a:ln w="0">
            <a:noFill/>
            <a:prstDash val="solid"/>
          </a:ln>
        </p:spPr>
        <p:txBody>
          <a:bodyPr lIns="0" tIns="0" rIns="0" bIns="0" anchor="t">
            <a:noAutofit/>
          </a:bodyPr>
          <a:lstStyle/>
          <a:p>
            <a:pPr algn="l">
              <a:buNone/>
              <a:defRPr sz="1725" b="1">
                <a:solidFill>
                  <a:srgbClr val="2563EB"/>
                </a:solidFill>
                <a:latin typeface="Yu Gothic"/>
                <a:ea typeface="Yu Gothic"/>
                <a:cs typeface="Yu Gothic"/>
              </a:defRPr>
            </a:pPr>
            <a:r>
              <a:rPr lang="ja-JP" sz="1725" b="1" noProof="1">
                <a:solidFill>
                  <a:srgbClr val="2563EB"/>
                </a:solidFill>
                <a:latin typeface="Yu Gothic"/>
                <a:ea typeface="Yu Gothic"/>
                <a:cs typeface="Yu Gothic"/>
              </a:rPr>
              <a:t>クラス A</a:t>
            </a:r>
          </a:p>
        </p:txBody>
      </p:sp>
      <p:sp>
        <p:nvSpPr>
          <p:cNvPr id="26" name="正方形/長方形 25">
            <a:extLst>
              <a:ext uri="{FF2B5EF4-FFF2-40B4-BE49-F238E27FC236}">
                <a16:creationId xmlns:a16="http://schemas.microsoft.com/office/drawing/2014/main" id="{869E9EB9-411B-4B32-91F9-88B41FF2A2B7}"/>
              </a:ext>
            </a:extLst>
          </p:cNvPr>
          <p:cNvSpPr>
            <a:spLocks noGrp="1"/>
          </p:cNvSpPr>
          <p:nvPr/>
        </p:nvSpPr>
        <p:spPr>
          <a:xfrm>
            <a:off x="8749558" y="2106895"/>
            <a:ext cx="166477" cy="123825"/>
          </a:xfrm>
          <a:prstGeom prst="rect">
            <a:avLst/>
          </a:prstGeom>
          <a:solidFill>
            <a:srgbClr val="2563EB"/>
          </a:solidFill>
          <a:ln w="0">
            <a:solidFill>
              <a:srgbClr val="2563EB"/>
            </a:solidFill>
            <a:prstDash val="solid"/>
          </a:ln>
        </p:spPr>
        <p:txBody>
          <a:bodyPr/>
          <a:lstStyle/>
          <a:p>
            <a:endParaRPr lang="ja-JP" noProof="1"/>
          </a:p>
        </p:txBody>
      </p:sp>
      <p:sp>
        <p:nvSpPr>
          <p:cNvPr id="27" name="正方形/長方形 26">
            <a:extLst>
              <a:ext uri="{FF2B5EF4-FFF2-40B4-BE49-F238E27FC236}">
                <a16:creationId xmlns:a16="http://schemas.microsoft.com/office/drawing/2014/main" id="{15BAD9F4-2728-4449-9113-6BB31670F490}"/>
              </a:ext>
            </a:extLst>
          </p:cNvPr>
          <p:cNvSpPr>
            <a:spLocks noGrp="1"/>
          </p:cNvSpPr>
          <p:nvPr/>
        </p:nvSpPr>
        <p:spPr>
          <a:xfrm>
            <a:off x="8916035" y="2325970"/>
            <a:ext cx="571500" cy="123825"/>
          </a:xfrm>
          <a:prstGeom prst="rect">
            <a:avLst/>
          </a:prstGeom>
          <a:solidFill>
            <a:srgbClr val="2563EB"/>
          </a:solidFill>
          <a:ln w="0">
            <a:solidFill>
              <a:srgbClr val="2563EB"/>
            </a:solidFill>
            <a:prstDash val="solid"/>
          </a:ln>
        </p:spPr>
        <p:txBody>
          <a:bodyPr/>
          <a:lstStyle/>
          <a:p>
            <a:endParaRPr lang="ja-JP" noProof="1"/>
          </a:p>
        </p:txBody>
      </p:sp>
      <p:sp>
        <p:nvSpPr>
          <p:cNvPr id="28" name="正方形/長方形 27">
            <a:extLst>
              <a:ext uri="{FF2B5EF4-FFF2-40B4-BE49-F238E27FC236}">
                <a16:creationId xmlns:a16="http://schemas.microsoft.com/office/drawing/2014/main" id="{BBDE719E-8423-4658-9822-7F007DB5C20A}"/>
              </a:ext>
            </a:extLst>
          </p:cNvPr>
          <p:cNvSpPr>
            <a:spLocks noGrp="1"/>
          </p:cNvSpPr>
          <p:nvPr/>
        </p:nvSpPr>
        <p:spPr>
          <a:xfrm>
            <a:off x="8458835" y="2545045"/>
            <a:ext cx="457200" cy="123825"/>
          </a:xfrm>
          <a:prstGeom prst="rect">
            <a:avLst/>
          </a:prstGeom>
          <a:solidFill>
            <a:srgbClr val="2563EB"/>
          </a:solidFill>
          <a:ln w="0">
            <a:solidFill>
              <a:srgbClr val="2563EB"/>
            </a:solidFill>
            <a:prstDash val="solid"/>
          </a:ln>
        </p:spPr>
        <p:txBody>
          <a:bodyPr/>
          <a:lstStyle/>
          <a:p>
            <a:endParaRPr lang="ja-JP" noProof="1"/>
          </a:p>
        </p:txBody>
      </p:sp>
      <p:sp>
        <p:nvSpPr>
          <p:cNvPr id="29" name="正方形/長方形 28">
            <a:extLst>
              <a:ext uri="{FF2B5EF4-FFF2-40B4-BE49-F238E27FC236}">
                <a16:creationId xmlns:a16="http://schemas.microsoft.com/office/drawing/2014/main" id="{F05E33A5-6337-46C8-A697-3CC64A56C71E}"/>
              </a:ext>
            </a:extLst>
          </p:cNvPr>
          <p:cNvSpPr>
            <a:spLocks noGrp="1"/>
          </p:cNvSpPr>
          <p:nvPr/>
        </p:nvSpPr>
        <p:spPr>
          <a:xfrm>
            <a:off x="7394647" y="3553646"/>
            <a:ext cx="3040744" cy="952500"/>
          </a:xfrm>
          <a:prstGeom prst="rect">
            <a:avLst/>
          </a:prstGeom>
          <a:solidFill>
            <a:srgbClr val="FFFFFF"/>
          </a:solidFill>
          <a:ln w="19050">
            <a:solidFill>
              <a:srgbClr val="FF0000"/>
            </a:solidFill>
            <a:prstDash val="solid"/>
          </a:ln>
          <a:effectLst>
            <a:outerShdw blurRad="50800" dist="38100" dir="2700000" algn="tl" rotWithShape="0">
              <a:prstClr val="black">
                <a:alpha val="40000"/>
              </a:prstClr>
            </a:outerShdw>
          </a:effectLst>
        </p:spPr>
        <p:txBody>
          <a:bodyPr/>
          <a:lstStyle/>
          <a:p>
            <a:endParaRPr lang="ja-JP" noProof="1"/>
          </a:p>
        </p:txBody>
      </p:sp>
      <p:sp>
        <p:nvSpPr>
          <p:cNvPr id="30" name="正方形/長方形 29">
            <a:extLst>
              <a:ext uri="{FF2B5EF4-FFF2-40B4-BE49-F238E27FC236}">
                <a16:creationId xmlns:a16="http://schemas.microsoft.com/office/drawing/2014/main" id="{0233DA84-5507-4676-9075-EC0D3D2A57B2}"/>
              </a:ext>
            </a:extLst>
          </p:cNvPr>
          <p:cNvSpPr>
            <a:spLocks noGrp="1"/>
          </p:cNvSpPr>
          <p:nvPr/>
        </p:nvSpPr>
        <p:spPr>
          <a:xfrm>
            <a:off x="9512821" y="3925121"/>
            <a:ext cx="938750" cy="285750"/>
          </a:xfrm>
          <a:prstGeom prst="rect">
            <a:avLst/>
          </a:prstGeom>
          <a:noFill/>
          <a:ln w="0">
            <a:noFill/>
            <a:prstDash val="solid"/>
          </a:ln>
        </p:spPr>
        <p:txBody>
          <a:bodyPr lIns="0" tIns="0" rIns="0" bIns="0" anchor="t">
            <a:noAutofit/>
          </a:bodyPr>
          <a:lstStyle/>
          <a:p>
            <a:pPr algn="l">
              <a:buNone/>
              <a:defRPr sz="1725" b="1">
                <a:solidFill>
                  <a:srgbClr val="F59E0B"/>
                </a:solidFill>
                <a:latin typeface="Yu Gothic"/>
                <a:ea typeface="Yu Gothic"/>
                <a:cs typeface="Yu Gothic"/>
              </a:defRPr>
            </a:pPr>
            <a:r>
              <a:rPr lang="ja-JP" sz="1725" b="1" noProof="1">
                <a:solidFill>
                  <a:srgbClr val="FF0000"/>
                </a:solidFill>
                <a:latin typeface="Yu Gothic"/>
                <a:ea typeface="Yu Gothic"/>
                <a:cs typeface="Yu Gothic"/>
              </a:rPr>
              <a:t>クラス B</a:t>
            </a:r>
          </a:p>
        </p:txBody>
      </p:sp>
      <p:sp>
        <p:nvSpPr>
          <p:cNvPr id="32" name="正方形/長方形 31">
            <a:extLst>
              <a:ext uri="{FF2B5EF4-FFF2-40B4-BE49-F238E27FC236}">
                <a16:creationId xmlns:a16="http://schemas.microsoft.com/office/drawing/2014/main" id="{65C0F17B-9EB7-443F-8448-75A8535C4BAC}"/>
              </a:ext>
            </a:extLst>
          </p:cNvPr>
          <p:cNvSpPr>
            <a:spLocks noGrp="1"/>
          </p:cNvSpPr>
          <p:nvPr/>
        </p:nvSpPr>
        <p:spPr>
          <a:xfrm>
            <a:off x="8973185" y="3769007"/>
            <a:ext cx="571500" cy="123825"/>
          </a:xfrm>
          <a:prstGeom prst="rect">
            <a:avLst/>
          </a:prstGeom>
          <a:solidFill>
            <a:srgbClr val="FF0000"/>
          </a:solidFill>
          <a:ln w="0">
            <a:solidFill>
              <a:srgbClr val="FF0000"/>
            </a:solidFill>
            <a:prstDash val="solid"/>
          </a:ln>
        </p:spPr>
        <p:txBody>
          <a:bodyPr/>
          <a:lstStyle/>
          <a:p>
            <a:endParaRPr lang="ja-JP" noProof="1"/>
          </a:p>
        </p:txBody>
      </p:sp>
      <p:sp>
        <p:nvSpPr>
          <p:cNvPr id="33" name="正方形/長方形 32">
            <a:extLst>
              <a:ext uri="{FF2B5EF4-FFF2-40B4-BE49-F238E27FC236}">
                <a16:creationId xmlns:a16="http://schemas.microsoft.com/office/drawing/2014/main" id="{9E523358-D415-4E7C-9C0D-60FB900D39EC}"/>
              </a:ext>
            </a:extLst>
          </p:cNvPr>
          <p:cNvSpPr>
            <a:spLocks noGrp="1"/>
          </p:cNvSpPr>
          <p:nvPr/>
        </p:nvSpPr>
        <p:spPr>
          <a:xfrm>
            <a:off x="8458835" y="3988082"/>
            <a:ext cx="514350" cy="123825"/>
          </a:xfrm>
          <a:prstGeom prst="rect">
            <a:avLst/>
          </a:prstGeom>
          <a:solidFill>
            <a:srgbClr val="FF0000"/>
          </a:solidFill>
          <a:ln w="0">
            <a:solidFill>
              <a:srgbClr val="FF0000"/>
            </a:solidFill>
            <a:prstDash val="solid"/>
          </a:ln>
        </p:spPr>
        <p:txBody>
          <a:bodyPr/>
          <a:lstStyle/>
          <a:p>
            <a:endParaRPr lang="ja-JP" noProof="1"/>
          </a:p>
        </p:txBody>
      </p:sp>
      <p:sp>
        <p:nvSpPr>
          <p:cNvPr id="34" name="正方形/長方形 33">
            <a:extLst>
              <a:ext uri="{FF2B5EF4-FFF2-40B4-BE49-F238E27FC236}">
                <a16:creationId xmlns:a16="http://schemas.microsoft.com/office/drawing/2014/main" id="{6EC4F42B-8CAB-48F0-81A3-7B57981EFB0B}"/>
              </a:ext>
            </a:extLst>
          </p:cNvPr>
          <p:cNvSpPr>
            <a:spLocks noGrp="1"/>
          </p:cNvSpPr>
          <p:nvPr/>
        </p:nvSpPr>
        <p:spPr>
          <a:xfrm>
            <a:off x="8973185" y="4207157"/>
            <a:ext cx="285750" cy="123825"/>
          </a:xfrm>
          <a:prstGeom prst="rect">
            <a:avLst/>
          </a:prstGeom>
          <a:solidFill>
            <a:srgbClr val="FF0000"/>
          </a:solidFill>
          <a:ln w="0">
            <a:solidFill>
              <a:srgbClr val="FF0000"/>
            </a:solidFill>
            <a:prstDash val="solid"/>
          </a:ln>
        </p:spPr>
        <p:txBody>
          <a:bodyPr/>
          <a:lstStyle/>
          <a:p>
            <a:endParaRPr lang="ja-JP" noProof="1"/>
          </a:p>
        </p:txBody>
      </p:sp>
      <p:sp>
        <p:nvSpPr>
          <p:cNvPr id="35" name="正方形/長方形 34">
            <a:extLst>
              <a:ext uri="{FF2B5EF4-FFF2-40B4-BE49-F238E27FC236}">
                <a16:creationId xmlns:a16="http://schemas.microsoft.com/office/drawing/2014/main" id="{61343C36-DD80-4A40-B644-C6A5D90368CA}"/>
              </a:ext>
            </a:extLst>
          </p:cNvPr>
          <p:cNvSpPr>
            <a:spLocks noGrp="1"/>
          </p:cNvSpPr>
          <p:nvPr/>
        </p:nvSpPr>
        <p:spPr>
          <a:xfrm>
            <a:off x="7394647" y="5244334"/>
            <a:ext cx="3040744" cy="952500"/>
          </a:xfrm>
          <a:prstGeom prst="rect">
            <a:avLst/>
          </a:prstGeom>
          <a:solidFill>
            <a:srgbClr val="FFFFFF"/>
          </a:solidFill>
          <a:ln w="19050">
            <a:solidFill>
              <a:srgbClr val="10B981"/>
            </a:solidFill>
            <a:prstDash val="solid"/>
          </a:ln>
          <a:effectLst>
            <a:outerShdw blurRad="50800" dist="38100" dir="2700000" algn="tl" rotWithShape="0">
              <a:prstClr val="black">
                <a:alpha val="40000"/>
              </a:prstClr>
            </a:outerShdw>
          </a:effectLst>
        </p:spPr>
        <p:txBody>
          <a:bodyPr/>
          <a:lstStyle/>
          <a:p>
            <a:endParaRPr lang="ja-JP" noProof="1"/>
          </a:p>
        </p:txBody>
      </p:sp>
      <p:sp>
        <p:nvSpPr>
          <p:cNvPr id="36" name="正方形/長方形 35">
            <a:extLst>
              <a:ext uri="{FF2B5EF4-FFF2-40B4-BE49-F238E27FC236}">
                <a16:creationId xmlns:a16="http://schemas.microsoft.com/office/drawing/2014/main" id="{876F2BB5-5140-4BEE-A399-C9C075340F18}"/>
              </a:ext>
            </a:extLst>
          </p:cNvPr>
          <p:cNvSpPr>
            <a:spLocks noGrp="1"/>
          </p:cNvSpPr>
          <p:nvPr/>
        </p:nvSpPr>
        <p:spPr>
          <a:xfrm>
            <a:off x="9512821" y="5644384"/>
            <a:ext cx="938750" cy="285750"/>
          </a:xfrm>
          <a:prstGeom prst="rect">
            <a:avLst/>
          </a:prstGeom>
          <a:noFill/>
          <a:ln w="0">
            <a:noFill/>
            <a:prstDash val="solid"/>
          </a:ln>
        </p:spPr>
        <p:txBody>
          <a:bodyPr lIns="0" tIns="0" rIns="0" bIns="0" anchor="t">
            <a:noAutofit/>
          </a:bodyPr>
          <a:lstStyle/>
          <a:p>
            <a:pPr algn="l">
              <a:buNone/>
              <a:defRPr sz="1725" b="1">
                <a:solidFill>
                  <a:srgbClr val="10B981"/>
                </a:solidFill>
                <a:latin typeface="Yu Gothic"/>
                <a:ea typeface="Yu Gothic"/>
                <a:cs typeface="Yu Gothic"/>
              </a:defRPr>
            </a:pPr>
            <a:r>
              <a:rPr lang="ja-JP" sz="1725" b="1" noProof="1">
                <a:solidFill>
                  <a:srgbClr val="10B981"/>
                </a:solidFill>
                <a:latin typeface="Yu Gothic"/>
                <a:ea typeface="Yu Gothic"/>
                <a:cs typeface="Yu Gothic"/>
              </a:rPr>
              <a:t>クラス C</a:t>
            </a:r>
          </a:p>
        </p:txBody>
      </p:sp>
      <p:sp>
        <p:nvSpPr>
          <p:cNvPr id="38" name="正方形/長方形 37">
            <a:extLst>
              <a:ext uri="{FF2B5EF4-FFF2-40B4-BE49-F238E27FC236}">
                <a16:creationId xmlns:a16="http://schemas.microsoft.com/office/drawing/2014/main" id="{8E6D069A-8B08-4A7F-B5BB-0EDCE823FEBD}"/>
              </a:ext>
            </a:extLst>
          </p:cNvPr>
          <p:cNvSpPr>
            <a:spLocks noGrp="1"/>
          </p:cNvSpPr>
          <p:nvPr/>
        </p:nvSpPr>
        <p:spPr>
          <a:xfrm>
            <a:off x="8979233" y="5488270"/>
            <a:ext cx="528369" cy="123825"/>
          </a:xfrm>
          <a:prstGeom prst="rect">
            <a:avLst/>
          </a:prstGeom>
          <a:solidFill>
            <a:srgbClr val="10B981"/>
          </a:solidFill>
          <a:ln w="0">
            <a:solidFill>
              <a:srgbClr val="10B981"/>
            </a:solidFill>
            <a:prstDash val="solid"/>
          </a:ln>
        </p:spPr>
        <p:txBody>
          <a:bodyPr/>
          <a:lstStyle/>
          <a:p>
            <a:endParaRPr lang="ja-JP" noProof="1"/>
          </a:p>
        </p:txBody>
      </p:sp>
      <p:sp>
        <p:nvSpPr>
          <p:cNvPr id="39" name="正方形/長方形 38">
            <a:extLst>
              <a:ext uri="{FF2B5EF4-FFF2-40B4-BE49-F238E27FC236}">
                <a16:creationId xmlns:a16="http://schemas.microsoft.com/office/drawing/2014/main" id="{4C76D4E7-6335-44B6-B375-06A055E1D4DD}"/>
              </a:ext>
            </a:extLst>
          </p:cNvPr>
          <p:cNvSpPr>
            <a:spLocks noGrp="1"/>
          </p:cNvSpPr>
          <p:nvPr/>
        </p:nvSpPr>
        <p:spPr>
          <a:xfrm>
            <a:off x="8562551" y="5707345"/>
            <a:ext cx="411480" cy="123825"/>
          </a:xfrm>
          <a:prstGeom prst="rect">
            <a:avLst/>
          </a:prstGeom>
          <a:solidFill>
            <a:srgbClr val="10B981"/>
          </a:solidFill>
          <a:ln w="0">
            <a:solidFill>
              <a:srgbClr val="10B981"/>
            </a:solidFill>
            <a:prstDash val="solid"/>
          </a:ln>
        </p:spPr>
        <p:txBody>
          <a:bodyPr/>
          <a:lstStyle/>
          <a:p>
            <a:endParaRPr lang="ja-JP" noProof="1"/>
          </a:p>
        </p:txBody>
      </p:sp>
      <p:sp>
        <p:nvSpPr>
          <p:cNvPr id="40" name="正方形/長方形 39">
            <a:extLst>
              <a:ext uri="{FF2B5EF4-FFF2-40B4-BE49-F238E27FC236}">
                <a16:creationId xmlns:a16="http://schemas.microsoft.com/office/drawing/2014/main" id="{AD140A8D-F1CB-49DA-94F1-6C5BE4CF732C}"/>
              </a:ext>
            </a:extLst>
          </p:cNvPr>
          <p:cNvSpPr>
            <a:spLocks noGrp="1"/>
          </p:cNvSpPr>
          <p:nvPr/>
        </p:nvSpPr>
        <p:spPr>
          <a:xfrm>
            <a:off x="8828905" y="5926420"/>
            <a:ext cx="144280" cy="123825"/>
          </a:xfrm>
          <a:prstGeom prst="rect">
            <a:avLst/>
          </a:prstGeom>
          <a:solidFill>
            <a:srgbClr val="10B981"/>
          </a:solidFill>
          <a:ln w="0">
            <a:solidFill>
              <a:srgbClr val="10B981"/>
            </a:solidFill>
            <a:prstDash val="solid"/>
          </a:ln>
        </p:spPr>
        <p:txBody>
          <a:bodyPr/>
          <a:lstStyle/>
          <a:p>
            <a:endParaRPr lang="ja-JP" noProof="1"/>
          </a:p>
        </p:txBody>
      </p:sp>
      <p:pic>
        <p:nvPicPr>
          <p:cNvPr id="45" name="図 44">
            <a:extLst>
              <a:ext uri="{FF2B5EF4-FFF2-40B4-BE49-F238E27FC236}">
                <a16:creationId xmlns:a16="http://schemas.microsoft.com/office/drawing/2014/main" id="{89C8D7B5-056A-5DE8-D7B3-B11C5B958B7D}"/>
              </a:ext>
            </a:extLst>
          </p:cNvPr>
          <p:cNvPicPr>
            <a:picLocks noChangeAspect="1"/>
          </p:cNvPicPr>
          <p:nvPr/>
        </p:nvPicPr>
        <p:blipFill>
          <a:blip r:embed="rId3"/>
          <a:stretch>
            <a:fillRect/>
          </a:stretch>
        </p:blipFill>
        <p:spPr>
          <a:xfrm>
            <a:off x="514350" y="2412932"/>
            <a:ext cx="3242463" cy="2981325"/>
          </a:xfrm>
          <a:prstGeom prst="rect">
            <a:avLst/>
          </a:prstGeom>
        </p:spPr>
      </p:pic>
      <p:pic>
        <p:nvPicPr>
          <p:cNvPr id="46" name="図 45">
            <a:extLst>
              <a:ext uri="{FF2B5EF4-FFF2-40B4-BE49-F238E27FC236}">
                <a16:creationId xmlns:a16="http://schemas.microsoft.com/office/drawing/2014/main" id="{64F84279-C8A5-B6FC-4890-3B30B9B7B7A0}"/>
              </a:ext>
            </a:extLst>
          </p:cNvPr>
          <p:cNvPicPr>
            <a:picLocks noChangeAspect="1"/>
          </p:cNvPicPr>
          <p:nvPr/>
        </p:nvPicPr>
        <p:blipFill>
          <a:blip r:embed="rId4"/>
          <a:stretch>
            <a:fillRect/>
          </a:stretch>
        </p:blipFill>
        <p:spPr>
          <a:xfrm>
            <a:off x="4447912" y="1608674"/>
            <a:ext cx="1734076" cy="1594419"/>
          </a:xfrm>
          <a:prstGeom prst="rect">
            <a:avLst/>
          </a:prstGeom>
        </p:spPr>
      </p:pic>
      <p:pic>
        <p:nvPicPr>
          <p:cNvPr id="48" name="図 47">
            <a:extLst>
              <a:ext uri="{FF2B5EF4-FFF2-40B4-BE49-F238E27FC236}">
                <a16:creationId xmlns:a16="http://schemas.microsoft.com/office/drawing/2014/main" id="{321F6AE2-C348-240A-98E1-BDB3A576066D}"/>
              </a:ext>
            </a:extLst>
          </p:cNvPr>
          <p:cNvPicPr>
            <a:picLocks noChangeAspect="1"/>
          </p:cNvPicPr>
          <p:nvPr/>
        </p:nvPicPr>
        <p:blipFill>
          <a:blip r:embed="rId5"/>
          <a:stretch>
            <a:fillRect/>
          </a:stretch>
        </p:blipFill>
        <p:spPr>
          <a:xfrm>
            <a:off x="4438124" y="4986438"/>
            <a:ext cx="1741930" cy="1601641"/>
          </a:xfrm>
          <a:prstGeom prst="rect">
            <a:avLst/>
          </a:prstGeom>
        </p:spPr>
      </p:pic>
      <p:pic>
        <p:nvPicPr>
          <p:cNvPr id="49" name="図 48">
            <a:extLst>
              <a:ext uri="{FF2B5EF4-FFF2-40B4-BE49-F238E27FC236}">
                <a16:creationId xmlns:a16="http://schemas.microsoft.com/office/drawing/2014/main" id="{C341F2FF-F360-1C4E-A8DE-FE5D71C7E44B}"/>
              </a:ext>
            </a:extLst>
          </p:cNvPr>
          <p:cNvPicPr>
            <a:picLocks noChangeAspect="1"/>
          </p:cNvPicPr>
          <p:nvPr/>
        </p:nvPicPr>
        <p:blipFill>
          <a:blip r:embed="rId6"/>
          <a:stretch>
            <a:fillRect/>
          </a:stretch>
        </p:blipFill>
        <p:spPr>
          <a:xfrm>
            <a:off x="4438124" y="3238601"/>
            <a:ext cx="1741930" cy="1601640"/>
          </a:xfrm>
          <a:prstGeom prst="rect">
            <a:avLst/>
          </a:prstGeom>
        </p:spPr>
      </p:pic>
      <p:sp>
        <p:nvSpPr>
          <p:cNvPr id="4" name="テキスト ボックス 3">
            <a:extLst>
              <a:ext uri="{FF2B5EF4-FFF2-40B4-BE49-F238E27FC236}">
                <a16:creationId xmlns:a16="http://schemas.microsoft.com/office/drawing/2014/main" id="{25639526-A04E-C596-E59B-63B202AE2899}"/>
              </a:ext>
            </a:extLst>
          </p:cNvPr>
          <p:cNvSpPr txBox="1"/>
          <p:nvPr/>
        </p:nvSpPr>
        <p:spPr>
          <a:xfrm>
            <a:off x="7486998" y="2039360"/>
            <a:ext cx="1010213" cy="646331"/>
          </a:xfrm>
          <a:prstGeom prst="rect">
            <a:avLst/>
          </a:prstGeom>
          <a:noFill/>
        </p:spPr>
        <p:txBody>
          <a:bodyPr wrap="none" rtlCol="0">
            <a:spAutoFit/>
          </a:bodyPr>
          <a:lstStyle/>
          <a:p>
            <a:pPr algn="ctr"/>
            <a:r>
              <a:rPr kumimoji="1" lang="ja-JP" altLang="en-US"/>
              <a:t>クラス</a:t>
            </a:r>
            <a:r>
              <a:rPr kumimoji="1" lang="en-US" altLang="ja-JP" dirty="0"/>
              <a:t>A</a:t>
            </a:r>
          </a:p>
          <a:p>
            <a:pPr algn="ctr"/>
            <a:r>
              <a:rPr kumimoji="1" lang="ja-JP" altLang="en-US"/>
              <a:t>以外</a:t>
            </a:r>
          </a:p>
        </p:txBody>
      </p:sp>
      <p:sp>
        <p:nvSpPr>
          <p:cNvPr id="5" name="テキスト ボックス 4">
            <a:extLst>
              <a:ext uri="{FF2B5EF4-FFF2-40B4-BE49-F238E27FC236}">
                <a16:creationId xmlns:a16="http://schemas.microsoft.com/office/drawing/2014/main" id="{C28DC61E-BAB7-A3D5-61CD-ECE6C061CE8B}"/>
              </a:ext>
            </a:extLst>
          </p:cNvPr>
          <p:cNvSpPr txBox="1"/>
          <p:nvPr/>
        </p:nvSpPr>
        <p:spPr>
          <a:xfrm>
            <a:off x="7538243" y="3736363"/>
            <a:ext cx="1010213" cy="646331"/>
          </a:xfrm>
          <a:prstGeom prst="rect">
            <a:avLst/>
          </a:prstGeom>
          <a:noFill/>
        </p:spPr>
        <p:txBody>
          <a:bodyPr wrap="none" rtlCol="0">
            <a:spAutoFit/>
          </a:bodyPr>
          <a:lstStyle/>
          <a:p>
            <a:pPr algn="ctr"/>
            <a:r>
              <a:rPr kumimoji="1" lang="ja-JP" altLang="en-US"/>
              <a:t>クラス</a:t>
            </a:r>
            <a:r>
              <a:rPr kumimoji="1" lang="en-US" altLang="ja-JP" dirty="0"/>
              <a:t>B</a:t>
            </a:r>
          </a:p>
          <a:p>
            <a:pPr algn="ctr"/>
            <a:r>
              <a:rPr kumimoji="1" lang="ja-JP" altLang="en-US"/>
              <a:t>以外</a:t>
            </a:r>
          </a:p>
        </p:txBody>
      </p:sp>
      <p:sp>
        <p:nvSpPr>
          <p:cNvPr id="9" name="テキスト ボックス 8">
            <a:extLst>
              <a:ext uri="{FF2B5EF4-FFF2-40B4-BE49-F238E27FC236}">
                <a16:creationId xmlns:a16="http://schemas.microsoft.com/office/drawing/2014/main" id="{DCEA3821-29C4-F1FD-FF07-15D6DAC06393}"/>
              </a:ext>
            </a:extLst>
          </p:cNvPr>
          <p:cNvSpPr txBox="1"/>
          <p:nvPr/>
        </p:nvSpPr>
        <p:spPr>
          <a:xfrm>
            <a:off x="7518176" y="5435152"/>
            <a:ext cx="1010213" cy="646331"/>
          </a:xfrm>
          <a:prstGeom prst="rect">
            <a:avLst/>
          </a:prstGeom>
          <a:noFill/>
        </p:spPr>
        <p:txBody>
          <a:bodyPr wrap="none" rtlCol="0">
            <a:spAutoFit/>
          </a:bodyPr>
          <a:lstStyle/>
          <a:p>
            <a:pPr algn="ctr"/>
            <a:r>
              <a:rPr kumimoji="1" lang="ja-JP" altLang="en-US"/>
              <a:t>クラス</a:t>
            </a:r>
            <a:r>
              <a:rPr kumimoji="1" lang="en-US" altLang="ja-JP" dirty="0"/>
              <a:t>C</a:t>
            </a:r>
          </a:p>
          <a:p>
            <a:pPr algn="ctr"/>
            <a:r>
              <a:rPr kumimoji="1" lang="ja-JP" altLang="en-US"/>
              <a:t>以外</a:t>
            </a:r>
          </a:p>
        </p:txBody>
      </p:sp>
      <p:cxnSp>
        <p:nvCxnSpPr>
          <p:cNvPr id="10" name="直線コネクタ 9">
            <a:extLst>
              <a:ext uri="{FF2B5EF4-FFF2-40B4-BE49-F238E27FC236}">
                <a16:creationId xmlns:a16="http://schemas.microsoft.com/office/drawing/2014/main" id="{333AC013-BAEF-EF21-AA0C-AA6210D9E123}"/>
              </a:ext>
            </a:extLst>
          </p:cNvPr>
          <p:cNvCxnSpPr>
            <a:cxnSpLocks/>
            <a:endCxn id="28" idx="3"/>
          </p:cNvCxnSpPr>
          <p:nvPr/>
        </p:nvCxnSpPr>
        <p:spPr>
          <a:xfrm>
            <a:off x="8916035" y="2144831"/>
            <a:ext cx="0" cy="462127"/>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CDC1368C-45B7-5D8B-1314-21295CDBB8B6}"/>
              </a:ext>
            </a:extLst>
          </p:cNvPr>
          <p:cNvCxnSpPr>
            <a:cxnSpLocks/>
          </p:cNvCxnSpPr>
          <p:nvPr/>
        </p:nvCxnSpPr>
        <p:spPr>
          <a:xfrm>
            <a:off x="8970237" y="3818701"/>
            <a:ext cx="0" cy="462127"/>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109C593D-5ADF-44A2-0608-CFEC6C3B42BD}"/>
              </a:ext>
            </a:extLst>
          </p:cNvPr>
          <p:cNvCxnSpPr>
            <a:cxnSpLocks/>
          </p:cNvCxnSpPr>
          <p:nvPr/>
        </p:nvCxnSpPr>
        <p:spPr>
          <a:xfrm>
            <a:off x="8980321" y="5546695"/>
            <a:ext cx="0" cy="462127"/>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ADEB4C1F-B0AB-687C-002D-6A4B90E22F23}"/>
              </a:ext>
            </a:extLst>
          </p:cNvPr>
          <p:cNvSpPr txBox="1"/>
          <p:nvPr/>
        </p:nvSpPr>
        <p:spPr>
          <a:xfrm>
            <a:off x="0" y="6487566"/>
            <a:ext cx="6686446" cy="415498"/>
          </a:xfrm>
          <a:prstGeom prst="rect">
            <a:avLst/>
          </a:prstGeom>
          <a:noFill/>
        </p:spPr>
        <p:txBody>
          <a:bodyPr wrap="none" rtlCol="0">
            <a:spAutoFit/>
          </a:bodyPr>
          <a:lstStyle/>
          <a:p>
            <a:r>
              <a:rPr lang="en-US" altLang="ja-JP" sz="1050" dirty="0"/>
              <a:t>[1]</a:t>
            </a:r>
            <a:r>
              <a:rPr lang="ja-JP" altLang="ja-JP" sz="1050"/>
              <a:t>Ribeiro, M. T., Singh, S., &amp; Guestrin, C. (2016). "Why should I trust you?": Explaining the predictions of any classifier. </a:t>
            </a:r>
            <a:br>
              <a:rPr lang="en-US" altLang="ja-JP" sz="1050" dirty="0"/>
            </a:br>
            <a:r>
              <a:rPr lang="ja-JP" altLang="ja-JP" sz="1050" i="1"/>
              <a:t>Proceedings of the 22nd ACM SIGKDD international conference on knowledge discovery and data mining</a:t>
            </a:r>
            <a:r>
              <a:rPr lang="ja-JP" altLang="ja-JP" sz="1050"/>
              <a:t>, 1135-1144.</a:t>
            </a:r>
            <a:endParaRPr kumimoji="1" lang="ja-JP" altLang="en-US" sz="1050"/>
          </a:p>
        </p:txBody>
      </p:sp>
    </p:spTree>
    <p:extLst>
      <p:ext uri="{BB962C8B-B14F-4D97-AF65-F5344CB8AC3E}">
        <p14:creationId xmlns:p14="http://schemas.microsoft.com/office/powerpoint/2010/main" val="709646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CFD"/>
        </a:solidFill>
        <a:effectLst/>
      </p:bgPr>
    </p:bg>
    <p:spTree>
      <p:nvGrpSpPr>
        <p:cNvPr id="1" name=""/>
        <p:cNvGrpSpPr/>
        <p:nvPr/>
      </p:nvGrpSpPr>
      <p:grpSpPr>
        <a:xfrm>
          <a:off x="0" y="0"/>
          <a:ext cx="0" cy="0"/>
          <a:chOff x="0" y="0"/>
          <a:chExt cx="0" cy="0"/>
        </a:xfrm>
      </p:grpSpPr>
      <p:sp>
        <p:nvSpPr>
          <p:cNvPr id="22" name="角丸四角形 21">
            <a:extLst>
              <a:ext uri="{FF2B5EF4-FFF2-40B4-BE49-F238E27FC236}">
                <a16:creationId xmlns:a16="http://schemas.microsoft.com/office/drawing/2014/main" id="{E3494949-914F-870F-0A2E-B31C62B6B2BF}"/>
              </a:ext>
            </a:extLst>
          </p:cNvPr>
          <p:cNvSpPr/>
          <p:nvPr/>
        </p:nvSpPr>
        <p:spPr>
          <a:xfrm>
            <a:off x="353568" y="1991432"/>
            <a:ext cx="2408682" cy="463296"/>
          </a:xfrm>
          <a:prstGeom prst="roundRect">
            <a:avLst/>
          </a:prstGeom>
          <a:solidFill>
            <a:srgbClr val="0F9ED5">
              <a:alpha val="38431"/>
            </a:srgbClr>
          </a:solid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ja-JP" altLang="en-US"/>
          </a:p>
        </p:txBody>
      </p:sp>
      <p:sp>
        <p:nvSpPr>
          <p:cNvPr id="29" name="角丸四角形 28">
            <a:extLst>
              <a:ext uri="{FF2B5EF4-FFF2-40B4-BE49-F238E27FC236}">
                <a16:creationId xmlns:a16="http://schemas.microsoft.com/office/drawing/2014/main" id="{A1518D49-782F-E320-1D1F-6BD44EB09677}"/>
              </a:ext>
            </a:extLst>
          </p:cNvPr>
          <p:cNvSpPr/>
          <p:nvPr/>
        </p:nvSpPr>
        <p:spPr>
          <a:xfrm>
            <a:off x="3067392" y="3585172"/>
            <a:ext cx="2408682" cy="463296"/>
          </a:xfrm>
          <a:prstGeom prst="roundRect">
            <a:avLst/>
          </a:prstGeom>
          <a:solidFill>
            <a:srgbClr val="0F9ED5">
              <a:alpha val="38431"/>
            </a:srgbClr>
          </a:solid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ja-JP" altLang="en-US"/>
          </a:p>
        </p:txBody>
      </p:sp>
      <p:sp>
        <p:nvSpPr>
          <p:cNvPr id="34" name="正方形/長方形 33">
            <a:extLst>
              <a:ext uri="{FF2B5EF4-FFF2-40B4-BE49-F238E27FC236}">
                <a16:creationId xmlns:a16="http://schemas.microsoft.com/office/drawing/2014/main" id="{F1AA4A81-65D9-4460-9C50-8B2A4FA09904}"/>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2" name="slide-7-title">
            <a:extLst>
              <a:ext uri="{FF2B5EF4-FFF2-40B4-BE49-F238E27FC236}">
                <a16:creationId xmlns:a16="http://schemas.microsoft.com/office/drawing/2014/main" id="{EE8FC56C-8321-46EA-BF49-FD7A05980B28}"/>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2233A"/>
                </a:solidFill>
                <a:latin typeface="Yu Gothic"/>
                <a:ea typeface="Yu Gothic"/>
                <a:cs typeface="Yu Gothic"/>
              </a:defRPr>
            </a:pPr>
            <a:r>
              <a:rPr lang="ja-JP" sz="2850" b="1" noProof="1">
                <a:solidFill>
                  <a:srgbClr val="12233A"/>
                </a:solidFill>
                <a:latin typeface="Yu Gothic"/>
                <a:ea typeface="Yu Gothic"/>
                <a:cs typeface="Yu Gothic"/>
              </a:rPr>
              <a:t>クラス別説明を並べるだけでは、全体像を読み取りにくい</a:t>
            </a:r>
          </a:p>
        </p:txBody>
      </p:sp>
      <p:sp>
        <p:nvSpPr>
          <p:cNvPr id="5" name="正方形/長方形 4">
            <a:extLst>
              <a:ext uri="{FF2B5EF4-FFF2-40B4-BE49-F238E27FC236}">
                <a16:creationId xmlns:a16="http://schemas.microsoft.com/office/drawing/2014/main" id="{FC56ABC9-862C-4B19-95D1-AB0DB3DD6C8D}"/>
              </a:ext>
            </a:extLst>
          </p:cNvPr>
          <p:cNvSpPr>
            <a:spLocks noGrp="1"/>
          </p:cNvSpPr>
          <p:nvPr/>
        </p:nvSpPr>
        <p:spPr>
          <a:xfrm>
            <a:off x="523875" y="1410022"/>
            <a:ext cx="2238375" cy="323850"/>
          </a:xfrm>
          <a:prstGeom prst="rect">
            <a:avLst/>
          </a:prstGeom>
          <a:noFill/>
          <a:ln w="0">
            <a:noFill/>
            <a:prstDash val="solid"/>
          </a:ln>
        </p:spPr>
        <p:txBody>
          <a:bodyPr lIns="0" tIns="0" rIns="0" bIns="0" anchor="t">
            <a:noAutofit/>
          </a:bodyPr>
          <a:lstStyle/>
          <a:p>
            <a:pPr algn="l">
              <a:buNone/>
              <a:defRPr sz="1875" b="1">
                <a:solidFill>
                  <a:srgbClr val="2563EB"/>
                </a:solidFill>
                <a:latin typeface="Yu Gothic"/>
                <a:ea typeface="Yu Gothic"/>
                <a:cs typeface="Yu Gothic"/>
              </a:defRPr>
            </a:pPr>
            <a:r>
              <a:rPr lang="ja-JP" sz="1875" b="1" noProof="1">
                <a:solidFill>
                  <a:srgbClr val="2563EB"/>
                </a:solidFill>
                <a:latin typeface="Yu Gothic"/>
                <a:ea typeface="Yu Gothic"/>
                <a:cs typeface="Yu Gothic"/>
              </a:rPr>
              <a:t>クラス A</a:t>
            </a:r>
          </a:p>
        </p:txBody>
      </p:sp>
      <p:cxnSp>
        <p:nvCxnSpPr>
          <p:cNvPr id="97" name="直線矢印コネクタ 38"/>
          <p:cNvCxnSpPr/>
          <p:nvPr/>
        </p:nvCxnSpPr>
        <p:spPr>
          <a:xfrm>
            <a:off x="523875" y="1819597"/>
            <a:ext cx="2190750" cy="0"/>
          </a:xfrm>
          <a:prstGeom prst="straightConnector1">
            <a:avLst/>
          </a:prstGeom>
          <a:ln w="9525">
            <a:solidFill>
              <a:srgbClr val="CBD5E1"/>
            </a:solidFill>
            <a:prstDash val="solid"/>
          </a:ln>
        </p:spPr>
      </p:cxnSp>
      <p:sp>
        <p:nvSpPr>
          <p:cNvPr id="7" name="正方形/長方形 6">
            <a:extLst>
              <a:ext uri="{FF2B5EF4-FFF2-40B4-BE49-F238E27FC236}">
                <a16:creationId xmlns:a16="http://schemas.microsoft.com/office/drawing/2014/main" id="{ED5842F6-5493-49D7-941C-5E46F4D892A7}"/>
              </a:ext>
            </a:extLst>
          </p:cNvPr>
          <p:cNvSpPr>
            <a:spLocks noGrp="1"/>
          </p:cNvSpPr>
          <p:nvPr/>
        </p:nvSpPr>
        <p:spPr>
          <a:xfrm>
            <a:off x="523875" y="2124397"/>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lang="ja-JP" sz="1350" b="1" noProof="1">
                <a:solidFill>
                  <a:srgbClr val="111827"/>
                </a:solidFill>
                <a:latin typeface="Yu Gothic"/>
                <a:ea typeface="Yu Gothic"/>
                <a:cs typeface="Yu Gothic"/>
              </a:rPr>
              <a:t>特徴1</a:t>
            </a:r>
          </a:p>
        </p:txBody>
      </p:sp>
      <p:sp>
        <p:nvSpPr>
          <p:cNvPr id="8" name="正方形/長方形 7">
            <a:extLst>
              <a:ext uri="{FF2B5EF4-FFF2-40B4-BE49-F238E27FC236}">
                <a16:creationId xmlns:a16="http://schemas.microsoft.com/office/drawing/2014/main" id="{F97AF587-3C0A-4485-B6F9-3B77943077DA}"/>
              </a:ext>
            </a:extLst>
          </p:cNvPr>
          <p:cNvSpPr>
            <a:spLocks noGrp="1"/>
          </p:cNvSpPr>
          <p:nvPr/>
        </p:nvSpPr>
        <p:spPr>
          <a:xfrm>
            <a:off x="2052636" y="2143447"/>
            <a:ext cx="619115" cy="180975"/>
          </a:xfrm>
          <a:prstGeom prst="rect">
            <a:avLst/>
          </a:prstGeom>
          <a:solidFill>
            <a:srgbClr val="2563EB"/>
          </a:solidFill>
          <a:ln w="0">
            <a:solidFill>
              <a:srgbClr val="2563EB"/>
            </a:solidFill>
            <a:prstDash val="solid"/>
          </a:ln>
        </p:spPr>
        <p:txBody>
          <a:bodyPr anchor="ctr" anchorCtr="1"/>
          <a:lstStyle/>
          <a:p>
            <a:r>
              <a:rPr lang="en-US" altLang="ja-JP" sz="1400" noProof="1">
                <a:solidFill>
                  <a:schemeClr val="bg1"/>
                </a:solidFill>
              </a:rPr>
              <a:t>+0.4</a:t>
            </a:r>
            <a:endParaRPr lang="ja-JP" sz="1400" noProof="1">
              <a:solidFill>
                <a:schemeClr val="bg1"/>
              </a:solidFill>
            </a:endParaRPr>
          </a:p>
        </p:txBody>
      </p:sp>
      <p:sp>
        <p:nvSpPr>
          <p:cNvPr id="9" name="正方形/長方形 8">
            <a:extLst>
              <a:ext uri="{FF2B5EF4-FFF2-40B4-BE49-F238E27FC236}">
                <a16:creationId xmlns:a16="http://schemas.microsoft.com/office/drawing/2014/main" id="{D810D807-BBBD-475D-B2D6-CE31F15E5E50}"/>
              </a:ext>
            </a:extLst>
          </p:cNvPr>
          <p:cNvSpPr>
            <a:spLocks noGrp="1"/>
          </p:cNvSpPr>
          <p:nvPr/>
        </p:nvSpPr>
        <p:spPr>
          <a:xfrm>
            <a:off x="523875" y="2934022"/>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lang="ja-JP" sz="1350" b="1" noProof="1">
                <a:solidFill>
                  <a:srgbClr val="111827"/>
                </a:solidFill>
                <a:latin typeface="Yu Gothic"/>
                <a:ea typeface="Yu Gothic"/>
                <a:cs typeface="Yu Gothic"/>
              </a:rPr>
              <a:t>特徴2</a:t>
            </a:r>
          </a:p>
        </p:txBody>
      </p:sp>
      <p:sp>
        <p:nvSpPr>
          <p:cNvPr id="10" name="正方形/長方形 9">
            <a:extLst>
              <a:ext uri="{FF2B5EF4-FFF2-40B4-BE49-F238E27FC236}">
                <a16:creationId xmlns:a16="http://schemas.microsoft.com/office/drawing/2014/main" id="{7CB2A021-E301-40E1-932C-F2A563C6F7F3}"/>
              </a:ext>
            </a:extLst>
          </p:cNvPr>
          <p:cNvSpPr>
            <a:spLocks noGrp="1"/>
          </p:cNvSpPr>
          <p:nvPr/>
        </p:nvSpPr>
        <p:spPr>
          <a:xfrm>
            <a:off x="1381126" y="2953072"/>
            <a:ext cx="671512" cy="180975"/>
          </a:xfrm>
          <a:prstGeom prst="rect">
            <a:avLst/>
          </a:prstGeom>
          <a:solidFill>
            <a:srgbClr val="2563EB"/>
          </a:solidFill>
          <a:ln w="0">
            <a:solidFill>
              <a:srgbClr val="2563EB"/>
            </a:solidFill>
            <a:prstDash val="solid"/>
          </a:ln>
        </p:spPr>
        <p:txBody>
          <a:bodyPr anchor="ctr" anchorCtr="1"/>
          <a:lstStyle/>
          <a:p>
            <a:r>
              <a:rPr lang="en-US" altLang="ja-JP" sz="1400" noProof="1">
                <a:solidFill>
                  <a:schemeClr val="bg1"/>
                </a:solidFill>
              </a:rPr>
              <a:t>-0.6</a:t>
            </a:r>
            <a:endParaRPr lang="ja-JP" sz="1400" noProof="1">
              <a:solidFill>
                <a:schemeClr val="bg1"/>
              </a:solidFill>
            </a:endParaRPr>
          </a:p>
        </p:txBody>
      </p:sp>
      <p:sp>
        <p:nvSpPr>
          <p:cNvPr id="11" name="正方形/長方形 10">
            <a:extLst>
              <a:ext uri="{FF2B5EF4-FFF2-40B4-BE49-F238E27FC236}">
                <a16:creationId xmlns:a16="http://schemas.microsoft.com/office/drawing/2014/main" id="{84B6F764-0125-4677-B9FA-03472D8464F6}"/>
              </a:ext>
            </a:extLst>
          </p:cNvPr>
          <p:cNvSpPr>
            <a:spLocks noGrp="1"/>
          </p:cNvSpPr>
          <p:nvPr/>
        </p:nvSpPr>
        <p:spPr>
          <a:xfrm>
            <a:off x="523875" y="3743647"/>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lang="ja-JP" sz="1350" b="1" noProof="1">
                <a:solidFill>
                  <a:srgbClr val="111827"/>
                </a:solidFill>
                <a:latin typeface="Yu Gothic"/>
                <a:ea typeface="Yu Gothic"/>
                <a:cs typeface="Yu Gothic"/>
              </a:rPr>
              <a:t>特徴5</a:t>
            </a:r>
          </a:p>
        </p:txBody>
      </p:sp>
      <p:sp>
        <p:nvSpPr>
          <p:cNvPr id="12" name="正方形/長方形 11">
            <a:extLst>
              <a:ext uri="{FF2B5EF4-FFF2-40B4-BE49-F238E27FC236}">
                <a16:creationId xmlns:a16="http://schemas.microsoft.com/office/drawing/2014/main" id="{57EC35DB-808D-42CC-B235-AD0C023ABEA4}"/>
              </a:ext>
            </a:extLst>
          </p:cNvPr>
          <p:cNvSpPr>
            <a:spLocks noGrp="1"/>
          </p:cNvSpPr>
          <p:nvPr/>
        </p:nvSpPr>
        <p:spPr>
          <a:xfrm>
            <a:off x="2052637" y="3762697"/>
            <a:ext cx="537703" cy="180975"/>
          </a:xfrm>
          <a:prstGeom prst="rect">
            <a:avLst/>
          </a:prstGeom>
          <a:solidFill>
            <a:srgbClr val="2563EB"/>
          </a:solidFill>
          <a:ln w="0">
            <a:solidFill>
              <a:srgbClr val="2563EB"/>
            </a:solidFill>
            <a:prstDash val="solid"/>
          </a:ln>
        </p:spPr>
        <p:txBody>
          <a:bodyPr anchor="ctr" anchorCtr="1"/>
          <a:lstStyle/>
          <a:p>
            <a:r>
              <a:rPr lang="en-US" altLang="ja-JP" sz="1400" noProof="1">
                <a:solidFill>
                  <a:schemeClr val="bg1"/>
                </a:solidFill>
              </a:rPr>
              <a:t>+0.3</a:t>
            </a:r>
            <a:endParaRPr lang="ja-JP" sz="1400" noProof="1">
              <a:solidFill>
                <a:schemeClr val="bg1"/>
              </a:solidFill>
            </a:endParaRPr>
          </a:p>
        </p:txBody>
      </p:sp>
      <p:sp>
        <p:nvSpPr>
          <p:cNvPr id="13" name="正方形/長方形 12">
            <a:extLst>
              <a:ext uri="{FF2B5EF4-FFF2-40B4-BE49-F238E27FC236}">
                <a16:creationId xmlns:a16="http://schemas.microsoft.com/office/drawing/2014/main" id="{963193BD-CCD1-4C01-AFAC-6D24CB059705}"/>
              </a:ext>
            </a:extLst>
          </p:cNvPr>
          <p:cNvSpPr>
            <a:spLocks noGrp="1"/>
          </p:cNvSpPr>
          <p:nvPr/>
        </p:nvSpPr>
        <p:spPr>
          <a:xfrm>
            <a:off x="3238500" y="1410022"/>
            <a:ext cx="2238375" cy="323850"/>
          </a:xfrm>
          <a:prstGeom prst="rect">
            <a:avLst/>
          </a:prstGeom>
          <a:noFill/>
          <a:ln w="0">
            <a:noFill/>
            <a:prstDash val="solid"/>
          </a:ln>
        </p:spPr>
        <p:txBody>
          <a:bodyPr lIns="0" tIns="0" rIns="0" bIns="0" anchor="t">
            <a:noAutofit/>
          </a:bodyPr>
          <a:lstStyle/>
          <a:p>
            <a:pPr algn="l">
              <a:buNone/>
              <a:defRPr sz="1875" b="1">
                <a:solidFill>
                  <a:srgbClr val="F59E0B"/>
                </a:solidFill>
                <a:latin typeface="Yu Gothic"/>
                <a:ea typeface="Yu Gothic"/>
                <a:cs typeface="Yu Gothic"/>
              </a:defRPr>
            </a:pPr>
            <a:r>
              <a:rPr lang="ja-JP" sz="1875" b="1" noProof="1">
                <a:solidFill>
                  <a:srgbClr val="FF0000"/>
                </a:solidFill>
                <a:latin typeface="Yu Gothic"/>
                <a:ea typeface="Yu Gothic"/>
                <a:cs typeface="Yu Gothic"/>
              </a:rPr>
              <a:t>クラス B</a:t>
            </a:r>
          </a:p>
        </p:txBody>
      </p:sp>
      <p:cxnSp>
        <p:nvCxnSpPr>
          <p:cNvPr id="105" name="直線矢印コネクタ 46"/>
          <p:cNvCxnSpPr/>
          <p:nvPr/>
        </p:nvCxnSpPr>
        <p:spPr>
          <a:xfrm>
            <a:off x="3238500" y="1819597"/>
            <a:ext cx="2190750" cy="0"/>
          </a:xfrm>
          <a:prstGeom prst="straightConnector1">
            <a:avLst/>
          </a:prstGeom>
          <a:ln w="9525">
            <a:solidFill>
              <a:srgbClr val="CBD5E1"/>
            </a:solidFill>
            <a:prstDash val="solid"/>
          </a:ln>
        </p:spPr>
      </p:cxnSp>
      <p:sp>
        <p:nvSpPr>
          <p:cNvPr id="15" name="正方形/長方形 14">
            <a:extLst>
              <a:ext uri="{FF2B5EF4-FFF2-40B4-BE49-F238E27FC236}">
                <a16:creationId xmlns:a16="http://schemas.microsoft.com/office/drawing/2014/main" id="{B653A798-C88C-4C36-97B5-105BC4AE163B}"/>
              </a:ext>
            </a:extLst>
          </p:cNvPr>
          <p:cNvSpPr>
            <a:spLocks noGrp="1"/>
          </p:cNvSpPr>
          <p:nvPr/>
        </p:nvSpPr>
        <p:spPr>
          <a:xfrm>
            <a:off x="3238500" y="2124397"/>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lang="ja-JP" sz="1350" b="1" noProof="1">
                <a:solidFill>
                  <a:srgbClr val="111827"/>
                </a:solidFill>
                <a:latin typeface="Yu Gothic"/>
                <a:ea typeface="Yu Gothic"/>
                <a:cs typeface="Yu Gothic"/>
              </a:rPr>
              <a:t>特徴2</a:t>
            </a:r>
          </a:p>
        </p:txBody>
      </p:sp>
      <p:sp>
        <p:nvSpPr>
          <p:cNvPr id="16" name="正方形/長方形 15">
            <a:extLst>
              <a:ext uri="{FF2B5EF4-FFF2-40B4-BE49-F238E27FC236}">
                <a16:creationId xmlns:a16="http://schemas.microsoft.com/office/drawing/2014/main" id="{E3410C17-715A-4214-8732-67432B3875B8}"/>
              </a:ext>
            </a:extLst>
          </p:cNvPr>
          <p:cNvSpPr>
            <a:spLocks noGrp="1"/>
          </p:cNvSpPr>
          <p:nvPr/>
        </p:nvSpPr>
        <p:spPr>
          <a:xfrm>
            <a:off x="4773930" y="2143447"/>
            <a:ext cx="512142" cy="180975"/>
          </a:xfrm>
          <a:prstGeom prst="rect">
            <a:avLst/>
          </a:prstGeom>
          <a:solidFill>
            <a:srgbClr val="FF0000"/>
          </a:solidFill>
          <a:ln w="0">
            <a:solidFill>
              <a:srgbClr val="FF0000"/>
            </a:solidFill>
            <a:prstDash val="solid"/>
          </a:ln>
        </p:spPr>
        <p:txBody>
          <a:bodyPr anchor="ctr" anchorCtr="1"/>
          <a:lstStyle/>
          <a:p>
            <a:r>
              <a:rPr lang="en-US" altLang="ja-JP" sz="1400" noProof="1">
                <a:solidFill>
                  <a:schemeClr val="bg1"/>
                </a:solidFill>
              </a:rPr>
              <a:t>+0.3</a:t>
            </a:r>
            <a:endParaRPr lang="ja-JP" sz="1400" noProof="1">
              <a:solidFill>
                <a:schemeClr val="bg1"/>
              </a:solidFill>
            </a:endParaRPr>
          </a:p>
        </p:txBody>
      </p:sp>
      <p:sp>
        <p:nvSpPr>
          <p:cNvPr id="17" name="正方形/長方形 16">
            <a:extLst>
              <a:ext uri="{FF2B5EF4-FFF2-40B4-BE49-F238E27FC236}">
                <a16:creationId xmlns:a16="http://schemas.microsoft.com/office/drawing/2014/main" id="{DEE74ADC-DC9D-41F5-BD0B-5D0113AC2E11}"/>
              </a:ext>
            </a:extLst>
          </p:cNvPr>
          <p:cNvSpPr>
            <a:spLocks noGrp="1"/>
          </p:cNvSpPr>
          <p:nvPr/>
        </p:nvSpPr>
        <p:spPr>
          <a:xfrm>
            <a:off x="3238500" y="2934022"/>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lang="ja-JP" sz="1350" b="1" noProof="1">
                <a:solidFill>
                  <a:srgbClr val="111827"/>
                </a:solidFill>
                <a:latin typeface="Yu Gothic"/>
                <a:ea typeface="Yu Gothic"/>
                <a:cs typeface="Yu Gothic"/>
              </a:rPr>
              <a:t>特徴4</a:t>
            </a:r>
          </a:p>
        </p:txBody>
      </p:sp>
      <p:sp>
        <p:nvSpPr>
          <p:cNvPr id="18" name="正方形/長方形 17">
            <a:extLst>
              <a:ext uri="{FF2B5EF4-FFF2-40B4-BE49-F238E27FC236}">
                <a16:creationId xmlns:a16="http://schemas.microsoft.com/office/drawing/2014/main" id="{7F6DB0B6-878A-480F-8D5F-AFD141AED6BD}"/>
              </a:ext>
            </a:extLst>
          </p:cNvPr>
          <p:cNvSpPr>
            <a:spLocks noGrp="1"/>
          </p:cNvSpPr>
          <p:nvPr/>
        </p:nvSpPr>
        <p:spPr>
          <a:xfrm>
            <a:off x="4095750" y="2953072"/>
            <a:ext cx="678180" cy="180975"/>
          </a:xfrm>
          <a:prstGeom prst="rect">
            <a:avLst/>
          </a:prstGeom>
          <a:solidFill>
            <a:srgbClr val="FF0000"/>
          </a:solidFill>
          <a:ln w="0">
            <a:solidFill>
              <a:srgbClr val="FF0000"/>
            </a:solidFill>
            <a:prstDash val="solid"/>
          </a:ln>
        </p:spPr>
        <p:txBody>
          <a:bodyPr anchor="ctr" anchorCtr="1"/>
          <a:lstStyle/>
          <a:p>
            <a:r>
              <a:rPr lang="en-US" altLang="ja-JP" sz="1400" noProof="1">
                <a:solidFill>
                  <a:schemeClr val="bg1"/>
                </a:solidFill>
              </a:rPr>
              <a:t>-0.5</a:t>
            </a:r>
            <a:endParaRPr lang="ja-JP" sz="1400" noProof="1">
              <a:solidFill>
                <a:schemeClr val="bg1"/>
              </a:solidFill>
            </a:endParaRPr>
          </a:p>
        </p:txBody>
      </p:sp>
      <p:sp>
        <p:nvSpPr>
          <p:cNvPr id="19" name="正方形/長方形 18">
            <a:extLst>
              <a:ext uri="{FF2B5EF4-FFF2-40B4-BE49-F238E27FC236}">
                <a16:creationId xmlns:a16="http://schemas.microsoft.com/office/drawing/2014/main" id="{0E8E1109-0AEF-4C79-B3CF-2C16FDFCA934}"/>
              </a:ext>
            </a:extLst>
          </p:cNvPr>
          <p:cNvSpPr>
            <a:spLocks noGrp="1"/>
          </p:cNvSpPr>
          <p:nvPr/>
        </p:nvSpPr>
        <p:spPr>
          <a:xfrm>
            <a:off x="3238500" y="3743647"/>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lang="ja-JP" sz="1350" b="1" noProof="1">
                <a:solidFill>
                  <a:srgbClr val="111827"/>
                </a:solidFill>
                <a:latin typeface="Yu Gothic"/>
                <a:ea typeface="Yu Gothic"/>
                <a:cs typeface="Yu Gothic"/>
              </a:rPr>
              <a:t>特徴1</a:t>
            </a:r>
          </a:p>
        </p:txBody>
      </p:sp>
      <p:sp>
        <p:nvSpPr>
          <p:cNvPr id="20" name="正方形/長方形 19">
            <a:extLst>
              <a:ext uri="{FF2B5EF4-FFF2-40B4-BE49-F238E27FC236}">
                <a16:creationId xmlns:a16="http://schemas.microsoft.com/office/drawing/2014/main" id="{1EC67A9D-E3B4-49EC-97EA-F71D28646910}"/>
              </a:ext>
            </a:extLst>
          </p:cNvPr>
          <p:cNvSpPr>
            <a:spLocks noGrp="1"/>
          </p:cNvSpPr>
          <p:nvPr/>
        </p:nvSpPr>
        <p:spPr>
          <a:xfrm>
            <a:off x="4095750" y="3762697"/>
            <a:ext cx="678180" cy="180975"/>
          </a:xfrm>
          <a:prstGeom prst="rect">
            <a:avLst/>
          </a:prstGeom>
          <a:solidFill>
            <a:srgbClr val="FF0000"/>
          </a:solidFill>
          <a:ln w="0">
            <a:solidFill>
              <a:srgbClr val="FF0000"/>
            </a:solidFill>
            <a:prstDash val="solid"/>
          </a:ln>
        </p:spPr>
        <p:txBody>
          <a:bodyPr anchor="ctr" anchorCtr="1"/>
          <a:lstStyle/>
          <a:p>
            <a:r>
              <a:rPr lang="en-US" altLang="ja-JP" sz="1400" noProof="1">
                <a:solidFill>
                  <a:schemeClr val="bg1"/>
                </a:solidFill>
              </a:rPr>
              <a:t>-0.5</a:t>
            </a:r>
            <a:endParaRPr lang="ja-JP" sz="1400" noProof="1">
              <a:solidFill>
                <a:schemeClr val="bg1"/>
              </a:solidFill>
            </a:endParaRPr>
          </a:p>
        </p:txBody>
      </p:sp>
      <p:sp>
        <p:nvSpPr>
          <p:cNvPr id="21" name="正方形/長方形 20">
            <a:extLst>
              <a:ext uri="{FF2B5EF4-FFF2-40B4-BE49-F238E27FC236}">
                <a16:creationId xmlns:a16="http://schemas.microsoft.com/office/drawing/2014/main" id="{E9DCC125-2D2A-4ECB-8715-5A08507D6CCB}"/>
              </a:ext>
            </a:extLst>
          </p:cNvPr>
          <p:cNvSpPr>
            <a:spLocks noGrp="1"/>
          </p:cNvSpPr>
          <p:nvPr/>
        </p:nvSpPr>
        <p:spPr>
          <a:xfrm>
            <a:off x="5953125" y="1410022"/>
            <a:ext cx="2238375" cy="323850"/>
          </a:xfrm>
          <a:prstGeom prst="rect">
            <a:avLst/>
          </a:prstGeom>
          <a:noFill/>
          <a:ln w="0">
            <a:noFill/>
            <a:prstDash val="solid"/>
          </a:ln>
        </p:spPr>
        <p:txBody>
          <a:bodyPr lIns="0" tIns="0" rIns="0" bIns="0" anchor="t">
            <a:noAutofit/>
          </a:bodyPr>
          <a:lstStyle/>
          <a:p>
            <a:pPr algn="l">
              <a:buNone/>
              <a:defRPr sz="1875" b="1">
                <a:solidFill>
                  <a:srgbClr val="10B981"/>
                </a:solidFill>
                <a:latin typeface="Yu Gothic"/>
                <a:ea typeface="Yu Gothic"/>
                <a:cs typeface="Yu Gothic"/>
              </a:defRPr>
            </a:pPr>
            <a:r>
              <a:rPr lang="ja-JP" sz="1875" b="1" noProof="1">
                <a:solidFill>
                  <a:srgbClr val="10B981"/>
                </a:solidFill>
                <a:latin typeface="Yu Gothic"/>
                <a:ea typeface="Yu Gothic"/>
                <a:cs typeface="Yu Gothic"/>
              </a:rPr>
              <a:t>クラス C</a:t>
            </a:r>
          </a:p>
        </p:txBody>
      </p:sp>
      <p:cxnSp>
        <p:nvCxnSpPr>
          <p:cNvPr id="113" name="直線矢印コネクタ 54"/>
          <p:cNvCxnSpPr/>
          <p:nvPr/>
        </p:nvCxnSpPr>
        <p:spPr>
          <a:xfrm>
            <a:off x="5953125" y="1819597"/>
            <a:ext cx="2190750" cy="0"/>
          </a:xfrm>
          <a:prstGeom prst="straightConnector1">
            <a:avLst/>
          </a:prstGeom>
          <a:ln w="9525">
            <a:solidFill>
              <a:srgbClr val="CBD5E1"/>
            </a:solidFill>
            <a:prstDash val="solid"/>
          </a:ln>
        </p:spPr>
      </p:cxnSp>
      <p:sp>
        <p:nvSpPr>
          <p:cNvPr id="23" name="正方形/長方形 22">
            <a:extLst>
              <a:ext uri="{FF2B5EF4-FFF2-40B4-BE49-F238E27FC236}">
                <a16:creationId xmlns:a16="http://schemas.microsoft.com/office/drawing/2014/main" id="{3A099ABE-CC82-4F2F-B8F4-3425531D59E5}"/>
              </a:ext>
            </a:extLst>
          </p:cNvPr>
          <p:cNvSpPr>
            <a:spLocks noGrp="1"/>
          </p:cNvSpPr>
          <p:nvPr/>
        </p:nvSpPr>
        <p:spPr>
          <a:xfrm>
            <a:off x="5953125" y="2124397"/>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lang="ja-JP" sz="1350" b="1" noProof="1">
                <a:solidFill>
                  <a:srgbClr val="111827"/>
                </a:solidFill>
                <a:latin typeface="Yu Gothic"/>
                <a:ea typeface="Yu Gothic"/>
                <a:cs typeface="Yu Gothic"/>
              </a:rPr>
              <a:t>特徴3</a:t>
            </a:r>
          </a:p>
        </p:txBody>
      </p:sp>
      <p:sp>
        <p:nvSpPr>
          <p:cNvPr id="24" name="正方形/長方形 23">
            <a:extLst>
              <a:ext uri="{FF2B5EF4-FFF2-40B4-BE49-F238E27FC236}">
                <a16:creationId xmlns:a16="http://schemas.microsoft.com/office/drawing/2014/main" id="{F412E6F8-0E49-4E21-A372-2DC40E5788FF}"/>
              </a:ext>
            </a:extLst>
          </p:cNvPr>
          <p:cNvSpPr>
            <a:spLocks noGrp="1"/>
          </p:cNvSpPr>
          <p:nvPr/>
        </p:nvSpPr>
        <p:spPr>
          <a:xfrm>
            <a:off x="6810375" y="2143447"/>
            <a:ext cx="714669" cy="180975"/>
          </a:xfrm>
          <a:prstGeom prst="rect">
            <a:avLst/>
          </a:prstGeom>
          <a:solidFill>
            <a:srgbClr val="10B981"/>
          </a:solidFill>
          <a:ln w="0">
            <a:solidFill>
              <a:srgbClr val="10B981"/>
            </a:solidFill>
            <a:prstDash val="solid"/>
          </a:ln>
        </p:spPr>
        <p:txBody>
          <a:bodyPr anchor="ctr" anchorCtr="1"/>
          <a:lstStyle/>
          <a:p>
            <a:r>
              <a:rPr lang="en-US" altLang="ja-JP" sz="1400" noProof="1">
                <a:solidFill>
                  <a:schemeClr val="bg1"/>
                </a:solidFill>
              </a:rPr>
              <a:t>-0.6</a:t>
            </a:r>
            <a:endParaRPr lang="ja-JP" sz="1400" noProof="1">
              <a:solidFill>
                <a:schemeClr val="bg1"/>
              </a:solidFill>
            </a:endParaRPr>
          </a:p>
        </p:txBody>
      </p:sp>
      <p:sp>
        <p:nvSpPr>
          <p:cNvPr id="25" name="正方形/長方形 24">
            <a:extLst>
              <a:ext uri="{FF2B5EF4-FFF2-40B4-BE49-F238E27FC236}">
                <a16:creationId xmlns:a16="http://schemas.microsoft.com/office/drawing/2014/main" id="{6AA202A1-C7AF-4C74-A8C1-E0A1B8170D90}"/>
              </a:ext>
            </a:extLst>
          </p:cNvPr>
          <p:cNvSpPr>
            <a:spLocks noGrp="1"/>
          </p:cNvSpPr>
          <p:nvPr/>
        </p:nvSpPr>
        <p:spPr>
          <a:xfrm>
            <a:off x="5953125" y="2934022"/>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lang="ja-JP" sz="1350" b="1" noProof="1">
                <a:solidFill>
                  <a:srgbClr val="111827"/>
                </a:solidFill>
                <a:latin typeface="Yu Gothic"/>
                <a:ea typeface="Yu Gothic"/>
                <a:cs typeface="Yu Gothic"/>
              </a:rPr>
              <a:t>特徴5</a:t>
            </a:r>
          </a:p>
        </p:txBody>
      </p:sp>
      <p:sp>
        <p:nvSpPr>
          <p:cNvPr id="26" name="正方形/長方形 25">
            <a:extLst>
              <a:ext uri="{FF2B5EF4-FFF2-40B4-BE49-F238E27FC236}">
                <a16:creationId xmlns:a16="http://schemas.microsoft.com/office/drawing/2014/main" id="{174943F7-D308-4363-B917-01F17FD95837}"/>
              </a:ext>
            </a:extLst>
          </p:cNvPr>
          <p:cNvSpPr>
            <a:spLocks noGrp="1"/>
          </p:cNvSpPr>
          <p:nvPr/>
        </p:nvSpPr>
        <p:spPr>
          <a:xfrm>
            <a:off x="7525051" y="2953072"/>
            <a:ext cx="826770" cy="180975"/>
          </a:xfrm>
          <a:prstGeom prst="rect">
            <a:avLst/>
          </a:prstGeom>
          <a:solidFill>
            <a:srgbClr val="10B981"/>
          </a:solidFill>
          <a:ln w="0">
            <a:solidFill>
              <a:srgbClr val="10B981"/>
            </a:solidFill>
            <a:prstDash val="solid"/>
          </a:ln>
        </p:spPr>
        <p:txBody>
          <a:bodyPr anchor="ctr" anchorCtr="1"/>
          <a:lstStyle/>
          <a:p>
            <a:r>
              <a:rPr lang="en-US" altLang="ja-JP" sz="1400" noProof="1">
                <a:solidFill>
                  <a:schemeClr val="bg1"/>
                </a:solidFill>
              </a:rPr>
              <a:t>+0.7</a:t>
            </a:r>
            <a:endParaRPr lang="ja-JP" sz="1400" noProof="1">
              <a:solidFill>
                <a:schemeClr val="bg1"/>
              </a:solidFill>
            </a:endParaRPr>
          </a:p>
        </p:txBody>
      </p:sp>
      <p:sp>
        <p:nvSpPr>
          <p:cNvPr id="27" name="正方形/長方形 26">
            <a:extLst>
              <a:ext uri="{FF2B5EF4-FFF2-40B4-BE49-F238E27FC236}">
                <a16:creationId xmlns:a16="http://schemas.microsoft.com/office/drawing/2014/main" id="{A5138BC3-7C1A-42EE-9E64-69586F44F6E9}"/>
              </a:ext>
            </a:extLst>
          </p:cNvPr>
          <p:cNvSpPr>
            <a:spLocks noGrp="1"/>
          </p:cNvSpPr>
          <p:nvPr/>
        </p:nvSpPr>
        <p:spPr>
          <a:xfrm>
            <a:off x="5953125" y="3743647"/>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lang="ja-JP" sz="1350" b="1" noProof="1">
                <a:solidFill>
                  <a:srgbClr val="111827"/>
                </a:solidFill>
                <a:latin typeface="Yu Gothic"/>
                <a:ea typeface="Yu Gothic"/>
                <a:cs typeface="Yu Gothic"/>
              </a:rPr>
              <a:t>特徴2</a:t>
            </a:r>
          </a:p>
        </p:txBody>
      </p:sp>
      <p:sp>
        <p:nvSpPr>
          <p:cNvPr id="28" name="正方形/長方形 27">
            <a:extLst>
              <a:ext uri="{FF2B5EF4-FFF2-40B4-BE49-F238E27FC236}">
                <a16:creationId xmlns:a16="http://schemas.microsoft.com/office/drawing/2014/main" id="{614BDDEF-52A9-4FE2-9F66-D5F7AA69E784}"/>
              </a:ext>
            </a:extLst>
          </p:cNvPr>
          <p:cNvSpPr>
            <a:spLocks noGrp="1"/>
          </p:cNvSpPr>
          <p:nvPr/>
        </p:nvSpPr>
        <p:spPr>
          <a:xfrm>
            <a:off x="6810374" y="3762697"/>
            <a:ext cx="714677" cy="180975"/>
          </a:xfrm>
          <a:prstGeom prst="rect">
            <a:avLst/>
          </a:prstGeom>
          <a:solidFill>
            <a:srgbClr val="10B981"/>
          </a:solidFill>
          <a:ln w="0">
            <a:solidFill>
              <a:srgbClr val="10B981"/>
            </a:solidFill>
            <a:prstDash val="solid"/>
          </a:ln>
        </p:spPr>
        <p:txBody>
          <a:bodyPr anchor="ctr" anchorCtr="1"/>
          <a:lstStyle/>
          <a:p>
            <a:r>
              <a:rPr lang="en-US" altLang="ja-JP" sz="1400" noProof="1">
                <a:solidFill>
                  <a:schemeClr val="bg1"/>
                </a:solidFill>
              </a:rPr>
              <a:t>-0.6</a:t>
            </a:r>
            <a:endParaRPr lang="ja-JP" sz="1400" noProof="1">
              <a:solidFill>
                <a:schemeClr val="bg1"/>
              </a:solidFill>
            </a:endParaRPr>
          </a:p>
        </p:txBody>
      </p:sp>
      <p:cxnSp>
        <p:nvCxnSpPr>
          <p:cNvPr id="120" name="直線矢印コネクタ 61"/>
          <p:cNvCxnSpPr>
            <a:cxnSpLocks/>
          </p:cNvCxnSpPr>
          <p:nvPr/>
        </p:nvCxnSpPr>
        <p:spPr>
          <a:xfrm>
            <a:off x="8763000" y="1314772"/>
            <a:ext cx="0" cy="3336502"/>
          </a:xfrm>
          <a:prstGeom prst="straightConnector1">
            <a:avLst/>
          </a:prstGeom>
          <a:ln w="19050">
            <a:solidFill>
              <a:srgbClr val="CBD5E1"/>
            </a:solidFill>
            <a:prstDash val="solid"/>
          </a:ln>
        </p:spPr>
      </p:cxnSp>
      <p:sp>
        <p:nvSpPr>
          <p:cNvPr id="30" name="正方形/長方形 29">
            <a:extLst>
              <a:ext uri="{FF2B5EF4-FFF2-40B4-BE49-F238E27FC236}">
                <a16:creationId xmlns:a16="http://schemas.microsoft.com/office/drawing/2014/main" id="{7232231D-4BA4-47E1-9658-6CC3BCF63FB7}"/>
              </a:ext>
            </a:extLst>
          </p:cNvPr>
          <p:cNvSpPr>
            <a:spLocks noGrp="1"/>
          </p:cNvSpPr>
          <p:nvPr/>
        </p:nvSpPr>
        <p:spPr>
          <a:xfrm>
            <a:off x="9191625" y="1457647"/>
            <a:ext cx="2286000" cy="323850"/>
          </a:xfrm>
          <a:prstGeom prst="rect">
            <a:avLst/>
          </a:prstGeom>
          <a:noFill/>
          <a:ln w="0">
            <a:noFill/>
            <a:prstDash val="solid"/>
          </a:ln>
        </p:spPr>
        <p:txBody>
          <a:bodyPr lIns="0" tIns="0" rIns="0" bIns="0" anchor="t">
            <a:noAutofit/>
          </a:bodyPr>
          <a:lstStyle/>
          <a:p>
            <a:pPr algn="l">
              <a:buNone/>
              <a:defRPr sz="1800" b="1">
                <a:solidFill>
                  <a:srgbClr val="111827"/>
                </a:solidFill>
                <a:latin typeface="Yu Gothic"/>
                <a:ea typeface="Yu Gothic"/>
                <a:cs typeface="Yu Gothic"/>
              </a:defRPr>
            </a:pPr>
            <a:r>
              <a:rPr lang="ja-JP" altLang="en-US" sz="1800" b="1" noProof="1">
                <a:solidFill>
                  <a:srgbClr val="111827"/>
                </a:solidFill>
                <a:latin typeface="Yu Gothic"/>
                <a:ea typeface="Yu Gothic"/>
                <a:cs typeface="Yu Gothic"/>
              </a:rPr>
              <a:t>解釈</a:t>
            </a:r>
            <a:endParaRPr lang="ja-JP" sz="1800" b="1" noProof="1">
              <a:solidFill>
                <a:srgbClr val="111827"/>
              </a:solidFill>
              <a:latin typeface="Yu Gothic"/>
              <a:ea typeface="Yu Gothic"/>
              <a:cs typeface="Yu Gothic"/>
            </a:endParaRPr>
          </a:p>
        </p:txBody>
      </p:sp>
      <p:cxnSp>
        <p:nvCxnSpPr>
          <p:cNvPr id="6" name="直線コネクタ 5">
            <a:extLst>
              <a:ext uri="{FF2B5EF4-FFF2-40B4-BE49-F238E27FC236}">
                <a16:creationId xmlns:a16="http://schemas.microsoft.com/office/drawing/2014/main" id="{9DB67BC8-8E1A-8692-262B-EA9FFAAFFF52}"/>
              </a:ext>
            </a:extLst>
          </p:cNvPr>
          <p:cNvCxnSpPr>
            <a:cxnSpLocks/>
          </p:cNvCxnSpPr>
          <p:nvPr/>
        </p:nvCxnSpPr>
        <p:spPr>
          <a:xfrm>
            <a:off x="2052637" y="2324422"/>
            <a:ext cx="0" cy="1490663"/>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94C876EE-8ED0-60CA-48D9-CE76963C478E}"/>
              </a:ext>
            </a:extLst>
          </p:cNvPr>
          <p:cNvCxnSpPr>
            <a:cxnSpLocks/>
          </p:cNvCxnSpPr>
          <p:nvPr/>
        </p:nvCxnSpPr>
        <p:spPr>
          <a:xfrm>
            <a:off x="4773930" y="2283448"/>
            <a:ext cx="0" cy="1490663"/>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C41DA6F8-0494-80FA-D7BF-55787A592EA5}"/>
              </a:ext>
            </a:extLst>
          </p:cNvPr>
          <p:cNvCxnSpPr>
            <a:cxnSpLocks/>
          </p:cNvCxnSpPr>
          <p:nvPr/>
        </p:nvCxnSpPr>
        <p:spPr>
          <a:xfrm>
            <a:off x="7525044" y="2324422"/>
            <a:ext cx="0" cy="1490663"/>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081208A5-D2E6-04C7-262C-34826A068291}"/>
              </a:ext>
            </a:extLst>
          </p:cNvPr>
          <p:cNvSpPr txBox="1"/>
          <p:nvPr/>
        </p:nvSpPr>
        <p:spPr>
          <a:xfrm>
            <a:off x="9117496" y="2115286"/>
            <a:ext cx="2610010" cy="1200329"/>
          </a:xfrm>
          <a:prstGeom prst="rect">
            <a:avLst/>
          </a:prstGeom>
          <a:noFill/>
        </p:spPr>
        <p:txBody>
          <a:bodyPr wrap="none" rtlCol="0">
            <a:spAutoFit/>
          </a:bodyPr>
          <a:lstStyle/>
          <a:p>
            <a:r>
              <a:rPr kumimoji="1" lang="ja-JP" altLang="en-US"/>
              <a:t>特徴</a:t>
            </a:r>
            <a:r>
              <a:rPr kumimoji="1" lang="en-US" altLang="ja-JP" dirty="0"/>
              <a:t>1</a:t>
            </a:r>
            <a:r>
              <a:rPr kumimoji="1" lang="ja-JP" altLang="en-US"/>
              <a:t>を増加させると，</a:t>
            </a:r>
            <a:br>
              <a:rPr kumimoji="1" lang="en-US" altLang="ja-JP" dirty="0"/>
            </a:br>
            <a:r>
              <a:rPr kumimoji="1" lang="en-US" altLang="ja-JP" dirty="0"/>
              <a:t>A</a:t>
            </a:r>
            <a:r>
              <a:rPr kumimoji="1" lang="ja-JP" altLang="en-US"/>
              <a:t>である確率が高まり</a:t>
            </a:r>
            <a:br>
              <a:rPr kumimoji="1" lang="en-US" altLang="ja-JP" dirty="0"/>
            </a:br>
            <a:r>
              <a:rPr kumimoji="1" lang="en-US" altLang="ja-JP" dirty="0"/>
              <a:t>B</a:t>
            </a:r>
            <a:r>
              <a:rPr kumimoji="1" lang="ja-JP" altLang="en-US"/>
              <a:t>である確率が下がる</a:t>
            </a:r>
            <a:br>
              <a:rPr kumimoji="1" lang="en-US" altLang="ja-JP" dirty="0"/>
            </a:br>
            <a:r>
              <a:rPr kumimoji="1" lang="en-US" altLang="ja-JP" u="sng" dirty="0"/>
              <a:t>C</a:t>
            </a:r>
            <a:r>
              <a:rPr kumimoji="1" lang="ja-JP" altLang="en-US" u="sng"/>
              <a:t>は</a:t>
            </a:r>
            <a:r>
              <a:rPr lang="en-US" altLang="ja-JP" u="sng" dirty="0"/>
              <a:t>….</a:t>
            </a:r>
            <a:endParaRPr kumimoji="1" lang="ja-JP" altLang="en-US" u="sng"/>
          </a:p>
        </p:txBody>
      </p:sp>
      <p:sp>
        <p:nvSpPr>
          <p:cNvPr id="32" name="テキスト ボックス 31">
            <a:extLst>
              <a:ext uri="{FF2B5EF4-FFF2-40B4-BE49-F238E27FC236}">
                <a16:creationId xmlns:a16="http://schemas.microsoft.com/office/drawing/2014/main" id="{FCD7C562-296E-52BD-2D78-EEA01F241F90}"/>
              </a:ext>
            </a:extLst>
          </p:cNvPr>
          <p:cNvSpPr txBox="1"/>
          <p:nvPr/>
        </p:nvSpPr>
        <p:spPr>
          <a:xfrm>
            <a:off x="9117496" y="3450945"/>
            <a:ext cx="2610010" cy="1200329"/>
          </a:xfrm>
          <a:prstGeom prst="rect">
            <a:avLst/>
          </a:prstGeom>
          <a:noFill/>
        </p:spPr>
        <p:txBody>
          <a:bodyPr wrap="none" rtlCol="0">
            <a:spAutoFit/>
          </a:bodyPr>
          <a:lstStyle/>
          <a:p>
            <a:r>
              <a:rPr kumimoji="1" lang="ja-JP" altLang="en-US"/>
              <a:t>特徴</a:t>
            </a:r>
            <a:r>
              <a:rPr kumimoji="1" lang="en-US" altLang="ja-JP" dirty="0"/>
              <a:t>4</a:t>
            </a:r>
            <a:r>
              <a:rPr kumimoji="1" lang="ja-JP" altLang="en-US"/>
              <a:t>を増加させると，</a:t>
            </a:r>
            <a:br>
              <a:rPr kumimoji="1" lang="en-US" altLang="ja-JP" dirty="0"/>
            </a:br>
            <a:r>
              <a:rPr kumimoji="1" lang="en-US" altLang="ja-JP" dirty="0"/>
              <a:t>B</a:t>
            </a:r>
            <a:r>
              <a:rPr kumimoji="1" lang="ja-JP" altLang="en-US"/>
              <a:t>である確率が下がる</a:t>
            </a:r>
            <a:endParaRPr lang="en-US" altLang="ja-JP" dirty="0"/>
          </a:p>
          <a:p>
            <a:r>
              <a:rPr kumimoji="1" lang="en-US" altLang="ja-JP" u="sng" dirty="0"/>
              <a:t>A</a:t>
            </a:r>
            <a:r>
              <a:rPr kumimoji="1" lang="ja-JP" altLang="en-US" u="sng"/>
              <a:t>は</a:t>
            </a:r>
            <a:r>
              <a:rPr kumimoji="1" lang="en-US" altLang="ja-JP" u="sng" dirty="0"/>
              <a:t>…</a:t>
            </a:r>
            <a:br>
              <a:rPr kumimoji="1" lang="en-US" altLang="ja-JP" u="sng" dirty="0"/>
            </a:br>
            <a:r>
              <a:rPr kumimoji="1" lang="en-US" altLang="ja-JP" u="sng" dirty="0"/>
              <a:t>C</a:t>
            </a:r>
            <a:r>
              <a:rPr kumimoji="1" lang="ja-JP" altLang="en-US" u="sng"/>
              <a:t>は</a:t>
            </a:r>
            <a:r>
              <a:rPr kumimoji="1" lang="en-US" altLang="ja-JP" u="sng" dirty="0"/>
              <a:t>…</a:t>
            </a:r>
            <a:endParaRPr kumimoji="1" lang="ja-JP" altLang="en-US" u="sng"/>
          </a:p>
        </p:txBody>
      </p:sp>
      <p:sp>
        <p:nvSpPr>
          <p:cNvPr id="39" name="正方形/長方形 38">
            <a:extLst>
              <a:ext uri="{FF2B5EF4-FFF2-40B4-BE49-F238E27FC236}">
                <a16:creationId xmlns:a16="http://schemas.microsoft.com/office/drawing/2014/main" id="{B0C9D0E5-3977-D5AF-CF36-DADDB1752939}"/>
              </a:ext>
            </a:extLst>
          </p:cNvPr>
          <p:cNvSpPr>
            <a:spLocks noGrp="1"/>
          </p:cNvSpPr>
          <p:nvPr/>
        </p:nvSpPr>
        <p:spPr>
          <a:xfrm>
            <a:off x="2052636" y="5148714"/>
            <a:ext cx="3487271" cy="1236010"/>
          </a:xfrm>
          <a:prstGeom prst="rect">
            <a:avLst/>
          </a:prstGeom>
          <a:noFill/>
          <a:ln w="41275">
            <a:solidFill>
              <a:srgbClr val="10B981"/>
            </a:solidFill>
            <a:prstDash val="solid"/>
            <a:bevel/>
          </a:ln>
          <a:effectLst>
            <a:outerShdw blurRad="63500" sx="102000" sy="102000" algn="ctr" rotWithShape="0">
              <a:prstClr val="black">
                <a:alpha val="40000"/>
              </a:prstClr>
            </a:outerShdw>
          </a:effectLst>
        </p:spPr>
        <p:txBody>
          <a:bodyPr/>
          <a:lstStyle/>
          <a:p>
            <a:endParaRPr lang="ja-JP" noProof="1"/>
          </a:p>
        </p:txBody>
      </p:sp>
      <p:sp>
        <p:nvSpPr>
          <p:cNvPr id="40" name="正方形/長方形 39">
            <a:extLst>
              <a:ext uri="{FF2B5EF4-FFF2-40B4-BE49-F238E27FC236}">
                <a16:creationId xmlns:a16="http://schemas.microsoft.com/office/drawing/2014/main" id="{830D15C6-9A45-34D4-BFDB-EDD64456CE84}"/>
              </a:ext>
            </a:extLst>
          </p:cNvPr>
          <p:cNvSpPr>
            <a:spLocks noGrp="1"/>
          </p:cNvSpPr>
          <p:nvPr/>
        </p:nvSpPr>
        <p:spPr>
          <a:xfrm>
            <a:off x="2001093" y="5253489"/>
            <a:ext cx="3619500" cy="346074"/>
          </a:xfrm>
          <a:prstGeom prst="rect">
            <a:avLst/>
          </a:prstGeom>
          <a:noFill/>
          <a:ln w="0">
            <a:noFill/>
            <a:prstDash val="solid"/>
          </a:ln>
        </p:spPr>
        <p:txBody>
          <a:bodyPr lIns="0" tIns="0" rIns="0" bIns="0" anchor="t">
            <a:noAutofit/>
          </a:bodyPr>
          <a:lstStyle/>
          <a:p>
            <a:pPr algn="ctr">
              <a:buNone/>
              <a:defRPr sz="1575" b="1">
                <a:solidFill>
                  <a:srgbClr val="10B981"/>
                </a:solidFill>
                <a:latin typeface="Yu Gothic"/>
                <a:ea typeface="Yu Gothic"/>
                <a:cs typeface="Yu Gothic"/>
              </a:defRPr>
            </a:pPr>
            <a:br>
              <a:rPr lang="ja-JP" sz="1575" b="1" noProof="1">
                <a:solidFill>
                  <a:srgbClr val="10B981"/>
                </a:solidFill>
                <a:latin typeface="Yu Gothic"/>
                <a:ea typeface="Yu Gothic"/>
                <a:cs typeface="Yu Gothic"/>
              </a:rPr>
            </a:br>
            <a:br>
              <a:rPr lang="ja-JP" sz="1575" b="1" noProof="1">
                <a:solidFill>
                  <a:srgbClr val="10B981"/>
                </a:solidFill>
                <a:latin typeface="Yu Gothic"/>
                <a:ea typeface="Yu Gothic"/>
                <a:cs typeface="Yu Gothic"/>
              </a:rPr>
            </a:br>
            <a:r>
              <a:rPr lang="ja-JP" sz="1575" b="1" noProof="1">
                <a:solidFill>
                  <a:srgbClr val="10B981"/>
                </a:solidFill>
                <a:latin typeface="Yu Gothic"/>
                <a:ea typeface="Yu Gothic"/>
                <a:cs typeface="Yu Gothic"/>
              </a:rPr>
              <a:t>人が理解できる程度に単純</a:t>
            </a:r>
            <a:br>
              <a:rPr lang="ja-JP" sz="1575" b="1" noProof="1">
                <a:solidFill>
                  <a:srgbClr val="10B981"/>
                </a:solidFill>
                <a:latin typeface="Yu Gothic"/>
                <a:ea typeface="Yu Gothic"/>
                <a:cs typeface="Yu Gothic"/>
              </a:rPr>
            </a:br>
            <a:r>
              <a:rPr lang="ja-JP" sz="1575" b="1" noProof="1">
                <a:solidFill>
                  <a:srgbClr val="10B981"/>
                </a:solidFill>
                <a:latin typeface="Yu Gothic"/>
                <a:ea typeface="Yu Gothic"/>
                <a:cs typeface="Yu Gothic"/>
              </a:rPr>
              <a:t>（説明に使う特徴量の数を絞る罰則項）</a:t>
            </a:r>
          </a:p>
        </p:txBody>
      </p:sp>
      <p:pic>
        <p:nvPicPr>
          <p:cNvPr id="41" name="図 40">
            <a:extLst>
              <a:ext uri="{FF2B5EF4-FFF2-40B4-BE49-F238E27FC236}">
                <a16:creationId xmlns:a16="http://schemas.microsoft.com/office/drawing/2014/main" id="{DC07447C-6CBB-6B25-EB9E-C2100137E0AB}"/>
              </a:ext>
            </a:extLst>
          </p:cNvPr>
          <p:cNvPicPr>
            <a:picLocks noChangeAspect="1"/>
          </p:cNvPicPr>
          <p:nvPr/>
        </p:nvPicPr>
        <p:blipFill>
          <a:blip r:embed="rId3"/>
          <a:stretch>
            <a:fillRect/>
          </a:stretch>
        </p:blipFill>
        <p:spPr>
          <a:xfrm>
            <a:off x="3492829" y="5253489"/>
            <a:ext cx="636028" cy="346074"/>
          </a:xfrm>
          <a:prstGeom prst="rect">
            <a:avLst/>
          </a:prstGeom>
        </p:spPr>
      </p:pic>
      <p:sp>
        <p:nvSpPr>
          <p:cNvPr id="42" name="テキスト ボックス 41">
            <a:extLst>
              <a:ext uri="{FF2B5EF4-FFF2-40B4-BE49-F238E27FC236}">
                <a16:creationId xmlns:a16="http://schemas.microsoft.com/office/drawing/2014/main" id="{48BCD18D-1B4D-997D-B7B4-4F2B44C79273}"/>
              </a:ext>
            </a:extLst>
          </p:cNvPr>
          <p:cNvSpPr txBox="1"/>
          <p:nvPr/>
        </p:nvSpPr>
        <p:spPr>
          <a:xfrm>
            <a:off x="6021675" y="5195104"/>
            <a:ext cx="4339650" cy="1169551"/>
          </a:xfrm>
          <a:prstGeom prst="rect">
            <a:avLst/>
          </a:prstGeom>
          <a:noFill/>
        </p:spPr>
        <p:txBody>
          <a:bodyPr wrap="none" rtlCol="0">
            <a:spAutoFit/>
          </a:bodyPr>
          <a:lstStyle/>
          <a:p>
            <a:r>
              <a:rPr kumimoji="1" lang="ja-JP" altLang="en-US"/>
              <a:t>それぞれ説明に使う特徴量が異なるので</a:t>
            </a:r>
            <a:endParaRPr kumimoji="1" lang="en-US" altLang="ja-JP" dirty="0"/>
          </a:p>
          <a:p>
            <a:r>
              <a:rPr lang="ja-JP" altLang="en-US"/>
              <a:t>係数比較が困難</a:t>
            </a:r>
            <a:br>
              <a:rPr lang="en-US" altLang="ja-JP" dirty="0"/>
            </a:br>
            <a:r>
              <a:rPr lang="en-US" altLang="ja-JP" dirty="0"/>
              <a:t>  </a:t>
            </a:r>
            <a:r>
              <a:rPr lang="en-US" altLang="ja-JP" sz="1600" dirty="0"/>
              <a:t>A vs </a:t>
            </a:r>
            <a:r>
              <a:rPr lang="ja-JP" altLang="en-US" sz="1600"/>
              <a:t>その他で重要な特徴量と</a:t>
            </a:r>
            <a:br>
              <a:rPr lang="en-US" altLang="ja-JP" sz="1600" dirty="0"/>
            </a:br>
            <a:r>
              <a:rPr lang="en-US" altLang="ja-JP" sz="1600" dirty="0"/>
              <a:t>  B vs </a:t>
            </a:r>
            <a:r>
              <a:rPr lang="ja-JP" altLang="en-US" sz="1600"/>
              <a:t>その他で重要な特徴量は，一致しない</a:t>
            </a:r>
            <a:endParaRPr kumimoji="1" lang="ja-JP" altLang="en-US"/>
          </a:p>
        </p:txBody>
      </p:sp>
    </p:spTree>
    <p:extLst>
      <p:ext uri="{BB962C8B-B14F-4D97-AF65-F5344CB8AC3E}">
        <p14:creationId xmlns:p14="http://schemas.microsoft.com/office/powerpoint/2010/main" val="97829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D2684ABF-1827-71BC-05B7-EAF352696E96}"/>
              </a:ext>
            </a:extLst>
          </p:cNvPr>
          <p:cNvSpPr txBox="1"/>
          <p:nvPr/>
        </p:nvSpPr>
        <p:spPr>
          <a:xfrm>
            <a:off x="4600575" y="3314700"/>
            <a:ext cx="1107996" cy="369332"/>
          </a:xfrm>
          <a:prstGeom prst="rect">
            <a:avLst/>
          </a:prstGeom>
          <a:noFill/>
        </p:spPr>
        <p:txBody>
          <a:bodyPr wrap="none" rtlCol="0">
            <a:spAutoFit/>
          </a:bodyPr>
          <a:lstStyle/>
          <a:p>
            <a:r>
              <a:rPr kumimoji="1" lang="ja-JP" noProof="1"/>
              <a:t>関連研究</a:t>
            </a:r>
          </a:p>
        </p:txBody>
      </p:sp>
    </p:spTree>
    <p:extLst>
      <p:ext uri="{BB962C8B-B14F-4D97-AF65-F5344CB8AC3E}">
        <p14:creationId xmlns:p14="http://schemas.microsoft.com/office/powerpoint/2010/main" val="1041250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C774CF58-B894-3797-ABAC-CED235C711A7}"/>
              </a:ext>
            </a:extLst>
          </p:cNvPr>
          <p:cNvSpPr txBox="1"/>
          <p:nvPr/>
        </p:nvSpPr>
        <p:spPr>
          <a:xfrm>
            <a:off x="800100" y="1852101"/>
            <a:ext cx="7551683" cy="1477328"/>
          </a:xfrm>
          <a:prstGeom prst="rect">
            <a:avLst/>
          </a:prstGeom>
          <a:noFill/>
        </p:spPr>
        <p:txBody>
          <a:bodyPr wrap="none" rtlCol="0">
            <a:spAutoFit/>
          </a:bodyPr>
          <a:lstStyle/>
          <a:p>
            <a:r>
              <a:rPr lang="ja-JP" altLang="ja-JP"/>
              <a:t>GANMEX</a:t>
            </a:r>
            <a:r>
              <a:rPr lang="en-US" altLang="ja-JP" baseline="30000" dirty="0"/>
              <a:t>[2]</a:t>
            </a:r>
            <a:endParaRPr lang="ja-JP" altLang="ja-JP" baseline="30000"/>
          </a:p>
          <a:p>
            <a:r>
              <a:rPr lang="ja-JP" altLang="ja-JP"/>
              <a:t>One-vs-One attributionを提案</a:t>
            </a:r>
            <a:endParaRPr lang="en-US" altLang="ja-JP" dirty="0"/>
          </a:p>
          <a:p>
            <a:r>
              <a:rPr lang="ja-JP" altLang="ja-JP"/>
              <a:t>特定の2クラスを比較することで、</a:t>
            </a:r>
            <a:endParaRPr lang="en-US" altLang="ja-JP" dirty="0"/>
          </a:p>
          <a:p>
            <a:r>
              <a:rPr lang="ja-JP" altLang="ja-JP"/>
              <a:t>両クラスに共通する特徴よりも、</a:t>
            </a:r>
            <a:r>
              <a:rPr lang="ja-JP" altLang="ja-JP" b="1"/>
              <a:t>2クラスを区別する特徴</a:t>
            </a:r>
            <a:r>
              <a:rPr lang="ja-JP" altLang="ja-JP"/>
              <a:t>へ注目できる</a:t>
            </a:r>
          </a:p>
          <a:p>
            <a:endParaRPr kumimoji="1" lang="ja-JP" altLang="en-US"/>
          </a:p>
        </p:txBody>
      </p:sp>
      <p:sp>
        <p:nvSpPr>
          <p:cNvPr id="9" name="テキスト ボックス 8">
            <a:extLst>
              <a:ext uri="{FF2B5EF4-FFF2-40B4-BE49-F238E27FC236}">
                <a16:creationId xmlns:a16="http://schemas.microsoft.com/office/drawing/2014/main" id="{DE6B293B-66F0-DA79-47F1-1D7250D55922}"/>
              </a:ext>
            </a:extLst>
          </p:cNvPr>
          <p:cNvSpPr txBox="1"/>
          <p:nvPr/>
        </p:nvSpPr>
        <p:spPr>
          <a:xfrm>
            <a:off x="0" y="6604084"/>
            <a:ext cx="11705448" cy="253916"/>
          </a:xfrm>
          <a:prstGeom prst="rect">
            <a:avLst/>
          </a:prstGeom>
          <a:noFill/>
        </p:spPr>
        <p:txBody>
          <a:bodyPr wrap="none" rtlCol="0">
            <a:spAutoFit/>
          </a:bodyPr>
          <a:lstStyle/>
          <a:p>
            <a:r>
              <a:rPr lang="en-US" altLang="ja-JP" sz="1050" dirty="0"/>
              <a:t>[2]</a:t>
            </a:r>
            <a:r>
              <a:rPr lang="ja-JP" altLang="ja-JP" sz="1050"/>
              <a:t>P. J. Shih, C. C. Chang, and Y. J. Lee, "GANMEX: One-vs-One Attributions using GAN-based Model Explainability," in </a:t>
            </a:r>
            <a:r>
              <a:rPr lang="ja-JP" altLang="ja-JP" sz="1050" i="1"/>
              <a:t>Proceedings of the 38th International Conference on Machine Learning</a:t>
            </a:r>
            <a:r>
              <a:rPr lang="ja-JP" altLang="ja-JP" sz="1050"/>
              <a:t>, 2021, pp. 9545–9555.</a:t>
            </a:r>
            <a:endParaRPr kumimoji="1" lang="ja-JP" altLang="en-US" sz="1050"/>
          </a:p>
        </p:txBody>
      </p:sp>
      <p:sp>
        <p:nvSpPr>
          <p:cNvPr id="11" name="テキスト ボックス 10">
            <a:extLst>
              <a:ext uri="{FF2B5EF4-FFF2-40B4-BE49-F238E27FC236}">
                <a16:creationId xmlns:a16="http://schemas.microsoft.com/office/drawing/2014/main" id="{CCD6DEA1-EAE7-43B1-3DCB-F71E13B46BAF}"/>
              </a:ext>
            </a:extLst>
          </p:cNvPr>
          <p:cNvSpPr txBox="1"/>
          <p:nvPr/>
        </p:nvSpPr>
        <p:spPr>
          <a:xfrm>
            <a:off x="819150" y="4040384"/>
            <a:ext cx="6201569" cy="1754326"/>
          </a:xfrm>
          <a:prstGeom prst="rect">
            <a:avLst/>
          </a:prstGeom>
          <a:noFill/>
        </p:spPr>
        <p:txBody>
          <a:bodyPr wrap="none" rtlCol="0">
            <a:spAutoFit/>
          </a:bodyPr>
          <a:lstStyle/>
          <a:p>
            <a:r>
              <a:rPr lang="ja-JP" altLang="ja-JP"/>
              <a:t>ただしGANMEXは、</a:t>
            </a:r>
            <a:endParaRPr lang="en-US" altLang="ja-JP" dirty="0"/>
          </a:p>
          <a:p>
            <a:r>
              <a:rPr lang="ja-JP" altLang="ja-JP"/>
              <a:t>主に画像説明を対象とする</a:t>
            </a:r>
          </a:p>
          <a:p>
            <a:pPr marL="285750" indent="-285750">
              <a:buFont typeface="Arial" panose="020B0604020202020204" pitchFamily="34" charset="0"/>
              <a:buChar char="•"/>
            </a:pPr>
            <a:r>
              <a:rPr lang="ja-JP" altLang="ja-JP"/>
              <a:t>GANで比較対象クラスの画像を生成する</a:t>
            </a:r>
          </a:p>
          <a:p>
            <a:pPr marL="285750" indent="-285750">
              <a:buFont typeface="Arial" panose="020B0604020202020204" pitchFamily="34" charset="0"/>
              <a:buChar char="•"/>
            </a:pPr>
            <a:r>
              <a:rPr lang="ja-JP" altLang="ja-JP"/>
              <a:t>生成画像をattributionのベースラインにする</a:t>
            </a:r>
          </a:p>
          <a:p>
            <a:endParaRPr lang="en-US" altLang="ja-JP" b="1" dirty="0"/>
          </a:p>
          <a:p>
            <a:r>
              <a:rPr lang="ja-JP" altLang="ja-JP" b="1"/>
              <a:t>LIMEの局所線形モデルによってOne-vs-One説明を作ること</a:t>
            </a:r>
            <a:endParaRPr lang="ja-JP" altLang="ja-JP"/>
          </a:p>
        </p:txBody>
      </p:sp>
      <p:sp>
        <p:nvSpPr>
          <p:cNvPr id="4" name="正方形/長方形 3">
            <a:extLst>
              <a:ext uri="{FF2B5EF4-FFF2-40B4-BE49-F238E27FC236}">
                <a16:creationId xmlns:a16="http://schemas.microsoft.com/office/drawing/2014/main" id="{70E46051-2633-6B39-D708-E34019BF612E}"/>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5" name="slide-7-title">
            <a:extLst>
              <a:ext uri="{FF2B5EF4-FFF2-40B4-BE49-F238E27FC236}">
                <a16:creationId xmlns:a16="http://schemas.microsoft.com/office/drawing/2014/main" id="{A64B9567-53EC-E0FE-AD5D-FF6F8CA7813A}"/>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r>
              <a:rPr lang="ja-JP" altLang="en-US" sz="3200"/>
              <a:t>関連研究</a:t>
            </a:r>
            <a:r>
              <a:rPr lang="en-US" altLang="ja-JP" sz="3200" dirty="0"/>
              <a:t>① : </a:t>
            </a:r>
            <a:r>
              <a:rPr lang="ja-JP" altLang="ja-JP" sz="3200" b="1"/>
              <a:t>One-vs-One</a:t>
            </a:r>
            <a:endParaRPr lang="ja-JP" altLang="en-US" sz="3200"/>
          </a:p>
        </p:txBody>
      </p:sp>
      <p:pic>
        <p:nvPicPr>
          <p:cNvPr id="13" name="図 12">
            <a:extLst>
              <a:ext uri="{FF2B5EF4-FFF2-40B4-BE49-F238E27FC236}">
                <a16:creationId xmlns:a16="http://schemas.microsoft.com/office/drawing/2014/main" id="{33C2502B-C804-EEED-1631-316663FB0F8A}"/>
              </a:ext>
            </a:extLst>
          </p:cNvPr>
          <p:cNvPicPr>
            <a:picLocks noChangeAspect="1"/>
          </p:cNvPicPr>
          <p:nvPr/>
        </p:nvPicPr>
        <p:blipFill>
          <a:blip r:embed="rId3"/>
          <a:stretch>
            <a:fillRect/>
          </a:stretch>
        </p:blipFill>
        <p:spPr>
          <a:xfrm>
            <a:off x="8299557" y="2472903"/>
            <a:ext cx="3073293" cy="2825780"/>
          </a:xfrm>
          <a:prstGeom prst="rect">
            <a:avLst/>
          </a:prstGeom>
        </p:spPr>
      </p:pic>
    </p:spTree>
    <p:extLst>
      <p:ext uri="{BB962C8B-B14F-4D97-AF65-F5344CB8AC3E}">
        <p14:creationId xmlns:p14="http://schemas.microsoft.com/office/powerpoint/2010/main" val="3800402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60034D4-B03C-5F99-29ED-04D7CD8809B1}"/>
              </a:ext>
            </a:extLst>
          </p:cNvPr>
          <p:cNvSpPr txBox="1"/>
          <p:nvPr/>
        </p:nvSpPr>
        <p:spPr>
          <a:xfrm>
            <a:off x="0" y="6604084"/>
            <a:ext cx="10822193" cy="253916"/>
          </a:xfrm>
          <a:prstGeom prst="rect">
            <a:avLst/>
          </a:prstGeom>
          <a:noFill/>
        </p:spPr>
        <p:txBody>
          <a:bodyPr wrap="none" rtlCol="0">
            <a:spAutoFit/>
          </a:bodyPr>
          <a:lstStyle/>
          <a:p>
            <a:r>
              <a:rPr lang="en-US" altLang="ja-JP" sz="1050" dirty="0"/>
              <a:t>[3]</a:t>
            </a:r>
            <a:r>
              <a:rPr lang="ja-JP" altLang="ja-JP" sz="1050"/>
              <a:t>Nanavati, P., &amp; Prasad, R. (2023). CLIMAX: An exploration of Classifier-Based Contrastive Explanations. In </a:t>
            </a:r>
            <a:r>
              <a:rPr lang="ja-JP" altLang="ja-JP" sz="1050" i="1"/>
              <a:t>2023 IEEE 5th International Conference on Cognitive Machine Intelligence (CogMI)</a:t>
            </a:r>
            <a:r>
              <a:rPr lang="ja-JP" altLang="ja-JP" sz="1050"/>
              <a:t>. IEEE.</a:t>
            </a:r>
            <a:endParaRPr kumimoji="1" lang="ja-JP" altLang="en-US" sz="1050"/>
          </a:p>
        </p:txBody>
      </p:sp>
      <p:sp>
        <p:nvSpPr>
          <p:cNvPr id="3" name="テキスト ボックス 2">
            <a:extLst>
              <a:ext uri="{FF2B5EF4-FFF2-40B4-BE49-F238E27FC236}">
                <a16:creationId xmlns:a16="http://schemas.microsoft.com/office/drawing/2014/main" id="{22C19D57-B849-A123-2F97-D665381C6579}"/>
              </a:ext>
            </a:extLst>
          </p:cNvPr>
          <p:cNvSpPr txBox="1"/>
          <p:nvPr/>
        </p:nvSpPr>
        <p:spPr>
          <a:xfrm>
            <a:off x="800100" y="1917034"/>
            <a:ext cx="9642383" cy="369332"/>
          </a:xfrm>
          <a:prstGeom prst="rect">
            <a:avLst/>
          </a:prstGeom>
          <a:noFill/>
        </p:spPr>
        <p:txBody>
          <a:bodyPr wrap="none" rtlCol="0">
            <a:spAutoFit/>
          </a:bodyPr>
          <a:lstStyle/>
          <a:p>
            <a:r>
              <a:rPr lang="ja-JP" altLang="ja-JP"/>
              <a:t>CLIMAX</a:t>
            </a:r>
            <a:r>
              <a:rPr lang="en-US" altLang="ja-JP" baseline="30000" dirty="0"/>
              <a:t>[3]</a:t>
            </a:r>
            <a:r>
              <a:rPr lang="ja-JP" altLang="ja-JP"/>
              <a:t>は、ブラックボックス分類器を局所的な分類モデルで説明する方法を提案している</a:t>
            </a:r>
          </a:p>
        </p:txBody>
      </p:sp>
      <p:pic>
        <p:nvPicPr>
          <p:cNvPr id="4" name="図 3">
            <a:extLst>
              <a:ext uri="{FF2B5EF4-FFF2-40B4-BE49-F238E27FC236}">
                <a16:creationId xmlns:a16="http://schemas.microsoft.com/office/drawing/2014/main" id="{5FD7DDE9-9424-21F5-CAEE-D80CD5A4A340}"/>
              </a:ext>
            </a:extLst>
          </p:cNvPr>
          <p:cNvPicPr>
            <a:picLocks noChangeAspect="1"/>
          </p:cNvPicPr>
          <p:nvPr/>
        </p:nvPicPr>
        <p:blipFill>
          <a:blip r:embed="rId2"/>
          <a:stretch>
            <a:fillRect/>
          </a:stretch>
        </p:blipFill>
        <p:spPr>
          <a:xfrm>
            <a:off x="3536950" y="2377245"/>
            <a:ext cx="4838700" cy="1092200"/>
          </a:xfrm>
          <a:prstGeom prst="rect">
            <a:avLst/>
          </a:prstGeom>
        </p:spPr>
      </p:pic>
      <p:pic>
        <p:nvPicPr>
          <p:cNvPr id="5" name="図 4">
            <a:extLst>
              <a:ext uri="{FF2B5EF4-FFF2-40B4-BE49-F238E27FC236}">
                <a16:creationId xmlns:a16="http://schemas.microsoft.com/office/drawing/2014/main" id="{A5D77F8D-6CC4-DF78-AE67-BC87D75D98BB}"/>
              </a:ext>
            </a:extLst>
          </p:cNvPr>
          <p:cNvPicPr>
            <a:picLocks noChangeAspect="1"/>
          </p:cNvPicPr>
          <p:nvPr/>
        </p:nvPicPr>
        <p:blipFill>
          <a:blip r:embed="rId3"/>
          <a:stretch>
            <a:fillRect/>
          </a:stretch>
        </p:blipFill>
        <p:spPr>
          <a:xfrm>
            <a:off x="4146550" y="3687539"/>
            <a:ext cx="3898900" cy="533400"/>
          </a:xfrm>
          <a:prstGeom prst="rect">
            <a:avLst/>
          </a:prstGeom>
        </p:spPr>
      </p:pic>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E7CC717D-3D8E-A9E2-6D2B-3E64075AB32B}"/>
                  </a:ext>
                </a:extLst>
              </p:cNvPr>
              <p:cNvSpPr txBox="1"/>
              <p:nvPr/>
            </p:nvSpPr>
            <p:spPr>
              <a:xfrm>
                <a:off x="818569" y="4800601"/>
                <a:ext cx="7316362" cy="957121"/>
              </a:xfrm>
              <a:prstGeom prst="rect">
                <a:avLst/>
              </a:prstGeom>
              <a:noFill/>
            </p:spPr>
            <p:txBody>
              <a:bodyPr wrap="none" rtlCol="0">
                <a:spAutoFit/>
              </a:bodyPr>
              <a:lstStyle/>
              <a:p>
                <a:r>
                  <a:rPr lang="ja-JP" altLang="ja-JP"/>
                  <a:t>CLIMAXの比較対象は、</a:t>
                </a:r>
              </a:p>
              <a:p>
                <a:pPr/>
                <a14:m>
                  <m:oMathPara xmlns:m="http://schemas.openxmlformats.org/officeDocument/2006/math">
                    <m:oMathParaPr>
                      <m:jc m:val="centerGroup"/>
                    </m:oMathParaPr>
                    <m:oMath xmlns:m="http://schemas.openxmlformats.org/officeDocument/2006/math">
                      <m:r>
                        <m:rPr>
                          <m:lit/>
                        </m:rPr>
                        <a:rPr lang="ja-JP" altLang="ja-JP" i="1" smtClean="0">
                          <a:latin typeface="Cambria Math" panose="02040503050406030204" pitchFamily="18" charset="0"/>
                        </a:rPr>
                        <m:t>[</m:t>
                      </m:r>
                      <m:r>
                        <a:rPr lang="ja-JP" altLang="ja-JP" i="1">
                          <a:latin typeface="Cambria Math" panose="02040503050406030204" pitchFamily="18" charset="0"/>
                        </a:rPr>
                        <m:t>𝐴</m:t>
                      </m:r>
                      <m:r>
                        <a:rPr lang="ja-JP" altLang="ja-JP" i="1">
                          <a:latin typeface="Cambria Math" panose="02040503050406030204" pitchFamily="18" charset="0"/>
                        </a:rPr>
                        <m:t> </m:t>
                      </m:r>
                      <m:r>
                        <m:rPr>
                          <m:nor/>
                        </m:rPr>
                        <a:rPr lang="ja-JP" altLang="ja-JP" i="0">
                          <a:latin typeface="Cambria Math" panose="02040503050406030204" pitchFamily="18" charset="0"/>
                        </a:rPr>
                        <m:t>対</m:t>
                      </m:r>
                      <m:r>
                        <a:rPr lang="ja-JP" altLang="ja-JP" i="1">
                          <a:latin typeface="Cambria Math" panose="02040503050406030204" pitchFamily="18" charset="0"/>
                        </a:rPr>
                        <m:t> </m:t>
                      </m:r>
                      <m:r>
                        <m:rPr>
                          <m:nor/>
                        </m:rPr>
                        <a:rPr lang="ja-JP" altLang="ja-JP" i="0">
                          <a:latin typeface="Cambria Math" panose="02040503050406030204" pitchFamily="18" charset="0"/>
                        </a:rPr>
                        <m:t>それ以外すべて</m:t>
                      </m:r>
                      <m:r>
                        <m:rPr>
                          <m:lit/>
                        </m:rPr>
                        <a:rPr lang="ja-JP" altLang="ja-JP" i="1" smtClean="0">
                          <a:latin typeface="Cambria Math" panose="02040503050406030204" pitchFamily="18" charset="0"/>
                        </a:rPr>
                        <m:t>]</m:t>
                      </m:r>
                      <m:r>
                        <m:rPr>
                          <m:lit/>
                        </m:rPr>
                        <a:rPr lang="en-US" altLang="ja-JP" b="0" i="0" smtClean="0">
                          <a:latin typeface="Cambria Math" panose="02040503050406030204" pitchFamily="18" charset="0"/>
                        </a:rPr>
                        <m:t> (</m:t>
                      </m:r>
                      <m:r>
                        <m:rPr>
                          <m:lit/>
                        </m:rPr>
                        <a:rPr lang="ja-JP" altLang="ja-JP" i="1" smtClean="0">
                          <a:latin typeface="Cambria Math" panose="02040503050406030204" pitchFamily="18" charset="0"/>
                        </a:rPr>
                        <m:t>[</m:t>
                      </m:r>
                      <m:r>
                        <a:rPr lang="ja-JP" altLang="ja-JP" i="1">
                          <a:latin typeface="Cambria Math" panose="02040503050406030204" pitchFamily="18" charset="0"/>
                        </a:rPr>
                        <m:t>1−</m:t>
                      </m:r>
                      <m:sSub>
                        <m:sSubPr>
                          <m:ctrlPr>
                            <a:rPr lang="ja-JP" altLang="ja-JP" i="1">
                              <a:latin typeface="Cambria Math" panose="02040503050406030204" pitchFamily="18" charset="0"/>
                            </a:rPr>
                          </m:ctrlPr>
                        </m:sSubPr>
                        <m:e>
                          <m:r>
                            <a:rPr lang="ja-JP" altLang="ja-JP" i="1">
                              <a:latin typeface="Cambria Math" panose="02040503050406030204" pitchFamily="18" charset="0"/>
                            </a:rPr>
                            <m:t>𝑝</m:t>
                          </m:r>
                        </m:e>
                        <m:sub>
                          <m:r>
                            <a:rPr lang="ja-JP" altLang="ja-JP" i="1">
                              <a:latin typeface="Cambria Math" panose="02040503050406030204" pitchFamily="18" charset="0"/>
                            </a:rPr>
                            <m:t>𝐴</m:t>
                          </m:r>
                        </m:sub>
                      </m:sSub>
                      <m:d>
                        <m:dPr>
                          <m:ctrlPr>
                            <a:rPr lang="ja-JP" altLang="ja-JP" i="1">
                              <a:latin typeface="Cambria Math" panose="02040503050406030204" pitchFamily="18" charset="0"/>
                            </a:rPr>
                          </m:ctrlPr>
                        </m:dPr>
                        <m:e>
                          <m:r>
                            <a:rPr lang="ja-JP" altLang="ja-JP" i="1">
                              <a:latin typeface="Cambria Math" panose="02040503050406030204" pitchFamily="18" charset="0"/>
                            </a:rPr>
                            <m:t>𝑧</m:t>
                          </m:r>
                        </m:e>
                      </m:d>
                      <m:r>
                        <a:rPr lang="ja-JP" altLang="ja-JP" i="1">
                          <a:latin typeface="Cambria Math" panose="02040503050406030204" pitchFamily="18" charset="0"/>
                        </a:rPr>
                        <m:t>=</m:t>
                      </m:r>
                      <m:sSub>
                        <m:sSubPr>
                          <m:ctrlPr>
                            <a:rPr lang="ja-JP" altLang="ja-JP" i="1">
                              <a:latin typeface="Cambria Math" panose="02040503050406030204" pitchFamily="18" charset="0"/>
                            </a:rPr>
                          </m:ctrlPr>
                        </m:sSubPr>
                        <m:e>
                          <m:r>
                            <a:rPr lang="ja-JP" altLang="ja-JP" i="1">
                              <a:latin typeface="Cambria Math" panose="02040503050406030204" pitchFamily="18" charset="0"/>
                            </a:rPr>
                            <m:t>𝑝</m:t>
                          </m:r>
                        </m:e>
                        <m:sub>
                          <m:r>
                            <a:rPr lang="ja-JP" altLang="ja-JP" i="1">
                              <a:latin typeface="Cambria Math" panose="02040503050406030204" pitchFamily="18" charset="0"/>
                            </a:rPr>
                            <m:t>𝐵</m:t>
                          </m:r>
                        </m:sub>
                      </m:sSub>
                      <m:d>
                        <m:dPr>
                          <m:ctrlPr>
                            <a:rPr lang="ja-JP" altLang="ja-JP" i="1">
                              <a:latin typeface="Cambria Math" panose="02040503050406030204" pitchFamily="18" charset="0"/>
                            </a:rPr>
                          </m:ctrlPr>
                        </m:dPr>
                        <m:e>
                          <m:r>
                            <a:rPr lang="ja-JP" altLang="ja-JP" i="1">
                              <a:latin typeface="Cambria Math" panose="02040503050406030204" pitchFamily="18" charset="0"/>
                            </a:rPr>
                            <m:t>𝑧</m:t>
                          </m:r>
                        </m:e>
                      </m:d>
                      <m:r>
                        <a:rPr lang="ja-JP" altLang="ja-JP" i="1">
                          <a:latin typeface="Cambria Math" panose="02040503050406030204" pitchFamily="18" charset="0"/>
                        </a:rPr>
                        <m:t>+</m:t>
                      </m:r>
                      <m:sSub>
                        <m:sSubPr>
                          <m:ctrlPr>
                            <a:rPr lang="ja-JP" altLang="ja-JP" i="1">
                              <a:latin typeface="Cambria Math" panose="02040503050406030204" pitchFamily="18" charset="0"/>
                            </a:rPr>
                          </m:ctrlPr>
                        </m:sSubPr>
                        <m:e>
                          <m:r>
                            <a:rPr lang="ja-JP" altLang="ja-JP" i="1">
                              <a:latin typeface="Cambria Math" panose="02040503050406030204" pitchFamily="18" charset="0"/>
                            </a:rPr>
                            <m:t>𝑝</m:t>
                          </m:r>
                        </m:e>
                        <m:sub>
                          <m:r>
                            <a:rPr lang="ja-JP" altLang="ja-JP" i="1">
                              <a:latin typeface="Cambria Math" panose="02040503050406030204" pitchFamily="18" charset="0"/>
                            </a:rPr>
                            <m:t>𝐶</m:t>
                          </m:r>
                        </m:sub>
                      </m:sSub>
                      <m:d>
                        <m:dPr>
                          <m:ctrlPr>
                            <a:rPr lang="ja-JP" altLang="ja-JP" i="1">
                              <a:latin typeface="Cambria Math" panose="02040503050406030204" pitchFamily="18" charset="0"/>
                            </a:rPr>
                          </m:ctrlPr>
                        </m:dPr>
                        <m:e>
                          <m:r>
                            <a:rPr lang="ja-JP" altLang="ja-JP" i="1">
                              <a:latin typeface="Cambria Math" panose="02040503050406030204" pitchFamily="18" charset="0"/>
                            </a:rPr>
                            <m:t>𝑧</m:t>
                          </m:r>
                        </m:e>
                      </m:d>
                      <m:r>
                        <a:rPr lang="ja-JP" altLang="ja-JP" i="1">
                          <a:latin typeface="Cambria Math" panose="02040503050406030204" pitchFamily="18" charset="0"/>
                        </a:rPr>
                        <m:t>+</m:t>
                      </m:r>
                      <m:sSub>
                        <m:sSubPr>
                          <m:ctrlPr>
                            <a:rPr lang="ja-JP" altLang="ja-JP" i="1">
                              <a:latin typeface="Cambria Math" panose="02040503050406030204" pitchFamily="18" charset="0"/>
                            </a:rPr>
                          </m:ctrlPr>
                        </m:sSubPr>
                        <m:e>
                          <m:r>
                            <a:rPr lang="ja-JP" altLang="ja-JP" i="1">
                              <a:latin typeface="Cambria Math" panose="02040503050406030204" pitchFamily="18" charset="0"/>
                            </a:rPr>
                            <m:t>𝑝</m:t>
                          </m:r>
                        </m:e>
                        <m:sub>
                          <m:r>
                            <a:rPr lang="ja-JP" altLang="ja-JP" i="1">
                              <a:latin typeface="Cambria Math" panose="02040503050406030204" pitchFamily="18" charset="0"/>
                            </a:rPr>
                            <m:t>𝐷</m:t>
                          </m:r>
                        </m:sub>
                      </m:sSub>
                      <m:d>
                        <m:dPr>
                          <m:ctrlPr>
                            <a:rPr lang="ja-JP" altLang="ja-JP" i="1">
                              <a:latin typeface="Cambria Math" panose="02040503050406030204" pitchFamily="18" charset="0"/>
                            </a:rPr>
                          </m:ctrlPr>
                        </m:dPr>
                        <m:e>
                          <m:r>
                            <a:rPr lang="ja-JP" altLang="ja-JP" i="1">
                              <a:latin typeface="Cambria Math" panose="02040503050406030204" pitchFamily="18" charset="0"/>
                            </a:rPr>
                            <m:t>𝑧</m:t>
                          </m:r>
                        </m:e>
                      </m:d>
                      <m:r>
                        <a:rPr lang="ja-JP" altLang="ja-JP" i="1">
                          <a:latin typeface="Cambria Math" panose="02040503050406030204" pitchFamily="18" charset="0"/>
                        </a:rPr>
                        <m:t>+⋯</m:t>
                      </m:r>
                      <m:r>
                        <m:rPr>
                          <m:lit/>
                        </m:rPr>
                        <a:rPr lang="ja-JP" altLang="ja-JP" i="1">
                          <a:latin typeface="Cambria Math" panose="02040503050406030204" pitchFamily="18" charset="0"/>
                        </a:rPr>
                        <m:t>]</m:t>
                      </m:r>
                      <m:r>
                        <m:rPr>
                          <m:lit/>
                        </m:rPr>
                        <a:rPr lang="en-US" altLang="ja-JP" b="0" i="1" smtClean="0">
                          <a:latin typeface="Cambria Math" panose="02040503050406030204" pitchFamily="18" charset="0"/>
                        </a:rPr>
                        <m:t>)</m:t>
                      </m:r>
                    </m:oMath>
                  </m:oMathPara>
                </a14:m>
                <a:endParaRPr lang="ja-JP" altLang="ja-JP"/>
              </a:p>
              <a:p>
                <a:endParaRPr kumimoji="1" lang="ja-JP" altLang="en-US"/>
              </a:p>
            </p:txBody>
          </p:sp>
        </mc:Choice>
        <mc:Fallback xmlns="">
          <p:sp>
            <p:nvSpPr>
              <p:cNvPr id="6" name="テキスト ボックス 5">
                <a:extLst>
                  <a:ext uri="{FF2B5EF4-FFF2-40B4-BE49-F238E27FC236}">
                    <a16:creationId xmlns:a16="http://schemas.microsoft.com/office/drawing/2014/main" id="{E7CC717D-3D8E-A9E2-6D2B-3E64075AB32B}"/>
                  </a:ext>
                </a:extLst>
              </p:cNvPr>
              <p:cNvSpPr txBox="1">
                <a:spLocks noRot="1" noChangeAspect="1" noMove="1" noResize="1" noEditPoints="1" noAdjustHandles="1" noChangeArrowheads="1" noChangeShapeType="1" noTextEdit="1"/>
              </p:cNvSpPr>
              <p:nvPr/>
            </p:nvSpPr>
            <p:spPr>
              <a:xfrm>
                <a:off x="818569" y="4800601"/>
                <a:ext cx="7316362" cy="957121"/>
              </a:xfrm>
              <a:prstGeom prst="rect">
                <a:avLst/>
              </a:prstGeom>
              <a:blipFill>
                <a:blip r:embed="rId4"/>
                <a:stretch>
                  <a:fillRect l="-693" t="-6579"/>
                </a:stretch>
              </a:blipFill>
            </p:spPr>
            <p:txBody>
              <a:bodyPr/>
              <a:lstStyle/>
              <a:p>
                <a:r>
                  <a:rPr lang="ja-JP" altLang="en-US">
                    <a:noFill/>
                  </a:rPr>
                  <a:t> </a:t>
                </a:r>
              </a:p>
            </p:txBody>
          </p:sp>
        </mc:Fallback>
      </mc:AlternateContent>
      <p:sp>
        <p:nvSpPr>
          <p:cNvPr id="9" name="正方形/長方形 8">
            <a:extLst>
              <a:ext uri="{FF2B5EF4-FFF2-40B4-BE49-F238E27FC236}">
                <a16:creationId xmlns:a16="http://schemas.microsoft.com/office/drawing/2014/main" id="{C8999B45-9B63-2892-3482-380DF6451A14}"/>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10" name="slide-7-title">
            <a:extLst>
              <a:ext uri="{FF2B5EF4-FFF2-40B4-BE49-F238E27FC236}">
                <a16:creationId xmlns:a16="http://schemas.microsoft.com/office/drawing/2014/main" id="{375D0B0D-448A-CE05-B377-E9209D9E882E}"/>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r>
              <a:rPr lang="ja-JP" altLang="en-US" sz="3200"/>
              <a:t>関連研究</a:t>
            </a:r>
            <a:r>
              <a:rPr lang="en-US" altLang="ja-JP" sz="3200" dirty="0"/>
              <a:t>② : </a:t>
            </a:r>
            <a:r>
              <a:rPr lang="ja-JP" altLang="ja-JP" sz="3200" b="1"/>
              <a:t>log-oddsを局所的に説明する</a:t>
            </a:r>
          </a:p>
        </p:txBody>
      </p:sp>
    </p:spTree>
    <p:extLst>
      <p:ext uri="{BB962C8B-B14F-4D97-AF65-F5344CB8AC3E}">
        <p14:creationId xmlns:p14="http://schemas.microsoft.com/office/powerpoint/2010/main" val="3940133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C358C3A-279C-F34B-94CA-2DA87E966F21}"/>
              </a:ext>
            </a:extLst>
          </p:cNvPr>
          <p:cNvSpPr txBox="1"/>
          <p:nvPr/>
        </p:nvSpPr>
        <p:spPr>
          <a:xfrm>
            <a:off x="2683933" y="2023533"/>
            <a:ext cx="1107996" cy="369332"/>
          </a:xfrm>
          <a:prstGeom prst="rect">
            <a:avLst/>
          </a:prstGeom>
          <a:noFill/>
        </p:spPr>
        <p:txBody>
          <a:bodyPr wrap="none" rtlCol="0">
            <a:spAutoFit/>
          </a:bodyPr>
          <a:lstStyle/>
          <a:p>
            <a:r>
              <a:rPr kumimoji="1" lang="ja-JP" altLang="en-US"/>
              <a:t>提案手法</a:t>
            </a:r>
          </a:p>
        </p:txBody>
      </p:sp>
    </p:spTree>
    <p:extLst>
      <p:ext uri="{BB962C8B-B14F-4D97-AF65-F5344CB8AC3E}">
        <p14:creationId xmlns:p14="http://schemas.microsoft.com/office/powerpoint/2010/main" val="3795523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118B4878-392C-F389-1FD2-261CF8CEAA04}"/>
              </a:ext>
            </a:extLst>
          </p:cNvPr>
          <p:cNvSpPr>
            <a:spLocks noGrp="1"/>
          </p:cNvSpPr>
          <p:nvPr/>
        </p:nvSpPr>
        <p:spPr>
          <a:xfrm>
            <a:off x="514350" y="419100"/>
            <a:ext cx="114300" cy="457200"/>
          </a:xfrm>
          <a:prstGeom prst="rect">
            <a:avLst/>
          </a:prstGeom>
          <a:solidFill>
            <a:srgbClr val="2F6BDE"/>
          </a:solidFill>
          <a:ln w="0">
            <a:solidFill>
              <a:srgbClr val="2F6BDE"/>
            </a:solidFill>
            <a:prstDash val="solid"/>
          </a:ln>
        </p:spPr>
        <p:txBody>
          <a:bodyPr/>
          <a:lstStyle/>
          <a:p>
            <a:endParaRPr lang="ja-JP" noProof="1"/>
          </a:p>
        </p:txBody>
      </p:sp>
      <p:sp>
        <p:nvSpPr>
          <p:cNvPr id="4" name="slide-7-title">
            <a:extLst>
              <a:ext uri="{FF2B5EF4-FFF2-40B4-BE49-F238E27FC236}">
                <a16:creationId xmlns:a16="http://schemas.microsoft.com/office/drawing/2014/main" id="{915D953A-4DA0-9CFE-DE3F-CF1F6F9B1C56}"/>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r>
              <a:rPr lang="ja-JP" altLang="en-US" sz="3200"/>
              <a:t>本研究の位置付け</a:t>
            </a:r>
            <a:endParaRPr lang="ja-JP" altLang="ja-JP" sz="3200" b="1"/>
          </a:p>
        </p:txBody>
      </p:sp>
      <p:sp>
        <p:nvSpPr>
          <p:cNvPr id="6" name="角丸四角形 5">
            <a:extLst>
              <a:ext uri="{FF2B5EF4-FFF2-40B4-BE49-F238E27FC236}">
                <a16:creationId xmlns:a16="http://schemas.microsoft.com/office/drawing/2014/main" id="{E77BC510-11F7-D523-EF09-21FFD43202B4}"/>
              </a:ext>
            </a:extLst>
          </p:cNvPr>
          <p:cNvSpPr/>
          <p:nvPr/>
        </p:nvSpPr>
        <p:spPr>
          <a:xfrm>
            <a:off x="3213540" y="5644450"/>
            <a:ext cx="2235200" cy="9736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t>なぜ</a:t>
            </a:r>
            <a:r>
              <a:rPr lang="en" altLang="ja-JP" dirty="0"/>
              <a:t>A</a:t>
            </a:r>
            <a:r>
              <a:rPr lang="ja-JP" altLang="en-US"/>
              <a:t>であり</a:t>
            </a:r>
            <a:br>
              <a:rPr lang="en-US" altLang="ja-JP" dirty="0"/>
            </a:br>
            <a:r>
              <a:rPr lang="en" altLang="ja-JP" dirty="0"/>
              <a:t>B</a:t>
            </a:r>
            <a:r>
              <a:rPr lang="ja-JP" altLang="en-US"/>
              <a:t>ではないのか</a:t>
            </a:r>
          </a:p>
        </p:txBody>
      </p:sp>
      <p:sp>
        <p:nvSpPr>
          <p:cNvPr id="7" name="角丸四角形 6">
            <a:extLst>
              <a:ext uri="{FF2B5EF4-FFF2-40B4-BE49-F238E27FC236}">
                <a16:creationId xmlns:a16="http://schemas.microsoft.com/office/drawing/2014/main" id="{A65A5F62-10EA-77BB-6252-5988BD4DAE8E}"/>
              </a:ext>
            </a:extLst>
          </p:cNvPr>
          <p:cNvSpPr/>
          <p:nvPr/>
        </p:nvSpPr>
        <p:spPr>
          <a:xfrm>
            <a:off x="6472219" y="5644449"/>
            <a:ext cx="2189182" cy="9736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 altLang="ja-JP" dirty="0"/>
              <a:t>log-odds</a:t>
            </a:r>
            <a:r>
              <a:rPr lang="ja-JP" altLang="en-US"/>
              <a:t>を</a:t>
            </a:r>
            <a:br>
              <a:rPr lang="en-US" altLang="ja-JP" dirty="0"/>
            </a:br>
            <a:r>
              <a:rPr lang="ja-JP" altLang="en-US"/>
              <a:t>局所的に回帰する</a:t>
            </a:r>
          </a:p>
        </p:txBody>
      </p:sp>
      <p:sp>
        <p:nvSpPr>
          <p:cNvPr id="8" name="角丸四角形 7">
            <a:extLst>
              <a:ext uri="{FF2B5EF4-FFF2-40B4-BE49-F238E27FC236}">
                <a16:creationId xmlns:a16="http://schemas.microsoft.com/office/drawing/2014/main" id="{858F51F6-BEB1-9801-7DC4-F07330981557}"/>
              </a:ext>
            </a:extLst>
          </p:cNvPr>
          <p:cNvSpPr/>
          <p:nvPr/>
        </p:nvSpPr>
        <p:spPr>
          <a:xfrm>
            <a:off x="3448050" y="645206"/>
            <a:ext cx="5447861" cy="889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t>提案手法</a:t>
            </a:r>
          </a:p>
          <a:p>
            <a:pPr algn="ctr"/>
            <a:r>
              <a:rPr lang="ja-JP" altLang="en-US"/>
              <a:t>予測</a:t>
            </a:r>
            <a:r>
              <a:rPr lang="en-US" altLang="ja-JP" dirty="0"/>
              <a:t>1</a:t>
            </a:r>
            <a:r>
              <a:rPr lang="ja-JP" altLang="en-US"/>
              <a:t>位と</a:t>
            </a:r>
            <a:r>
              <a:rPr lang="en-US" altLang="ja-JP" dirty="0"/>
              <a:t>2</a:t>
            </a:r>
            <a:r>
              <a:rPr lang="ja-JP" altLang="en-US"/>
              <a:t>位の対数比を</a:t>
            </a:r>
            <a:r>
              <a:rPr lang="en" altLang="ja-JP" dirty="0"/>
              <a:t>LIME</a:t>
            </a:r>
            <a:r>
              <a:rPr lang="ja-JP" altLang="en-US"/>
              <a:t>型モデルで説明する</a:t>
            </a:r>
          </a:p>
        </p:txBody>
      </p:sp>
      <p:sp>
        <p:nvSpPr>
          <p:cNvPr id="9" name="右矢印 8">
            <a:extLst>
              <a:ext uri="{FF2B5EF4-FFF2-40B4-BE49-F238E27FC236}">
                <a16:creationId xmlns:a16="http://schemas.microsoft.com/office/drawing/2014/main" id="{71D505B8-08A7-8D12-1285-F6E0594165DB}"/>
              </a:ext>
            </a:extLst>
          </p:cNvPr>
          <p:cNvSpPr>
            <a:spLocks noGrp="1"/>
          </p:cNvSpPr>
          <p:nvPr/>
        </p:nvSpPr>
        <p:spPr>
          <a:xfrm>
            <a:off x="2466975" y="2143125"/>
            <a:ext cx="666750" cy="266700"/>
          </a:xfrm>
          <a:prstGeom prst="rightArrow">
            <a:avLst/>
          </a:prstGeom>
          <a:solidFill>
            <a:srgbClr val="2563EB"/>
          </a:solidFill>
          <a:ln w="0">
            <a:solidFill>
              <a:srgbClr val="2563EB"/>
            </a:solidFill>
            <a:prstDash val="solid"/>
          </a:ln>
        </p:spPr>
        <p:txBody>
          <a:bodyPr/>
          <a:lstStyle/>
          <a:p>
            <a:endParaRPr lang="ja-JP" noProof="1"/>
          </a:p>
        </p:txBody>
      </p:sp>
      <p:sp>
        <p:nvSpPr>
          <p:cNvPr id="10" name="右矢印 9">
            <a:extLst>
              <a:ext uri="{FF2B5EF4-FFF2-40B4-BE49-F238E27FC236}">
                <a16:creationId xmlns:a16="http://schemas.microsoft.com/office/drawing/2014/main" id="{1208DBFC-A11C-BE90-12D6-28B53B44646C}"/>
              </a:ext>
            </a:extLst>
          </p:cNvPr>
          <p:cNvSpPr>
            <a:spLocks noGrp="1"/>
          </p:cNvSpPr>
          <p:nvPr/>
        </p:nvSpPr>
        <p:spPr>
          <a:xfrm>
            <a:off x="4752975" y="2143125"/>
            <a:ext cx="666750" cy="266700"/>
          </a:xfrm>
          <a:prstGeom prst="rightArrow">
            <a:avLst/>
          </a:prstGeom>
          <a:solidFill>
            <a:srgbClr val="2563EB"/>
          </a:solidFill>
          <a:ln w="0">
            <a:solidFill>
              <a:srgbClr val="2563EB"/>
            </a:solidFill>
            <a:prstDash val="solid"/>
          </a:ln>
        </p:spPr>
        <p:txBody>
          <a:bodyPr/>
          <a:lstStyle/>
          <a:p>
            <a:endParaRPr lang="ja-JP" noProof="1"/>
          </a:p>
        </p:txBody>
      </p:sp>
      <p:sp>
        <p:nvSpPr>
          <p:cNvPr id="11" name="右矢印 10">
            <a:extLst>
              <a:ext uri="{FF2B5EF4-FFF2-40B4-BE49-F238E27FC236}">
                <a16:creationId xmlns:a16="http://schemas.microsoft.com/office/drawing/2014/main" id="{928C169C-4C4B-A405-F580-0B2DFD6067E0}"/>
              </a:ext>
            </a:extLst>
          </p:cNvPr>
          <p:cNvSpPr>
            <a:spLocks noGrp="1"/>
          </p:cNvSpPr>
          <p:nvPr/>
        </p:nvSpPr>
        <p:spPr>
          <a:xfrm>
            <a:off x="7038975" y="2143125"/>
            <a:ext cx="666750" cy="266700"/>
          </a:xfrm>
          <a:prstGeom prst="rightArrow">
            <a:avLst/>
          </a:prstGeom>
          <a:solidFill>
            <a:srgbClr val="2563EB"/>
          </a:solidFill>
          <a:ln w="0">
            <a:solidFill>
              <a:srgbClr val="2563EB"/>
            </a:solidFill>
            <a:prstDash val="solid"/>
          </a:ln>
        </p:spPr>
        <p:txBody>
          <a:bodyPr/>
          <a:lstStyle/>
          <a:p>
            <a:endParaRPr lang="ja-JP" noProof="1"/>
          </a:p>
        </p:txBody>
      </p:sp>
      <p:sp>
        <p:nvSpPr>
          <p:cNvPr id="12" name="右矢印 11">
            <a:extLst>
              <a:ext uri="{FF2B5EF4-FFF2-40B4-BE49-F238E27FC236}">
                <a16:creationId xmlns:a16="http://schemas.microsoft.com/office/drawing/2014/main" id="{863C4316-6574-83C3-5F0A-7EB1B634AFDF}"/>
              </a:ext>
            </a:extLst>
          </p:cNvPr>
          <p:cNvSpPr>
            <a:spLocks noGrp="1"/>
          </p:cNvSpPr>
          <p:nvPr/>
        </p:nvSpPr>
        <p:spPr>
          <a:xfrm>
            <a:off x="9324975" y="2143125"/>
            <a:ext cx="666750" cy="266700"/>
          </a:xfrm>
          <a:prstGeom prst="rightArrow">
            <a:avLst/>
          </a:prstGeom>
          <a:solidFill>
            <a:srgbClr val="2563EB"/>
          </a:solidFill>
          <a:ln w="0">
            <a:solidFill>
              <a:srgbClr val="2563EB"/>
            </a:solidFill>
            <a:prstDash val="solid"/>
          </a:ln>
        </p:spPr>
        <p:txBody>
          <a:bodyPr/>
          <a:lstStyle/>
          <a:p>
            <a:endParaRPr lang="ja-JP" noProof="1"/>
          </a:p>
        </p:txBody>
      </p:sp>
      <p:sp>
        <p:nvSpPr>
          <p:cNvPr id="13" name="正方形/長方形 12">
            <a:extLst>
              <a:ext uri="{FF2B5EF4-FFF2-40B4-BE49-F238E27FC236}">
                <a16:creationId xmlns:a16="http://schemas.microsoft.com/office/drawing/2014/main" id="{396FBE98-F1BC-C6C3-397A-CD16FC4F4F22}"/>
              </a:ext>
            </a:extLst>
          </p:cNvPr>
          <p:cNvSpPr>
            <a:spLocks noGrp="1"/>
          </p:cNvSpPr>
          <p:nvPr/>
        </p:nvSpPr>
        <p:spPr>
          <a:xfrm>
            <a:off x="514350" y="1600200"/>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14" name="正方形/長方形 13">
            <a:extLst>
              <a:ext uri="{FF2B5EF4-FFF2-40B4-BE49-F238E27FC236}">
                <a16:creationId xmlns:a16="http://schemas.microsoft.com/office/drawing/2014/main" id="{5E5742A4-E9D8-A5A7-124E-A00931077258}"/>
              </a:ext>
            </a:extLst>
          </p:cNvPr>
          <p:cNvSpPr>
            <a:spLocks noGrp="1"/>
          </p:cNvSpPr>
          <p:nvPr/>
        </p:nvSpPr>
        <p:spPr>
          <a:xfrm>
            <a:off x="685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rgbClr val="2563EB"/>
                </a:solidFill>
                <a:latin typeface="Yu Gothic"/>
                <a:ea typeface="Yu Gothic"/>
                <a:cs typeface="Yu Gothic"/>
              </a:rPr>
              <a:t>01</a:t>
            </a:r>
          </a:p>
        </p:txBody>
      </p:sp>
      <p:sp>
        <p:nvSpPr>
          <p:cNvPr id="15" name="正方形/長方形 14">
            <a:extLst>
              <a:ext uri="{FF2B5EF4-FFF2-40B4-BE49-F238E27FC236}">
                <a16:creationId xmlns:a16="http://schemas.microsoft.com/office/drawing/2014/main" id="{A9C48B25-1741-16A8-B383-435FDD7DE9E6}"/>
              </a:ext>
            </a:extLst>
          </p:cNvPr>
          <p:cNvSpPr>
            <a:spLocks noGrp="1"/>
          </p:cNvSpPr>
          <p:nvPr/>
        </p:nvSpPr>
        <p:spPr>
          <a:xfrm>
            <a:off x="685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説明対象を</a:t>
            </a:r>
          </a:p>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1つ選ぶ</a:t>
            </a:r>
          </a:p>
        </p:txBody>
      </p:sp>
      <p:sp>
        <p:nvSpPr>
          <p:cNvPr id="16" name="正方形/長方形 15">
            <a:extLst>
              <a:ext uri="{FF2B5EF4-FFF2-40B4-BE49-F238E27FC236}">
                <a16:creationId xmlns:a16="http://schemas.microsoft.com/office/drawing/2014/main" id="{E5309927-BE94-6972-66DA-7E683C0149EA}"/>
              </a:ext>
            </a:extLst>
          </p:cNvPr>
          <p:cNvSpPr>
            <a:spLocks noGrp="1"/>
          </p:cNvSpPr>
          <p:nvPr/>
        </p:nvSpPr>
        <p:spPr>
          <a:xfrm>
            <a:off x="2800350" y="1600200"/>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17" name="正方形/長方形 16">
            <a:extLst>
              <a:ext uri="{FF2B5EF4-FFF2-40B4-BE49-F238E27FC236}">
                <a16:creationId xmlns:a16="http://schemas.microsoft.com/office/drawing/2014/main" id="{5CE0A8B7-FD95-0EFC-8C73-CF86C75528FA}"/>
              </a:ext>
            </a:extLst>
          </p:cNvPr>
          <p:cNvSpPr>
            <a:spLocks noGrp="1"/>
          </p:cNvSpPr>
          <p:nvPr/>
        </p:nvSpPr>
        <p:spPr>
          <a:xfrm>
            <a:off x="2971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rgbClr val="2563EB"/>
                </a:solidFill>
                <a:latin typeface="Yu Gothic"/>
                <a:ea typeface="Yu Gothic"/>
                <a:cs typeface="Yu Gothic"/>
              </a:rPr>
              <a:t>02</a:t>
            </a:r>
          </a:p>
        </p:txBody>
      </p:sp>
      <p:sp>
        <p:nvSpPr>
          <p:cNvPr id="18" name="正方形/長方形 17">
            <a:extLst>
              <a:ext uri="{FF2B5EF4-FFF2-40B4-BE49-F238E27FC236}">
                <a16:creationId xmlns:a16="http://schemas.microsoft.com/office/drawing/2014/main" id="{E64BFCB8-1329-1564-D2B5-ABDD8F05ECD9}"/>
              </a:ext>
            </a:extLst>
          </p:cNvPr>
          <p:cNvSpPr>
            <a:spLocks noGrp="1"/>
          </p:cNvSpPr>
          <p:nvPr/>
        </p:nvSpPr>
        <p:spPr>
          <a:xfrm>
            <a:off x="2971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近傍サンプルを</a:t>
            </a:r>
          </a:p>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多数作る</a:t>
            </a:r>
          </a:p>
        </p:txBody>
      </p:sp>
      <p:sp>
        <p:nvSpPr>
          <p:cNvPr id="19" name="正方形/長方形 18">
            <a:extLst>
              <a:ext uri="{FF2B5EF4-FFF2-40B4-BE49-F238E27FC236}">
                <a16:creationId xmlns:a16="http://schemas.microsoft.com/office/drawing/2014/main" id="{2206D477-5AE5-7BFE-9836-829BF612DBF6}"/>
              </a:ext>
            </a:extLst>
          </p:cNvPr>
          <p:cNvSpPr>
            <a:spLocks noGrp="1"/>
          </p:cNvSpPr>
          <p:nvPr/>
        </p:nvSpPr>
        <p:spPr>
          <a:xfrm>
            <a:off x="5086350" y="1600200"/>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20" name="正方形/長方形 19">
            <a:extLst>
              <a:ext uri="{FF2B5EF4-FFF2-40B4-BE49-F238E27FC236}">
                <a16:creationId xmlns:a16="http://schemas.microsoft.com/office/drawing/2014/main" id="{62EA41B3-C754-D6B9-E246-85308FA06BB8}"/>
              </a:ext>
            </a:extLst>
          </p:cNvPr>
          <p:cNvSpPr>
            <a:spLocks noGrp="1"/>
          </p:cNvSpPr>
          <p:nvPr/>
        </p:nvSpPr>
        <p:spPr>
          <a:xfrm>
            <a:off x="5257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rgbClr val="2563EB"/>
                </a:solidFill>
                <a:latin typeface="Yu Gothic"/>
                <a:ea typeface="Yu Gothic"/>
                <a:cs typeface="Yu Gothic"/>
              </a:rPr>
              <a:t>03</a:t>
            </a:r>
          </a:p>
        </p:txBody>
      </p:sp>
      <p:sp>
        <p:nvSpPr>
          <p:cNvPr id="21" name="正方形/長方形 20">
            <a:extLst>
              <a:ext uri="{FF2B5EF4-FFF2-40B4-BE49-F238E27FC236}">
                <a16:creationId xmlns:a16="http://schemas.microsoft.com/office/drawing/2014/main" id="{60435662-B2E6-7041-23AD-D74EB8BA0757}"/>
              </a:ext>
            </a:extLst>
          </p:cNvPr>
          <p:cNvSpPr>
            <a:spLocks noGrp="1"/>
          </p:cNvSpPr>
          <p:nvPr/>
        </p:nvSpPr>
        <p:spPr>
          <a:xfrm>
            <a:off x="5172074" y="2134281"/>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ブラックボックスの</a:t>
            </a:r>
          </a:p>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予測を得る</a:t>
            </a:r>
          </a:p>
        </p:txBody>
      </p:sp>
      <p:sp>
        <p:nvSpPr>
          <p:cNvPr id="22" name="正方形/長方形 21">
            <a:extLst>
              <a:ext uri="{FF2B5EF4-FFF2-40B4-BE49-F238E27FC236}">
                <a16:creationId xmlns:a16="http://schemas.microsoft.com/office/drawing/2014/main" id="{253F7F76-7D85-E3C9-7E67-13FF45DACDD4}"/>
              </a:ext>
            </a:extLst>
          </p:cNvPr>
          <p:cNvSpPr>
            <a:spLocks noGrp="1"/>
          </p:cNvSpPr>
          <p:nvPr/>
        </p:nvSpPr>
        <p:spPr>
          <a:xfrm>
            <a:off x="7372350" y="1600200"/>
            <a:ext cx="1952625" cy="1381125"/>
          </a:xfrm>
          <a:prstGeom prst="rect">
            <a:avLst/>
          </a:prstGeom>
          <a:solidFill>
            <a:srgbClr val="F3F4F6"/>
          </a:solidFill>
          <a:ln w="19050">
            <a:solidFill>
              <a:srgbClr val="CBD5E1"/>
            </a:solidFill>
            <a:prstDash val="solid"/>
          </a:ln>
          <a:effectLst>
            <a:outerShdw blurRad="50800" dist="38100" dir="2700000" algn="tl" rotWithShape="0">
              <a:prstClr val="black">
                <a:alpha val="40000"/>
              </a:prstClr>
            </a:outerShdw>
          </a:effectLst>
        </p:spPr>
        <p:txBody>
          <a:bodyPr/>
          <a:lstStyle/>
          <a:p>
            <a:endParaRPr lang="ja-JP" noProof="1"/>
          </a:p>
        </p:txBody>
      </p:sp>
      <p:sp>
        <p:nvSpPr>
          <p:cNvPr id="23" name="正方形/長方形 22">
            <a:extLst>
              <a:ext uri="{FF2B5EF4-FFF2-40B4-BE49-F238E27FC236}">
                <a16:creationId xmlns:a16="http://schemas.microsoft.com/office/drawing/2014/main" id="{D16979DE-5937-4D0D-5EBB-15B91E238901}"/>
              </a:ext>
            </a:extLst>
          </p:cNvPr>
          <p:cNvSpPr>
            <a:spLocks noGrp="1"/>
          </p:cNvSpPr>
          <p:nvPr/>
        </p:nvSpPr>
        <p:spPr>
          <a:xfrm>
            <a:off x="7543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lang="ja-JP" sz="1600" b="1" noProof="1">
                <a:solidFill>
                  <a:srgbClr val="2563EB"/>
                </a:solidFill>
                <a:latin typeface="Yu Gothic"/>
                <a:ea typeface="Yu Gothic"/>
                <a:cs typeface="Yu Gothic"/>
              </a:rPr>
              <a:t>04</a:t>
            </a:r>
          </a:p>
        </p:txBody>
      </p:sp>
      <p:sp>
        <p:nvSpPr>
          <p:cNvPr id="24" name="正方形/長方形 23">
            <a:extLst>
              <a:ext uri="{FF2B5EF4-FFF2-40B4-BE49-F238E27FC236}">
                <a16:creationId xmlns:a16="http://schemas.microsoft.com/office/drawing/2014/main" id="{D5C0B56C-AFF4-04D7-239D-3606CE468344}"/>
              </a:ext>
            </a:extLst>
          </p:cNvPr>
          <p:cNvSpPr>
            <a:spLocks noGrp="1"/>
          </p:cNvSpPr>
          <p:nvPr/>
        </p:nvSpPr>
        <p:spPr>
          <a:xfrm>
            <a:off x="7543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近いサンプルを</a:t>
            </a:r>
          </a:p>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強く重み付け</a:t>
            </a:r>
          </a:p>
        </p:txBody>
      </p:sp>
      <p:sp>
        <p:nvSpPr>
          <p:cNvPr id="25" name="正方形/長方形 24">
            <a:extLst>
              <a:ext uri="{FF2B5EF4-FFF2-40B4-BE49-F238E27FC236}">
                <a16:creationId xmlns:a16="http://schemas.microsoft.com/office/drawing/2014/main" id="{8EC8AC13-CBEC-3CE9-B1DE-103B8E5F97EE}"/>
              </a:ext>
            </a:extLst>
          </p:cNvPr>
          <p:cNvSpPr>
            <a:spLocks noGrp="1"/>
          </p:cNvSpPr>
          <p:nvPr/>
        </p:nvSpPr>
        <p:spPr>
          <a:xfrm>
            <a:off x="9658350" y="1600200"/>
            <a:ext cx="1952625" cy="1381125"/>
          </a:xfrm>
          <a:prstGeom prst="rect">
            <a:avLst/>
          </a:prstGeom>
          <a:solidFill>
            <a:srgbClr val="D1FAE5"/>
          </a:solidFill>
          <a:ln w="19050">
            <a:solidFill>
              <a:srgbClr val="10B981"/>
            </a:solidFill>
            <a:prstDash val="solid"/>
          </a:ln>
          <a:effectLst>
            <a:outerShdw blurRad="50800" dist="38100" dir="2700000" algn="tl" rotWithShape="0">
              <a:prstClr val="black">
                <a:alpha val="40000"/>
              </a:prstClr>
            </a:outerShdw>
          </a:effectLst>
        </p:spPr>
        <p:txBody>
          <a:bodyPr/>
          <a:lstStyle/>
          <a:p>
            <a:endParaRPr lang="ja-JP" noProof="1"/>
          </a:p>
        </p:txBody>
      </p:sp>
      <p:sp>
        <p:nvSpPr>
          <p:cNvPr id="26" name="正方形/長方形 25">
            <a:extLst>
              <a:ext uri="{FF2B5EF4-FFF2-40B4-BE49-F238E27FC236}">
                <a16:creationId xmlns:a16="http://schemas.microsoft.com/office/drawing/2014/main" id="{BB135104-8274-C469-15D8-8C45CAD626A0}"/>
              </a:ext>
            </a:extLst>
          </p:cNvPr>
          <p:cNvSpPr>
            <a:spLocks noGrp="1"/>
          </p:cNvSpPr>
          <p:nvPr/>
        </p:nvSpPr>
        <p:spPr>
          <a:xfrm>
            <a:off x="9829800" y="1752600"/>
            <a:ext cx="476250" cy="247650"/>
          </a:xfrm>
          <a:prstGeom prst="rect">
            <a:avLst/>
          </a:prstGeom>
          <a:noFill/>
          <a:ln w="0">
            <a:noFill/>
            <a:prstDash val="solid"/>
          </a:ln>
        </p:spPr>
        <p:txBody>
          <a:bodyPr lIns="0" tIns="0" rIns="0" bIns="0" anchor="t">
            <a:noAutofit/>
          </a:bodyPr>
          <a:lstStyle/>
          <a:p>
            <a:pPr algn="l">
              <a:buNone/>
              <a:defRPr sz="1275" b="1">
                <a:solidFill>
                  <a:srgbClr val="10B981"/>
                </a:solidFill>
                <a:latin typeface="Yu Gothic"/>
                <a:ea typeface="Yu Gothic"/>
                <a:cs typeface="Yu Gothic"/>
              </a:defRPr>
            </a:pPr>
            <a:r>
              <a:rPr lang="ja-JP" sz="1600" b="1" noProof="1">
                <a:solidFill>
                  <a:srgbClr val="10B981"/>
                </a:solidFill>
                <a:latin typeface="Yu Gothic"/>
                <a:ea typeface="Yu Gothic"/>
                <a:cs typeface="Yu Gothic"/>
              </a:rPr>
              <a:t>05</a:t>
            </a:r>
          </a:p>
        </p:txBody>
      </p:sp>
      <p:sp>
        <p:nvSpPr>
          <p:cNvPr id="27" name="正方形/長方形 26">
            <a:extLst>
              <a:ext uri="{FF2B5EF4-FFF2-40B4-BE49-F238E27FC236}">
                <a16:creationId xmlns:a16="http://schemas.microsoft.com/office/drawing/2014/main" id="{23C3E4BE-9506-7B85-38E0-06A72CD88F3E}"/>
              </a:ext>
            </a:extLst>
          </p:cNvPr>
          <p:cNvSpPr>
            <a:spLocks noGrp="1"/>
          </p:cNvSpPr>
          <p:nvPr/>
        </p:nvSpPr>
        <p:spPr>
          <a:xfrm>
            <a:off x="9740154" y="2114550"/>
            <a:ext cx="178117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単純な局所モデルを</a:t>
            </a:r>
          </a:p>
          <a:p>
            <a:pPr algn="ctr">
              <a:buNone/>
              <a:defRPr sz="1500" b="1">
                <a:solidFill>
                  <a:srgbClr val="111827"/>
                </a:solidFill>
                <a:latin typeface="Yu Gothic"/>
                <a:ea typeface="Yu Gothic"/>
                <a:cs typeface="Yu Gothic"/>
              </a:defRPr>
            </a:pPr>
            <a:r>
              <a:rPr lang="ja-JP" sz="1600" b="1" noProof="1">
                <a:solidFill>
                  <a:srgbClr val="111827"/>
                </a:solidFill>
                <a:latin typeface="Yu Gothic"/>
                <a:ea typeface="Yu Gothic"/>
                <a:cs typeface="Yu Gothic"/>
              </a:rPr>
              <a:t>学習する</a:t>
            </a:r>
          </a:p>
        </p:txBody>
      </p:sp>
    </p:spTree>
    <p:extLst>
      <p:ext uri="{BB962C8B-B14F-4D97-AF65-F5344CB8AC3E}">
        <p14:creationId xmlns:p14="http://schemas.microsoft.com/office/powerpoint/2010/main" val="144061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a:extLst>
              <a:ext uri="{FF2B5EF4-FFF2-40B4-BE49-F238E27FC236}">
                <a16:creationId xmlns:a16="http://schemas.microsoft.com/office/drawing/2014/main" id="{9F8F6CF5-6E34-4103-9083-D040B96B1DEE}"/>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10-title">
            <a:extLst>
              <a:ext uri="{FF2B5EF4-FFF2-40B4-BE49-F238E27FC236}">
                <a16:creationId xmlns:a16="http://schemas.microsoft.com/office/drawing/2014/main" id="{902FA16F-4B14-4A30-87C1-D2DC55940F28}"/>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まず「多クラス説明の何を良くするか」を定義する</a:t>
            </a:r>
          </a:p>
        </p:txBody>
      </p:sp>
      <p:sp>
        <p:nvSpPr>
          <p:cNvPr id="3" name="slide-10-subtitle">
            <a:extLst>
              <a:ext uri="{FF2B5EF4-FFF2-40B4-BE49-F238E27FC236}">
                <a16:creationId xmlns:a16="http://schemas.microsoft.com/office/drawing/2014/main" id="{EDE29819-D1C9-478F-9833-A7B608B0B3CF}"/>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手法を決める前に、研究目的と評価軸を対応させる</a:t>
            </a:r>
          </a:p>
        </p:txBody>
      </p:sp>
      <p:sp>
        <p:nvSpPr>
          <p:cNvPr id="4" name="正方形/長方形 3">
            <a:extLst>
              <a:ext uri="{FF2B5EF4-FFF2-40B4-BE49-F238E27FC236}">
                <a16:creationId xmlns:a16="http://schemas.microsoft.com/office/drawing/2014/main" id="{423A0C86-53AB-4232-9E61-38D0C6BB5E58}"/>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10</a:t>
            </a:r>
          </a:p>
        </p:txBody>
      </p:sp>
      <p:cxnSp>
        <p:nvCxnSpPr>
          <p:cNvPr id="54" name="直線矢印コネクタ 31"/>
          <p:cNvCxnSpPr/>
          <p:nvPr/>
        </p:nvCxnSpPr>
        <p:spPr>
          <a:xfrm>
            <a:off x="4143375" y="1762125"/>
            <a:ext cx="0" cy="3143250"/>
          </a:xfrm>
          <a:prstGeom prst="straightConnector1">
            <a:avLst/>
          </a:prstGeom>
          <a:ln w="19050">
            <a:solidFill>
              <a:srgbClr val="CBD5E1"/>
            </a:solidFill>
            <a:prstDash val="solid"/>
          </a:ln>
        </p:spPr>
      </p:cxnSp>
      <p:cxnSp>
        <p:nvCxnSpPr>
          <p:cNvPr id="55" name="直線矢印コネクタ 32"/>
          <p:cNvCxnSpPr/>
          <p:nvPr/>
        </p:nvCxnSpPr>
        <p:spPr>
          <a:xfrm>
            <a:off x="8048625" y="1762125"/>
            <a:ext cx="0" cy="3143250"/>
          </a:xfrm>
          <a:prstGeom prst="straightConnector1">
            <a:avLst/>
          </a:prstGeom>
          <a:ln w="19050">
            <a:solidFill>
              <a:srgbClr val="CBD5E1"/>
            </a:solidFill>
            <a:prstDash val="solid"/>
          </a:ln>
        </p:spPr>
      </p:cxnSp>
      <p:sp>
        <p:nvSpPr>
          <p:cNvPr id="7" name="正方形/長方形 6">
            <a:extLst>
              <a:ext uri="{FF2B5EF4-FFF2-40B4-BE49-F238E27FC236}">
                <a16:creationId xmlns:a16="http://schemas.microsoft.com/office/drawing/2014/main" id="{7E184F1E-1F10-4A99-BA1F-03A7624D56F7}"/>
              </a:ext>
            </a:extLst>
          </p:cNvPr>
          <p:cNvSpPr>
            <a:spLocks noGrp="1"/>
          </p:cNvSpPr>
          <p:nvPr/>
        </p:nvSpPr>
        <p:spPr>
          <a:xfrm>
            <a:off x="619125" y="1762125"/>
            <a:ext cx="1047750" cy="666750"/>
          </a:xfrm>
          <a:prstGeom prst="rect">
            <a:avLst/>
          </a:prstGeom>
          <a:noFill/>
          <a:ln w="0">
            <a:noFill/>
            <a:prstDash val="solid"/>
          </a:ln>
        </p:spPr>
        <p:txBody>
          <a:bodyPr lIns="0" tIns="0" rIns="0" bIns="0" anchor="t">
            <a:noAutofit/>
          </a:bodyPr>
          <a:lstStyle/>
          <a:p>
            <a:pPr algn="l">
              <a:buNone/>
              <a:defRPr sz="3900" b="1">
                <a:solidFill>
                  <a:srgbClr val="2563EB"/>
                </a:solidFill>
                <a:latin typeface="Yu Gothic"/>
                <a:ea typeface="Yu Gothic"/>
                <a:cs typeface="Yu Gothic"/>
              </a:defRPr>
            </a:pPr>
            <a:r>
              <a:rPr sz="3900" b="1">
                <a:solidFill>
                  <a:srgbClr val="2563EB"/>
                </a:solidFill>
                <a:latin typeface="Yu Gothic"/>
                <a:ea typeface="Yu Gothic"/>
                <a:cs typeface="Yu Gothic"/>
              </a:rPr>
              <a:t>01</a:t>
            </a:r>
          </a:p>
        </p:txBody>
      </p:sp>
      <p:sp>
        <p:nvSpPr>
          <p:cNvPr id="8" name="正方形/長方形 7">
            <a:extLst>
              <a:ext uri="{FF2B5EF4-FFF2-40B4-BE49-F238E27FC236}">
                <a16:creationId xmlns:a16="http://schemas.microsoft.com/office/drawing/2014/main" id="{6EB8A469-EF6A-4248-8B5C-340D0C3548C9}"/>
              </a:ext>
            </a:extLst>
          </p:cNvPr>
          <p:cNvSpPr>
            <a:spLocks noGrp="1"/>
          </p:cNvSpPr>
          <p:nvPr/>
        </p:nvSpPr>
        <p:spPr>
          <a:xfrm>
            <a:off x="619125" y="2571750"/>
            <a:ext cx="3143250" cy="400050"/>
          </a:xfrm>
          <a:prstGeom prst="rect">
            <a:avLst/>
          </a:prstGeom>
          <a:noFill/>
          <a:ln w="0">
            <a:noFill/>
            <a:prstDash val="solid"/>
          </a:ln>
        </p:spPr>
        <p:txBody>
          <a:bodyPr lIns="0" tIns="0" rIns="0" bIns="0" anchor="t">
            <a:noAutofit/>
          </a:bodyPr>
          <a:lstStyle/>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予測再現</a:t>
            </a:r>
          </a:p>
        </p:txBody>
      </p:sp>
      <p:sp>
        <p:nvSpPr>
          <p:cNvPr id="9" name="正方形/長方形 8">
            <a:extLst>
              <a:ext uri="{FF2B5EF4-FFF2-40B4-BE49-F238E27FC236}">
                <a16:creationId xmlns:a16="http://schemas.microsoft.com/office/drawing/2014/main" id="{369C92C9-F4E1-4604-8D76-E321EB0BC4A3}"/>
              </a:ext>
            </a:extLst>
          </p:cNvPr>
          <p:cNvSpPr>
            <a:spLocks noGrp="1"/>
          </p:cNvSpPr>
          <p:nvPr/>
        </p:nvSpPr>
        <p:spPr>
          <a:xfrm>
            <a:off x="619125" y="3190875"/>
            <a:ext cx="3143250" cy="723900"/>
          </a:xfrm>
          <a:prstGeom prst="rect">
            <a:avLst/>
          </a:prstGeom>
          <a:noFill/>
          <a:ln w="0">
            <a:noFill/>
            <a:prstDash val="solid"/>
          </a:ln>
        </p:spPr>
        <p:txBody>
          <a:bodyPr lIns="0" tIns="0" rIns="0" bIns="0" anchor="t">
            <a:noAutofit/>
          </a:bodyPr>
          <a:lstStyle/>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元モデルを</a:t>
            </a:r>
          </a:p>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まねられるか</a:t>
            </a:r>
          </a:p>
        </p:txBody>
      </p:sp>
      <p:cxnSp>
        <p:nvCxnSpPr>
          <p:cNvPr id="59" name="直線矢印コネクタ 36"/>
          <p:cNvCxnSpPr/>
          <p:nvPr/>
        </p:nvCxnSpPr>
        <p:spPr>
          <a:xfrm>
            <a:off x="619125" y="4095750"/>
            <a:ext cx="2857500" cy="0"/>
          </a:xfrm>
          <a:prstGeom prst="straightConnector1">
            <a:avLst/>
          </a:prstGeom>
          <a:ln w="47625">
            <a:solidFill>
              <a:srgbClr val="2563EB"/>
            </a:solidFill>
            <a:prstDash val="solid"/>
          </a:ln>
        </p:spPr>
      </p:cxnSp>
      <p:sp>
        <p:nvSpPr>
          <p:cNvPr id="11" name="正方形/長方形 10">
            <a:extLst>
              <a:ext uri="{FF2B5EF4-FFF2-40B4-BE49-F238E27FC236}">
                <a16:creationId xmlns:a16="http://schemas.microsoft.com/office/drawing/2014/main" id="{03629073-E411-4861-B32F-C3C8AFBE5271}"/>
              </a:ext>
            </a:extLst>
          </p:cNvPr>
          <p:cNvSpPr>
            <a:spLocks noGrp="1"/>
          </p:cNvSpPr>
          <p:nvPr/>
        </p:nvSpPr>
        <p:spPr>
          <a:xfrm>
            <a:off x="619125" y="4362450"/>
            <a:ext cx="952500" cy="266700"/>
          </a:xfrm>
          <a:prstGeom prst="rect">
            <a:avLst/>
          </a:prstGeom>
          <a:noFill/>
          <a:ln w="0">
            <a:noFill/>
            <a:prstDash val="solid"/>
          </a:ln>
        </p:spPr>
        <p:txBody>
          <a:bodyPr lIns="0" tIns="0" rIns="0" bIns="0" anchor="t">
            <a:noAutofit/>
          </a:bodyPr>
          <a:lstStyle/>
          <a:p>
            <a:pPr algn="l">
              <a:buNone/>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12" name="正方形/長方形 11">
            <a:extLst>
              <a:ext uri="{FF2B5EF4-FFF2-40B4-BE49-F238E27FC236}">
                <a16:creationId xmlns:a16="http://schemas.microsoft.com/office/drawing/2014/main" id="{B62BB417-B455-45EC-9855-B415D053B4D4}"/>
              </a:ext>
            </a:extLst>
          </p:cNvPr>
          <p:cNvSpPr>
            <a:spLocks noGrp="1"/>
          </p:cNvSpPr>
          <p:nvPr/>
        </p:nvSpPr>
        <p:spPr>
          <a:xfrm>
            <a:off x="619125" y="4686300"/>
            <a:ext cx="2857500" cy="609600"/>
          </a:xfrm>
          <a:prstGeom prst="rect">
            <a:avLst/>
          </a:prstGeom>
          <a:noFill/>
          <a:ln w="0">
            <a:noFill/>
            <a:prstDash val="solid"/>
          </a:ln>
        </p:spPr>
        <p:txBody>
          <a:bodyPr lIns="0" tIns="0" rIns="0" bIns="0" anchor="t">
            <a:noAutofit/>
          </a:bodyPr>
          <a:lstStyle/>
          <a:p>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確率の誤差</a:t>
            </a:r>
          </a:p>
          <a:p>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局所忠実性</a:t>
            </a:r>
          </a:p>
        </p:txBody>
      </p:sp>
      <p:sp>
        <p:nvSpPr>
          <p:cNvPr id="13" name="正方形/長方形 12">
            <a:extLst>
              <a:ext uri="{FF2B5EF4-FFF2-40B4-BE49-F238E27FC236}">
                <a16:creationId xmlns:a16="http://schemas.microsoft.com/office/drawing/2014/main" id="{CA675AF9-9E87-450B-88E1-6DE7C1A75A5C}"/>
              </a:ext>
            </a:extLst>
          </p:cNvPr>
          <p:cNvSpPr>
            <a:spLocks noGrp="1"/>
          </p:cNvSpPr>
          <p:nvPr/>
        </p:nvSpPr>
        <p:spPr>
          <a:xfrm>
            <a:off x="4524375" y="1762125"/>
            <a:ext cx="1047750" cy="666750"/>
          </a:xfrm>
          <a:prstGeom prst="rect">
            <a:avLst/>
          </a:prstGeom>
          <a:noFill/>
          <a:ln w="0">
            <a:noFill/>
            <a:prstDash val="solid"/>
          </a:ln>
        </p:spPr>
        <p:txBody>
          <a:bodyPr lIns="0" tIns="0" rIns="0" bIns="0" anchor="t">
            <a:noAutofit/>
          </a:bodyPr>
          <a:lstStyle/>
          <a:p>
            <a:pPr algn="l">
              <a:buNone/>
              <a:defRPr sz="3900" b="1">
                <a:solidFill>
                  <a:srgbClr val="F59E0B"/>
                </a:solidFill>
                <a:latin typeface="Yu Gothic"/>
                <a:ea typeface="Yu Gothic"/>
                <a:cs typeface="Yu Gothic"/>
              </a:defRPr>
            </a:pPr>
            <a:r>
              <a:rPr sz="3900" b="1">
                <a:solidFill>
                  <a:srgbClr val="F59E0B"/>
                </a:solidFill>
                <a:latin typeface="Yu Gothic"/>
                <a:ea typeface="Yu Gothic"/>
                <a:cs typeface="Yu Gothic"/>
              </a:rPr>
              <a:t>02</a:t>
            </a:r>
          </a:p>
        </p:txBody>
      </p:sp>
      <p:sp>
        <p:nvSpPr>
          <p:cNvPr id="14" name="正方形/長方形 13">
            <a:extLst>
              <a:ext uri="{FF2B5EF4-FFF2-40B4-BE49-F238E27FC236}">
                <a16:creationId xmlns:a16="http://schemas.microsoft.com/office/drawing/2014/main" id="{A0A5EAF3-A961-4666-98BC-016F803D24E3}"/>
              </a:ext>
            </a:extLst>
          </p:cNvPr>
          <p:cNvSpPr>
            <a:spLocks noGrp="1"/>
          </p:cNvSpPr>
          <p:nvPr/>
        </p:nvSpPr>
        <p:spPr>
          <a:xfrm>
            <a:off x="4524375" y="2571750"/>
            <a:ext cx="3143250" cy="400050"/>
          </a:xfrm>
          <a:prstGeom prst="rect">
            <a:avLst/>
          </a:prstGeom>
          <a:noFill/>
          <a:ln w="0">
            <a:noFill/>
            <a:prstDash val="solid"/>
          </a:ln>
        </p:spPr>
        <p:txBody>
          <a:bodyPr lIns="0" tIns="0" rIns="0" bIns="0" anchor="t">
            <a:noAutofit/>
          </a:bodyPr>
          <a:lstStyle/>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説明の一貫性</a:t>
            </a:r>
          </a:p>
        </p:txBody>
      </p:sp>
      <p:sp>
        <p:nvSpPr>
          <p:cNvPr id="15" name="正方形/長方形 14">
            <a:extLst>
              <a:ext uri="{FF2B5EF4-FFF2-40B4-BE49-F238E27FC236}">
                <a16:creationId xmlns:a16="http://schemas.microsoft.com/office/drawing/2014/main" id="{2B5D8ACA-4543-4A3F-BB81-FE17977D1830}"/>
              </a:ext>
            </a:extLst>
          </p:cNvPr>
          <p:cNvSpPr>
            <a:spLocks noGrp="1"/>
          </p:cNvSpPr>
          <p:nvPr/>
        </p:nvSpPr>
        <p:spPr>
          <a:xfrm>
            <a:off x="4524375" y="3190875"/>
            <a:ext cx="3143250" cy="723900"/>
          </a:xfrm>
          <a:prstGeom prst="rect">
            <a:avLst/>
          </a:prstGeom>
          <a:noFill/>
          <a:ln w="0">
            <a:noFill/>
            <a:prstDash val="solid"/>
          </a:ln>
        </p:spPr>
        <p:txBody>
          <a:bodyPr lIns="0" tIns="0" rIns="0" bIns="0" anchor="t">
            <a:noAutofit/>
          </a:bodyPr>
          <a:lstStyle/>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クラス間で説明が</a:t>
            </a:r>
          </a:p>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つながるか</a:t>
            </a:r>
          </a:p>
        </p:txBody>
      </p:sp>
      <p:cxnSp>
        <p:nvCxnSpPr>
          <p:cNvPr id="65" name="直線矢印コネクタ 42"/>
          <p:cNvCxnSpPr/>
          <p:nvPr/>
        </p:nvCxnSpPr>
        <p:spPr>
          <a:xfrm>
            <a:off x="4524375" y="4095750"/>
            <a:ext cx="2857500" cy="0"/>
          </a:xfrm>
          <a:prstGeom prst="straightConnector1">
            <a:avLst/>
          </a:prstGeom>
          <a:ln w="47625">
            <a:solidFill>
              <a:srgbClr val="F59E0B"/>
            </a:solidFill>
            <a:prstDash val="solid"/>
          </a:ln>
        </p:spPr>
      </p:cxnSp>
      <p:sp>
        <p:nvSpPr>
          <p:cNvPr id="17" name="正方形/長方形 16">
            <a:extLst>
              <a:ext uri="{FF2B5EF4-FFF2-40B4-BE49-F238E27FC236}">
                <a16:creationId xmlns:a16="http://schemas.microsoft.com/office/drawing/2014/main" id="{186E0DE1-49AB-492D-80BE-B6B63220806A}"/>
              </a:ext>
            </a:extLst>
          </p:cNvPr>
          <p:cNvSpPr>
            <a:spLocks noGrp="1"/>
          </p:cNvSpPr>
          <p:nvPr/>
        </p:nvSpPr>
        <p:spPr>
          <a:xfrm>
            <a:off x="4524375" y="4362450"/>
            <a:ext cx="952500" cy="266700"/>
          </a:xfrm>
          <a:prstGeom prst="rect">
            <a:avLst/>
          </a:prstGeom>
          <a:noFill/>
          <a:ln w="0">
            <a:noFill/>
            <a:prstDash val="solid"/>
          </a:ln>
        </p:spPr>
        <p:txBody>
          <a:bodyPr lIns="0" tIns="0" rIns="0" bIns="0" anchor="t">
            <a:noAutofit/>
          </a:bodyPr>
          <a:lstStyle/>
          <a:p>
            <a:pPr algn="l">
              <a:buNone/>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18" name="正方形/長方形 17">
            <a:extLst>
              <a:ext uri="{FF2B5EF4-FFF2-40B4-BE49-F238E27FC236}">
                <a16:creationId xmlns:a16="http://schemas.microsoft.com/office/drawing/2014/main" id="{834464F6-44B8-4019-9FB8-AEFFA5CCFD86}"/>
              </a:ext>
            </a:extLst>
          </p:cNvPr>
          <p:cNvSpPr>
            <a:spLocks noGrp="1"/>
          </p:cNvSpPr>
          <p:nvPr/>
        </p:nvSpPr>
        <p:spPr>
          <a:xfrm>
            <a:off x="4524375" y="4686300"/>
            <a:ext cx="2857500" cy="609600"/>
          </a:xfrm>
          <a:prstGeom prst="rect">
            <a:avLst/>
          </a:prstGeom>
          <a:noFill/>
          <a:ln w="0">
            <a:noFill/>
            <a:prstDash val="solid"/>
          </a:ln>
        </p:spPr>
        <p:txBody>
          <a:bodyPr lIns="0" tIns="0" rIns="0" bIns="0" anchor="t">
            <a:noAutofit/>
          </a:bodyPr>
          <a:lstStyle/>
          <a:p>
            <a:pPr algn="l">
              <a:buNone/>
              <a:defRPr sz="1500" b="1">
                <a:solidFill>
                  <a:srgbClr val="F59E0B"/>
                </a:solidFill>
                <a:latin typeface="Yu Gothic"/>
                <a:ea typeface="Yu Gothic"/>
                <a:cs typeface="Yu Gothic"/>
              </a:defRPr>
            </a:pPr>
            <a:r>
              <a:rPr sz="1500" b="1">
                <a:solidFill>
                  <a:srgbClr val="F59E0B"/>
                </a:solidFill>
                <a:latin typeface="Yu Gothic"/>
                <a:ea typeface="Yu Gothic"/>
                <a:cs typeface="Yu Gothic"/>
              </a:rPr>
              <a:t>共通特徴・共通構造</a:t>
            </a:r>
          </a:p>
          <a:p>
            <a:pPr algn="l">
              <a:buNone/>
              <a:defRPr sz="1500" b="1">
                <a:solidFill>
                  <a:srgbClr val="F59E0B"/>
                </a:solidFill>
                <a:latin typeface="Yu Gothic"/>
                <a:ea typeface="Yu Gothic"/>
                <a:cs typeface="Yu Gothic"/>
              </a:defRPr>
            </a:pPr>
            <a:r>
              <a:rPr sz="1500" b="1">
                <a:solidFill>
                  <a:srgbClr val="F59E0B"/>
                </a:solidFill>
                <a:latin typeface="Yu Gothic"/>
                <a:ea typeface="Yu Gothic"/>
                <a:cs typeface="Yu Gothic"/>
              </a:rPr>
              <a:t>安定性</a:t>
            </a:r>
          </a:p>
        </p:txBody>
      </p:sp>
      <p:sp>
        <p:nvSpPr>
          <p:cNvPr id="19" name="正方形/長方形 18">
            <a:extLst>
              <a:ext uri="{FF2B5EF4-FFF2-40B4-BE49-F238E27FC236}">
                <a16:creationId xmlns:a16="http://schemas.microsoft.com/office/drawing/2014/main" id="{B9FC0B25-D2BE-4394-A794-C776B80C2E5B}"/>
              </a:ext>
            </a:extLst>
          </p:cNvPr>
          <p:cNvSpPr>
            <a:spLocks noGrp="1"/>
          </p:cNvSpPr>
          <p:nvPr/>
        </p:nvSpPr>
        <p:spPr>
          <a:xfrm>
            <a:off x="8429625" y="1762125"/>
            <a:ext cx="1047750" cy="666750"/>
          </a:xfrm>
          <a:prstGeom prst="rect">
            <a:avLst/>
          </a:prstGeom>
          <a:noFill/>
          <a:ln w="0">
            <a:noFill/>
            <a:prstDash val="solid"/>
          </a:ln>
        </p:spPr>
        <p:txBody>
          <a:bodyPr lIns="0" tIns="0" rIns="0" bIns="0" anchor="t">
            <a:noAutofit/>
          </a:bodyPr>
          <a:lstStyle/>
          <a:p>
            <a:pPr algn="l">
              <a:buNone/>
              <a:defRPr sz="3900" b="1">
                <a:solidFill>
                  <a:srgbClr val="10B981"/>
                </a:solidFill>
                <a:latin typeface="Yu Gothic"/>
                <a:ea typeface="Yu Gothic"/>
                <a:cs typeface="Yu Gothic"/>
              </a:defRPr>
            </a:pPr>
            <a:r>
              <a:rPr sz="3900" b="1">
                <a:solidFill>
                  <a:srgbClr val="10B981"/>
                </a:solidFill>
                <a:latin typeface="Yu Gothic"/>
                <a:ea typeface="Yu Gothic"/>
                <a:cs typeface="Yu Gothic"/>
              </a:rPr>
              <a:t>03</a:t>
            </a:r>
          </a:p>
        </p:txBody>
      </p:sp>
      <p:sp>
        <p:nvSpPr>
          <p:cNvPr id="20" name="正方形/長方形 19">
            <a:extLst>
              <a:ext uri="{FF2B5EF4-FFF2-40B4-BE49-F238E27FC236}">
                <a16:creationId xmlns:a16="http://schemas.microsoft.com/office/drawing/2014/main" id="{948C1822-48A5-49B8-85AA-74473266740F}"/>
              </a:ext>
            </a:extLst>
          </p:cNvPr>
          <p:cNvSpPr>
            <a:spLocks noGrp="1"/>
          </p:cNvSpPr>
          <p:nvPr/>
        </p:nvSpPr>
        <p:spPr>
          <a:xfrm>
            <a:off x="8429625" y="2571750"/>
            <a:ext cx="3143250" cy="400050"/>
          </a:xfrm>
          <a:prstGeom prst="rect">
            <a:avLst/>
          </a:prstGeom>
          <a:noFill/>
          <a:ln w="0">
            <a:noFill/>
            <a:prstDash val="solid"/>
          </a:ln>
        </p:spPr>
        <p:txBody>
          <a:bodyPr lIns="0" tIns="0" rIns="0" bIns="0" anchor="t">
            <a:noAutofit/>
          </a:bodyPr>
          <a:lstStyle/>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対比の理解</a:t>
            </a:r>
          </a:p>
        </p:txBody>
      </p:sp>
      <p:sp>
        <p:nvSpPr>
          <p:cNvPr id="21" name="正方形/長方形 20">
            <a:extLst>
              <a:ext uri="{FF2B5EF4-FFF2-40B4-BE49-F238E27FC236}">
                <a16:creationId xmlns:a16="http://schemas.microsoft.com/office/drawing/2014/main" id="{5A735760-5097-40E0-9009-540F15BBC145}"/>
              </a:ext>
            </a:extLst>
          </p:cNvPr>
          <p:cNvSpPr>
            <a:spLocks noGrp="1"/>
          </p:cNvSpPr>
          <p:nvPr/>
        </p:nvSpPr>
        <p:spPr>
          <a:xfrm>
            <a:off x="8429625" y="3190875"/>
            <a:ext cx="3143250" cy="723900"/>
          </a:xfrm>
          <a:prstGeom prst="rect">
            <a:avLst/>
          </a:prstGeom>
          <a:noFill/>
          <a:ln w="0">
            <a:noFill/>
            <a:prstDash val="solid"/>
          </a:ln>
        </p:spPr>
        <p:txBody>
          <a:bodyPr lIns="0" tIns="0" rIns="0" bIns="0" anchor="t">
            <a:noAutofit/>
          </a:bodyPr>
          <a:lstStyle/>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AとBの違いが</a:t>
            </a:r>
          </a:p>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伝わるか</a:t>
            </a:r>
          </a:p>
        </p:txBody>
      </p:sp>
      <p:cxnSp>
        <p:nvCxnSpPr>
          <p:cNvPr id="71" name="直線矢印コネクタ 48"/>
          <p:cNvCxnSpPr/>
          <p:nvPr/>
        </p:nvCxnSpPr>
        <p:spPr>
          <a:xfrm>
            <a:off x="8429625" y="4095750"/>
            <a:ext cx="2857500" cy="0"/>
          </a:xfrm>
          <a:prstGeom prst="straightConnector1">
            <a:avLst/>
          </a:prstGeom>
          <a:ln w="47625">
            <a:solidFill>
              <a:srgbClr val="10B981"/>
            </a:solidFill>
            <a:prstDash val="solid"/>
          </a:ln>
        </p:spPr>
      </p:cxnSp>
      <p:sp>
        <p:nvSpPr>
          <p:cNvPr id="23" name="正方形/長方形 22">
            <a:extLst>
              <a:ext uri="{FF2B5EF4-FFF2-40B4-BE49-F238E27FC236}">
                <a16:creationId xmlns:a16="http://schemas.microsoft.com/office/drawing/2014/main" id="{DEAADF44-4BBF-4D7D-A30A-0E05182A3F86}"/>
              </a:ext>
            </a:extLst>
          </p:cNvPr>
          <p:cNvSpPr>
            <a:spLocks noGrp="1"/>
          </p:cNvSpPr>
          <p:nvPr/>
        </p:nvSpPr>
        <p:spPr>
          <a:xfrm>
            <a:off x="8429625" y="4362450"/>
            <a:ext cx="952500" cy="266700"/>
          </a:xfrm>
          <a:prstGeom prst="rect">
            <a:avLst/>
          </a:prstGeom>
          <a:noFill/>
          <a:ln w="0">
            <a:noFill/>
            <a:prstDash val="solid"/>
          </a:ln>
        </p:spPr>
        <p:txBody>
          <a:bodyPr lIns="0" tIns="0" rIns="0" bIns="0" anchor="t">
            <a:noAutofit/>
          </a:bodyPr>
          <a:lstStyle/>
          <a:p>
            <a:pPr algn="l">
              <a:buNone/>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24" name="正方形/長方形 23">
            <a:extLst>
              <a:ext uri="{FF2B5EF4-FFF2-40B4-BE49-F238E27FC236}">
                <a16:creationId xmlns:a16="http://schemas.microsoft.com/office/drawing/2014/main" id="{774215F6-B31D-45B0-8CB6-301A4AE7DD94}"/>
              </a:ext>
            </a:extLst>
          </p:cNvPr>
          <p:cNvSpPr>
            <a:spLocks noGrp="1"/>
          </p:cNvSpPr>
          <p:nvPr/>
        </p:nvSpPr>
        <p:spPr>
          <a:xfrm>
            <a:off x="8429625" y="4686300"/>
            <a:ext cx="2857500" cy="609600"/>
          </a:xfrm>
          <a:prstGeom prst="rect">
            <a:avLst/>
          </a:prstGeom>
          <a:noFill/>
          <a:ln w="0">
            <a:noFill/>
            <a:prstDash val="solid"/>
          </a:ln>
        </p:spPr>
        <p:txBody>
          <a:bodyPr lIns="0" tIns="0" rIns="0" bIns="0" anchor="t">
            <a:noAutofit/>
          </a:bodyPr>
          <a:lstStyle/>
          <a:p>
            <a:pPr algn="l">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正答率・読解時間</a:t>
            </a:r>
          </a:p>
          <a:p>
            <a:pPr algn="l">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主観評価</a:t>
            </a:r>
          </a:p>
        </p:txBody>
      </p:sp>
      <p:sp>
        <p:nvSpPr>
          <p:cNvPr id="25" name="正方形/長方形 24">
            <a:extLst>
              <a:ext uri="{FF2B5EF4-FFF2-40B4-BE49-F238E27FC236}">
                <a16:creationId xmlns:a16="http://schemas.microsoft.com/office/drawing/2014/main" id="{63213C25-13E5-4A9F-96F9-FE70978ED1FC}"/>
              </a:ext>
            </a:extLst>
          </p:cNvPr>
          <p:cNvSpPr>
            <a:spLocks noGrp="1"/>
          </p:cNvSpPr>
          <p:nvPr/>
        </p:nvSpPr>
        <p:spPr>
          <a:xfrm>
            <a:off x="666750" y="5572125"/>
            <a:ext cx="10858500" cy="628650"/>
          </a:xfrm>
          <a:prstGeom prst="rect">
            <a:avLst/>
          </a:prstGeom>
          <a:solidFill>
            <a:srgbClr val="2563EB"/>
          </a:solidFill>
          <a:ln w="0">
            <a:solidFill>
              <a:srgbClr val="2563EB"/>
            </a:solidFill>
            <a:prstDash val="solid"/>
          </a:ln>
        </p:spPr>
        <p:txBody>
          <a:bodyPr/>
          <a:lstStyle/>
          <a:p>
            <a:endParaRPr/>
          </a:p>
        </p:txBody>
      </p:sp>
      <p:sp>
        <p:nvSpPr>
          <p:cNvPr id="26" name="正方形/長方形 25">
            <a:extLst>
              <a:ext uri="{FF2B5EF4-FFF2-40B4-BE49-F238E27FC236}">
                <a16:creationId xmlns:a16="http://schemas.microsoft.com/office/drawing/2014/main" id="{1D39A03D-148E-4400-9982-C63EB8E2BD65}"/>
              </a:ext>
            </a:extLst>
          </p:cNvPr>
          <p:cNvSpPr>
            <a:spLocks noGrp="1"/>
          </p:cNvSpPr>
          <p:nvPr/>
        </p:nvSpPr>
        <p:spPr>
          <a:xfrm>
            <a:off x="1238250" y="5724525"/>
            <a:ext cx="9715500" cy="342900"/>
          </a:xfrm>
          <a:prstGeom prst="rect">
            <a:avLst/>
          </a:prstGeom>
          <a:noFill/>
          <a:ln w="0">
            <a:noFill/>
            <a:prstDash val="solid"/>
          </a:ln>
        </p:spPr>
        <p:txBody>
          <a:bodyPr lIns="0" tIns="0" rIns="0" bIns="0" anchor="t">
            <a:noAutofit/>
          </a:bodyPr>
          <a:lstStyle/>
          <a:p>
            <a:pPr algn="ctr">
              <a:buNone/>
              <a:defRPr sz="1950" b="1">
                <a:solidFill>
                  <a:srgbClr val="FFFFFF"/>
                </a:solidFill>
                <a:latin typeface="Yu Gothic"/>
                <a:ea typeface="Yu Gothic"/>
                <a:cs typeface="Yu Gothic"/>
              </a:defRPr>
            </a:pPr>
            <a:r>
              <a:rPr sz="1950" b="1">
                <a:solidFill>
                  <a:srgbClr val="FFFFFF"/>
                </a:solidFill>
                <a:latin typeface="Yu Gothic"/>
                <a:ea typeface="Yu Gothic"/>
                <a:cs typeface="Yu Gothic"/>
              </a:rPr>
              <a:t>改善したい性質を定めてから、手法と評価方法を選ぶ</a:t>
            </a:r>
          </a:p>
        </p:txBody>
      </p:sp>
      <p:sp>
        <p:nvSpPr>
          <p:cNvPr id="27" name="正方形/長方形 26">
            <a:extLst>
              <a:ext uri="{FF2B5EF4-FFF2-40B4-BE49-F238E27FC236}">
                <a16:creationId xmlns:a16="http://schemas.microsoft.com/office/drawing/2014/main" id="{63B7EAD6-A4B7-478C-B42D-7DB55549EC0C}"/>
              </a:ext>
            </a:extLst>
          </p:cNvPr>
          <p:cNvSpPr>
            <a:spLocks noGrp="1"/>
          </p:cNvSpPr>
          <p:nvPr/>
        </p:nvSpPr>
        <p:spPr>
          <a:xfrm>
            <a:off x="1666875" y="6334125"/>
            <a:ext cx="8858250" cy="247650"/>
          </a:xfrm>
          <a:prstGeom prst="rect">
            <a:avLst/>
          </a:prstGeom>
          <a:noFill/>
          <a:ln w="0">
            <a:noFill/>
            <a:prstDash val="solid"/>
          </a:ln>
        </p:spPr>
        <p:txBody>
          <a:bodyPr lIns="0" tIns="0" rIns="0" bIns="0" anchor="t">
            <a:noAutofit/>
          </a:bodyPr>
          <a:lstStyle/>
          <a:p>
            <a:pPr algn="ctr">
              <a:buNone/>
              <a:defRPr sz="1350" b="0">
                <a:solidFill>
                  <a:srgbClr val="64748B"/>
                </a:solidFill>
                <a:latin typeface="Yu Gothic"/>
                <a:ea typeface="Yu Gothic"/>
                <a:cs typeface="Yu Gothic"/>
              </a:defRPr>
            </a:pPr>
            <a:r>
              <a:rPr sz="1350" b="0">
                <a:solidFill>
                  <a:srgbClr val="64748B"/>
                </a:solidFill>
                <a:latin typeface="Yu Gothic"/>
                <a:ea typeface="Yu Gothic"/>
                <a:cs typeface="Yu Gothic"/>
              </a:rPr>
              <a:t>LIMEの多クラス化で重要なのは、説明の数ではなくクラス間の関係の表し方</a:t>
            </a:r>
          </a:p>
        </p:txBody>
      </p:sp>
    </p:spTree>
    <p:extLst>
      <p:ext uri="{BB962C8B-B14F-4D97-AF65-F5344CB8AC3E}">
        <p14:creationId xmlns:p14="http://schemas.microsoft.com/office/powerpoint/2010/main" val="3115617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正方形/長方形 39">
            <a:extLst>
              <a:ext uri="{FF2B5EF4-FFF2-40B4-BE49-F238E27FC236}">
                <a16:creationId xmlns:a16="http://schemas.microsoft.com/office/drawing/2014/main" id="{61750A94-AFA9-4E35-9D0C-8A96C0CA6F1B}"/>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7C245F74-AC33-40CD-A781-5D43396282C2}"/>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評価設計</a:t>
            </a:r>
          </a:p>
        </p:txBody>
      </p:sp>
      <p:sp>
        <p:nvSpPr>
          <p:cNvPr id="3" name="正方形/長方形 2">
            <a:extLst>
              <a:ext uri="{FF2B5EF4-FFF2-40B4-BE49-F238E27FC236}">
                <a16:creationId xmlns:a16="http://schemas.microsoft.com/office/drawing/2014/main" id="{1B768A37-AE6F-4BFD-870D-53A905FCF2B3}"/>
              </a:ext>
            </a:extLst>
          </p:cNvPr>
          <p:cNvSpPr>
            <a:spLocks noGrp="1"/>
          </p:cNvSpPr>
          <p:nvPr/>
        </p:nvSpPr>
        <p:spPr>
          <a:xfrm>
            <a:off x="762000" y="800100"/>
            <a:ext cx="10668000" cy="247650"/>
          </a:xfrm>
          <a:prstGeom prst="rect">
            <a:avLst/>
          </a:prstGeom>
          <a:noFill/>
          <a:ln w="0">
            <a:noFill/>
          </a:ln>
        </p:spPr>
        <p:txBody>
          <a:bodyPr anchor="ctr">
            <a:normAutofit fontScale="92917" lnSpcReduction="10000"/>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何を説明するかと、どの損失で当てはめるかを分けて比較</a:t>
            </a:r>
          </a:p>
        </p:txBody>
      </p:sp>
      <p:sp>
        <p:nvSpPr>
          <p:cNvPr id="4" name="正方形/長方形 3">
            <a:extLst>
              <a:ext uri="{FF2B5EF4-FFF2-40B4-BE49-F238E27FC236}">
                <a16:creationId xmlns:a16="http://schemas.microsoft.com/office/drawing/2014/main" id="{E51B7118-817D-4A45-B3D8-F06AE82923DB}"/>
              </a:ext>
            </a:extLst>
          </p:cNvPr>
          <p:cNvSpPr>
            <a:spLocks noGrp="1"/>
          </p:cNvSpPr>
          <p:nvPr/>
        </p:nvSpPr>
        <p:spPr>
          <a:xfrm>
            <a:off x="11125200" y="6457950"/>
            <a:ext cx="609600" cy="190500"/>
          </a:xfrm>
          <a:prstGeom prst="rect">
            <a:avLst/>
          </a:prstGeom>
          <a:noFill/>
          <a:ln w="0">
            <a:noFill/>
          </a:ln>
        </p:spPr>
        <p:txBody>
          <a:bodyPr anchor="ctr">
            <a:normAutofit fontScale="74167" lnSpcReduction="20000"/>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11</a:t>
            </a:r>
          </a:p>
        </p:txBody>
      </p:sp>
      <p:sp>
        <p:nvSpPr>
          <p:cNvPr id="5" name="角丸四角形 4">
            <a:extLst>
              <a:ext uri="{FF2B5EF4-FFF2-40B4-BE49-F238E27FC236}">
                <a16:creationId xmlns:a16="http://schemas.microsoft.com/office/drawing/2014/main" id="{1EE105C5-541F-41E8-AD16-2DD9AD6A198C}"/>
              </a:ext>
            </a:extLst>
          </p:cNvPr>
          <p:cNvSpPr>
            <a:spLocks noGrp="1"/>
          </p:cNvSpPr>
          <p:nvPr/>
        </p:nvSpPr>
        <p:spPr>
          <a:xfrm>
            <a:off x="762000" y="1057275"/>
            <a:ext cx="10668000" cy="238125"/>
          </a:xfrm>
          <a:prstGeom prst="roundRect">
            <a:avLst>
              <a:gd name="adj" fmla="val 32000"/>
            </a:avLst>
          </a:prstGeom>
          <a:solidFill>
            <a:srgbClr val="EAF4FB"/>
          </a:solidFill>
          <a:ln w="0">
            <a:noFill/>
          </a:ln>
        </p:spPr>
        <p:txBody>
          <a:bodyPr/>
          <a:lstStyle/>
          <a:p>
            <a:endParaRPr lang="ja-JP" altLang="en-US"/>
          </a:p>
        </p:txBody>
      </p:sp>
      <p:sp>
        <p:nvSpPr>
          <p:cNvPr id="7" name="角丸四角形 6">
            <a:extLst>
              <a:ext uri="{FF2B5EF4-FFF2-40B4-BE49-F238E27FC236}">
                <a16:creationId xmlns:a16="http://schemas.microsoft.com/office/drawing/2014/main" id="{22B3F06B-2EC8-41C5-8C39-C06BA03DC459}"/>
              </a:ext>
            </a:extLst>
          </p:cNvPr>
          <p:cNvSpPr>
            <a:spLocks noGrp="1"/>
          </p:cNvSpPr>
          <p:nvPr/>
        </p:nvSpPr>
        <p:spPr>
          <a:xfrm>
            <a:off x="590550" y="1276350"/>
            <a:ext cx="3524250" cy="3143250"/>
          </a:xfrm>
          <a:prstGeom prst="roundRect">
            <a:avLst>
              <a:gd name="adj" fmla="val 2424"/>
            </a:avLst>
          </a:prstGeom>
          <a:solidFill>
            <a:srgbClr val="F7F9FC"/>
          </a:solidFill>
          <a:ln w="9525">
            <a:solidFill>
              <a:srgbClr val="E7EBF0"/>
            </a:solidFill>
          </a:ln>
        </p:spPr>
        <p:txBody>
          <a:bodyPr/>
          <a:lstStyle/>
          <a:p>
            <a:endParaRPr lang="ja-JP" altLang="en-US"/>
          </a:p>
        </p:txBody>
      </p:sp>
      <p:sp>
        <p:nvSpPr>
          <p:cNvPr id="8" name="角丸四角形 7">
            <a:extLst>
              <a:ext uri="{FF2B5EF4-FFF2-40B4-BE49-F238E27FC236}">
                <a16:creationId xmlns:a16="http://schemas.microsoft.com/office/drawing/2014/main" id="{1226CB3E-DCD9-4D3C-83FC-FF7EE23ACD32}"/>
              </a:ext>
            </a:extLst>
          </p:cNvPr>
          <p:cNvSpPr>
            <a:spLocks noGrp="1"/>
          </p:cNvSpPr>
          <p:nvPr/>
        </p:nvSpPr>
        <p:spPr>
          <a:xfrm>
            <a:off x="895350" y="1485900"/>
            <a:ext cx="2857500" cy="304800"/>
          </a:xfrm>
          <a:prstGeom prst="roundRect">
            <a:avLst>
              <a:gd name="adj" fmla="val 25000"/>
            </a:avLst>
          </a:prstGeom>
          <a:solidFill>
            <a:srgbClr val="687386"/>
          </a:solidFill>
          <a:ln w="0">
            <a:noFill/>
          </a:ln>
        </p:spPr>
        <p:txBody>
          <a:bodyPr/>
          <a:lstStyle/>
          <a:p>
            <a:endParaRPr lang="ja-JP" altLang="en-US"/>
          </a:p>
        </p:txBody>
      </p:sp>
      <p:sp>
        <p:nvSpPr>
          <p:cNvPr id="9" name="正方形/長方形 8">
            <a:extLst>
              <a:ext uri="{FF2B5EF4-FFF2-40B4-BE49-F238E27FC236}">
                <a16:creationId xmlns:a16="http://schemas.microsoft.com/office/drawing/2014/main" id="{6B46CD86-A7A2-46B3-B39D-505A7B96301C}"/>
              </a:ext>
            </a:extLst>
          </p:cNvPr>
          <p:cNvSpPr>
            <a:spLocks noGrp="1"/>
          </p:cNvSpPr>
          <p:nvPr/>
        </p:nvSpPr>
        <p:spPr>
          <a:xfrm>
            <a:off x="990600" y="1495425"/>
            <a:ext cx="266700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従来：One-vs-Rest</a:t>
            </a:r>
          </a:p>
        </p:txBody>
      </p:sp>
      <p:sp>
        <p:nvSpPr>
          <p:cNvPr id="10" name="正方形/長方形 9">
            <a:extLst>
              <a:ext uri="{FF2B5EF4-FFF2-40B4-BE49-F238E27FC236}">
                <a16:creationId xmlns:a16="http://schemas.microsoft.com/office/drawing/2014/main" id="{279F41B6-6F75-445B-A69B-79C79400B21E}"/>
              </a:ext>
            </a:extLst>
          </p:cNvPr>
          <p:cNvSpPr>
            <a:spLocks noGrp="1"/>
          </p:cNvSpPr>
          <p:nvPr/>
        </p:nvSpPr>
        <p:spPr>
          <a:xfrm>
            <a:off x="876300" y="1981200"/>
            <a:ext cx="2952750" cy="333375"/>
          </a:xfrm>
          <a:prstGeom prst="rect">
            <a:avLst/>
          </a:prstGeom>
          <a:noFill/>
          <a:ln w="0">
            <a:noFill/>
          </a:ln>
        </p:spPr>
        <p:txBody>
          <a:bodyPr anchor="ctr">
            <a:normAutofit/>
          </a:bodyPr>
          <a:lstStyle/>
          <a:p>
            <a:pPr algn="ctr">
              <a:defRPr sz="1575" b="1">
                <a:solidFill>
                  <a:srgbClr val="17233D"/>
                </a:solidFill>
                <a:latin typeface="YuGothic"/>
                <a:ea typeface="YuGothic"/>
                <a:cs typeface="YuGothic"/>
              </a:defRPr>
            </a:pPr>
            <a:r>
              <a:rPr sz="1575" b="1">
                <a:solidFill>
                  <a:srgbClr val="17233D"/>
                </a:solidFill>
                <a:latin typeface="YuGothic"/>
                <a:ea typeface="YuGothic"/>
                <a:cs typeface="YuGothic"/>
              </a:rPr>
              <a:t>各クラス対残りを別々に回帰</a:t>
            </a:r>
          </a:p>
        </p:txBody>
      </p:sp>
      <p:sp>
        <p:nvSpPr>
          <p:cNvPr id="11" name="正方形/長方形 10">
            <a:extLst>
              <a:ext uri="{FF2B5EF4-FFF2-40B4-BE49-F238E27FC236}">
                <a16:creationId xmlns:a16="http://schemas.microsoft.com/office/drawing/2014/main" id="{AD232886-EC4D-49BD-A5E6-7110B943F233}"/>
              </a:ext>
            </a:extLst>
          </p:cNvPr>
          <p:cNvSpPr>
            <a:spLocks noGrp="1"/>
          </p:cNvSpPr>
          <p:nvPr/>
        </p:nvSpPr>
        <p:spPr>
          <a:xfrm>
            <a:off x="1104900" y="2438400"/>
            <a:ext cx="2524125" cy="685800"/>
          </a:xfrm>
          <a:prstGeom prst="rect">
            <a:avLst/>
          </a:prstGeom>
          <a:noFill/>
          <a:ln w="0">
            <a:noFill/>
          </a:ln>
        </p:spPr>
        <p:txBody>
          <a:bodyPr anchor="ctr">
            <a:normAutofit/>
          </a:bodyPr>
          <a:lstStyle/>
          <a:p>
            <a:pPr algn="ctr">
              <a:defRPr sz="1875" b="0">
                <a:solidFill>
                  <a:srgbClr val="17233D"/>
                </a:solidFill>
                <a:latin typeface="YuGothic"/>
                <a:ea typeface="YuGothic"/>
                <a:cs typeface="YuGothic"/>
              </a:defRPr>
            </a:pPr>
            <a:r>
              <a:rPr sz="1875" b="0">
                <a:solidFill>
                  <a:srgbClr val="17233D"/>
                </a:solidFill>
                <a:latin typeface="YuGothic"/>
                <a:ea typeface="YuGothic"/>
                <a:cs typeface="YuGothic"/>
              </a:rPr>
              <a:t>p₁(z) ≈ f₁(z)</a:t>
            </a:r>
          </a:p>
          <a:p>
            <a:pPr algn="ctr">
              <a:defRPr sz="1875" b="0">
                <a:solidFill>
                  <a:srgbClr val="17233D"/>
                </a:solidFill>
                <a:latin typeface="YuGothic"/>
                <a:ea typeface="YuGothic"/>
                <a:cs typeface="YuGothic"/>
              </a:defRPr>
            </a:pPr>
            <a:r>
              <a:rPr sz="1875" b="0">
                <a:solidFill>
                  <a:srgbClr val="17233D"/>
                </a:solidFill>
                <a:latin typeface="YuGothic"/>
                <a:ea typeface="YuGothic"/>
                <a:cs typeface="YuGothic"/>
              </a:rPr>
              <a:t>p₂(z) ≈ f₂(z)</a:t>
            </a:r>
          </a:p>
        </p:txBody>
      </p:sp>
      <p:sp>
        <p:nvSpPr>
          <p:cNvPr id="12" name="正方形/長方形 11">
            <a:extLst>
              <a:ext uri="{FF2B5EF4-FFF2-40B4-BE49-F238E27FC236}">
                <a16:creationId xmlns:a16="http://schemas.microsoft.com/office/drawing/2014/main" id="{6FA6196A-64CC-454F-B74D-D5DBEF95BB97}"/>
              </a:ext>
            </a:extLst>
          </p:cNvPr>
          <p:cNvSpPr>
            <a:spLocks noGrp="1"/>
          </p:cNvSpPr>
          <p:nvPr/>
        </p:nvSpPr>
        <p:spPr>
          <a:xfrm>
            <a:off x="895350" y="3371850"/>
            <a:ext cx="2914650" cy="590550"/>
          </a:xfrm>
          <a:prstGeom prst="rect">
            <a:avLst/>
          </a:prstGeom>
          <a:noFill/>
          <a:ln w="0">
            <a:noFill/>
          </a:ln>
        </p:spPr>
        <p:txBody>
          <a:bodyPr anchor="ctr">
            <a:normAutofit/>
          </a:bodyPr>
          <a:lstStyle/>
          <a:p>
            <a:pPr algn="ctr">
              <a:defRPr sz="1425" b="0">
                <a:solidFill>
                  <a:srgbClr val="687386"/>
                </a:solidFill>
                <a:latin typeface="YuGothic"/>
                <a:ea typeface="YuGothic"/>
                <a:cs typeface="YuGothic"/>
              </a:defRPr>
            </a:pPr>
            <a:r>
              <a:rPr sz="1425" b="0">
                <a:solidFill>
                  <a:srgbClr val="687386"/>
                </a:solidFill>
                <a:latin typeface="YuGothic"/>
                <a:ea typeface="YuGothic"/>
                <a:cs typeface="YuGothic"/>
              </a:rPr>
              <a:t>最後に f₁ − f₂ で</a:t>
            </a:r>
          </a:p>
          <a:p>
            <a:pPr algn="ctr">
              <a:defRPr sz="1425" b="0">
                <a:solidFill>
                  <a:srgbClr val="687386"/>
                </a:solidFill>
                <a:latin typeface="YuGothic"/>
                <a:ea typeface="YuGothic"/>
                <a:cs typeface="YuGothic"/>
              </a:defRPr>
            </a:pPr>
            <a:r>
              <a:rPr sz="1425" b="0">
                <a:solidFill>
                  <a:srgbClr val="687386"/>
                </a:solidFill>
                <a:latin typeface="YuGothic"/>
                <a:ea typeface="YuGothic"/>
                <a:cs typeface="YuGothic"/>
              </a:rPr>
              <a:t>競合2クラスの方向を作る</a:t>
            </a:r>
          </a:p>
        </p:txBody>
      </p:sp>
      <p:sp>
        <p:nvSpPr>
          <p:cNvPr id="13" name="正方形/長方形 12">
            <a:extLst>
              <a:ext uri="{FF2B5EF4-FFF2-40B4-BE49-F238E27FC236}">
                <a16:creationId xmlns:a16="http://schemas.microsoft.com/office/drawing/2014/main" id="{4D23F854-539F-4E6F-958F-2C55B8E6DBC2}"/>
              </a:ext>
            </a:extLst>
          </p:cNvPr>
          <p:cNvSpPr>
            <a:spLocks noGrp="1"/>
          </p:cNvSpPr>
          <p:nvPr/>
        </p:nvSpPr>
        <p:spPr>
          <a:xfrm>
            <a:off x="4210050" y="2571750"/>
            <a:ext cx="428625" cy="476250"/>
          </a:xfrm>
          <a:prstGeom prst="rect">
            <a:avLst/>
          </a:prstGeom>
          <a:noFill/>
          <a:ln w="0">
            <a:noFill/>
          </a:ln>
        </p:spPr>
        <p:txBody>
          <a:bodyPr anchor="ctr">
            <a:normAutofit fontScale="94012"/>
          </a:bodyPr>
          <a:lstStyle/>
          <a:p>
            <a:pPr algn="ctr">
              <a:defRPr sz="2700" b="1">
                <a:solidFill>
                  <a:srgbClr val="1479C9"/>
                </a:solidFill>
                <a:latin typeface="YuGothic"/>
                <a:ea typeface="YuGothic"/>
                <a:cs typeface="YuGothic"/>
              </a:defRPr>
            </a:pPr>
            <a:r>
              <a:rPr sz="2700" b="1">
                <a:solidFill>
                  <a:srgbClr val="1479C9"/>
                </a:solidFill>
                <a:latin typeface="YuGothic"/>
                <a:ea typeface="YuGothic"/>
                <a:cs typeface="YuGothic"/>
              </a:rPr>
              <a:t>→</a:t>
            </a:r>
          </a:p>
        </p:txBody>
      </p:sp>
      <p:sp>
        <p:nvSpPr>
          <p:cNvPr id="14" name="角丸四角形 13">
            <a:extLst>
              <a:ext uri="{FF2B5EF4-FFF2-40B4-BE49-F238E27FC236}">
                <a16:creationId xmlns:a16="http://schemas.microsoft.com/office/drawing/2014/main" id="{80647419-81E4-4CC7-90F6-D5D7BE9B8245}"/>
              </a:ext>
            </a:extLst>
          </p:cNvPr>
          <p:cNvSpPr>
            <a:spLocks noGrp="1"/>
          </p:cNvSpPr>
          <p:nvPr/>
        </p:nvSpPr>
        <p:spPr>
          <a:xfrm>
            <a:off x="4686300" y="1276350"/>
            <a:ext cx="6915150" cy="3143250"/>
          </a:xfrm>
          <a:prstGeom prst="roundRect">
            <a:avLst>
              <a:gd name="adj" fmla="val 2424"/>
            </a:avLst>
          </a:prstGeom>
          <a:solidFill>
            <a:srgbClr val="EAF4FB"/>
          </a:solidFill>
          <a:ln w="9525">
            <a:solidFill>
              <a:srgbClr val="1479C9"/>
            </a:solidFill>
          </a:ln>
        </p:spPr>
        <p:txBody>
          <a:bodyPr/>
          <a:lstStyle/>
          <a:p>
            <a:endParaRPr lang="ja-JP" altLang="en-US"/>
          </a:p>
        </p:txBody>
      </p:sp>
      <p:sp>
        <p:nvSpPr>
          <p:cNvPr id="15" name="角丸四角形 14">
            <a:extLst>
              <a:ext uri="{FF2B5EF4-FFF2-40B4-BE49-F238E27FC236}">
                <a16:creationId xmlns:a16="http://schemas.microsoft.com/office/drawing/2014/main" id="{A745118E-1E3C-4D9F-9B7C-0819033578CE}"/>
              </a:ext>
            </a:extLst>
          </p:cNvPr>
          <p:cNvSpPr>
            <a:spLocks noGrp="1"/>
          </p:cNvSpPr>
          <p:nvPr/>
        </p:nvSpPr>
        <p:spPr>
          <a:xfrm>
            <a:off x="6381750" y="1485900"/>
            <a:ext cx="3524250" cy="304800"/>
          </a:xfrm>
          <a:prstGeom prst="roundRect">
            <a:avLst>
              <a:gd name="adj" fmla="val 25000"/>
            </a:avLst>
          </a:prstGeom>
          <a:solidFill>
            <a:srgbClr val="1479C9"/>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F9106492-3A51-4743-8FA2-E583791118C9}"/>
              </a:ext>
            </a:extLst>
          </p:cNvPr>
          <p:cNvSpPr>
            <a:spLocks noGrp="1"/>
          </p:cNvSpPr>
          <p:nvPr/>
        </p:nvSpPr>
        <p:spPr>
          <a:xfrm>
            <a:off x="6477000" y="1495425"/>
            <a:ext cx="333375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提案の枠組み：Top-1 vs Top-2</a:t>
            </a:r>
          </a:p>
        </p:txBody>
      </p:sp>
      <p:sp>
        <p:nvSpPr>
          <p:cNvPr id="17" name="正方形/長方形 16">
            <a:extLst>
              <a:ext uri="{FF2B5EF4-FFF2-40B4-BE49-F238E27FC236}">
                <a16:creationId xmlns:a16="http://schemas.microsoft.com/office/drawing/2014/main" id="{EC29C50C-EC60-4840-A8EC-17A03DBEBDF6}"/>
              </a:ext>
            </a:extLst>
          </p:cNvPr>
          <p:cNvSpPr>
            <a:spLocks noGrp="1"/>
          </p:cNvSpPr>
          <p:nvPr/>
        </p:nvSpPr>
        <p:spPr>
          <a:xfrm>
            <a:off x="5638800" y="2019300"/>
            <a:ext cx="5010150" cy="428625"/>
          </a:xfrm>
          <a:prstGeom prst="rect">
            <a:avLst/>
          </a:prstGeom>
          <a:noFill/>
          <a:ln w="0">
            <a:noFill/>
          </a:ln>
        </p:spPr>
        <p:txBody>
          <a:bodyPr anchor="ctr">
            <a:normAutofit/>
          </a:bodyPr>
          <a:lstStyle/>
          <a:p>
            <a:pPr algn="ctr">
              <a:defRPr sz="1875" b="1">
                <a:solidFill>
                  <a:srgbClr val="17233D"/>
                </a:solidFill>
                <a:latin typeface="YuGothic"/>
                <a:ea typeface="YuGothic"/>
                <a:cs typeface="YuGothic"/>
              </a:defRPr>
            </a:pPr>
            <a:r>
              <a:rPr sz="1875" b="1">
                <a:solidFill>
                  <a:srgbClr val="17233D"/>
                </a:solidFill>
                <a:latin typeface="YuGothic"/>
                <a:ea typeface="YuGothic"/>
                <a:cs typeface="YuGothic"/>
              </a:rPr>
              <a:t>q(z) = p₁(z) / {p₁(z)+p₂(z)}</a:t>
            </a:r>
          </a:p>
        </p:txBody>
      </p:sp>
      <p:sp>
        <p:nvSpPr>
          <p:cNvPr id="18" name="角丸四角形 17">
            <a:extLst>
              <a:ext uri="{FF2B5EF4-FFF2-40B4-BE49-F238E27FC236}">
                <a16:creationId xmlns:a16="http://schemas.microsoft.com/office/drawing/2014/main" id="{232729DF-C9A0-4A8C-8E76-84F9D0391F35}"/>
              </a:ext>
            </a:extLst>
          </p:cNvPr>
          <p:cNvSpPr>
            <a:spLocks noGrp="1"/>
          </p:cNvSpPr>
          <p:nvPr/>
        </p:nvSpPr>
        <p:spPr>
          <a:xfrm>
            <a:off x="5010150" y="2724150"/>
            <a:ext cx="1905000" cy="1162050"/>
          </a:xfrm>
          <a:prstGeom prst="roundRect">
            <a:avLst>
              <a:gd name="adj" fmla="val 6557"/>
            </a:avLst>
          </a:prstGeom>
          <a:solidFill>
            <a:srgbClr val="FFFFFF"/>
          </a:solidFill>
          <a:ln w="9525">
            <a:solidFill>
              <a:srgbClr val="2AA876"/>
            </a:solidFill>
          </a:ln>
        </p:spPr>
        <p:txBody>
          <a:bodyPr/>
          <a:lstStyle/>
          <a:p>
            <a:endParaRPr lang="ja-JP" altLang="en-US"/>
          </a:p>
        </p:txBody>
      </p:sp>
      <p:sp>
        <p:nvSpPr>
          <p:cNvPr id="19" name="正方形/長方形 18">
            <a:extLst>
              <a:ext uri="{FF2B5EF4-FFF2-40B4-BE49-F238E27FC236}">
                <a16:creationId xmlns:a16="http://schemas.microsoft.com/office/drawing/2014/main" id="{6053D865-3705-4F07-A3A3-6B01D3B8A12B}"/>
              </a:ext>
            </a:extLst>
          </p:cNvPr>
          <p:cNvSpPr>
            <a:spLocks noGrp="1"/>
          </p:cNvSpPr>
          <p:nvPr/>
        </p:nvSpPr>
        <p:spPr>
          <a:xfrm>
            <a:off x="5124450" y="2857500"/>
            <a:ext cx="1676400" cy="304800"/>
          </a:xfrm>
          <a:prstGeom prst="rect">
            <a:avLst/>
          </a:prstGeom>
          <a:noFill/>
          <a:ln w="0">
            <a:noFill/>
          </a:ln>
        </p:spPr>
        <p:txBody>
          <a:bodyPr anchor="ctr">
            <a:normAutofit/>
          </a:bodyPr>
          <a:lstStyle/>
          <a:p>
            <a:pPr algn="ctr">
              <a:defRPr sz="1350" b="1">
                <a:solidFill>
                  <a:srgbClr val="2AA876"/>
                </a:solidFill>
                <a:latin typeface="YuGothic"/>
                <a:ea typeface="YuGothic"/>
                <a:cs typeface="YuGothic"/>
              </a:defRPr>
            </a:pPr>
            <a:r>
              <a:rPr sz="1350" b="1">
                <a:solidFill>
                  <a:srgbClr val="2AA876"/>
                </a:solidFill>
                <a:latin typeface="YuGothic"/>
                <a:ea typeface="YuGothic"/>
                <a:cs typeface="YuGothic"/>
              </a:rPr>
              <a:t>2クラスLIME</a:t>
            </a:r>
          </a:p>
        </p:txBody>
      </p:sp>
      <p:sp>
        <p:nvSpPr>
          <p:cNvPr id="20" name="正方形/長方形 19">
            <a:extLst>
              <a:ext uri="{FF2B5EF4-FFF2-40B4-BE49-F238E27FC236}">
                <a16:creationId xmlns:a16="http://schemas.microsoft.com/office/drawing/2014/main" id="{03CDF634-399E-4245-9485-131A7D29E0FB}"/>
              </a:ext>
            </a:extLst>
          </p:cNvPr>
          <p:cNvSpPr>
            <a:spLocks noGrp="1"/>
          </p:cNvSpPr>
          <p:nvPr/>
        </p:nvSpPr>
        <p:spPr>
          <a:xfrm>
            <a:off x="5143500" y="3238500"/>
            <a:ext cx="1638300" cy="457200"/>
          </a:xfrm>
          <a:prstGeom prst="rect">
            <a:avLst/>
          </a:prstGeom>
          <a:noFill/>
          <a:ln w="0">
            <a:noFill/>
          </a:ln>
        </p:spPr>
        <p:txBody>
          <a:bodyPr anchor="ctr">
            <a:normAutofit/>
          </a:bodyPr>
          <a:lstStyle/>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q を Ridge 回帰</a:t>
            </a:r>
          </a:p>
        </p:txBody>
      </p:sp>
      <p:sp>
        <p:nvSpPr>
          <p:cNvPr id="21" name="角丸四角形 20">
            <a:extLst>
              <a:ext uri="{FF2B5EF4-FFF2-40B4-BE49-F238E27FC236}">
                <a16:creationId xmlns:a16="http://schemas.microsoft.com/office/drawing/2014/main" id="{27E5D774-7CE1-445A-9B53-9D9C3971845D}"/>
              </a:ext>
            </a:extLst>
          </p:cNvPr>
          <p:cNvSpPr>
            <a:spLocks noGrp="1"/>
          </p:cNvSpPr>
          <p:nvPr/>
        </p:nvSpPr>
        <p:spPr>
          <a:xfrm>
            <a:off x="7124700" y="2724150"/>
            <a:ext cx="1905000" cy="1162050"/>
          </a:xfrm>
          <a:prstGeom prst="roundRect">
            <a:avLst>
              <a:gd name="adj" fmla="val 6557"/>
            </a:avLst>
          </a:prstGeom>
          <a:solidFill>
            <a:srgbClr val="FFFFFF"/>
          </a:solidFill>
          <a:ln w="9525">
            <a:solidFill>
              <a:srgbClr val="F28C28"/>
            </a:solidFill>
          </a:ln>
        </p:spPr>
        <p:txBody>
          <a:bodyPr/>
          <a:lstStyle/>
          <a:p>
            <a:endParaRPr lang="ja-JP" altLang="en-US"/>
          </a:p>
        </p:txBody>
      </p:sp>
      <p:sp>
        <p:nvSpPr>
          <p:cNvPr id="22" name="正方形/長方形 21">
            <a:extLst>
              <a:ext uri="{FF2B5EF4-FFF2-40B4-BE49-F238E27FC236}">
                <a16:creationId xmlns:a16="http://schemas.microsoft.com/office/drawing/2014/main" id="{B320209C-8DA8-4CBF-B21B-A6F0904BD235}"/>
              </a:ext>
            </a:extLst>
          </p:cNvPr>
          <p:cNvSpPr>
            <a:spLocks noGrp="1"/>
          </p:cNvSpPr>
          <p:nvPr/>
        </p:nvSpPr>
        <p:spPr>
          <a:xfrm>
            <a:off x="7239000" y="2857500"/>
            <a:ext cx="1676400" cy="304800"/>
          </a:xfrm>
          <a:prstGeom prst="rect">
            <a:avLst/>
          </a:prstGeom>
          <a:noFill/>
          <a:ln w="0">
            <a:noFill/>
          </a:ln>
        </p:spPr>
        <p:txBody>
          <a:bodyPr anchor="ctr">
            <a:normAutofit/>
          </a:bodyPr>
          <a:lstStyle/>
          <a:p>
            <a:pPr algn="ctr">
              <a:defRPr sz="1350" b="1">
                <a:solidFill>
                  <a:srgbClr val="F28C28"/>
                </a:solidFill>
                <a:latin typeface="YuGothic"/>
                <a:ea typeface="YuGothic"/>
                <a:cs typeface="YuGothic"/>
              </a:defRPr>
            </a:pPr>
            <a:r>
              <a:rPr sz="1350" b="1">
                <a:solidFill>
                  <a:srgbClr val="F28C28"/>
                </a:solidFill>
                <a:latin typeface="YuGothic"/>
                <a:ea typeface="YuGothic"/>
                <a:cs typeface="YuGothic"/>
              </a:rPr>
              <a:t>Contrastive</a:t>
            </a:r>
          </a:p>
        </p:txBody>
      </p:sp>
      <p:sp>
        <p:nvSpPr>
          <p:cNvPr id="23" name="正方形/長方形 22">
            <a:extLst>
              <a:ext uri="{FF2B5EF4-FFF2-40B4-BE49-F238E27FC236}">
                <a16:creationId xmlns:a16="http://schemas.microsoft.com/office/drawing/2014/main" id="{E88AAE22-D01A-4A68-8F6C-E3D58E693196}"/>
              </a:ext>
            </a:extLst>
          </p:cNvPr>
          <p:cNvSpPr>
            <a:spLocks noGrp="1"/>
          </p:cNvSpPr>
          <p:nvPr/>
        </p:nvSpPr>
        <p:spPr>
          <a:xfrm>
            <a:off x="7258050" y="3238500"/>
            <a:ext cx="1638300" cy="457200"/>
          </a:xfrm>
          <a:prstGeom prst="rect">
            <a:avLst/>
          </a:prstGeom>
          <a:noFill/>
          <a:ln w="0">
            <a:noFill/>
          </a:ln>
        </p:spPr>
        <p:txBody>
          <a:bodyPr anchor="ctr">
            <a:normAutofit/>
          </a:bodyPr>
          <a:lstStyle/>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log(p₁/p₂) を Ridge 回帰</a:t>
            </a:r>
          </a:p>
        </p:txBody>
      </p:sp>
      <p:sp>
        <p:nvSpPr>
          <p:cNvPr id="24" name="角丸四角形 23">
            <a:extLst>
              <a:ext uri="{FF2B5EF4-FFF2-40B4-BE49-F238E27FC236}">
                <a16:creationId xmlns:a16="http://schemas.microsoft.com/office/drawing/2014/main" id="{0CD53114-6ADE-4B17-B753-3A194B8F63B9}"/>
              </a:ext>
            </a:extLst>
          </p:cNvPr>
          <p:cNvSpPr>
            <a:spLocks noGrp="1"/>
          </p:cNvSpPr>
          <p:nvPr/>
        </p:nvSpPr>
        <p:spPr>
          <a:xfrm>
            <a:off x="9239250" y="2724150"/>
            <a:ext cx="1905000" cy="1162050"/>
          </a:xfrm>
          <a:prstGeom prst="roundRect">
            <a:avLst>
              <a:gd name="adj" fmla="val 6557"/>
            </a:avLst>
          </a:prstGeom>
          <a:solidFill>
            <a:srgbClr val="FFFFFF"/>
          </a:solidFill>
          <a:ln w="9525">
            <a:solidFill>
              <a:srgbClr val="7B61A8"/>
            </a:solidFill>
          </a:ln>
        </p:spPr>
        <p:txBody>
          <a:bodyPr/>
          <a:lstStyle/>
          <a:p>
            <a:endParaRPr lang="ja-JP" altLang="en-US"/>
          </a:p>
        </p:txBody>
      </p:sp>
      <p:sp>
        <p:nvSpPr>
          <p:cNvPr id="25" name="正方形/長方形 24">
            <a:extLst>
              <a:ext uri="{FF2B5EF4-FFF2-40B4-BE49-F238E27FC236}">
                <a16:creationId xmlns:a16="http://schemas.microsoft.com/office/drawing/2014/main" id="{F9F819CA-B418-4494-9B79-3B02210DCF50}"/>
              </a:ext>
            </a:extLst>
          </p:cNvPr>
          <p:cNvSpPr>
            <a:spLocks noGrp="1"/>
          </p:cNvSpPr>
          <p:nvPr/>
        </p:nvSpPr>
        <p:spPr>
          <a:xfrm>
            <a:off x="9353550" y="2857500"/>
            <a:ext cx="1676400" cy="304800"/>
          </a:xfrm>
          <a:prstGeom prst="rect">
            <a:avLst/>
          </a:prstGeom>
          <a:noFill/>
          <a:ln w="0">
            <a:noFill/>
          </a:ln>
        </p:spPr>
        <p:txBody>
          <a:bodyPr anchor="ctr">
            <a:normAutofit/>
          </a:bodyPr>
          <a:lstStyle/>
          <a:p>
            <a:pPr algn="ctr">
              <a:defRPr sz="1350" b="1">
                <a:solidFill>
                  <a:srgbClr val="7B61A8"/>
                </a:solidFill>
                <a:latin typeface="YuGothic"/>
                <a:ea typeface="YuGothic"/>
                <a:cs typeface="YuGothic"/>
              </a:defRPr>
            </a:pPr>
            <a:r>
              <a:rPr sz="1350" b="1">
                <a:solidFill>
                  <a:srgbClr val="7B61A8"/>
                </a:solidFill>
                <a:latin typeface="YuGothic"/>
                <a:ea typeface="YuGothic"/>
                <a:cs typeface="YuGothic"/>
              </a:rPr>
              <a:t>OVO Logistic</a:t>
            </a:r>
          </a:p>
        </p:txBody>
      </p:sp>
      <p:sp>
        <p:nvSpPr>
          <p:cNvPr id="26" name="正方形/長方形 25">
            <a:extLst>
              <a:ext uri="{FF2B5EF4-FFF2-40B4-BE49-F238E27FC236}">
                <a16:creationId xmlns:a16="http://schemas.microsoft.com/office/drawing/2014/main" id="{63832C04-9F1B-41BE-AAE8-AE602FC28097}"/>
              </a:ext>
            </a:extLst>
          </p:cNvPr>
          <p:cNvSpPr>
            <a:spLocks noGrp="1"/>
          </p:cNvSpPr>
          <p:nvPr/>
        </p:nvSpPr>
        <p:spPr>
          <a:xfrm>
            <a:off x="9372600" y="3238500"/>
            <a:ext cx="1638300" cy="457200"/>
          </a:xfrm>
          <a:prstGeom prst="rect">
            <a:avLst/>
          </a:prstGeom>
          <a:noFill/>
          <a:ln w="0">
            <a:noFill/>
          </a:ln>
        </p:spPr>
        <p:txBody>
          <a:bodyPr anchor="ctr">
            <a:normAutofit fontScale="95703"/>
          </a:bodyPr>
          <a:lstStyle/>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q を交差エントロピーで回帰</a:t>
            </a:r>
          </a:p>
        </p:txBody>
      </p:sp>
      <p:sp>
        <p:nvSpPr>
          <p:cNvPr id="27" name="正方形/長方形 26">
            <a:extLst>
              <a:ext uri="{FF2B5EF4-FFF2-40B4-BE49-F238E27FC236}">
                <a16:creationId xmlns:a16="http://schemas.microsoft.com/office/drawing/2014/main" id="{204B05EA-73B7-4729-BB27-2EF0DFA1D259}"/>
              </a:ext>
            </a:extLst>
          </p:cNvPr>
          <p:cNvSpPr>
            <a:spLocks noGrp="1"/>
          </p:cNvSpPr>
          <p:nvPr/>
        </p:nvSpPr>
        <p:spPr>
          <a:xfrm>
            <a:off x="647700" y="4695825"/>
            <a:ext cx="1466850" cy="323850"/>
          </a:xfrm>
          <a:prstGeom prst="rect">
            <a:avLst/>
          </a:prstGeom>
          <a:noFill/>
          <a:ln w="0">
            <a:noFill/>
          </a:ln>
        </p:spPr>
        <p:txBody>
          <a:bodyPr anchor="ctr">
            <a:normAutofit fontScale="99924" lnSpcReduction="10000"/>
          </a:bodyPr>
          <a:lstStyle/>
          <a:p>
            <a:pPr algn="l">
              <a:defRPr sz="1650" b="1">
                <a:solidFill>
                  <a:srgbClr val="1479C9"/>
                </a:solidFill>
                <a:latin typeface="YuGothic"/>
                <a:ea typeface="YuGothic"/>
                <a:cs typeface="YuGothic"/>
              </a:defRPr>
            </a:pPr>
            <a:r>
              <a:rPr sz="1650" b="1">
                <a:solidFill>
                  <a:srgbClr val="1479C9"/>
                </a:solidFill>
                <a:latin typeface="YuGothic"/>
                <a:ea typeface="YuGothic"/>
                <a:cs typeface="YuGothic"/>
              </a:rPr>
              <a:t>評価指標</a:t>
            </a:r>
          </a:p>
        </p:txBody>
      </p:sp>
      <p:sp>
        <p:nvSpPr>
          <p:cNvPr id="28" name="角丸四角形 27">
            <a:extLst>
              <a:ext uri="{FF2B5EF4-FFF2-40B4-BE49-F238E27FC236}">
                <a16:creationId xmlns:a16="http://schemas.microsoft.com/office/drawing/2014/main" id="{8C475F21-3422-4304-8646-3C72694187EE}"/>
              </a:ext>
            </a:extLst>
          </p:cNvPr>
          <p:cNvSpPr>
            <a:spLocks noGrp="1"/>
          </p:cNvSpPr>
          <p:nvPr/>
        </p:nvSpPr>
        <p:spPr>
          <a:xfrm>
            <a:off x="647700" y="5105400"/>
            <a:ext cx="2609850" cy="1066800"/>
          </a:xfrm>
          <a:prstGeom prst="roundRect">
            <a:avLst>
              <a:gd name="adj" fmla="val 7143"/>
            </a:avLst>
          </a:prstGeom>
          <a:solidFill>
            <a:srgbClr val="FFFFFF"/>
          </a:solidFill>
          <a:ln w="9525">
            <a:solidFill>
              <a:srgbClr val="E7EBF0"/>
            </a:solidFill>
          </a:ln>
        </p:spPr>
        <p:txBody>
          <a:bodyPr/>
          <a:lstStyle/>
          <a:p>
            <a:endParaRPr lang="ja-JP" altLang="en-US"/>
          </a:p>
        </p:txBody>
      </p:sp>
      <p:sp>
        <p:nvSpPr>
          <p:cNvPr id="29" name="正方形/長方形 28">
            <a:extLst>
              <a:ext uri="{FF2B5EF4-FFF2-40B4-BE49-F238E27FC236}">
                <a16:creationId xmlns:a16="http://schemas.microsoft.com/office/drawing/2014/main" id="{E6A72C3A-FB03-4539-88A6-ECC20BF00CED}"/>
              </a:ext>
            </a:extLst>
          </p:cNvPr>
          <p:cNvSpPr>
            <a:spLocks noGrp="1"/>
          </p:cNvSpPr>
          <p:nvPr/>
        </p:nvSpPr>
        <p:spPr>
          <a:xfrm>
            <a:off x="762000" y="5210175"/>
            <a:ext cx="238125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ペア符号忠実度</a:t>
            </a:r>
          </a:p>
        </p:txBody>
      </p:sp>
      <p:sp>
        <p:nvSpPr>
          <p:cNvPr id="30" name="正方形/長方形 29">
            <a:extLst>
              <a:ext uri="{FF2B5EF4-FFF2-40B4-BE49-F238E27FC236}">
                <a16:creationId xmlns:a16="http://schemas.microsoft.com/office/drawing/2014/main" id="{A0530809-2346-4E18-9E58-13C33219AD25}"/>
              </a:ext>
            </a:extLst>
          </p:cNvPr>
          <p:cNvSpPr>
            <a:spLocks noGrp="1"/>
          </p:cNvSpPr>
          <p:nvPr/>
        </p:nvSpPr>
        <p:spPr>
          <a:xfrm>
            <a:off x="781050" y="5534025"/>
            <a:ext cx="2343150" cy="514350"/>
          </a:xfrm>
          <a:prstGeom prst="rect">
            <a:avLst/>
          </a:prstGeom>
          <a:noFill/>
          <a:ln w="0">
            <a:noFill/>
          </a:ln>
        </p:spPr>
        <p:txBody>
          <a:bodyPr anchor="ctr">
            <a:normAutofit/>
          </a:bodyPr>
          <a:lstStyle/>
          <a:p>
            <a:pPr algn="ctr">
              <a:defRPr sz="1125" b="0">
                <a:solidFill>
                  <a:srgbClr val="687386"/>
                </a:solidFill>
                <a:latin typeface="YuGothic"/>
                <a:ea typeface="YuGothic"/>
                <a:cs typeface="YuGothic"/>
              </a:defRPr>
            </a:pPr>
            <a:r>
              <a:rPr sz="1125" b="0" dirty="0">
                <a:solidFill>
                  <a:srgbClr val="687386"/>
                </a:solidFill>
                <a:latin typeface="YuGothic"/>
                <a:ea typeface="YuGothic"/>
                <a:cs typeface="YuGothic"/>
              </a:rPr>
              <a:t>Top-1 / Top-2 </a:t>
            </a:r>
            <a:r>
              <a:rPr sz="1125" b="0" dirty="0" err="1">
                <a:solidFill>
                  <a:srgbClr val="687386"/>
                </a:solidFill>
                <a:latin typeface="YuGothic"/>
                <a:ea typeface="YuGothic"/>
                <a:cs typeface="YuGothic"/>
              </a:rPr>
              <a:t>の大小関係を</a:t>
            </a:r>
            <a:endParaRPr sz="1125" b="0" dirty="0">
              <a:solidFill>
                <a:srgbClr val="687386"/>
              </a:solidFill>
              <a:latin typeface="YuGothic"/>
              <a:ea typeface="YuGothic"/>
              <a:cs typeface="YuGothic"/>
            </a:endParaRPr>
          </a:p>
          <a:p>
            <a:pPr algn="ctr">
              <a:defRPr sz="1125" b="0">
                <a:solidFill>
                  <a:srgbClr val="687386"/>
                </a:solidFill>
                <a:latin typeface="YuGothic"/>
                <a:ea typeface="YuGothic"/>
                <a:cs typeface="YuGothic"/>
              </a:defRPr>
            </a:pPr>
            <a:r>
              <a:rPr sz="1125" b="0" dirty="0" err="1">
                <a:solidFill>
                  <a:srgbClr val="687386"/>
                </a:solidFill>
                <a:latin typeface="YuGothic"/>
                <a:ea typeface="YuGothic"/>
                <a:cs typeface="YuGothic"/>
              </a:rPr>
              <a:t>未使用摂動で再現できた割合</a:t>
            </a:r>
            <a:endParaRPr sz="1125" b="0" dirty="0">
              <a:solidFill>
                <a:srgbClr val="687386"/>
              </a:solidFill>
              <a:latin typeface="YuGothic"/>
              <a:ea typeface="YuGothic"/>
              <a:cs typeface="YuGothic"/>
            </a:endParaRPr>
          </a:p>
        </p:txBody>
      </p:sp>
      <p:sp>
        <p:nvSpPr>
          <p:cNvPr id="31" name="角丸四角形 30">
            <a:extLst>
              <a:ext uri="{FF2B5EF4-FFF2-40B4-BE49-F238E27FC236}">
                <a16:creationId xmlns:a16="http://schemas.microsoft.com/office/drawing/2014/main" id="{82BDA2A7-780C-4CC8-A1A7-4398386DA357}"/>
              </a:ext>
            </a:extLst>
          </p:cNvPr>
          <p:cNvSpPr>
            <a:spLocks noGrp="1"/>
          </p:cNvSpPr>
          <p:nvPr/>
        </p:nvSpPr>
        <p:spPr>
          <a:xfrm>
            <a:off x="3467100" y="5105400"/>
            <a:ext cx="2609850" cy="1066800"/>
          </a:xfrm>
          <a:prstGeom prst="roundRect">
            <a:avLst>
              <a:gd name="adj" fmla="val 7143"/>
            </a:avLst>
          </a:prstGeom>
          <a:solidFill>
            <a:srgbClr val="FFFFFF"/>
          </a:solidFill>
          <a:ln w="9525">
            <a:solidFill>
              <a:srgbClr val="E7EBF0"/>
            </a:solidFill>
          </a:ln>
        </p:spPr>
        <p:txBody>
          <a:bodyPr/>
          <a:lstStyle/>
          <a:p>
            <a:endParaRPr lang="ja-JP" altLang="en-US"/>
          </a:p>
        </p:txBody>
      </p:sp>
      <p:sp>
        <p:nvSpPr>
          <p:cNvPr id="32" name="正方形/長方形 31">
            <a:extLst>
              <a:ext uri="{FF2B5EF4-FFF2-40B4-BE49-F238E27FC236}">
                <a16:creationId xmlns:a16="http://schemas.microsoft.com/office/drawing/2014/main" id="{AC0A89CB-1494-4524-B993-61811828E3C4}"/>
              </a:ext>
            </a:extLst>
          </p:cNvPr>
          <p:cNvSpPr>
            <a:spLocks noGrp="1"/>
          </p:cNvSpPr>
          <p:nvPr/>
        </p:nvSpPr>
        <p:spPr>
          <a:xfrm>
            <a:off x="3581400" y="5210175"/>
            <a:ext cx="238125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重み付き Brier</a:t>
            </a:r>
          </a:p>
        </p:txBody>
      </p:sp>
      <p:sp>
        <p:nvSpPr>
          <p:cNvPr id="33" name="正方形/長方形 32">
            <a:extLst>
              <a:ext uri="{FF2B5EF4-FFF2-40B4-BE49-F238E27FC236}">
                <a16:creationId xmlns:a16="http://schemas.microsoft.com/office/drawing/2014/main" id="{9EF1A27E-7B93-48B9-A162-291872ED5324}"/>
              </a:ext>
            </a:extLst>
          </p:cNvPr>
          <p:cNvSpPr>
            <a:spLocks noGrp="1"/>
          </p:cNvSpPr>
          <p:nvPr/>
        </p:nvSpPr>
        <p:spPr>
          <a:xfrm>
            <a:off x="3600450" y="5534025"/>
            <a:ext cx="2343150" cy="514350"/>
          </a:xfrm>
          <a:prstGeom prst="rect">
            <a:avLst/>
          </a:prstGeom>
          <a:noFill/>
          <a:ln w="0">
            <a:noFill/>
          </a:ln>
        </p:spPr>
        <p:txBody>
          <a:bodyPr anchor="ctr">
            <a:normAutofit/>
          </a:bodyPr>
          <a:lstStyle/>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q の確率近似誤差</a:t>
            </a:r>
          </a:p>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小さいほどよい</a:t>
            </a:r>
          </a:p>
        </p:txBody>
      </p:sp>
      <p:sp>
        <p:nvSpPr>
          <p:cNvPr id="34" name="角丸四角形 33">
            <a:extLst>
              <a:ext uri="{FF2B5EF4-FFF2-40B4-BE49-F238E27FC236}">
                <a16:creationId xmlns:a16="http://schemas.microsoft.com/office/drawing/2014/main" id="{74AC3C61-C5C8-43E6-BC62-9C29B5C8040D}"/>
              </a:ext>
            </a:extLst>
          </p:cNvPr>
          <p:cNvSpPr>
            <a:spLocks noGrp="1"/>
          </p:cNvSpPr>
          <p:nvPr/>
        </p:nvSpPr>
        <p:spPr>
          <a:xfrm>
            <a:off x="6286500" y="5105400"/>
            <a:ext cx="2609850" cy="1066800"/>
          </a:xfrm>
          <a:prstGeom prst="roundRect">
            <a:avLst>
              <a:gd name="adj" fmla="val 7143"/>
            </a:avLst>
          </a:prstGeom>
          <a:solidFill>
            <a:srgbClr val="FFFFFF"/>
          </a:solidFill>
          <a:ln w="9525">
            <a:solidFill>
              <a:srgbClr val="E7EBF0"/>
            </a:solidFill>
          </a:ln>
        </p:spPr>
        <p:txBody>
          <a:bodyPr/>
          <a:lstStyle/>
          <a:p>
            <a:endParaRPr lang="ja-JP" altLang="en-US"/>
          </a:p>
        </p:txBody>
      </p:sp>
      <p:sp>
        <p:nvSpPr>
          <p:cNvPr id="35" name="正方形/長方形 34">
            <a:extLst>
              <a:ext uri="{FF2B5EF4-FFF2-40B4-BE49-F238E27FC236}">
                <a16:creationId xmlns:a16="http://schemas.microsoft.com/office/drawing/2014/main" id="{64B04B30-8FE7-46BC-8B53-93D3A6E40218}"/>
              </a:ext>
            </a:extLst>
          </p:cNvPr>
          <p:cNvSpPr>
            <a:spLocks noGrp="1"/>
          </p:cNvSpPr>
          <p:nvPr/>
        </p:nvSpPr>
        <p:spPr>
          <a:xfrm>
            <a:off x="6400800" y="5210175"/>
            <a:ext cx="238125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競合特徴再現率</a:t>
            </a:r>
          </a:p>
        </p:txBody>
      </p:sp>
      <p:sp>
        <p:nvSpPr>
          <p:cNvPr id="36" name="正方形/長方形 35">
            <a:extLst>
              <a:ext uri="{FF2B5EF4-FFF2-40B4-BE49-F238E27FC236}">
                <a16:creationId xmlns:a16="http://schemas.microsoft.com/office/drawing/2014/main" id="{8C4EF84B-F4AA-40C3-AA94-F556A376D61A}"/>
              </a:ext>
            </a:extLst>
          </p:cNvPr>
          <p:cNvSpPr>
            <a:spLocks noGrp="1"/>
          </p:cNvSpPr>
          <p:nvPr/>
        </p:nvSpPr>
        <p:spPr>
          <a:xfrm>
            <a:off x="6419850" y="5534025"/>
            <a:ext cx="2343150" cy="514350"/>
          </a:xfrm>
          <a:prstGeom prst="rect">
            <a:avLst/>
          </a:prstGeom>
          <a:noFill/>
          <a:ln w="0">
            <a:noFill/>
          </a:ln>
        </p:spPr>
        <p:txBody>
          <a:bodyPr anchor="ctr">
            <a:normAutofit/>
          </a:bodyPr>
          <a:lstStyle/>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本当にクラス差を作る特徴を</a:t>
            </a:r>
          </a:p>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上位K個で拾えた割合</a:t>
            </a:r>
          </a:p>
        </p:txBody>
      </p:sp>
      <p:sp>
        <p:nvSpPr>
          <p:cNvPr id="37" name="角丸四角形 36">
            <a:extLst>
              <a:ext uri="{FF2B5EF4-FFF2-40B4-BE49-F238E27FC236}">
                <a16:creationId xmlns:a16="http://schemas.microsoft.com/office/drawing/2014/main" id="{2B591B0B-AB1C-46D0-BDF9-18365E900418}"/>
              </a:ext>
            </a:extLst>
          </p:cNvPr>
          <p:cNvSpPr>
            <a:spLocks noGrp="1"/>
          </p:cNvSpPr>
          <p:nvPr/>
        </p:nvSpPr>
        <p:spPr>
          <a:xfrm>
            <a:off x="9105900" y="5105400"/>
            <a:ext cx="2609850" cy="1066800"/>
          </a:xfrm>
          <a:prstGeom prst="roundRect">
            <a:avLst>
              <a:gd name="adj" fmla="val 7143"/>
            </a:avLst>
          </a:prstGeom>
          <a:solidFill>
            <a:srgbClr val="FFFFFF"/>
          </a:solidFill>
          <a:ln w="9525">
            <a:solidFill>
              <a:srgbClr val="E7EBF0"/>
            </a:solidFill>
          </a:ln>
        </p:spPr>
        <p:txBody>
          <a:bodyPr/>
          <a:lstStyle/>
          <a:p>
            <a:endParaRPr lang="ja-JP" altLang="en-US"/>
          </a:p>
        </p:txBody>
      </p:sp>
      <p:sp>
        <p:nvSpPr>
          <p:cNvPr id="38" name="正方形/長方形 37">
            <a:extLst>
              <a:ext uri="{FF2B5EF4-FFF2-40B4-BE49-F238E27FC236}">
                <a16:creationId xmlns:a16="http://schemas.microsoft.com/office/drawing/2014/main" id="{CEE0504A-E97B-4637-B5EA-477F10ACA460}"/>
              </a:ext>
            </a:extLst>
          </p:cNvPr>
          <p:cNvSpPr>
            <a:spLocks noGrp="1"/>
          </p:cNvSpPr>
          <p:nvPr/>
        </p:nvSpPr>
        <p:spPr>
          <a:xfrm>
            <a:off x="9220200" y="5210175"/>
            <a:ext cx="238125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計算時間</a:t>
            </a:r>
          </a:p>
        </p:txBody>
      </p:sp>
      <p:sp>
        <p:nvSpPr>
          <p:cNvPr id="39" name="正方形/長方形 38">
            <a:extLst>
              <a:ext uri="{FF2B5EF4-FFF2-40B4-BE49-F238E27FC236}">
                <a16:creationId xmlns:a16="http://schemas.microsoft.com/office/drawing/2014/main" id="{B521B26F-81F4-48AE-8249-4BF993CF5204}"/>
              </a:ext>
            </a:extLst>
          </p:cNvPr>
          <p:cNvSpPr>
            <a:spLocks noGrp="1"/>
          </p:cNvSpPr>
          <p:nvPr/>
        </p:nvSpPr>
        <p:spPr>
          <a:xfrm>
            <a:off x="9239250" y="5534025"/>
            <a:ext cx="2343150" cy="514350"/>
          </a:xfrm>
          <a:prstGeom prst="rect">
            <a:avLst/>
          </a:prstGeom>
          <a:noFill/>
          <a:ln w="0">
            <a:noFill/>
          </a:ln>
        </p:spPr>
        <p:txBody>
          <a:bodyPr anchor="ctr">
            <a:normAutofit/>
          </a:bodyPr>
          <a:lstStyle/>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説明1件の学習時間</a:t>
            </a:r>
          </a:p>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次元数・クラス数を変化</a:t>
            </a:r>
          </a:p>
        </p:txBody>
      </p:sp>
    </p:spTree>
    <p:extLst>
      <p:ext uri="{BB962C8B-B14F-4D97-AF65-F5344CB8AC3E}">
        <p14:creationId xmlns:p14="http://schemas.microsoft.com/office/powerpoint/2010/main" val="905220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ADE5C19-DBDE-48F8-AE96-283A50BC174E}"/>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7BD5797D-F1EE-4DE8-9C9D-8C140102DEE8}"/>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実験設定</a:t>
            </a:r>
          </a:p>
        </p:txBody>
      </p:sp>
      <p:sp>
        <p:nvSpPr>
          <p:cNvPr id="3" name="正方形/長方形 2">
            <a:extLst>
              <a:ext uri="{FF2B5EF4-FFF2-40B4-BE49-F238E27FC236}">
                <a16:creationId xmlns:a16="http://schemas.microsoft.com/office/drawing/2014/main" id="{D0C92C36-03F2-4A52-BF76-D12016ED49A3}"/>
              </a:ext>
            </a:extLst>
          </p:cNvPr>
          <p:cNvSpPr>
            <a:spLocks noGrp="1"/>
          </p:cNvSpPr>
          <p:nvPr/>
        </p:nvSpPr>
        <p:spPr>
          <a:xfrm>
            <a:off x="762000" y="800100"/>
            <a:ext cx="10668000" cy="247650"/>
          </a:xfrm>
          <a:prstGeom prst="rect">
            <a:avLst/>
          </a:prstGeom>
          <a:noFill/>
          <a:ln w="0">
            <a:noFill/>
          </a:ln>
        </p:spPr>
        <p:txBody>
          <a:bodyPr anchor="ctr">
            <a:normAutofit fontScale="92917" lnSpcReduction="10000"/>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すべての手法で摂動点・近接度重み・説明対象を共有</a:t>
            </a:r>
          </a:p>
        </p:txBody>
      </p:sp>
      <p:sp>
        <p:nvSpPr>
          <p:cNvPr id="4" name="正方形/長方形 3">
            <a:extLst>
              <a:ext uri="{FF2B5EF4-FFF2-40B4-BE49-F238E27FC236}">
                <a16:creationId xmlns:a16="http://schemas.microsoft.com/office/drawing/2014/main" id="{8E7A472F-17CD-4971-9D31-46566E395984}"/>
              </a:ext>
            </a:extLst>
          </p:cNvPr>
          <p:cNvSpPr>
            <a:spLocks noGrp="1"/>
          </p:cNvSpPr>
          <p:nvPr/>
        </p:nvSpPr>
        <p:spPr>
          <a:xfrm>
            <a:off x="11125200" y="6457950"/>
            <a:ext cx="609600" cy="190500"/>
          </a:xfrm>
          <a:prstGeom prst="rect">
            <a:avLst/>
          </a:prstGeom>
          <a:noFill/>
          <a:ln w="0">
            <a:noFill/>
          </a:ln>
        </p:spPr>
        <p:txBody>
          <a:bodyPr anchor="ctr">
            <a:normAutofit fontScale="81667" lnSpcReduction="20000"/>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12</a:t>
            </a:r>
          </a:p>
        </p:txBody>
      </p:sp>
      <p:graphicFrame>
        <p:nvGraphicFramePr>
          <p:cNvPr id="11" name="表 10"/>
          <p:cNvGraphicFramePr/>
          <p:nvPr/>
        </p:nvGraphicFramePr>
        <p:xfrm>
          <a:off x="762000" y="1295400"/>
          <a:ext cx="10668000" cy="4629150"/>
        </p:xfrm>
        <a:graphic>
          <a:graphicData uri="http://schemas.openxmlformats.org/drawingml/2006/table">
            <a:tbl>
              <a:tblPr/>
              <a:tblGrid>
                <a:gridCol w="2333625">
                  <a:extLst>
                    <a:ext uri="{9D8B030D-6E8A-4147-A177-3AD203B41FA5}">
                      <a16:colId xmlns:a16="http://schemas.microsoft.com/office/drawing/2014/main" val="20000"/>
                    </a:ext>
                  </a:extLst>
                </a:gridCol>
                <a:gridCol w="8334375">
                  <a:extLst>
                    <a:ext uri="{9D8B030D-6E8A-4147-A177-3AD203B41FA5}">
                      <a16:colId xmlns:a16="http://schemas.microsoft.com/office/drawing/2014/main" val="20001"/>
                    </a:ext>
                  </a:extLst>
                </a:gridCol>
              </a:tblGrid>
              <a:tr h="514350">
                <a:tc>
                  <a:txBody>
                    <a:bodyPr/>
                    <a:lstStyle/>
                    <a:p>
                      <a:r>
                        <a:rPr sz="1275" b="1">
                          <a:solidFill>
                            <a:srgbClr val="FFFFFF"/>
                          </a:solidFill>
                          <a:latin typeface="YuGothic"/>
                          <a:ea typeface="YuGothic"/>
                          <a:cs typeface="YuGothic"/>
                        </a:rPr>
                        <a:t>項目</a:t>
                      </a:r>
                    </a:p>
                  </a:txBody>
                  <a:tcPr marL="114300" marR="114300" marT="76200" marB="76200" anchor="ctr">
                    <a:solidFill>
                      <a:srgbClr val="1479C9"/>
                    </a:solidFill>
                  </a:tcPr>
                </a:tc>
                <a:tc>
                  <a:txBody>
                    <a:bodyPr/>
                    <a:lstStyle/>
                    <a:p>
                      <a:r>
                        <a:rPr sz="1275" b="1">
                          <a:solidFill>
                            <a:srgbClr val="FFFFFF"/>
                          </a:solidFill>
                          <a:latin typeface="YuGothic"/>
                          <a:ea typeface="YuGothic"/>
                          <a:cs typeface="YuGothic"/>
                        </a:rPr>
                        <a:t>設定</a:t>
                      </a:r>
                    </a:p>
                  </a:txBody>
                  <a:tcPr marL="114300" marR="114300" marT="76200" marB="76200" anchor="ctr">
                    <a:solidFill>
                      <a:srgbClr val="1479C9"/>
                    </a:solidFill>
                  </a:tcPr>
                </a:tc>
                <a:extLst>
                  <a:ext uri="{0D108BD9-81ED-4DB2-BD59-A6C34878D82A}">
                    <a16:rowId xmlns:a16="http://schemas.microsoft.com/office/drawing/2014/main" val="10000"/>
                  </a:ext>
                </a:extLst>
              </a:tr>
              <a:tr h="514350">
                <a:tc>
                  <a:txBody>
                    <a:bodyPr/>
                    <a:lstStyle/>
                    <a:p>
                      <a:r>
                        <a:rPr sz="1125" b="1">
                          <a:solidFill>
                            <a:srgbClr val="1479C9"/>
                          </a:solidFill>
                          <a:latin typeface="YuGothic"/>
                          <a:ea typeface="YuGothic"/>
                          <a:cs typeface="YuGothic"/>
                        </a:rPr>
                        <a:t>データ</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make_classification、2,000件、学習70%／評価30%</a:t>
                      </a:r>
                    </a:p>
                  </a:txBody>
                  <a:tcPr marL="114300" marR="114300" marT="57150" marB="57150" anchor="ctr">
                    <a:solidFill>
                      <a:srgbClr val="FBFCFE"/>
                    </a:solidFill>
                  </a:tcPr>
                </a:tc>
                <a:extLst>
                  <a:ext uri="{0D108BD9-81ED-4DB2-BD59-A6C34878D82A}">
                    <a16:rowId xmlns:a16="http://schemas.microsoft.com/office/drawing/2014/main" val="10001"/>
                  </a:ext>
                </a:extLst>
              </a:tr>
              <a:tr h="514350">
                <a:tc>
                  <a:txBody>
                    <a:bodyPr/>
                    <a:lstStyle/>
                    <a:p>
                      <a:r>
                        <a:rPr sz="1125" b="1">
                          <a:solidFill>
                            <a:srgbClr val="1479C9"/>
                          </a:solidFill>
                          <a:latin typeface="YuGothic"/>
                          <a:ea typeface="YuGothic"/>
                          <a:cs typeface="YuGothic"/>
                        </a:rPr>
                        <a:t>次元数・クラス数</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主実験 d={8,14,20}, C={3,4,5} ／ BB比較 d={8,14}, C={3,5}</a:t>
                      </a:r>
                    </a:p>
                  </a:txBody>
                  <a:tcPr marL="114300" marR="114300" marT="57150" marB="57150" anchor="ctr"/>
                </a:tc>
                <a:extLst>
                  <a:ext uri="{0D108BD9-81ED-4DB2-BD59-A6C34878D82A}">
                    <a16:rowId xmlns:a16="http://schemas.microsoft.com/office/drawing/2014/main" val="10002"/>
                  </a:ext>
                </a:extLst>
              </a:tr>
              <a:tr h="514350">
                <a:tc>
                  <a:txBody>
                    <a:bodyPr/>
                    <a:lstStyle/>
                    <a:p>
                      <a:r>
                        <a:rPr sz="1125" b="1">
                          <a:solidFill>
                            <a:srgbClr val="1479C9"/>
                          </a:solidFill>
                          <a:latin typeface="YuGothic"/>
                          <a:ea typeface="YuGothic"/>
                          <a:cs typeface="YuGothic"/>
                        </a:rPr>
                        <a:t>表示特徴数 K</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round(0.25d), round(0.50d)。全手法で exact-K</a:t>
                      </a:r>
                    </a:p>
                  </a:txBody>
                  <a:tcPr marL="114300" marR="114300" marT="57150" marB="57150" anchor="ctr">
                    <a:solidFill>
                      <a:srgbClr val="FBFCFE"/>
                    </a:solidFill>
                  </a:tcPr>
                </a:tc>
                <a:extLst>
                  <a:ext uri="{0D108BD9-81ED-4DB2-BD59-A6C34878D82A}">
                    <a16:rowId xmlns:a16="http://schemas.microsoft.com/office/drawing/2014/main" val="10003"/>
                  </a:ext>
                </a:extLst>
              </a:tr>
              <a:tr h="514350">
                <a:tc>
                  <a:txBody>
                    <a:bodyPr/>
                    <a:lstStyle/>
                    <a:p>
                      <a:r>
                        <a:rPr sz="1125" b="1">
                          <a:solidFill>
                            <a:srgbClr val="1479C9"/>
                          </a:solidFill>
                          <a:latin typeface="YuGothic"/>
                          <a:ea typeface="YuGothic"/>
                          <a:cs typeface="YuGothic"/>
                        </a:rPr>
                        <a:t>ブラックボックス</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多項ロジスティック回帰、tanh MLP (32,16)、Random Forest 200本</a:t>
                      </a:r>
                    </a:p>
                  </a:txBody>
                  <a:tcPr marL="114300" marR="114300" marT="57150" marB="57150" anchor="ctr"/>
                </a:tc>
                <a:extLst>
                  <a:ext uri="{0D108BD9-81ED-4DB2-BD59-A6C34878D82A}">
                    <a16:rowId xmlns:a16="http://schemas.microsoft.com/office/drawing/2014/main" val="10004"/>
                  </a:ext>
                </a:extLst>
              </a:tr>
              <a:tr h="514350">
                <a:tc>
                  <a:txBody>
                    <a:bodyPr/>
                    <a:lstStyle/>
                    <a:p>
                      <a:r>
                        <a:rPr sz="1125" b="1">
                          <a:solidFill>
                            <a:srgbClr val="1479C9"/>
                          </a:solidFill>
                          <a:latin typeface="YuGothic"/>
                          <a:ea typeface="YuGothic"/>
                          <a:cs typeface="YuGothic"/>
                        </a:rPr>
                        <a:t>説明対象</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テスト点のうち Top-1 と Top-2 の確率差が小さい8点</a:t>
                      </a:r>
                    </a:p>
                  </a:txBody>
                  <a:tcPr marL="114300" marR="114300" marT="57150" marB="57150" anchor="ctr">
                    <a:solidFill>
                      <a:srgbClr val="FBFCFE"/>
                    </a:solidFill>
                  </a:tcPr>
                </a:tc>
                <a:extLst>
                  <a:ext uri="{0D108BD9-81ED-4DB2-BD59-A6C34878D82A}">
                    <a16:rowId xmlns:a16="http://schemas.microsoft.com/office/drawing/2014/main" val="10005"/>
                  </a:ext>
                </a:extLst>
              </a:tr>
              <a:tr h="514350">
                <a:tc>
                  <a:txBody>
                    <a:bodyPr/>
                    <a:lstStyle/>
                    <a:p>
                      <a:r>
                        <a:rPr sz="1125" b="1">
                          <a:solidFill>
                            <a:srgbClr val="1479C9"/>
                          </a:solidFill>
                          <a:latin typeface="YuGothic"/>
                          <a:ea typeface="YuGothic"/>
                          <a:cs typeface="YuGothic"/>
                        </a:rPr>
                        <a:t>摂動と局所重み</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学習300点＋未使用300点。特徴標準偏差に基づくGaussian摂動＋指数カーネル</a:t>
                      </a:r>
                    </a:p>
                  </a:txBody>
                  <a:tcPr marL="114300" marR="114300" marT="57150" marB="57150" anchor="ctr"/>
                </a:tc>
                <a:extLst>
                  <a:ext uri="{0D108BD9-81ED-4DB2-BD59-A6C34878D82A}">
                    <a16:rowId xmlns:a16="http://schemas.microsoft.com/office/drawing/2014/main" val="10006"/>
                  </a:ext>
                </a:extLst>
              </a:tr>
              <a:tr h="514350">
                <a:tc>
                  <a:txBody>
                    <a:bodyPr/>
                    <a:lstStyle/>
                    <a:p>
                      <a:r>
                        <a:rPr sz="1125" b="1">
                          <a:solidFill>
                            <a:srgbClr val="1479C9"/>
                          </a:solidFill>
                          <a:latin typeface="YuGothic"/>
                          <a:ea typeface="YuGothic"/>
                          <a:cs typeface="YuGothic"/>
                        </a:rPr>
                        <a:t>反復</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独立データ seed 20回（計算時間は10回）。各seed内で乱数を手法間共有</a:t>
                      </a:r>
                    </a:p>
                  </a:txBody>
                  <a:tcPr marL="114300" marR="114300" marT="57150" marB="57150" anchor="ctr">
                    <a:solidFill>
                      <a:srgbClr val="FBFCFE"/>
                    </a:solidFill>
                  </a:tcPr>
                </a:tc>
                <a:extLst>
                  <a:ext uri="{0D108BD9-81ED-4DB2-BD59-A6C34878D82A}">
                    <a16:rowId xmlns:a16="http://schemas.microsoft.com/office/drawing/2014/main" val="10007"/>
                  </a:ext>
                </a:extLst>
              </a:tr>
              <a:tr h="514350">
                <a:tc>
                  <a:txBody>
                    <a:bodyPr/>
                    <a:lstStyle/>
                    <a:p>
                      <a:r>
                        <a:rPr sz="1125" b="1">
                          <a:solidFill>
                            <a:srgbClr val="1479C9"/>
                          </a:solidFill>
                          <a:latin typeface="YuGothic"/>
                          <a:ea typeface="YuGothic"/>
                          <a:cs typeface="YuGothic"/>
                        </a:rPr>
                        <a:t>サロゲート</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Ridge α=1.0、Logistic C=1.0。Lasso pathでK特徴を選択後、選択特徴だけで再fit</a:t>
                      </a:r>
                    </a:p>
                  </a:txBody>
                  <a:tcPr marL="114300" marR="114300" marT="57150" marB="57150" anchor="ctr"/>
                </a:tc>
                <a:extLst>
                  <a:ext uri="{0D108BD9-81ED-4DB2-BD59-A6C34878D82A}">
                    <a16:rowId xmlns:a16="http://schemas.microsoft.com/office/drawing/2014/main" val="10008"/>
                  </a:ext>
                </a:extLst>
              </a:tr>
            </a:tbl>
          </a:graphicData>
        </a:graphic>
      </p:graphicFrame>
      <p:sp>
        <p:nvSpPr>
          <p:cNvPr id="6" name="正方形/長方形 5">
            <a:extLst>
              <a:ext uri="{FF2B5EF4-FFF2-40B4-BE49-F238E27FC236}">
                <a16:creationId xmlns:a16="http://schemas.microsoft.com/office/drawing/2014/main" id="{6630C5B1-6663-4CE6-B8B3-86FBD91D8289}"/>
              </a:ext>
            </a:extLst>
          </p:cNvPr>
          <p:cNvSpPr>
            <a:spLocks noGrp="1"/>
          </p:cNvSpPr>
          <p:nvPr/>
        </p:nvSpPr>
        <p:spPr>
          <a:xfrm>
            <a:off x="762000" y="6067425"/>
            <a:ext cx="10668000" cy="304800"/>
          </a:xfrm>
          <a:prstGeom prst="rect">
            <a:avLst/>
          </a:prstGeom>
          <a:noFill/>
          <a:ln w="0">
            <a:noFill/>
          </a:ln>
        </p:spPr>
        <p:txBody>
          <a:bodyPr anchor="ctr">
            <a:normAutofit/>
          </a:bodyPr>
          <a:lstStyle/>
          <a:p>
            <a:pPr algn="ctr">
              <a:defRPr sz="1350" b="1">
                <a:solidFill>
                  <a:srgbClr val="F28C28"/>
                </a:solidFill>
                <a:latin typeface="YuGothic"/>
                <a:ea typeface="YuGothic"/>
                <a:cs typeface="YuGothic"/>
              </a:defRPr>
            </a:pPr>
            <a:r>
              <a:rPr sz="1350" b="1">
                <a:solidFill>
                  <a:srgbClr val="F28C28"/>
                </a:solidFill>
                <a:latin typeface="YuGothic"/>
                <a:ea typeface="YuGothic"/>
                <a:cs typeface="YuGothic"/>
              </a:rPr>
              <a:t>このスライドの主張：学習用とは別の摂動点で評価し、同じK・同じ乱数で公平に比較する</a:t>
            </a:r>
          </a:p>
        </p:txBody>
      </p:sp>
    </p:spTree>
    <p:extLst>
      <p:ext uri="{BB962C8B-B14F-4D97-AF65-F5344CB8AC3E}">
        <p14:creationId xmlns:p14="http://schemas.microsoft.com/office/powerpoint/2010/main" val="510226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54488961-6020-4B64-BC50-F0EC40640FAE}"/>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AF1273B8-46FA-4B6E-A7ED-85ED5896C55A}"/>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主実験：Random Forest</a:t>
            </a:r>
          </a:p>
        </p:txBody>
      </p:sp>
      <p:sp>
        <p:nvSpPr>
          <p:cNvPr id="3" name="正方形/長方形 2">
            <a:extLst>
              <a:ext uri="{FF2B5EF4-FFF2-40B4-BE49-F238E27FC236}">
                <a16:creationId xmlns:a16="http://schemas.microsoft.com/office/drawing/2014/main" id="{621B13A1-484A-4A06-A37F-C84FE9C74230}"/>
              </a:ext>
            </a:extLst>
          </p:cNvPr>
          <p:cNvSpPr>
            <a:spLocks noGrp="1"/>
          </p:cNvSpPr>
          <p:nvPr/>
        </p:nvSpPr>
        <p:spPr>
          <a:xfrm>
            <a:off x="762000" y="800100"/>
            <a:ext cx="10668000" cy="247650"/>
          </a:xfrm>
          <a:prstGeom prst="rect">
            <a:avLst/>
          </a:prstGeom>
          <a:noFill/>
          <a:ln w="0">
            <a:noFill/>
          </a:ln>
        </p:spPr>
        <p:txBody>
          <a:bodyPr anchor="ctr">
            <a:normAutofit fontScale="92917" lnSpcReduction="10000"/>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exact-K・held-out評価。点は20 seedsの平均、線は95%ブートストラップ信頼区間</a:t>
            </a:r>
          </a:p>
        </p:txBody>
      </p:sp>
      <p:sp>
        <p:nvSpPr>
          <p:cNvPr id="4" name="正方形/長方形 3">
            <a:extLst>
              <a:ext uri="{FF2B5EF4-FFF2-40B4-BE49-F238E27FC236}">
                <a16:creationId xmlns:a16="http://schemas.microsoft.com/office/drawing/2014/main" id="{F2BA1144-9FA7-44F4-AD15-F77EF31B5146}"/>
              </a:ext>
            </a:extLst>
          </p:cNvPr>
          <p:cNvSpPr>
            <a:spLocks noGrp="1"/>
          </p:cNvSpPr>
          <p:nvPr/>
        </p:nvSpPr>
        <p:spPr>
          <a:xfrm>
            <a:off x="11125200" y="6457950"/>
            <a:ext cx="609600" cy="190500"/>
          </a:xfrm>
          <a:prstGeom prst="rect">
            <a:avLst/>
          </a:prstGeom>
          <a:noFill/>
          <a:ln w="0">
            <a:noFill/>
          </a:ln>
        </p:spPr>
        <p:txBody>
          <a:bodyPr anchor="ctr">
            <a:normAutofit fontScale="74167" lnSpcReduction="20000"/>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13</a:t>
            </a:r>
          </a:p>
        </p:txBody>
      </p:sp>
      <p:pic>
        <p:nvPicPr>
          <p:cNvPr id="21" name="図 20"/>
          <p:cNvPicPr>
            <a:picLocks noChangeAspect="1"/>
          </p:cNvPicPr>
          <p:nvPr/>
        </p:nvPicPr>
        <p:blipFill>
          <a:blip r:embed="rId3"/>
          <a:stretch/>
        </p:blipFill>
        <p:spPr>
          <a:xfrm>
            <a:off x="495300" y="1303247"/>
            <a:ext cx="8286750" cy="3889556"/>
          </a:xfrm>
          <a:prstGeom prst="rect">
            <a:avLst/>
          </a:prstGeom>
        </p:spPr>
      </p:pic>
      <p:sp>
        <p:nvSpPr>
          <p:cNvPr id="6" name="角丸四角形 5">
            <a:extLst>
              <a:ext uri="{FF2B5EF4-FFF2-40B4-BE49-F238E27FC236}">
                <a16:creationId xmlns:a16="http://schemas.microsoft.com/office/drawing/2014/main" id="{0A0EDD13-24AA-45EC-9B75-409D3A60B0EC}"/>
              </a:ext>
            </a:extLst>
          </p:cNvPr>
          <p:cNvSpPr>
            <a:spLocks noGrp="1"/>
          </p:cNvSpPr>
          <p:nvPr/>
        </p:nvSpPr>
        <p:spPr>
          <a:xfrm>
            <a:off x="9010650" y="1257300"/>
            <a:ext cx="2628900" cy="1219200"/>
          </a:xfrm>
          <a:prstGeom prst="roundRect">
            <a:avLst>
              <a:gd name="adj" fmla="val 6250"/>
            </a:avLst>
          </a:prstGeom>
          <a:solidFill>
            <a:srgbClr val="EAF4FB"/>
          </a:solidFill>
          <a:ln w="0">
            <a:noFill/>
          </a:ln>
        </p:spPr>
        <p:txBody>
          <a:bodyPr/>
          <a:lstStyle/>
          <a:p>
            <a:endParaRPr lang="ja-JP" altLang="en-US"/>
          </a:p>
        </p:txBody>
      </p:sp>
      <p:sp>
        <p:nvSpPr>
          <p:cNvPr id="7" name="正方形/長方形 6">
            <a:extLst>
              <a:ext uri="{FF2B5EF4-FFF2-40B4-BE49-F238E27FC236}">
                <a16:creationId xmlns:a16="http://schemas.microsoft.com/office/drawing/2014/main" id="{39D14B8E-84F2-452E-8933-139F1A4848D6}"/>
              </a:ext>
            </a:extLst>
          </p:cNvPr>
          <p:cNvSpPr>
            <a:spLocks noGrp="1"/>
          </p:cNvSpPr>
          <p:nvPr/>
        </p:nvSpPr>
        <p:spPr>
          <a:xfrm>
            <a:off x="9182100" y="1390650"/>
            <a:ext cx="228600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符号忠実度</a:t>
            </a:r>
          </a:p>
        </p:txBody>
      </p:sp>
      <p:sp>
        <p:nvSpPr>
          <p:cNvPr id="8" name="正方形/長方形 7">
            <a:extLst>
              <a:ext uri="{FF2B5EF4-FFF2-40B4-BE49-F238E27FC236}">
                <a16:creationId xmlns:a16="http://schemas.microsoft.com/office/drawing/2014/main" id="{BF275E3E-59AF-449D-A291-7CC3C8EE3E67}"/>
              </a:ext>
            </a:extLst>
          </p:cNvPr>
          <p:cNvSpPr>
            <a:spLocks noGrp="1"/>
          </p:cNvSpPr>
          <p:nvPr/>
        </p:nvSpPr>
        <p:spPr>
          <a:xfrm>
            <a:off x="9172575" y="1752600"/>
            <a:ext cx="2305050" cy="533400"/>
          </a:xfrm>
          <a:prstGeom prst="rect">
            <a:avLst/>
          </a:prstGeom>
          <a:noFill/>
          <a:ln w="0">
            <a:noFill/>
          </a:ln>
        </p:spPr>
        <p:txBody>
          <a:bodyPr anchor="ctr">
            <a:normAutofit fontScale="96667" lnSpcReduction="10000"/>
          </a:bodyPr>
          <a:lstStyle/>
          <a:p>
            <a:pPr algn="ctr">
              <a:defRPr sz="1500" b="1">
                <a:solidFill>
                  <a:srgbClr val="17233D"/>
                </a:solidFill>
                <a:latin typeface="YuGothic"/>
                <a:ea typeface="YuGothic"/>
                <a:cs typeface="YuGothic"/>
              </a:defRPr>
            </a:pPr>
            <a:r>
              <a:rPr sz="1500" b="1">
                <a:solidFill>
                  <a:srgbClr val="17233D"/>
                </a:solidFill>
                <a:latin typeface="YuGothic"/>
                <a:ea typeface="YuGothic"/>
                <a:cs typeface="YuGothic"/>
              </a:rPr>
              <a:t>2クラスLIME  0.791</a:t>
            </a:r>
          </a:p>
          <a:p>
            <a:pPr algn="ctr">
              <a:defRPr sz="1500" b="1">
                <a:solidFill>
                  <a:srgbClr val="17233D"/>
                </a:solidFill>
                <a:latin typeface="YuGothic"/>
                <a:ea typeface="YuGothic"/>
                <a:cs typeface="YuGothic"/>
              </a:defRPr>
            </a:pPr>
            <a:r>
              <a:rPr sz="1500" b="1">
                <a:solidFill>
                  <a:srgbClr val="17233D"/>
                </a:solidFill>
                <a:latin typeface="YuGothic"/>
                <a:ea typeface="YuGothic"/>
                <a:cs typeface="YuGothic"/>
              </a:rPr>
              <a:t>OVR exact-K   0.787</a:t>
            </a:r>
          </a:p>
        </p:txBody>
      </p:sp>
      <p:sp>
        <p:nvSpPr>
          <p:cNvPr id="9" name="角丸四角形 8">
            <a:extLst>
              <a:ext uri="{FF2B5EF4-FFF2-40B4-BE49-F238E27FC236}">
                <a16:creationId xmlns:a16="http://schemas.microsoft.com/office/drawing/2014/main" id="{8F38C8E0-24D1-4CC0-AD9B-62997C3F696C}"/>
              </a:ext>
            </a:extLst>
          </p:cNvPr>
          <p:cNvSpPr>
            <a:spLocks noGrp="1"/>
          </p:cNvSpPr>
          <p:nvPr/>
        </p:nvSpPr>
        <p:spPr>
          <a:xfrm>
            <a:off x="9010650" y="2647950"/>
            <a:ext cx="2628900" cy="1219200"/>
          </a:xfrm>
          <a:prstGeom prst="roundRect">
            <a:avLst>
              <a:gd name="adj" fmla="val 6250"/>
            </a:avLst>
          </a:prstGeom>
          <a:solidFill>
            <a:srgbClr val="F7F9FC"/>
          </a:solidFill>
          <a:ln w="9525">
            <a:solidFill>
              <a:srgbClr val="E7EBF0"/>
            </a:solidFill>
          </a:ln>
        </p:spPr>
        <p:txBody>
          <a:bodyPr/>
          <a:lstStyle/>
          <a:p>
            <a:endParaRPr lang="ja-JP" altLang="en-US"/>
          </a:p>
        </p:txBody>
      </p:sp>
      <p:sp>
        <p:nvSpPr>
          <p:cNvPr id="10" name="正方形/長方形 9">
            <a:extLst>
              <a:ext uri="{FF2B5EF4-FFF2-40B4-BE49-F238E27FC236}">
                <a16:creationId xmlns:a16="http://schemas.microsoft.com/office/drawing/2014/main" id="{D2F8B2DA-7C3D-40F5-8D0D-CA6E06D57D64}"/>
              </a:ext>
            </a:extLst>
          </p:cNvPr>
          <p:cNvSpPr>
            <a:spLocks noGrp="1"/>
          </p:cNvSpPr>
          <p:nvPr/>
        </p:nvSpPr>
        <p:spPr>
          <a:xfrm>
            <a:off x="9182100" y="2781300"/>
            <a:ext cx="228600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確率誤差（Brier）</a:t>
            </a:r>
          </a:p>
        </p:txBody>
      </p:sp>
      <p:sp>
        <p:nvSpPr>
          <p:cNvPr id="11" name="正方形/長方形 10">
            <a:extLst>
              <a:ext uri="{FF2B5EF4-FFF2-40B4-BE49-F238E27FC236}">
                <a16:creationId xmlns:a16="http://schemas.microsoft.com/office/drawing/2014/main" id="{3C01E98B-2AE2-4250-BE25-F066D10AA307}"/>
              </a:ext>
            </a:extLst>
          </p:cNvPr>
          <p:cNvSpPr>
            <a:spLocks noGrp="1"/>
          </p:cNvSpPr>
          <p:nvPr/>
        </p:nvSpPr>
        <p:spPr>
          <a:xfrm>
            <a:off x="9172575" y="3143250"/>
            <a:ext cx="2305050" cy="533400"/>
          </a:xfrm>
          <a:prstGeom prst="rect">
            <a:avLst/>
          </a:prstGeom>
          <a:noFill/>
          <a:ln w="0">
            <a:noFill/>
          </a:ln>
        </p:spPr>
        <p:txBody>
          <a:bodyPr anchor="ctr">
            <a:normAutofit/>
          </a:bodyPr>
          <a:lstStyle/>
          <a:p>
            <a:pPr algn="ctr">
              <a:defRPr sz="1425" b="1">
                <a:solidFill>
                  <a:srgbClr val="17233D"/>
                </a:solidFill>
                <a:latin typeface="YuGothic"/>
                <a:ea typeface="YuGothic"/>
                <a:cs typeface="YuGothic"/>
              </a:defRPr>
            </a:pPr>
            <a:r>
              <a:rPr sz="1425" b="1">
                <a:solidFill>
                  <a:srgbClr val="17233D"/>
                </a:solidFill>
                <a:latin typeface="YuGothic"/>
                <a:ea typeface="YuGothic"/>
                <a:cs typeface="YuGothic"/>
              </a:rPr>
              <a:t>2クラスLIME  0.0156</a:t>
            </a:r>
          </a:p>
          <a:p>
            <a:pPr algn="ctr">
              <a:defRPr sz="1425" b="1">
                <a:solidFill>
                  <a:srgbClr val="17233D"/>
                </a:solidFill>
                <a:latin typeface="YuGothic"/>
                <a:ea typeface="YuGothic"/>
                <a:cs typeface="YuGothic"/>
              </a:defRPr>
            </a:pPr>
            <a:r>
              <a:rPr sz="1425" b="1">
                <a:solidFill>
                  <a:srgbClr val="17233D"/>
                </a:solidFill>
                <a:latin typeface="YuGothic"/>
                <a:ea typeface="YuGothic"/>
                <a:cs typeface="YuGothic"/>
              </a:rPr>
              <a:t>Contrastive   0.0158</a:t>
            </a:r>
          </a:p>
        </p:txBody>
      </p:sp>
      <p:sp>
        <p:nvSpPr>
          <p:cNvPr id="12" name="角丸四角形 11">
            <a:extLst>
              <a:ext uri="{FF2B5EF4-FFF2-40B4-BE49-F238E27FC236}">
                <a16:creationId xmlns:a16="http://schemas.microsoft.com/office/drawing/2014/main" id="{89AC22F8-A864-4234-B40C-D0819DA6B70B}"/>
              </a:ext>
            </a:extLst>
          </p:cNvPr>
          <p:cNvSpPr>
            <a:spLocks noGrp="1"/>
          </p:cNvSpPr>
          <p:nvPr/>
        </p:nvSpPr>
        <p:spPr>
          <a:xfrm>
            <a:off x="9010650" y="4038600"/>
            <a:ext cx="2628900" cy="1295400"/>
          </a:xfrm>
          <a:prstGeom prst="roundRect">
            <a:avLst>
              <a:gd name="adj" fmla="val 5882"/>
            </a:avLst>
          </a:prstGeom>
          <a:solidFill>
            <a:srgbClr val="FFF4D6"/>
          </a:solidFill>
          <a:ln w="0">
            <a:noFill/>
          </a:ln>
        </p:spPr>
        <p:txBody>
          <a:bodyPr/>
          <a:lstStyle/>
          <a:p>
            <a:endParaRPr lang="ja-JP" altLang="en-US"/>
          </a:p>
        </p:txBody>
      </p:sp>
      <p:sp>
        <p:nvSpPr>
          <p:cNvPr id="13" name="正方形/長方形 12">
            <a:extLst>
              <a:ext uri="{FF2B5EF4-FFF2-40B4-BE49-F238E27FC236}">
                <a16:creationId xmlns:a16="http://schemas.microsoft.com/office/drawing/2014/main" id="{01ADD4B4-9263-4099-BB8B-3F7D4253BEEB}"/>
              </a:ext>
            </a:extLst>
          </p:cNvPr>
          <p:cNvSpPr>
            <a:spLocks noGrp="1"/>
          </p:cNvSpPr>
          <p:nvPr/>
        </p:nvSpPr>
        <p:spPr>
          <a:xfrm>
            <a:off x="9191625" y="4171950"/>
            <a:ext cx="2266950" cy="257175"/>
          </a:xfrm>
          <a:prstGeom prst="rect">
            <a:avLst/>
          </a:prstGeom>
          <a:noFill/>
          <a:ln w="0">
            <a:noFill/>
          </a:ln>
        </p:spPr>
        <p:txBody>
          <a:bodyPr anchor="ctr">
            <a:normAutofit fontScale="88055" lnSpcReduction="10000"/>
          </a:bodyPr>
          <a:lstStyle/>
          <a:p>
            <a:pPr algn="ctr">
              <a:defRPr sz="1350" b="1">
                <a:solidFill>
                  <a:srgbClr val="F28C28"/>
                </a:solidFill>
                <a:latin typeface="YuGothic"/>
                <a:ea typeface="YuGothic"/>
                <a:cs typeface="YuGothic"/>
              </a:defRPr>
            </a:pPr>
            <a:r>
              <a:rPr sz="1350" b="1">
                <a:solidFill>
                  <a:srgbClr val="F28C28"/>
                </a:solidFill>
                <a:latin typeface="YuGothic"/>
                <a:ea typeface="YuGothic"/>
                <a:cs typeface="YuGothic"/>
              </a:rPr>
              <a:t>読み方</a:t>
            </a:r>
          </a:p>
        </p:txBody>
      </p:sp>
      <p:sp>
        <p:nvSpPr>
          <p:cNvPr id="14" name="正方形/長方形 13">
            <a:extLst>
              <a:ext uri="{FF2B5EF4-FFF2-40B4-BE49-F238E27FC236}">
                <a16:creationId xmlns:a16="http://schemas.microsoft.com/office/drawing/2014/main" id="{2D7F990C-0511-4925-B664-EB958FF0EC7F}"/>
              </a:ext>
            </a:extLst>
          </p:cNvPr>
          <p:cNvSpPr>
            <a:spLocks noGrp="1"/>
          </p:cNvSpPr>
          <p:nvPr/>
        </p:nvSpPr>
        <p:spPr>
          <a:xfrm>
            <a:off x="9172575" y="4495800"/>
            <a:ext cx="2305050" cy="666750"/>
          </a:xfrm>
          <a:prstGeom prst="rect">
            <a:avLst/>
          </a:prstGeom>
          <a:noFill/>
          <a:ln w="0">
            <a:noFill/>
          </a:ln>
        </p:spPr>
        <p:txBody>
          <a:bodyPr anchor="ctr">
            <a:normAutofit fontScale="91328" lnSpcReduction="20000"/>
          </a:bodyPr>
          <a:lstStyle/>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+0.0041は小幅。</a:t>
            </a:r>
          </a:p>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『大幅な精度向上』ではなく、</a:t>
            </a:r>
          </a:p>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同じKでも悪化しない証拠と捉える。</a:t>
            </a:r>
          </a:p>
        </p:txBody>
      </p:sp>
      <p:sp>
        <p:nvSpPr>
          <p:cNvPr id="15" name="角丸四角形 14">
            <a:extLst>
              <a:ext uri="{FF2B5EF4-FFF2-40B4-BE49-F238E27FC236}">
                <a16:creationId xmlns:a16="http://schemas.microsoft.com/office/drawing/2014/main" id="{AEA154F9-B947-4AFF-9333-E25D26DAAF10}"/>
              </a:ext>
            </a:extLst>
          </p:cNvPr>
          <p:cNvSpPr>
            <a:spLocks noGrp="1"/>
          </p:cNvSpPr>
          <p:nvPr/>
        </p:nvSpPr>
        <p:spPr>
          <a:xfrm>
            <a:off x="762000" y="5810250"/>
            <a:ext cx="10668000" cy="409575"/>
          </a:xfrm>
          <a:prstGeom prst="roundRect">
            <a:avLst>
              <a:gd name="adj" fmla="val 18605"/>
            </a:avLst>
          </a:prstGeom>
          <a:solidFill>
            <a:srgbClr val="EAF4FB"/>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48A94C43-EAD0-4607-A8CA-EFAF85778F6B}"/>
              </a:ext>
            </a:extLst>
          </p:cNvPr>
          <p:cNvSpPr>
            <a:spLocks noGrp="1"/>
          </p:cNvSpPr>
          <p:nvPr/>
        </p:nvSpPr>
        <p:spPr>
          <a:xfrm>
            <a:off x="952500" y="58578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dirty="0">
                <a:solidFill>
                  <a:srgbClr val="1479C9"/>
                </a:solidFill>
                <a:latin typeface="YuGothic"/>
                <a:ea typeface="YuGothic"/>
                <a:cs typeface="YuGothic"/>
              </a:rPr>
              <a:t>このスライドの主張：RFではリンク関数の工夫より、説明対象をTop-1対Top-2へ絞る効果が中心</a:t>
            </a:r>
          </a:p>
        </p:txBody>
      </p:sp>
    </p:spTree>
    <p:extLst>
      <p:ext uri="{BB962C8B-B14F-4D97-AF65-F5344CB8AC3E}">
        <p14:creationId xmlns:p14="http://schemas.microsoft.com/office/powerpoint/2010/main" val="17912972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7E6C2AD0-8BF8-4E4D-908E-231356EDE4B1}"/>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91CFB31C-7A40-4B74-B12D-A0E116FDCA4F}"/>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ブラックボックス構造別の結果</a:t>
            </a:r>
          </a:p>
        </p:txBody>
      </p:sp>
      <p:sp>
        <p:nvSpPr>
          <p:cNvPr id="3" name="正方形/長方形 2">
            <a:extLst>
              <a:ext uri="{FF2B5EF4-FFF2-40B4-BE49-F238E27FC236}">
                <a16:creationId xmlns:a16="http://schemas.microsoft.com/office/drawing/2014/main" id="{181E3950-884B-4607-9C85-381B6664BCD9}"/>
              </a:ext>
            </a:extLst>
          </p:cNvPr>
          <p:cNvSpPr>
            <a:spLocks noGrp="1"/>
          </p:cNvSpPr>
          <p:nvPr/>
        </p:nvSpPr>
        <p:spPr>
          <a:xfrm>
            <a:off x="762000" y="800100"/>
            <a:ext cx="10668000" cy="247650"/>
          </a:xfrm>
          <a:prstGeom prst="rect">
            <a:avLst/>
          </a:prstGeom>
          <a:noFill/>
          <a:ln w="0">
            <a:noFill/>
          </a:ln>
        </p:spPr>
        <p:txBody>
          <a:bodyPr anchor="ctr">
            <a:normAutofit fontScale="92917" lnSpcReduction="10000"/>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線形softmax、非線形NN＋softmax、Random Forestを同じ設計で比較</a:t>
            </a:r>
          </a:p>
        </p:txBody>
      </p:sp>
      <p:sp>
        <p:nvSpPr>
          <p:cNvPr id="4" name="正方形/長方形 3">
            <a:extLst>
              <a:ext uri="{FF2B5EF4-FFF2-40B4-BE49-F238E27FC236}">
                <a16:creationId xmlns:a16="http://schemas.microsoft.com/office/drawing/2014/main" id="{4329B711-AB81-4BD4-A014-C865F23438A2}"/>
              </a:ext>
            </a:extLst>
          </p:cNvPr>
          <p:cNvSpPr>
            <a:spLocks noGrp="1"/>
          </p:cNvSpPr>
          <p:nvPr/>
        </p:nvSpPr>
        <p:spPr>
          <a:xfrm>
            <a:off x="11125200" y="6457950"/>
            <a:ext cx="609600" cy="190500"/>
          </a:xfrm>
          <a:prstGeom prst="rect">
            <a:avLst/>
          </a:prstGeom>
          <a:noFill/>
          <a:ln w="0">
            <a:noFill/>
          </a:ln>
        </p:spPr>
        <p:txBody>
          <a:bodyPr anchor="ctr">
            <a:normAutofit fontScale="74167" lnSpcReduction="20000"/>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14</a:t>
            </a:r>
          </a:p>
        </p:txBody>
      </p:sp>
      <p:pic>
        <p:nvPicPr>
          <p:cNvPr id="21" name="図 20"/>
          <p:cNvPicPr>
            <a:picLocks noChangeAspect="1"/>
          </p:cNvPicPr>
          <p:nvPr/>
        </p:nvPicPr>
        <p:blipFill>
          <a:blip r:embed="rId3"/>
          <a:stretch/>
        </p:blipFill>
        <p:spPr>
          <a:xfrm>
            <a:off x="541619" y="1190625"/>
            <a:ext cx="8508437" cy="3790950"/>
          </a:xfrm>
          <a:prstGeom prst="rect">
            <a:avLst/>
          </a:prstGeom>
        </p:spPr>
      </p:pic>
      <p:sp>
        <p:nvSpPr>
          <p:cNvPr id="6" name="角丸四角形 5">
            <a:extLst>
              <a:ext uri="{FF2B5EF4-FFF2-40B4-BE49-F238E27FC236}">
                <a16:creationId xmlns:a16="http://schemas.microsoft.com/office/drawing/2014/main" id="{7F8B6462-DB4A-4541-9436-A47A7F8245B0}"/>
              </a:ext>
            </a:extLst>
          </p:cNvPr>
          <p:cNvSpPr>
            <a:spLocks noGrp="1"/>
          </p:cNvSpPr>
          <p:nvPr/>
        </p:nvSpPr>
        <p:spPr>
          <a:xfrm>
            <a:off x="9277350" y="1285875"/>
            <a:ext cx="2362200" cy="1095375"/>
          </a:xfrm>
          <a:prstGeom prst="roundRect">
            <a:avLst>
              <a:gd name="adj" fmla="val 6957"/>
            </a:avLst>
          </a:prstGeom>
          <a:solidFill>
            <a:srgbClr val="EAF4FB"/>
          </a:solidFill>
          <a:ln w="0">
            <a:noFill/>
          </a:ln>
        </p:spPr>
        <p:txBody>
          <a:bodyPr/>
          <a:lstStyle/>
          <a:p>
            <a:endParaRPr lang="ja-JP" altLang="en-US"/>
          </a:p>
        </p:txBody>
      </p:sp>
      <p:sp>
        <p:nvSpPr>
          <p:cNvPr id="7" name="正方形/長方形 6">
            <a:extLst>
              <a:ext uri="{FF2B5EF4-FFF2-40B4-BE49-F238E27FC236}">
                <a16:creationId xmlns:a16="http://schemas.microsoft.com/office/drawing/2014/main" id="{615324CE-79B9-4390-B073-C9BBF3621C7A}"/>
              </a:ext>
            </a:extLst>
          </p:cNvPr>
          <p:cNvSpPr>
            <a:spLocks noGrp="1"/>
          </p:cNvSpPr>
          <p:nvPr/>
        </p:nvSpPr>
        <p:spPr>
          <a:xfrm>
            <a:off x="9448800" y="1419225"/>
            <a:ext cx="2019300" cy="238125"/>
          </a:xfrm>
          <a:prstGeom prst="rect">
            <a:avLst/>
          </a:prstGeom>
          <a:noFill/>
          <a:ln w="0">
            <a:noFill/>
          </a:ln>
        </p:spPr>
        <p:txBody>
          <a:bodyPr anchor="ctr">
            <a:normAutofit fontScale="82990" lnSpcReduction="20000"/>
          </a:bodyPr>
          <a:lstStyle/>
          <a:p>
            <a:pPr algn="ctr">
              <a:defRPr sz="1275" b="1">
                <a:solidFill>
                  <a:srgbClr val="1479C9"/>
                </a:solidFill>
                <a:latin typeface="YuGothic"/>
                <a:ea typeface="YuGothic"/>
                <a:cs typeface="YuGothic"/>
              </a:defRPr>
            </a:pPr>
            <a:r>
              <a:rPr sz="1275" b="1">
                <a:solidFill>
                  <a:srgbClr val="1479C9"/>
                </a:solidFill>
                <a:latin typeface="YuGothic"/>
                <a:ea typeface="YuGothic"/>
                <a:cs typeface="YuGothic"/>
              </a:rPr>
              <a:t>線形 softmax</a:t>
            </a:r>
          </a:p>
        </p:txBody>
      </p:sp>
      <p:sp>
        <p:nvSpPr>
          <p:cNvPr id="8" name="正方形/長方形 7">
            <a:extLst>
              <a:ext uri="{FF2B5EF4-FFF2-40B4-BE49-F238E27FC236}">
                <a16:creationId xmlns:a16="http://schemas.microsoft.com/office/drawing/2014/main" id="{B5740329-E417-47A2-970C-02944D1564A0}"/>
              </a:ext>
            </a:extLst>
          </p:cNvPr>
          <p:cNvSpPr>
            <a:spLocks noGrp="1"/>
          </p:cNvSpPr>
          <p:nvPr/>
        </p:nvSpPr>
        <p:spPr>
          <a:xfrm>
            <a:off x="9439275" y="1752600"/>
            <a:ext cx="2038350" cy="495300"/>
          </a:xfrm>
          <a:prstGeom prst="rect">
            <a:avLst/>
          </a:prstGeom>
          <a:noFill/>
          <a:ln w="0">
            <a:noFill/>
          </a:ln>
        </p:spPr>
        <p:txBody>
          <a:bodyPr anchor="ctr">
            <a:normAutofit fontScale="95833" lnSpcReduction="10000"/>
          </a:bodyPr>
          <a:lstStyle/>
          <a:p>
            <a:pPr algn="ctr">
              <a:defRPr sz="1500" b="1">
                <a:solidFill>
                  <a:srgbClr val="F28C28"/>
                </a:solidFill>
                <a:latin typeface="YuGothic"/>
                <a:ea typeface="YuGothic"/>
                <a:cs typeface="YuGothic"/>
              </a:defRPr>
            </a:pPr>
            <a:r>
              <a:rPr sz="1500" b="1">
                <a:solidFill>
                  <a:srgbClr val="F28C28"/>
                </a:solidFill>
                <a:latin typeface="YuGothic"/>
                <a:ea typeface="YuGothic"/>
                <a:cs typeface="YuGothic"/>
              </a:rPr>
              <a:t>Contrastive が最高</a:t>
            </a:r>
          </a:p>
          <a:p>
            <a:pPr algn="ctr">
              <a:defRPr sz="1500" b="1">
                <a:solidFill>
                  <a:srgbClr val="F28C28"/>
                </a:solidFill>
                <a:latin typeface="YuGothic"/>
                <a:ea typeface="YuGothic"/>
                <a:cs typeface="YuGothic"/>
              </a:defRPr>
            </a:pPr>
            <a:r>
              <a:rPr sz="1500" b="1">
                <a:solidFill>
                  <a:srgbClr val="F28C28"/>
                </a:solidFill>
                <a:latin typeface="YuGothic"/>
                <a:ea typeface="YuGothic"/>
                <a:cs typeface="YuGothic"/>
              </a:rPr>
              <a:t>忠実度 0.8655</a:t>
            </a:r>
          </a:p>
        </p:txBody>
      </p:sp>
      <p:sp>
        <p:nvSpPr>
          <p:cNvPr id="9" name="角丸四角形 8">
            <a:extLst>
              <a:ext uri="{FF2B5EF4-FFF2-40B4-BE49-F238E27FC236}">
                <a16:creationId xmlns:a16="http://schemas.microsoft.com/office/drawing/2014/main" id="{3BCFAB3F-60A8-4836-A550-772F9E430CE5}"/>
              </a:ext>
            </a:extLst>
          </p:cNvPr>
          <p:cNvSpPr>
            <a:spLocks noGrp="1"/>
          </p:cNvSpPr>
          <p:nvPr/>
        </p:nvSpPr>
        <p:spPr>
          <a:xfrm>
            <a:off x="9277350" y="2533650"/>
            <a:ext cx="2362200" cy="1095375"/>
          </a:xfrm>
          <a:prstGeom prst="roundRect">
            <a:avLst>
              <a:gd name="adj" fmla="val 6957"/>
            </a:avLst>
          </a:prstGeom>
          <a:solidFill>
            <a:srgbClr val="F7F9FC"/>
          </a:solidFill>
          <a:ln w="9525">
            <a:solidFill>
              <a:srgbClr val="E7EBF0"/>
            </a:solidFill>
          </a:ln>
        </p:spPr>
        <p:txBody>
          <a:bodyPr/>
          <a:lstStyle/>
          <a:p>
            <a:endParaRPr lang="ja-JP" altLang="en-US"/>
          </a:p>
        </p:txBody>
      </p:sp>
      <p:sp>
        <p:nvSpPr>
          <p:cNvPr id="10" name="正方形/長方形 9">
            <a:extLst>
              <a:ext uri="{FF2B5EF4-FFF2-40B4-BE49-F238E27FC236}">
                <a16:creationId xmlns:a16="http://schemas.microsoft.com/office/drawing/2014/main" id="{F9A6B6C5-68B1-4D02-B218-405359C134F7}"/>
              </a:ext>
            </a:extLst>
          </p:cNvPr>
          <p:cNvSpPr>
            <a:spLocks noGrp="1"/>
          </p:cNvSpPr>
          <p:nvPr/>
        </p:nvSpPr>
        <p:spPr>
          <a:xfrm>
            <a:off x="9448800" y="2667000"/>
            <a:ext cx="2019300" cy="238125"/>
          </a:xfrm>
          <a:prstGeom prst="rect">
            <a:avLst/>
          </a:prstGeom>
          <a:noFill/>
          <a:ln w="0">
            <a:noFill/>
          </a:ln>
        </p:spPr>
        <p:txBody>
          <a:bodyPr anchor="ctr">
            <a:normAutofit fontScale="82990" lnSpcReduction="20000"/>
          </a:bodyPr>
          <a:lstStyle/>
          <a:p>
            <a:pPr algn="ctr">
              <a:defRPr sz="1275" b="1">
                <a:solidFill>
                  <a:srgbClr val="1479C9"/>
                </a:solidFill>
                <a:latin typeface="YuGothic"/>
                <a:ea typeface="YuGothic"/>
                <a:cs typeface="YuGothic"/>
              </a:defRPr>
            </a:pPr>
            <a:r>
              <a:rPr sz="1275" b="1">
                <a:solidFill>
                  <a:srgbClr val="1479C9"/>
                </a:solidFill>
                <a:latin typeface="YuGothic"/>
                <a:ea typeface="YuGothic"/>
                <a:cs typeface="YuGothic"/>
              </a:rPr>
              <a:t>非線形NN・RF</a:t>
            </a:r>
          </a:p>
        </p:txBody>
      </p:sp>
      <p:sp>
        <p:nvSpPr>
          <p:cNvPr id="11" name="正方形/長方形 10">
            <a:extLst>
              <a:ext uri="{FF2B5EF4-FFF2-40B4-BE49-F238E27FC236}">
                <a16:creationId xmlns:a16="http://schemas.microsoft.com/office/drawing/2014/main" id="{CC07AC51-AA12-47CE-8A16-A244EAB13CDE}"/>
              </a:ext>
            </a:extLst>
          </p:cNvPr>
          <p:cNvSpPr>
            <a:spLocks noGrp="1"/>
          </p:cNvSpPr>
          <p:nvPr/>
        </p:nvSpPr>
        <p:spPr>
          <a:xfrm>
            <a:off x="9429750" y="3028950"/>
            <a:ext cx="2057400" cy="400050"/>
          </a:xfrm>
          <a:prstGeom prst="rect">
            <a:avLst/>
          </a:prstGeom>
          <a:noFill/>
          <a:ln w="0">
            <a:noFill/>
          </a:ln>
        </p:spPr>
        <p:txBody>
          <a:bodyPr anchor="ctr">
            <a:normAutofit/>
          </a:bodyPr>
          <a:lstStyle/>
          <a:p>
            <a:pPr algn="ctr">
              <a:defRPr sz="1500" b="1">
                <a:solidFill>
                  <a:srgbClr val="2AA876"/>
                </a:solidFill>
                <a:latin typeface="YuGothic"/>
                <a:ea typeface="YuGothic"/>
                <a:cs typeface="YuGothic"/>
              </a:defRPr>
            </a:pPr>
            <a:r>
              <a:rPr sz="1500" b="1">
                <a:solidFill>
                  <a:srgbClr val="2AA876"/>
                </a:solidFill>
                <a:latin typeface="YuGothic"/>
                <a:ea typeface="YuGothic"/>
                <a:cs typeface="YuGothic"/>
              </a:rPr>
              <a:t>2クラスLIME が最高</a:t>
            </a:r>
          </a:p>
        </p:txBody>
      </p:sp>
      <p:sp>
        <p:nvSpPr>
          <p:cNvPr id="12" name="角丸四角形 11">
            <a:extLst>
              <a:ext uri="{FF2B5EF4-FFF2-40B4-BE49-F238E27FC236}">
                <a16:creationId xmlns:a16="http://schemas.microsoft.com/office/drawing/2014/main" id="{A8F35902-1049-4450-ACD7-C8ED88B9102C}"/>
              </a:ext>
            </a:extLst>
          </p:cNvPr>
          <p:cNvSpPr>
            <a:spLocks noGrp="1"/>
          </p:cNvSpPr>
          <p:nvPr/>
        </p:nvSpPr>
        <p:spPr>
          <a:xfrm>
            <a:off x="9277350" y="3781425"/>
            <a:ext cx="2362200" cy="1200150"/>
          </a:xfrm>
          <a:prstGeom prst="roundRect">
            <a:avLst>
              <a:gd name="adj" fmla="val 6349"/>
            </a:avLst>
          </a:prstGeom>
          <a:solidFill>
            <a:srgbClr val="FFF4D6"/>
          </a:solidFill>
          <a:ln w="0">
            <a:noFill/>
          </a:ln>
        </p:spPr>
        <p:txBody>
          <a:bodyPr/>
          <a:lstStyle/>
          <a:p>
            <a:endParaRPr lang="ja-JP" altLang="en-US"/>
          </a:p>
        </p:txBody>
      </p:sp>
      <p:sp>
        <p:nvSpPr>
          <p:cNvPr id="13" name="正方形/長方形 12">
            <a:extLst>
              <a:ext uri="{FF2B5EF4-FFF2-40B4-BE49-F238E27FC236}">
                <a16:creationId xmlns:a16="http://schemas.microsoft.com/office/drawing/2014/main" id="{4F93DBE3-D68F-4CD9-BA63-469470B3C89E}"/>
              </a:ext>
            </a:extLst>
          </p:cNvPr>
          <p:cNvSpPr>
            <a:spLocks noGrp="1"/>
          </p:cNvSpPr>
          <p:nvPr/>
        </p:nvSpPr>
        <p:spPr>
          <a:xfrm>
            <a:off x="9448800" y="3914775"/>
            <a:ext cx="2019300" cy="238125"/>
          </a:xfrm>
          <a:prstGeom prst="rect">
            <a:avLst/>
          </a:prstGeom>
          <a:noFill/>
          <a:ln w="0">
            <a:noFill/>
          </a:ln>
        </p:spPr>
        <p:txBody>
          <a:bodyPr anchor="ctr">
            <a:normAutofit fontScale="82990" lnSpcReduction="20000"/>
          </a:bodyPr>
          <a:lstStyle/>
          <a:p>
            <a:pPr algn="ctr">
              <a:defRPr sz="1275" b="1">
                <a:solidFill>
                  <a:srgbClr val="F28C28"/>
                </a:solidFill>
                <a:latin typeface="YuGothic"/>
                <a:ea typeface="YuGothic"/>
                <a:cs typeface="YuGothic"/>
              </a:defRPr>
            </a:pPr>
            <a:r>
              <a:rPr sz="1275" b="1">
                <a:solidFill>
                  <a:srgbClr val="F28C28"/>
                </a:solidFill>
                <a:latin typeface="YuGothic"/>
                <a:ea typeface="YuGothic"/>
                <a:cs typeface="YuGothic"/>
              </a:rPr>
              <a:t>解釈</a:t>
            </a:r>
          </a:p>
        </p:txBody>
      </p:sp>
      <p:sp>
        <p:nvSpPr>
          <p:cNvPr id="14" name="正方形/長方形 13">
            <a:extLst>
              <a:ext uri="{FF2B5EF4-FFF2-40B4-BE49-F238E27FC236}">
                <a16:creationId xmlns:a16="http://schemas.microsoft.com/office/drawing/2014/main" id="{3FD8C3C7-FFCA-4059-B537-40CF58816E71}"/>
              </a:ext>
            </a:extLst>
          </p:cNvPr>
          <p:cNvSpPr>
            <a:spLocks noGrp="1"/>
          </p:cNvSpPr>
          <p:nvPr/>
        </p:nvSpPr>
        <p:spPr>
          <a:xfrm>
            <a:off x="9439275" y="4238625"/>
            <a:ext cx="2038350" cy="590550"/>
          </a:xfrm>
          <a:prstGeom prst="rect">
            <a:avLst/>
          </a:prstGeom>
          <a:noFill/>
          <a:ln w="0">
            <a:noFill/>
          </a:ln>
        </p:spPr>
        <p:txBody>
          <a:bodyPr anchor="ctr">
            <a:normAutofit fontScale="90357" lnSpcReduction="20000"/>
          </a:bodyPr>
          <a:lstStyle/>
          <a:p>
            <a:pPr algn="ctr">
              <a:defRPr sz="1125" b="0">
                <a:solidFill>
                  <a:srgbClr val="17233D"/>
                </a:solidFill>
                <a:latin typeface="YuGothic"/>
                <a:ea typeface="YuGothic"/>
                <a:cs typeface="YuGothic"/>
              </a:defRPr>
            </a:pPr>
            <a:r>
              <a:rPr sz="1125" b="0">
                <a:solidFill>
                  <a:srgbClr val="17233D"/>
                </a:solidFill>
                <a:latin typeface="YuGothic"/>
                <a:ea typeface="YuGothic"/>
                <a:cs typeface="YuGothic"/>
              </a:rPr>
              <a:t>softmaxかどうかだけでは不十分。</a:t>
            </a:r>
          </a:p>
          <a:p>
            <a:pPr algn="ctr">
              <a:defRPr sz="1125" b="0">
                <a:solidFill>
                  <a:srgbClr val="17233D"/>
                </a:solidFill>
                <a:latin typeface="YuGothic"/>
                <a:ea typeface="YuGothic"/>
                <a:cs typeface="YuGothic"/>
              </a:defRPr>
            </a:pPr>
            <a:r>
              <a:rPr sz="1125" b="0">
                <a:solidFill>
                  <a:srgbClr val="17233D"/>
                </a:solidFill>
                <a:latin typeface="YuGothic"/>
                <a:ea typeface="YuGothic"/>
                <a:cs typeface="YuGothic"/>
              </a:rPr>
              <a:t>局所logit差が線形に近いとき、</a:t>
            </a:r>
          </a:p>
          <a:p>
            <a:pPr algn="ctr">
              <a:defRPr sz="1125" b="0">
                <a:solidFill>
                  <a:srgbClr val="17233D"/>
                </a:solidFill>
                <a:latin typeface="YuGothic"/>
                <a:ea typeface="YuGothic"/>
                <a:cs typeface="YuGothic"/>
              </a:defRPr>
            </a:pPr>
            <a:r>
              <a:rPr sz="1125" b="0">
                <a:solidFill>
                  <a:srgbClr val="17233D"/>
                </a:solidFill>
                <a:latin typeface="YuGothic"/>
                <a:ea typeface="YuGothic"/>
                <a:cs typeface="YuGothic"/>
              </a:rPr>
              <a:t>対数比Ridgeが効く。</a:t>
            </a:r>
          </a:p>
        </p:txBody>
      </p:sp>
      <p:sp>
        <p:nvSpPr>
          <p:cNvPr id="15" name="角丸四角形 14">
            <a:extLst>
              <a:ext uri="{FF2B5EF4-FFF2-40B4-BE49-F238E27FC236}">
                <a16:creationId xmlns:a16="http://schemas.microsoft.com/office/drawing/2014/main" id="{A3848F03-9142-4950-AB1D-EC2A8D2E3BA2}"/>
              </a:ext>
            </a:extLst>
          </p:cNvPr>
          <p:cNvSpPr>
            <a:spLocks noGrp="1"/>
          </p:cNvSpPr>
          <p:nvPr/>
        </p:nvSpPr>
        <p:spPr>
          <a:xfrm>
            <a:off x="762000" y="5810250"/>
            <a:ext cx="10668000" cy="409575"/>
          </a:xfrm>
          <a:prstGeom prst="roundRect">
            <a:avLst>
              <a:gd name="adj" fmla="val 18605"/>
            </a:avLst>
          </a:prstGeom>
          <a:solidFill>
            <a:srgbClr val="EAF4FB"/>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9F2A9D6A-5492-4CAA-965E-295C17F16EDA}"/>
              </a:ext>
            </a:extLst>
          </p:cNvPr>
          <p:cNvSpPr>
            <a:spLocks noGrp="1"/>
          </p:cNvSpPr>
          <p:nvPr/>
        </p:nvSpPr>
        <p:spPr>
          <a:xfrm>
            <a:off x="952500" y="58578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このスライドの主張：万能な1方式はなく、黒箱の局所構造に応じて回帰対象を選ぶ必要がある</a:t>
            </a:r>
          </a:p>
        </p:txBody>
      </p:sp>
    </p:spTree>
    <p:extLst>
      <p:ext uri="{BB962C8B-B14F-4D97-AF65-F5344CB8AC3E}">
        <p14:creationId xmlns:p14="http://schemas.microsoft.com/office/powerpoint/2010/main" val="1261852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A110BDC6-E607-4A92-BBD6-1F0F27D9AB7B}"/>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640D84EE-2F0B-41D1-B077-77151218C129}"/>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解釈性：競合に関係する特徴を選べるか</a:t>
            </a:r>
          </a:p>
        </p:txBody>
      </p:sp>
      <p:sp>
        <p:nvSpPr>
          <p:cNvPr id="3" name="正方形/長方形 2">
            <a:extLst>
              <a:ext uri="{FF2B5EF4-FFF2-40B4-BE49-F238E27FC236}">
                <a16:creationId xmlns:a16="http://schemas.microsoft.com/office/drawing/2014/main" id="{BE6851A0-2580-4950-A26D-E4F4845AB519}"/>
              </a:ext>
            </a:extLst>
          </p:cNvPr>
          <p:cNvSpPr>
            <a:spLocks noGrp="1"/>
          </p:cNvSpPr>
          <p:nvPr/>
        </p:nvSpPr>
        <p:spPr>
          <a:xfrm>
            <a:off x="762000" y="800100"/>
            <a:ext cx="10668000" cy="247650"/>
          </a:xfrm>
          <a:prstGeom prst="rect">
            <a:avLst/>
          </a:prstGeom>
          <a:noFill/>
          <a:ln w="0">
            <a:noFill/>
          </a:ln>
        </p:spPr>
        <p:txBody>
          <a:bodyPr anchor="ctr">
            <a:normAutofit fontScale="92917" lnSpcReduction="10000"/>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特徴の役割が既知の線形softmaxで、競合特徴・共通特徴・無関係特徴を分離</a:t>
            </a:r>
          </a:p>
        </p:txBody>
      </p:sp>
      <p:sp>
        <p:nvSpPr>
          <p:cNvPr id="4" name="正方形/長方形 3">
            <a:extLst>
              <a:ext uri="{FF2B5EF4-FFF2-40B4-BE49-F238E27FC236}">
                <a16:creationId xmlns:a16="http://schemas.microsoft.com/office/drawing/2014/main" id="{F6AE7647-76E6-4ACA-8453-BBB7EBD11D20}"/>
              </a:ext>
            </a:extLst>
          </p:cNvPr>
          <p:cNvSpPr>
            <a:spLocks noGrp="1"/>
          </p:cNvSpPr>
          <p:nvPr/>
        </p:nvSpPr>
        <p:spPr>
          <a:xfrm>
            <a:off x="11125200" y="6457950"/>
            <a:ext cx="609600" cy="190500"/>
          </a:xfrm>
          <a:prstGeom prst="rect">
            <a:avLst/>
          </a:prstGeom>
          <a:noFill/>
          <a:ln w="0">
            <a:noFill/>
          </a:ln>
        </p:spPr>
        <p:txBody>
          <a:bodyPr anchor="ctr">
            <a:normAutofit fontScale="81667" lnSpcReduction="20000"/>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15</a:t>
            </a:r>
          </a:p>
        </p:txBody>
      </p:sp>
      <p:pic>
        <p:nvPicPr>
          <p:cNvPr id="18" name="図 17"/>
          <p:cNvPicPr>
            <a:picLocks noChangeAspect="1"/>
          </p:cNvPicPr>
          <p:nvPr/>
        </p:nvPicPr>
        <p:blipFill>
          <a:blip r:embed="rId3"/>
          <a:stretch/>
        </p:blipFill>
        <p:spPr>
          <a:xfrm>
            <a:off x="495300" y="1190209"/>
            <a:ext cx="11201400" cy="3820357"/>
          </a:xfrm>
          <a:prstGeom prst="rect">
            <a:avLst/>
          </a:prstGeom>
        </p:spPr>
      </p:pic>
      <p:sp>
        <p:nvSpPr>
          <p:cNvPr id="6" name="角丸四角形 5">
            <a:extLst>
              <a:ext uri="{FF2B5EF4-FFF2-40B4-BE49-F238E27FC236}">
                <a16:creationId xmlns:a16="http://schemas.microsoft.com/office/drawing/2014/main" id="{A79F126F-4896-4778-A9D7-E8CEE04D4515}"/>
              </a:ext>
            </a:extLst>
          </p:cNvPr>
          <p:cNvSpPr>
            <a:spLocks noGrp="1"/>
          </p:cNvSpPr>
          <p:nvPr/>
        </p:nvSpPr>
        <p:spPr>
          <a:xfrm>
            <a:off x="714375" y="5143500"/>
            <a:ext cx="3381375" cy="609600"/>
          </a:xfrm>
          <a:prstGeom prst="roundRect">
            <a:avLst>
              <a:gd name="adj" fmla="val 12500"/>
            </a:avLst>
          </a:prstGeom>
          <a:solidFill>
            <a:srgbClr val="F7F9FC"/>
          </a:solidFill>
          <a:ln w="9525">
            <a:solidFill>
              <a:srgbClr val="E7EBF0"/>
            </a:solidFill>
          </a:ln>
        </p:spPr>
        <p:txBody>
          <a:bodyPr/>
          <a:lstStyle/>
          <a:p>
            <a:endParaRPr lang="ja-JP" altLang="en-US"/>
          </a:p>
        </p:txBody>
      </p:sp>
      <p:sp>
        <p:nvSpPr>
          <p:cNvPr id="7" name="正方形/長方形 6">
            <a:extLst>
              <a:ext uri="{FF2B5EF4-FFF2-40B4-BE49-F238E27FC236}">
                <a16:creationId xmlns:a16="http://schemas.microsoft.com/office/drawing/2014/main" id="{F2CA504B-A58F-40E8-8E54-AB95C417D5AE}"/>
              </a:ext>
            </a:extLst>
          </p:cNvPr>
          <p:cNvSpPr>
            <a:spLocks noGrp="1"/>
          </p:cNvSpPr>
          <p:nvPr/>
        </p:nvSpPr>
        <p:spPr>
          <a:xfrm>
            <a:off x="866775" y="5219700"/>
            <a:ext cx="3076575" cy="457200"/>
          </a:xfrm>
          <a:prstGeom prst="rect">
            <a:avLst/>
          </a:prstGeom>
          <a:noFill/>
          <a:ln w="0">
            <a:noFill/>
          </a:ln>
        </p:spPr>
        <p:txBody>
          <a:bodyPr anchor="ctr">
            <a:normAutofit/>
          </a:bodyPr>
          <a:lstStyle/>
          <a:p>
            <a:pPr algn="ctr">
              <a:defRPr sz="1200" b="1">
                <a:solidFill>
                  <a:srgbClr val="1479C9"/>
                </a:solidFill>
                <a:latin typeface="YuGothic"/>
                <a:ea typeface="YuGothic"/>
                <a:cs typeface="YuGothic"/>
              </a:defRPr>
            </a:pPr>
            <a:r>
              <a:rPr sz="1200" b="1">
                <a:solidFill>
                  <a:srgbClr val="1479C9"/>
                </a:solidFill>
                <a:latin typeface="YuGothic"/>
                <a:ea typeface="YuGothic"/>
                <a:cs typeface="YuGothic"/>
              </a:rPr>
              <a:t>共通特徴の強さ=5：OVRの競合特徴再現率 0.807</a:t>
            </a:r>
          </a:p>
        </p:txBody>
      </p:sp>
      <p:sp>
        <p:nvSpPr>
          <p:cNvPr id="8" name="角丸四角形 7">
            <a:extLst>
              <a:ext uri="{FF2B5EF4-FFF2-40B4-BE49-F238E27FC236}">
                <a16:creationId xmlns:a16="http://schemas.microsoft.com/office/drawing/2014/main" id="{3B89E12E-2DEB-40D0-A7F0-2CE0931A0E7D}"/>
              </a:ext>
            </a:extLst>
          </p:cNvPr>
          <p:cNvSpPr>
            <a:spLocks noGrp="1"/>
          </p:cNvSpPr>
          <p:nvPr/>
        </p:nvSpPr>
        <p:spPr>
          <a:xfrm>
            <a:off x="4391025" y="5143500"/>
            <a:ext cx="3381375" cy="609600"/>
          </a:xfrm>
          <a:prstGeom prst="roundRect">
            <a:avLst>
              <a:gd name="adj" fmla="val 12500"/>
            </a:avLst>
          </a:prstGeom>
          <a:solidFill>
            <a:srgbClr val="EAF4FB"/>
          </a:solidFill>
          <a:ln w="0">
            <a:noFill/>
          </a:ln>
        </p:spPr>
        <p:txBody>
          <a:bodyPr/>
          <a:lstStyle/>
          <a:p>
            <a:endParaRPr lang="ja-JP" altLang="en-US"/>
          </a:p>
        </p:txBody>
      </p:sp>
      <p:sp>
        <p:nvSpPr>
          <p:cNvPr id="9" name="正方形/長方形 8">
            <a:extLst>
              <a:ext uri="{FF2B5EF4-FFF2-40B4-BE49-F238E27FC236}">
                <a16:creationId xmlns:a16="http://schemas.microsoft.com/office/drawing/2014/main" id="{A4F7E281-C334-4E2A-A0A5-D9701A8F669C}"/>
              </a:ext>
            </a:extLst>
          </p:cNvPr>
          <p:cNvSpPr>
            <a:spLocks noGrp="1"/>
          </p:cNvSpPr>
          <p:nvPr/>
        </p:nvSpPr>
        <p:spPr>
          <a:xfrm>
            <a:off x="4543425" y="5219700"/>
            <a:ext cx="3076575" cy="457200"/>
          </a:xfrm>
          <a:prstGeom prst="rect">
            <a:avLst/>
          </a:prstGeom>
          <a:noFill/>
          <a:ln w="0">
            <a:noFill/>
          </a:ln>
        </p:spPr>
        <p:txBody>
          <a:bodyPr anchor="ctr">
            <a:normAutofit/>
          </a:bodyPr>
          <a:lstStyle/>
          <a:p>
            <a:pPr algn="ctr">
              <a:defRPr sz="1200" b="1">
                <a:solidFill>
                  <a:srgbClr val="2AA876"/>
                </a:solidFill>
                <a:latin typeface="YuGothic"/>
                <a:ea typeface="YuGothic"/>
                <a:cs typeface="YuGothic"/>
              </a:defRPr>
            </a:pPr>
            <a:r>
              <a:rPr sz="1200" b="1">
                <a:solidFill>
                  <a:srgbClr val="2AA876"/>
                </a:solidFill>
                <a:latin typeface="YuGothic"/>
                <a:ea typeface="YuGothic"/>
                <a:cs typeface="YuGothic"/>
              </a:rPr>
              <a:t>2クラス方式：競合特徴再現率 約1.000、共通特徴表示率 約0</a:t>
            </a:r>
          </a:p>
        </p:txBody>
      </p:sp>
      <p:sp>
        <p:nvSpPr>
          <p:cNvPr id="10" name="角丸四角形 9">
            <a:extLst>
              <a:ext uri="{FF2B5EF4-FFF2-40B4-BE49-F238E27FC236}">
                <a16:creationId xmlns:a16="http://schemas.microsoft.com/office/drawing/2014/main" id="{B70916A1-8C32-4835-80CA-DA24D82DCDF0}"/>
              </a:ext>
            </a:extLst>
          </p:cNvPr>
          <p:cNvSpPr>
            <a:spLocks noGrp="1"/>
          </p:cNvSpPr>
          <p:nvPr/>
        </p:nvSpPr>
        <p:spPr>
          <a:xfrm>
            <a:off x="8067675" y="5143500"/>
            <a:ext cx="3381375" cy="609600"/>
          </a:xfrm>
          <a:prstGeom prst="roundRect">
            <a:avLst>
              <a:gd name="adj" fmla="val 12500"/>
            </a:avLst>
          </a:prstGeom>
          <a:solidFill>
            <a:srgbClr val="FFF4D6"/>
          </a:solidFill>
          <a:ln w="0">
            <a:noFill/>
          </a:ln>
        </p:spPr>
        <p:txBody>
          <a:bodyPr/>
          <a:lstStyle/>
          <a:p>
            <a:endParaRPr lang="ja-JP" altLang="en-US"/>
          </a:p>
        </p:txBody>
      </p:sp>
      <p:sp>
        <p:nvSpPr>
          <p:cNvPr id="11" name="正方形/長方形 10">
            <a:extLst>
              <a:ext uri="{FF2B5EF4-FFF2-40B4-BE49-F238E27FC236}">
                <a16:creationId xmlns:a16="http://schemas.microsoft.com/office/drawing/2014/main" id="{571595CB-E9D1-473F-A382-619DF913CEBB}"/>
              </a:ext>
            </a:extLst>
          </p:cNvPr>
          <p:cNvSpPr>
            <a:spLocks noGrp="1"/>
          </p:cNvSpPr>
          <p:nvPr/>
        </p:nvSpPr>
        <p:spPr>
          <a:xfrm>
            <a:off x="8220075" y="5219700"/>
            <a:ext cx="3076575" cy="457200"/>
          </a:xfrm>
          <a:prstGeom prst="rect">
            <a:avLst/>
          </a:prstGeom>
          <a:noFill/>
          <a:ln w="0">
            <a:noFill/>
          </a:ln>
        </p:spPr>
        <p:txBody>
          <a:bodyPr anchor="ctr">
            <a:normAutofit/>
          </a:bodyPr>
          <a:lstStyle/>
          <a:p>
            <a:pPr algn="ctr">
              <a:defRPr sz="1200" b="1">
                <a:solidFill>
                  <a:srgbClr val="F28C28"/>
                </a:solidFill>
                <a:latin typeface="YuGothic"/>
                <a:ea typeface="YuGothic"/>
                <a:cs typeface="YuGothic"/>
              </a:defRPr>
            </a:pPr>
            <a:r>
              <a:rPr sz="1200" b="1">
                <a:solidFill>
                  <a:srgbClr val="F28C28"/>
                </a:solidFill>
                <a:latin typeface="YuGothic"/>
                <a:ea typeface="YuGothic"/>
                <a:cs typeface="YuGothic"/>
              </a:rPr>
              <a:t>これは『人の理解しやすさ』ではなく、質問への特徴関連性の定量評価</a:t>
            </a:r>
          </a:p>
        </p:txBody>
      </p:sp>
      <p:sp>
        <p:nvSpPr>
          <p:cNvPr id="12" name="角丸四角形 11">
            <a:extLst>
              <a:ext uri="{FF2B5EF4-FFF2-40B4-BE49-F238E27FC236}">
                <a16:creationId xmlns:a16="http://schemas.microsoft.com/office/drawing/2014/main" id="{7F001BE2-1A1B-44C3-8DB1-EF8832069E1B}"/>
              </a:ext>
            </a:extLst>
          </p:cNvPr>
          <p:cNvSpPr>
            <a:spLocks noGrp="1"/>
          </p:cNvSpPr>
          <p:nvPr/>
        </p:nvSpPr>
        <p:spPr>
          <a:xfrm>
            <a:off x="762000" y="5848350"/>
            <a:ext cx="10668000" cy="409575"/>
          </a:xfrm>
          <a:prstGeom prst="roundRect">
            <a:avLst>
              <a:gd name="adj" fmla="val 18605"/>
            </a:avLst>
          </a:prstGeom>
          <a:solidFill>
            <a:srgbClr val="EAF4FB"/>
          </a:solidFill>
          <a:ln w="0">
            <a:noFill/>
          </a:ln>
        </p:spPr>
        <p:txBody>
          <a:bodyPr/>
          <a:lstStyle/>
          <a:p>
            <a:endParaRPr lang="ja-JP" altLang="en-US"/>
          </a:p>
        </p:txBody>
      </p:sp>
      <p:sp>
        <p:nvSpPr>
          <p:cNvPr id="13" name="正方形/長方形 12">
            <a:extLst>
              <a:ext uri="{FF2B5EF4-FFF2-40B4-BE49-F238E27FC236}">
                <a16:creationId xmlns:a16="http://schemas.microsoft.com/office/drawing/2014/main" id="{ADD43BB2-2E1F-4318-84B5-63B8A878867A}"/>
              </a:ext>
            </a:extLst>
          </p:cNvPr>
          <p:cNvSpPr>
            <a:spLocks noGrp="1"/>
          </p:cNvSpPr>
          <p:nvPr/>
        </p:nvSpPr>
        <p:spPr>
          <a:xfrm>
            <a:off x="952500" y="58959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dirty="0">
                <a:solidFill>
                  <a:srgbClr val="1479C9"/>
                </a:solidFill>
                <a:latin typeface="YuGothic"/>
                <a:ea typeface="YuGothic"/>
                <a:cs typeface="YuGothic"/>
              </a:rPr>
              <a:t>このスライドの主張：2クラス説明は、両クラスに共通する証拠を避け、勝敗を分ける特徴へ表示枠を使える</a:t>
            </a:r>
          </a:p>
        </p:txBody>
      </p:sp>
    </p:spTree>
    <p:extLst>
      <p:ext uri="{BB962C8B-B14F-4D97-AF65-F5344CB8AC3E}">
        <p14:creationId xmlns:p14="http://schemas.microsoft.com/office/powerpoint/2010/main" val="6022167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139696B-3B2A-435E-82CC-945139AAAE43}"/>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6F374572-21B2-4C9E-9851-B3DC66ECC53E}"/>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計算時間</a:t>
            </a:r>
          </a:p>
        </p:txBody>
      </p:sp>
      <p:sp>
        <p:nvSpPr>
          <p:cNvPr id="3" name="正方形/長方形 2">
            <a:extLst>
              <a:ext uri="{FF2B5EF4-FFF2-40B4-BE49-F238E27FC236}">
                <a16:creationId xmlns:a16="http://schemas.microsoft.com/office/drawing/2014/main" id="{F760BE8D-19B0-4E5C-97B7-476A0921B60D}"/>
              </a:ext>
            </a:extLst>
          </p:cNvPr>
          <p:cNvSpPr>
            <a:spLocks noGrp="1"/>
          </p:cNvSpPr>
          <p:nvPr/>
        </p:nvSpPr>
        <p:spPr>
          <a:xfrm>
            <a:off x="762000" y="800100"/>
            <a:ext cx="10668000" cy="247650"/>
          </a:xfrm>
          <a:prstGeom prst="rect">
            <a:avLst/>
          </a:prstGeom>
          <a:noFill/>
          <a:ln w="0">
            <a:noFill/>
          </a:ln>
        </p:spPr>
        <p:txBody>
          <a:bodyPr anchor="ctr">
            <a:normAutofit fontScale="92917" lnSpcReduction="10000"/>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特徴選択＋選択後の最終再学習。BB推論と摂動生成は含めない</a:t>
            </a:r>
          </a:p>
        </p:txBody>
      </p:sp>
      <p:sp>
        <p:nvSpPr>
          <p:cNvPr id="4" name="正方形/長方形 3">
            <a:extLst>
              <a:ext uri="{FF2B5EF4-FFF2-40B4-BE49-F238E27FC236}">
                <a16:creationId xmlns:a16="http://schemas.microsoft.com/office/drawing/2014/main" id="{AA19BE55-24CF-4D55-97EA-071078CF05DE}"/>
              </a:ext>
            </a:extLst>
          </p:cNvPr>
          <p:cNvSpPr>
            <a:spLocks noGrp="1"/>
          </p:cNvSpPr>
          <p:nvPr/>
        </p:nvSpPr>
        <p:spPr>
          <a:xfrm>
            <a:off x="11125200" y="6457950"/>
            <a:ext cx="609600" cy="190500"/>
          </a:xfrm>
          <a:prstGeom prst="rect">
            <a:avLst/>
          </a:prstGeom>
          <a:noFill/>
          <a:ln w="0">
            <a:noFill/>
          </a:ln>
        </p:spPr>
        <p:txBody>
          <a:bodyPr anchor="ctr">
            <a:normAutofit fontScale="81667" lnSpcReduction="20000"/>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16</a:t>
            </a:r>
          </a:p>
        </p:txBody>
      </p:sp>
      <p:pic>
        <p:nvPicPr>
          <p:cNvPr id="12" name="図 11"/>
          <p:cNvPicPr>
            <a:picLocks noChangeAspect="1"/>
          </p:cNvPicPr>
          <p:nvPr/>
        </p:nvPicPr>
        <p:blipFill>
          <a:blip r:embed="rId3"/>
          <a:stretch/>
        </p:blipFill>
        <p:spPr>
          <a:xfrm>
            <a:off x="702462" y="1133475"/>
            <a:ext cx="10787076" cy="4514850"/>
          </a:xfrm>
          <a:prstGeom prst="rect">
            <a:avLst/>
          </a:prstGeom>
        </p:spPr>
      </p:pic>
      <p:sp>
        <p:nvSpPr>
          <p:cNvPr id="6" name="角丸四角形 5">
            <a:extLst>
              <a:ext uri="{FF2B5EF4-FFF2-40B4-BE49-F238E27FC236}">
                <a16:creationId xmlns:a16="http://schemas.microsoft.com/office/drawing/2014/main" id="{A59C6C1B-C63B-4F90-9FA5-68FB5E185736}"/>
              </a:ext>
            </a:extLst>
          </p:cNvPr>
          <p:cNvSpPr>
            <a:spLocks noGrp="1"/>
          </p:cNvSpPr>
          <p:nvPr/>
        </p:nvSpPr>
        <p:spPr>
          <a:xfrm>
            <a:off x="762000" y="5848350"/>
            <a:ext cx="10668000" cy="409575"/>
          </a:xfrm>
          <a:prstGeom prst="roundRect">
            <a:avLst>
              <a:gd name="adj" fmla="val 18605"/>
            </a:avLst>
          </a:prstGeom>
          <a:solidFill>
            <a:srgbClr val="EAF4FB"/>
          </a:solidFill>
          <a:ln w="0">
            <a:noFill/>
          </a:ln>
        </p:spPr>
        <p:txBody>
          <a:bodyPr/>
          <a:lstStyle/>
          <a:p>
            <a:endParaRPr lang="ja-JP" altLang="en-US"/>
          </a:p>
        </p:txBody>
      </p:sp>
      <p:sp>
        <p:nvSpPr>
          <p:cNvPr id="7" name="正方形/長方形 6">
            <a:extLst>
              <a:ext uri="{FF2B5EF4-FFF2-40B4-BE49-F238E27FC236}">
                <a16:creationId xmlns:a16="http://schemas.microsoft.com/office/drawing/2014/main" id="{9A76780F-DB8D-48F7-9841-8DB034A96586}"/>
              </a:ext>
            </a:extLst>
          </p:cNvPr>
          <p:cNvSpPr>
            <a:spLocks noGrp="1"/>
          </p:cNvSpPr>
          <p:nvPr/>
        </p:nvSpPr>
        <p:spPr>
          <a:xfrm>
            <a:off x="952500" y="58959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このスライドの主張：Top-1対Top-2の1ペアだけを作る方式はクラス数に依存せず、C=10ではOVRの約10分の1</a:t>
            </a:r>
          </a:p>
        </p:txBody>
      </p:sp>
    </p:spTree>
    <p:extLst>
      <p:ext uri="{BB962C8B-B14F-4D97-AF65-F5344CB8AC3E}">
        <p14:creationId xmlns:p14="http://schemas.microsoft.com/office/powerpoint/2010/main" val="10890542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77124F7A-27DA-4E92-8915-145E679EDDEE}"/>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AD131223-4895-499C-9636-6FA2A33264C1}"/>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考察1：2クラスに絞ると何が変わるか</a:t>
            </a:r>
          </a:p>
        </p:txBody>
      </p:sp>
      <p:sp>
        <p:nvSpPr>
          <p:cNvPr id="3" name="正方形/長方形 2">
            <a:extLst>
              <a:ext uri="{FF2B5EF4-FFF2-40B4-BE49-F238E27FC236}">
                <a16:creationId xmlns:a16="http://schemas.microsoft.com/office/drawing/2014/main" id="{7BA98B94-5BE9-4978-8470-8C6C143F3667}"/>
              </a:ext>
            </a:extLst>
          </p:cNvPr>
          <p:cNvSpPr>
            <a:spLocks noGrp="1"/>
          </p:cNvSpPr>
          <p:nvPr/>
        </p:nvSpPr>
        <p:spPr>
          <a:xfrm>
            <a:off x="762000" y="800100"/>
            <a:ext cx="10668000" cy="247650"/>
          </a:xfrm>
          <a:prstGeom prst="rect">
            <a:avLst/>
          </a:prstGeom>
          <a:noFill/>
          <a:ln w="0">
            <a:noFill/>
          </a:ln>
        </p:spPr>
        <p:txBody>
          <a:bodyPr anchor="ctr">
            <a:normAutofit fontScale="92917" lnSpcReduction="10000"/>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OVRとpairwise説明は、そもそも答えている質問が異なる</a:t>
            </a:r>
          </a:p>
        </p:txBody>
      </p:sp>
      <p:sp>
        <p:nvSpPr>
          <p:cNvPr id="4" name="正方形/長方形 3">
            <a:extLst>
              <a:ext uri="{FF2B5EF4-FFF2-40B4-BE49-F238E27FC236}">
                <a16:creationId xmlns:a16="http://schemas.microsoft.com/office/drawing/2014/main" id="{1777A279-6844-454F-974B-DC7822BB83C8}"/>
              </a:ext>
            </a:extLst>
          </p:cNvPr>
          <p:cNvSpPr>
            <a:spLocks noGrp="1"/>
          </p:cNvSpPr>
          <p:nvPr/>
        </p:nvSpPr>
        <p:spPr>
          <a:xfrm>
            <a:off x="11125200" y="6457950"/>
            <a:ext cx="609600" cy="190500"/>
          </a:xfrm>
          <a:prstGeom prst="rect">
            <a:avLst/>
          </a:prstGeom>
          <a:noFill/>
          <a:ln w="0">
            <a:noFill/>
          </a:ln>
        </p:spPr>
        <p:txBody>
          <a:bodyPr anchor="ctr">
            <a:normAutofit fontScale="74167" lnSpcReduction="20000"/>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17</a:t>
            </a:r>
          </a:p>
        </p:txBody>
      </p:sp>
      <p:sp>
        <p:nvSpPr>
          <p:cNvPr id="5" name="角丸四角形 4">
            <a:extLst>
              <a:ext uri="{FF2B5EF4-FFF2-40B4-BE49-F238E27FC236}">
                <a16:creationId xmlns:a16="http://schemas.microsoft.com/office/drawing/2014/main" id="{ACDE1BBE-F6CE-4A5D-8A87-AE4BCA14DBD0}"/>
              </a:ext>
            </a:extLst>
          </p:cNvPr>
          <p:cNvSpPr>
            <a:spLocks noGrp="1"/>
          </p:cNvSpPr>
          <p:nvPr/>
        </p:nvSpPr>
        <p:spPr>
          <a:xfrm>
            <a:off x="762000" y="1219200"/>
            <a:ext cx="10668000" cy="781050"/>
          </a:xfrm>
          <a:prstGeom prst="roundRect">
            <a:avLst>
              <a:gd name="adj" fmla="val 9756"/>
            </a:avLst>
          </a:prstGeom>
          <a:solidFill>
            <a:srgbClr val="EAF4FB"/>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1DCF3F60-242F-49C4-93CA-E8549FF262B9}"/>
              </a:ext>
            </a:extLst>
          </p:cNvPr>
          <p:cNvSpPr>
            <a:spLocks noGrp="1"/>
          </p:cNvSpPr>
          <p:nvPr/>
        </p:nvSpPr>
        <p:spPr>
          <a:xfrm>
            <a:off x="1000125" y="1381125"/>
            <a:ext cx="10191750" cy="438150"/>
          </a:xfrm>
          <a:prstGeom prst="rect">
            <a:avLst/>
          </a:prstGeom>
          <a:noFill/>
          <a:ln w="0">
            <a:noFill/>
          </a:ln>
        </p:spPr>
        <p:txBody>
          <a:bodyPr anchor="ctr">
            <a:normAutofit/>
          </a:bodyPr>
          <a:lstStyle/>
          <a:p>
            <a:pPr algn="ctr">
              <a:defRPr sz="1800" b="1">
                <a:solidFill>
                  <a:srgbClr val="1479C9"/>
                </a:solidFill>
                <a:latin typeface="YuGothic"/>
                <a:ea typeface="YuGothic"/>
                <a:cs typeface="YuGothic"/>
              </a:defRPr>
            </a:pPr>
            <a:r>
              <a:rPr sz="1800" b="1">
                <a:solidFill>
                  <a:srgbClr val="1479C9"/>
                </a:solidFill>
                <a:latin typeface="YuGothic"/>
                <a:ea typeface="YuGothic"/>
                <a:cs typeface="YuGothic"/>
              </a:rPr>
              <a:t>OVRは『なぜクラスAらしいか』、2クラス説明は『なぜAがBより選ばれたか』に答える</a:t>
            </a:r>
          </a:p>
        </p:txBody>
      </p:sp>
      <p:sp>
        <p:nvSpPr>
          <p:cNvPr id="7" name="角丸四角形 6">
            <a:extLst>
              <a:ext uri="{FF2B5EF4-FFF2-40B4-BE49-F238E27FC236}">
                <a16:creationId xmlns:a16="http://schemas.microsoft.com/office/drawing/2014/main" id="{F06556CE-8855-4901-85DD-41FA203280CC}"/>
              </a:ext>
            </a:extLst>
          </p:cNvPr>
          <p:cNvSpPr>
            <a:spLocks noGrp="1"/>
          </p:cNvSpPr>
          <p:nvPr/>
        </p:nvSpPr>
        <p:spPr>
          <a:xfrm>
            <a:off x="838200" y="2400300"/>
            <a:ext cx="2076450" cy="304800"/>
          </a:xfrm>
          <a:prstGeom prst="roundRect">
            <a:avLst>
              <a:gd name="adj" fmla="val 25000"/>
            </a:avLst>
          </a:prstGeom>
          <a:solidFill>
            <a:srgbClr val="2AA876"/>
          </a:solidFill>
          <a:ln w="0">
            <a:noFill/>
          </a:ln>
        </p:spPr>
        <p:txBody>
          <a:bodyPr/>
          <a:lstStyle/>
          <a:p>
            <a:endParaRPr lang="ja-JP" altLang="en-US"/>
          </a:p>
        </p:txBody>
      </p:sp>
      <p:sp>
        <p:nvSpPr>
          <p:cNvPr id="8" name="正方形/長方形 7">
            <a:extLst>
              <a:ext uri="{FF2B5EF4-FFF2-40B4-BE49-F238E27FC236}">
                <a16:creationId xmlns:a16="http://schemas.microsoft.com/office/drawing/2014/main" id="{9D88ADB7-A78E-4A0C-9573-73760900F3B4}"/>
              </a:ext>
            </a:extLst>
          </p:cNvPr>
          <p:cNvSpPr>
            <a:spLocks noGrp="1"/>
          </p:cNvSpPr>
          <p:nvPr/>
        </p:nvSpPr>
        <p:spPr>
          <a:xfrm>
            <a:off x="933450" y="2409825"/>
            <a:ext cx="188595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① 共通証拠を相殺</a:t>
            </a:r>
          </a:p>
        </p:txBody>
      </p:sp>
      <p:sp>
        <p:nvSpPr>
          <p:cNvPr id="9" name="角丸四角形 8">
            <a:extLst>
              <a:ext uri="{FF2B5EF4-FFF2-40B4-BE49-F238E27FC236}">
                <a16:creationId xmlns:a16="http://schemas.microsoft.com/office/drawing/2014/main" id="{D6961BEB-026C-487E-91BA-822D1EFEB4EE}"/>
              </a:ext>
            </a:extLst>
          </p:cNvPr>
          <p:cNvSpPr>
            <a:spLocks noGrp="1"/>
          </p:cNvSpPr>
          <p:nvPr/>
        </p:nvSpPr>
        <p:spPr>
          <a:xfrm>
            <a:off x="3105150" y="2266950"/>
            <a:ext cx="8248650" cy="800100"/>
          </a:xfrm>
          <a:prstGeom prst="roundRect">
            <a:avLst>
              <a:gd name="adj" fmla="val 9524"/>
            </a:avLst>
          </a:prstGeom>
          <a:solidFill>
            <a:srgbClr val="F7F9FC"/>
          </a:solidFill>
          <a:ln w="9525">
            <a:solidFill>
              <a:srgbClr val="E7EBF0"/>
            </a:solidFill>
          </a:ln>
        </p:spPr>
        <p:txBody>
          <a:bodyPr/>
          <a:lstStyle/>
          <a:p>
            <a:endParaRPr lang="ja-JP" altLang="en-US"/>
          </a:p>
        </p:txBody>
      </p:sp>
      <p:sp>
        <p:nvSpPr>
          <p:cNvPr id="10" name="正方形/長方形 9">
            <a:extLst>
              <a:ext uri="{FF2B5EF4-FFF2-40B4-BE49-F238E27FC236}">
                <a16:creationId xmlns:a16="http://schemas.microsoft.com/office/drawing/2014/main" id="{C3F861FB-BAC7-4550-A0BE-294C73B0C11C}"/>
              </a:ext>
            </a:extLst>
          </p:cNvPr>
          <p:cNvSpPr>
            <a:spLocks noGrp="1"/>
          </p:cNvSpPr>
          <p:nvPr/>
        </p:nvSpPr>
        <p:spPr>
          <a:xfrm>
            <a:off x="3314700" y="2343150"/>
            <a:ext cx="7829550" cy="6477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AとBを同じ方向に押し上げる特徴は、A単独では重要でもA対Bの勝敗には効かない。qやlog(pA/pB)を説明すると、その共通成分が表示上位から外れやすい。</a:t>
            </a:r>
          </a:p>
        </p:txBody>
      </p:sp>
      <p:sp>
        <p:nvSpPr>
          <p:cNvPr id="11" name="角丸四角形 10">
            <a:extLst>
              <a:ext uri="{FF2B5EF4-FFF2-40B4-BE49-F238E27FC236}">
                <a16:creationId xmlns:a16="http://schemas.microsoft.com/office/drawing/2014/main" id="{C1F7E951-B5AF-4287-B28B-8B5476604A93}"/>
              </a:ext>
            </a:extLst>
          </p:cNvPr>
          <p:cNvSpPr>
            <a:spLocks noGrp="1"/>
          </p:cNvSpPr>
          <p:nvPr/>
        </p:nvSpPr>
        <p:spPr>
          <a:xfrm>
            <a:off x="838200" y="3467100"/>
            <a:ext cx="2076450" cy="304800"/>
          </a:xfrm>
          <a:prstGeom prst="roundRect">
            <a:avLst>
              <a:gd name="adj" fmla="val 25000"/>
            </a:avLst>
          </a:prstGeom>
          <a:solidFill>
            <a:srgbClr val="F28C28"/>
          </a:solidFill>
          <a:ln w="0">
            <a:noFill/>
          </a:ln>
        </p:spPr>
        <p:txBody>
          <a:bodyPr/>
          <a:lstStyle/>
          <a:p>
            <a:endParaRPr lang="ja-JP" altLang="en-US"/>
          </a:p>
        </p:txBody>
      </p:sp>
      <p:sp>
        <p:nvSpPr>
          <p:cNvPr id="12" name="正方形/長方形 11">
            <a:extLst>
              <a:ext uri="{FF2B5EF4-FFF2-40B4-BE49-F238E27FC236}">
                <a16:creationId xmlns:a16="http://schemas.microsoft.com/office/drawing/2014/main" id="{F08715F1-8CF4-4651-AB83-BD93B8337223}"/>
              </a:ext>
            </a:extLst>
          </p:cNvPr>
          <p:cNvSpPr>
            <a:spLocks noGrp="1"/>
          </p:cNvSpPr>
          <p:nvPr/>
        </p:nvSpPr>
        <p:spPr>
          <a:xfrm>
            <a:off x="933450" y="3476625"/>
            <a:ext cx="188595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② 表示予算を集中</a:t>
            </a:r>
          </a:p>
        </p:txBody>
      </p:sp>
      <p:sp>
        <p:nvSpPr>
          <p:cNvPr id="13" name="角丸四角形 12">
            <a:extLst>
              <a:ext uri="{FF2B5EF4-FFF2-40B4-BE49-F238E27FC236}">
                <a16:creationId xmlns:a16="http://schemas.microsoft.com/office/drawing/2014/main" id="{774F9717-E53D-4097-8009-349E69F64690}"/>
              </a:ext>
            </a:extLst>
          </p:cNvPr>
          <p:cNvSpPr>
            <a:spLocks noGrp="1"/>
          </p:cNvSpPr>
          <p:nvPr/>
        </p:nvSpPr>
        <p:spPr>
          <a:xfrm>
            <a:off x="3105150" y="3333750"/>
            <a:ext cx="8248650" cy="800100"/>
          </a:xfrm>
          <a:prstGeom prst="roundRect">
            <a:avLst>
              <a:gd name="adj" fmla="val 9524"/>
            </a:avLst>
          </a:prstGeom>
          <a:solidFill>
            <a:srgbClr val="F7F9FC"/>
          </a:solidFill>
          <a:ln w="9525">
            <a:solidFill>
              <a:srgbClr val="E7EBF0"/>
            </a:solidFill>
          </a:ln>
        </p:spPr>
        <p:txBody>
          <a:bodyPr/>
          <a:lstStyle/>
          <a:p>
            <a:endParaRPr lang="ja-JP" altLang="en-US"/>
          </a:p>
        </p:txBody>
      </p:sp>
      <p:sp>
        <p:nvSpPr>
          <p:cNvPr id="14" name="正方形/長方形 13">
            <a:extLst>
              <a:ext uri="{FF2B5EF4-FFF2-40B4-BE49-F238E27FC236}">
                <a16:creationId xmlns:a16="http://schemas.microsoft.com/office/drawing/2014/main" id="{1B8BDDE1-4937-4322-B272-92F1B644E661}"/>
              </a:ext>
            </a:extLst>
          </p:cNvPr>
          <p:cNvSpPr>
            <a:spLocks noGrp="1"/>
          </p:cNvSpPr>
          <p:nvPr/>
        </p:nvSpPr>
        <p:spPr>
          <a:xfrm>
            <a:off x="3314700" y="3409950"/>
            <a:ext cx="7829550" cy="6477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説明特徴数Kが小さいほど、関係のない共通特徴が1個入る損失は大きい。pairwise方式は限られた枠を『どちらを支持するか』へ集中できる。</a:t>
            </a:r>
          </a:p>
        </p:txBody>
      </p:sp>
      <p:sp>
        <p:nvSpPr>
          <p:cNvPr id="15" name="角丸四角形 14">
            <a:extLst>
              <a:ext uri="{FF2B5EF4-FFF2-40B4-BE49-F238E27FC236}">
                <a16:creationId xmlns:a16="http://schemas.microsoft.com/office/drawing/2014/main" id="{4F770AEE-0980-414C-BAB3-B9782933B146}"/>
              </a:ext>
            </a:extLst>
          </p:cNvPr>
          <p:cNvSpPr>
            <a:spLocks noGrp="1"/>
          </p:cNvSpPr>
          <p:nvPr/>
        </p:nvSpPr>
        <p:spPr>
          <a:xfrm>
            <a:off x="838200" y="4533900"/>
            <a:ext cx="2076450" cy="304800"/>
          </a:xfrm>
          <a:prstGeom prst="roundRect">
            <a:avLst>
              <a:gd name="adj" fmla="val 25000"/>
            </a:avLst>
          </a:prstGeom>
          <a:solidFill>
            <a:srgbClr val="7B61A8"/>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F7F234A3-88E6-42DD-A4CB-83093EC39213}"/>
              </a:ext>
            </a:extLst>
          </p:cNvPr>
          <p:cNvSpPr>
            <a:spLocks noGrp="1"/>
          </p:cNvSpPr>
          <p:nvPr/>
        </p:nvSpPr>
        <p:spPr>
          <a:xfrm>
            <a:off x="933450" y="4543425"/>
            <a:ext cx="188595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③ 忠実度は維持</a:t>
            </a:r>
          </a:p>
        </p:txBody>
      </p:sp>
      <p:sp>
        <p:nvSpPr>
          <p:cNvPr id="17" name="角丸四角形 16">
            <a:extLst>
              <a:ext uri="{FF2B5EF4-FFF2-40B4-BE49-F238E27FC236}">
                <a16:creationId xmlns:a16="http://schemas.microsoft.com/office/drawing/2014/main" id="{EF4D6B40-1911-4C59-A2AC-B331CE6A27BB}"/>
              </a:ext>
            </a:extLst>
          </p:cNvPr>
          <p:cNvSpPr>
            <a:spLocks noGrp="1"/>
          </p:cNvSpPr>
          <p:nvPr/>
        </p:nvSpPr>
        <p:spPr>
          <a:xfrm>
            <a:off x="3105150" y="4400550"/>
            <a:ext cx="8248650" cy="800100"/>
          </a:xfrm>
          <a:prstGeom prst="roundRect">
            <a:avLst>
              <a:gd name="adj" fmla="val 9524"/>
            </a:avLst>
          </a:prstGeom>
          <a:solidFill>
            <a:srgbClr val="F7F9FC"/>
          </a:solidFill>
          <a:ln w="9525">
            <a:solidFill>
              <a:srgbClr val="E7EBF0"/>
            </a:solidFill>
          </a:ln>
        </p:spPr>
        <p:txBody>
          <a:bodyPr/>
          <a:lstStyle/>
          <a:p>
            <a:endParaRPr lang="ja-JP" altLang="en-US"/>
          </a:p>
        </p:txBody>
      </p:sp>
      <p:sp>
        <p:nvSpPr>
          <p:cNvPr id="18" name="正方形/長方形 17">
            <a:extLst>
              <a:ext uri="{FF2B5EF4-FFF2-40B4-BE49-F238E27FC236}">
                <a16:creationId xmlns:a16="http://schemas.microsoft.com/office/drawing/2014/main" id="{E0B400B1-328C-4544-96F5-58384419DA28}"/>
              </a:ext>
            </a:extLst>
          </p:cNvPr>
          <p:cNvSpPr>
            <a:spLocks noGrp="1"/>
          </p:cNvSpPr>
          <p:nvPr/>
        </p:nvSpPr>
        <p:spPr>
          <a:xfrm>
            <a:off x="3314700" y="4476750"/>
            <a:ext cx="7829550" cy="6477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RF主実験の改善は+0.0041と小さいが、同じKでも悪化せず、特徴関連性と計算時間は明確に改善した。価値は3指標を合わせて判断する。</a:t>
            </a:r>
          </a:p>
        </p:txBody>
      </p:sp>
      <p:sp>
        <p:nvSpPr>
          <p:cNvPr id="19" name="角丸四角形 18">
            <a:extLst>
              <a:ext uri="{FF2B5EF4-FFF2-40B4-BE49-F238E27FC236}">
                <a16:creationId xmlns:a16="http://schemas.microsoft.com/office/drawing/2014/main" id="{9A6A73C0-FE58-494E-9009-5B6BE6B70DD3}"/>
              </a:ext>
            </a:extLst>
          </p:cNvPr>
          <p:cNvSpPr>
            <a:spLocks noGrp="1"/>
          </p:cNvSpPr>
          <p:nvPr/>
        </p:nvSpPr>
        <p:spPr>
          <a:xfrm>
            <a:off x="762000" y="5810250"/>
            <a:ext cx="10668000" cy="409575"/>
          </a:xfrm>
          <a:prstGeom prst="roundRect">
            <a:avLst>
              <a:gd name="adj" fmla="val 18605"/>
            </a:avLst>
          </a:prstGeom>
          <a:solidFill>
            <a:srgbClr val="EAF4FB"/>
          </a:solidFill>
          <a:ln w="0">
            <a:noFill/>
          </a:ln>
        </p:spPr>
        <p:txBody>
          <a:bodyPr/>
          <a:lstStyle/>
          <a:p>
            <a:endParaRPr lang="ja-JP" altLang="en-US"/>
          </a:p>
        </p:txBody>
      </p:sp>
      <p:sp>
        <p:nvSpPr>
          <p:cNvPr id="20" name="正方形/長方形 19">
            <a:extLst>
              <a:ext uri="{FF2B5EF4-FFF2-40B4-BE49-F238E27FC236}">
                <a16:creationId xmlns:a16="http://schemas.microsoft.com/office/drawing/2014/main" id="{D5DE864F-5F2E-4FD9-AEAC-A5733F056978}"/>
              </a:ext>
            </a:extLst>
          </p:cNvPr>
          <p:cNvSpPr>
            <a:spLocks noGrp="1"/>
          </p:cNvSpPr>
          <p:nvPr/>
        </p:nvSpPr>
        <p:spPr>
          <a:xfrm>
            <a:off x="952500" y="58578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このスライドの主張：精度向上だけでなく、『質問に合う特徴を出す』ことが2クラス化の主要な意義</a:t>
            </a:r>
          </a:p>
        </p:txBody>
      </p:sp>
    </p:spTree>
    <p:extLst>
      <p:ext uri="{BB962C8B-B14F-4D97-AF65-F5344CB8AC3E}">
        <p14:creationId xmlns:p14="http://schemas.microsoft.com/office/powerpoint/2010/main" val="311209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80DB455E-8A96-49E1-B31B-1C180752B632}"/>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F5F208D7-0D70-407C-B2E4-236342F1125E}"/>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考察2：3つの2クラス方式をどう使い分けるか</a:t>
            </a:r>
          </a:p>
        </p:txBody>
      </p:sp>
      <p:sp>
        <p:nvSpPr>
          <p:cNvPr id="3" name="正方形/長方形 2">
            <a:extLst>
              <a:ext uri="{FF2B5EF4-FFF2-40B4-BE49-F238E27FC236}">
                <a16:creationId xmlns:a16="http://schemas.microsoft.com/office/drawing/2014/main" id="{109FA467-DB4C-4F7B-9F58-CD3DFDCAC26A}"/>
              </a:ext>
            </a:extLst>
          </p:cNvPr>
          <p:cNvSpPr>
            <a:spLocks noGrp="1"/>
          </p:cNvSpPr>
          <p:nvPr/>
        </p:nvSpPr>
        <p:spPr>
          <a:xfrm>
            <a:off x="762000" y="800100"/>
            <a:ext cx="10668000" cy="247650"/>
          </a:xfrm>
          <a:prstGeom prst="rect">
            <a:avLst/>
          </a:prstGeom>
          <a:noFill/>
          <a:ln w="0">
            <a:noFill/>
          </a:ln>
        </p:spPr>
        <p:txBody>
          <a:bodyPr anchor="ctr">
            <a:normAutofit fontScale="92917" lnSpcReduction="10000"/>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2クラスの選択と、その後のリンク関数・損失の選択を分けて考える</a:t>
            </a:r>
          </a:p>
        </p:txBody>
      </p:sp>
      <p:sp>
        <p:nvSpPr>
          <p:cNvPr id="4" name="正方形/長方形 3">
            <a:extLst>
              <a:ext uri="{FF2B5EF4-FFF2-40B4-BE49-F238E27FC236}">
                <a16:creationId xmlns:a16="http://schemas.microsoft.com/office/drawing/2014/main" id="{5FE59AB3-1DC0-4992-ACFA-32CF5595C156}"/>
              </a:ext>
            </a:extLst>
          </p:cNvPr>
          <p:cNvSpPr>
            <a:spLocks noGrp="1"/>
          </p:cNvSpPr>
          <p:nvPr/>
        </p:nvSpPr>
        <p:spPr>
          <a:xfrm>
            <a:off x="11125200" y="6457950"/>
            <a:ext cx="609600" cy="190500"/>
          </a:xfrm>
          <a:prstGeom prst="rect">
            <a:avLst/>
          </a:prstGeom>
          <a:noFill/>
          <a:ln w="0">
            <a:noFill/>
          </a:ln>
        </p:spPr>
        <p:txBody>
          <a:bodyPr anchor="ctr">
            <a:normAutofit fontScale="81667" lnSpcReduction="20000"/>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18</a:t>
            </a:r>
          </a:p>
        </p:txBody>
      </p:sp>
      <p:sp>
        <p:nvSpPr>
          <p:cNvPr id="5" name="角丸四角形 4">
            <a:extLst>
              <a:ext uri="{FF2B5EF4-FFF2-40B4-BE49-F238E27FC236}">
                <a16:creationId xmlns:a16="http://schemas.microsoft.com/office/drawing/2014/main" id="{3534BEAD-C324-44E9-8E28-F62E595F6CAA}"/>
              </a:ext>
            </a:extLst>
          </p:cNvPr>
          <p:cNvSpPr>
            <a:spLocks noGrp="1"/>
          </p:cNvSpPr>
          <p:nvPr/>
        </p:nvSpPr>
        <p:spPr>
          <a:xfrm>
            <a:off x="685800" y="1352550"/>
            <a:ext cx="3486150" cy="3390900"/>
          </a:xfrm>
          <a:prstGeom prst="roundRect">
            <a:avLst>
              <a:gd name="adj" fmla="val 2247"/>
            </a:avLst>
          </a:prstGeom>
          <a:solidFill>
            <a:srgbClr val="FFFFFF"/>
          </a:solidFill>
          <a:ln w="9525">
            <a:solidFill>
              <a:srgbClr val="2AA876"/>
            </a:solidFill>
          </a:ln>
        </p:spPr>
        <p:txBody>
          <a:bodyPr/>
          <a:lstStyle/>
          <a:p>
            <a:endParaRPr lang="ja-JP" altLang="en-US"/>
          </a:p>
        </p:txBody>
      </p:sp>
      <p:sp>
        <p:nvSpPr>
          <p:cNvPr id="6" name="角丸四角形 5">
            <a:extLst>
              <a:ext uri="{FF2B5EF4-FFF2-40B4-BE49-F238E27FC236}">
                <a16:creationId xmlns:a16="http://schemas.microsoft.com/office/drawing/2014/main" id="{6D0E0B8A-83E9-4419-9AC1-566C5228CD95}"/>
              </a:ext>
            </a:extLst>
          </p:cNvPr>
          <p:cNvSpPr>
            <a:spLocks noGrp="1"/>
          </p:cNvSpPr>
          <p:nvPr/>
        </p:nvSpPr>
        <p:spPr>
          <a:xfrm>
            <a:off x="685800" y="1352550"/>
            <a:ext cx="3486150" cy="571500"/>
          </a:xfrm>
          <a:prstGeom prst="roundRect">
            <a:avLst>
              <a:gd name="adj" fmla="val 13333"/>
            </a:avLst>
          </a:prstGeom>
          <a:solidFill>
            <a:srgbClr val="2AA876"/>
          </a:solidFill>
          <a:ln w="0">
            <a:noFill/>
          </a:ln>
        </p:spPr>
        <p:txBody>
          <a:bodyPr/>
          <a:lstStyle/>
          <a:p>
            <a:endParaRPr lang="ja-JP" altLang="en-US"/>
          </a:p>
        </p:txBody>
      </p:sp>
      <p:sp>
        <p:nvSpPr>
          <p:cNvPr id="7" name="正方形/長方形 6">
            <a:extLst>
              <a:ext uri="{FF2B5EF4-FFF2-40B4-BE49-F238E27FC236}">
                <a16:creationId xmlns:a16="http://schemas.microsoft.com/office/drawing/2014/main" id="{BD9CFCE2-1E53-455D-A217-C17DB4921F4A}"/>
              </a:ext>
            </a:extLst>
          </p:cNvPr>
          <p:cNvSpPr>
            <a:spLocks noGrp="1"/>
          </p:cNvSpPr>
          <p:nvPr/>
        </p:nvSpPr>
        <p:spPr>
          <a:xfrm>
            <a:off x="857250" y="1447800"/>
            <a:ext cx="3143250" cy="381000"/>
          </a:xfrm>
          <a:prstGeom prst="rect">
            <a:avLst/>
          </a:prstGeom>
          <a:noFill/>
          <a:ln w="0">
            <a:noFill/>
          </a:ln>
        </p:spPr>
        <p:txBody>
          <a:bodyPr anchor="ctr">
            <a:normAutofit/>
          </a:bodyPr>
          <a:lstStyle/>
          <a:p>
            <a:pPr algn="ctr">
              <a:defRPr sz="1725" b="1">
                <a:solidFill>
                  <a:srgbClr val="FFFFFF"/>
                </a:solidFill>
                <a:latin typeface="YuGothic"/>
                <a:ea typeface="YuGothic"/>
                <a:cs typeface="YuGothic"/>
              </a:defRPr>
            </a:pPr>
            <a:r>
              <a:rPr sz="1725" b="1">
                <a:solidFill>
                  <a:srgbClr val="FFFFFF"/>
                </a:solidFill>
                <a:latin typeface="YuGothic"/>
                <a:ea typeface="YuGothic"/>
                <a:cs typeface="YuGothic"/>
              </a:rPr>
              <a:t>2クラスLIME</a:t>
            </a:r>
          </a:p>
        </p:txBody>
      </p:sp>
      <p:sp>
        <p:nvSpPr>
          <p:cNvPr id="8" name="正方形/長方形 7">
            <a:extLst>
              <a:ext uri="{FF2B5EF4-FFF2-40B4-BE49-F238E27FC236}">
                <a16:creationId xmlns:a16="http://schemas.microsoft.com/office/drawing/2014/main" id="{413AC622-052D-4716-9D19-79292FE2A4FA}"/>
              </a:ext>
            </a:extLst>
          </p:cNvPr>
          <p:cNvSpPr>
            <a:spLocks noGrp="1"/>
          </p:cNvSpPr>
          <p:nvPr/>
        </p:nvSpPr>
        <p:spPr>
          <a:xfrm>
            <a:off x="914400" y="2114550"/>
            <a:ext cx="3028950" cy="457200"/>
          </a:xfrm>
          <a:prstGeom prst="rect">
            <a:avLst/>
          </a:prstGeom>
          <a:noFill/>
          <a:ln w="0">
            <a:noFill/>
          </a:ln>
        </p:spPr>
        <p:txBody>
          <a:bodyPr anchor="ctr">
            <a:normAutofit/>
          </a:bodyPr>
          <a:lstStyle/>
          <a:p>
            <a:pPr algn="ctr">
              <a:defRPr sz="1500" b="1">
                <a:solidFill>
                  <a:srgbClr val="2AA876"/>
                </a:solidFill>
                <a:latin typeface="YuGothic"/>
                <a:ea typeface="YuGothic"/>
                <a:cs typeface="YuGothic"/>
              </a:defRPr>
            </a:pPr>
            <a:r>
              <a:rPr sz="1500" b="1">
                <a:solidFill>
                  <a:srgbClr val="2AA876"/>
                </a:solidFill>
                <a:latin typeface="YuGothic"/>
                <a:ea typeface="YuGothic"/>
                <a:cs typeface="YuGothic"/>
              </a:rPr>
              <a:t>qをRidge回帰</a:t>
            </a:r>
          </a:p>
        </p:txBody>
      </p:sp>
      <p:sp>
        <p:nvSpPr>
          <p:cNvPr id="9" name="正方形/長方形 8">
            <a:extLst>
              <a:ext uri="{FF2B5EF4-FFF2-40B4-BE49-F238E27FC236}">
                <a16:creationId xmlns:a16="http://schemas.microsoft.com/office/drawing/2014/main" id="{AB1D49E2-9307-464C-8D18-8041000B3685}"/>
              </a:ext>
            </a:extLst>
          </p:cNvPr>
          <p:cNvSpPr>
            <a:spLocks noGrp="1"/>
          </p:cNvSpPr>
          <p:nvPr/>
        </p:nvSpPr>
        <p:spPr>
          <a:xfrm>
            <a:off x="923925" y="2705100"/>
            <a:ext cx="3009900" cy="9525"/>
          </a:xfrm>
          <a:prstGeom prst="rect">
            <a:avLst/>
          </a:prstGeom>
          <a:solidFill>
            <a:srgbClr val="E7EBF0"/>
          </a:solidFill>
          <a:ln w="0">
            <a:noFill/>
          </a:ln>
        </p:spPr>
        <p:txBody>
          <a:bodyPr/>
          <a:lstStyle/>
          <a:p>
            <a:endParaRPr lang="ja-JP" altLang="en-US"/>
          </a:p>
        </p:txBody>
      </p:sp>
      <p:sp>
        <p:nvSpPr>
          <p:cNvPr id="10" name="正方形/長方形 9">
            <a:extLst>
              <a:ext uri="{FF2B5EF4-FFF2-40B4-BE49-F238E27FC236}">
                <a16:creationId xmlns:a16="http://schemas.microsoft.com/office/drawing/2014/main" id="{E0DB002D-D0DF-43EA-ABD5-3557FD75FB6B}"/>
              </a:ext>
            </a:extLst>
          </p:cNvPr>
          <p:cNvSpPr>
            <a:spLocks noGrp="1"/>
          </p:cNvSpPr>
          <p:nvPr/>
        </p:nvSpPr>
        <p:spPr>
          <a:xfrm>
            <a:off x="971550" y="2895600"/>
            <a:ext cx="2914650" cy="15240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3種類のBBで安定し、実装も最も単純。非線形NNとRFで最高忠実度。まず置くべき汎用ベースライン。</a:t>
            </a:r>
          </a:p>
        </p:txBody>
      </p:sp>
      <p:sp>
        <p:nvSpPr>
          <p:cNvPr id="11" name="角丸四角形 10">
            <a:extLst>
              <a:ext uri="{FF2B5EF4-FFF2-40B4-BE49-F238E27FC236}">
                <a16:creationId xmlns:a16="http://schemas.microsoft.com/office/drawing/2014/main" id="{1981E8FB-6923-40FA-8F45-63F34C59E794}"/>
              </a:ext>
            </a:extLst>
          </p:cNvPr>
          <p:cNvSpPr>
            <a:spLocks noGrp="1"/>
          </p:cNvSpPr>
          <p:nvPr/>
        </p:nvSpPr>
        <p:spPr>
          <a:xfrm>
            <a:off x="4438650" y="1352550"/>
            <a:ext cx="3486150" cy="3390900"/>
          </a:xfrm>
          <a:prstGeom prst="roundRect">
            <a:avLst>
              <a:gd name="adj" fmla="val 2247"/>
            </a:avLst>
          </a:prstGeom>
          <a:solidFill>
            <a:srgbClr val="FFFFFF"/>
          </a:solidFill>
          <a:ln w="9525">
            <a:solidFill>
              <a:srgbClr val="F28C28"/>
            </a:solidFill>
          </a:ln>
        </p:spPr>
        <p:txBody>
          <a:bodyPr/>
          <a:lstStyle/>
          <a:p>
            <a:endParaRPr lang="ja-JP" altLang="en-US"/>
          </a:p>
        </p:txBody>
      </p:sp>
      <p:sp>
        <p:nvSpPr>
          <p:cNvPr id="12" name="角丸四角形 11">
            <a:extLst>
              <a:ext uri="{FF2B5EF4-FFF2-40B4-BE49-F238E27FC236}">
                <a16:creationId xmlns:a16="http://schemas.microsoft.com/office/drawing/2014/main" id="{0F438F6A-BFB4-44F3-8D9C-6D9F4A8EFE3C}"/>
              </a:ext>
            </a:extLst>
          </p:cNvPr>
          <p:cNvSpPr>
            <a:spLocks noGrp="1"/>
          </p:cNvSpPr>
          <p:nvPr/>
        </p:nvSpPr>
        <p:spPr>
          <a:xfrm>
            <a:off x="4438650" y="1352550"/>
            <a:ext cx="3486150" cy="571500"/>
          </a:xfrm>
          <a:prstGeom prst="roundRect">
            <a:avLst>
              <a:gd name="adj" fmla="val 13333"/>
            </a:avLst>
          </a:prstGeom>
          <a:solidFill>
            <a:srgbClr val="F28C28"/>
          </a:solidFill>
          <a:ln w="0">
            <a:noFill/>
          </a:ln>
        </p:spPr>
        <p:txBody>
          <a:bodyPr/>
          <a:lstStyle/>
          <a:p>
            <a:endParaRPr lang="ja-JP" altLang="en-US"/>
          </a:p>
        </p:txBody>
      </p:sp>
      <p:sp>
        <p:nvSpPr>
          <p:cNvPr id="13" name="正方形/長方形 12">
            <a:extLst>
              <a:ext uri="{FF2B5EF4-FFF2-40B4-BE49-F238E27FC236}">
                <a16:creationId xmlns:a16="http://schemas.microsoft.com/office/drawing/2014/main" id="{ABB6D458-0A61-48B3-9D6C-EE1D4982AA84}"/>
              </a:ext>
            </a:extLst>
          </p:cNvPr>
          <p:cNvSpPr>
            <a:spLocks noGrp="1"/>
          </p:cNvSpPr>
          <p:nvPr/>
        </p:nvSpPr>
        <p:spPr>
          <a:xfrm>
            <a:off x="4610100" y="1447800"/>
            <a:ext cx="3143250" cy="381000"/>
          </a:xfrm>
          <a:prstGeom prst="rect">
            <a:avLst/>
          </a:prstGeom>
          <a:noFill/>
          <a:ln w="0">
            <a:noFill/>
          </a:ln>
        </p:spPr>
        <p:txBody>
          <a:bodyPr anchor="ctr">
            <a:normAutofit/>
          </a:bodyPr>
          <a:lstStyle/>
          <a:p>
            <a:pPr algn="ctr">
              <a:defRPr sz="1725" b="1">
                <a:solidFill>
                  <a:srgbClr val="FFFFFF"/>
                </a:solidFill>
                <a:latin typeface="YuGothic"/>
                <a:ea typeface="YuGothic"/>
                <a:cs typeface="YuGothic"/>
              </a:defRPr>
            </a:pPr>
            <a:r>
              <a:rPr sz="1725" b="1">
                <a:solidFill>
                  <a:srgbClr val="FFFFFF"/>
                </a:solidFill>
                <a:latin typeface="YuGothic"/>
                <a:ea typeface="YuGothic"/>
                <a:cs typeface="YuGothic"/>
              </a:rPr>
              <a:t>Contrastive</a:t>
            </a:r>
          </a:p>
        </p:txBody>
      </p:sp>
      <p:sp>
        <p:nvSpPr>
          <p:cNvPr id="14" name="正方形/長方形 13">
            <a:extLst>
              <a:ext uri="{FF2B5EF4-FFF2-40B4-BE49-F238E27FC236}">
                <a16:creationId xmlns:a16="http://schemas.microsoft.com/office/drawing/2014/main" id="{1CB32110-729B-4AE0-9FB4-B883450A46EE}"/>
              </a:ext>
            </a:extLst>
          </p:cNvPr>
          <p:cNvSpPr>
            <a:spLocks noGrp="1"/>
          </p:cNvSpPr>
          <p:nvPr/>
        </p:nvSpPr>
        <p:spPr>
          <a:xfrm>
            <a:off x="4667250" y="2114550"/>
            <a:ext cx="3028950" cy="457200"/>
          </a:xfrm>
          <a:prstGeom prst="rect">
            <a:avLst/>
          </a:prstGeom>
          <a:noFill/>
          <a:ln w="0">
            <a:noFill/>
          </a:ln>
        </p:spPr>
        <p:txBody>
          <a:bodyPr anchor="ctr">
            <a:normAutofit/>
          </a:bodyPr>
          <a:lstStyle/>
          <a:p>
            <a:pPr algn="ctr">
              <a:defRPr sz="1500" b="1">
                <a:solidFill>
                  <a:srgbClr val="F28C28"/>
                </a:solidFill>
                <a:latin typeface="YuGothic"/>
                <a:ea typeface="YuGothic"/>
                <a:cs typeface="YuGothic"/>
              </a:defRPr>
            </a:pPr>
            <a:r>
              <a:rPr sz="1500" b="1">
                <a:solidFill>
                  <a:srgbClr val="F28C28"/>
                </a:solidFill>
                <a:latin typeface="YuGothic"/>
                <a:ea typeface="YuGothic"/>
                <a:cs typeface="YuGothic"/>
              </a:rPr>
              <a:t>log(p₁/p₂)をRidge回帰</a:t>
            </a:r>
          </a:p>
        </p:txBody>
      </p:sp>
      <p:sp>
        <p:nvSpPr>
          <p:cNvPr id="15" name="正方形/長方形 14">
            <a:extLst>
              <a:ext uri="{FF2B5EF4-FFF2-40B4-BE49-F238E27FC236}">
                <a16:creationId xmlns:a16="http://schemas.microsoft.com/office/drawing/2014/main" id="{400DD01E-6381-404B-A301-2F9CBE2D2D73}"/>
              </a:ext>
            </a:extLst>
          </p:cNvPr>
          <p:cNvSpPr>
            <a:spLocks noGrp="1"/>
          </p:cNvSpPr>
          <p:nvPr/>
        </p:nvSpPr>
        <p:spPr>
          <a:xfrm>
            <a:off x="4676775" y="2705100"/>
            <a:ext cx="3009900" cy="9525"/>
          </a:xfrm>
          <a:prstGeom prst="rect">
            <a:avLst/>
          </a:prstGeom>
          <a:solidFill>
            <a:srgbClr val="E7EBF0"/>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AAD4D557-DA42-4AEE-B421-DAD2C561C8DF}"/>
              </a:ext>
            </a:extLst>
          </p:cNvPr>
          <p:cNvSpPr>
            <a:spLocks noGrp="1"/>
          </p:cNvSpPr>
          <p:nvPr/>
        </p:nvSpPr>
        <p:spPr>
          <a:xfrm>
            <a:off x="4724400" y="2895600"/>
            <a:ext cx="2914650" cy="15240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線形softmaxで忠実度・Brier・真係数復元が最良。局所logit差が線形に近い場合に理論と結果が一致。</a:t>
            </a:r>
          </a:p>
        </p:txBody>
      </p:sp>
      <p:sp>
        <p:nvSpPr>
          <p:cNvPr id="17" name="角丸四角形 16">
            <a:extLst>
              <a:ext uri="{FF2B5EF4-FFF2-40B4-BE49-F238E27FC236}">
                <a16:creationId xmlns:a16="http://schemas.microsoft.com/office/drawing/2014/main" id="{D99EB17D-CC9D-4567-BB9E-BDD5B96ACADF}"/>
              </a:ext>
            </a:extLst>
          </p:cNvPr>
          <p:cNvSpPr>
            <a:spLocks noGrp="1"/>
          </p:cNvSpPr>
          <p:nvPr/>
        </p:nvSpPr>
        <p:spPr>
          <a:xfrm>
            <a:off x="8191500" y="1352550"/>
            <a:ext cx="3486150" cy="3390900"/>
          </a:xfrm>
          <a:prstGeom prst="roundRect">
            <a:avLst>
              <a:gd name="adj" fmla="val 2247"/>
            </a:avLst>
          </a:prstGeom>
          <a:solidFill>
            <a:srgbClr val="FFFFFF"/>
          </a:solidFill>
          <a:ln w="9525">
            <a:solidFill>
              <a:srgbClr val="7B61A8"/>
            </a:solidFill>
          </a:ln>
        </p:spPr>
        <p:txBody>
          <a:bodyPr/>
          <a:lstStyle/>
          <a:p>
            <a:endParaRPr lang="ja-JP" altLang="en-US"/>
          </a:p>
        </p:txBody>
      </p:sp>
      <p:sp>
        <p:nvSpPr>
          <p:cNvPr id="18" name="角丸四角形 17">
            <a:extLst>
              <a:ext uri="{FF2B5EF4-FFF2-40B4-BE49-F238E27FC236}">
                <a16:creationId xmlns:a16="http://schemas.microsoft.com/office/drawing/2014/main" id="{B25BB86D-96D1-4A20-A2D0-3F99E98CF027}"/>
              </a:ext>
            </a:extLst>
          </p:cNvPr>
          <p:cNvSpPr>
            <a:spLocks noGrp="1"/>
          </p:cNvSpPr>
          <p:nvPr/>
        </p:nvSpPr>
        <p:spPr>
          <a:xfrm>
            <a:off x="8191500" y="1352550"/>
            <a:ext cx="3486150" cy="571500"/>
          </a:xfrm>
          <a:prstGeom prst="roundRect">
            <a:avLst>
              <a:gd name="adj" fmla="val 13333"/>
            </a:avLst>
          </a:prstGeom>
          <a:solidFill>
            <a:srgbClr val="7B61A8"/>
          </a:solidFill>
          <a:ln w="0">
            <a:noFill/>
          </a:ln>
        </p:spPr>
        <p:txBody>
          <a:bodyPr/>
          <a:lstStyle/>
          <a:p>
            <a:endParaRPr lang="ja-JP" altLang="en-US"/>
          </a:p>
        </p:txBody>
      </p:sp>
      <p:sp>
        <p:nvSpPr>
          <p:cNvPr id="19" name="正方形/長方形 18">
            <a:extLst>
              <a:ext uri="{FF2B5EF4-FFF2-40B4-BE49-F238E27FC236}">
                <a16:creationId xmlns:a16="http://schemas.microsoft.com/office/drawing/2014/main" id="{5FEBD468-9E95-4D56-AE6D-3FD6CE37B90E}"/>
              </a:ext>
            </a:extLst>
          </p:cNvPr>
          <p:cNvSpPr>
            <a:spLocks noGrp="1"/>
          </p:cNvSpPr>
          <p:nvPr/>
        </p:nvSpPr>
        <p:spPr>
          <a:xfrm>
            <a:off x="8362950" y="1447800"/>
            <a:ext cx="3143250" cy="381000"/>
          </a:xfrm>
          <a:prstGeom prst="rect">
            <a:avLst/>
          </a:prstGeom>
          <a:noFill/>
          <a:ln w="0">
            <a:noFill/>
          </a:ln>
        </p:spPr>
        <p:txBody>
          <a:bodyPr anchor="ctr">
            <a:normAutofit/>
          </a:bodyPr>
          <a:lstStyle/>
          <a:p>
            <a:pPr algn="ctr">
              <a:defRPr sz="1725" b="1">
                <a:solidFill>
                  <a:srgbClr val="FFFFFF"/>
                </a:solidFill>
                <a:latin typeface="YuGothic"/>
                <a:ea typeface="YuGothic"/>
                <a:cs typeface="YuGothic"/>
              </a:defRPr>
            </a:pPr>
            <a:r>
              <a:rPr sz="1725" b="1">
                <a:solidFill>
                  <a:srgbClr val="FFFFFF"/>
                </a:solidFill>
                <a:latin typeface="YuGothic"/>
                <a:ea typeface="YuGothic"/>
                <a:cs typeface="YuGothic"/>
              </a:rPr>
              <a:t>OVO Logistic</a:t>
            </a:r>
          </a:p>
        </p:txBody>
      </p:sp>
      <p:sp>
        <p:nvSpPr>
          <p:cNvPr id="20" name="正方形/長方形 19">
            <a:extLst>
              <a:ext uri="{FF2B5EF4-FFF2-40B4-BE49-F238E27FC236}">
                <a16:creationId xmlns:a16="http://schemas.microsoft.com/office/drawing/2014/main" id="{6B1B0C5C-A8FC-45F0-80B3-865CC809FD59}"/>
              </a:ext>
            </a:extLst>
          </p:cNvPr>
          <p:cNvSpPr>
            <a:spLocks noGrp="1"/>
          </p:cNvSpPr>
          <p:nvPr/>
        </p:nvSpPr>
        <p:spPr>
          <a:xfrm>
            <a:off x="8420100" y="2114550"/>
            <a:ext cx="3028950" cy="457200"/>
          </a:xfrm>
          <a:prstGeom prst="rect">
            <a:avLst/>
          </a:prstGeom>
          <a:noFill/>
          <a:ln w="0">
            <a:noFill/>
          </a:ln>
        </p:spPr>
        <p:txBody>
          <a:bodyPr anchor="ctr">
            <a:normAutofit/>
          </a:bodyPr>
          <a:lstStyle/>
          <a:p>
            <a:pPr algn="ctr">
              <a:defRPr sz="1500" b="1">
                <a:solidFill>
                  <a:srgbClr val="7B61A8"/>
                </a:solidFill>
                <a:latin typeface="YuGothic"/>
                <a:ea typeface="YuGothic"/>
                <a:cs typeface="YuGothic"/>
              </a:defRPr>
            </a:pPr>
            <a:r>
              <a:rPr sz="1500" b="1">
                <a:solidFill>
                  <a:srgbClr val="7B61A8"/>
                </a:solidFill>
                <a:latin typeface="YuGothic"/>
                <a:ea typeface="YuGothic"/>
                <a:cs typeface="YuGothic"/>
              </a:rPr>
              <a:t>qを交差エントロピーで回帰</a:t>
            </a:r>
          </a:p>
        </p:txBody>
      </p:sp>
      <p:sp>
        <p:nvSpPr>
          <p:cNvPr id="21" name="正方形/長方形 20">
            <a:extLst>
              <a:ext uri="{FF2B5EF4-FFF2-40B4-BE49-F238E27FC236}">
                <a16:creationId xmlns:a16="http://schemas.microsoft.com/office/drawing/2014/main" id="{5F84DFF3-F8E0-497C-81D6-C2156F56CB38}"/>
              </a:ext>
            </a:extLst>
          </p:cNvPr>
          <p:cNvSpPr>
            <a:spLocks noGrp="1"/>
          </p:cNvSpPr>
          <p:nvPr/>
        </p:nvSpPr>
        <p:spPr>
          <a:xfrm>
            <a:off x="8429625" y="2705100"/>
            <a:ext cx="3009900" cy="9525"/>
          </a:xfrm>
          <a:prstGeom prst="rect">
            <a:avLst/>
          </a:prstGeom>
          <a:solidFill>
            <a:srgbClr val="E7EBF0"/>
          </a:solidFill>
          <a:ln w="0">
            <a:noFill/>
          </a:ln>
        </p:spPr>
        <p:txBody>
          <a:bodyPr/>
          <a:lstStyle/>
          <a:p>
            <a:endParaRPr lang="ja-JP" altLang="en-US"/>
          </a:p>
        </p:txBody>
      </p:sp>
      <p:sp>
        <p:nvSpPr>
          <p:cNvPr id="22" name="正方形/長方形 21">
            <a:extLst>
              <a:ext uri="{FF2B5EF4-FFF2-40B4-BE49-F238E27FC236}">
                <a16:creationId xmlns:a16="http://schemas.microsoft.com/office/drawing/2014/main" id="{967DFAAF-3432-402D-B19E-284586C76187}"/>
              </a:ext>
            </a:extLst>
          </p:cNvPr>
          <p:cNvSpPr>
            <a:spLocks noGrp="1"/>
          </p:cNvSpPr>
          <p:nvPr/>
        </p:nvSpPr>
        <p:spPr>
          <a:xfrm>
            <a:off x="8477250" y="2895600"/>
            <a:ext cx="2914650" cy="15240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極端確率でも目的変数が発散しない利点はあるが、今回の疎な設定では忠実度が低く、次元増加で遅くなった。</a:t>
            </a:r>
          </a:p>
        </p:txBody>
      </p:sp>
      <p:sp>
        <p:nvSpPr>
          <p:cNvPr id="23" name="角丸四角形 22">
            <a:extLst>
              <a:ext uri="{FF2B5EF4-FFF2-40B4-BE49-F238E27FC236}">
                <a16:creationId xmlns:a16="http://schemas.microsoft.com/office/drawing/2014/main" id="{8BADF2B1-3344-4E82-967E-3477B5767639}"/>
              </a:ext>
            </a:extLst>
          </p:cNvPr>
          <p:cNvSpPr>
            <a:spLocks noGrp="1"/>
          </p:cNvSpPr>
          <p:nvPr/>
        </p:nvSpPr>
        <p:spPr>
          <a:xfrm>
            <a:off x="971550" y="5010150"/>
            <a:ext cx="10248900" cy="647700"/>
          </a:xfrm>
          <a:prstGeom prst="roundRect">
            <a:avLst>
              <a:gd name="adj" fmla="val 11765"/>
            </a:avLst>
          </a:prstGeom>
          <a:solidFill>
            <a:srgbClr val="FFF4D6"/>
          </a:solidFill>
          <a:ln w="0">
            <a:noFill/>
          </a:ln>
        </p:spPr>
        <p:txBody>
          <a:bodyPr/>
          <a:lstStyle/>
          <a:p>
            <a:endParaRPr lang="ja-JP" altLang="en-US"/>
          </a:p>
        </p:txBody>
      </p:sp>
      <p:sp>
        <p:nvSpPr>
          <p:cNvPr id="24" name="正方形/長方形 23">
            <a:extLst>
              <a:ext uri="{FF2B5EF4-FFF2-40B4-BE49-F238E27FC236}">
                <a16:creationId xmlns:a16="http://schemas.microsoft.com/office/drawing/2014/main" id="{EB657E7C-C124-4244-9DF0-709099EB037D}"/>
              </a:ext>
            </a:extLst>
          </p:cNvPr>
          <p:cNvSpPr>
            <a:spLocks noGrp="1"/>
          </p:cNvSpPr>
          <p:nvPr/>
        </p:nvSpPr>
        <p:spPr>
          <a:xfrm>
            <a:off x="1219200" y="5143500"/>
            <a:ext cx="9753600" cy="381000"/>
          </a:xfrm>
          <a:prstGeom prst="rect">
            <a:avLst/>
          </a:prstGeom>
          <a:noFill/>
          <a:ln w="0">
            <a:noFill/>
          </a:ln>
        </p:spPr>
        <p:txBody>
          <a:bodyPr anchor="ctr">
            <a:normAutofit/>
          </a:bodyPr>
          <a:lstStyle/>
          <a:p>
            <a:pPr algn="ctr">
              <a:defRPr sz="1500" b="1">
                <a:solidFill>
                  <a:srgbClr val="F28C28"/>
                </a:solidFill>
                <a:latin typeface="YuGothic"/>
                <a:ea typeface="YuGothic"/>
                <a:cs typeface="YuGothic"/>
              </a:defRPr>
            </a:pPr>
            <a:r>
              <a:rPr sz="1500" b="1">
                <a:solidFill>
                  <a:srgbClr val="F28C28"/>
                </a:solidFill>
                <a:latin typeface="YuGothic"/>
                <a:ea typeface="YuGothic"/>
                <a:cs typeface="YuGothic"/>
              </a:rPr>
              <a:t>研究としての主張は『対数比が常に最良』ではなく、2クラス化の効果と回帰方法の条件依存性を分離したこと</a:t>
            </a:r>
          </a:p>
        </p:txBody>
      </p:sp>
      <p:sp>
        <p:nvSpPr>
          <p:cNvPr id="25" name="角丸四角形 24">
            <a:extLst>
              <a:ext uri="{FF2B5EF4-FFF2-40B4-BE49-F238E27FC236}">
                <a16:creationId xmlns:a16="http://schemas.microsoft.com/office/drawing/2014/main" id="{B0D8874F-FFF9-4534-A705-A810A04B51D7}"/>
              </a:ext>
            </a:extLst>
          </p:cNvPr>
          <p:cNvSpPr>
            <a:spLocks noGrp="1"/>
          </p:cNvSpPr>
          <p:nvPr/>
        </p:nvSpPr>
        <p:spPr>
          <a:xfrm>
            <a:off x="762000" y="5848350"/>
            <a:ext cx="10668000" cy="409575"/>
          </a:xfrm>
          <a:prstGeom prst="roundRect">
            <a:avLst>
              <a:gd name="adj" fmla="val 18605"/>
            </a:avLst>
          </a:prstGeom>
          <a:solidFill>
            <a:srgbClr val="EAF4FB"/>
          </a:solidFill>
          <a:ln w="0">
            <a:noFill/>
          </a:ln>
        </p:spPr>
        <p:txBody>
          <a:bodyPr/>
          <a:lstStyle/>
          <a:p>
            <a:endParaRPr lang="ja-JP" altLang="en-US"/>
          </a:p>
        </p:txBody>
      </p:sp>
      <p:sp>
        <p:nvSpPr>
          <p:cNvPr id="26" name="正方形/長方形 25">
            <a:extLst>
              <a:ext uri="{FF2B5EF4-FFF2-40B4-BE49-F238E27FC236}">
                <a16:creationId xmlns:a16="http://schemas.microsoft.com/office/drawing/2014/main" id="{25CF4CD7-3B64-4215-A404-1C8218AD69BC}"/>
              </a:ext>
            </a:extLst>
          </p:cNvPr>
          <p:cNvSpPr>
            <a:spLocks noGrp="1"/>
          </p:cNvSpPr>
          <p:nvPr/>
        </p:nvSpPr>
        <p:spPr>
          <a:xfrm>
            <a:off x="952500" y="58959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このスライドの主張：現時点の汎用候補は2クラスLIME、線形logit構造が期待できる場合はContrastive</a:t>
            </a:r>
          </a:p>
        </p:txBody>
      </p:sp>
    </p:spTree>
    <p:extLst>
      <p:ext uri="{BB962C8B-B14F-4D97-AF65-F5344CB8AC3E}">
        <p14:creationId xmlns:p14="http://schemas.microsoft.com/office/powerpoint/2010/main" val="2127652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正方形/長方形 17">
            <a:extLst>
              <a:ext uri="{FF2B5EF4-FFF2-40B4-BE49-F238E27FC236}">
                <a16:creationId xmlns:a16="http://schemas.microsoft.com/office/drawing/2014/main" id="{6DB23906-CE92-4C37-BA9D-A1566F88A35E}"/>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A922892B-D672-48D1-8BDA-8DC5B6F79538}"/>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結果のまとめと今後の課題</a:t>
            </a:r>
          </a:p>
        </p:txBody>
      </p:sp>
      <p:sp>
        <p:nvSpPr>
          <p:cNvPr id="3" name="正方形/長方形 2">
            <a:extLst>
              <a:ext uri="{FF2B5EF4-FFF2-40B4-BE49-F238E27FC236}">
                <a16:creationId xmlns:a16="http://schemas.microsoft.com/office/drawing/2014/main" id="{617ED4A4-9EE3-40D2-A52D-FEDD69B414DD}"/>
              </a:ext>
            </a:extLst>
          </p:cNvPr>
          <p:cNvSpPr>
            <a:spLocks noGrp="1"/>
          </p:cNvSpPr>
          <p:nvPr/>
        </p:nvSpPr>
        <p:spPr>
          <a:xfrm>
            <a:off x="762000" y="800100"/>
            <a:ext cx="10668000" cy="247650"/>
          </a:xfrm>
          <a:prstGeom prst="rect">
            <a:avLst/>
          </a:prstGeom>
          <a:noFill/>
          <a:ln w="0">
            <a:noFill/>
          </a:ln>
        </p:spPr>
        <p:txBody>
          <a:bodyPr anchor="ctr">
            <a:normAutofit fontScale="92917" lnSpcReduction="10000"/>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今回の実験から言えることと言えないことを分ける</a:t>
            </a:r>
          </a:p>
        </p:txBody>
      </p:sp>
      <p:sp>
        <p:nvSpPr>
          <p:cNvPr id="4" name="正方形/長方形 3">
            <a:extLst>
              <a:ext uri="{FF2B5EF4-FFF2-40B4-BE49-F238E27FC236}">
                <a16:creationId xmlns:a16="http://schemas.microsoft.com/office/drawing/2014/main" id="{0E3E0D08-7D15-4639-A305-D123CF5D7FD5}"/>
              </a:ext>
            </a:extLst>
          </p:cNvPr>
          <p:cNvSpPr>
            <a:spLocks noGrp="1"/>
          </p:cNvSpPr>
          <p:nvPr/>
        </p:nvSpPr>
        <p:spPr>
          <a:xfrm>
            <a:off x="11125200" y="6457950"/>
            <a:ext cx="609600" cy="190500"/>
          </a:xfrm>
          <a:prstGeom prst="rect">
            <a:avLst/>
          </a:prstGeom>
          <a:noFill/>
          <a:ln w="0">
            <a:noFill/>
          </a:ln>
        </p:spPr>
        <p:txBody>
          <a:bodyPr anchor="ctr">
            <a:normAutofit fontScale="74167" lnSpcReduction="20000"/>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19</a:t>
            </a:r>
          </a:p>
        </p:txBody>
      </p:sp>
      <p:sp>
        <p:nvSpPr>
          <p:cNvPr id="5" name="角丸四角形 4">
            <a:extLst>
              <a:ext uri="{FF2B5EF4-FFF2-40B4-BE49-F238E27FC236}">
                <a16:creationId xmlns:a16="http://schemas.microsoft.com/office/drawing/2014/main" id="{F243F75D-2A66-49A6-8C35-AC26574D155A}"/>
              </a:ext>
            </a:extLst>
          </p:cNvPr>
          <p:cNvSpPr>
            <a:spLocks noGrp="1"/>
          </p:cNvSpPr>
          <p:nvPr/>
        </p:nvSpPr>
        <p:spPr>
          <a:xfrm>
            <a:off x="781050" y="1257300"/>
            <a:ext cx="1714500" cy="304800"/>
          </a:xfrm>
          <a:prstGeom prst="roundRect">
            <a:avLst>
              <a:gd name="adj" fmla="val 25000"/>
            </a:avLst>
          </a:prstGeom>
          <a:solidFill>
            <a:srgbClr val="2AA876"/>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EF3827DD-D94C-43FB-937A-312AA6188751}"/>
              </a:ext>
            </a:extLst>
          </p:cNvPr>
          <p:cNvSpPr>
            <a:spLocks noGrp="1"/>
          </p:cNvSpPr>
          <p:nvPr/>
        </p:nvSpPr>
        <p:spPr>
          <a:xfrm>
            <a:off x="876300" y="1266825"/>
            <a:ext cx="152400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支持された</a:t>
            </a:r>
          </a:p>
        </p:txBody>
      </p:sp>
      <p:sp>
        <p:nvSpPr>
          <p:cNvPr id="7" name="正方形/長方形 6">
            <a:extLst>
              <a:ext uri="{FF2B5EF4-FFF2-40B4-BE49-F238E27FC236}">
                <a16:creationId xmlns:a16="http://schemas.microsoft.com/office/drawing/2014/main" id="{E2CC9707-6838-426C-9616-CA78FBA38381}"/>
              </a:ext>
            </a:extLst>
          </p:cNvPr>
          <p:cNvSpPr>
            <a:spLocks noGrp="1"/>
          </p:cNvSpPr>
          <p:nvPr/>
        </p:nvSpPr>
        <p:spPr>
          <a:xfrm>
            <a:off x="2771775" y="1162050"/>
            <a:ext cx="8524875" cy="1200150"/>
          </a:xfrm>
          <a:prstGeom prst="rect">
            <a:avLst/>
          </a:prstGeom>
          <a:noFill/>
          <a:ln w="0">
            <a:noFill/>
          </a:ln>
        </p:spPr>
        <p:txBody>
          <a:bodyPr anchor="ctr">
            <a:normAutofit/>
          </a:bodyPr>
          <a:lstStyle/>
          <a:p>
            <a:pPr algn="l">
              <a:defRPr sz="1425" b="0">
                <a:solidFill>
                  <a:srgbClr val="17233D"/>
                </a:solidFill>
                <a:latin typeface="YuGothic"/>
                <a:ea typeface="YuGothic"/>
                <a:cs typeface="YuGothic"/>
              </a:defRPr>
            </a:pPr>
            <a:r>
              <a:rPr sz="1425" b="0" dirty="0">
                <a:solidFill>
                  <a:srgbClr val="17233D"/>
                </a:solidFill>
                <a:latin typeface="YuGothic"/>
                <a:ea typeface="YuGothic"/>
                <a:cs typeface="YuGothic"/>
              </a:rPr>
              <a:t>• 同じKでも、2クラスLIMEはOVRと同等以上のheld-out忠実度を保つ</a:t>
            </a:r>
          </a:p>
          <a:p>
            <a:pPr algn="l">
              <a:defRPr sz="1425" b="0">
                <a:solidFill>
                  <a:srgbClr val="17233D"/>
                </a:solidFill>
                <a:latin typeface="YuGothic"/>
                <a:ea typeface="YuGothic"/>
                <a:cs typeface="YuGothic"/>
              </a:defRPr>
            </a:pPr>
            <a:r>
              <a:rPr sz="1425" b="0" dirty="0">
                <a:solidFill>
                  <a:srgbClr val="17233D"/>
                </a:solidFill>
                <a:latin typeface="YuGothic"/>
                <a:ea typeface="YuGothic"/>
                <a:cs typeface="YuGothic"/>
              </a:rPr>
              <a:t>• </a:t>
            </a:r>
            <a:r>
              <a:rPr sz="1425" b="0" dirty="0" err="1">
                <a:solidFill>
                  <a:srgbClr val="17233D"/>
                </a:solidFill>
                <a:latin typeface="YuGothic"/>
                <a:ea typeface="YuGothic"/>
                <a:cs typeface="YuGothic"/>
              </a:rPr>
              <a:t>競合特徴の再現率が高く、両クラス共通特徴への表示枠の消費を避ける</a:t>
            </a:r>
            <a:endParaRPr sz="1425" b="0" dirty="0">
              <a:solidFill>
                <a:srgbClr val="17233D"/>
              </a:solidFill>
              <a:latin typeface="YuGothic"/>
              <a:ea typeface="YuGothic"/>
              <a:cs typeface="YuGothic"/>
            </a:endParaRPr>
          </a:p>
          <a:p>
            <a:pPr algn="l">
              <a:defRPr sz="1425" b="0">
                <a:solidFill>
                  <a:srgbClr val="17233D"/>
                </a:solidFill>
                <a:latin typeface="YuGothic"/>
                <a:ea typeface="YuGothic"/>
                <a:cs typeface="YuGothic"/>
              </a:defRPr>
            </a:pPr>
            <a:r>
              <a:rPr sz="1425" b="0" dirty="0">
                <a:solidFill>
                  <a:srgbClr val="17233D"/>
                </a:solidFill>
                <a:latin typeface="YuGothic"/>
                <a:ea typeface="YuGothic"/>
                <a:cs typeface="YuGothic"/>
              </a:rPr>
              <a:t>• Top-1/Top-2の1ペアなら、クラス数が増えても学習時間がほぼ一定</a:t>
            </a:r>
          </a:p>
        </p:txBody>
      </p:sp>
      <p:sp>
        <p:nvSpPr>
          <p:cNvPr id="8" name="正方形/長方形 7">
            <a:extLst>
              <a:ext uri="{FF2B5EF4-FFF2-40B4-BE49-F238E27FC236}">
                <a16:creationId xmlns:a16="http://schemas.microsoft.com/office/drawing/2014/main" id="{6581D7F2-DB39-4680-B80B-B6D148483135}"/>
              </a:ext>
            </a:extLst>
          </p:cNvPr>
          <p:cNvSpPr>
            <a:spLocks noGrp="1"/>
          </p:cNvSpPr>
          <p:nvPr/>
        </p:nvSpPr>
        <p:spPr>
          <a:xfrm>
            <a:off x="781050" y="2571750"/>
            <a:ext cx="10515600" cy="9525"/>
          </a:xfrm>
          <a:prstGeom prst="rect">
            <a:avLst/>
          </a:prstGeom>
          <a:solidFill>
            <a:srgbClr val="E7EBF0"/>
          </a:solidFill>
          <a:ln w="0">
            <a:noFill/>
          </a:ln>
        </p:spPr>
        <p:txBody>
          <a:bodyPr/>
          <a:lstStyle/>
          <a:p>
            <a:endParaRPr lang="ja-JP" altLang="en-US"/>
          </a:p>
        </p:txBody>
      </p:sp>
      <p:sp>
        <p:nvSpPr>
          <p:cNvPr id="9" name="角丸四角形 8">
            <a:extLst>
              <a:ext uri="{FF2B5EF4-FFF2-40B4-BE49-F238E27FC236}">
                <a16:creationId xmlns:a16="http://schemas.microsoft.com/office/drawing/2014/main" id="{EC33EE7B-EC0A-4F63-A544-DA88650B2623}"/>
              </a:ext>
            </a:extLst>
          </p:cNvPr>
          <p:cNvSpPr>
            <a:spLocks noGrp="1"/>
          </p:cNvSpPr>
          <p:nvPr/>
        </p:nvSpPr>
        <p:spPr>
          <a:xfrm>
            <a:off x="781050" y="2800350"/>
            <a:ext cx="1714500" cy="304800"/>
          </a:xfrm>
          <a:prstGeom prst="roundRect">
            <a:avLst>
              <a:gd name="adj" fmla="val 25000"/>
            </a:avLst>
          </a:prstGeom>
          <a:solidFill>
            <a:srgbClr val="F28C28"/>
          </a:solidFill>
          <a:ln w="0">
            <a:noFill/>
          </a:ln>
        </p:spPr>
        <p:txBody>
          <a:bodyPr/>
          <a:lstStyle/>
          <a:p>
            <a:endParaRPr lang="ja-JP" altLang="en-US"/>
          </a:p>
        </p:txBody>
      </p:sp>
      <p:sp>
        <p:nvSpPr>
          <p:cNvPr id="10" name="正方形/長方形 9">
            <a:extLst>
              <a:ext uri="{FF2B5EF4-FFF2-40B4-BE49-F238E27FC236}">
                <a16:creationId xmlns:a16="http://schemas.microsoft.com/office/drawing/2014/main" id="{59929DE4-D57E-4184-ADFC-4EB2EE8E3D6C}"/>
              </a:ext>
            </a:extLst>
          </p:cNvPr>
          <p:cNvSpPr>
            <a:spLocks noGrp="1"/>
          </p:cNvSpPr>
          <p:nvPr/>
        </p:nvSpPr>
        <p:spPr>
          <a:xfrm>
            <a:off x="876300" y="2809875"/>
            <a:ext cx="152400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条件付き</a:t>
            </a:r>
          </a:p>
        </p:txBody>
      </p:sp>
      <p:sp>
        <p:nvSpPr>
          <p:cNvPr id="11" name="正方形/長方形 10">
            <a:extLst>
              <a:ext uri="{FF2B5EF4-FFF2-40B4-BE49-F238E27FC236}">
                <a16:creationId xmlns:a16="http://schemas.microsoft.com/office/drawing/2014/main" id="{7F3D28D5-11E3-458D-9BE3-F34C73A92FB7}"/>
              </a:ext>
            </a:extLst>
          </p:cNvPr>
          <p:cNvSpPr>
            <a:spLocks noGrp="1"/>
          </p:cNvSpPr>
          <p:nvPr/>
        </p:nvSpPr>
        <p:spPr>
          <a:xfrm>
            <a:off x="2771775" y="2705100"/>
            <a:ext cx="8524875" cy="1200150"/>
          </a:xfrm>
          <a:prstGeom prst="rect">
            <a:avLst/>
          </a:prstGeom>
          <a:noFill/>
          <a:ln w="0">
            <a:noFill/>
          </a:ln>
        </p:spPr>
        <p:txBody>
          <a:bodyPr anchor="ctr">
            <a:normAutofit/>
          </a:bodyPr>
          <a:lstStyle/>
          <a:p>
            <a:pPr algn="l">
              <a:defRPr sz="1425" b="0">
                <a:solidFill>
                  <a:srgbClr val="17233D"/>
                </a:solidFill>
                <a:latin typeface="YuGothic"/>
                <a:ea typeface="YuGothic"/>
                <a:cs typeface="YuGothic"/>
              </a:defRPr>
            </a:pPr>
            <a:r>
              <a:rPr sz="1425" b="0" dirty="0">
                <a:solidFill>
                  <a:srgbClr val="17233D"/>
                </a:solidFill>
                <a:latin typeface="YuGothic"/>
                <a:ea typeface="YuGothic"/>
                <a:cs typeface="YuGothic"/>
              </a:rPr>
              <a:t>• </a:t>
            </a:r>
            <a:r>
              <a:rPr sz="1425" b="0" dirty="0" err="1">
                <a:solidFill>
                  <a:srgbClr val="17233D"/>
                </a:solidFill>
                <a:latin typeface="YuGothic"/>
                <a:ea typeface="YuGothic"/>
                <a:cs typeface="YuGothic"/>
              </a:rPr>
              <a:t>Contrastiveの利点は、softmaxの有無より局所logit差の線形性に依存する</a:t>
            </a:r>
            <a:endParaRPr sz="1425" b="0" dirty="0">
              <a:solidFill>
                <a:srgbClr val="17233D"/>
              </a:solidFill>
              <a:latin typeface="YuGothic"/>
              <a:ea typeface="YuGothic"/>
              <a:cs typeface="YuGothic"/>
            </a:endParaRPr>
          </a:p>
          <a:p>
            <a:pPr algn="l">
              <a:defRPr sz="1425" b="0">
                <a:solidFill>
                  <a:srgbClr val="17233D"/>
                </a:solidFill>
                <a:latin typeface="YuGothic"/>
                <a:ea typeface="YuGothic"/>
                <a:cs typeface="YuGothic"/>
              </a:defRPr>
            </a:pPr>
            <a:r>
              <a:rPr sz="1425" b="0" dirty="0">
                <a:solidFill>
                  <a:srgbClr val="17233D"/>
                </a:solidFill>
                <a:latin typeface="YuGothic"/>
                <a:ea typeface="YuGothic"/>
                <a:cs typeface="YuGothic"/>
              </a:rPr>
              <a:t>• RFでの+0.0041は統計的差がある条件を含むが、効果量としては小さい</a:t>
            </a:r>
          </a:p>
          <a:p>
            <a:pPr algn="l">
              <a:defRPr sz="1425" b="0">
                <a:solidFill>
                  <a:srgbClr val="17233D"/>
                </a:solidFill>
                <a:latin typeface="YuGothic"/>
                <a:ea typeface="YuGothic"/>
                <a:cs typeface="YuGothic"/>
              </a:defRPr>
            </a:pPr>
            <a:r>
              <a:rPr sz="1425" b="0" dirty="0">
                <a:solidFill>
                  <a:srgbClr val="17233D"/>
                </a:solidFill>
                <a:latin typeface="YuGothic"/>
                <a:ea typeface="YuGothic"/>
                <a:cs typeface="YuGothic"/>
              </a:rPr>
              <a:t>• OVO </a:t>
            </a:r>
            <a:r>
              <a:rPr sz="1425" b="0" dirty="0" err="1">
                <a:solidFill>
                  <a:srgbClr val="17233D"/>
                </a:solidFill>
                <a:latin typeface="YuGothic"/>
                <a:ea typeface="YuGothic"/>
                <a:cs typeface="YuGothic"/>
              </a:rPr>
              <a:t>Logisticの発散回避という理論的利点は、今回の疎な設定では性能向上に結びつかなかった</a:t>
            </a:r>
            <a:endParaRPr sz="1425" b="0" dirty="0">
              <a:solidFill>
                <a:srgbClr val="17233D"/>
              </a:solidFill>
              <a:latin typeface="YuGothic"/>
              <a:ea typeface="YuGothic"/>
              <a:cs typeface="YuGothic"/>
            </a:endParaRPr>
          </a:p>
        </p:txBody>
      </p:sp>
      <p:sp>
        <p:nvSpPr>
          <p:cNvPr id="12" name="正方形/長方形 11">
            <a:extLst>
              <a:ext uri="{FF2B5EF4-FFF2-40B4-BE49-F238E27FC236}">
                <a16:creationId xmlns:a16="http://schemas.microsoft.com/office/drawing/2014/main" id="{A88E2F4A-C96C-4830-912D-B093B3A54831}"/>
              </a:ext>
            </a:extLst>
          </p:cNvPr>
          <p:cNvSpPr>
            <a:spLocks noGrp="1"/>
          </p:cNvSpPr>
          <p:nvPr/>
        </p:nvSpPr>
        <p:spPr>
          <a:xfrm>
            <a:off x="781050" y="4114800"/>
            <a:ext cx="10515600" cy="9525"/>
          </a:xfrm>
          <a:prstGeom prst="rect">
            <a:avLst/>
          </a:prstGeom>
          <a:solidFill>
            <a:srgbClr val="E7EBF0"/>
          </a:solidFill>
          <a:ln w="0">
            <a:noFill/>
          </a:ln>
        </p:spPr>
        <p:txBody>
          <a:bodyPr/>
          <a:lstStyle/>
          <a:p>
            <a:endParaRPr lang="ja-JP" altLang="en-US"/>
          </a:p>
        </p:txBody>
      </p:sp>
      <p:sp>
        <p:nvSpPr>
          <p:cNvPr id="13" name="角丸四角形 12">
            <a:extLst>
              <a:ext uri="{FF2B5EF4-FFF2-40B4-BE49-F238E27FC236}">
                <a16:creationId xmlns:a16="http://schemas.microsoft.com/office/drawing/2014/main" id="{C379B7F2-B7C4-4781-BC30-639C5F7AF4FE}"/>
              </a:ext>
            </a:extLst>
          </p:cNvPr>
          <p:cNvSpPr>
            <a:spLocks noGrp="1"/>
          </p:cNvSpPr>
          <p:nvPr/>
        </p:nvSpPr>
        <p:spPr>
          <a:xfrm>
            <a:off x="781050" y="4343400"/>
            <a:ext cx="1714500" cy="304800"/>
          </a:xfrm>
          <a:prstGeom prst="roundRect">
            <a:avLst>
              <a:gd name="adj" fmla="val 25000"/>
            </a:avLst>
          </a:prstGeom>
          <a:solidFill>
            <a:srgbClr val="7B61A8"/>
          </a:solidFill>
          <a:ln w="0">
            <a:noFill/>
          </a:ln>
        </p:spPr>
        <p:txBody>
          <a:bodyPr/>
          <a:lstStyle/>
          <a:p>
            <a:endParaRPr lang="ja-JP" altLang="en-US"/>
          </a:p>
        </p:txBody>
      </p:sp>
      <p:sp>
        <p:nvSpPr>
          <p:cNvPr id="14" name="正方形/長方形 13">
            <a:extLst>
              <a:ext uri="{FF2B5EF4-FFF2-40B4-BE49-F238E27FC236}">
                <a16:creationId xmlns:a16="http://schemas.microsoft.com/office/drawing/2014/main" id="{FF769FB7-BB92-4E20-B828-ECD923E71F35}"/>
              </a:ext>
            </a:extLst>
          </p:cNvPr>
          <p:cNvSpPr>
            <a:spLocks noGrp="1"/>
          </p:cNvSpPr>
          <p:nvPr/>
        </p:nvSpPr>
        <p:spPr>
          <a:xfrm>
            <a:off x="876300" y="4352925"/>
            <a:ext cx="152400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未検証</a:t>
            </a:r>
          </a:p>
        </p:txBody>
      </p:sp>
      <p:sp>
        <p:nvSpPr>
          <p:cNvPr id="15" name="正方形/長方形 14">
            <a:extLst>
              <a:ext uri="{FF2B5EF4-FFF2-40B4-BE49-F238E27FC236}">
                <a16:creationId xmlns:a16="http://schemas.microsoft.com/office/drawing/2014/main" id="{5E70C9CA-8A07-443D-A605-D76AB046C202}"/>
              </a:ext>
            </a:extLst>
          </p:cNvPr>
          <p:cNvSpPr>
            <a:spLocks noGrp="1"/>
          </p:cNvSpPr>
          <p:nvPr/>
        </p:nvSpPr>
        <p:spPr>
          <a:xfrm>
            <a:off x="2771775" y="4248150"/>
            <a:ext cx="8524875" cy="1352550"/>
          </a:xfrm>
          <a:prstGeom prst="rect">
            <a:avLst/>
          </a:prstGeom>
          <a:noFill/>
          <a:ln w="0">
            <a:noFill/>
          </a:ln>
        </p:spPr>
        <p:txBody>
          <a:bodyPr anchor="ctr">
            <a:normAutofit/>
          </a:bodyPr>
          <a:lstStyle/>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実データでも同じ傾向になるか</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Top-2以外の競合クラスを指定した場合や、入力ごとに競合が変化する場合</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人が説明を理解しやすいかというユーザ評価</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OVO Logisticの正則化、摂動数、局所幅を調整した再評価</a:t>
            </a:r>
          </a:p>
        </p:txBody>
      </p:sp>
      <p:sp>
        <p:nvSpPr>
          <p:cNvPr id="16" name="角丸四角形 15">
            <a:extLst>
              <a:ext uri="{FF2B5EF4-FFF2-40B4-BE49-F238E27FC236}">
                <a16:creationId xmlns:a16="http://schemas.microsoft.com/office/drawing/2014/main" id="{EEE94AE0-3A1F-448F-BC2F-771A56B633DD}"/>
              </a:ext>
            </a:extLst>
          </p:cNvPr>
          <p:cNvSpPr>
            <a:spLocks noGrp="1"/>
          </p:cNvSpPr>
          <p:nvPr/>
        </p:nvSpPr>
        <p:spPr>
          <a:xfrm>
            <a:off x="762000" y="5848350"/>
            <a:ext cx="10668000" cy="409575"/>
          </a:xfrm>
          <a:prstGeom prst="roundRect">
            <a:avLst>
              <a:gd name="adj" fmla="val 18605"/>
            </a:avLst>
          </a:prstGeom>
          <a:solidFill>
            <a:srgbClr val="EAF4FB"/>
          </a:solidFill>
          <a:ln w="0">
            <a:noFill/>
          </a:ln>
        </p:spPr>
        <p:txBody>
          <a:bodyPr/>
          <a:lstStyle/>
          <a:p>
            <a:endParaRPr lang="ja-JP" altLang="en-US"/>
          </a:p>
        </p:txBody>
      </p:sp>
      <p:sp>
        <p:nvSpPr>
          <p:cNvPr id="17" name="正方形/長方形 16">
            <a:extLst>
              <a:ext uri="{FF2B5EF4-FFF2-40B4-BE49-F238E27FC236}">
                <a16:creationId xmlns:a16="http://schemas.microsoft.com/office/drawing/2014/main" id="{301B8887-D2A8-4A9B-8746-DE0F75645731}"/>
              </a:ext>
            </a:extLst>
          </p:cNvPr>
          <p:cNvSpPr>
            <a:spLocks noGrp="1"/>
          </p:cNvSpPr>
          <p:nvPr/>
        </p:nvSpPr>
        <p:spPr>
          <a:xfrm>
            <a:off x="952500" y="58959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このスライドの主張：結論は『OVOが常に高精度』ではなく、特定の競合を説明する設計が関連性と計算量で有望ということ</a:t>
            </a:r>
          </a:p>
        </p:txBody>
      </p:sp>
    </p:spTree>
    <p:extLst>
      <p:ext uri="{BB962C8B-B14F-4D97-AF65-F5344CB8AC3E}">
        <p14:creationId xmlns:p14="http://schemas.microsoft.com/office/powerpoint/2010/main" val="91055480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3871</TotalTime>
  <Words>2587</Words>
  <Application>Microsoft Macintosh PowerPoint</Application>
  <DocSecurity>0</DocSecurity>
  <PresentationFormat>ワイド画面</PresentationFormat>
  <Paragraphs>464</Paragraphs>
  <Slides>31</Slides>
  <Notes>18</Notes>
  <HiddenSlides>0</HiddenSlides>
  <MMClips>5</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31</vt:i4>
      </vt:variant>
    </vt:vector>
  </HeadingPairs>
  <TitlesOfParts>
    <vt:vector size="37" baseType="lpstr">
      <vt:lpstr>YuGothic</vt:lpstr>
      <vt:lpstr>Yu Gothic</vt:lpstr>
      <vt:lpstr>Arial</vt:lpstr>
      <vt:lpstr>Calibri</vt:lpstr>
      <vt:lpstr>Cambria Math</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池亀　颯太</cp:lastModifiedBy>
  <cp:revision>13</cp:revision>
  <dcterms:created xsi:type="dcterms:W3CDTF">2026-09-02T04:12:37Z</dcterms:created>
  <dcterms:modified xsi:type="dcterms:W3CDTF">2026-09-09T10:22:49Z</dcterms:modified>
</cp:coreProperties>
</file>