
<file path=[Content_Types].xml><?xml version="1.0" encoding="utf-8"?>
<Types xmlns="http://schemas.openxmlformats.org/package/2006/content-types">
  <Default Extension="emf" ContentType="image/x-emf"/>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309" r:id="rId3"/>
    <p:sldId id="257" r:id="rId4"/>
    <p:sldId id="267" r:id="rId5"/>
    <p:sldId id="303" r:id="rId6"/>
    <p:sldId id="258" r:id="rId7"/>
    <p:sldId id="259" r:id="rId8"/>
    <p:sldId id="274" r:id="rId9"/>
    <p:sldId id="279" r:id="rId10"/>
    <p:sldId id="280" r:id="rId11"/>
    <p:sldId id="281" r:id="rId12"/>
    <p:sldId id="282" r:id="rId13"/>
    <p:sldId id="304" r:id="rId14"/>
    <p:sldId id="261" r:id="rId15"/>
    <p:sldId id="262" r:id="rId16"/>
    <p:sldId id="305" r:id="rId17"/>
    <p:sldId id="283" r:id="rId18"/>
    <p:sldId id="284" r:id="rId19"/>
    <p:sldId id="306" r:id="rId20"/>
    <p:sldId id="301" r:id="rId21"/>
    <p:sldId id="277" r:id="rId22"/>
    <p:sldId id="307" r:id="rId23"/>
    <p:sldId id="271" r:id="rId24"/>
    <p:sldId id="273" r:id="rId25"/>
    <p:sldId id="311" r:id="rId26"/>
    <p:sldId id="275" r:id="rId27"/>
    <p:sldId id="310" r:id="rId28"/>
    <p:sldId id="276" r:id="rId29"/>
    <p:sldId id="293" r:id="rId30"/>
    <p:sldId id="294" r:id="rId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94"/>
    <p:restoredTop sz="94678"/>
  </p:normalViewPr>
  <p:slideViewPr>
    <p:cSldViewPr snapToGrid="0">
      <p:cViewPr>
        <p:scale>
          <a:sx n="135" d="100"/>
          <a:sy n="135" d="100"/>
        </p:scale>
        <p:origin x="1880"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はじめに、齊藤研究室M1の池亀です。今日は「多クラス分類におけるLIMEの説明方法と課題」というテーマで、修士研究の中間発表をします。よろしくお願いします。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まず、なぜXAI、説明可能なAIが必要かという話からです。ニューラルネットワークやランダムフォレストのような複雑なモデルは、精度は高いのですが、「なぜその予測になったのか」を人が理解するのはほぼ不可能です。予測精度と解釈可能性はトレードオフの関係にあると言われていて、医療や金融のように判断の根拠を説明する責任がある現場では、この解釈可能性がとても重要になり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D2F1E-E80A-D38C-27C6-E4DD3621B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ABF99-7FAF-0DDA-FCA0-4300DA58A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4AAB7-9608-0CDC-C113-B41EF21CD4EA}"/>
              </a:ext>
            </a:extLst>
          </p:cNvPr>
          <p:cNvSpPr>
            <a:spLocks noGrp="1"/>
          </p:cNvSpPr>
          <p:nvPr>
            <p:ph type="body" idx="1"/>
          </p:nvPr>
        </p:nvSpPr>
        <p:spPr/>
        <p:txBody>
          <a:bodyPr/>
          <a:lstStyle/>
          <a:p>
            <a:r>
              <a:rPr lang="ja-JP" dirty="0"/>
              <a:t>XAIは、このブラックボックスの中身を覗かずに、「なぜその判断に至ったのか」を後から説明するための技術です。使い道は大きく2つあって、1つは予測の理由を人に見せて納得してもらうこと、もう1つはモデルが誤った学習をしていないかをチェックするデバッグです。有名な例として、ハスキー犬と狼を見分けるモデルが、実は犬自体ではなく背景の雪を見て判断していた、という話があります。精度は高くても、モデルが本質的でない特徴を学習してしまっていた例で、XAIがあればこうした誤学習にも気づくことができます。</a:t>
            </a:r>
          </a:p>
        </p:txBody>
      </p:sp>
      <p:sp>
        <p:nvSpPr>
          <p:cNvPr id="4" name="Slide Number Placeholder 3">
            <a:extLst>
              <a:ext uri="{FF2B5EF4-FFF2-40B4-BE49-F238E27FC236}">
                <a16:creationId xmlns:a16="http://schemas.microsoft.com/office/drawing/2014/main" id="{DB40223A-206A-7457-0921-380E18E9E4B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69378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a:endParaRPr dirty="0"/>
          </a:p>
          <a:p>
            <a:r>
              <a:rPr dirty="0"/>
              <a:t>[Sources]</a:t>
            </a:r>
          </a:p>
          <a:p>
            <a:r>
              <a:rPr dirty="0"/>
              <a:t>- https://</a:t>
            </a:r>
            <a:r>
              <a:rPr dirty="0" err="1"/>
              <a:t>arxiv.org</a:t>
            </a:r>
            <a:r>
              <a:rPr dirty="0"/>
              <a:t>/abs/1602.04938</a:t>
            </a:r>
          </a:p>
          <a:p>
            <a:r>
              <a:rPr dirty="0"/>
              <a:t>
[Sources]
- Ribeiro, Singh &amp; </a:t>
            </a:r>
            <a:r>
              <a:rPr dirty="0" err="1"/>
              <a:t>Guestrin</a:t>
            </a:r>
            <a:r>
              <a:rPr dirty="0"/>
              <a:t>, ‘Why Should I Trust You?’, KDD 2016（LIMEの概念的根拠）
- Open Design Local </a:t>
            </a:r>
            <a:r>
              <a:rPr dirty="0" err="1"/>
              <a:t>Codexで作成した模式図。実験結果ではない</a:t>
            </a:r>
            <a:r>
              <a:rPr dirty="0"/>
              <a:t>。</a:t>
            </a:r>
          </a:p>
        </p:txBody>
      </p:sp>
      <p:sp>
        <p:nvSpPr>
          <p:cNvPr id="4" name="Slide Number Placeholder 3"/>
          <p:cNvSpPr>
            <a:spLocks noGrp="1"/>
          </p:cNvSpPr>
          <p:nvPr>
            <p:ph type="sldNum" idx="5"/>
          </p:nvPr>
        </p:nvSpPr>
        <p:spPr/>
        <p:txBody>
          <a:bodyPr/>
          <a:lstStyle/>
          <a:p>
            <a:r>
              <a:rPr lang="ja-JP" dirty="0"/>
              <a:t>LIMEは、Local Interpretable Model-agnostic Explanationsの略で、モデルの中身を見ずに、入力と出力の対応関係だけから説明を作る手法です。ポイントは「局所的」というところで、複雑なモデル全体を一つの単純なモデルに置き換えるのではなく、説明したい1点の周りだけを、単純な直線のようなモデル、サロゲートモデルで近似します。狭い範囲に限れば、複雑な曲線も直線でだいたい近似できる、というイメージで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具体的な手順は5つのステップです。まず説明したい入力を1つ選びます。次に、その周りにランダムな摂動を加えたサンプルをたくさん作ります。それぞれのサンプルをブラックボックスモデルに入れて予測を得ます。元の入力に近いサンプルほど強く重み付けをして、最後に、少数の特徴だけを使う単純な局所モデルを学習します。目的関数は2つの項からできていて、1つ目は元のモデルの予測をどれだけ再現できているか、2つ目は使う特徴の数をどれだけ絞れているかという単純さのペナルティです。この2つのバランスを取って学習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クラスが3つ以上ある場合、LIMEをそのまま使うと、one-vs-rest、一対他という考え方で拡張するのが一般的です。つまり、クラスAならA対「A以外すべて」、クラスBならB対「B以外すべて」というように、クラスの数だけ2値分類の問題を作って、それぞれに対して別々の局所モデルを学習します。近傍のサンプル自体は共有できますが、学習される説明モデルと、そこで使われる特徴は、クラスごとにバラバラになり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ここで問題になるのが、このクラス別の説明を並べるだけだと、全体像がとても読み取りにくいということです。例えば、クラスA・B・Cそれぞれの説明で、使われている特徴も、その重みの符号もバラバラだったとします。すると利用者は、「Aに効いている特徴は分かった。でもAとBを分けている特徴は何？」という疑問に、3つの説明を自分で見比べて答えを組み立てないといけません。これは、どれかの説明が間違っているという話ではなく、クラスをまたいで比較するときの負担が大きい、という問題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dirty="0"/>
              <a:t>1つ目はGANMEXという研究です。左側にある通り、GANMEXはOne-vs-One Attribution、つまり全部のクラスではなく特定の2クラスだけを比較する、という考え方を提案しています。2クラスに絞ることで、両方のクラスに共通する特徴ではなく、その2クラスを区別する特徴に注目できる、というのがポイントです。ただしGANMEXは主に画像分類を対象としていて、GANで比較クラスの画像を生成し、それをattributionの基準にする、という仕組みです。右側の通り、本研究が活かすのはこの「特定の2クラスを比較する」という問いの立て方です。画像やGANには依存せず、LIMEの局所線形モデルを使って、一般の表形式データでOne-vs-One的な説明を作る、というのが今回の方向性です。</a:t>
            </a:r>
          </a:p>
        </p:txBody>
      </p:sp>
      <p:sp>
        <p:nvSpPr>
          <p:cNvPr id="4" name="スライド番号プレースホルダー 3"/>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149279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A4D1-27DC-75CE-FA2C-FAE76CABB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16DB3-FE59-6366-B24A-C9A9B0DCD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65345-4BD1-7350-DD5A-80795B0EB808}"/>
              </a:ext>
            </a:extLst>
          </p:cNvPr>
          <p:cNvSpPr>
            <a:spLocks noGrp="1"/>
          </p:cNvSpPr>
          <p:nvPr>
            <p:ph type="body" idx="1"/>
          </p:nvPr>
        </p:nvSpPr>
        <p:spPr/>
        <p:txBody>
          <a:bodyPr/>
          <a:lstStyle/>
          <a:p>
            <a:r>
              <a:rPr lang="ja-JP" dirty="0"/>
              <a:t>この「2クラスに絞る」という部分は共通にして、そこから先の当てはめ方を3通り試しました。1つ目は基準となる2クラスLIMEで、2クラスの確率比qを、そのまま通常のLIMEと同じRidge回帰で学習する、一番シンプルな方法です。2つ目のContrastiveは、回帰する対象を比ではなく対数比 log(p1/p2) に変えたもので、3つ目のOVO Logisticは、損失関数を二乗誤差ではなく交差エントロピーに変えたものです。なぜ2つも追加したのかというと、2クラスLIMEを基準にして、Contrastiveでは何を回帰するかを、OVO Logisticではどんな損失で学習するかを、それぞれ1か所だけ変えて比較するためです。こうすることで、単に手法を増やしたのではなく、どの工夫がどれだけ効いているかを切り分けて確認できるようにしています。</a:t>
            </a:r>
          </a:p>
        </p:txBody>
      </p:sp>
      <p:sp>
        <p:nvSpPr>
          <p:cNvPr id="4" name="Slide Number Placeholder 3">
            <a:extLst>
              <a:ext uri="{FF2B5EF4-FFF2-40B4-BE49-F238E27FC236}">
                <a16:creationId xmlns:a16="http://schemas.microsoft.com/office/drawing/2014/main" id="{56B9496E-5127-5FF8-CCBC-AB216CB404A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99921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実験設定です。データは人工的に生成した多クラスのデータセットを使っています。詳しい設定は表の通りですが、ポイントだけお伝えすると、すべての手法で同じ摂動点・同じ重み付け・同じ説明対象を使って条件を揃えて比較しています。そのうえで、このあと説明する3つの観点、特徴の関連性、忠実度、計算時間を、それぞれ別の実験で測ってい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1つ目の結果です。非線形で、特徴同士に相関があり、ノイズも含むような、やや難しいブラックボックスを使って、各説明点で「AとBの確率比を実際に動かしている、本当に重要な特徴」を、あらかじめ数値計算で正解として求めておきます。そのうえで、各手法が選んだ上位5個の特徴が、その正解と何個一致しているかを再現率として測りました。結果は、One-vs-Restが0.82なのに対して、2クラス通常LIMEが0.913、Contrastiveが0.926と、どちらも大きく上回っています。この差は6つの条件すべてで統計的にも有意でした。2クラスに絞ることで、本当に効いている特徴をより正確に選べている、ということ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つ目は、同じブラックボックスに対して、学習には使っていない未知の摂動点400個を用意して、各手法が作った説明が「AとBどちらが優勢か」を、元のブラックボックスの判定とどれだけ一致させられるかを測ったものです。結果はOne-vs-Restが0.887、2クラス通常LIMEが0.898、Contrastiveが0.901と、こちらも6条件すべてで有意な改善はあるものの、差はだいたい1ポイントほどで、大きな差ではありません。ここで大事なのは、精度が大きく上がったというより、精度を落とさずに、さきほどの関連性の改善が得られている、という点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3つ目は計算時間です。今回の提案は、予測1位と2位の1ペアだけを説明するので、クラスの数が増えても学習するモデルの数は増えません。実際、クラス数が10のとき、One-vs-Restが63.46ミリ秒かかるのに対して、2クラスLIMEとContrastiveはどちらも6.5ミリ秒程度で、約10分の1に抑えられてい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まとめです。今回の提案の一番の価値は、Aとその他全部ではなく、実際に競合しているAとBという2つのクラスに対して、直接説明を出せるようになったことだと考えています。しかも、それでいて忠実度は従来のOne-vs-Restより落ちていません。むしろわずかに改善していて、加えて計算時間はクラス数が増えてもほぼ変わらない、という結果になりました。今後の展望としては、まず、この解釈性の向上を「分かりやすくなった」という言葉だけで終わらせず、定量的に測る方法を検討したいと考えています。例えば、人に実際に説明を見てもらって、理解のしやすさを評価してもらう、といった方向です。それ以外にも、今回は人工データでの検証だったので、実データでの検証や、競合するクラスがTop-2以外だったり、入力によって競合クラスが変わったりする場合への対応も、今後の課題として取り組んでいきたいと思います。以上で発表を終わります。ご清聴ありがとうござい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説明時は、OVRとpairwiseが異なる問いへ答える点を明示する。解釈性を断定せず、既知の真値に対する特徴関連性が改善したと述べる。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OVO Logisticは失敗扱いではなく、正則化C、サンプル数、局所幅との相互作用を今後調べる。今回の結論は合成データとTop-1/Top-2に限定。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発表の流れです。まずXAIとLIMEの基本をおさらいしたあと、それを多クラス分類に広げたときに出てくる課題を確認します。そのうえで関連研究を2つ紹介し、今回の提案手法、実験と考察、最後にまとめと今後の展望、という順番で進めま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それでは、代表的なXAI手法の一つであるLIMEについて見ていきます。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ここまでは2値分類、つまりクラスが2つの場合の話でした。ここからは、クラスが3つ以上ある多クラス分類にLIMEを広げたときの話に入ります。</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この課題に対して、先行研究がどうアプローチしているかを2つ紹介します。</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つ目はCLIMAXという研究です。左側にある通り、CLIMAXはブラックボックス分類器を局所的な小さい分類モデルで説明する手法で、対象クラスの対数オッズを回帰するL-CLIMAXと、確率を交差エントロピーで回帰するCE-CLIMAXの2種類があります。下の式にある通り、CLIMAXの比較対象は「クラスA対それ以外全部」で、これはLIMEのone-vs-restと同じ構造です。右側の通り、本研究が活かすのは、確率をそのまま見るのではなく、対数比や交差エントロピーで近似するという当てはめ方です。ただし比較対象は「それ以外全部」ではなく、予測1位・2位という特定の2クラスに絞る、という点が今回の提案の違いになります。</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それでは、この2つの先行研究を踏まえた、今回の提案手法の話に入ります。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提案手法の全体像です。上の段が従来のOne-vs-Rest、下の段が今回の提案です。最初の2ステップ、説明対象を選ぶと近傍サンプルを作るのところは、実は共通のLIMEの仕組みをそのまま使っています。違いが出るのはその先です。One-vs-Restでは、クラスの数だけ各クラスの確率をそれぞれ回帰するので、クラスが増えるとその分だけモデルを作る回数も増えますし、できあがる説明もクラスの数だけバラバラにできます。一方、今回の提案では、まず予測の1位と2位のクラスだけを選び、その2クラスの確率比、あるいは対数比を1回だけ回帰します。特徴選択も1回で済み、最終的にできる説明は「AとBを分ける」という1つの説明だけです。つまり、クラスが増えても回帰する回数は変わらず、説明の数も常に1つ、というのが大きな違いで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それでは、実際にこの3つの方式を比較した実験の設定と結果を見ていきます。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最後に、これまでの結果を踏まえたまとめと、今後の展望をお話しします。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OV"/><Relationship Id="rId1" Type="http://schemas.microsoft.com/office/2007/relationships/media" Target="../media/media2.MOV"/><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OV"/><Relationship Id="rId1" Type="http://schemas.microsoft.com/office/2007/relationships/media" Target="../media/media5.MOV"/><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1.xml"/><Relationship Id="rId4" Type="http://schemas.openxmlformats.org/officeDocument/2006/relationships/image" Target="../media/image24.png"/><Relationship Id="rId5"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17A78FFF-9B69-4A91-AA42-579F155BBCE4}"/>
              </a:ext>
            </a:extLst>
          </p:cNvPr>
          <p:cNvSpPr>
            <a:spLocks noGrp="1"/>
          </p:cNvSpPr>
          <p:nvPr/>
        </p:nvSpPr>
        <p:spPr>
          <a:xfrm>
            <a:off x="0" y="0"/>
            <a:ext cx="171450" cy="6858000"/>
          </a:xfrm>
          <a:prstGeom prst="rect">
            <a:avLst/>
          </a:prstGeom>
          <a:solidFill>
            <a:srgbClr val="2563EB"/>
          </a:solidFill>
          <a:ln w="0">
            <a:solidFill>
              <a:srgbClr val="2563EB"/>
            </a:solidFill>
            <a:prstDash val="solid"/>
          </a:ln>
        </p:spPr>
        <p:txBody>
          <a:bodyPr/>
          <a:lstStyle/>
          <a:p>
            <a:endParaRPr lang="ja-JP" noProof="1"/>
          </a:p>
        </p:txBody>
      </p:sp>
      <p:sp>
        <p:nvSpPr>
          <p:cNvPr id="2" name="正方形/長方形 1">
            <a:extLst>
              <a:ext uri="{FF2B5EF4-FFF2-40B4-BE49-F238E27FC236}">
                <a16:creationId xmlns:a16="http://schemas.microsoft.com/office/drawing/2014/main" id="{F84B2074-DAA8-4AAB-BEB3-2641FD2B8DD5}"/>
              </a:ext>
            </a:extLst>
          </p:cNvPr>
          <p:cNvSpPr>
            <a:spLocks noGrp="1"/>
          </p:cNvSpPr>
          <p:nvPr/>
        </p:nvSpPr>
        <p:spPr>
          <a:xfrm>
            <a:off x="352985" y="215153"/>
            <a:ext cx="2857500" cy="323850"/>
          </a:xfrm>
          <a:prstGeom prst="rect">
            <a:avLst/>
          </a:prstGeom>
          <a:noFill/>
          <a:ln w="0">
            <a:noFill/>
            <a:prstDash val="solid"/>
          </a:ln>
        </p:spPr>
        <p:txBody>
          <a:bodyPr lIns="0" tIns="0" rIns="0" bIns="0" anchor="t">
            <a:noAutofit/>
          </a:bodyPr>
          <a:lstStyle/>
          <a:p>
            <a:pPr algn="l">
              <a:buNone/>
              <a:defRPr sz="1425" b="1">
                <a:solidFill>
                  <a:srgbClr val="2F6BDE"/>
                </a:solidFill>
                <a:latin typeface="Hiragino Sans"/>
                <a:ea typeface="Hiragino Sans"/>
                <a:cs typeface="Hiragino Sans"/>
              </a:defRPr>
            </a:pPr>
            <a:r>
              <a:rPr lang="ja-JP" altLang="en-US" sz="1425" b="1" noProof="1">
                <a:solidFill>
                  <a:srgbClr val="2F6BDE"/>
                </a:solidFill>
                <a:latin typeface="Hiragino Sans"/>
                <a:ea typeface="Hiragino Sans"/>
                <a:cs typeface="Hiragino Sans"/>
              </a:rPr>
              <a:t>齊藤研究室</a:t>
            </a:r>
            <a:r>
              <a:rPr lang="en-US" altLang="ja-JP" sz="1425" b="1" noProof="1">
                <a:solidFill>
                  <a:srgbClr val="2F6BDE"/>
                </a:solidFill>
                <a:latin typeface="Hiragino Sans"/>
                <a:ea typeface="Hiragino Sans"/>
                <a:cs typeface="Hiragino Sans"/>
              </a:rPr>
              <a:t> </a:t>
            </a:r>
            <a:r>
              <a:rPr lang="ja-JP" sz="1425" b="1" noProof="1">
                <a:solidFill>
                  <a:srgbClr val="2F6BDE"/>
                </a:solidFill>
                <a:latin typeface="Hiragino Sans"/>
                <a:ea typeface="Hiragino Sans"/>
                <a:cs typeface="Hiragino Sans"/>
              </a:rPr>
              <a:t>ゼミ中間発表</a:t>
            </a:r>
            <a:r>
              <a:rPr lang="en-US" altLang="ja-JP" sz="1425" b="1" noProof="1">
                <a:solidFill>
                  <a:srgbClr val="2F6BDE"/>
                </a:solidFill>
                <a:latin typeface="Hiragino Sans"/>
                <a:ea typeface="Hiragino Sans"/>
                <a:cs typeface="Hiragino Sans"/>
              </a:rPr>
              <a:t>2026①</a:t>
            </a:r>
            <a:endParaRPr lang="ja-JP" sz="1425" b="1" noProof="1">
              <a:solidFill>
                <a:srgbClr val="2F6BDE"/>
              </a:solidFill>
              <a:latin typeface="Hiragino Sans"/>
              <a:ea typeface="Hiragino Sans"/>
              <a:cs typeface="Hiragino Sans"/>
            </a:endParaRPr>
          </a:p>
        </p:txBody>
      </p:sp>
      <p:sp>
        <p:nvSpPr>
          <p:cNvPr id="3" name="cover-title">
            <a:extLst>
              <a:ext uri="{FF2B5EF4-FFF2-40B4-BE49-F238E27FC236}">
                <a16:creationId xmlns:a16="http://schemas.microsoft.com/office/drawing/2014/main" id="{2E43AB2B-2427-4746-ABA1-9F8EF1095148}"/>
              </a:ext>
            </a:extLst>
          </p:cNvPr>
          <p:cNvSpPr>
            <a:spLocks noGrp="1"/>
          </p:cNvSpPr>
          <p:nvPr/>
        </p:nvSpPr>
        <p:spPr>
          <a:xfrm>
            <a:off x="2029385" y="2571750"/>
            <a:ext cx="8853768" cy="1714500"/>
          </a:xfrm>
          <a:prstGeom prst="rect">
            <a:avLst/>
          </a:prstGeom>
          <a:noFill/>
          <a:ln w="0">
            <a:noFill/>
            <a:prstDash val="solid"/>
          </a:ln>
        </p:spPr>
        <p:txBody>
          <a:bodyPr lIns="0" tIns="0" rIns="0" bIns="0" anchor="t">
            <a:noAutofit/>
          </a:bodyPr>
          <a:lstStyle/>
          <a:p>
            <a:pPr algn="l">
              <a:lnSpc>
                <a:spcPct val="102000"/>
              </a:lnSpc>
              <a:buNone/>
              <a:defRPr sz="3750" b="1">
                <a:solidFill>
                  <a:srgbClr val="12233A"/>
                </a:solidFill>
                <a:latin typeface="Hiragino Sans"/>
                <a:ea typeface="Hiragino Sans"/>
                <a:cs typeface="Hiragino Sans"/>
              </a:defRPr>
            </a:pPr>
            <a:r>
              <a:rPr lang="ja-JP" sz="6000" b="1" noProof="1">
                <a:solidFill>
                  <a:srgbClr val="12233A"/>
                </a:solidFill>
                <a:latin typeface="Hiragino Sans"/>
                <a:ea typeface="Hiragino Sans"/>
                <a:cs typeface="Hiragino Sans"/>
              </a:rPr>
              <a:t>多クラス分類における</a:t>
            </a:r>
          </a:p>
          <a:p>
            <a:pPr algn="l">
              <a:lnSpc>
                <a:spcPct val="102000"/>
              </a:lnSpc>
              <a:buNone/>
              <a:defRPr sz="3750" b="1">
                <a:solidFill>
                  <a:srgbClr val="12233A"/>
                </a:solidFill>
                <a:latin typeface="Hiragino Sans"/>
                <a:ea typeface="Hiragino Sans"/>
                <a:cs typeface="Hiragino Sans"/>
              </a:defRPr>
            </a:pPr>
            <a:r>
              <a:rPr lang="ja-JP" sz="6000" b="1" noProof="1">
                <a:solidFill>
                  <a:srgbClr val="12233A"/>
                </a:solidFill>
                <a:latin typeface="Hiragino Sans"/>
                <a:ea typeface="Hiragino Sans"/>
                <a:cs typeface="Hiragino Sans"/>
              </a:rPr>
              <a:t>LIMEの説明方法と課題</a:t>
            </a:r>
          </a:p>
        </p:txBody>
      </p:sp>
      <p:cxnSp>
        <p:nvCxnSpPr>
          <p:cNvPr id="39" name="直線矢印コネクタ 16"/>
          <p:cNvCxnSpPr>
            <a:cxnSpLocks/>
          </p:cNvCxnSpPr>
          <p:nvPr/>
        </p:nvCxnSpPr>
        <p:spPr>
          <a:xfrm>
            <a:off x="685800" y="4476750"/>
            <a:ext cx="10708341" cy="0"/>
          </a:xfrm>
          <a:prstGeom prst="straightConnector1">
            <a:avLst/>
          </a:prstGeom>
          <a:ln w="19050">
            <a:solidFill>
              <a:srgbClr val="CBD5E1"/>
            </a:solidFill>
            <a:prstDash val="solid"/>
          </a:ln>
        </p:spPr>
      </p:cxnSp>
      <p:sp>
        <p:nvSpPr>
          <p:cNvPr id="6" name="正方形/長方形 5">
            <a:extLst>
              <a:ext uri="{FF2B5EF4-FFF2-40B4-BE49-F238E27FC236}">
                <a16:creationId xmlns:a16="http://schemas.microsoft.com/office/drawing/2014/main" id="{E06F0708-AD48-42F5-B4AE-2EE952E453FE}"/>
              </a:ext>
            </a:extLst>
          </p:cNvPr>
          <p:cNvSpPr>
            <a:spLocks noGrp="1"/>
          </p:cNvSpPr>
          <p:nvPr/>
        </p:nvSpPr>
        <p:spPr>
          <a:xfrm>
            <a:off x="4872317" y="4762500"/>
            <a:ext cx="3810000" cy="381000"/>
          </a:xfrm>
          <a:prstGeom prst="rect">
            <a:avLst/>
          </a:prstGeom>
          <a:noFill/>
          <a:ln w="0">
            <a:noFill/>
            <a:prstDash val="solid"/>
          </a:ln>
        </p:spPr>
        <p:txBody>
          <a:bodyPr lIns="0" tIns="0" rIns="0" bIns="0" anchor="t">
            <a:noAutofit/>
          </a:bodyPr>
          <a:lstStyle/>
          <a:p>
            <a:pPr algn="l">
              <a:buNone/>
              <a:defRPr sz="1350" b="1">
                <a:solidFill>
                  <a:srgbClr val="12233A"/>
                </a:solidFill>
                <a:latin typeface="Hiragino Sans"/>
                <a:ea typeface="Hiragino Sans"/>
                <a:cs typeface="Hiragino Sans"/>
              </a:defRPr>
            </a:pPr>
            <a:r>
              <a:rPr lang="ja-JP" sz="2000" b="1" noProof="1">
                <a:solidFill>
                  <a:srgbClr val="12233A"/>
                </a:solidFill>
                <a:latin typeface="Hiragino Sans"/>
                <a:ea typeface="Hiragino Sans"/>
                <a:cs typeface="Hiragino Sans"/>
              </a:rPr>
              <a:t>池亀 颯太　M1</a:t>
            </a:r>
          </a:p>
        </p:txBody>
      </p:sp>
      <p:sp>
        <p:nvSpPr>
          <p:cNvPr id="7" name="正方形/長方形 6">
            <a:extLst>
              <a:ext uri="{FF2B5EF4-FFF2-40B4-BE49-F238E27FC236}">
                <a16:creationId xmlns:a16="http://schemas.microsoft.com/office/drawing/2014/main" id="{5448BD7F-E594-4D25-AD2B-BAB2BB4E626A}"/>
              </a:ext>
            </a:extLst>
          </p:cNvPr>
          <p:cNvSpPr>
            <a:spLocks noGrp="1"/>
          </p:cNvSpPr>
          <p:nvPr/>
        </p:nvSpPr>
        <p:spPr>
          <a:xfrm>
            <a:off x="4872317" y="5219700"/>
            <a:ext cx="3810000" cy="304800"/>
          </a:xfrm>
          <a:prstGeom prst="rect">
            <a:avLst/>
          </a:prstGeom>
          <a:noFill/>
          <a:ln w="0">
            <a:noFill/>
            <a:prstDash val="solid"/>
          </a:ln>
        </p:spPr>
        <p:txBody>
          <a:bodyPr lIns="0" tIns="0" rIns="0" bIns="0" anchor="t">
            <a:noAutofit/>
          </a:bodyPr>
          <a:lstStyle/>
          <a:p>
            <a:pPr algn="l">
              <a:buNone/>
              <a:defRPr sz="1200" b="0">
                <a:solidFill>
                  <a:srgbClr val="667085"/>
                </a:solidFill>
                <a:latin typeface="Hiragino Sans"/>
                <a:ea typeface="Hiragino Sans"/>
                <a:cs typeface="Hiragino Sans"/>
              </a:defRPr>
            </a:pPr>
            <a:r>
              <a:rPr lang="ja-JP" sz="2000" b="0" noProof="1">
                <a:solidFill>
                  <a:srgbClr val="667085"/>
                </a:solidFill>
                <a:latin typeface="Hiragino Sans"/>
                <a:ea typeface="Hiragino Sans"/>
                <a:cs typeface="Hiragino Sans"/>
              </a:rPr>
              <a:t>2026年9月12日（土）</a:t>
            </a:r>
          </a:p>
        </p:txBody>
      </p:sp>
    </p:spTree>
    <p:extLst>
      <p:ext uri="{BB962C8B-B14F-4D97-AF65-F5344CB8AC3E}">
        <p14:creationId xmlns:p14="http://schemas.microsoft.com/office/powerpoint/2010/main" val="54447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EA98-C6C7-741E-DFF7-2B0866E018AF}"/>
            </a:ext>
          </a:extLst>
        </p:cNvPr>
        <p:cNvGrpSpPr/>
        <p:nvPr/>
      </p:nvGrpSpPr>
      <p:grpSpPr>
        <a:xfrm>
          <a:off x="0" y="0"/>
          <a:ext cx="0" cy="0"/>
          <a:chOff x="0" y="0"/>
          <a:chExt cx="0" cy="0"/>
        </a:xfrm>
      </p:grpSpPr>
      <p:sp>
        <p:nvSpPr>
          <p:cNvPr id="2" name="accent-bar">
            <a:extLst>
              <a:ext uri="{FF2B5EF4-FFF2-40B4-BE49-F238E27FC236}">
                <a16:creationId xmlns:a16="http://schemas.microsoft.com/office/drawing/2014/main" id="{9B4A03B4-23D8-AAFF-CACF-E45F1A1910C2}"/>
              </a:ext>
            </a:extLst>
          </p:cNvP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0"/>
          </a:p>
        </p:txBody>
      </p:sp>
      <p:sp>
        <p:nvSpPr>
          <p:cNvPr id="3" name="title">
            <a:extLst>
              <a:ext uri="{FF2B5EF4-FFF2-40B4-BE49-F238E27FC236}">
                <a16:creationId xmlns:a16="http://schemas.microsoft.com/office/drawing/2014/main" id="{285B07F7-3C25-029D-69FE-1DD34F5B8B62}"/>
              </a:ext>
            </a:extLst>
          </p:cNvPr>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目次</a:t>
            </a:r>
          </a:p>
        </p:txBody>
      </p:sp>
      <p:sp>
        <p:nvSpPr>
          <p:cNvPr id="6" name="toc-item-0">
            <a:extLst>
              <a:ext uri="{FF2B5EF4-FFF2-40B4-BE49-F238E27FC236}">
                <a16:creationId xmlns:a16="http://schemas.microsoft.com/office/drawing/2014/main" id="{951D46BD-9ADE-450B-9AFB-B7F44228516E}"/>
              </a:ext>
            </a:extLst>
          </p:cNvPr>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2200" b="1" noProof="0">
                <a:solidFill>
                  <a:schemeClr val="accent1"/>
                </a:solidFill>
                <a:latin typeface="Hiragino Sans"/>
                <a:ea typeface="Hiragino Sans"/>
                <a:cs typeface="Hiragino Sans"/>
              </a:rPr>
              <a:t>　　</a:t>
            </a:r>
            <a:r>
              <a:rPr lang="ja-JP" sz="2200" b="1" noProof="0">
                <a:solidFill>
                  <a:schemeClr val="accent1"/>
                </a:solidFill>
                <a:latin typeface="Hiragino Sans"/>
                <a:ea typeface="Hiragino Sans"/>
              </a:rPr>
              <a:t>1. XAI（説明可能なAI）</a:t>
            </a:r>
          </a:p>
        </p:txBody>
      </p:sp>
      <p:sp>
        <p:nvSpPr>
          <p:cNvPr id="7" name="toc-item-1">
            <a:extLst>
              <a:ext uri="{FF2B5EF4-FFF2-40B4-BE49-F238E27FC236}">
                <a16:creationId xmlns:a16="http://schemas.microsoft.com/office/drawing/2014/main" id="{D0622490-9C82-DEB2-BF92-B7533DE6F91E}"/>
              </a:ext>
            </a:extLst>
          </p:cNvPr>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lgn="l">
              <a:buNone/>
              <a:defRPr sz="2200" b="1">
                <a:solidFill>
                  <a:srgbClr val="156082"/>
                </a:solidFill>
                <a:latin typeface="Hiragino Sans"/>
                <a:ea typeface="Hiragino Sans"/>
                <a:cs typeface="Hiragino Sans"/>
              </a:defRPr>
            </a:pPr>
            <a:r>
              <a:rPr lang="ja-JP" sz="2200" b="1" noProof="0">
                <a:solidFill>
                  <a:schemeClr val="accent1"/>
                </a:solidFill>
                <a:latin typeface="Hiragino Sans"/>
                <a:ea typeface="Hiragino Sans"/>
                <a:cs typeface="Hiragino Sans"/>
              </a:rPr>
              <a:t>　　2. LIME</a:t>
            </a:r>
          </a:p>
        </p:txBody>
      </p:sp>
      <p:sp>
        <p:nvSpPr>
          <p:cNvPr id="8" name="toc-item-2">
            <a:extLst>
              <a:ext uri="{FF2B5EF4-FFF2-40B4-BE49-F238E27FC236}">
                <a16:creationId xmlns:a16="http://schemas.microsoft.com/office/drawing/2014/main" id="{BF6EB4A9-85BE-DA7F-1A97-D3174D55FC4C}"/>
              </a:ext>
            </a:extLst>
          </p:cNvPr>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2200" b="1" noProof="0">
                <a:solidFill>
                  <a:schemeClr val="accent1"/>
                </a:solidFill>
                <a:latin typeface="Hiragino Sans"/>
                <a:ea typeface="Hiragino Sans"/>
                <a:cs typeface="Hiragino Sans"/>
              </a:rPr>
              <a:t>　　3. </a:t>
            </a:r>
            <a:r>
              <a:rPr lang="ja-JP" sz="2200" b="1" noProof="0">
                <a:solidFill>
                  <a:schemeClr val="accent1"/>
                </a:solidFill>
                <a:latin typeface="Hiragino Sans"/>
                <a:ea typeface="Hiragino Sans"/>
              </a:rPr>
              <a:t>多クラスに応用した</a:t>
            </a:r>
            <a:r>
              <a:rPr lang="ja-JP" sz="2200" b="1" noProof="0">
                <a:solidFill>
                  <a:schemeClr val="accent1"/>
                </a:solidFill>
                <a:latin typeface="Hiragino Sans"/>
                <a:ea typeface="Hiragino Sans"/>
                <a:cs typeface="Hiragino Sans"/>
              </a:rPr>
              <a:t>LIME</a:t>
            </a:r>
          </a:p>
        </p:txBody>
      </p:sp>
      <p:sp>
        <p:nvSpPr>
          <p:cNvPr id="9" name="toc-item-3">
            <a:extLst>
              <a:ext uri="{FF2B5EF4-FFF2-40B4-BE49-F238E27FC236}">
                <a16:creationId xmlns:a16="http://schemas.microsoft.com/office/drawing/2014/main" id="{B50CCC8A-850C-CEC6-AA95-3B615F18065A}"/>
              </a:ext>
            </a:extLst>
          </p:cNvPr>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2200" b="1" noProof="0">
                <a:solidFill>
                  <a:schemeClr val="accent1"/>
                </a:solidFill>
                <a:latin typeface="Hiragino Sans"/>
                <a:ea typeface="Hiragino Sans"/>
                <a:cs typeface="Hiragino Sans"/>
              </a:rPr>
              <a:t>　　4. 関連研究</a:t>
            </a:r>
          </a:p>
        </p:txBody>
      </p:sp>
      <p:sp>
        <p:nvSpPr>
          <p:cNvPr id="10" name="toc-item-4">
            <a:extLst>
              <a:ext uri="{FF2B5EF4-FFF2-40B4-BE49-F238E27FC236}">
                <a16:creationId xmlns:a16="http://schemas.microsoft.com/office/drawing/2014/main" id="{FE0D3D48-34A3-0800-0F07-CB24834FE6D0}"/>
              </a:ext>
            </a:extLst>
          </p:cNvPr>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2200" b="1" noProof="0">
                <a:solidFill>
                  <a:schemeClr val="accent1"/>
                </a:solidFill>
                <a:latin typeface="Hiragino Sans"/>
                <a:ea typeface="Hiragino Sans"/>
                <a:cs typeface="Hiragino Sans"/>
              </a:rPr>
              <a:t>　　5. 提案手法</a:t>
            </a:r>
          </a:p>
        </p:txBody>
      </p:sp>
      <p:sp>
        <p:nvSpPr>
          <p:cNvPr id="11" name="toc-item-5">
            <a:extLst>
              <a:ext uri="{FF2B5EF4-FFF2-40B4-BE49-F238E27FC236}">
                <a16:creationId xmlns:a16="http://schemas.microsoft.com/office/drawing/2014/main" id="{63095010-51CD-E57F-B80A-ECC0633461B3}"/>
              </a:ext>
            </a:extLst>
          </p:cNvPr>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2200" b="1" noProof="0">
                <a:solidFill>
                  <a:schemeClr val="accent1"/>
                </a:solidFill>
                <a:latin typeface="Hiragino Sans"/>
                <a:ea typeface="Hiragino Sans"/>
                <a:cs typeface="Hiragino Sans"/>
              </a:rPr>
              <a:t>　　6. 実験と考察</a:t>
            </a:r>
          </a:p>
        </p:txBody>
      </p:sp>
      <p:sp>
        <p:nvSpPr>
          <p:cNvPr id="12" name="toc-item-6">
            <a:extLst>
              <a:ext uri="{FF2B5EF4-FFF2-40B4-BE49-F238E27FC236}">
                <a16:creationId xmlns:a16="http://schemas.microsoft.com/office/drawing/2014/main" id="{D4A4A180-FEE3-C75E-8E43-83642BF32E47}"/>
              </a:ext>
            </a:extLst>
          </p:cNvPr>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2200" b="1" noProof="0">
                <a:solidFill>
                  <a:schemeClr val="accent1"/>
                </a:solidFill>
                <a:latin typeface="Hiragino Sans"/>
                <a:ea typeface="Hiragino Sans"/>
                <a:cs typeface="Hiragino Sans"/>
              </a:rPr>
              <a:t>　　7. まとめと今後の展望</a:t>
            </a:r>
          </a:p>
        </p:txBody>
      </p:sp>
    </p:spTree>
    <p:extLst>
      <p:ext uri="{BB962C8B-B14F-4D97-AF65-F5344CB8AC3E}">
        <p14:creationId xmlns:p14="http://schemas.microsoft.com/office/powerpoint/2010/main" val="549036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2EC6FA3A-EF6E-4DD5-9F3D-8DE9357801F0}"/>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2-title">
            <a:extLst>
              <a:ext uri="{FF2B5EF4-FFF2-40B4-BE49-F238E27FC236}">
                <a16:creationId xmlns:a16="http://schemas.microsoft.com/office/drawing/2014/main" id="{C7DA64B8-E76C-44F5-86D4-3ED7FAD1A7A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複雑なAIモデルの課題</a:t>
            </a:r>
          </a:p>
        </p:txBody>
      </p:sp>
      <p:sp>
        <p:nvSpPr>
          <p:cNvPr id="5" name="右矢印 4">
            <a:extLst>
              <a:ext uri="{FF2B5EF4-FFF2-40B4-BE49-F238E27FC236}">
                <a16:creationId xmlns:a16="http://schemas.microsoft.com/office/drawing/2014/main" id="{CF7D41FF-F54C-48C5-8774-3500F56DD139}"/>
              </a:ext>
            </a:extLst>
          </p:cNvPr>
          <p:cNvSpPr>
            <a:spLocks noGrp="1"/>
          </p:cNvSpPr>
          <p:nvPr/>
        </p:nvSpPr>
        <p:spPr>
          <a:xfrm>
            <a:off x="2968095" y="2457991"/>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6" name="右矢印 5">
            <a:extLst>
              <a:ext uri="{FF2B5EF4-FFF2-40B4-BE49-F238E27FC236}">
                <a16:creationId xmlns:a16="http://schemas.microsoft.com/office/drawing/2014/main" id="{AE686193-47DB-4E76-AAF1-B08B45F64CF7}"/>
              </a:ext>
            </a:extLst>
          </p:cNvPr>
          <p:cNvSpPr>
            <a:spLocks noGrp="1"/>
          </p:cNvSpPr>
          <p:nvPr/>
        </p:nvSpPr>
        <p:spPr>
          <a:xfrm>
            <a:off x="5730345" y="2457991"/>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9" name="正方形/長方形 8">
            <a:extLst>
              <a:ext uri="{FF2B5EF4-FFF2-40B4-BE49-F238E27FC236}">
                <a16:creationId xmlns:a16="http://schemas.microsoft.com/office/drawing/2014/main" id="{B497D0B8-981D-4543-BB62-3F998F6DBDE6}"/>
              </a:ext>
            </a:extLst>
          </p:cNvPr>
          <p:cNvSpPr>
            <a:spLocks noGrp="1"/>
          </p:cNvSpPr>
          <p:nvPr/>
        </p:nvSpPr>
        <p:spPr>
          <a:xfrm>
            <a:off x="720195" y="1905541"/>
            <a:ext cx="1809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Hiragino Sans"/>
                <a:ea typeface="Hiragino Sans"/>
                <a:cs typeface="Hiragino Sans"/>
              </a:defRPr>
            </a:pPr>
            <a:r>
              <a:rPr lang="ja-JP" sz="1800" b="1" noProof="1">
                <a:solidFill>
                  <a:srgbClr val="111827"/>
                </a:solidFill>
                <a:latin typeface="Hiragino Sans"/>
                <a:ea typeface="Hiragino Sans"/>
                <a:cs typeface="Hiragino Sans"/>
              </a:rPr>
              <a:t>乗客データ</a:t>
            </a:r>
          </a:p>
        </p:txBody>
      </p:sp>
      <p:cxnSp>
        <p:nvCxnSpPr>
          <p:cNvPr id="64" name="直線矢印コネクタ 43"/>
          <p:cNvCxnSpPr/>
          <p:nvPr/>
        </p:nvCxnSpPr>
        <p:spPr>
          <a:xfrm>
            <a:off x="720195" y="2181206"/>
            <a:ext cx="1714500" cy="0"/>
          </a:xfrm>
          <a:prstGeom prst="straightConnector1">
            <a:avLst/>
          </a:prstGeom>
          <a:ln w="9525">
            <a:solidFill>
              <a:srgbClr val="CBD5E1"/>
            </a:solidFill>
            <a:prstDash val="solid"/>
          </a:ln>
        </p:spPr>
      </p:cxnSp>
      <p:sp>
        <p:nvSpPr>
          <p:cNvPr id="11" name="正方形/長方形 10">
            <a:extLst>
              <a:ext uri="{FF2B5EF4-FFF2-40B4-BE49-F238E27FC236}">
                <a16:creationId xmlns:a16="http://schemas.microsoft.com/office/drawing/2014/main" id="{44B44796-4A5A-41BF-88C4-D8E9392134C4}"/>
              </a:ext>
            </a:extLst>
          </p:cNvPr>
          <p:cNvSpPr>
            <a:spLocks noGrp="1"/>
          </p:cNvSpPr>
          <p:nvPr/>
        </p:nvSpPr>
        <p:spPr>
          <a:xfrm>
            <a:off x="720195" y="2238917"/>
            <a:ext cx="1809750" cy="1238250"/>
          </a:xfrm>
          <a:prstGeom prst="rect">
            <a:avLst/>
          </a:prstGeom>
          <a:noFill/>
          <a:ln w="0">
            <a:noFill/>
            <a:prstDash val="solid"/>
          </a:ln>
        </p:spPr>
        <p:txBody>
          <a:bodyPr lIns="0" tIns="0" rIns="0" bIns="0" anchor="t">
            <a:noAutofit/>
          </a:bodyPr>
          <a:lstStyle/>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年齢　　　 22</a:t>
            </a:r>
            <a:endParaRPr lang="ja-JP" sz="1575" noProof="1">
              <a:solidFill>
                <a:srgbClr val="111827"/>
              </a:solidFill>
              <a:latin typeface="Hiragino Sans"/>
              <a:ea typeface="Hiragino Sans"/>
              <a:cs typeface="Hiragino Sans"/>
            </a:endParaRP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名前</a:t>
            </a:r>
            <a:r>
              <a:rPr lang="ja-JP" sz="1575" noProof="1">
                <a:solidFill>
                  <a:srgbClr val="111827"/>
                </a:solidFill>
                <a:latin typeface="Hiragino Sans"/>
                <a:ea typeface="Hiragino Sans"/>
                <a:cs typeface="Hiragino Sans"/>
              </a:rPr>
              <a:t>　　　 Jane</a:t>
            </a:r>
            <a:endParaRPr lang="ja-JP" sz="1575" b="0" noProof="1">
              <a:solidFill>
                <a:srgbClr val="111827"/>
              </a:solidFill>
              <a:latin typeface="Hiragino Sans"/>
              <a:ea typeface="Hiragino Sans"/>
              <a:cs typeface="Hiragino Sans"/>
            </a:endParaRP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性別　　　 女性</a:t>
            </a: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客室等級　 1等</a:t>
            </a: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運賃　　　 71</a:t>
            </a:r>
          </a:p>
        </p:txBody>
      </p:sp>
      <p:sp>
        <p:nvSpPr>
          <p:cNvPr id="13" name="正方形/長方形 12">
            <a:extLst>
              <a:ext uri="{FF2B5EF4-FFF2-40B4-BE49-F238E27FC236}">
                <a16:creationId xmlns:a16="http://schemas.microsoft.com/office/drawing/2014/main" id="{86FE31E9-A27A-4303-A695-EBD1BE89B854}"/>
              </a:ext>
            </a:extLst>
          </p:cNvPr>
          <p:cNvSpPr>
            <a:spLocks noGrp="1"/>
          </p:cNvSpPr>
          <p:nvPr/>
        </p:nvSpPr>
        <p:spPr>
          <a:xfrm>
            <a:off x="3634845" y="1953166"/>
            <a:ext cx="2000250" cy="1333500"/>
          </a:xfrm>
          <a:prstGeom prst="rect">
            <a:avLst/>
          </a:prstGeom>
          <a:solidFill>
            <a:srgbClr val="111827"/>
          </a:solidFill>
          <a:ln w="0">
            <a:solidFill>
              <a:srgbClr val="111827"/>
            </a:solidFill>
            <a:prstDash val="solid"/>
          </a:ln>
        </p:spPr>
        <p:txBody>
          <a:bodyPr/>
          <a:lstStyle/>
          <a:p>
            <a:endParaRPr lang="ja-JP" noProof="1"/>
          </a:p>
        </p:txBody>
      </p:sp>
      <p:sp>
        <p:nvSpPr>
          <p:cNvPr id="14" name="正方形/長方形 13">
            <a:extLst>
              <a:ext uri="{FF2B5EF4-FFF2-40B4-BE49-F238E27FC236}">
                <a16:creationId xmlns:a16="http://schemas.microsoft.com/office/drawing/2014/main" id="{5AC9DA3E-7593-4816-9049-050F7332A8C4}"/>
              </a:ext>
            </a:extLst>
          </p:cNvPr>
          <p:cNvSpPr>
            <a:spLocks noGrp="1"/>
          </p:cNvSpPr>
          <p:nvPr/>
        </p:nvSpPr>
        <p:spPr>
          <a:xfrm>
            <a:off x="3634845" y="2210341"/>
            <a:ext cx="2000250" cy="838200"/>
          </a:xfrm>
          <a:prstGeom prst="rect">
            <a:avLst/>
          </a:prstGeom>
          <a:noFill/>
          <a:ln w="0">
            <a:noFill/>
            <a:prstDash val="solid"/>
          </a:ln>
        </p:spPr>
        <p:txBody>
          <a:bodyPr lIns="0" tIns="0" rIns="0" bIns="0" anchor="ctr">
            <a:noAutofit/>
          </a:bodyPr>
          <a:lstStyle/>
          <a:p>
            <a:pPr algn="ctr">
              <a:buNone/>
              <a:defRPr sz="2250" b="1">
                <a:solidFill>
                  <a:srgbClr val="FFFFFF"/>
                </a:solidFill>
                <a:latin typeface="Hiragino Sans"/>
                <a:ea typeface="Hiragino Sans"/>
                <a:cs typeface="Hiragino Sans"/>
              </a:defRPr>
            </a:pPr>
            <a:r>
              <a:rPr lang="ja-JP" sz="2250" b="1" noProof="1">
                <a:solidFill>
                  <a:srgbClr val="FFFFFF"/>
                </a:solidFill>
                <a:latin typeface="Hiragino Sans"/>
                <a:ea typeface="Hiragino Sans"/>
                <a:cs typeface="Hiragino Sans"/>
              </a:rPr>
              <a:t>BLACK</a:t>
            </a:r>
          </a:p>
          <a:p>
            <a:pPr algn="ctr">
              <a:buNone/>
              <a:defRPr sz="2250" b="1">
                <a:solidFill>
                  <a:srgbClr val="FFFFFF"/>
                </a:solidFill>
                <a:latin typeface="Hiragino Sans"/>
                <a:ea typeface="Hiragino Sans"/>
                <a:cs typeface="Hiragino Sans"/>
              </a:defRPr>
            </a:pPr>
            <a:r>
              <a:rPr lang="ja-JP" sz="2250" b="1" noProof="1">
                <a:solidFill>
                  <a:srgbClr val="FFFFFF"/>
                </a:solidFill>
                <a:latin typeface="Hiragino Sans"/>
                <a:ea typeface="Hiragino Sans"/>
                <a:cs typeface="Hiragino Sans"/>
              </a:rPr>
              <a:t>BOX</a:t>
            </a:r>
          </a:p>
        </p:txBody>
      </p:sp>
      <p:sp>
        <p:nvSpPr>
          <p:cNvPr id="16" name="正方形/長方形 15">
            <a:extLst>
              <a:ext uri="{FF2B5EF4-FFF2-40B4-BE49-F238E27FC236}">
                <a16:creationId xmlns:a16="http://schemas.microsoft.com/office/drawing/2014/main" id="{3049682F-0280-4316-BDBB-8BDF1272EFE5}"/>
              </a:ext>
            </a:extLst>
          </p:cNvPr>
          <p:cNvSpPr>
            <a:spLocks noGrp="1"/>
          </p:cNvSpPr>
          <p:nvPr/>
        </p:nvSpPr>
        <p:spPr>
          <a:xfrm>
            <a:off x="6625695" y="1981741"/>
            <a:ext cx="1238250" cy="285750"/>
          </a:xfrm>
          <a:prstGeom prst="rect">
            <a:avLst/>
          </a:prstGeom>
          <a:noFill/>
          <a:ln w="0">
            <a:noFill/>
            <a:prstDash val="solid"/>
          </a:ln>
        </p:spPr>
        <p:txBody>
          <a:bodyPr lIns="0" tIns="0" rIns="0" bIns="0" anchor="t">
            <a:noAutofit/>
          </a:bodyPr>
          <a:lstStyle/>
          <a:p>
            <a:pPr algn="ctr">
              <a:buNone/>
              <a:defRPr sz="1650" b="1">
                <a:solidFill>
                  <a:srgbClr val="2563EB"/>
                </a:solidFill>
                <a:latin typeface="Hiragino Sans"/>
                <a:ea typeface="Hiragino Sans"/>
                <a:cs typeface="Hiragino Sans"/>
              </a:defRPr>
            </a:pPr>
            <a:r>
              <a:rPr lang="ja-JP" sz="1650" b="1" noProof="1">
                <a:solidFill>
                  <a:srgbClr val="2563EB"/>
                </a:solidFill>
                <a:latin typeface="Hiragino Sans"/>
                <a:ea typeface="Hiragino Sans"/>
                <a:cs typeface="Hiragino Sans"/>
              </a:rPr>
              <a:t>予測</a:t>
            </a:r>
          </a:p>
        </p:txBody>
      </p:sp>
      <p:sp>
        <p:nvSpPr>
          <p:cNvPr id="17" name="正方形/長方形 16">
            <a:extLst>
              <a:ext uri="{FF2B5EF4-FFF2-40B4-BE49-F238E27FC236}">
                <a16:creationId xmlns:a16="http://schemas.microsoft.com/office/drawing/2014/main" id="{D8C1BE27-8892-4CD9-8EFA-DFB9BB0FD15F}"/>
              </a:ext>
            </a:extLst>
          </p:cNvPr>
          <p:cNvSpPr>
            <a:spLocks noGrp="1"/>
          </p:cNvSpPr>
          <p:nvPr/>
        </p:nvSpPr>
        <p:spPr>
          <a:xfrm>
            <a:off x="6625695" y="2419891"/>
            <a:ext cx="1238250" cy="266700"/>
          </a:xfrm>
          <a:prstGeom prst="rect">
            <a:avLst/>
          </a:prstGeom>
          <a:noFill/>
          <a:ln w="0">
            <a:noFill/>
            <a:prstDash val="solid"/>
          </a:ln>
        </p:spPr>
        <p:txBody>
          <a:bodyPr lIns="0" tIns="0" rIns="0" bIns="0" anchor="t">
            <a:noAutofit/>
          </a:bodyPr>
          <a:lstStyle/>
          <a:p>
            <a:pPr algn="ctr">
              <a:buNone/>
              <a:defRPr sz="1500" b="0">
                <a:solidFill>
                  <a:srgbClr val="111827"/>
                </a:solidFill>
                <a:latin typeface="Hiragino Sans"/>
                <a:ea typeface="Hiragino Sans"/>
                <a:cs typeface="Hiragino Sans"/>
              </a:defRPr>
            </a:pPr>
            <a:r>
              <a:rPr lang="ja-JP" sz="1500" b="0" noProof="1">
                <a:solidFill>
                  <a:srgbClr val="111827"/>
                </a:solidFill>
                <a:latin typeface="Hiragino Sans"/>
                <a:ea typeface="Hiragino Sans"/>
                <a:cs typeface="Hiragino Sans"/>
              </a:rPr>
              <a:t>生存確率</a:t>
            </a:r>
          </a:p>
        </p:txBody>
      </p:sp>
      <p:sp>
        <p:nvSpPr>
          <p:cNvPr id="18" name="正方形/長方形 17">
            <a:extLst>
              <a:ext uri="{FF2B5EF4-FFF2-40B4-BE49-F238E27FC236}">
                <a16:creationId xmlns:a16="http://schemas.microsoft.com/office/drawing/2014/main" id="{46A41101-F07F-4960-89B3-8AF86D00DFB1}"/>
              </a:ext>
            </a:extLst>
          </p:cNvPr>
          <p:cNvSpPr>
            <a:spLocks noGrp="1"/>
          </p:cNvSpPr>
          <p:nvPr/>
        </p:nvSpPr>
        <p:spPr>
          <a:xfrm>
            <a:off x="6625695" y="2715166"/>
            <a:ext cx="1238250" cy="457200"/>
          </a:xfrm>
          <a:prstGeom prst="rect">
            <a:avLst/>
          </a:prstGeom>
          <a:noFill/>
          <a:ln w="0">
            <a:noFill/>
            <a:prstDash val="solid"/>
          </a:ln>
        </p:spPr>
        <p:txBody>
          <a:bodyPr lIns="0" tIns="0" rIns="0" bIns="0" anchor="t">
            <a:noAutofit/>
          </a:bodyPr>
          <a:lstStyle/>
          <a:p>
            <a:pPr algn="ctr">
              <a:buNone/>
              <a:defRPr sz="2850" b="1">
                <a:solidFill>
                  <a:srgbClr val="2563EB"/>
                </a:solidFill>
                <a:latin typeface="Hiragino Sans"/>
                <a:ea typeface="Hiragino Sans"/>
                <a:cs typeface="Hiragino Sans"/>
              </a:defRPr>
            </a:pPr>
            <a:r>
              <a:rPr lang="ja-JP" sz="2850" b="1" noProof="1">
                <a:solidFill>
                  <a:srgbClr val="2563EB"/>
                </a:solidFill>
                <a:latin typeface="Hiragino Sans"/>
                <a:ea typeface="Hiragino Sans"/>
                <a:cs typeface="Hiragino Sans"/>
              </a:rPr>
              <a:t>0.78</a:t>
            </a:r>
          </a:p>
        </p:txBody>
      </p:sp>
      <p:pic>
        <p:nvPicPr>
          <p:cNvPr id="43" name="図 42">
            <a:extLst>
              <a:ext uri="{FF2B5EF4-FFF2-40B4-BE49-F238E27FC236}">
                <a16:creationId xmlns:a16="http://schemas.microsoft.com/office/drawing/2014/main" id="{4BC52433-BA3C-E782-7669-CE110681557F}"/>
              </a:ext>
            </a:extLst>
          </p:cNvPr>
          <p:cNvPicPr>
            <a:picLocks noChangeAspect="1"/>
          </p:cNvPicPr>
          <p:nvPr/>
        </p:nvPicPr>
        <p:blipFill>
          <a:blip r:embed="rId3"/>
          <a:stretch>
            <a:fillRect/>
          </a:stretch>
        </p:blipFill>
        <p:spPr>
          <a:xfrm>
            <a:off x="681566" y="4431101"/>
            <a:ext cx="2059225" cy="1893381"/>
          </a:xfrm>
          <a:prstGeom prst="rect">
            <a:avLst/>
          </a:prstGeom>
        </p:spPr>
      </p:pic>
      <p:pic>
        <p:nvPicPr>
          <p:cNvPr id="44" name="図 43">
            <a:extLst>
              <a:ext uri="{FF2B5EF4-FFF2-40B4-BE49-F238E27FC236}">
                <a16:creationId xmlns:a16="http://schemas.microsoft.com/office/drawing/2014/main" id="{1302AFA1-3830-F9E1-C37C-97AD857CF7BB}"/>
              </a:ext>
            </a:extLst>
          </p:cNvPr>
          <p:cNvPicPr>
            <a:picLocks noChangeAspect="1"/>
          </p:cNvPicPr>
          <p:nvPr/>
        </p:nvPicPr>
        <p:blipFill>
          <a:blip r:embed="rId4"/>
          <a:stretch>
            <a:fillRect/>
          </a:stretch>
        </p:blipFill>
        <p:spPr>
          <a:xfrm>
            <a:off x="5656442" y="4338502"/>
            <a:ext cx="2192499" cy="2015922"/>
          </a:xfrm>
          <a:prstGeom prst="rect">
            <a:avLst/>
          </a:prstGeom>
        </p:spPr>
      </p:pic>
      <p:sp>
        <p:nvSpPr>
          <p:cNvPr id="49" name="右矢印 48">
            <a:extLst>
              <a:ext uri="{FF2B5EF4-FFF2-40B4-BE49-F238E27FC236}">
                <a16:creationId xmlns:a16="http://schemas.microsoft.com/office/drawing/2014/main" id="{152AA240-681E-4078-DBDE-A22E19AEFB48}"/>
              </a:ext>
            </a:extLst>
          </p:cNvPr>
          <p:cNvSpPr>
            <a:spLocks noGrp="1"/>
          </p:cNvSpPr>
          <p:nvPr/>
        </p:nvSpPr>
        <p:spPr>
          <a:xfrm>
            <a:off x="2828756" y="4928084"/>
            <a:ext cx="522590" cy="261295"/>
          </a:xfrm>
          <a:prstGeom prst="rightArrow">
            <a:avLst/>
          </a:prstGeom>
          <a:solidFill>
            <a:srgbClr val="2563EB"/>
          </a:solidFill>
          <a:ln w="0">
            <a:solidFill>
              <a:srgbClr val="2563EB"/>
            </a:solidFill>
            <a:prstDash val="solid"/>
          </a:ln>
        </p:spPr>
        <p:txBody>
          <a:bodyPr/>
          <a:lstStyle/>
          <a:p>
            <a:endParaRPr lang="ja-JP" noProof="1"/>
          </a:p>
        </p:txBody>
      </p:sp>
      <p:sp>
        <p:nvSpPr>
          <p:cNvPr id="50" name="右矢印 49">
            <a:extLst>
              <a:ext uri="{FF2B5EF4-FFF2-40B4-BE49-F238E27FC236}">
                <a16:creationId xmlns:a16="http://schemas.microsoft.com/office/drawing/2014/main" id="{752375DB-29FA-44B2-AAE3-E73128F939E8}"/>
              </a:ext>
            </a:extLst>
          </p:cNvPr>
          <p:cNvSpPr>
            <a:spLocks noGrp="1"/>
          </p:cNvSpPr>
          <p:nvPr/>
        </p:nvSpPr>
        <p:spPr>
          <a:xfrm>
            <a:off x="5328537" y="4928084"/>
            <a:ext cx="522590" cy="261295"/>
          </a:xfrm>
          <a:prstGeom prst="rightArrow">
            <a:avLst/>
          </a:prstGeom>
          <a:solidFill>
            <a:srgbClr val="2563EB"/>
          </a:solidFill>
          <a:ln w="0">
            <a:solidFill>
              <a:srgbClr val="2563EB"/>
            </a:solidFill>
            <a:prstDash val="solid"/>
          </a:ln>
        </p:spPr>
        <p:txBody>
          <a:bodyPr/>
          <a:lstStyle/>
          <a:p>
            <a:endParaRPr lang="ja-JP" noProof="1"/>
          </a:p>
        </p:txBody>
      </p:sp>
      <p:sp>
        <p:nvSpPr>
          <p:cNvPr id="51" name="正方形/長方形 50">
            <a:extLst>
              <a:ext uri="{FF2B5EF4-FFF2-40B4-BE49-F238E27FC236}">
                <a16:creationId xmlns:a16="http://schemas.microsoft.com/office/drawing/2014/main" id="{C1D923FB-B379-B4A6-472E-2DA5AF5BFC71}"/>
              </a:ext>
            </a:extLst>
          </p:cNvPr>
          <p:cNvSpPr>
            <a:spLocks noGrp="1"/>
          </p:cNvSpPr>
          <p:nvPr/>
        </p:nvSpPr>
        <p:spPr>
          <a:xfrm>
            <a:off x="3495506" y="4618285"/>
            <a:ext cx="1613879" cy="1075919"/>
          </a:xfrm>
          <a:prstGeom prst="rect">
            <a:avLst/>
          </a:prstGeom>
          <a:solidFill>
            <a:srgbClr val="111827"/>
          </a:solidFill>
          <a:ln w="0">
            <a:solidFill>
              <a:srgbClr val="111827"/>
            </a:solidFill>
            <a:prstDash val="solid"/>
          </a:ln>
        </p:spPr>
        <p:txBody>
          <a:bodyPr/>
          <a:lstStyle/>
          <a:p>
            <a:endParaRPr lang="ja-JP" noProof="1"/>
          </a:p>
        </p:txBody>
      </p:sp>
      <p:sp>
        <p:nvSpPr>
          <p:cNvPr id="52" name="正方形/長方形 51">
            <a:extLst>
              <a:ext uri="{FF2B5EF4-FFF2-40B4-BE49-F238E27FC236}">
                <a16:creationId xmlns:a16="http://schemas.microsoft.com/office/drawing/2014/main" id="{86D43C8A-63E2-878E-34FE-D3AB59B87FDD}"/>
              </a:ext>
            </a:extLst>
          </p:cNvPr>
          <p:cNvSpPr>
            <a:spLocks noGrp="1"/>
          </p:cNvSpPr>
          <p:nvPr/>
        </p:nvSpPr>
        <p:spPr>
          <a:xfrm>
            <a:off x="3495506" y="4851522"/>
            <a:ext cx="1613879" cy="676292"/>
          </a:xfrm>
          <a:prstGeom prst="rect">
            <a:avLst/>
          </a:prstGeom>
          <a:noFill/>
          <a:ln w="0">
            <a:noFill/>
            <a:prstDash val="solid"/>
          </a:ln>
        </p:spPr>
        <p:txBody>
          <a:bodyPr lIns="0" tIns="0" rIns="0" bIns="0" anchor="ctr">
            <a:noAutofit/>
          </a:bodyPr>
          <a:lstStyle/>
          <a:p>
            <a:pPr algn="ctr">
              <a:buNone/>
              <a:defRPr sz="2250" b="1">
                <a:solidFill>
                  <a:srgbClr val="FFFFFF"/>
                </a:solidFill>
                <a:latin typeface="Hiragino Sans"/>
                <a:ea typeface="Hiragino Sans"/>
                <a:cs typeface="Hiragino Sans"/>
              </a:defRPr>
            </a:pPr>
            <a:r>
              <a:rPr lang="ja-JP" sz="2250" b="1" noProof="1">
                <a:solidFill>
                  <a:srgbClr val="FFFFFF"/>
                </a:solidFill>
                <a:latin typeface="Hiragino Sans"/>
                <a:ea typeface="Hiragino Sans"/>
                <a:cs typeface="Hiragino Sans"/>
              </a:rPr>
              <a:t>機械学習</a:t>
            </a:r>
            <a:br>
              <a:rPr lang="en-US" altLang="ja-JP" sz="2250" b="1" noProof="1">
                <a:solidFill>
                  <a:srgbClr val="FFFFFF"/>
                </a:solidFill>
                <a:latin typeface="Hiragino Sans"/>
                <a:ea typeface="Hiragino Sans"/>
                <a:cs typeface="Hiragino Sans"/>
              </a:rPr>
            </a:br>
            <a:r>
              <a:rPr lang="ja-JP" sz="2250" b="1" noProof="1">
                <a:solidFill>
                  <a:srgbClr val="FFFFFF"/>
                </a:solidFill>
                <a:latin typeface="Hiragino Sans"/>
                <a:ea typeface="Hiragino Sans"/>
                <a:cs typeface="Hiragino Sans"/>
              </a:rPr>
              <a:t>モデル</a:t>
            </a:r>
          </a:p>
        </p:txBody>
      </p:sp>
      <p:sp>
        <p:nvSpPr>
          <p:cNvPr id="53" name="テキスト ボックス 52">
            <a:extLst>
              <a:ext uri="{FF2B5EF4-FFF2-40B4-BE49-F238E27FC236}">
                <a16:creationId xmlns:a16="http://schemas.microsoft.com/office/drawing/2014/main" id="{E58D4C17-7C06-0105-45EA-DD32D8F9E22B}"/>
              </a:ext>
            </a:extLst>
          </p:cNvPr>
          <p:cNvSpPr txBox="1"/>
          <p:nvPr/>
        </p:nvSpPr>
        <p:spPr>
          <a:xfrm>
            <a:off x="8201263" y="4964512"/>
            <a:ext cx="3990737" cy="923330"/>
          </a:xfrm>
          <a:prstGeom prst="rect">
            <a:avLst/>
          </a:prstGeom>
          <a:noFill/>
        </p:spPr>
        <p:txBody>
          <a:bodyPr wrap="square" rtlCol="0">
            <a:spAutoFit/>
          </a:bodyPr>
          <a:lstStyle/>
          <a:p>
            <a:r>
              <a:rPr lang="ja-JP" noProof="1"/>
              <a:t>ニューラルネットワークやランダムフォレストは</a:t>
            </a:r>
            <a:r>
              <a:rPr lang="ja-JP" altLang="en-US" noProof="1"/>
              <a:t>，</a:t>
            </a:r>
            <a:br>
              <a:rPr lang="ja-JP" noProof="1"/>
            </a:br>
            <a:r>
              <a:rPr lang="ja-JP" noProof="1"/>
              <a:t>どう予測したかの説明がほぼ不可能</a:t>
            </a:r>
          </a:p>
        </p:txBody>
      </p:sp>
      <p:sp>
        <p:nvSpPr>
          <p:cNvPr id="54" name="テキスト ボックス 53">
            <a:extLst>
              <a:ext uri="{FF2B5EF4-FFF2-40B4-BE49-F238E27FC236}">
                <a16:creationId xmlns:a16="http://schemas.microsoft.com/office/drawing/2014/main" id="{4870606F-2875-D44E-7C27-E33F7F1EE4AA}"/>
              </a:ext>
            </a:extLst>
          </p:cNvPr>
          <p:cNvSpPr txBox="1"/>
          <p:nvPr/>
        </p:nvSpPr>
        <p:spPr>
          <a:xfrm>
            <a:off x="7983008" y="2181206"/>
            <a:ext cx="4251629" cy="923330"/>
          </a:xfrm>
          <a:prstGeom prst="rect">
            <a:avLst/>
          </a:prstGeom>
          <a:noFill/>
        </p:spPr>
        <p:txBody>
          <a:bodyPr wrap="square" rtlCol="0">
            <a:spAutoFit/>
          </a:bodyPr>
          <a:lstStyle/>
          <a:p>
            <a:r>
              <a:rPr lang="en-US" altLang="ja-JP" noProof="1"/>
              <a:t>- </a:t>
            </a:r>
            <a:r>
              <a:rPr lang="ja-JP" altLang="ja-JP" noProof="1"/>
              <a:t>予測精度と解釈可能性はトレードオフ</a:t>
            </a:r>
          </a:p>
          <a:p>
            <a:r>
              <a:rPr lang="en-US" altLang="ja-JP" noProof="1"/>
              <a:t>- </a:t>
            </a:r>
            <a:r>
              <a:rPr lang="ja-JP" altLang="en-US" noProof="1"/>
              <a:t>医療や金融のような説明責任が求められる現場では，解釈可能性も重要</a:t>
            </a:r>
            <a:endParaRPr kumimoji="1" lang="ja-JP" noProof="1"/>
          </a:p>
        </p:txBody>
      </p:sp>
      <p:sp>
        <p:nvSpPr>
          <p:cNvPr id="55" name="正方形/長方形 54">
            <a:extLst>
              <a:ext uri="{FF2B5EF4-FFF2-40B4-BE49-F238E27FC236}">
                <a16:creationId xmlns:a16="http://schemas.microsoft.com/office/drawing/2014/main" id="{D073CE75-503C-7B13-CC74-9C07867C42FA}"/>
              </a:ext>
            </a:extLst>
          </p:cNvPr>
          <p:cNvSpPr>
            <a:spLocks noGrp="1"/>
          </p:cNvSpPr>
          <p:nvPr/>
        </p:nvSpPr>
        <p:spPr>
          <a:xfrm>
            <a:off x="486832" y="1788251"/>
            <a:ext cx="2276475" cy="1714500"/>
          </a:xfrm>
          <a:prstGeom prst="rect">
            <a:avLst/>
          </a:prstGeom>
          <a:noFill/>
          <a:ln w="41275" cap="rnd" cmpd="dbl">
            <a:solidFill>
              <a:schemeClr val="accent4"/>
            </a:solidFill>
            <a:bevel/>
          </a:ln>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56" name="正方形/長方形 55">
            <a:extLst>
              <a:ext uri="{FF2B5EF4-FFF2-40B4-BE49-F238E27FC236}">
                <a16:creationId xmlns:a16="http://schemas.microsoft.com/office/drawing/2014/main" id="{5BBAF048-75B6-D9C7-9F63-0ABA13A536AA}"/>
              </a:ext>
            </a:extLst>
          </p:cNvPr>
          <p:cNvSpPr>
            <a:spLocks noGrp="1"/>
          </p:cNvSpPr>
          <p:nvPr/>
        </p:nvSpPr>
        <p:spPr>
          <a:xfrm>
            <a:off x="6506632" y="1762666"/>
            <a:ext cx="1443509" cy="1714500"/>
          </a:xfrm>
          <a:prstGeom prst="rect">
            <a:avLst/>
          </a:prstGeom>
          <a:noFill/>
          <a:ln w="41275" cap="rnd" cmpd="dbl">
            <a:solidFill>
              <a:schemeClr val="accent4"/>
            </a:solidFill>
            <a:bevel/>
          </a:ln>
        </p:spPr>
        <p:style>
          <a:lnRef idx="2">
            <a:schemeClr val="accent4"/>
          </a:lnRef>
          <a:fillRef idx="1">
            <a:schemeClr val="lt1"/>
          </a:fillRef>
          <a:effectRef idx="0">
            <a:schemeClr val="accent4"/>
          </a:effectRef>
          <a:fontRef idx="minor">
            <a:schemeClr val="dk1"/>
          </a:fontRef>
        </p:style>
        <p:txBody>
          <a:bodyPr/>
          <a:lstStyle/>
          <a:p>
            <a:endParaRPr lang="ja-JP" noProof="1"/>
          </a:p>
        </p:txBody>
      </p:sp>
    </p:spTree>
    <p:extLst>
      <p:ext uri="{BB962C8B-B14F-4D97-AF65-F5344CB8AC3E}">
        <p14:creationId xmlns:p14="http://schemas.microsoft.com/office/powerpoint/2010/main" val="1565908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0FAB7-E38D-D461-CBFA-07030154AC9A}"/>
            </a:ext>
          </a:extLst>
        </p:cNvPr>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83225A2E-E4B0-7ECD-069D-EE751DA1518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2-title">
            <a:extLst>
              <a:ext uri="{FF2B5EF4-FFF2-40B4-BE49-F238E27FC236}">
                <a16:creationId xmlns:a16="http://schemas.microsoft.com/office/drawing/2014/main" id="{486018BA-5A52-D9D4-A1DD-07011EF367AF}"/>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XAI</a:t>
            </a:r>
            <a:r>
              <a:rPr lang="en-US" altLang="ja-JP" sz="2850" b="1" noProof="1">
                <a:solidFill>
                  <a:srgbClr val="12233A"/>
                </a:solidFill>
                <a:latin typeface="Hiragino Sans"/>
                <a:ea typeface="Hiragino Sans"/>
                <a:cs typeface="Hiragino Sans"/>
              </a:rPr>
              <a:t> </a:t>
            </a:r>
            <a:r>
              <a:rPr lang="ja-JP" altLang="en-US"/>
              <a:t>複雑な</a:t>
            </a:r>
            <a:r>
              <a:rPr lang="en-US" altLang="ja-JP" dirty="0"/>
              <a:t>AI</a:t>
            </a:r>
            <a:r>
              <a:rPr lang="ja-JP" altLang="en-US"/>
              <a:t>の処理を説明するツール</a:t>
            </a:r>
            <a:endParaRPr lang="ja-JP" sz="2850" b="1" noProof="1">
              <a:solidFill>
                <a:srgbClr val="12233A"/>
              </a:solidFill>
              <a:latin typeface="Hiragino Sans"/>
              <a:ea typeface="Hiragino Sans"/>
              <a:cs typeface="Hiragino Sans"/>
            </a:endParaRPr>
          </a:p>
        </p:txBody>
      </p:sp>
      <p:sp>
        <p:nvSpPr>
          <p:cNvPr id="7" name="右矢印 6">
            <a:extLst>
              <a:ext uri="{FF2B5EF4-FFF2-40B4-BE49-F238E27FC236}">
                <a16:creationId xmlns:a16="http://schemas.microsoft.com/office/drawing/2014/main" id="{D30E43B7-BF45-8AB1-26FB-40FB7B45EB1E}"/>
              </a:ext>
            </a:extLst>
          </p:cNvPr>
          <p:cNvSpPr>
            <a:spLocks noGrp="1"/>
          </p:cNvSpPr>
          <p:nvPr/>
        </p:nvSpPr>
        <p:spPr>
          <a:xfrm>
            <a:off x="8239125" y="2477262"/>
            <a:ext cx="647700" cy="323850"/>
          </a:xfrm>
          <a:prstGeom prst="rightArrow">
            <a:avLst/>
          </a:prstGeom>
          <a:solidFill>
            <a:srgbClr val="10B981"/>
          </a:solidFill>
          <a:ln w="0">
            <a:solidFill>
              <a:srgbClr val="10B981"/>
            </a:solidFill>
            <a:prstDash val="solid"/>
          </a:ln>
        </p:spPr>
        <p:txBody>
          <a:bodyPr/>
          <a:lstStyle/>
          <a:p>
            <a:endParaRPr lang="ja-JP" noProof="1"/>
          </a:p>
        </p:txBody>
      </p:sp>
      <p:sp>
        <p:nvSpPr>
          <p:cNvPr id="10" name="右矢印 9">
            <a:extLst>
              <a:ext uri="{FF2B5EF4-FFF2-40B4-BE49-F238E27FC236}">
                <a16:creationId xmlns:a16="http://schemas.microsoft.com/office/drawing/2014/main" id="{04B1F12F-9109-D8E8-FC6F-D72C5D12EC34}"/>
              </a:ext>
            </a:extLst>
          </p:cNvPr>
          <p:cNvSpPr>
            <a:spLocks noGrp="1"/>
          </p:cNvSpPr>
          <p:nvPr/>
        </p:nvSpPr>
        <p:spPr>
          <a:xfrm>
            <a:off x="3048000" y="2562987"/>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12" name="右矢印 11">
            <a:extLst>
              <a:ext uri="{FF2B5EF4-FFF2-40B4-BE49-F238E27FC236}">
                <a16:creationId xmlns:a16="http://schemas.microsoft.com/office/drawing/2014/main" id="{D29B0B41-C9AD-8668-2669-1562CD0906BE}"/>
              </a:ext>
            </a:extLst>
          </p:cNvPr>
          <p:cNvSpPr>
            <a:spLocks noGrp="1"/>
          </p:cNvSpPr>
          <p:nvPr/>
        </p:nvSpPr>
        <p:spPr>
          <a:xfrm>
            <a:off x="5810250" y="2562987"/>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36" name="正方形/長方形 35">
            <a:extLst>
              <a:ext uri="{FF2B5EF4-FFF2-40B4-BE49-F238E27FC236}">
                <a16:creationId xmlns:a16="http://schemas.microsoft.com/office/drawing/2014/main" id="{4895D028-8216-43C5-DE9F-EE6B33753FCF}"/>
              </a:ext>
            </a:extLst>
          </p:cNvPr>
          <p:cNvSpPr>
            <a:spLocks noGrp="1"/>
          </p:cNvSpPr>
          <p:nvPr/>
        </p:nvSpPr>
        <p:spPr>
          <a:xfrm>
            <a:off x="676275" y="1867662"/>
            <a:ext cx="2276475" cy="1714500"/>
          </a:xfrm>
          <a:prstGeom prst="rect">
            <a:avLst/>
          </a:prstGeom>
          <a:solidFill>
            <a:schemeClr val="lt1"/>
          </a:solidFill>
          <a:ln w="41275" cap="rnd" cmpd="dbl">
            <a:solidFill>
              <a:schemeClr val="accent4"/>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37" name="正方形/長方形 36">
            <a:extLst>
              <a:ext uri="{FF2B5EF4-FFF2-40B4-BE49-F238E27FC236}">
                <a16:creationId xmlns:a16="http://schemas.microsoft.com/office/drawing/2014/main" id="{6E07434F-F25D-F953-75E4-1AEF36E3C30F}"/>
              </a:ext>
            </a:extLst>
          </p:cNvPr>
          <p:cNvSpPr>
            <a:spLocks noGrp="1"/>
          </p:cNvSpPr>
          <p:nvPr/>
        </p:nvSpPr>
        <p:spPr>
          <a:xfrm>
            <a:off x="904875" y="2010537"/>
            <a:ext cx="1809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Hiragino Sans"/>
                <a:ea typeface="Hiragino Sans"/>
                <a:cs typeface="Hiragino Sans"/>
              </a:defRPr>
            </a:pPr>
            <a:r>
              <a:rPr lang="ja-JP" sz="1800" b="1" noProof="1">
                <a:solidFill>
                  <a:srgbClr val="111827"/>
                </a:solidFill>
                <a:latin typeface="Hiragino Sans"/>
                <a:ea typeface="Hiragino Sans"/>
                <a:cs typeface="Hiragino Sans"/>
              </a:rPr>
              <a:t>乗客データ</a:t>
            </a:r>
          </a:p>
        </p:txBody>
      </p:sp>
      <p:cxnSp>
        <p:nvCxnSpPr>
          <p:cNvPr id="38" name="直線矢印コネクタ 43">
            <a:extLst>
              <a:ext uri="{FF2B5EF4-FFF2-40B4-BE49-F238E27FC236}">
                <a16:creationId xmlns:a16="http://schemas.microsoft.com/office/drawing/2014/main" id="{E1880F44-F5F1-889C-4C16-0D0E1293F015}"/>
              </a:ext>
            </a:extLst>
          </p:cNvPr>
          <p:cNvCxnSpPr/>
          <p:nvPr/>
        </p:nvCxnSpPr>
        <p:spPr>
          <a:xfrm>
            <a:off x="904875" y="2286202"/>
            <a:ext cx="1714500" cy="0"/>
          </a:xfrm>
          <a:prstGeom prst="straightConnector1">
            <a:avLst/>
          </a:prstGeom>
          <a:ln w="9525">
            <a:solidFill>
              <a:srgbClr val="CBD5E1"/>
            </a:solidFill>
            <a:prstDash val="solid"/>
          </a:ln>
        </p:spPr>
      </p:cxnSp>
      <p:sp>
        <p:nvSpPr>
          <p:cNvPr id="39" name="正方形/長方形 38">
            <a:extLst>
              <a:ext uri="{FF2B5EF4-FFF2-40B4-BE49-F238E27FC236}">
                <a16:creationId xmlns:a16="http://schemas.microsoft.com/office/drawing/2014/main" id="{F33EBFDA-1D24-83BD-05EF-B9AD19D0CD26}"/>
              </a:ext>
            </a:extLst>
          </p:cNvPr>
          <p:cNvSpPr>
            <a:spLocks noGrp="1"/>
          </p:cNvSpPr>
          <p:nvPr/>
        </p:nvSpPr>
        <p:spPr>
          <a:xfrm>
            <a:off x="904875" y="2343913"/>
            <a:ext cx="1809750" cy="1238250"/>
          </a:xfrm>
          <a:prstGeom prst="rect">
            <a:avLst/>
          </a:prstGeom>
          <a:noFill/>
          <a:ln w="0">
            <a:noFill/>
            <a:prstDash val="solid"/>
          </a:ln>
        </p:spPr>
        <p:txBody>
          <a:bodyPr lIns="0" tIns="0" rIns="0" bIns="0" anchor="t">
            <a:noAutofit/>
          </a:bodyPr>
          <a:lstStyle/>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年齢　　　 22</a:t>
            </a:r>
            <a:endParaRPr lang="ja-JP" sz="1575" noProof="1">
              <a:solidFill>
                <a:srgbClr val="111827"/>
              </a:solidFill>
              <a:latin typeface="Hiragino Sans"/>
              <a:ea typeface="Hiragino Sans"/>
              <a:cs typeface="Hiragino Sans"/>
            </a:endParaRP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名前</a:t>
            </a:r>
            <a:r>
              <a:rPr lang="ja-JP" sz="1575" noProof="1">
                <a:solidFill>
                  <a:srgbClr val="111827"/>
                </a:solidFill>
                <a:latin typeface="Hiragino Sans"/>
                <a:ea typeface="Hiragino Sans"/>
                <a:cs typeface="Hiragino Sans"/>
              </a:rPr>
              <a:t>　　　 Jane</a:t>
            </a:r>
            <a:endParaRPr lang="ja-JP" sz="1575" b="0" noProof="1">
              <a:solidFill>
                <a:srgbClr val="111827"/>
              </a:solidFill>
              <a:latin typeface="Hiragino Sans"/>
              <a:ea typeface="Hiragino Sans"/>
              <a:cs typeface="Hiragino Sans"/>
            </a:endParaRP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性別　　　 女性</a:t>
            </a: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客室等級　 1等</a:t>
            </a:r>
          </a:p>
          <a:p>
            <a:pPr marL="285750" indent="-285750" algn="l">
              <a:buFont typeface="Arial" panose="020B0604020202020204" pitchFamily="34" charset="0"/>
              <a:buChar char="•"/>
              <a:defRPr sz="1575" b="0">
                <a:solidFill>
                  <a:srgbClr val="111827"/>
                </a:solidFill>
                <a:latin typeface="Hiragino Sans"/>
                <a:ea typeface="Hiragino Sans"/>
                <a:cs typeface="Hiragino Sans"/>
              </a:defRPr>
            </a:pPr>
            <a:r>
              <a:rPr lang="ja-JP" sz="1575" b="0" noProof="1">
                <a:solidFill>
                  <a:srgbClr val="111827"/>
                </a:solidFill>
                <a:latin typeface="Hiragino Sans"/>
                <a:ea typeface="Hiragino Sans"/>
                <a:cs typeface="Hiragino Sans"/>
              </a:rPr>
              <a:t>運賃　　　 71</a:t>
            </a:r>
          </a:p>
        </p:txBody>
      </p:sp>
      <p:sp>
        <p:nvSpPr>
          <p:cNvPr id="40" name="正方形/長方形 39">
            <a:extLst>
              <a:ext uri="{FF2B5EF4-FFF2-40B4-BE49-F238E27FC236}">
                <a16:creationId xmlns:a16="http://schemas.microsoft.com/office/drawing/2014/main" id="{5D2CCE5E-142C-88EB-EB58-DD1269FFAF27}"/>
              </a:ext>
            </a:extLst>
          </p:cNvPr>
          <p:cNvSpPr>
            <a:spLocks noGrp="1"/>
          </p:cNvSpPr>
          <p:nvPr/>
        </p:nvSpPr>
        <p:spPr>
          <a:xfrm>
            <a:off x="3714750" y="2058162"/>
            <a:ext cx="2000250" cy="1333500"/>
          </a:xfrm>
          <a:prstGeom prst="rect">
            <a:avLst/>
          </a:prstGeom>
          <a:solidFill>
            <a:srgbClr val="111827"/>
          </a:solidFill>
          <a:ln w="0">
            <a:solidFill>
              <a:srgbClr val="111827"/>
            </a:solidFill>
            <a:prstDash val="solid"/>
          </a:ln>
        </p:spPr>
        <p:txBody>
          <a:bodyPr/>
          <a:lstStyle/>
          <a:p>
            <a:endParaRPr lang="ja-JP" noProof="1"/>
          </a:p>
        </p:txBody>
      </p:sp>
      <p:sp>
        <p:nvSpPr>
          <p:cNvPr id="41" name="正方形/長方形 40">
            <a:extLst>
              <a:ext uri="{FF2B5EF4-FFF2-40B4-BE49-F238E27FC236}">
                <a16:creationId xmlns:a16="http://schemas.microsoft.com/office/drawing/2014/main" id="{3A98CF65-C0A9-535F-DE00-E954258E5E91}"/>
              </a:ext>
            </a:extLst>
          </p:cNvPr>
          <p:cNvSpPr>
            <a:spLocks noGrp="1"/>
          </p:cNvSpPr>
          <p:nvPr/>
        </p:nvSpPr>
        <p:spPr>
          <a:xfrm>
            <a:off x="3714750" y="2315337"/>
            <a:ext cx="2000250" cy="838200"/>
          </a:xfrm>
          <a:prstGeom prst="rect">
            <a:avLst/>
          </a:prstGeom>
          <a:noFill/>
          <a:ln w="0">
            <a:noFill/>
            <a:prstDash val="solid"/>
          </a:ln>
        </p:spPr>
        <p:txBody>
          <a:bodyPr lIns="0" tIns="0" rIns="0" bIns="0" anchor="ctr">
            <a:noAutofit/>
          </a:bodyPr>
          <a:lstStyle/>
          <a:p>
            <a:pPr algn="ctr">
              <a:buNone/>
              <a:defRPr sz="2250" b="1">
                <a:solidFill>
                  <a:srgbClr val="FFFFFF"/>
                </a:solidFill>
                <a:latin typeface="Hiragino Sans"/>
                <a:ea typeface="Hiragino Sans"/>
                <a:cs typeface="Hiragino Sans"/>
              </a:defRPr>
            </a:pPr>
            <a:r>
              <a:rPr lang="ja-JP" sz="2250" b="1" noProof="1">
                <a:solidFill>
                  <a:srgbClr val="FFFFFF"/>
                </a:solidFill>
                <a:latin typeface="Hiragino Sans"/>
                <a:ea typeface="Hiragino Sans"/>
                <a:cs typeface="Hiragino Sans"/>
              </a:rPr>
              <a:t>BLACK</a:t>
            </a:r>
          </a:p>
          <a:p>
            <a:pPr algn="ctr">
              <a:buNone/>
              <a:defRPr sz="2250" b="1">
                <a:solidFill>
                  <a:srgbClr val="FFFFFF"/>
                </a:solidFill>
                <a:latin typeface="Hiragino Sans"/>
                <a:ea typeface="Hiragino Sans"/>
                <a:cs typeface="Hiragino Sans"/>
              </a:defRPr>
            </a:pPr>
            <a:r>
              <a:rPr lang="ja-JP" sz="2250" b="1" noProof="1">
                <a:solidFill>
                  <a:srgbClr val="FFFFFF"/>
                </a:solidFill>
                <a:latin typeface="Hiragino Sans"/>
                <a:ea typeface="Hiragino Sans"/>
                <a:cs typeface="Hiragino Sans"/>
              </a:rPr>
              <a:t>BOX</a:t>
            </a:r>
          </a:p>
        </p:txBody>
      </p:sp>
      <p:sp>
        <p:nvSpPr>
          <p:cNvPr id="42" name="正方形/長方形 41">
            <a:extLst>
              <a:ext uri="{FF2B5EF4-FFF2-40B4-BE49-F238E27FC236}">
                <a16:creationId xmlns:a16="http://schemas.microsoft.com/office/drawing/2014/main" id="{CB9FE3FE-126F-EB11-7A7F-2D9F4C7EE072}"/>
              </a:ext>
            </a:extLst>
          </p:cNvPr>
          <p:cNvSpPr>
            <a:spLocks noGrp="1"/>
          </p:cNvSpPr>
          <p:nvPr/>
        </p:nvSpPr>
        <p:spPr>
          <a:xfrm>
            <a:off x="6477000" y="1867662"/>
            <a:ext cx="1666875" cy="1714500"/>
          </a:xfrm>
          <a:prstGeom prst="rect">
            <a:avLst/>
          </a:prstGeom>
          <a:solidFill>
            <a:schemeClr val="lt1"/>
          </a:solidFill>
          <a:ln w="41275" cap="rnd" cmpd="dbl">
            <a:solidFill>
              <a:schemeClr val="accent4"/>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43" name="正方形/長方形 42">
            <a:extLst>
              <a:ext uri="{FF2B5EF4-FFF2-40B4-BE49-F238E27FC236}">
                <a16:creationId xmlns:a16="http://schemas.microsoft.com/office/drawing/2014/main" id="{94FDAEB5-DED9-EF22-48D3-1F13595C29AD}"/>
              </a:ext>
            </a:extLst>
          </p:cNvPr>
          <p:cNvSpPr>
            <a:spLocks noGrp="1"/>
          </p:cNvSpPr>
          <p:nvPr/>
        </p:nvSpPr>
        <p:spPr>
          <a:xfrm>
            <a:off x="6705600" y="2086737"/>
            <a:ext cx="1238250" cy="285750"/>
          </a:xfrm>
          <a:prstGeom prst="rect">
            <a:avLst/>
          </a:prstGeom>
          <a:noFill/>
          <a:ln w="0">
            <a:noFill/>
            <a:prstDash val="solid"/>
          </a:ln>
        </p:spPr>
        <p:txBody>
          <a:bodyPr lIns="0" tIns="0" rIns="0" bIns="0" anchor="t">
            <a:noAutofit/>
          </a:bodyPr>
          <a:lstStyle/>
          <a:p>
            <a:pPr algn="ctr">
              <a:buNone/>
              <a:defRPr sz="1650" b="1">
                <a:solidFill>
                  <a:srgbClr val="2563EB"/>
                </a:solidFill>
                <a:latin typeface="Hiragino Sans"/>
                <a:ea typeface="Hiragino Sans"/>
                <a:cs typeface="Hiragino Sans"/>
              </a:defRPr>
            </a:pPr>
            <a:r>
              <a:rPr lang="ja-JP" sz="1650" b="1" noProof="1">
                <a:solidFill>
                  <a:srgbClr val="2563EB"/>
                </a:solidFill>
                <a:latin typeface="Hiragino Sans"/>
                <a:ea typeface="Hiragino Sans"/>
                <a:cs typeface="Hiragino Sans"/>
              </a:rPr>
              <a:t>予測</a:t>
            </a:r>
          </a:p>
        </p:txBody>
      </p:sp>
      <p:sp>
        <p:nvSpPr>
          <p:cNvPr id="44" name="正方形/長方形 43">
            <a:extLst>
              <a:ext uri="{FF2B5EF4-FFF2-40B4-BE49-F238E27FC236}">
                <a16:creationId xmlns:a16="http://schemas.microsoft.com/office/drawing/2014/main" id="{DB5F8A68-7F4D-744D-5DB5-47799F2C2F67}"/>
              </a:ext>
            </a:extLst>
          </p:cNvPr>
          <p:cNvSpPr>
            <a:spLocks noGrp="1"/>
          </p:cNvSpPr>
          <p:nvPr/>
        </p:nvSpPr>
        <p:spPr>
          <a:xfrm>
            <a:off x="6705600" y="2524887"/>
            <a:ext cx="1238250" cy="266700"/>
          </a:xfrm>
          <a:prstGeom prst="rect">
            <a:avLst/>
          </a:prstGeom>
          <a:noFill/>
          <a:ln w="0">
            <a:noFill/>
            <a:prstDash val="solid"/>
          </a:ln>
        </p:spPr>
        <p:txBody>
          <a:bodyPr lIns="0" tIns="0" rIns="0" bIns="0" anchor="t">
            <a:noAutofit/>
          </a:bodyPr>
          <a:lstStyle/>
          <a:p>
            <a:pPr algn="ctr">
              <a:buNone/>
              <a:defRPr sz="1500" b="0">
                <a:solidFill>
                  <a:srgbClr val="111827"/>
                </a:solidFill>
                <a:latin typeface="Hiragino Sans"/>
                <a:ea typeface="Hiragino Sans"/>
                <a:cs typeface="Hiragino Sans"/>
              </a:defRPr>
            </a:pPr>
            <a:r>
              <a:rPr lang="ja-JP" sz="1500" b="0" noProof="1">
                <a:solidFill>
                  <a:srgbClr val="111827"/>
                </a:solidFill>
                <a:latin typeface="Hiragino Sans"/>
                <a:ea typeface="Hiragino Sans"/>
                <a:cs typeface="Hiragino Sans"/>
              </a:rPr>
              <a:t>生存確率</a:t>
            </a:r>
          </a:p>
        </p:txBody>
      </p:sp>
      <p:sp>
        <p:nvSpPr>
          <p:cNvPr id="45" name="正方形/長方形 44">
            <a:extLst>
              <a:ext uri="{FF2B5EF4-FFF2-40B4-BE49-F238E27FC236}">
                <a16:creationId xmlns:a16="http://schemas.microsoft.com/office/drawing/2014/main" id="{8DF652D9-F8FE-9D43-A610-6A3AC8073097}"/>
              </a:ext>
            </a:extLst>
          </p:cNvPr>
          <p:cNvSpPr>
            <a:spLocks noGrp="1"/>
          </p:cNvSpPr>
          <p:nvPr/>
        </p:nvSpPr>
        <p:spPr>
          <a:xfrm>
            <a:off x="6705600" y="2820162"/>
            <a:ext cx="1238250" cy="457200"/>
          </a:xfrm>
          <a:prstGeom prst="rect">
            <a:avLst/>
          </a:prstGeom>
          <a:noFill/>
          <a:ln w="0">
            <a:noFill/>
            <a:prstDash val="solid"/>
          </a:ln>
        </p:spPr>
        <p:txBody>
          <a:bodyPr lIns="0" tIns="0" rIns="0" bIns="0" anchor="t">
            <a:noAutofit/>
          </a:bodyPr>
          <a:lstStyle/>
          <a:p>
            <a:pPr algn="ctr">
              <a:buNone/>
              <a:defRPr sz="2850" b="1">
                <a:solidFill>
                  <a:srgbClr val="2563EB"/>
                </a:solidFill>
                <a:latin typeface="Hiragino Sans"/>
                <a:ea typeface="Hiragino Sans"/>
                <a:cs typeface="Hiragino Sans"/>
              </a:defRPr>
            </a:pPr>
            <a:r>
              <a:rPr lang="ja-JP" sz="2850" b="1" noProof="1">
                <a:solidFill>
                  <a:srgbClr val="2563EB"/>
                </a:solidFill>
                <a:latin typeface="Hiragino Sans"/>
                <a:ea typeface="Hiragino Sans"/>
                <a:cs typeface="Hiragino Sans"/>
              </a:rPr>
              <a:t>0.78</a:t>
            </a:r>
          </a:p>
        </p:txBody>
      </p:sp>
      <p:sp>
        <p:nvSpPr>
          <p:cNvPr id="50" name="テキスト ボックス 49">
            <a:extLst>
              <a:ext uri="{FF2B5EF4-FFF2-40B4-BE49-F238E27FC236}">
                <a16:creationId xmlns:a16="http://schemas.microsoft.com/office/drawing/2014/main" id="{F27425C6-C75A-B065-707A-E247B394B1CA}"/>
              </a:ext>
            </a:extLst>
          </p:cNvPr>
          <p:cNvSpPr txBox="1"/>
          <p:nvPr/>
        </p:nvSpPr>
        <p:spPr>
          <a:xfrm>
            <a:off x="628650" y="3816557"/>
            <a:ext cx="4708340" cy="369332"/>
          </a:xfrm>
          <a:prstGeom prst="rect">
            <a:avLst/>
          </a:prstGeom>
          <a:noFill/>
        </p:spPr>
        <p:txBody>
          <a:bodyPr wrap="none" rtlCol="0">
            <a:spAutoFit/>
          </a:bodyPr>
          <a:lstStyle/>
          <a:p>
            <a:r>
              <a:rPr kumimoji="1" lang="ja-JP" noProof="1"/>
              <a:t>2. モデルの誤学習の</a:t>
            </a:r>
            <a:r>
              <a:rPr kumimoji="1" lang="ja-JP" altLang="en-US" noProof="1"/>
              <a:t>検知</a:t>
            </a:r>
            <a:r>
              <a:rPr kumimoji="1" lang="ja-JP" noProof="1"/>
              <a:t>(予期せぬズル</a:t>
            </a:r>
            <a:r>
              <a:rPr kumimoji="1" lang="ja-JP" altLang="en-US" noProof="1"/>
              <a:t>など</a:t>
            </a:r>
            <a:r>
              <a:rPr kumimoji="1" lang="ja-JP" noProof="1"/>
              <a:t>)</a:t>
            </a:r>
          </a:p>
        </p:txBody>
      </p:sp>
      <p:pic>
        <p:nvPicPr>
          <p:cNvPr id="53" name="図 52">
            <a:extLst>
              <a:ext uri="{FF2B5EF4-FFF2-40B4-BE49-F238E27FC236}">
                <a16:creationId xmlns:a16="http://schemas.microsoft.com/office/drawing/2014/main" id="{D18CBCB8-2A77-9994-214A-AD4FB884A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749" y="4561244"/>
            <a:ext cx="1848115" cy="1834007"/>
          </a:xfrm>
          <a:prstGeom prst="rect">
            <a:avLst/>
          </a:prstGeom>
        </p:spPr>
      </p:pic>
      <p:pic>
        <p:nvPicPr>
          <p:cNvPr id="55" name="図 54">
            <a:extLst>
              <a:ext uri="{FF2B5EF4-FFF2-40B4-BE49-F238E27FC236}">
                <a16:creationId xmlns:a16="http://schemas.microsoft.com/office/drawing/2014/main" id="{198567EF-C91B-A93C-8528-65100093A6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2585" y="4557730"/>
            <a:ext cx="1848115" cy="1841034"/>
          </a:xfrm>
          <a:prstGeom prst="rect">
            <a:avLst/>
          </a:prstGeom>
        </p:spPr>
      </p:pic>
      <p:sp>
        <p:nvSpPr>
          <p:cNvPr id="4" name="正方形/長方形 3">
            <a:extLst>
              <a:ext uri="{FF2B5EF4-FFF2-40B4-BE49-F238E27FC236}">
                <a16:creationId xmlns:a16="http://schemas.microsoft.com/office/drawing/2014/main" id="{7BE34941-21EA-59B2-B26B-598AF61BF524}"/>
              </a:ext>
            </a:extLst>
          </p:cNvPr>
          <p:cNvSpPr>
            <a:spLocks noGrp="1"/>
          </p:cNvSpPr>
          <p:nvPr/>
        </p:nvSpPr>
        <p:spPr>
          <a:xfrm>
            <a:off x="9001125" y="1636116"/>
            <a:ext cx="2667000" cy="2049556"/>
          </a:xfrm>
          <a:prstGeom prst="rect">
            <a:avLst/>
          </a:prstGeom>
          <a:solidFill>
            <a:schemeClr val="lt1"/>
          </a:solidFill>
          <a:ln w="41275" cap="rnd" cmpd="dbl">
            <a:solidFill>
              <a:schemeClr val="accent6"/>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5" name="正方形/長方形 4">
            <a:extLst>
              <a:ext uri="{FF2B5EF4-FFF2-40B4-BE49-F238E27FC236}">
                <a16:creationId xmlns:a16="http://schemas.microsoft.com/office/drawing/2014/main" id="{D1B73467-5DB3-3009-FB60-E1A5911C8F82}"/>
              </a:ext>
            </a:extLst>
          </p:cNvPr>
          <p:cNvSpPr>
            <a:spLocks noGrp="1"/>
          </p:cNvSpPr>
          <p:nvPr/>
        </p:nvSpPr>
        <p:spPr>
          <a:xfrm>
            <a:off x="9105900" y="1840063"/>
            <a:ext cx="2171700" cy="323850"/>
          </a:xfrm>
          <a:prstGeom prst="rect">
            <a:avLst/>
          </a:prstGeom>
          <a:noFill/>
          <a:ln w="0">
            <a:noFill/>
            <a:prstDash val="solid"/>
          </a:ln>
        </p:spPr>
        <p:txBody>
          <a:bodyPr lIns="0" tIns="0" rIns="0" bIns="0" anchor="t">
            <a:noAutofit/>
          </a:bodyPr>
          <a:lstStyle/>
          <a:p>
            <a:pPr algn="l">
              <a:buNone/>
              <a:defRPr sz="1800" b="1">
                <a:solidFill>
                  <a:srgbClr val="10B981"/>
                </a:solidFill>
                <a:latin typeface="Hiragino Sans"/>
                <a:ea typeface="Hiragino Sans"/>
                <a:cs typeface="Hiragino Sans"/>
              </a:defRPr>
            </a:pPr>
            <a:r>
              <a:rPr lang="ja-JP" sz="1800" b="1" noProof="1">
                <a:solidFill>
                  <a:srgbClr val="10B981"/>
                </a:solidFill>
                <a:latin typeface="Hiragino Sans"/>
                <a:ea typeface="Hiragino Sans"/>
                <a:cs typeface="Hiragino Sans"/>
              </a:rPr>
              <a:t>XAIによる説明</a:t>
            </a:r>
          </a:p>
        </p:txBody>
      </p:sp>
      <p:sp>
        <p:nvSpPr>
          <p:cNvPr id="6" name="正方形/長方形 5">
            <a:extLst>
              <a:ext uri="{FF2B5EF4-FFF2-40B4-BE49-F238E27FC236}">
                <a16:creationId xmlns:a16="http://schemas.microsoft.com/office/drawing/2014/main" id="{A9A6FFDC-7AE5-9E0E-96DD-5CEDD6649D6C}"/>
              </a:ext>
            </a:extLst>
          </p:cNvPr>
          <p:cNvSpPr>
            <a:spLocks noGrp="1"/>
          </p:cNvSpPr>
          <p:nvPr/>
        </p:nvSpPr>
        <p:spPr>
          <a:xfrm>
            <a:off x="9105900" y="2314072"/>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Hiragino Sans"/>
                <a:ea typeface="Hiragino Sans"/>
                <a:cs typeface="Hiragino Sans"/>
              </a:defRPr>
            </a:pPr>
            <a:r>
              <a:rPr lang="ja-JP" sz="1425" b="1" noProof="1">
                <a:solidFill>
                  <a:srgbClr val="111827"/>
                </a:solidFill>
                <a:latin typeface="Hiragino Sans"/>
                <a:ea typeface="Hiragino Sans"/>
                <a:cs typeface="Hiragino Sans"/>
              </a:rPr>
              <a:t>運賃</a:t>
            </a:r>
          </a:p>
        </p:txBody>
      </p:sp>
      <p:sp>
        <p:nvSpPr>
          <p:cNvPr id="8" name="正方形/長方形 7">
            <a:extLst>
              <a:ext uri="{FF2B5EF4-FFF2-40B4-BE49-F238E27FC236}">
                <a16:creationId xmlns:a16="http://schemas.microsoft.com/office/drawing/2014/main" id="{5A6289A8-9D03-3F3E-2289-5F15E966EB31}"/>
              </a:ext>
            </a:extLst>
          </p:cNvPr>
          <p:cNvSpPr>
            <a:spLocks noGrp="1"/>
          </p:cNvSpPr>
          <p:nvPr/>
        </p:nvSpPr>
        <p:spPr>
          <a:xfrm>
            <a:off x="10334625" y="2333122"/>
            <a:ext cx="571500" cy="190500"/>
          </a:xfrm>
          <a:prstGeom prst="rect">
            <a:avLst/>
          </a:prstGeom>
          <a:solidFill>
            <a:srgbClr val="10B981"/>
          </a:solidFill>
          <a:ln w="0">
            <a:solidFill>
              <a:srgbClr val="10B981"/>
            </a:solidFill>
            <a:prstDash val="solid"/>
          </a:ln>
        </p:spPr>
        <p:txBody>
          <a:bodyPr/>
          <a:lstStyle/>
          <a:p>
            <a:endParaRPr lang="ja-JP" noProof="1"/>
          </a:p>
        </p:txBody>
      </p:sp>
      <p:sp>
        <p:nvSpPr>
          <p:cNvPr id="9" name="正方形/長方形 8">
            <a:extLst>
              <a:ext uri="{FF2B5EF4-FFF2-40B4-BE49-F238E27FC236}">
                <a16:creationId xmlns:a16="http://schemas.microsoft.com/office/drawing/2014/main" id="{373CFCB1-E2F5-7DBE-DE1B-60284A60C28C}"/>
              </a:ext>
            </a:extLst>
          </p:cNvPr>
          <p:cNvSpPr>
            <a:spLocks noGrp="1"/>
          </p:cNvSpPr>
          <p:nvPr/>
        </p:nvSpPr>
        <p:spPr>
          <a:xfrm>
            <a:off x="10953750" y="2285497"/>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Hiragino Sans"/>
                <a:ea typeface="Hiragino Sans"/>
                <a:cs typeface="Hiragino Sans"/>
              </a:defRPr>
            </a:pPr>
            <a:r>
              <a:rPr lang="ja-JP" sz="1275" b="1" noProof="1">
                <a:solidFill>
                  <a:srgbClr val="10B981"/>
                </a:solidFill>
                <a:latin typeface="Hiragino Sans"/>
                <a:ea typeface="Hiragino Sans"/>
                <a:cs typeface="Hiragino Sans"/>
              </a:rPr>
              <a:t>+0.50</a:t>
            </a:r>
          </a:p>
        </p:txBody>
      </p:sp>
      <p:sp>
        <p:nvSpPr>
          <p:cNvPr id="11" name="正方形/長方形 10">
            <a:extLst>
              <a:ext uri="{FF2B5EF4-FFF2-40B4-BE49-F238E27FC236}">
                <a16:creationId xmlns:a16="http://schemas.microsoft.com/office/drawing/2014/main" id="{8DD3C08C-55DB-6B9F-9C93-97CE31A17462}"/>
              </a:ext>
            </a:extLst>
          </p:cNvPr>
          <p:cNvSpPr>
            <a:spLocks noGrp="1"/>
          </p:cNvSpPr>
          <p:nvPr/>
        </p:nvSpPr>
        <p:spPr>
          <a:xfrm>
            <a:off x="9105900" y="2809372"/>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Hiragino Sans"/>
                <a:ea typeface="Hiragino Sans"/>
                <a:cs typeface="Hiragino Sans"/>
              </a:defRPr>
            </a:pPr>
            <a:r>
              <a:rPr lang="ja-JP" sz="1425" b="1" noProof="1">
                <a:solidFill>
                  <a:srgbClr val="111827"/>
                </a:solidFill>
                <a:latin typeface="Hiragino Sans"/>
                <a:ea typeface="Hiragino Sans"/>
                <a:cs typeface="Hiragino Sans"/>
              </a:rPr>
              <a:t>年齢</a:t>
            </a:r>
          </a:p>
        </p:txBody>
      </p:sp>
      <p:sp>
        <p:nvSpPr>
          <p:cNvPr id="13" name="正方形/長方形 12">
            <a:extLst>
              <a:ext uri="{FF2B5EF4-FFF2-40B4-BE49-F238E27FC236}">
                <a16:creationId xmlns:a16="http://schemas.microsoft.com/office/drawing/2014/main" id="{E3825E94-9F7B-464F-E7C4-7AC6B1AFB783}"/>
              </a:ext>
            </a:extLst>
          </p:cNvPr>
          <p:cNvSpPr>
            <a:spLocks noGrp="1"/>
          </p:cNvSpPr>
          <p:nvPr/>
        </p:nvSpPr>
        <p:spPr>
          <a:xfrm>
            <a:off x="9963150" y="2828422"/>
            <a:ext cx="371475" cy="190500"/>
          </a:xfrm>
          <a:prstGeom prst="rect">
            <a:avLst/>
          </a:prstGeom>
          <a:solidFill>
            <a:srgbClr val="EF4444"/>
          </a:solidFill>
          <a:ln w="0">
            <a:solidFill>
              <a:srgbClr val="EF4444"/>
            </a:solidFill>
            <a:prstDash val="solid"/>
          </a:ln>
        </p:spPr>
        <p:txBody>
          <a:bodyPr/>
          <a:lstStyle/>
          <a:p>
            <a:endParaRPr lang="ja-JP" noProof="1"/>
          </a:p>
        </p:txBody>
      </p:sp>
      <p:sp>
        <p:nvSpPr>
          <p:cNvPr id="14" name="正方形/長方形 13">
            <a:extLst>
              <a:ext uri="{FF2B5EF4-FFF2-40B4-BE49-F238E27FC236}">
                <a16:creationId xmlns:a16="http://schemas.microsoft.com/office/drawing/2014/main" id="{64610E52-861D-8D7D-0CBA-67816A3D29E9}"/>
              </a:ext>
            </a:extLst>
          </p:cNvPr>
          <p:cNvSpPr>
            <a:spLocks noGrp="1"/>
          </p:cNvSpPr>
          <p:nvPr/>
        </p:nvSpPr>
        <p:spPr>
          <a:xfrm>
            <a:off x="10953750" y="2780797"/>
            <a:ext cx="571500" cy="266700"/>
          </a:xfrm>
          <a:prstGeom prst="rect">
            <a:avLst/>
          </a:prstGeom>
          <a:noFill/>
          <a:ln w="0">
            <a:noFill/>
            <a:prstDash val="solid"/>
          </a:ln>
        </p:spPr>
        <p:txBody>
          <a:bodyPr lIns="0" tIns="0" rIns="0" bIns="0" anchor="t">
            <a:noAutofit/>
          </a:bodyPr>
          <a:lstStyle/>
          <a:p>
            <a:pPr algn="r">
              <a:buNone/>
              <a:defRPr sz="1275" b="1">
                <a:solidFill>
                  <a:srgbClr val="EF4444"/>
                </a:solidFill>
                <a:latin typeface="Hiragino Sans"/>
                <a:ea typeface="Hiragino Sans"/>
                <a:cs typeface="Hiragino Sans"/>
              </a:defRPr>
            </a:pPr>
            <a:r>
              <a:rPr lang="ja-JP" sz="1275" b="1" noProof="1">
                <a:solidFill>
                  <a:srgbClr val="EF4444"/>
                </a:solidFill>
                <a:latin typeface="Hiragino Sans"/>
                <a:ea typeface="Hiragino Sans"/>
                <a:cs typeface="Hiragino Sans"/>
              </a:rPr>
              <a:t>−0.20</a:t>
            </a:r>
          </a:p>
        </p:txBody>
      </p:sp>
      <p:sp>
        <p:nvSpPr>
          <p:cNvPr id="15" name="正方形/長方形 14">
            <a:extLst>
              <a:ext uri="{FF2B5EF4-FFF2-40B4-BE49-F238E27FC236}">
                <a16:creationId xmlns:a16="http://schemas.microsoft.com/office/drawing/2014/main" id="{900FE2C9-96E8-1435-3DFA-63EF48820151}"/>
              </a:ext>
            </a:extLst>
          </p:cNvPr>
          <p:cNvSpPr>
            <a:spLocks noGrp="1"/>
          </p:cNvSpPr>
          <p:nvPr/>
        </p:nvSpPr>
        <p:spPr>
          <a:xfrm>
            <a:off x="9105900" y="3304672"/>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Hiragino Sans"/>
                <a:ea typeface="Hiragino Sans"/>
                <a:cs typeface="Hiragino Sans"/>
              </a:defRPr>
            </a:pPr>
            <a:r>
              <a:rPr lang="ja-JP" sz="1425" b="1" noProof="1">
                <a:solidFill>
                  <a:srgbClr val="111827"/>
                </a:solidFill>
                <a:latin typeface="Hiragino Sans"/>
                <a:ea typeface="Hiragino Sans"/>
                <a:cs typeface="Hiragino Sans"/>
              </a:rPr>
              <a:t>客室等級</a:t>
            </a:r>
          </a:p>
        </p:txBody>
      </p:sp>
      <p:sp>
        <p:nvSpPr>
          <p:cNvPr id="16" name="正方形/長方形 15">
            <a:extLst>
              <a:ext uri="{FF2B5EF4-FFF2-40B4-BE49-F238E27FC236}">
                <a16:creationId xmlns:a16="http://schemas.microsoft.com/office/drawing/2014/main" id="{9D32287A-AC01-2106-D06E-0ACEF608D053}"/>
              </a:ext>
            </a:extLst>
          </p:cNvPr>
          <p:cNvSpPr>
            <a:spLocks noGrp="1"/>
          </p:cNvSpPr>
          <p:nvPr/>
        </p:nvSpPr>
        <p:spPr>
          <a:xfrm>
            <a:off x="10334625" y="3323722"/>
            <a:ext cx="266700" cy="190500"/>
          </a:xfrm>
          <a:prstGeom prst="rect">
            <a:avLst/>
          </a:prstGeom>
          <a:solidFill>
            <a:srgbClr val="10B981"/>
          </a:solidFill>
          <a:ln w="0">
            <a:solidFill>
              <a:srgbClr val="10B981"/>
            </a:solidFill>
            <a:prstDash val="solid"/>
          </a:ln>
        </p:spPr>
        <p:txBody>
          <a:bodyPr/>
          <a:lstStyle/>
          <a:p>
            <a:endParaRPr lang="ja-JP" noProof="1"/>
          </a:p>
        </p:txBody>
      </p:sp>
      <p:sp>
        <p:nvSpPr>
          <p:cNvPr id="17" name="正方形/長方形 16">
            <a:extLst>
              <a:ext uri="{FF2B5EF4-FFF2-40B4-BE49-F238E27FC236}">
                <a16:creationId xmlns:a16="http://schemas.microsoft.com/office/drawing/2014/main" id="{810FF06D-1808-078F-AF78-B3CAB723F2F5}"/>
              </a:ext>
            </a:extLst>
          </p:cNvPr>
          <p:cNvSpPr>
            <a:spLocks noGrp="1"/>
          </p:cNvSpPr>
          <p:nvPr/>
        </p:nvSpPr>
        <p:spPr>
          <a:xfrm>
            <a:off x="10953750" y="3276097"/>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Hiragino Sans"/>
                <a:ea typeface="Hiragino Sans"/>
                <a:cs typeface="Hiragino Sans"/>
              </a:defRPr>
            </a:pPr>
            <a:r>
              <a:rPr lang="ja-JP" sz="1275" b="1" noProof="1">
                <a:solidFill>
                  <a:srgbClr val="10B981"/>
                </a:solidFill>
                <a:latin typeface="Hiragino Sans"/>
                <a:ea typeface="Hiragino Sans"/>
                <a:cs typeface="Hiragino Sans"/>
              </a:rPr>
              <a:t>+0.15</a:t>
            </a:r>
          </a:p>
        </p:txBody>
      </p:sp>
      <p:sp>
        <p:nvSpPr>
          <p:cNvPr id="3" name="テキスト ボックス 2">
            <a:extLst>
              <a:ext uri="{FF2B5EF4-FFF2-40B4-BE49-F238E27FC236}">
                <a16:creationId xmlns:a16="http://schemas.microsoft.com/office/drawing/2014/main" id="{4BE0B363-3D81-B6DC-C386-0D520379A452}"/>
              </a:ext>
            </a:extLst>
          </p:cNvPr>
          <p:cNvSpPr txBox="1"/>
          <p:nvPr/>
        </p:nvSpPr>
        <p:spPr>
          <a:xfrm>
            <a:off x="628650" y="996117"/>
            <a:ext cx="6183103" cy="923330"/>
          </a:xfrm>
          <a:prstGeom prst="rect">
            <a:avLst/>
          </a:prstGeom>
          <a:noFill/>
        </p:spPr>
        <p:txBody>
          <a:bodyPr wrap="none" rtlCol="0">
            <a:spAutoFit/>
          </a:bodyPr>
          <a:lstStyle/>
          <a:p>
            <a:br>
              <a:rPr kumimoji="1" lang="en-US" altLang="ja-JP" dirty="0"/>
            </a:br>
            <a:r>
              <a:rPr kumimoji="1" lang="en-US" altLang="ja-JP" dirty="0"/>
              <a:t>1. </a:t>
            </a:r>
            <a:r>
              <a:rPr lang="ja-JP" altLang="ja-JP" noProof="1"/>
              <a:t>「なぜその判断に至ったのか」のプロセスや理由を提示</a:t>
            </a:r>
          </a:p>
          <a:p>
            <a:endParaRPr kumimoji="1" lang="ja-JP" altLang="en-US"/>
          </a:p>
        </p:txBody>
      </p:sp>
      <p:sp>
        <p:nvSpPr>
          <p:cNvPr id="18" name="テキスト ボックス 17">
            <a:extLst>
              <a:ext uri="{FF2B5EF4-FFF2-40B4-BE49-F238E27FC236}">
                <a16:creationId xmlns:a16="http://schemas.microsoft.com/office/drawing/2014/main" id="{0B051C82-1280-8ABC-2820-0547C6A9BC07}"/>
              </a:ext>
            </a:extLst>
          </p:cNvPr>
          <p:cNvSpPr txBox="1"/>
          <p:nvPr/>
        </p:nvSpPr>
        <p:spPr>
          <a:xfrm>
            <a:off x="6067961" y="4828861"/>
            <a:ext cx="5457289" cy="1200329"/>
          </a:xfrm>
          <a:prstGeom prst="rect">
            <a:avLst/>
          </a:prstGeom>
          <a:noFill/>
        </p:spPr>
        <p:txBody>
          <a:bodyPr wrap="square" rtlCol="0">
            <a:spAutoFit/>
          </a:bodyPr>
          <a:lstStyle/>
          <a:p>
            <a:r>
              <a:rPr kumimoji="1" lang="ja-JP" altLang="en-US"/>
              <a:t>例</a:t>
            </a:r>
            <a:r>
              <a:rPr kumimoji="1" lang="en-US" altLang="ja-JP" dirty="0"/>
              <a:t> : </a:t>
            </a:r>
            <a:r>
              <a:rPr kumimoji="1" lang="ja-JP" altLang="en-US"/>
              <a:t>ハスキー犬の画像認識</a:t>
            </a:r>
            <a:endParaRPr kumimoji="1" lang="en-US" altLang="ja-JP" dirty="0"/>
          </a:p>
          <a:p>
            <a:r>
              <a:rPr lang="ja-JP" altLang="en-US"/>
              <a:t>犬ではなく，背景の雪によってハスキー犬か否かを判断していた</a:t>
            </a:r>
            <a:endParaRPr lang="en-US" altLang="ja-JP" dirty="0"/>
          </a:p>
          <a:p>
            <a:r>
              <a:rPr lang="en-US" altLang="ja-JP" dirty="0"/>
              <a:t>→</a:t>
            </a:r>
            <a:r>
              <a:rPr lang="ja-JP" altLang="en-US"/>
              <a:t>モデルが誤った学習をしている</a:t>
            </a:r>
            <a:endParaRPr kumimoji="1" lang="ja-JP" altLang="en-US"/>
          </a:p>
        </p:txBody>
      </p:sp>
      <p:sp>
        <p:nvSpPr>
          <p:cNvPr id="19" name="テキスト ボックス 18">
            <a:extLst>
              <a:ext uri="{FF2B5EF4-FFF2-40B4-BE49-F238E27FC236}">
                <a16:creationId xmlns:a16="http://schemas.microsoft.com/office/drawing/2014/main" id="{75362BDC-EAA7-0066-86B2-88D99AEAD70B}"/>
              </a:ext>
            </a:extLst>
          </p:cNvPr>
          <p:cNvSpPr txBox="1"/>
          <p:nvPr/>
        </p:nvSpPr>
        <p:spPr>
          <a:xfrm>
            <a:off x="1399400" y="4253467"/>
            <a:ext cx="902811" cy="307777"/>
          </a:xfrm>
          <a:prstGeom prst="rect">
            <a:avLst/>
          </a:prstGeom>
          <a:noFill/>
        </p:spPr>
        <p:txBody>
          <a:bodyPr wrap="none" rtlCol="0">
            <a:spAutoFit/>
          </a:bodyPr>
          <a:lstStyle/>
          <a:p>
            <a:r>
              <a:rPr kumimoji="1" lang="ja-JP" altLang="en-US" sz="1400"/>
              <a:t>入力画像</a:t>
            </a:r>
          </a:p>
        </p:txBody>
      </p:sp>
      <p:sp>
        <p:nvSpPr>
          <p:cNvPr id="20" name="テキスト ボックス 19">
            <a:extLst>
              <a:ext uri="{FF2B5EF4-FFF2-40B4-BE49-F238E27FC236}">
                <a16:creationId xmlns:a16="http://schemas.microsoft.com/office/drawing/2014/main" id="{C565AFB0-C915-D7B6-876E-CE06C471380A}"/>
              </a:ext>
            </a:extLst>
          </p:cNvPr>
          <p:cNvSpPr txBox="1"/>
          <p:nvPr/>
        </p:nvSpPr>
        <p:spPr>
          <a:xfrm>
            <a:off x="3545324" y="4244192"/>
            <a:ext cx="2339102" cy="307777"/>
          </a:xfrm>
          <a:prstGeom prst="rect">
            <a:avLst/>
          </a:prstGeom>
          <a:noFill/>
        </p:spPr>
        <p:txBody>
          <a:bodyPr wrap="none" rtlCol="0">
            <a:spAutoFit/>
          </a:bodyPr>
          <a:lstStyle/>
          <a:p>
            <a:r>
              <a:rPr kumimoji="1" lang="ja-JP" altLang="en-US" sz="1400"/>
              <a:t>説明の根拠となったパーツ</a:t>
            </a:r>
          </a:p>
        </p:txBody>
      </p:sp>
      <p:sp>
        <p:nvSpPr>
          <p:cNvPr id="21" name="テキスト ボックス 20">
            <a:extLst>
              <a:ext uri="{FF2B5EF4-FFF2-40B4-BE49-F238E27FC236}">
                <a16:creationId xmlns:a16="http://schemas.microsoft.com/office/drawing/2014/main" id="{5851E3AA-88AA-B545-4D02-BEF25D0A3D8E}"/>
              </a:ext>
            </a:extLst>
          </p:cNvPr>
          <p:cNvSpPr txBox="1"/>
          <p:nvPr/>
        </p:nvSpPr>
        <p:spPr>
          <a:xfrm>
            <a:off x="0" y="6487566"/>
            <a:ext cx="6686446" cy="415498"/>
          </a:xfrm>
          <a:prstGeom prst="rect">
            <a:avLst/>
          </a:prstGeom>
          <a:noFill/>
        </p:spPr>
        <p:txBody>
          <a:bodyPr wrap="none" rtlCol="0">
            <a:spAutoFit/>
          </a:bodyPr>
          <a:lstStyle/>
          <a:p>
            <a:r>
              <a:rPr lang="en-US" altLang="ja-JP" sz="1050" dirty="0"/>
              <a:t>[1]</a:t>
            </a:r>
            <a:r>
              <a:rPr lang="ja-JP" altLang="ja-JP" sz="1050"/>
              <a:t>Ribeiro, M. T., Singh, S., &amp; Guestrin, C. (2016). "Why should I trust you?": Explaining the predictions of any classifier. </a:t>
            </a:r>
            <a:br>
              <a:rPr lang="en-US" altLang="ja-JP" sz="1050" dirty="0"/>
            </a:br>
            <a:r>
              <a:rPr lang="ja-JP" altLang="ja-JP" sz="1050" i="1"/>
              <a:t>Proceedings of the 22nd ACM SIGKDD international conference on knowledge discovery and data mining</a:t>
            </a:r>
            <a:r>
              <a:rPr lang="ja-JP" altLang="ja-JP" sz="1050"/>
              <a:t>, 1135-1144.</a:t>
            </a:r>
            <a:endParaRPr kumimoji="1" lang="ja-JP" altLang="en-US" sz="1050"/>
          </a:p>
        </p:txBody>
      </p:sp>
    </p:spTree>
    <p:extLst>
      <p:ext uri="{BB962C8B-B14F-4D97-AF65-F5344CB8AC3E}">
        <p14:creationId xmlns:p14="http://schemas.microsoft.com/office/powerpoint/2010/main" val="1930983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0"/>
          </a:p>
        </p:txBody>
      </p:sp>
      <p:sp>
        <p:nvSpPr>
          <p:cNvPr id="3" name="title"/>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目次</a:t>
            </a:r>
          </a:p>
        </p:txBody>
      </p:sp>
      <p:sp>
        <p:nvSpPr>
          <p:cNvPr id="6" name="toc-item-0"/>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a:t>
            </a:r>
            <a:r>
              <a:rPr lang="ja-JP" sz="2200" b="1" noProof="0">
                <a:solidFill>
                  <a:srgbClr val="156082"/>
                </a:solidFill>
                <a:latin typeface="Hiragino Sans"/>
                <a:ea typeface="Hiragino Sans"/>
              </a:rPr>
              <a:t>1. XAI（説明可能なAI）</a:t>
            </a:r>
          </a:p>
        </p:txBody>
      </p:sp>
      <p:sp>
        <p:nvSpPr>
          <p:cNvPr id="7" name="toc-item-1"/>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defRPr sz="1600" b="0">
                <a:solidFill>
                  <a:srgbClr val="B9BEC4"/>
                </a:solidFill>
                <a:latin typeface="Hiragino Sans"/>
                <a:ea typeface="Hiragino Sans"/>
                <a:cs typeface="Hiragino Sans"/>
              </a:defRPr>
            </a:pPr>
            <a:r>
              <a:rPr lang="ja-JP" sz="1600" noProof="0">
                <a:solidFill>
                  <a:srgbClr val="B9BEC4"/>
                </a:solidFill>
                <a:latin typeface="Hiragino Sans"/>
                <a:ea typeface="Hiragino Sans"/>
              </a:rPr>
              <a:t>　　2. LIME</a:t>
            </a:r>
          </a:p>
        </p:txBody>
      </p:sp>
      <p:sp>
        <p:nvSpPr>
          <p:cNvPr id="8" name="toc-item-2"/>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3. 多クラスに応用したLIME</a:t>
            </a:r>
          </a:p>
        </p:txBody>
      </p:sp>
      <p:sp>
        <p:nvSpPr>
          <p:cNvPr id="9" name="toc-item-3"/>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4. 関連研究</a:t>
            </a:r>
          </a:p>
        </p:txBody>
      </p:sp>
      <p:sp>
        <p:nvSpPr>
          <p:cNvPr id="10" name="toc-item-4"/>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5. 提案手法</a:t>
            </a:r>
          </a:p>
        </p:txBody>
      </p:sp>
      <p:sp>
        <p:nvSpPr>
          <p:cNvPr id="11" name="toc-item-5"/>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6. 実験と考察</a:t>
            </a:r>
          </a:p>
        </p:txBody>
      </p:sp>
      <p:sp>
        <p:nvSpPr>
          <p:cNvPr id="12" name="toc-item-6"/>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7. まとめと今後の展望</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A5CABAE7-EE96-43F6-8798-50868115529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3-title">
            <a:extLst>
              <a:ext uri="{FF2B5EF4-FFF2-40B4-BE49-F238E27FC236}">
                <a16:creationId xmlns:a16="http://schemas.microsoft.com/office/drawing/2014/main" id="{F2977694-D0B3-41BB-BD59-7C652764FDB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 </a:t>
            </a:r>
          </a:p>
        </p:txBody>
      </p:sp>
      <p:sp>
        <p:nvSpPr>
          <p:cNvPr id="5" name="正方形/長方形 4">
            <a:extLst>
              <a:ext uri="{FF2B5EF4-FFF2-40B4-BE49-F238E27FC236}">
                <a16:creationId xmlns:a16="http://schemas.microsoft.com/office/drawing/2014/main" id="{74BDF188-2E3E-46A9-8518-B56A08BC8684}"/>
              </a:ext>
            </a:extLst>
          </p:cNvPr>
          <p:cNvSpPr>
            <a:spLocks noGrp="1"/>
          </p:cNvSpPr>
          <p:nvPr/>
        </p:nvSpPr>
        <p:spPr>
          <a:xfrm>
            <a:off x="258318" y="2145208"/>
            <a:ext cx="4177227" cy="457200"/>
          </a:xfrm>
          <a:prstGeom prst="rect">
            <a:avLst/>
          </a:prstGeom>
          <a:noFill/>
          <a:ln w="0">
            <a:noFill/>
            <a:prstDash val="solid"/>
          </a:ln>
        </p:spPr>
        <p:txBody>
          <a:bodyPr lIns="0" tIns="0" rIns="0" bIns="0" anchor="t">
            <a:noAutofit/>
          </a:bodyPr>
          <a:lstStyle/>
          <a:p>
            <a:pPr algn="l">
              <a:buNone/>
              <a:defRPr sz="2400" b="1">
                <a:solidFill>
                  <a:srgbClr val="2F6BDE"/>
                </a:solidFill>
                <a:latin typeface="Hiragino Sans"/>
                <a:ea typeface="Hiragino Sans"/>
                <a:cs typeface="Hiragino Sans"/>
              </a:defRPr>
            </a:pPr>
            <a:r>
              <a:rPr lang="ja-JP" sz="4400" b="1" noProof="1">
                <a:solidFill>
                  <a:srgbClr val="2F6BDE"/>
                </a:solidFill>
                <a:latin typeface="Hiragino Sans"/>
                <a:ea typeface="Hiragino Sans"/>
                <a:cs typeface="Hiragino Sans"/>
              </a:rPr>
              <a:t>LIME</a:t>
            </a:r>
            <a:endParaRPr lang="ja-JP" sz="2800" b="1" noProof="1">
              <a:solidFill>
                <a:srgbClr val="2F6BDE"/>
              </a:solidFill>
              <a:latin typeface="Hiragino Sans"/>
              <a:ea typeface="Hiragino Sans"/>
              <a:cs typeface="Hiragino Sans"/>
            </a:endParaRPr>
          </a:p>
        </p:txBody>
      </p:sp>
      <p:sp>
        <p:nvSpPr>
          <p:cNvPr id="6" name="正方形/長方形 5">
            <a:extLst>
              <a:ext uri="{FF2B5EF4-FFF2-40B4-BE49-F238E27FC236}">
                <a16:creationId xmlns:a16="http://schemas.microsoft.com/office/drawing/2014/main" id="{25BC8E6A-AD03-4BC1-8F71-70EF8E678E5D}"/>
              </a:ext>
            </a:extLst>
          </p:cNvPr>
          <p:cNvSpPr>
            <a:spLocks noGrp="1"/>
          </p:cNvSpPr>
          <p:nvPr/>
        </p:nvSpPr>
        <p:spPr>
          <a:xfrm>
            <a:off x="258318" y="2862199"/>
            <a:ext cx="5581650" cy="1714500"/>
          </a:xfrm>
          <a:prstGeom prst="rect">
            <a:avLst/>
          </a:prstGeom>
          <a:noFill/>
          <a:ln w="0">
            <a:noFill/>
            <a:prstDash val="solid"/>
          </a:ln>
        </p:spPr>
        <p:txBody>
          <a:bodyPr lIns="0" tIns="0" rIns="0" bIns="0" anchor="t">
            <a:noAutofit/>
          </a:bodyPr>
          <a:lstStyle/>
          <a:p>
            <a:pPr algn="l">
              <a:lnSpc>
                <a:spcPct val="106000"/>
              </a:lnSpc>
              <a:buNone/>
              <a:defRPr sz="1500" b="1">
                <a:solidFill>
                  <a:srgbClr val="12233A"/>
                </a:solidFill>
                <a:latin typeface="Hiragino Sans"/>
                <a:ea typeface="Hiragino Sans"/>
                <a:cs typeface="Hiragino Sans"/>
              </a:defRPr>
            </a:pPr>
            <a:r>
              <a:rPr lang="ja-JP" sz="2400" b="1" noProof="1">
                <a:solidFill>
                  <a:srgbClr val="12233A"/>
                </a:solidFill>
                <a:latin typeface="Hiragino Sans"/>
                <a:ea typeface="Hiragino Sans"/>
                <a:cs typeface="Hiragino Sans"/>
              </a:rPr>
              <a:t>Local		</a:t>
            </a:r>
            <a:r>
              <a:rPr lang="en-US" altLang="ja-JP" sz="2400" b="1" noProof="1">
                <a:solidFill>
                  <a:srgbClr val="12233A"/>
                </a:solidFill>
                <a:latin typeface="Hiragino Sans"/>
                <a:ea typeface="Hiragino Sans"/>
                <a:cs typeface="Hiragino Sans"/>
              </a:rPr>
              <a:t>	</a:t>
            </a:r>
            <a:r>
              <a:rPr lang="ja-JP" sz="2400" b="1" noProof="1">
                <a:solidFill>
                  <a:srgbClr val="12233A"/>
                </a:solidFill>
                <a:latin typeface="Hiragino Sans"/>
                <a:ea typeface="Hiragino Sans"/>
                <a:cs typeface="Hiragino Sans"/>
              </a:rPr>
              <a:t>局所的</a:t>
            </a:r>
          </a:p>
          <a:p>
            <a:pPr algn="l">
              <a:lnSpc>
                <a:spcPct val="106000"/>
              </a:lnSpc>
              <a:buNone/>
              <a:defRPr sz="1500" b="1">
                <a:solidFill>
                  <a:srgbClr val="12233A"/>
                </a:solidFill>
                <a:latin typeface="Hiragino Sans"/>
                <a:ea typeface="Hiragino Sans"/>
                <a:cs typeface="Hiragino Sans"/>
              </a:defRPr>
            </a:pPr>
            <a:r>
              <a:rPr lang="ja-JP" sz="2400" b="1" noProof="1">
                <a:solidFill>
                  <a:srgbClr val="12233A"/>
                </a:solidFill>
                <a:latin typeface="Hiragino Sans"/>
                <a:ea typeface="Hiragino Sans"/>
                <a:cs typeface="Hiragino Sans"/>
              </a:rPr>
              <a:t>Interpretable</a:t>
            </a:r>
            <a:r>
              <a:rPr lang="en-US" altLang="ja-JP" sz="2400" b="1" noProof="1">
                <a:solidFill>
                  <a:srgbClr val="12233A"/>
                </a:solidFill>
                <a:latin typeface="Hiragino Sans"/>
                <a:ea typeface="Hiragino Sans"/>
                <a:cs typeface="Hiragino Sans"/>
              </a:rPr>
              <a:t>	</a:t>
            </a:r>
            <a:r>
              <a:rPr lang="ja-JP" sz="2400" b="1" noProof="1">
                <a:solidFill>
                  <a:srgbClr val="12233A"/>
                </a:solidFill>
                <a:latin typeface="Hiragino Sans"/>
                <a:ea typeface="Hiragino Sans"/>
                <a:cs typeface="Hiragino Sans"/>
              </a:rPr>
              <a:t>解釈可能</a:t>
            </a:r>
          </a:p>
          <a:p>
            <a:pPr algn="l">
              <a:lnSpc>
                <a:spcPct val="106000"/>
              </a:lnSpc>
              <a:buNone/>
              <a:defRPr sz="1500" b="1">
                <a:solidFill>
                  <a:srgbClr val="12233A"/>
                </a:solidFill>
                <a:latin typeface="Hiragino Sans"/>
                <a:ea typeface="Hiragino Sans"/>
                <a:cs typeface="Hiragino Sans"/>
              </a:defRPr>
            </a:pPr>
            <a:r>
              <a:rPr lang="ja-JP" sz="2400" b="1" noProof="1">
                <a:solidFill>
                  <a:srgbClr val="12233A"/>
                </a:solidFill>
                <a:latin typeface="Hiragino Sans"/>
                <a:ea typeface="Hiragino Sans"/>
                <a:cs typeface="Hiragino Sans"/>
              </a:rPr>
              <a:t>Model-agnostic </a:t>
            </a:r>
            <a:r>
              <a:rPr lang="en-US" altLang="ja-JP" sz="2400" b="1" noProof="1">
                <a:solidFill>
                  <a:srgbClr val="12233A"/>
                </a:solidFill>
                <a:latin typeface="Hiragino Sans"/>
                <a:ea typeface="Hiragino Sans"/>
                <a:cs typeface="Hiragino Sans"/>
              </a:rPr>
              <a:t>	</a:t>
            </a:r>
            <a:r>
              <a:rPr lang="ja-JP" sz="2400" b="1" noProof="1">
                <a:solidFill>
                  <a:srgbClr val="FF0000"/>
                </a:solidFill>
                <a:latin typeface="Hiragino Sans"/>
                <a:ea typeface="Hiragino Sans"/>
                <a:cs typeface="Hiragino Sans"/>
              </a:rPr>
              <a:t>モデル非依存</a:t>
            </a:r>
          </a:p>
          <a:p>
            <a:pPr algn="l">
              <a:lnSpc>
                <a:spcPct val="106000"/>
              </a:lnSpc>
              <a:buNone/>
              <a:defRPr sz="1500" b="1">
                <a:solidFill>
                  <a:srgbClr val="12233A"/>
                </a:solidFill>
                <a:latin typeface="Hiragino Sans"/>
                <a:ea typeface="Hiragino Sans"/>
                <a:cs typeface="Hiragino Sans"/>
              </a:defRPr>
            </a:pPr>
            <a:r>
              <a:rPr lang="ja-JP" sz="2400" b="1" noProof="1">
                <a:solidFill>
                  <a:srgbClr val="12233A"/>
                </a:solidFill>
                <a:latin typeface="Hiragino Sans"/>
                <a:ea typeface="Hiragino Sans"/>
                <a:cs typeface="Hiragino Sans"/>
              </a:rPr>
              <a:t>Explanations	説明</a:t>
            </a:r>
          </a:p>
        </p:txBody>
      </p:sp>
      <p:sp>
        <p:nvSpPr>
          <p:cNvPr id="7" name="正方形/長方形 6">
            <a:extLst>
              <a:ext uri="{FF2B5EF4-FFF2-40B4-BE49-F238E27FC236}">
                <a16:creationId xmlns:a16="http://schemas.microsoft.com/office/drawing/2014/main" id="{2A29B0FF-82CB-4F7C-913D-7E72B0F562E5}"/>
              </a:ext>
            </a:extLst>
          </p:cNvPr>
          <p:cNvSpPr>
            <a:spLocks noGrp="1"/>
          </p:cNvSpPr>
          <p:nvPr/>
        </p:nvSpPr>
        <p:spPr>
          <a:xfrm>
            <a:off x="567750" y="4571111"/>
            <a:ext cx="5272218" cy="552450"/>
          </a:xfrm>
          <a:prstGeom prst="rect">
            <a:avLst/>
          </a:prstGeom>
          <a:noFill/>
          <a:ln w="0">
            <a:noFill/>
            <a:prstDash val="solid"/>
          </a:ln>
        </p:spPr>
        <p:txBody>
          <a:bodyPr lIns="0" tIns="0" rIns="0" bIns="0" anchor="t">
            <a:noAutofit/>
          </a:bodyPr>
          <a:lstStyle/>
          <a:p>
            <a:pPr algn="l">
              <a:lnSpc>
                <a:spcPct val="108000"/>
              </a:lnSpc>
              <a:buNone/>
              <a:defRPr sz="1350" b="0">
                <a:solidFill>
                  <a:srgbClr val="667085"/>
                </a:solidFill>
                <a:latin typeface="Hiragino Sans"/>
                <a:ea typeface="Hiragino Sans"/>
                <a:cs typeface="Hiragino Sans"/>
              </a:defRPr>
            </a:pPr>
            <a:r>
              <a:rPr lang="ja-JP" sz="1400" b="0" noProof="1">
                <a:solidFill>
                  <a:srgbClr val="667085"/>
                </a:solidFill>
                <a:latin typeface="Hiragino Sans"/>
                <a:ea typeface="Hiragino Sans"/>
                <a:cs typeface="Hiragino Sans"/>
              </a:rPr>
              <a:t>モデル内部を見ず，入力と予測だけを使う</a:t>
            </a:r>
          </a:p>
        </p:txBody>
      </p:sp>
      <p:pic>
        <p:nvPicPr>
          <p:cNvPr id="11" name="図 10">
            <a:extLst>
              <a:ext uri="{FF2B5EF4-FFF2-40B4-BE49-F238E27FC236}">
                <a16:creationId xmlns:a16="http://schemas.microsoft.com/office/drawing/2014/main" id="{DD219A03-AEA4-B412-EA21-B6822712B71B}"/>
              </a:ext>
            </a:extLst>
          </p:cNvPr>
          <p:cNvPicPr>
            <a:picLocks noChangeAspect="1"/>
          </p:cNvPicPr>
          <p:nvPr/>
        </p:nvPicPr>
        <p:blipFill>
          <a:blip r:embed="rId3"/>
          <a:stretch>
            <a:fillRect/>
          </a:stretch>
        </p:blipFill>
        <p:spPr>
          <a:xfrm>
            <a:off x="4441599" y="1804468"/>
            <a:ext cx="4411145" cy="4055885"/>
          </a:xfrm>
          <a:prstGeom prst="rect">
            <a:avLst/>
          </a:prstGeom>
        </p:spPr>
      </p:pic>
      <p:sp>
        <p:nvSpPr>
          <p:cNvPr id="28" name="テキスト ボックス 27">
            <a:extLst>
              <a:ext uri="{FF2B5EF4-FFF2-40B4-BE49-F238E27FC236}">
                <a16:creationId xmlns:a16="http://schemas.microsoft.com/office/drawing/2014/main" id="{024389A8-1F5F-F243-5052-2FDB1CB778AE}"/>
              </a:ext>
            </a:extLst>
          </p:cNvPr>
          <p:cNvSpPr txBox="1"/>
          <p:nvPr/>
        </p:nvSpPr>
        <p:spPr>
          <a:xfrm>
            <a:off x="6812453" y="3292862"/>
            <a:ext cx="1107996" cy="369332"/>
          </a:xfrm>
          <a:prstGeom prst="rect">
            <a:avLst/>
          </a:prstGeom>
          <a:noFill/>
        </p:spPr>
        <p:txBody>
          <a:bodyPr wrap="none" rtlCol="0">
            <a:spAutoFit/>
          </a:bodyPr>
          <a:lstStyle/>
          <a:p>
            <a:r>
              <a:rPr kumimoji="1" lang="ja-JP" noProof="1"/>
              <a:t>説明対象</a:t>
            </a:r>
          </a:p>
        </p:txBody>
      </p:sp>
      <p:sp>
        <p:nvSpPr>
          <p:cNvPr id="32" name="テキスト ボックス 31">
            <a:extLst>
              <a:ext uri="{FF2B5EF4-FFF2-40B4-BE49-F238E27FC236}">
                <a16:creationId xmlns:a16="http://schemas.microsoft.com/office/drawing/2014/main" id="{443FEB40-AF37-EC83-0339-2B9D49D01D7B}"/>
              </a:ext>
            </a:extLst>
          </p:cNvPr>
          <p:cNvSpPr txBox="1"/>
          <p:nvPr/>
        </p:nvSpPr>
        <p:spPr>
          <a:xfrm>
            <a:off x="7920449" y="1642015"/>
            <a:ext cx="1338828" cy="369332"/>
          </a:xfrm>
          <a:prstGeom prst="rect">
            <a:avLst/>
          </a:prstGeom>
          <a:noFill/>
        </p:spPr>
        <p:txBody>
          <a:bodyPr wrap="none" rtlCol="0">
            <a:spAutoFit/>
          </a:bodyPr>
          <a:lstStyle/>
          <a:p>
            <a:r>
              <a:rPr kumimoji="1" lang="ja-JP" noProof="1"/>
              <a:t>近似の直線</a:t>
            </a:r>
          </a:p>
        </p:txBody>
      </p:sp>
      <p:pic>
        <p:nvPicPr>
          <p:cNvPr id="33" name="図 32">
            <a:extLst>
              <a:ext uri="{FF2B5EF4-FFF2-40B4-BE49-F238E27FC236}">
                <a16:creationId xmlns:a16="http://schemas.microsoft.com/office/drawing/2014/main" id="{61D870EE-63F4-6843-9954-CD03503F0202}"/>
              </a:ext>
            </a:extLst>
          </p:cNvPr>
          <p:cNvPicPr>
            <a:picLocks noChangeAspect="1"/>
          </p:cNvPicPr>
          <p:nvPr/>
        </p:nvPicPr>
        <p:blipFill>
          <a:blip r:embed="rId4"/>
          <a:stretch>
            <a:fillRect/>
          </a:stretch>
        </p:blipFill>
        <p:spPr>
          <a:xfrm>
            <a:off x="8635711" y="2137004"/>
            <a:ext cx="3131127" cy="228600"/>
          </a:xfrm>
          <a:prstGeom prst="rect">
            <a:avLst/>
          </a:prstGeom>
        </p:spPr>
      </p:pic>
      <p:sp>
        <p:nvSpPr>
          <p:cNvPr id="3" name="正方形/長方形 2">
            <a:extLst>
              <a:ext uri="{FF2B5EF4-FFF2-40B4-BE49-F238E27FC236}">
                <a16:creationId xmlns:a16="http://schemas.microsoft.com/office/drawing/2014/main" id="{3CAB0DB8-E479-F425-6134-333D0E0F9021}"/>
              </a:ext>
            </a:extLst>
          </p:cNvPr>
          <p:cNvSpPr>
            <a:spLocks noGrp="1"/>
          </p:cNvSpPr>
          <p:nvPr/>
        </p:nvSpPr>
        <p:spPr>
          <a:xfrm>
            <a:off x="9010650" y="2850231"/>
            <a:ext cx="2667000" cy="2049556"/>
          </a:xfrm>
          <a:prstGeom prst="rect">
            <a:avLst/>
          </a:prstGeom>
          <a:solidFill>
            <a:schemeClr val="lt1"/>
          </a:solidFill>
          <a:ln w="41275" cap="rnd" cmpd="dbl">
            <a:solidFill>
              <a:schemeClr val="accent6"/>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4" name="正方形/長方形 3">
            <a:extLst>
              <a:ext uri="{FF2B5EF4-FFF2-40B4-BE49-F238E27FC236}">
                <a16:creationId xmlns:a16="http://schemas.microsoft.com/office/drawing/2014/main" id="{96E9A7E1-D1FC-3A38-20EB-094FED1FE74E}"/>
              </a:ext>
            </a:extLst>
          </p:cNvPr>
          <p:cNvSpPr>
            <a:spLocks noGrp="1"/>
          </p:cNvSpPr>
          <p:nvPr/>
        </p:nvSpPr>
        <p:spPr>
          <a:xfrm>
            <a:off x="9115425" y="3054178"/>
            <a:ext cx="2171700" cy="323850"/>
          </a:xfrm>
          <a:prstGeom prst="rect">
            <a:avLst/>
          </a:prstGeom>
          <a:noFill/>
          <a:ln w="0">
            <a:noFill/>
            <a:prstDash val="solid"/>
          </a:ln>
        </p:spPr>
        <p:txBody>
          <a:bodyPr lIns="0" tIns="0" rIns="0" bIns="0" anchor="t">
            <a:noAutofit/>
          </a:bodyPr>
          <a:lstStyle/>
          <a:p>
            <a:pPr algn="l">
              <a:buNone/>
              <a:defRPr sz="1800" b="1">
                <a:solidFill>
                  <a:srgbClr val="10B981"/>
                </a:solidFill>
                <a:latin typeface="Hiragino Sans"/>
                <a:ea typeface="Hiragino Sans"/>
                <a:cs typeface="Hiragino Sans"/>
              </a:defRPr>
            </a:pPr>
            <a:r>
              <a:rPr lang="ja-JP" sz="1800" b="1" noProof="1">
                <a:solidFill>
                  <a:srgbClr val="10B981"/>
                </a:solidFill>
                <a:latin typeface="Hiragino Sans"/>
                <a:ea typeface="Hiragino Sans"/>
                <a:cs typeface="Hiragino Sans"/>
              </a:rPr>
              <a:t>XAIによる説明</a:t>
            </a:r>
          </a:p>
        </p:txBody>
      </p:sp>
      <p:sp>
        <p:nvSpPr>
          <p:cNvPr id="8" name="正方形/長方形 7">
            <a:extLst>
              <a:ext uri="{FF2B5EF4-FFF2-40B4-BE49-F238E27FC236}">
                <a16:creationId xmlns:a16="http://schemas.microsoft.com/office/drawing/2014/main" id="{2C24D344-052C-D561-3497-2A5BA0207ECA}"/>
              </a:ext>
            </a:extLst>
          </p:cNvPr>
          <p:cNvSpPr>
            <a:spLocks noGrp="1"/>
          </p:cNvSpPr>
          <p:nvPr/>
        </p:nvSpPr>
        <p:spPr>
          <a:xfrm>
            <a:off x="9115425" y="3528187"/>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Hiragino Sans"/>
                <a:ea typeface="Hiragino Sans"/>
                <a:cs typeface="Hiragino Sans"/>
              </a:defRPr>
            </a:pPr>
            <a:r>
              <a:rPr lang="ja-JP" sz="1425" b="1" noProof="1">
                <a:solidFill>
                  <a:srgbClr val="111827"/>
                </a:solidFill>
                <a:latin typeface="Hiragino Sans"/>
                <a:ea typeface="Hiragino Sans"/>
                <a:cs typeface="Hiragino Sans"/>
              </a:rPr>
              <a:t>運賃</a:t>
            </a:r>
          </a:p>
        </p:txBody>
      </p:sp>
      <p:sp>
        <p:nvSpPr>
          <p:cNvPr id="9" name="正方形/長方形 8">
            <a:extLst>
              <a:ext uri="{FF2B5EF4-FFF2-40B4-BE49-F238E27FC236}">
                <a16:creationId xmlns:a16="http://schemas.microsoft.com/office/drawing/2014/main" id="{0D1F4FBB-B973-56CE-20F3-4AA14F5C62A2}"/>
              </a:ext>
            </a:extLst>
          </p:cNvPr>
          <p:cNvSpPr>
            <a:spLocks noGrp="1"/>
          </p:cNvSpPr>
          <p:nvPr/>
        </p:nvSpPr>
        <p:spPr>
          <a:xfrm>
            <a:off x="10344150" y="3547237"/>
            <a:ext cx="571500" cy="190500"/>
          </a:xfrm>
          <a:prstGeom prst="rect">
            <a:avLst/>
          </a:prstGeom>
          <a:solidFill>
            <a:srgbClr val="10B981"/>
          </a:solidFill>
          <a:ln w="0">
            <a:solidFill>
              <a:srgbClr val="10B981"/>
            </a:solidFill>
            <a:prstDash val="solid"/>
          </a:ln>
        </p:spPr>
        <p:txBody>
          <a:bodyPr/>
          <a:lstStyle/>
          <a:p>
            <a:endParaRPr lang="ja-JP" noProof="1"/>
          </a:p>
        </p:txBody>
      </p:sp>
      <p:sp>
        <p:nvSpPr>
          <p:cNvPr id="10" name="正方形/長方形 9">
            <a:extLst>
              <a:ext uri="{FF2B5EF4-FFF2-40B4-BE49-F238E27FC236}">
                <a16:creationId xmlns:a16="http://schemas.microsoft.com/office/drawing/2014/main" id="{36036B8B-23E8-8571-C473-AC5EDFB40895}"/>
              </a:ext>
            </a:extLst>
          </p:cNvPr>
          <p:cNvSpPr>
            <a:spLocks noGrp="1"/>
          </p:cNvSpPr>
          <p:nvPr/>
        </p:nvSpPr>
        <p:spPr>
          <a:xfrm>
            <a:off x="10963275" y="3499612"/>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Hiragino Sans"/>
                <a:ea typeface="Hiragino Sans"/>
                <a:cs typeface="Hiragino Sans"/>
              </a:defRPr>
            </a:pPr>
            <a:r>
              <a:rPr lang="ja-JP" sz="1275" b="1" noProof="1">
                <a:solidFill>
                  <a:srgbClr val="10B981"/>
                </a:solidFill>
                <a:latin typeface="Hiragino Sans"/>
                <a:ea typeface="Hiragino Sans"/>
                <a:cs typeface="Hiragino Sans"/>
              </a:rPr>
              <a:t>+0.50</a:t>
            </a:r>
          </a:p>
        </p:txBody>
      </p:sp>
      <p:sp>
        <p:nvSpPr>
          <p:cNvPr id="12" name="正方形/長方形 11">
            <a:extLst>
              <a:ext uri="{FF2B5EF4-FFF2-40B4-BE49-F238E27FC236}">
                <a16:creationId xmlns:a16="http://schemas.microsoft.com/office/drawing/2014/main" id="{733B194E-88AD-A783-DC47-319BB4ABE2A8}"/>
              </a:ext>
            </a:extLst>
          </p:cNvPr>
          <p:cNvSpPr>
            <a:spLocks noGrp="1"/>
          </p:cNvSpPr>
          <p:nvPr/>
        </p:nvSpPr>
        <p:spPr>
          <a:xfrm>
            <a:off x="9115425" y="4023487"/>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Hiragino Sans"/>
                <a:ea typeface="Hiragino Sans"/>
                <a:cs typeface="Hiragino Sans"/>
              </a:defRPr>
            </a:pPr>
            <a:r>
              <a:rPr lang="ja-JP" sz="1425" b="1" noProof="1">
                <a:solidFill>
                  <a:srgbClr val="111827"/>
                </a:solidFill>
                <a:latin typeface="Hiragino Sans"/>
                <a:ea typeface="Hiragino Sans"/>
                <a:cs typeface="Hiragino Sans"/>
              </a:rPr>
              <a:t>年齢</a:t>
            </a:r>
          </a:p>
        </p:txBody>
      </p:sp>
      <p:sp>
        <p:nvSpPr>
          <p:cNvPr id="13" name="正方形/長方形 12">
            <a:extLst>
              <a:ext uri="{FF2B5EF4-FFF2-40B4-BE49-F238E27FC236}">
                <a16:creationId xmlns:a16="http://schemas.microsoft.com/office/drawing/2014/main" id="{D8EA1E57-EAD8-0C01-8A0E-08630944EAD2}"/>
              </a:ext>
            </a:extLst>
          </p:cNvPr>
          <p:cNvSpPr>
            <a:spLocks noGrp="1"/>
          </p:cNvSpPr>
          <p:nvPr/>
        </p:nvSpPr>
        <p:spPr>
          <a:xfrm>
            <a:off x="9972675" y="4042537"/>
            <a:ext cx="371475" cy="190500"/>
          </a:xfrm>
          <a:prstGeom prst="rect">
            <a:avLst/>
          </a:prstGeom>
          <a:solidFill>
            <a:srgbClr val="EF4444"/>
          </a:solidFill>
          <a:ln w="0">
            <a:solidFill>
              <a:srgbClr val="EF4444"/>
            </a:solidFill>
            <a:prstDash val="solid"/>
          </a:ln>
        </p:spPr>
        <p:txBody>
          <a:bodyPr/>
          <a:lstStyle/>
          <a:p>
            <a:endParaRPr lang="ja-JP" noProof="1"/>
          </a:p>
        </p:txBody>
      </p:sp>
      <p:sp>
        <p:nvSpPr>
          <p:cNvPr id="14" name="正方形/長方形 13">
            <a:extLst>
              <a:ext uri="{FF2B5EF4-FFF2-40B4-BE49-F238E27FC236}">
                <a16:creationId xmlns:a16="http://schemas.microsoft.com/office/drawing/2014/main" id="{F02B9C82-13DF-88DF-81D6-FBB768190C74}"/>
              </a:ext>
            </a:extLst>
          </p:cNvPr>
          <p:cNvSpPr>
            <a:spLocks noGrp="1"/>
          </p:cNvSpPr>
          <p:nvPr/>
        </p:nvSpPr>
        <p:spPr>
          <a:xfrm>
            <a:off x="10963275" y="3994912"/>
            <a:ext cx="571500" cy="266700"/>
          </a:xfrm>
          <a:prstGeom prst="rect">
            <a:avLst/>
          </a:prstGeom>
          <a:noFill/>
          <a:ln w="0">
            <a:noFill/>
            <a:prstDash val="solid"/>
          </a:ln>
        </p:spPr>
        <p:txBody>
          <a:bodyPr lIns="0" tIns="0" rIns="0" bIns="0" anchor="t">
            <a:noAutofit/>
          </a:bodyPr>
          <a:lstStyle/>
          <a:p>
            <a:pPr algn="r">
              <a:buNone/>
              <a:defRPr sz="1275" b="1">
                <a:solidFill>
                  <a:srgbClr val="EF4444"/>
                </a:solidFill>
                <a:latin typeface="Hiragino Sans"/>
                <a:ea typeface="Hiragino Sans"/>
                <a:cs typeface="Hiragino Sans"/>
              </a:defRPr>
            </a:pPr>
            <a:r>
              <a:rPr lang="ja-JP" sz="1275" b="1" noProof="1">
                <a:solidFill>
                  <a:srgbClr val="EF4444"/>
                </a:solidFill>
                <a:latin typeface="Hiragino Sans"/>
                <a:ea typeface="Hiragino Sans"/>
                <a:cs typeface="Hiragino Sans"/>
              </a:rPr>
              <a:t>−0.20</a:t>
            </a:r>
          </a:p>
        </p:txBody>
      </p:sp>
      <p:sp>
        <p:nvSpPr>
          <p:cNvPr id="15" name="正方形/長方形 14">
            <a:extLst>
              <a:ext uri="{FF2B5EF4-FFF2-40B4-BE49-F238E27FC236}">
                <a16:creationId xmlns:a16="http://schemas.microsoft.com/office/drawing/2014/main" id="{79DE4EB3-DE9F-1D96-48B1-E20322FDD8F8}"/>
              </a:ext>
            </a:extLst>
          </p:cNvPr>
          <p:cNvSpPr>
            <a:spLocks noGrp="1"/>
          </p:cNvSpPr>
          <p:nvPr/>
        </p:nvSpPr>
        <p:spPr>
          <a:xfrm>
            <a:off x="9115425" y="4518787"/>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Hiragino Sans"/>
                <a:ea typeface="Hiragino Sans"/>
                <a:cs typeface="Hiragino Sans"/>
              </a:defRPr>
            </a:pPr>
            <a:r>
              <a:rPr lang="ja-JP" sz="1425" b="1" noProof="1">
                <a:solidFill>
                  <a:srgbClr val="111827"/>
                </a:solidFill>
                <a:latin typeface="Hiragino Sans"/>
                <a:ea typeface="Hiragino Sans"/>
                <a:cs typeface="Hiragino Sans"/>
              </a:rPr>
              <a:t>客室等級</a:t>
            </a:r>
          </a:p>
        </p:txBody>
      </p:sp>
      <p:sp>
        <p:nvSpPr>
          <p:cNvPr id="16" name="正方形/長方形 15">
            <a:extLst>
              <a:ext uri="{FF2B5EF4-FFF2-40B4-BE49-F238E27FC236}">
                <a16:creationId xmlns:a16="http://schemas.microsoft.com/office/drawing/2014/main" id="{88E4198E-DFDE-E9BE-5627-5AF40695441E}"/>
              </a:ext>
            </a:extLst>
          </p:cNvPr>
          <p:cNvSpPr>
            <a:spLocks noGrp="1"/>
          </p:cNvSpPr>
          <p:nvPr/>
        </p:nvSpPr>
        <p:spPr>
          <a:xfrm>
            <a:off x="10344150" y="4537837"/>
            <a:ext cx="266700" cy="190500"/>
          </a:xfrm>
          <a:prstGeom prst="rect">
            <a:avLst/>
          </a:prstGeom>
          <a:solidFill>
            <a:srgbClr val="10B981"/>
          </a:solidFill>
          <a:ln w="0">
            <a:solidFill>
              <a:srgbClr val="10B981"/>
            </a:solidFill>
            <a:prstDash val="solid"/>
          </a:ln>
        </p:spPr>
        <p:txBody>
          <a:bodyPr/>
          <a:lstStyle/>
          <a:p>
            <a:endParaRPr lang="ja-JP" noProof="1"/>
          </a:p>
        </p:txBody>
      </p:sp>
      <p:sp>
        <p:nvSpPr>
          <p:cNvPr id="17" name="正方形/長方形 16">
            <a:extLst>
              <a:ext uri="{FF2B5EF4-FFF2-40B4-BE49-F238E27FC236}">
                <a16:creationId xmlns:a16="http://schemas.microsoft.com/office/drawing/2014/main" id="{2CAA3E78-AD9D-608B-3104-DAC1BBBE1251}"/>
              </a:ext>
            </a:extLst>
          </p:cNvPr>
          <p:cNvSpPr>
            <a:spLocks noGrp="1"/>
          </p:cNvSpPr>
          <p:nvPr/>
        </p:nvSpPr>
        <p:spPr>
          <a:xfrm>
            <a:off x="10963275" y="4490212"/>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Hiragino Sans"/>
                <a:ea typeface="Hiragino Sans"/>
                <a:cs typeface="Hiragino Sans"/>
              </a:defRPr>
            </a:pPr>
            <a:r>
              <a:rPr lang="ja-JP" sz="1275" b="1" noProof="1">
                <a:solidFill>
                  <a:srgbClr val="10B981"/>
                </a:solidFill>
                <a:latin typeface="Hiragino Sans"/>
                <a:ea typeface="Hiragino Sans"/>
                <a:cs typeface="Hiragino Sans"/>
              </a:rPr>
              <a:t>+0.15</a:t>
            </a:r>
          </a:p>
        </p:txBody>
      </p:sp>
      <p:sp>
        <p:nvSpPr>
          <p:cNvPr id="18" name="テキスト ボックス 17">
            <a:extLst>
              <a:ext uri="{FF2B5EF4-FFF2-40B4-BE49-F238E27FC236}">
                <a16:creationId xmlns:a16="http://schemas.microsoft.com/office/drawing/2014/main" id="{0651DD7C-4B20-AEB4-501D-DDE2B3C1CB00}"/>
              </a:ext>
            </a:extLst>
          </p:cNvPr>
          <p:cNvSpPr txBox="1"/>
          <p:nvPr/>
        </p:nvSpPr>
        <p:spPr>
          <a:xfrm>
            <a:off x="3371850" y="5923337"/>
            <a:ext cx="6128601" cy="369332"/>
          </a:xfrm>
          <a:prstGeom prst="rect">
            <a:avLst/>
          </a:prstGeom>
          <a:noFill/>
        </p:spPr>
        <p:txBody>
          <a:bodyPr wrap="none" rtlCol="0">
            <a:spAutoFit/>
          </a:bodyPr>
          <a:lstStyle/>
          <a:p>
            <a:r>
              <a:rPr kumimoji="1" lang="ja-JP" altLang="en-US"/>
              <a:t>複雑なモデル</a:t>
            </a:r>
            <a:r>
              <a:rPr kumimoji="1" lang="en-US" altLang="ja-JP" dirty="0"/>
              <a:t>(</a:t>
            </a:r>
            <a:r>
              <a:rPr kumimoji="1" lang="ja-JP" altLang="en-US"/>
              <a:t>曲線</a:t>
            </a:r>
            <a:r>
              <a:rPr kumimoji="1" lang="en-US" altLang="ja-JP" dirty="0"/>
              <a:t>)</a:t>
            </a:r>
            <a:r>
              <a:rPr kumimoji="1" lang="ja-JP" altLang="en-US"/>
              <a:t>を，簡単なモデル</a:t>
            </a:r>
            <a:r>
              <a:rPr kumimoji="1" lang="en-US" altLang="ja-JP" dirty="0"/>
              <a:t>(</a:t>
            </a:r>
            <a:r>
              <a:rPr kumimoji="1" lang="ja-JP" altLang="en-US"/>
              <a:t>直線</a:t>
            </a:r>
            <a:r>
              <a:rPr kumimoji="1" lang="en-US" altLang="ja-JP" dirty="0"/>
              <a:t>)</a:t>
            </a:r>
            <a:r>
              <a:rPr kumimoji="1" lang="ja-JP" altLang="en-US"/>
              <a:t>に置き換える</a:t>
            </a:r>
          </a:p>
        </p:txBody>
      </p:sp>
      <p:sp>
        <p:nvSpPr>
          <p:cNvPr id="19" name="テキスト ボックス 18">
            <a:extLst>
              <a:ext uri="{FF2B5EF4-FFF2-40B4-BE49-F238E27FC236}">
                <a16:creationId xmlns:a16="http://schemas.microsoft.com/office/drawing/2014/main" id="{A4DB578D-A3C5-4912-64CE-E1DB6ABAC1B3}"/>
              </a:ext>
            </a:extLst>
          </p:cNvPr>
          <p:cNvSpPr txBox="1"/>
          <p:nvPr/>
        </p:nvSpPr>
        <p:spPr>
          <a:xfrm>
            <a:off x="6267236" y="6311384"/>
            <a:ext cx="1479892" cy="369332"/>
          </a:xfrm>
          <a:prstGeom prst="rect">
            <a:avLst/>
          </a:prstGeom>
          <a:noFill/>
        </p:spPr>
        <p:txBody>
          <a:bodyPr wrap="none" rtlCol="0">
            <a:spAutoFit/>
          </a:bodyPr>
          <a:lstStyle/>
          <a:p>
            <a:r>
              <a:rPr kumimoji="1" lang="en-US" altLang="ja-JP" dirty="0"/>
              <a:t>(</a:t>
            </a:r>
            <a:r>
              <a:rPr kumimoji="1" lang="ja-JP" altLang="en-US"/>
              <a:t>サロゲート</a:t>
            </a:r>
            <a:r>
              <a:rPr kumimoji="1" lang="en-US" altLang="ja-JP" dirty="0"/>
              <a:t>)</a:t>
            </a:r>
            <a:endParaRPr kumimoji="1" lang="ja-JP" altLang="en-US"/>
          </a:p>
        </p:txBody>
      </p:sp>
    </p:spTree>
    <p:extLst>
      <p:ext uri="{BB962C8B-B14F-4D97-AF65-F5344CB8AC3E}">
        <p14:creationId xmlns:p14="http://schemas.microsoft.com/office/powerpoint/2010/main" val="1985531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E9A51388-D423-448C-A9E4-BF0E5CC22FD1}"/>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4-title">
            <a:extLst>
              <a:ext uri="{FF2B5EF4-FFF2-40B4-BE49-F238E27FC236}">
                <a16:creationId xmlns:a16="http://schemas.microsoft.com/office/drawing/2014/main" id="{B88F81F8-218A-4596-BD6E-9744D41A4A2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LIMEのアルゴリズム</a:t>
            </a:r>
          </a:p>
        </p:txBody>
      </p:sp>
      <p:sp>
        <p:nvSpPr>
          <p:cNvPr id="9" name="正方形/長方形 8">
            <a:extLst>
              <a:ext uri="{FF2B5EF4-FFF2-40B4-BE49-F238E27FC236}">
                <a16:creationId xmlns:a16="http://schemas.microsoft.com/office/drawing/2014/main" id="{803CF79B-E99E-4B55-AE67-BA4C56704DB4}"/>
              </a:ext>
            </a:extLst>
          </p:cNvPr>
          <p:cNvSpPr>
            <a:spLocks noGrp="1"/>
          </p:cNvSpPr>
          <p:nvPr/>
        </p:nvSpPr>
        <p:spPr>
          <a:xfrm>
            <a:off x="514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0" name="正方形/長方形 9">
            <a:extLst>
              <a:ext uri="{FF2B5EF4-FFF2-40B4-BE49-F238E27FC236}">
                <a16:creationId xmlns:a16="http://schemas.microsoft.com/office/drawing/2014/main" id="{3C100994-F9AB-40C7-899C-AACB47AB9CCC}"/>
              </a:ext>
            </a:extLst>
          </p:cNvPr>
          <p:cNvSpPr>
            <a:spLocks noGrp="1"/>
          </p:cNvSpPr>
          <p:nvPr/>
        </p:nvSpPr>
        <p:spPr>
          <a:xfrm>
            <a:off x="685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01</a:t>
            </a:r>
          </a:p>
        </p:txBody>
      </p:sp>
      <p:sp>
        <p:nvSpPr>
          <p:cNvPr id="11" name="正方形/長方形 10">
            <a:extLst>
              <a:ext uri="{FF2B5EF4-FFF2-40B4-BE49-F238E27FC236}">
                <a16:creationId xmlns:a16="http://schemas.microsoft.com/office/drawing/2014/main" id="{36A6719D-46B1-4863-B69E-E4D5F12A458D}"/>
              </a:ext>
            </a:extLst>
          </p:cNvPr>
          <p:cNvSpPr>
            <a:spLocks noGrp="1"/>
          </p:cNvSpPr>
          <p:nvPr/>
        </p:nvSpPr>
        <p:spPr>
          <a:xfrm>
            <a:off x="685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説明対象を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1つ選ぶ</a:t>
            </a:r>
          </a:p>
        </p:txBody>
      </p:sp>
      <p:sp>
        <p:nvSpPr>
          <p:cNvPr id="12" name="正方形/長方形 11">
            <a:extLst>
              <a:ext uri="{FF2B5EF4-FFF2-40B4-BE49-F238E27FC236}">
                <a16:creationId xmlns:a16="http://schemas.microsoft.com/office/drawing/2014/main" id="{C839CFBB-15B4-41BC-9B25-7A14C64A2BEC}"/>
              </a:ext>
            </a:extLst>
          </p:cNvPr>
          <p:cNvSpPr>
            <a:spLocks noGrp="1"/>
          </p:cNvSpPr>
          <p:nvPr/>
        </p:nvSpPr>
        <p:spPr>
          <a:xfrm>
            <a:off x="2800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3" name="正方形/長方形 12">
            <a:extLst>
              <a:ext uri="{FF2B5EF4-FFF2-40B4-BE49-F238E27FC236}">
                <a16:creationId xmlns:a16="http://schemas.microsoft.com/office/drawing/2014/main" id="{0E56D9E4-5496-473E-BB29-D0567A20BC36}"/>
              </a:ext>
            </a:extLst>
          </p:cNvPr>
          <p:cNvSpPr>
            <a:spLocks noGrp="1"/>
          </p:cNvSpPr>
          <p:nvPr/>
        </p:nvSpPr>
        <p:spPr>
          <a:xfrm>
            <a:off x="2971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02</a:t>
            </a:r>
          </a:p>
        </p:txBody>
      </p:sp>
      <p:sp>
        <p:nvSpPr>
          <p:cNvPr id="14" name="正方形/長方形 13">
            <a:extLst>
              <a:ext uri="{FF2B5EF4-FFF2-40B4-BE49-F238E27FC236}">
                <a16:creationId xmlns:a16="http://schemas.microsoft.com/office/drawing/2014/main" id="{79C05803-1C44-4C10-AB37-D683DA88F741}"/>
              </a:ext>
            </a:extLst>
          </p:cNvPr>
          <p:cNvSpPr>
            <a:spLocks noGrp="1"/>
          </p:cNvSpPr>
          <p:nvPr/>
        </p:nvSpPr>
        <p:spPr>
          <a:xfrm>
            <a:off x="2971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近傍サンプルを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多数作る</a:t>
            </a:r>
          </a:p>
        </p:txBody>
      </p:sp>
      <p:sp>
        <p:nvSpPr>
          <p:cNvPr id="15" name="正方形/長方形 14">
            <a:extLst>
              <a:ext uri="{FF2B5EF4-FFF2-40B4-BE49-F238E27FC236}">
                <a16:creationId xmlns:a16="http://schemas.microsoft.com/office/drawing/2014/main" id="{1A9597DE-D3C9-49E6-B9E8-9CF1432A6438}"/>
              </a:ext>
            </a:extLst>
          </p:cNvPr>
          <p:cNvSpPr>
            <a:spLocks noGrp="1"/>
          </p:cNvSpPr>
          <p:nvPr/>
        </p:nvSpPr>
        <p:spPr>
          <a:xfrm>
            <a:off x="5086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6" name="正方形/長方形 15">
            <a:extLst>
              <a:ext uri="{FF2B5EF4-FFF2-40B4-BE49-F238E27FC236}">
                <a16:creationId xmlns:a16="http://schemas.microsoft.com/office/drawing/2014/main" id="{707F0283-81BB-4D64-837A-AE24550C7FDC}"/>
              </a:ext>
            </a:extLst>
          </p:cNvPr>
          <p:cNvSpPr>
            <a:spLocks noGrp="1"/>
          </p:cNvSpPr>
          <p:nvPr/>
        </p:nvSpPr>
        <p:spPr>
          <a:xfrm>
            <a:off x="5257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03</a:t>
            </a:r>
          </a:p>
        </p:txBody>
      </p:sp>
      <p:sp>
        <p:nvSpPr>
          <p:cNvPr id="17" name="正方形/長方形 16">
            <a:extLst>
              <a:ext uri="{FF2B5EF4-FFF2-40B4-BE49-F238E27FC236}">
                <a16:creationId xmlns:a16="http://schemas.microsoft.com/office/drawing/2014/main" id="{0BE24583-8266-43EE-9569-8E14A7E8F2DE}"/>
              </a:ext>
            </a:extLst>
          </p:cNvPr>
          <p:cNvSpPr>
            <a:spLocks noGrp="1"/>
          </p:cNvSpPr>
          <p:nvPr/>
        </p:nvSpPr>
        <p:spPr>
          <a:xfrm>
            <a:off x="5172074" y="2134281"/>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ブラックボックスの</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予測を得る</a:t>
            </a:r>
          </a:p>
        </p:txBody>
      </p:sp>
      <p:sp>
        <p:nvSpPr>
          <p:cNvPr id="18" name="正方形/長方形 17">
            <a:extLst>
              <a:ext uri="{FF2B5EF4-FFF2-40B4-BE49-F238E27FC236}">
                <a16:creationId xmlns:a16="http://schemas.microsoft.com/office/drawing/2014/main" id="{B87BCA31-032B-40B5-B864-3F5D99033DC7}"/>
              </a:ext>
            </a:extLst>
          </p:cNvPr>
          <p:cNvSpPr>
            <a:spLocks noGrp="1"/>
          </p:cNvSpPr>
          <p:nvPr/>
        </p:nvSpPr>
        <p:spPr>
          <a:xfrm>
            <a:off x="7372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9" name="正方形/長方形 18">
            <a:extLst>
              <a:ext uri="{FF2B5EF4-FFF2-40B4-BE49-F238E27FC236}">
                <a16:creationId xmlns:a16="http://schemas.microsoft.com/office/drawing/2014/main" id="{0E68EC00-BE7D-427A-AECF-BDECEA00EA02}"/>
              </a:ext>
            </a:extLst>
          </p:cNvPr>
          <p:cNvSpPr>
            <a:spLocks noGrp="1"/>
          </p:cNvSpPr>
          <p:nvPr/>
        </p:nvSpPr>
        <p:spPr>
          <a:xfrm>
            <a:off x="7543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04</a:t>
            </a:r>
          </a:p>
        </p:txBody>
      </p:sp>
      <p:sp>
        <p:nvSpPr>
          <p:cNvPr id="20" name="正方形/長方形 19">
            <a:extLst>
              <a:ext uri="{FF2B5EF4-FFF2-40B4-BE49-F238E27FC236}">
                <a16:creationId xmlns:a16="http://schemas.microsoft.com/office/drawing/2014/main" id="{99234844-DF1C-46D6-B875-BEDA4551C528}"/>
              </a:ext>
            </a:extLst>
          </p:cNvPr>
          <p:cNvSpPr>
            <a:spLocks noGrp="1"/>
          </p:cNvSpPr>
          <p:nvPr/>
        </p:nvSpPr>
        <p:spPr>
          <a:xfrm>
            <a:off x="7543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近いサンプルを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強く重み付け</a:t>
            </a:r>
          </a:p>
        </p:txBody>
      </p:sp>
      <p:sp>
        <p:nvSpPr>
          <p:cNvPr id="21" name="正方形/長方形 20">
            <a:extLst>
              <a:ext uri="{FF2B5EF4-FFF2-40B4-BE49-F238E27FC236}">
                <a16:creationId xmlns:a16="http://schemas.microsoft.com/office/drawing/2014/main" id="{1D073FBD-B191-4B1C-A83B-0FF5ED0650F7}"/>
              </a:ext>
            </a:extLst>
          </p:cNvPr>
          <p:cNvSpPr>
            <a:spLocks noGrp="1"/>
          </p:cNvSpPr>
          <p:nvPr/>
        </p:nvSpPr>
        <p:spPr>
          <a:xfrm>
            <a:off x="9658350" y="1600200"/>
            <a:ext cx="1952625" cy="1381125"/>
          </a:xfrm>
          <a:prstGeom prst="rect">
            <a:avLst/>
          </a:prstGeom>
          <a:solidFill>
            <a:srgbClr val="D1FAE5"/>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2" name="正方形/長方形 21">
            <a:extLst>
              <a:ext uri="{FF2B5EF4-FFF2-40B4-BE49-F238E27FC236}">
                <a16:creationId xmlns:a16="http://schemas.microsoft.com/office/drawing/2014/main" id="{96538127-B9A1-44C0-B12F-9AB935469740}"/>
              </a:ext>
            </a:extLst>
          </p:cNvPr>
          <p:cNvSpPr>
            <a:spLocks noGrp="1"/>
          </p:cNvSpPr>
          <p:nvPr/>
        </p:nvSpPr>
        <p:spPr>
          <a:xfrm>
            <a:off x="9829800" y="1752600"/>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Hiragino Sans"/>
                <a:ea typeface="Hiragino Sans"/>
                <a:cs typeface="Hiragino Sans"/>
              </a:defRPr>
            </a:pPr>
            <a:r>
              <a:rPr lang="ja-JP" sz="1600" b="1" noProof="1">
                <a:solidFill>
                  <a:srgbClr val="10B981"/>
                </a:solidFill>
                <a:latin typeface="Hiragino Sans"/>
                <a:ea typeface="Hiragino Sans"/>
                <a:cs typeface="Hiragino Sans"/>
              </a:rPr>
              <a:t>05</a:t>
            </a:r>
          </a:p>
        </p:txBody>
      </p:sp>
      <p:sp>
        <p:nvSpPr>
          <p:cNvPr id="23" name="正方形/長方形 22">
            <a:extLst>
              <a:ext uri="{FF2B5EF4-FFF2-40B4-BE49-F238E27FC236}">
                <a16:creationId xmlns:a16="http://schemas.microsoft.com/office/drawing/2014/main" id="{5C38DA0D-55F7-486D-823A-59D68EB35847}"/>
              </a:ext>
            </a:extLst>
          </p:cNvPr>
          <p:cNvSpPr>
            <a:spLocks noGrp="1"/>
          </p:cNvSpPr>
          <p:nvPr/>
        </p:nvSpPr>
        <p:spPr>
          <a:xfrm>
            <a:off x="9740154" y="2114550"/>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単純な局所モデルを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学習する</a:t>
            </a:r>
          </a:p>
        </p:txBody>
      </p:sp>
      <p:cxnSp>
        <p:nvCxnSpPr>
          <p:cNvPr id="107" name="直線矢印コネクタ 58"/>
          <p:cNvCxnSpPr/>
          <p:nvPr/>
        </p:nvCxnSpPr>
        <p:spPr>
          <a:xfrm>
            <a:off x="523875" y="3362325"/>
            <a:ext cx="11049000" cy="0"/>
          </a:xfrm>
          <a:prstGeom prst="straightConnector1">
            <a:avLst/>
          </a:prstGeom>
          <a:ln w="19050">
            <a:solidFill>
              <a:srgbClr val="CBD5E1"/>
            </a:solidFill>
            <a:prstDash val="solid"/>
          </a:ln>
        </p:spPr>
      </p:cxnSp>
      <p:sp>
        <p:nvSpPr>
          <p:cNvPr id="25" name="正方形/長方形 24">
            <a:extLst>
              <a:ext uri="{FF2B5EF4-FFF2-40B4-BE49-F238E27FC236}">
                <a16:creationId xmlns:a16="http://schemas.microsoft.com/office/drawing/2014/main" id="{F978DE0E-8795-4644-A05E-64B77F5DF41C}"/>
              </a:ext>
            </a:extLst>
          </p:cNvPr>
          <p:cNvSpPr>
            <a:spLocks noGrp="1"/>
          </p:cNvSpPr>
          <p:nvPr/>
        </p:nvSpPr>
        <p:spPr>
          <a:xfrm>
            <a:off x="666750" y="3667125"/>
            <a:ext cx="2476500" cy="342900"/>
          </a:xfrm>
          <a:prstGeom prst="rect">
            <a:avLst/>
          </a:prstGeom>
          <a:noFill/>
          <a:ln w="0">
            <a:noFill/>
            <a:prstDash val="solid"/>
          </a:ln>
        </p:spPr>
        <p:txBody>
          <a:bodyPr lIns="0" tIns="0" rIns="0" bIns="0" anchor="t">
            <a:noAutofit/>
          </a:bodyPr>
          <a:lstStyle/>
          <a:p>
            <a:pPr algn="l">
              <a:buNone/>
              <a:defRPr sz="1800" b="1">
                <a:solidFill>
                  <a:srgbClr val="2563EB"/>
                </a:solidFill>
                <a:latin typeface="Hiragino Sans"/>
                <a:ea typeface="Hiragino Sans"/>
                <a:cs typeface="Hiragino Sans"/>
              </a:defRPr>
            </a:pPr>
            <a:r>
              <a:rPr lang="ja-JP" sz="1800" b="1" noProof="1">
                <a:solidFill>
                  <a:srgbClr val="2563EB"/>
                </a:solidFill>
                <a:latin typeface="Hiragino Sans"/>
                <a:ea typeface="Hiragino Sans"/>
                <a:cs typeface="Hiragino Sans"/>
              </a:rPr>
              <a:t>LIMEの目的関数</a:t>
            </a:r>
          </a:p>
        </p:txBody>
      </p:sp>
      <p:sp>
        <p:nvSpPr>
          <p:cNvPr id="30" name="正方形/長方形 29">
            <a:extLst>
              <a:ext uri="{FF2B5EF4-FFF2-40B4-BE49-F238E27FC236}">
                <a16:creationId xmlns:a16="http://schemas.microsoft.com/office/drawing/2014/main" id="{ADC570E3-8068-49BC-8287-8DBD23FB616F}"/>
              </a:ext>
            </a:extLst>
          </p:cNvPr>
          <p:cNvSpPr>
            <a:spLocks noGrp="1"/>
          </p:cNvSpPr>
          <p:nvPr/>
        </p:nvSpPr>
        <p:spPr>
          <a:xfrm>
            <a:off x="1846729" y="5048250"/>
            <a:ext cx="3384000" cy="1236009"/>
          </a:xfrm>
          <a:prstGeom prst="rect">
            <a:avLst/>
          </a:prstGeom>
          <a:noFill/>
          <a:ln w="41275">
            <a:solidFill>
              <a:srgbClr val="2563EB"/>
            </a:solidFill>
            <a:prstDash val="solid"/>
            <a:bevel/>
          </a:ln>
          <a:effectLst>
            <a:outerShdw blurRad="63500" sx="102000" sy="102000" algn="ctr" rotWithShape="0">
              <a:prstClr val="black">
                <a:alpha val="40000"/>
              </a:prstClr>
            </a:outerShdw>
          </a:effectLst>
        </p:spPr>
        <p:txBody>
          <a:bodyPr/>
          <a:lstStyle/>
          <a:p>
            <a:endParaRPr lang="ja-JP" noProof="1"/>
          </a:p>
        </p:txBody>
      </p:sp>
      <mc:AlternateContent xmlns:mc="http://schemas.openxmlformats.org/markup-compatibility/2006" xmlns:a14="http://schemas.microsoft.com/office/drawing/2010/main">
        <mc:Choice Requires="a14">
          <p:sp>
            <p:nvSpPr>
              <p:cNvPr id="31" name="正方形/長方形 30">
                <a:extLst>
                  <a:ext uri="{FF2B5EF4-FFF2-40B4-BE49-F238E27FC236}">
                    <a16:creationId xmlns:a16="http://schemas.microsoft.com/office/drawing/2014/main" id="{44DF11AC-6EF3-4048-8180-BFB46459E624}"/>
                  </a:ext>
                </a:extLst>
              </p:cNvPr>
              <p:cNvSpPr>
                <a:spLocks noGrp="1"/>
              </p:cNvSpPr>
              <p:nvPr/>
            </p:nvSpPr>
            <p:spPr>
              <a:xfrm>
                <a:off x="1714500" y="5153025"/>
                <a:ext cx="3619500" cy="533400"/>
              </a:xfrm>
              <a:prstGeom prst="rect">
                <a:avLst/>
              </a:prstGeom>
              <a:noFill/>
              <a:ln w="0">
                <a:noFill/>
                <a:prstDash val="solid"/>
              </a:ln>
            </p:spPr>
            <p:txBody>
              <a:bodyPr lIns="0" tIns="0" rIns="0" bIns="0" anchor="t">
                <a:noAutofit/>
              </a:bodyPr>
              <a:lstStyle/>
              <a:p>
                <a:pPr algn="ctr">
                  <a:buNone/>
                  <a:defRPr sz="1575" b="1">
                    <a:solidFill>
                      <a:srgbClr val="2563EB"/>
                    </a:solidFill>
                    <a:latin typeface="Hiragino Sans"/>
                    <a:ea typeface="Hiragino Sans"/>
                    <a:cs typeface="Hiragino Sans"/>
                  </a:defRPr>
                </a:pPr>
                <a:br>
                  <a:rPr lang="ja-JP" sz="1575" b="1" noProof="1">
                    <a:solidFill>
                      <a:srgbClr val="2563EB"/>
                    </a:solidFill>
                    <a:latin typeface="Hiragino Sans"/>
                    <a:ea typeface="Hiragino Sans"/>
                    <a:cs typeface="Hiragino Sans"/>
                  </a:rPr>
                </a:br>
                <a:br>
                  <a:rPr lang="ja-JP" sz="1575" b="1" noProof="1">
                    <a:solidFill>
                      <a:srgbClr val="2563EB"/>
                    </a:solidFill>
                    <a:latin typeface="Hiragino Sans"/>
                    <a:ea typeface="Hiragino Sans"/>
                    <a:cs typeface="Hiragino Sans"/>
                  </a:rPr>
                </a:br>
                <a:r>
                  <a:rPr lang="ja-JP" sz="1575" b="1" noProof="1">
                    <a:solidFill>
                      <a:srgbClr val="2563EB"/>
                    </a:solidFill>
                    <a:latin typeface="Hiragino Sans"/>
                    <a:ea typeface="Hiragino Sans"/>
                    <a:cs typeface="Hiragino Sans"/>
                  </a:rPr>
                  <a:t>対象点の近くで予測を再現</a:t>
                </a:r>
                <a:br>
                  <a:rPr lang="ja-JP" sz="1575" b="1" noProof="1">
                    <a:solidFill>
                      <a:srgbClr val="2563EB"/>
                    </a:solidFill>
                    <a:latin typeface="Hiragino Sans"/>
                    <a:ea typeface="Hiragino Sans"/>
                    <a:cs typeface="Hiragino Sans"/>
                  </a:rPr>
                </a:br>
                <a:r>
                  <a:rPr lang="ja-JP" sz="1575" b="1" noProof="1">
                    <a:solidFill>
                      <a:srgbClr val="2563EB"/>
                    </a:solidFill>
                    <a:latin typeface="Hiragino Sans"/>
                    <a:ea typeface="Hiragino Sans"/>
                    <a:cs typeface="Hiragino Sans"/>
                  </a:rPr>
                  <a:t>（元モデル </a:t>
                </a:r>
                <a14:m>
                  <m:oMath xmlns:m="http://schemas.openxmlformats.org/officeDocument/2006/math">
                    <m:r>
                      <a:rPr lang="ja-JP" sz="1575" b="1" i="1" noProof="1" dirty="0" smtClean="0">
                        <a:solidFill>
                          <a:srgbClr val="2563EB"/>
                        </a:solidFill>
                        <a:latin typeface="Cambria Math" panose="02040503050406030204" pitchFamily="18" charset="0"/>
                        <a:ea typeface="Hiragino Sans"/>
                        <a:cs typeface="Hiragino Sans"/>
                      </a:rPr>
                      <m:t>𝒇</m:t>
                    </m:r>
                  </m:oMath>
                </a14:m>
                <a:r>
                  <a:rPr lang="ja-JP" sz="1575" b="1" noProof="1">
                    <a:solidFill>
                      <a:srgbClr val="2563EB"/>
                    </a:solidFill>
                    <a:latin typeface="Hiragino Sans"/>
                    <a:ea typeface="Hiragino Sans"/>
                    <a:cs typeface="Hiragino Sans"/>
                  </a:rPr>
                  <a:t> と予測モデル </a:t>
                </a:r>
                <a14:m>
                  <m:oMath xmlns:m="http://schemas.openxmlformats.org/officeDocument/2006/math">
                    <m:r>
                      <a:rPr lang="ja-JP" sz="1575" b="1" i="1" noProof="1" dirty="0" smtClean="0">
                        <a:solidFill>
                          <a:srgbClr val="2563EB"/>
                        </a:solidFill>
                        <a:latin typeface="Cambria Math" panose="02040503050406030204" pitchFamily="18" charset="0"/>
                        <a:ea typeface="Hiragino Sans"/>
                        <a:cs typeface="Hiragino Sans"/>
                      </a:rPr>
                      <m:t>𝒈</m:t>
                    </m:r>
                  </m:oMath>
                </a14:m>
                <a:r>
                  <a:rPr lang="ja-JP" sz="1575" b="1" noProof="1">
                    <a:solidFill>
                      <a:srgbClr val="2563EB"/>
                    </a:solidFill>
                    <a:latin typeface="Hiragino Sans"/>
                    <a:ea typeface="Hiragino Sans"/>
                    <a:cs typeface="Hiragino Sans"/>
                  </a:rPr>
                  <a:t> の差）</a:t>
                </a:r>
              </a:p>
            </p:txBody>
          </p:sp>
        </mc:Choice>
        <mc:Fallback xmlns="">
          <p:sp>
            <p:nvSpPr>
              <p:cNvPr id="31" name="正方形/長方形 30">
                <a:extLst>
                  <a:ext uri="{FF2B5EF4-FFF2-40B4-BE49-F238E27FC236}">
                    <a16:creationId xmlns:a16="http://schemas.microsoft.com/office/drawing/2014/main" id="{44DF11AC-6EF3-4048-8180-BFB46459E624}"/>
                  </a:ext>
                </a:extLst>
              </p:cNvPr>
              <p:cNvSpPr>
                <a:spLocks noGrp="1" noRot="1" noChangeAspect="1" noMove="1" noResize="1" noEditPoints="1" noAdjustHandles="1" noChangeArrowheads="1" noChangeShapeType="1" noTextEdit="1"/>
              </p:cNvSpPr>
              <p:nvPr/>
            </p:nvSpPr>
            <p:spPr>
              <a:xfrm>
                <a:off x="1714500" y="5153025"/>
                <a:ext cx="3619500" cy="533400"/>
              </a:xfrm>
              <a:prstGeom prst="rect">
                <a:avLst/>
              </a:prstGeom>
              <a:blipFill>
                <a:blip r:embed="rId3"/>
                <a:stretch>
                  <a:fillRect b="-100000"/>
                </a:stretch>
              </a:blipFill>
              <a:ln w="0">
                <a:noFill/>
                <a:prstDash val="solid"/>
              </a:ln>
            </p:spPr>
            <p:txBody>
              <a:bodyPr/>
              <a:lstStyle/>
              <a:p>
                <a:r>
                  <a:rPr lang="ja-JP" altLang="en-US">
                    <a:noFill/>
                  </a:rPr>
                  <a:t> </a:t>
                </a:r>
              </a:p>
            </p:txBody>
          </p:sp>
        </mc:Fallback>
      </mc:AlternateContent>
      <p:sp>
        <p:nvSpPr>
          <p:cNvPr id="32" name="正方形/長方形 31">
            <a:extLst>
              <a:ext uri="{FF2B5EF4-FFF2-40B4-BE49-F238E27FC236}">
                <a16:creationId xmlns:a16="http://schemas.microsoft.com/office/drawing/2014/main" id="{B08EA841-27BB-487C-AD94-F0AB9A1BA6B1}"/>
              </a:ext>
            </a:extLst>
          </p:cNvPr>
          <p:cNvSpPr>
            <a:spLocks noGrp="1"/>
          </p:cNvSpPr>
          <p:nvPr/>
        </p:nvSpPr>
        <p:spPr>
          <a:xfrm>
            <a:off x="5779994" y="5519830"/>
            <a:ext cx="552450" cy="476250"/>
          </a:xfrm>
          <a:prstGeom prst="rect">
            <a:avLst/>
          </a:prstGeom>
          <a:noFill/>
          <a:ln w="0">
            <a:noFill/>
            <a:prstDash val="solid"/>
          </a:ln>
        </p:spPr>
        <p:txBody>
          <a:bodyPr lIns="0" tIns="0" rIns="0" bIns="0" anchor="t">
            <a:noAutofit/>
          </a:bodyPr>
          <a:lstStyle/>
          <a:p>
            <a:pPr algn="ctr">
              <a:buNone/>
              <a:defRPr sz="2400" b="1">
                <a:solidFill>
                  <a:srgbClr val="111827"/>
                </a:solidFill>
                <a:latin typeface="Hiragino Sans"/>
                <a:ea typeface="Hiragino Sans"/>
                <a:cs typeface="Hiragino Sans"/>
              </a:defRPr>
            </a:pPr>
            <a:r>
              <a:rPr lang="ja-JP" sz="2400" b="1" noProof="1">
                <a:solidFill>
                  <a:srgbClr val="111827"/>
                </a:solidFill>
                <a:latin typeface="Hiragino Sans"/>
                <a:ea typeface="Hiragino Sans"/>
                <a:cs typeface="Hiragino Sans"/>
              </a:rPr>
              <a:t>＋</a:t>
            </a:r>
          </a:p>
        </p:txBody>
      </p:sp>
      <p:sp>
        <p:nvSpPr>
          <p:cNvPr id="33" name="正方形/長方形 32">
            <a:extLst>
              <a:ext uri="{FF2B5EF4-FFF2-40B4-BE49-F238E27FC236}">
                <a16:creationId xmlns:a16="http://schemas.microsoft.com/office/drawing/2014/main" id="{BA684434-869B-46F4-9C4F-52D923F007E0}"/>
              </a:ext>
            </a:extLst>
          </p:cNvPr>
          <p:cNvSpPr>
            <a:spLocks noGrp="1"/>
          </p:cNvSpPr>
          <p:nvPr/>
        </p:nvSpPr>
        <p:spPr>
          <a:xfrm>
            <a:off x="6814293" y="5048250"/>
            <a:ext cx="3487271" cy="1236010"/>
          </a:xfrm>
          <a:prstGeom prst="rect">
            <a:avLst/>
          </a:prstGeom>
          <a:noFill/>
          <a:ln w="41275">
            <a:solidFill>
              <a:srgbClr val="10B981"/>
            </a:solidFill>
            <a:prstDash val="solid"/>
            <a:bevel/>
          </a:ln>
          <a:effectLst>
            <a:outerShdw blurRad="63500" sx="102000" sy="102000" algn="ctr" rotWithShape="0">
              <a:prstClr val="black">
                <a:alpha val="40000"/>
              </a:prstClr>
            </a:outerShdw>
          </a:effectLst>
        </p:spPr>
        <p:txBody>
          <a:bodyPr/>
          <a:lstStyle/>
          <a:p>
            <a:endParaRPr lang="ja-JP" noProof="1"/>
          </a:p>
        </p:txBody>
      </p:sp>
      <p:sp>
        <p:nvSpPr>
          <p:cNvPr id="34" name="正方形/長方形 33">
            <a:extLst>
              <a:ext uri="{FF2B5EF4-FFF2-40B4-BE49-F238E27FC236}">
                <a16:creationId xmlns:a16="http://schemas.microsoft.com/office/drawing/2014/main" id="{6E00E308-AD4A-4754-94BA-164218CABF44}"/>
              </a:ext>
            </a:extLst>
          </p:cNvPr>
          <p:cNvSpPr>
            <a:spLocks noGrp="1"/>
          </p:cNvSpPr>
          <p:nvPr/>
        </p:nvSpPr>
        <p:spPr>
          <a:xfrm>
            <a:off x="6762750" y="5153025"/>
            <a:ext cx="3619500" cy="346074"/>
          </a:xfrm>
          <a:prstGeom prst="rect">
            <a:avLst/>
          </a:prstGeom>
          <a:noFill/>
          <a:ln w="0">
            <a:noFill/>
            <a:prstDash val="solid"/>
          </a:ln>
        </p:spPr>
        <p:txBody>
          <a:bodyPr lIns="0" tIns="0" rIns="0" bIns="0" anchor="t">
            <a:noAutofit/>
          </a:bodyPr>
          <a:lstStyle/>
          <a:p>
            <a:pPr algn="ctr">
              <a:buNone/>
              <a:defRPr sz="1575" b="1">
                <a:solidFill>
                  <a:srgbClr val="10B981"/>
                </a:solidFill>
                <a:latin typeface="Hiragino Sans"/>
                <a:ea typeface="Hiragino Sans"/>
                <a:cs typeface="Hiragino Sans"/>
              </a:defRPr>
            </a:pPr>
            <a:br>
              <a:rPr lang="ja-JP" sz="1575" b="1" noProof="1">
                <a:solidFill>
                  <a:srgbClr val="10B981"/>
                </a:solidFill>
                <a:latin typeface="Hiragino Sans"/>
                <a:ea typeface="Hiragino Sans"/>
                <a:cs typeface="Hiragino Sans"/>
              </a:rPr>
            </a:br>
            <a:br>
              <a:rPr lang="ja-JP" sz="1575" b="1" noProof="1">
                <a:solidFill>
                  <a:srgbClr val="10B981"/>
                </a:solidFill>
                <a:latin typeface="Hiragino Sans"/>
                <a:ea typeface="Hiragino Sans"/>
                <a:cs typeface="Hiragino Sans"/>
              </a:rPr>
            </a:br>
            <a:r>
              <a:rPr lang="ja-JP" sz="1575" b="1" noProof="1">
                <a:solidFill>
                  <a:srgbClr val="10B981"/>
                </a:solidFill>
                <a:latin typeface="Hiragino Sans"/>
                <a:ea typeface="Hiragino Sans"/>
                <a:cs typeface="Hiragino Sans"/>
              </a:rPr>
              <a:t>人が理解できる程度に単純</a:t>
            </a:r>
            <a:br>
              <a:rPr lang="ja-JP" sz="1575" b="1" noProof="1">
                <a:solidFill>
                  <a:srgbClr val="10B981"/>
                </a:solidFill>
                <a:latin typeface="Hiragino Sans"/>
                <a:ea typeface="Hiragino Sans"/>
                <a:cs typeface="Hiragino Sans"/>
              </a:rPr>
            </a:br>
            <a:r>
              <a:rPr lang="ja-JP" sz="1575" b="1" noProof="1">
                <a:solidFill>
                  <a:srgbClr val="10B981"/>
                </a:solidFill>
                <a:latin typeface="Hiragino Sans"/>
                <a:ea typeface="Hiragino Sans"/>
                <a:cs typeface="Hiragino Sans"/>
              </a:rPr>
              <a:t>（説明に使う特徴量の数を絞る罰則項）</a:t>
            </a:r>
          </a:p>
        </p:txBody>
      </p:sp>
      <p:pic>
        <p:nvPicPr>
          <p:cNvPr id="24" name="図 23">
            <a:extLst>
              <a:ext uri="{FF2B5EF4-FFF2-40B4-BE49-F238E27FC236}">
                <a16:creationId xmlns:a16="http://schemas.microsoft.com/office/drawing/2014/main" id="{4EF24772-832D-564C-3554-2B2632238581}"/>
              </a:ext>
            </a:extLst>
          </p:cNvPr>
          <p:cNvPicPr>
            <a:picLocks noChangeAspect="1"/>
          </p:cNvPicPr>
          <p:nvPr/>
        </p:nvPicPr>
        <p:blipFill>
          <a:blip r:embed="rId4"/>
          <a:stretch>
            <a:fillRect/>
          </a:stretch>
        </p:blipFill>
        <p:spPr>
          <a:xfrm>
            <a:off x="3704291" y="4033837"/>
            <a:ext cx="5016500" cy="711200"/>
          </a:xfrm>
          <a:prstGeom prst="rect">
            <a:avLst/>
          </a:prstGeom>
        </p:spPr>
      </p:pic>
      <p:pic>
        <p:nvPicPr>
          <p:cNvPr id="40" name="図 39">
            <a:extLst>
              <a:ext uri="{FF2B5EF4-FFF2-40B4-BE49-F238E27FC236}">
                <a16:creationId xmlns:a16="http://schemas.microsoft.com/office/drawing/2014/main" id="{04CE3D3E-7159-044E-51D5-6F00ECC045B5}"/>
              </a:ext>
            </a:extLst>
          </p:cNvPr>
          <p:cNvPicPr>
            <a:picLocks noChangeAspect="1"/>
          </p:cNvPicPr>
          <p:nvPr/>
        </p:nvPicPr>
        <p:blipFill>
          <a:blip r:embed="rId5"/>
          <a:stretch>
            <a:fillRect/>
          </a:stretch>
        </p:blipFill>
        <p:spPr>
          <a:xfrm>
            <a:off x="8254486" y="5153025"/>
            <a:ext cx="636028" cy="346074"/>
          </a:xfrm>
          <a:prstGeom prst="rect">
            <a:avLst/>
          </a:prstGeom>
        </p:spPr>
      </p:pic>
      <p:pic>
        <p:nvPicPr>
          <p:cNvPr id="41" name="図 40">
            <a:extLst>
              <a:ext uri="{FF2B5EF4-FFF2-40B4-BE49-F238E27FC236}">
                <a16:creationId xmlns:a16="http://schemas.microsoft.com/office/drawing/2014/main" id="{1D124B92-3624-B788-623F-D7D02912D517}"/>
              </a:ext>
            </a:extLst>
          </p:cNvPr>
          <p:cNvPicPr>
            <a:picLocks noChangeAspect="1"/>
          </p:cNvPicPr>
          <p:nvPr/>
        </p:nvPicPr>
        <p:blipFill>
          <a:blip r:embed="rId6"/>
          <a:stretch>
            <a:fillRect/>
          </a:stretch>
        </p:blipFill>
        <p:spPr>
          <a:xfrm>
            <a:off x="2838076" y="5153025"/>
            <a:ext cx="1372347" cy="323419"/>
          </a:xfrm>
          <a:prstGeom prst="rect">
            <a:avLst/>
          </a:prstGeom>
        </p:spPr>
      </p:pic>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E044DA4A-0E02-8240-98EE-607E4A4339CC}"/>
                  </a:ext>
                </a:extLst>
              </p:cNvPr>
              <p:cNvSpPr txBox="1"/>
              <p:nvPr/>
            </p:nvSpPr>
            <p:spPr>
              <a:xfrm>
                <a:off x="4333338" y="6492173"/>
                <a:ext cx="3667158" cy="369332"/>
              </a:xfrm>
              <a:prstGeom prst="rect">
                <a:avLst/>
              </a:prstGeom>
              <a:noFill/>
            </p:spPr>
            <p:txBody>
              <a:bodyPr wrap="none" rtlCol="0">
                <a:spAutoFit/>
              </a:bodyPr>
              <a:lstStyle/>
              <a:p>
                <a:r>
                  <a:rPr kumimoji="1" lang="ja-JP" noProof="1"/>
                  <a:t>を最小にするような </a:t>
                </a:r>
                <a14:m>
                  <m:oMath xmlns:m="http://schemas.openxmlformats.org/officeDocument/2006/math">
                    <m:r>
                      <a:rPr kumimoji="1" lang="ja-JP" i="1" noProof="1" dirty="0" smtClean="0">
                        <a:latin typeface="Cambria Math" panose="02040503050406030204" pitchFamily="18" charset="0"/>
                      </a:rPr>
                      <m:t>𝑔</m:t>
                    </m:r>
                  </m:oMath>
                </a14:m>
                <a:r>
                  <a:rPr kumimoji="1" lang="ja-JP" noProof="1"/>
                  <a:t> を見つける</a:t>
                </a:r>
              </a:p>
            </p:txBody>
          </p:sp>
        </mc:Choice>
        <mc:Fallback xmlns="">
          <p:sp>
            <p:nvSpPr>
              <p:cNvPr id="42" name="テキスト ボックス 41">
                <a:extLst>
                  <a:ext uri="{FF2B5EF4-FFF2-40B4-BE49-F238E27FC236}">
                    <a16:creationId xmlns:a16="http://schemas.microsoft.com/office/drawing/2014/main" id="{E044DA4A-0E02-8240-98EE-607E4A4339CC}"/>
                  </a:ext>
                </a:extLst>
              </p:cNvPr>
              <p:cNvSpPr txBox="1">
                <a:spLocks noRot="1" noChangeAspect="1" noMove="1" noResize="1" noEditPoints="1" noAdjustHandles="1" noChangeArrowheads="1" noChangeShapeType="1" noTextEdit="1"/>
              </p:cNvSpPr>
              <p:nvPr/>
            </p:nvSpPr>
            <p:spPr>
              <a:xfrm>
                <a:off x="4333338" y="6492173"/>
                <a:ext cx="3667158" cy="369332"/>
              </a:xfrm>
              <a:prstGeom prst="rect">
                <a:avLst/>
              </a:prstGeom>
              <a:blipFill>
                <a:blip r:embed="rId7"/>
                <a:stretch>
                  <a:fillRect l="-1730" t="-16667" r="-692" b="-20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3146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F41E53D-A720-C1FB-69D7-B6520F92BBE1}"/>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A02CAE2C-CDBF-3842-E1E0-EE85C1D35FD6}"/>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02</a:t>
            </a:r>
          </a:p>
        </p:txBody>
      </p:sp>
      <p:sp>
        <p:nvSpPr>
          <p:cNvPr id="11" name="正方形/長方形 10">
            <a:extLst>
              <a:ext uri="{FF2B5EF4-FFF2-40B4-BE49-F238E27FC236}">
                <a16:creationId xmlns:a16="http://schemas.microsoft.com/office/drawing/2014/main" id="{7E7FB131-EDD9-51FB-59C2-D521296E8E67}"/>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近傍サンプルを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多数作る</a:t>
            </a:r>
          </a:p>
        </p:txBody>
      </p:sp>
      <p:sp>
        <p:nvSpPr>
          <p:cNvPr id="12" name="正方形/長方形 11">
            <a:extLst>
              <a:ext uri="{FF2B5EF4-FFF2-40B4-BE49-F238E27FC236}">
                <a16:creationId xmlns:a16="http://schemas.microsoft.com/office/drawing/2014/main" id="{F8883DC9-B2D5-6891-BE88-AF9626B3A98F}"/>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2D4D0B34-FAD8-873D-7B8A-529F44CA9D52}"/>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03</a:t>
            </a:r>
          </a:p>
        </p:txBody>
      </p:sp>
      <p:sp>
        <p:nvSpPr>
          <p:cNvPr id="14" name="正方形/長方形 13">
            <a:extLst>
              <a:ext uri="{FF2B5EF4-FFF2-40B4-BE49-F238E27FC236}">
                <a16:creationId xmlns:a16="http://schemas.microsoft.com/office/drawing/2014/main" id="{A40471F9-A826-81C1-5912-2D51B0EC8AF5}"/>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ブラックボックスの</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予測を得る</a:t>
            </a:r>
          </a:p>
        </p:txBody>
      </p:sp>
      <p:sp>
        <p:nvSpPr>
          <p:cNvPr id="15" name="正方形/長方形 14">
            <a:extLst>
              <a:ext uri="{FF2B5EF4-FFF2-40B4-BE49-F238E27FC236}">
                <a16:creationId xmlns:a16="http://schemas.microsoft.com/office/drawing/2014/main" id="{C81C6085-F8F1-EDBF-4605-3D491A31EEF7}"/>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98660CCB-CBF6-5F69-8E16-EDCF383EC170}"/>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04</a:t>
            </a:r>
          </a:p>
        </p:txBody>
      </p:sp>
      <p:sp>
        <p:nvSpPr>
          <p:cNvPr id="17" name="正方形/長方形 16">
            <a:extLst>
              <a:ext uri="{FF2B5EF4-FFF2-40B4-BE49-F238E27FC236}">
                <a16:creationId xmlns:a16="http://schemas.microsoft.com/office/drawing/2014/main" id="{51681764-E807-5A70-4FB6-4A8C59143046}"/>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近いサンプルを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強く重み付け</a:t>
            </a:r>
          </a:p>
        </p:txBody>
      </p:sp>
      <p:sp>
        <p:nvSpPr>
          <p:cNvPr id="18" name="正方形/長方形 17">
            <a:extLst>
              <a:ext uri="{FF2B5EF4-FFF2-40B4-BE49-F238E27FC236}">
                <a16:creationId xmlns:a16="http://schemas.microsoft.com/office/drawing/2014/main" id="{B81A5DC7-2F03-6F4C-7C0D-9DAE5665F208}"/>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4FFCB6B6-4749-50B0-15D3-9C181317CCE2}"/>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05</a:t>
            </a:r>
          </a:p>
        </p:txBody>
      </p:sp>
      <p:sp>
        <p:nvSpPr>
          <p:cNvPr id="20" name="正方形/長方形 19">
            <a:extLst>
              <a:ext uri="{FF2B5EF4-FFF2-40B4-BE49-F238E27FC236}">
                <a16:creationId xmlns:a16="http://schemas.microsoft.com/office/drawing/2014/main" id="{984C6D74-BB5E-BB98-D405-7EA7A79B0306}"/>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単純な局所モデルを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学習する</a:t>
            </a:r>
          </a:p>
        </p:txBody>
      </p:sp>
      <p:sp>
        <p:nvSpPr>
          <p:cNvPr id="24" name="正方形/長方形 23">
            <a:extLst>
              <a:ext uri="{FF2B5EF4-FFF2-40B4-BE49-F238E27FC236}">
                <a16:creationId xmlns:a16="http://schemas.microsoft.com/office/drawing/2014/main" id="{65E9C2AE-FF01-FF45-F9E1-D8B80210363F}"/>
              </a:ext>
            </a:extLst>
          </p:cNvPr>
          <p:cNvSpPr>
            <a:spLocks noGrp="1"/>
          </p:cNvSpPr>
          <p:nvPr/>
        </p:nvSpPr>
        <p:spPr>
          <a:xfrm>
            <a:off x="514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5" name="正方形/長方形 24">
            <a:extLst>
              <a:ext uri="{FF2B5EF4-FFF2-40B4-BE49-F238E27FC236}">
                <a16:creationId xmlns:a16="http://schemas.microsoft.com/office/drawing/2014/main" id="{EA841F48-90DF-8393-A0E2-D7FC6294950E}"/>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01</a:t>
            </a:r>
          </a:p>
        </p:txBody>
      </p:sp>
      <p:sp>
        <p:nvSpPr>
          <p:cNvPr id="26" name="正方形/長方形 25">
            <a:extLst>
              <a:ext uri="{FF2B5EF4-FFF2-40B4-BE49-F238E27FC236}">
                <a16:creationId xmlns:a16="http://schemas.microsoft.com/office/drawing/2014/main" id="{45C49E04-CE98-24EA-D9C0-474487B460F6}"/>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説明対象を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1つ選ぶ</a:t>
            </a:r>
          </a:p>
        </p:txBody>
      </p:sp>
      <p:sp>
        <p:nvSpPr>
          <p:cNvPr id="5" name="正方形/長方形 4">
            <a:extLst>
              <a:ext uri="{FF2B5EF4-FFF2-40B4-BE49-F238E27FC236}">
                <a16:creationId xmlns:a16="http://schemas.microsoft.com/office/drawing/2014/main" id="{AE4B24F0-6B6D-89FE-0D48-F31A84E9629B}"/>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6" name="slide-4-title">
            <a:extLst>
              <a:ext uri="{FF2B5EF4-FFF2-40B4-BE49-F238E27FC236}">
                <a16:creationId xmlns:a16="http://schemas.microsoft.com/office/drawing/2014/main" id="{FD337B4B-5865-3819-19E3-67C55B5FE62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LIMEのアルゴリズム</a:t>
            </a:r>
          </a:p>
        </p:txBody>
      </p:sp>
      <p:pic>
        <p:nvPicPr>
          <p:cNvPr id="31" name="画面収録 2026-09-09 18.02.34">
            <a:hlinkClick r:id="" action="ppaction://media"/>
            <a:extLst>
              <a:ext uri="{FF2B5EF4-FFF2-40B4-BE49-F238E27FC236}">
                <a16:creationId xmlns:a16="http://schemas.microsoft.com/office/drawing/2014/main" id="{992D6A4E-55C9-A740-C86F-C8B57E5415A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6" cy="3960000"/>
          </a:xfrm>
          <a:prstGeom prst="rect">
            <a:avLst/>
          </a:prstGeom>
        </p:spPr>
      </p:pic>
    </p:spTree>
    <p:extLst>
      <p:ext uri="{BB962C8B-B14F-4D97-AF65-F5344CB8AC3E}">
        <p14:creationId xmlns:p14="http://schemas.microsoft.com/office/powerpoint/2010/main" val="29716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2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1"/>
                </p:tgtEl>
              </p:cMediaNode>
            </p:video>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1"/>
                                        </p:tgtEl>
                                      </p:cBhvr>
                                    </p:cmd>
                                  </p:childTnLst>
                                </p:cTn>
                              </p:par>
                            </p:childTnLst>
                          </p:cTn>
                        </p:par>
                      </p:childTnLst>
                    </p:cTn>
                  </p:par>
                </p:childTnLst>
              </p:cTn>
              <p:nextCondLst>
                <p:cond evt="onClick" delay="0">
                  <p:tgtEl>
                    <p:spTgt spid="31"/>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1D7D-C8D5-DA78-0A4F-EECD226507EE}"/>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710083C8-0CDE-C1A2-0FBD-72189BC77A10}"/>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18F89DDC-426D-E355-EA8C-4603864C1121}"/>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01</a:t>
            </a:r>
          </a:p>
        </p:txBody>
      </p:sp>
      <p:sp>
        <p:nvSpPr>
          <p:cNvPr id="8" name="正方形/長方形 7">
            <a:extLst>
              <a:ext uri="{FF2B5EF4-FFF2-40B4-BE49-F238E27FC236}">
                <a16:creationId xmlns:a16="http://schemas.microsoft.com/office/drawing/2014/main" id="{B0DF8E90-C879-0733-B5E1-8D29F984B50F}"/>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説明対象を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1つ選ぶ</a:t>
            </a:r>
          </a:p>
        </p:txBody>
      </p:sp>
      <p:sp>
        <p:nvSpPr>
          <p:cNvPr id="12" name="正方形/長方形 11">
            <a:extLst>
              <a:ext uri="{FF2B5EF4-FFF2-40B4-BE49-F238E27FC236}">
                <a16:creationId xmlns:a16="http://schemas.microsoft.com/office/drawing/2014/main" id="{6EEBDC03-24AD-A445-8C42-41A319C900D3}"/>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A80E067D-3520-0395-17A3-A4AC286C82BB}"/>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03</a:t>
            </a:r>
          </a:p>
        </p:txBody>
      </p:sp>
      <p:sp>
        <p:nvSpPr>
          <p:cNvPr id="14" name="正方形/長方形 13">
            <a:extLst>
              <a:ext uri="{FF2B5EF4-FFF2-40B4-BE49-F238E27FC236}">
                <a16:creationId xmlns:a16="http://schemas.microsoft.com/office/drawing/2014/main" id="{6C207B62-144F-0A54-7865-87A0A5A68470}"/>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ブラックボックスの</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予測を得る</a:t>
            </a:r>
          </a:p>
        </p:txBody>
      </p:sp>
      <p:sp>
        <p:nvSpPr>
          <p:cNvPr id="15" name="正方形/長方形 14">
            <a:extLst>
              <a:ext uri="{FF2B5EF4-FFF2-40B4-BE49-F238E27FC236}">
                <a16:creationId xmlns:a16="http://schemas.microsoft.com/office/drawing/2014/main" id="{9ED779F2-EE9E-70AA-1CD8-E349D13703EE}"/>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BD66C05F-1257-0ECC-608B-A2E6220EDAC3}"/>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04</a:t>
            </a:r>
          </a:p>
        </p:txBody>
      </p:sp>
      <p:sp>
        <p:nvSpPr>
          <p:cNvPr id="17" name="正方形/長方形 16">
            <a:extLst>
              <a:ext uri="{FF2B5EF4-FFF2-40B4-BE49-F238E27FC236}">
                <a16:creationId xmlns:a16="http://schemas.microsoft.com/office/drawing/2014/main" id="{73A1B258-1988-7C8E-4747-2388AB90733D}"/>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近いサンプルを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強く重み付け</a:t>
            </a:r>
          </a:p>
        </p:txBody>
      </p:sp>
      <p:sp>
        <p:nvSpPr>
          <p:cNvPr id="18" name="正方形/長方形 17">
            <a:extLst>
              <a:ext uri="{FF2B5EF4-FFF2-40B4-BE49-F238E27FC236}">
                <a16:creationId xmlns:a16="http://schemas.microsoft.com/office/drawing/2014/main" id="{D0EE61CE-A8AA-91DC-1A3A-42DC102BAC2D}"/>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4F31E889-B862-C530-FC7C-A7E47584FFC7}"/>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05</a:t>
            </a:r>
          </a:p>
        </p:txBody>
      </p:sp>
      <p:sp>
        <p:nvSpPr>
          <p:cNvPr id="20" name="正方形/長方形 19">
            <a:extLst>
              <a:ext uri="{FF2B5EF4-FFF2-40B4-BE49-F238E27FC236}">
                <a16:creationId xmlns:a16="http://schemas.microsoft.com/office/drawing/2014/main" id="{5B522025-B22B-F584-8746-2E09D61CFA54}"/>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単純な局所モデルを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学習する</a:t>
            </a:r>
          </a:p>
        </p:txBody>
      </p:sp>
      <p:sp>
        <p:nvSpPr>
          <p:cNvPr id="2" name="正方形/長方形 1">
            <a:extLst>
              <a:ext uri="{FF2B5EF4-FFF2-40B4-BE49-F238E27FC236}">
                <a16:creationId xmlns:a16="http://schemas.microsoft.com/office/drawing/2014/main" id="{6AE96CC5-FD73-DA8A-3D83-ABC00B3E08DD}"/>
              </a:ext>
            </a:extLst>
          </p:cNvPr>
          <p:cNvSpPr>
            <a:spLocks noGrp="1"/>
          </p:cNvSpPr>
          <p:nvPr/>
        </p:nvSpPr>
        <p:spPr>
          <a:xfrm>
            <a:off x="2800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21C00F8F-3EAE-CE0D-BB05-284CD69A6772}"/>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02</a:t>
            </a:r>
          </a:p>
        </p:txBody>
      </p:sp>
      <p:sp>
        <p:nvSpPr>
          <p:cNvPr id="4" name="正方形/長方形 3">
            <a:extLst>
              <a:ext uri="{FF2B5EF4-FFF2-40B4-BE49-F238E27FC236}">
                <a16:creationId xmlns:a16="http://schemas.microsoft.com/office/drawing/2014/main" id="{066D0BD8-96A6-77CD-BAED-C00F1983B8FF}"/>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近傍サンプルを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多数作る</a:t>
            </a:r>
          </a:p>
        </p:txBody>
      </p:sp>
      <p:sp>
        <p:nvSpPr>
          <p:cNvPr id="5" name="正方形/長方形 4">
            <a:extLst>
              <a:ext uri="{FF2B5EF4-FFF2-40B4-BE49-F238E27FC236}">
                <a16:creationId xmlns:a16="http://schemas.microsoft.com/office/drawing/2014/main" id="{4AB5D658-B073-38DB-0D31-1E8E296B1A8A}"/>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9" name="slide-4-title">
            <a:extLst>
              <a:ext uri="{FF2B5EF4-FFF2-40B4-BE49-F238E27FC236}">
                <a16:creationId xmlns:a16="http://schemas.microsoft.com/office/drawing/2014/main" id="{E3197D2D-A790-DCFE-F242-198245B2F519}"/>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LIMEのアルゴリズム</a:t>
            </a:r>
          </a:p>
        </p:txBody>
      </p:sp>
      <p:pic>
        <p:nvPicPr>
          <p:cNvPr id="21" name="画面収録 2026-09-09 18.02.34 3">
            <a:hlinkClick r:id="" action="ppaction://media"/>
            <a:extLst>
              <a:ext uri="{FF2B5EF4-FFF2-40B4-BE49-F238E27FC236}">
                <a16:creationId xmlns:a16="http://schemas.microsoft.com/office/drawing/2014/main" id="{600EA6E4-7BBA-B7BE-F55B-B0B97391A9B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420861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1"/>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B688-D899-C2F8-6743-A38C0E3AE354}"/>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A6968BF9-7080-9640-517E-4BFDC9D920B5}"/>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B1BDF870-9B25-01C0-CCC4-3458282DD1E4}"/>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01</a:t>
            </a:r>
          </a:p>
        </p:txBody>
      </p:sp>
      <p:sp>
        <p:nvSpPr>
          <p:cNvPr id="8" name="正方形/長方形 7">
            <a:extLst>
              <a:ext uri="{FF2B5EF4-FFF2-40B4-BE49-F238E27FC236}">
                <a16:creationId xmlns:a16="http://schemas.microsoft.com/office/drawing/2014/main" id="{5DBBF450-508C-2094-A846-DF22F4B17BD0}"/>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説明対象を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1つ選ぶ</a:t>
            </a:r>
          </a:p>
        </p:txBody>
      </p:sp>
      <p:sp>
        <p:nvSpPr>
          <p:cNvPr id="9" name="正方形/長方形 8">
            <a:extLst>
              <a:ext uri="{FF2B5EF4-FFF2-40B4-BE49-F238E27FC236}">
                <a16:creationId xmlns:a16="http://schemas.microsoft.com/office/drawing/2014/main" id="{8D708216-6C8A-7FFB-955D-4261AAA30822}"/>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FDE8823F-C600-9E00-0EEE-E8E9636D2631}"/>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02</a:t>
            </a:r>
          </a:p>
        </p:txBody>
      </p:sp>
      <p:sp>
        <p:nvSpPr>
          <p:cNvPr id="11" name="正方形/長方形 10">
            <a:extLst>
              <a:ext uri="{FF2B5EF4-FFF2-40B4-BE49-F238E27FC236}">
                <a16:creationId xmlns:a16="http://schemas.microsoft.com/office/drawing/2014/main" id="{D5DAD645-D15A-AE43-F189-DAAA852C70A4}"/>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近傍サンプルを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多数作る</a:t>
            </a:r>
          </a:p>
        </p:txBody>
      </p:sp>
      <p:sp>
        <p:nvSpPr>
          <p:cNvPr id="15" name="正方形/長方形 14">
            <a:extLst>
              <a:ext uri="{FF2B5EF4-FFF2-40B4-BE49-F238E27FC236}">
                <a16:creationId xmlns:a16="http://schemas.microsoft.com/office/drawing/2014/main" id="{0A5B0454-3FE0-6B8A-6988-B65205695725}"/>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3709A8D8-901D-4795-E093-CAE6CEAE4C29}"/>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04</a:t>
            </a:r>
          </a:p>
        </p:txBody>
      </p:sp>
      <p:sp>
        <p:nvSpPr>
          <p:cNvPr id="17" name="正方形/長方形 16">
            <a:extLst>
              <a:ext uri="{FF2B5EF4-FFF2-40B4-BE49-F238E27FC236}">
                <a16:creationId xmlns:a16="http://schemas.microsoft.com/office/drawing/2014/main" id="{AB00427C-8EE8-5726-A172-5EFA76185C84}"/>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近いサンプルを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強く重み付け</a:t>
            </a:r>
          </a:p>
        </p:txBody>
      </p:sp>
      <p:sp>
        <p:nvSpPr>
          <p:cNvPr id="18" name="正方形/長方形 17">
            <a:extLst>
              <a:ext uri="{FF2B5EF4-FFF2-40B4-BE49-F238E27FC236}">
                <a16:creationId xmlns:a16="http://schemas.microsoft.com/office/drawing/2014/main" id="{0097BD7E-BF61-E3F7-6DC0-1C4EAEFB5B82}"/>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02DBDFD1-4E7A-5761-1371-64C5D3154E9B}"/>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05</a:t>
            </a:r>
          </a:p>
        </p:txBody>
      </p:sp>
      <p:sp>
        <p:nvSpPr>
          <p:cNvPr id="20" name="正方形/長方形 19">
            <a:extLst>
              <a:ext uri="{FF2B5EF4-FFF2-40B4-BE49-F238E27FC236}">
                <a16:creationId xmlns:a16="http://schemas.microsoft.com/office/drawing/2014/main" id="{5FF85026-5120-7F39-14E0-4BD0120FF5E5}"/>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単純な局所モデルを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学習する</a:t>
            </a:r>
          </a:p>
        </p:txBody>
      </p:sp>
      <p:sp>
        <p:nvSpPr>
          <p:cNvPr id="2" name="正方形/長方形 1">
            <a:extLst>
              <a:ext uri="{FF2B5EF4-FFF2-40B4-BE49-F238E27FC236}">
                <a16:creationId xmlns:a16="http://schemas.microsoft.com/office/drawing/2014/main" id="{F91CB9A1-95E6-0848-9A3B-E6BB95E5EDC4}"/>
              </a:ext>
            </a:extLst>
          </p:cNvPr>
          <p:cNvSpPr>
            <a:spLocks noGrp="1"/>
          </p:cNvSpPr>
          <p:nvPr/>
        </p:nvSpPr>
        <p:spPr>
          <a:xfrm>
            <a:off x="5086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627B3B70-4FC6-0F35-5FF6-9A09A78A7BD3}"/>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03</a:t>
            </a:r>
          </a:p>
        </p:txBody>
      </p:sp>
      <p:sp>
        <p:nvSpPr>
          <p:cNvPr id="4" name="正方形/長方形 3">
            <a:extLst>
              <a:ext uri="{FF2B5EF4-FFF2-40B4-BE49-F238E27FC236}">
                <a16:creationId xmlns:a16="http://schemas.microsoft.com/office/drawing/2014/main" id="{DBB452A6-B84B-6494-DD5A-1DF6AB5F76C7}"/>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ブラックボックスの</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予測を得る</a:t>
            </a:r>
          </a:p>
        </p:txBody>
      </p:sp>
      <p:sp>
        <p:nvSpPr>
          <p:cNvPr id="5" name="正方形/長方形 4">
            <a:extLst>
              <a:ext uri="{FF2B5EF4-FFF2-40B4-BE49-F238E27FC236}">
                <a16:creationId xmlns:a16="http://schemas.microsoft.com/office/drawing/2014/main" id="{0FA4F3AA-3AA9-666F-45C4-BDCCC478200C}"/>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2" name="slide-4-title">
            <a:extLst>
              <a:ext uri="{FF2B5EF4-FFF2-40B4-BE49-F238E27FC236}">
                <a16:creationId xmlns:a16="http://schemas.microsoft.com/office/drawing/2014/main" id="{309ACB44-43FC-A70D-523B-35BAA3AFFC7A}"/>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LIMEのアルゴリズム</a:t>
            </a:r>
          </a:p>
        </p:txBody>
      </p:sp>
      <p:pic>
        <p:nvPicPr>
          <p:cNvPr id="14" name="画面収録 2026-09-09 18.02.34 2">
            <a:hlinkClick r:id="" action="ppaction://media"/>
            <a:extLst>
              <a:ext uri="{FF2B5EF4-FFF2-40B4-BE49-F238E27FC236}">
                <a16:creationId xmlns:a16="http://schemas.microsoft.com/office/drawing/2014/main" id="{0C537316-77CD-5F58-F742-98E5BBF26B4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2759729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2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8B00-8BEC-F730-1625-1A742A0E4719}"/>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43EFFD5F-4B6D-7191-3F50-0B724B9E633F}"/>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C3941646-D2BA-45C5-D7C4-520FB381010E}"/>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01</a:t>
            </a:r>
          </a:p>
        </p:txBody>
      </p:sp>
      <p:sp>
        <p:nvSpPr>
          <p:cNvPr id="8" name="正方形/長方形 7">
            <a:extLst>
              <a:ext uri="{FF2B5EF4-FFF2-40B4-BE49-F238E27FC236}">
                <a16:creationId xmlns:a16="http://schemas.microsoft.com/office/drawing/2014/main" id="{3DC9EB6C-E29C-6B4F-D204-F841189B38EA}"/>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説明対象を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1つ選ぶ</a:t>
            </a:r>
          </a:p>
        </p:txBody>
      </p:sp>
      <p:sp>
        <p:nvSpPr>
          <p:cNvPr id="9" name="正方形/長方形 8">
            <a:extLst>
              <a:ext uri="{FF2B5EF4-FFF2-40B4-BE49-F238E27FC236}">
                <a16:creationId xmlns:a16="http://schemas.microsoft.com/office/drawing/2014/main" id="{3FD7E6DA-1178-FCAF-3238-14CF21480142}"/>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8C8CA965-F6E3-A4A5-60B6-5B6F8C6D464F}"/>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02</a:t>
            </a:r>
          </a:p>
        </p:txBody>
      </p:sp>
      <p:sp>
        <p:nvSpPr>
          <p:cNvPr id="11" name="正方形/長方形 10">
            <a:extLst>
              <a:ext uri="{FF2B5EF4-FFF2-40B4-BE49-F238E27FC236}">
                <a16:creationId xmlns:a16="http://schemas.microsoft.com/office/drawing/2014/main" id="{67B6094C-CDC7-1532-6586-9CE9CE437513}"/>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近傍サンプルを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多数作る</a:t>
            </a:r>
          </a:p>
        </p:txBody>
      </p:sp>
      <p:sp>
        <p:nvSpPr>
          <p:cNvPr id="12" name="正方形/長方形 11">
            <a:extLst>
              <a:ext uri="{FF2B5EF4-FFF2-40B4-BE49-F238E27FC236}">
                <a16:creationId xmlns:a16="http://schemas.microsoft.com/office/drawing/2014/main" id="{EF9A0871-E3B6-BAE0-AE38-265F14EF4861}"/>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45774B55-FF80-DE77-AB83-E89944027C31}"/>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03</a:t>
            </a:r>
          </a:p>
        </p:txBody>
      </p:sp>
      <p:sp>
        <p:nvSpPr>
          <p:cNvPr id="14" name="正方形/長方形 13">
            <a:extLst>
              <a:ext uri="{FF2B5EF4-FFF2-40B4-BE49-F238E27FC236}">
                <a16:creationId xmlns:a16="http://schemas.microsoft.com/office/drawing/2014/main" id="{2E1FCBC6-B496-0FAB-6F43-331BC2407496}"/>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ブラックボックスの</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予測を得る</a:t>
            </a:r>
          </a:p>
        </p:txBody>
      </p:sp>
      <p:sp>
        <p:nvSpPr>
          <p:cNvPr id="18" name="正方形/長方形 17">
            <a:extLst>
              <a:ext uri="{FF2B5EF4-FFF2-40B4-BE49-F238E27FC236}">
                <a16:creationId xmlns:a16="http://schemas.microsoft.com/office/drawing/2014/main" id="{B65D1F28-B2CB-996D-A371-C9F363921E9C}"/>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24D0DE74-B8B8-2A0C-4EF7-E1ECD971E9CB}"/>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05</a:t>
            </a:r>
          </a:p>
        </p:txBody>
      </p:sp>
      <p:sp>
        <p:nvSpPr>
          <p:cNvPr id="20" name="正方形/長方形 19">
            <a:extLst>
              <a:ext uri="{FF2B5EF4-FFF2-40B4-BE49-F238E27FC236}">
                <a16:creationId xmlns:a16="http://schemas.microsoft.com/office/drawing/2014/main" id="{DFBFE61B-48D2-78D4-8C15-47A51DC9BF7B}"/>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単純な局所モデルを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学習する</a:t>
            </a:r>
          </a:p>
        </p:txBody>
      </p:sp>
      <p:sp>
        <p:nvSpPr>
          <p:cNvPr id="2" name="正方形/長方形 1">
            <a:extLst>
              <a:ext uri="{FF2B5EF4-FFF2-40B4-BE49-F238E27FC236}">
                <a16:creationId xmlns:a16="http://schemas.microsoft.com/office/drawing/2014/main" id="{9F866185-45FA-7C22-DDB8-F86F78303D5D}"/>
              </a:ext>
            </a:extLst>
          </p:cNvPr>
          <p:cNvSpPr>
            <a:spLocks noGrp="1"/>
          </p:cNvSpPr>
          <p:nvPr/>
        </p:nvSpPr>
        <p:spPr>
          <a:xfrm>
            <a:off x="7372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928D2C8C-8AE4-B533-4108-AA6E270F2848}"/>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rgbClr val="2563EB"/>
                </a:solidFill>
                <a:latin typeface="Hiragino Sans"/>
                <a:ea typeface="Hiragino Sans"/>
                <a:cs typeface="Hiragino Sans"/>
              </a:rPr>
              <a:t>04</a:t>
            </a:r>
          </a:p>
        </p:txBody>
      </p:sp>
      <p:sp>
        <p:nvSpPr>
          <p:cNvPr id="4" name="正方形/長方形 3">
            <a:extLst>
              <a:ext uri="{FF2B5EF4-FFF2-40B4-BE49-F238E27FC236}">
                <a16:creationId xmlns:a16="http://schemas.microsoft.com/office/drawing/2014/main" id="{8F556982-4D99-979B-0980-44636202A65E}"/>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近いサンプルを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強く重み付け</a:t>
            </a:r>
          </a:p>
        </p:txBody>
      </p:sp>
      <p:sp>
        <p:nvSpPr>
          <p:cNvPr id="5" name="正方形/長方形 4">
            <a:extLst>
              <a:ext uri="{FF2B5EF4-FFF2-40B4-BE49-F238E27FC236}">
                <a16:creationId xmlns:a16="http://schemas.microsoft.com/office/drawing/2014/main" id="{B2B0DD3A-059B-3643-A753-0CC34E39479D}"/>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5" name="slide-4-title">
            <a:extLst>
              <a:ext uri="{FF2B5EF4-FFF2-40B4-BE49-F238E27FC236}">
                <a16:creationId xmlns:a16="http://schemas.microsoft.com/office/drawing/2014/main" id="{AA16A8F2-3321-3F15-4C66-39799696C4C9}"/>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LIMEのアルゴリズム</a:t>
            </a:r>
          </a:p>
        </p:txBody>
      </p:sp>
      <p:pic>
        <p:nvPicPr>
          <p:cNvPr id="17" name="画面収録 2026-09-09 18.02.34 5">
            <a:hlinkClick r:id="" action="ppaction://media"/>
            <a:extLst>
              <a:ext uri="{FF2B5EF4-FFF2-40B4-BE49-F238E27FC236}">
                <a16:creationId xmlns:a16="http://schemas.microsoft.com/office/drawing/2014/main" id="{C87B006C-44FA-D773-7104-FF52091E527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2218302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83"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B7F44-3B09-0537-786E-8621A381A310}"/>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EF5368AD-64BC-246E-EF82-77CBD2D5DA0C}"/>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E5717226-9A6C-88E2-9F0B-9F314D94C43B}"/>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01</a:t>
            </a:r>
          </a:p>
        </p:txBody>
      </p:sp>
      <p:sp>
        <p:nvSpPr>
          <p:cNvPr id="8" name="正方形/長方形 7">
            <a:extLst>
              <a:ext uri="{FF2B5EF4-FFF2-40B4-BE49-F238E27FC236}">
                <a16:creationId xmlns:a16="http://schemas.microsoft.com/office/drawing/2014/main" id="{B3BF9A55-8BA8-016C-8679-317A4EC842EF}"/>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説明対象を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1つ選ぶ</a:t>
            </a:r>
          </a:p>
        </p:txBody>
      </p:sp>
      <p:sp>
        <p:nvSpPr>
          <p:cNvPr id="9" name="正方形/長方形 8">
            <a:extLst>
              <a:ext uri="{FF2B5EF4-FFF2-40B4-BE49-F238E27FC236}">
                <a16:creationId xmlns:a16="http://schemas.microsoft.com/office/drawing/2014/main" id="{D542EA79-9A93-1950-5B8E-6B457882F004}"/>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BAB4ABE1-35BC-39A1-9C62-8C0B223EEB4E}"/>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02</a:t>
            </a:r>
          </a:p>
        </p:txBody>
      </p:sp>
      <p:sp>
        <p:nvSpPr>
          <p:cNvPr id="11" name="正方形/長方形 10">
            <a:extLst>
              <a:ext uri="{FF2B5EF4-FFF2-40B4-BE49-F238E27FC236}">
                <a16:creationId xmlns:a16="http://schemas.microsoft.com/office/drawing/2014/main" id="{EADD7E9A-B5E8-E0D9-46E5-C551676C5CE2}"/>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近傍サンプルを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多数作る</a:t>
            </a:r>
          </a:p>
        </p:txBody>
      </p:sp>
      <p:sp>
        <p:nvSpPr>
          <p:cNvPr id="12" name="正方形/長方形 11">
            <a:extLst>
              <a:ext uri="{FF2B5EF4-FFF2-40B4-BE49-F238E27FC236}">
                <a16:creationId xmlns:a16="http://schemas.microsoft.com/office/drawing/2014/main" id="{610EB8F9-E635-B7CF-EA66-9BA500BEB301}"/>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63EC6B09-93F7-CAFC-48DC-1D3A311A0104}"/>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03</a:t>
            </a:r>
          </a:p>
        </p:txBody>
      </p:sp>
      <p:sp>
        <p:nvSpPr>
          <p:cNvPr id="14" name="正方形/長方形 13">
            <a:extLst>
              <a:ext uri="{FF2B5EF4-FFF2-40B4-BE49-F238E27FC236}">
                <a16:creationId xmlns:a16="http://schemas.microsoft.com/office/drawing/2014/main" id="{24813A5C-11C8-DB02-EA5F-D411DC9BDFDC}"/>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ブラックボックスの</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予測を得る</a:t>
            </a:r>
          </a:p>
        </p:txBody>
      </p:sp>
      <p:sp>
        <p:nvSpPr>
          <p:cNvPr id="15" name="正方形/長方形 14">
            <a:extLst>
              <a:ext uri="{FF2B5EF4-FFF2-40B4-BE49-F238E27FC236}">
                <a16:creationId xmlns:a16="http://schemas.microsoft.com/office/drawing/2014/main" id="{FEF74BA2-7BDA-7FCA-E01F-F8840F5A2C47}"/>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CD51178C-D75C-5CF0-0F6B-E64283D88082}"/>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04</a:t>
            </a:r>
          </a:p>
        </p:txBody>
      </p:sp>
      <p:sp>
        <p:nvSpPr>
          <p:cNvPr id="17" name="正方形/長方形 16">
            <a:extLst>
              <a:ext uri="{FF2B5EF4-FFF2-40B4-BE49-F238E27FC236}">
                <a16:creationId xmlns:a16="http://schemas.microsoft.com/office/drawing/2014/main" id="{6427D3AD-FEB3-6D9C-E607-2AD54EAD8F75}"/>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近いサンプルを</a:t>
            </a:r>
          </a:p>
          <a:p>
            <a:pPr algn="ctr">
              <a:buNone/>
              <a:defRPr sz="1500" b="1">
                <a:solidFill>
                  <a:srgbClr val="111827"/>
                </a:solidFill>
                <a:latin typeface="Hiragino Sans"/>
                <a:ea typeface="Hiragino Sans"/>
                <a:cs typeface="Hiragino Sans"/>
              </a:defRPr>
            </a:pPr>
            <a:r>
              <a:rPr lang="ja-JP" sz="1600" b="1" noProof="1">
                <a:solidFill>
                  <a:schemeClr val="bg1">
                    <a:lumMod val="65000"/>
                  </a:schemeClr>
                </a:solidFill>
                <a:latin typeface="Hiragino Sans"/>
                <a:ea typeface="Hiragino Sans"/>
                <a:cs typeface="Hiragino Sans"/>
              </a:rPr>
              <a:t>強く重み付け</a:t>
            </a:r>
          </a:p>
        </p:txBody>
      </p:sp>
      <p:sp>
        <p:nvSpPr>
          <p:cNvPr id="2" name="正方形/長方形 1">
            <a:extLst>
              <a:ext uri="{FF2B5EF4-FFF2-40B4-BE49-F238E27FC236}">
                <a16:creationId xmlns:a16="http://schemas.microsoft.com/office/drawing/2014/main" id="{8BB376D6-0E31-1C1A-4E24-FCB45B0EEE46}"/>
              </a:ext>
            </a:extLst>
          </p:cNvPr>
          <p:cNvSpPr>
            <a:spLocks noGrp="1"/>
          </p:cNvSpPr>
          <p:nvPr/>
        </p:nvSpPr>
        <p:spPr>
          <a:xfrm>
            <a:off x="9658350" y="1080246"/>
            <a:ext cx="1952625" cy="1381125"/>
          </a:xfrm>
          <a:prstGeom prst="rect">
            <a:avLst/>
          </a:prstGeom>
          <a:solidFill>
            <a:srgbClr val="D1FAE5"/>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03160ED9-62D9-3B0F-729D-BC69AFF46C96}"/>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Hiragino Sans"/>
                <a:ea typeface="Hiragino Sans"/>
                <a:cs typeface="Hiragino Sans"/>
              </a:defRPr>
            </a:pPr>
            <a:r>
              <a:rPr lang="ja-JP" sz="1600" b="1" noProof="1">
                <a:solidFill>
                  <a:srgbClr val="10B981"/>
                </a:solidFill>
                <a:latin typeface="Hiragino Sans"/>
                <a:ea typeface="Hiragino Sans"/>
                <a:cs typeface="Hiragino Sans"/>
              </a:rPr>
              <a:t>05</a:t>
            </a:r>
          </a:p>
        </p:txBody>
      </p:sp>
      <p:sp>
        <p:nvSpPr>
          <p:cNvPr id="4" name="正方形/長方形 3">
            <a:extLst>
              <a:ext uri="{FF2B5EF4-FFF2-40B4-BE49-F238E27FC236}">
                <a16:creationId xmlns:a16="http://schemas.microsoft.com/office/drawing/2014/main" id="{2AF270E5-F770-A111-3F16-59AB90B24098}"/>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単純な局所モデルを</a:t>
            </a:r>
          </a:p>
          <a:p>
            <a:pPr algn="ctr">
              <a:buNone/>
              <a:defRPr sz="1500" b="1">
                <a:solidFill>
                  <a:srgbClr val="111827"/>
                </a:solidFill>
                <a:latin typeface="Hiragino Sans"/>
                <a:ea typeface="Hiragino Sans"/>
                <a:cs typeface="Hiragino Sans"/>
              </a:defRPr>
            </a:pPr>
            <a:r>
              <a:rPr lang="ja-JP" sz="1600" b="1" noProof="1">
                <a:solidFill>
                  <a:srgbClr val="111827"/>
                </a:solidFill>
                <a:latin typeface="Hiragino Sans"/>
                <a:ea typeface="Hiragino Sans"/>
                <a:cs typeface="Hiragino Sans"/>
              </a:rPr>
              <a:t>学習する</a:t>
            </a:r>
          </a:p>
        </p:txBody>
      </p:sp>
      <p:sp>
        <p:nvSpPr>
          <p:cNvPr id="5" name="正方形/長方形 4">
            <a:extLst>
              <a:ext uri="{FF2B5EF4-FFF2-40B4-BE49-F238E27FC236}">
                <a16:creationId xmlns:a16="http://schemas.microsoft.com/office/drawing/2014/main" id="{7C9FDA28-445D-3D8B-6F06-085F9C1BA8E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8" name="slide-4-title">
            <a:extLst>
              <a:ext uri="{FF2B5EF4-FFF2-40B4-BE49-F238E27FC236}">
                <a16:creationId xmlns:a16="http://schemas.microsoft.com/office/drawing/2014/main" id="{D5B457B3-0683-CB63-247E-1F28015C5E46}"/>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LIMEのアルゴリズム</a:t>
            </a:r>
          </a:p>
        </p:txBody>
      </p:sp>
      <p:pic>
        <p:nvPicPr>
          <p:cNvPr id="21" name="画面収録 2026-09-09 18.02.34 4">
            <a:hlinkClick r:id="" action="ppaction://media"/>
            <a:extLst>
              <a:ext uri="{FF2B5EF4-FFF2-40B4-BE49-F238E27FC236}">
                <a16:creationId xmlns:a16="http://schemas.microsoft.com/office/drawing/2014/main" id="{A71E4283-0CFC-0C34-F885-5605FC0AF48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378972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0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1"/>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0"/>
          </a:p>
        </p:txBody>
      </p:sp>
      <p:sp>
        <p:nvSpPr>
          <p:cNvPr id="3" name="title"/>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目次</a:t>
            </a:r>
          </a:p>
        </p:txBody>
      </p:sp>
      <p:sp>
        <p:nvSpPr>
          <p:cNvPr id="6" name="toc-item-0"/>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1. XAI（説明可能なAI）</a:t>
            </a:r>
          </a:p>
        </p:txBody>
      </p:sp>
      <p:sp>
        <p:nvSpPr>
          <p:cNvPr id="7" name="toc-item-1"/>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2. LIME</a:t>
            </a:r>
          </a:p>
        </p:txBody>
      </p:sp>
      <p:sp>
        <p:nvSpPr>
          <p:cNvPr id="8" name="toc-item-2"/>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2200" b="1">
                <a:solidFill>
                  <a:srgbClr val="156082"/>
                </a:solidFill>
                <a:latin typeface="Hiragino Sans"/>
                <a:ea typeface="Hiragino Sans"/>
                <a:cs typeface="Hiragino Sans"/>
              </a:defRPr>
            </a:pPr>
            <a:r>
              <a:rPr lang="ja-JP" sz="2200" b="1" noProof="0">
                <a:solidFill>
                  <a:srgbClr val="156082"/>
                </a:solidFill>
                <a:latin typeface="Hiragino Sans"/>
                <a:ea typeface="Hiragino Sans"/>
                <a:cs typeface="Hiragino Sans"/>
              </a:rPr>
              <a:t>3. 多クラスに応用したLIME</a:t>
            </a:r>
          </a:p>
        </p:txBody>
      </p:sp>
      <p:sp>
        <p:nvSpPr>
          <p:cNvPr id="9" name="toc-item-3"/>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4. 関連研究</a:t>
            </a:r>
          </a:p>
        </p:txBody>
      </p:sp>
      <p:sp>
        <p:nvSpPr>
          <p:cNvPr id="10" name="toc-item-4"/>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5. 提案手法</a:t>
            </a:r>
          </a:p>
        </p:txBody>
      </p:sp>
      <p:sp>
        <p:nvSpPr>
          <p:cNvPr id="11" name="toc-item-5"/>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6. 実験と考察</a:t>
            </a:r>
          </a:p>
        </p:txBody>
      </p:sp>
      <p:sp>
        <p:nvSpPr>
          <p:cNvPr id="12" name="toc-item-6"/>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7. まとめと今後の展望</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75B03E4F-669E-46AD-8995-B735FDE175D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6-title">
            <a:extLst>
              <a:ext uri="{FF2B5EF4-FFF2-40B4-BE49-F238E27FC236}">
                <a16:creationId xmlns:a16="http://schemas.microsoft.com/office/drawing/2014/main" id="{EAE8545E-ADD6-41B6-B78C-F298C201E6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多クラスLIMEでは</a:t>
            </a:r>
          </a:p>
        </p:txBody>
      </p:sp>
      <p:sp>
        <p:nvSpPr>
          <p:cNvPr id="6" name="右矢印 5">
            <a:extLst>
              <a:ext uri="{FF2B5EF4-FFF2-40B4-BE49-F238E27FC236}">
                <a16:creationId xmlns:a16="http://schemas.microsoft.com/office/drawing/2014/main" id="{A392FB28-107F-4343-B6F4-C01FC65427E6}"/>
              </a:ext>
            </a:extLst>
          </p:cNvPr>
          <p:cNvSpPr>
            <a:spLocks noGrp="1"/>
          </p:cNvSpPr>
          <p:nvPr/>
        </p:nvSpPr>
        <p:spPr>
          <a:xfrm>
            <a:off x="6762750" y="1989832"/>
            <a:ext cx="781050" cy="228600"/>
          </a:xfrm>
          <a:prstGeom prst="rightArrow">
            <a:avLst/>
          </a:prstGeom>
          <a:solidFill>
            <a:srgbClr val="2563EB"/>
          </a:solidFill>
          <a:ln w="0">
            <a:solidFill>
              <a:srgbClr val="2563EB"/>
            </a:solidFill>
            <a:prstDash val="solid"/>
          </a:ln>
        </p:spPr>
        <p:txBody>
          <a:bodyPr/>
          <a:lstStyle/>
          <a:p>
            <a:endParaRPr lang="ja-JP" noProof="1"/>
          </a:p>
        </p:txBody>
      </p:sp>
      <p:sp>
        <p:nvSpPr>
          <p:cNvPr id="7" name="右矢印 6">
            <a:extLst>
              <a:ext uri="{FF2B5EF4-FFF2-40B4-BE49-F238E27FC236}">
                <a16:creationId xmlns:a16="http://schemas.microsoft.com/office/drawing/2014/main" id="{2C44CEEF-A69A-4B94-B7C1-F1084EEA7A7D}"/>
              </a:ext>
            </a:extLst>
          </p:cNvPr>
          <p:cNvSpPr>
            <a:spLocks noGrp="1"/>
          </p:cNvSpPr>
          <p:nvPr/>
        </p:nvSpPr>
        <p:spPr>
          <a:xfrm>
            <a:off x="6762750" y="3651944"/>
            <a:ext cx="781050" cy="228600"/>
          </a:xfrm>
          <a:prstGeom prst="rightArrow">
            <a:avLst/>
          </a:prstGeom>
          <a:solidFill>
            <a:srgbClr val="2563EB"/>
          </a:solidFill>
          <a:ln w="0">
            <a:solidFill>
              <a:srgbClr val="2563EB"/>
            </a:solidFill>
            <a:prstDash val="solid"/>
          </a:ln>
        </p:spPr>
        <p:txBody>
          <a:bodyPr/>
          <a:lstStyle/>
          <a:p>
            <a:endParaRPr lang="ja-JP" noProof="1"/>
          </a:p>
        </p:txBody>
      </p:sp>
      <p:sp>
        <p:nvSpPr>
          <p:cNvPr id="8" name="右矢印 7">
            <a:extLst>
              <a:ext uri="{FF2B5EF4-FFF2-40B4-BE49-F238E27FC236}">
                <a16:creationId xmlns:a16="http://schemas.microsoft.com/office/drawing/2014/main" id="{165C1FB6-07EB-4CB8-A00E-804DB69EC155}"/>
              </a:ext>
            </a:extLst>
          </p:cNvPr>
          <p:cNvSpPr>
            <a:spLocks noGrp="1"/>
          </p:cNvSpPr>
          <p:nvPr/>
        </p:nvSpPr>
        <p:spPr>
          <a:xfrm>
            <a:off x="6762750" y="5371207"/>
            <a:ext cx="781050" cy="228600"/>
          </a:xfrm>
          <a:prstGeom prst="rightArrow">
            <a:avLst/>
          </a:prstGeom>
          <a:solidFill>
            <a:srgbClr val="2563EB"/>
          </a:solidFill>
          <a:ln w="0">
            <a:solidFill>
              <a:srgbClr val="2563EB"/>
            </a:solidFill>
            <a:prstDash val="solid"/>
          </a:ln>
        </p:spPr>
        <p:txBody>
          <a:bodyPr/>
          <a:lstStyle/>
          <a:p>
            <a:endParaRPr lang="ja-JP" noProof="1"/>
          </a:p>
        </p:txBody>
      </p:sp>
      <p:sp>
        <p:nvSpPr>
          <p:cNvPr id="23" name="正方形/長方形 22">
            <a:extLst>
              <a:ext uri="{FF2B5EF4-FFF2-40B4-BE49-F238E27FC236}">
                <a16:creationId xmlns:a16="http://schemas.microsoft.com/office/drawing/2014/main" id="{1BA368D7-7D39-4F06-AD92-EA6E8938B8EF}"/>
              </a:ext>
            </a:extLst>
          </p:cNvPr>
          <p:cNvSpPr>
            <a:spLocks noGrp="1"/>
          </p:cNvSpPr>
          <p:nvPr/>
        </p:nvSpPr>
        <p:spPr>
          <a:xfrm>
            <a:off x="7753549" y="1561207"/>
            <a:ext cx="3040744" cy="952500"/>
          </a:xfrm>
          <a:prstGeom prst="rect">
            <a:avLst/>
          </a:prstGeom>
          <a:solidFill>
            <a:srgbClr val="FFFFFF"/>
          </a:solidFill>
          <a:ln w="19050">
            <a:solidFill>
              <a:srgbClr val="2563EB"/>
            </a:solidFill>
            <a:prstDash val="solid"/>
          </a:ln>
          <a:effectLst>
            <a:outerShdw blurRad="50800" dist="38100" dir="2700000" algn="tl" rotWithShape="0">
              <a:prstClr val="black">
                <a:alpha val="40000"/>
              </a:prstClr>
            </a:outerShdw>
          </a:effectLst>
        </p:spPr>
        <p:txBody>
          <a:bodyPr/>
          <a:lstStyle/>
          <a:p>
            <a:endParaRPr lang="ja-JP" noProof="1"/>
          </a:p>
        </p:txBody>
      </p:sp>
      <p:sp>
        <p:nvSpPr>
          <p:cNvPr id="24" name="正方形/長方形 23">
            <a:extLst>
              <a:ext uri="{FF2B5EF4-FFF2-40B4-BE49-F238E27FC236}">
                <a16:creationId xmlns:a16="http://schemas.microsoft.com/office/drawing/2014/main" id="{B9595C5D-93F3-4C71-8E12-DC56FE107BBF}"/>
              </a:ext>
            </a:extLst>
          </p:cNvPr>
          <p:cNvSpPr>
            <a:spLocks noGrp="1"/>
          </p:cNvSpPr>
          <p:nvPr/>
        </p:nvSpPr>
        <p:spPr>
          <a:xfrm>
            <a:off x="9798571" y="1961257"/>
            <a:ext cx="938750" cy="285750"/>
          </a:xfrm>
          <a:prstGeom prst="rect">
            <a:avLst/>
          </a:prstGeom>
          <a:noFill/>
          <a:ln w="0">
            <a:noFill/>
            <a:prstDash val="solid"/>
          </a:ln>
        </p:spPr>
        <p:txBody>
          <a:bodyPr lIns="0" tIns="0" rIns="0" bIns="0" anchor="t">
            <a:noAutofit/>
          </a:bodyPr>
          <a:lstStyle/>
          <a:p>
            <a:pPr algn="l">
              <a:buNone/>
              <a:defRPr sz="1725" b="1">
                <a:solidFill>
                  <a:srgbClr val="2563EB"/>
                </a:solidFill>
                <a:latin typeface="Hiragino Sans"/>
                <a:ea typeface="Hiragino Sans"/>
                <a:cs typeface="Hiragino Sans"/>
              </a:defRPr>
            </a:pPr>
            <a:r>
              <a:rPr lang="ja-JP" sz="1725" b="1" noProof="1">
                <a:solidFill>
                  <a:srgbClr val="2563EB"/>
                </a:solidFill>
                <a:latin typeface="Hiragino Sans"/>
                <a:ea typeface="Hiragino Sans"/>
                <a:cs typeface="Hiragino Sans"/>
              </a:rPr>
              <a:t>クラス A</a:t>
            </a:r>
          </a:p>
        </p:txBody>
      </p:sp>
      <p:sp>
        <p:nvSpPr>
          <p:cNvPr id="26" name="正方形/長方形 25">
            <a:extLst>
              <a:ext uri="{FF2B5EF4-FFF2-40B4-BE49-F238E27FC236}">
                <a16:creationId xmlns:a16="http://schemas.microsoft.com/office/drawing/2014/main" id="{869E9EB9-411B-4B32-91F9-88B41FF2A2B7}"/>
              </a:ext>
            </a:extLst>
          </p:cNvPr>
          <p:cNvSpPr>
            <a:spLocks noGrp="1"/>
          </p:cNvSpPr>
          <p:nvPr/>
        </p:nvSpPr>
        <p:spPr>
          <a:xfrm>
            <a:off x="9035308" y="1805143"/>
            <a:ext cx="166477" cy="123825"/>
          </a:xfrm>
          <a:prstGeom prst="rect">
            <a:avLst/>
          </a:prstGeom>
          <a:solidFill>
            <a:srgbClr val="2563EB"/>
          </a:solidFill>
          <a:ln w="0">
            <a:solidFill>
              <a:srgbClr val="2563EB"/>
            </a:solidFill>
            <a:prstDash val="solid"/>
          </a:ln>
        </p:spPr>
        <p:txBody>
          <a:bodyPr/>
          <a:lstStyle/>
          <a:p>
            <a:endParaRPr lang="ja-JP" noProof="1"/>
          </a:p>
        </p:txBody>
      </p:sp>
      <p:sp>
        <p:nvSpPr>
          <p:cNvPr id="27" name="正方形/長方形 26">
            <a:extLst>
              <a:ext uri="{FF2B5EF4-FFF2-40B4-BE49-F238E27FC236}">
                <a16:creationId xmlns:a16="http://schemas.microsoft.com/office/drawing/2014/main" id="{15BAD9F4-2728-4449-9113-6BB31670F490}"/>
              </a:ext>
            </a:extLst>
          </p:cNvPr>
          <p:cNvSpPr>
            <a:spLocks noGrp="1"/>
          </p:cNvSpPr>
          <p:nvPr/>
        </p:nvSpPr>
        <p:spPr>
          <a:xfrm>
            <a:off x="9201785" y="2024218"/>
            <a:ext cx="571500" cy="123825"/>
          </a:xfrm>
          <a:prstGeom prst="rect">
            <a:avLst/>
          </a:prstGeom>
          <a:solidFill>
            <a:srgbClr val="2563EB"/>
          </a:solidFill>
          <a:ln w="0">
            <a:solidFill>
              <a:srgbClr val="2563EB"/>
            </a:solidFill>
            <a:prstDash val="solid"/>
          </a:ln>
        </p:spPr>
        <p:txBody>
          <a:bodyPr/>
          <a:lstStyle/>
          <a:p>
            <a:endParaRPr lang="ja-JP" noProof="1"/>
          </a:p>
        </p:txBody>
      </p:sp>
      <p:sp>
        <p:nvSpPr>
          <p:cNvPr id="28" name="正方形/長方形 27">
            <a:extLst>
              <a:ext uri="{FF2B5EF4-FFF2-40B4-BE49-F238E27FC236}">
                <a16:creationId xmlns:a16="http://schemas.microsoft.com/office/drawing/2014/main" id="{BBDE719E-8423-4658-9822-7F007DB5C20A}"/>
              </a:ext>
            </a:extLst>
          </p:cNvPr>
          <p:cNvSpPr>
            <a:spLocks noGrp="1"/>
          </p:cNvSpPr>
          <p:nvPr/>
        </p:nvSpPr>
        <p:spPr>
          <a:xfrm>
            <a:off x="8744585" y="2243293"/>
            <a:ext cx="457200" cy="123825"/>
          </a:xfrm>
          <a:prstGeom prst="rect">
            <a:avLst/>
          </a:prstGeom>
          <a:solidFill>
            <a:srgbClr val="2563EB"/>
          </a:solidFill>
          <a:ln w="0">
            <a:solidFill>
              <a:srgbClr val="2563EB"/>
            </a:solidFill>
            <a:prstDash val="solid"/>
          </a:ln>
        </p:spPr>
        <p:txBody>
          <a:bodyPr/>
          <a:lstStyle/>
          <a:p>
            <a:endParaRPr lang="ja-JP" noProof="1"/>
          </a:p>
        </p:txBody>
      </p:sp>
      <p:sp>
        <p:nvSpPr>
          <p:cNvPr id="29" name="正方形/長方形 28">
            <a:extLst>
              <a:ext uri="{FF2B5EF4-FFF2-40B4-BE49-F238E27FC236}">
                <a16:creationId xmlns:a16="http://schemas.microsoft.com/office/drawing/2014/main" id="{F05E33A5-6337-46C8-A697-3CC64A56C71E}"/>
              </a:ext>
            </a:extLst>
          </p:cNvPr>
          <p:cNvSpPr>
            <a:spLocks noGrp="1"/>
          </p:cNvSpPr>
          <p:nvPr/>
        </p:nvSpPr>
        <p:spPr>
          <a:xfrm>
            <a:off x="7753549" y="3251894"/>
            <a:ext cx="3040744" cy="952500"/>
          </a:xfrm>
          <a:prstGeom prst="rect">
            <a:avLst/>
          </a:prstGeom>
          <a:solidFill>
            <a:srgbClr val="FFFFFF"/>
          </a:solidFill>
          <a:ln w="19050">
            <a:solidFill>
              <a:srgbClr val="FF0000"/>
            </a:solidFill>
            <a:prstDash val="solid"/>
          </a:ln>
          <a:effectLst>
            <a:outerShdw blurRad="50800" dist="38100" dir="2700000" algn="tl" rotWithShape="0">
              <a:prstClr val="black">
                <a:alpha val="40000"/>
              </a:prstClr>
            </a:outerShdw>
          </a:effectLst>
        </p:spPr>
        <p:txBody>
          <a:bodyPr/>
          <a:lstStyle/>
          <a:p>
            <a:endParaRPr lang="ja-JP" noProof="1"/>
          </a:p>
        </p:txBody>
      </p:sp>
      <p:sp>
        <p:nvSpPr>
          <p:cNvPr id="30" name="正方形/長方形 29">
            <a:extLst>
              <a:ext uri="{FF2B5EF4-FFF2-40B4-BE49-F238E27FC236}">
                <a16:creationId xmlns:a16="http://schemas.microsoft.com/office/drawing/2014/main" id="{0233DA84-5507-4676-9075-EC0D3D2A57B2}"/>
              </a:ext>
            </a:extLst>
          </p:cNvPr>
          <p:cNvSpPr>
            <a:spLocks noGrp="1"/>
          </p:cNvSpPr>
          <p:nvPr/>
        </p:nvSpPr>
        <p:spPr>
          <a:xfrm>
            <a:off x="9798571" y="3623369"/>
            <a:ext cx="938750" cy="285750"/>
          </a:xfrm>
          <a:prstGeom prst="rect">
            <a:avLst/>
          </a:prstGeom>
          <a:noFill/>
          <a:ln w="0">
            <a:noFill/>
            <a:prstDash val="solid"/>
          </a:ln>
        </p:spPr>
        <p:txBody>
          <a:bodyPr lIns="0" tIns="0" rIns="0" bIns="0" anchor="t">
            <a:noAutofit/>
          </a:bodyPr>
          <a:lstStyle/>
          <a:p>
            <a:pPr algn="l">
              <a:buNone/>
              <a:defRPr sz="1725" b="1">
                <a:solidFill>
                  <a:srgbClr val="F59E0B"/>
                </a:solidFill>
                <a:latin typeface="Hiragino Sans"/>
                <a:ea typeface="Hiragino Sans"/>
                <a:cs typeface="Hiragino Sans"/>
              </a:defRPr>
            </a:pPr>
            <a:r>
              <a:rPr lang="ja-JP" sz="1725" b="1" noProof="1">
                <a:solidFill>
                  <a:srgbClr val="FF0000"/>
                </a:solidFill>
                <a:latin typeface="Hiragino Sans"/>
                <a:ea typeface="Hiragino Sans"/>
                <a:cs typeface="Hiragino Sans"/>
              </a:rPr>
              <a:t>クラス B</a:t>
            </a:r>
          </a:p>
        </p:txBody>
      </p:sp>
      <p:sp>
        <p:nvSpPr>
          <p:cNvPr id="32" name="正方形/長方形 31">
            <a:extLst>
              <a:ext uri="{FF2B5EF4-FFF2-40B4-BE49-F238E27FC236}">
                <a16:creationId xmlns:a16="http://schemas.microsoft.com/office/drawing/2014/main" id="{65C0F17B-9EB7-443F-8448-75A8535C4BAC}"/>
              </a:ext>
            </a:extLst>
          </p:cNvPr>
          <p:cNvSpPr>
            <a:spLocks noGrp="1"/>
          </p:cNvSpPr>
          <p:nvPr/>
        </p:nvSpPr>
        <p:spPr>
          <a:xfrm>
            <a:off x="9258935" y="3467255"/>
            <a:ext cx="571500" cy="123825"/>
          </a:xfrm>
          <a:prstGeom prst="rect">
            <a:avLst/>
          </a:prstGeom>
          <a:solidFill>
            <a:srgbClr val="FF0000"/>
          </a:solidFill>
          <a:ln w="0">
            <a:solidFill>
              <a:srgbClr val="FF0000"/>
            </a:solidFill>
            <a:prstDash val="solid"/>
          </a:ln>
        </p:spPr>
        <p:txBody>
          <a:bodyPr/>
          <a:lstStyle/>
          <a:p>
            <a:endParaRPr lang="ja-JP" noProof="1"/>
          </a:p>
        </p:txBody>
      </p:sp>
      <p:sp>
        <p:nvSpPr>
          <p:cNvPr id="33" name="正方形/長方形 32">
            <a:extLst>
              <a:ext uri="{FF2B5EF4-FFF2-40B4-BE49-F238E27FC236}">
                <a16:creationId xmlns:a16="http://schemas.microsoft.com/office/drawing/2014/main" id="{9E523358-D415-4E7C-9C0D-60FB900D39EC}"/>
              </a:ext>
            </a:extLst>
          </p:cNvPr>
          <p:cNvSpPr>
            <a:spLocks noGrp="1"/>
          </p:cNvSpPr>
          <p:nvPr/>
        </p:nvSpPr>
        <p:spPr>
          <a:xfrm>
            <a:off x="8744585" y="3686330"/>
            <a:ext cx="514350" cy="123825"/>
          </a:xfrm>
          <a:prstGeom prst="rect">
            <a:avLst/>
          </a:prstGeom>
          <a:solidFill>
            <a:srgbClr val="FF0000"/>
          </a:solidFill>
          <a:ln w="0">
            <a:solidFill>
              <a:srgbClr val="FF0000"/>
            </a:solidFill>
            <a:prstDash val="solid"/>
          </a:ln>
        </p:spPr>
        <p:txBody>
          <a:bodyPr/>
          <a:lstStyle/>
          <a:p>
            <a:endParaRPr lang="ja-JP" noProof="1"/>
          </a:p>
        </p:txBody>
      </p:sp>
      <p:sp>
        <p:nvSpPr>
          <p:cNvPr id="34" name="正方形/長方形 33">
            <a:extLst>
              <a:ext uri="{FF2B5EF4-FFF2-40B4-BE49-F238E27FC236}">
                <a16:creationId xmlns:a16="http://schemas.microsoft.com/office/drawing/2014/main" id="{6EC4F42B-8CAB-48F0-81A3-7B57981EFB0B}"/>
              </a:ext>
            </a:extLst>
          </p:cNvPr>
          <p:cNvSpPr>
            <a:spLocks noGrp="1"/>
          </p:cNvSpPr>
          <p:nvPr/>
        </p:nvSpPr>
        <p:spPr>
          <a:xfrm>
            <a:off x="9258935" y="3905405"/>
            <a:ext cx="285750" cy="123825"/>
          </a:xfrm>
          <a:prstGeom prst="rect">
            <a:avLst/>
          </a:prstGeom>
          <a:solidFill>
            <a:srgbClr val="FF0000"/>
          </a:solidFill>
          <a:ln w="0">
            <a:solidFill>
              <a:srgbClr val="FF0000"/>
            </a:solidFill>
            <a:prstDash val="solid"/>
          </a:ln>
        </p:spPr>
        <p:txBody>
          <a:bodyPr/>
          <a:lstStyle/>
          <a:p>
            <a:endParaRPr lang="ja-JP" noProof="1"/>
          </a:p>
        </p:txBody>
      </p:sp>
      <p:sp>
        <p:nvSpPr>
          <p:cNvPr id="35" name="正方形/長方形 34">
            <a:extLst>
              <a:ext uri="{FF2B5EF4-FFF2-40B4-BE49-F238E27FC236}">
                <a16:creationId xmlns:a16="http://schemas.microsoft.com/office/drawing/2014/main" id="{61343C36-DD80-4A40-B644-C6A5D90368CA}"/>
              </a:ext>
            </a:extLst>
          </p:cNvPr>
          <p:cNvSpPr>
            <a:spLocks noGrp="1"/>
          </p:cNvSpPr>
          <p:nvPr/>
        </p:nvSpPr>
        <p:spPr>
          <a:xfrm>
            <a:off x="7753549" y="4942582"/>
            <a:ext cx="3040744" cy="952500"/>
          </a:xfrm>
          <a:prstGeom prst="rect">
            <a:avLst/>
          </a:prstGeom>
          <a:solidFill>
            <a:srgbClr val="FFFFFF"/>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6" name="正方形/長方形 35">
            <a:extLst>
              <a:ext uri="{FF2B5EF4-FFF2-40B4-BE49-F238E27FC236}">
                <a16:creationId xmlns:a16="http://schemas.microsoft.com/office/drawing/2014/main" id="{876F2BB5-5140-4BEE-A399-C9C075340F18}"/>
              </a:ext>
            </a:extLst>
          </p:cNvPr>
          <p:cNvSpPr>
            <a:spLocks noGrp="1"/>
          </p:cNvSpPr>
          <p:nvPr/>
        </p:nvSpPr>
        <p:spPr>
          <a:xfrm>
            <a:off x="9798571" y="5342632"/>
            <a:ext cx="938750" cy="285750"/>
          </a:xfrm>
          <a:prstGeom prst="rect">
            <a:avLst/>
          </a:prstGeom>
          <a:noFill/>
          <a:ln w="0">
            <a:noFill/>
            <a:prstDash val="solid"/>
          </a:ln>
        </p:spPr>
        <p:txBody>
          <a:bodyPr lIns="0" tIns="0" rIns="0" bIns="0" anchor="t">
            <a:noAutofit/>
          </a:bodyPr>
          <a:lstStyle/>
          <a:p>
            <a:pPr algn="l">
              <a:buNone/>
              <a:defRPr sz="1725" b="1">
                <a:solidFill>
                  <a:srgbClr val="10B981"/>
                </a:solidFill>
                <a:latin typeface="Hiragino Sans"/>
                <a:ea typeface="Hiragino Sans"/>
                <a:cs typeface="Hiragino Sans"/>
              </a:defRPr>
            </a:pPr>
            <a:r>
              <a:rPr lang="ja-JP" sz="1725" b="1" noProof="1">
                <a:solidFill>
                  <a:srgbClr val="10B981"/>
                </a:solidFill>
                <a:latin typeface="Hiragino Sans"/>
                <a:ea typeface="Hiragino Sans"/>
                <a:cs typeface="Hiragino Sans"/>
              </a:rPr>
              <a:t>クラス C</a:t>
            </a:r>
          </a:p>
        </p:txBody>
      </p:sp>
      <p:sp>
        <p:nvSpPr>
          <p:cNvPr id="38" name="正方形/長方形 37">
            <a:extLst>
              <a:ext uri="{FF2B5EF4-FFF2-40B4-BE49-F238E27FC236}">
                <a16:creationId xmlns:a16="http://schemas.microsoft.com/office/drawing/2014/main" id="{8E6D069A-8B08-4A7F-B5BB-0EDCE823FEBD}"/>
              </a:ext>
            </a:extLst>
          </p:cNvPr>
          <p:cNvSpPr>
            <a:spLocks noGrp="1"/>
          </p:cNvSpPr>
          <p:nvPr/>
        </p:nvSpPr>
        <p:spPr>
          <a:xfrm>
            <a:off x="9264983" y="5186518"/>
            <a:ext cx="528369" cy="123825"/>
          </a:xfrm>
          <a:prstGeom prst="rect">
            <a:avLst/>
          </a:prstGeom>
          <a:solidFill>
            <a:srgbClr val="10B981"/>
          </a:solidFill>
          <a:ln w="0">
            <a:solidFill>
              <a:srgbClr val="10B981"/>
            </a:solidFill>
            <a:prstDash val="solid"/>
          </a:ln>
        </p:spPr>
        <p:txBody>
          <a:bodyPr/>
          <a:lstStyle/>
          <a:p>
            <a:endParaRPr lang="ja-JP" noProof="1"/>
          </a:p>
        </p:txBody>
      </p:sp>
      <p:sp>
        <p:nvSpPr>
          <p:cNvPr id="39" name="正方形/長方形 38">
            <a:extLst>
              <a:ext uri="{FF2B5EF4-FFF2-40B4-BE49-F238E27FC236}">
                <a16:creationId xmlns:a16="http://schemas.microsoft.com/office/drawing/2014/main" id="{4C76D4E7-6335-44B6-B375-06A055E1D4DD}"/>
              </a:ext>
            </a:extLst>
          </p:cNvPr>
          <p:cNvSpPr>
            <a:spLocks noGrp="1"/>
          </p:cNvSpPr>
          <p:nvPr/>
        </p:nvSpPr>
        <p:spPr>
          <a:xfrm>
            <a:off x="8848301" y="5405593"/>
            <a:ext cx="411480" cy="123825"/>
          </a:xfrm>
          <a:prstGeom prst="rect">
            <a:avLst/>
          </a:prstGeom>
          <a:solidFill>
            <a:srgbClr val="10B981"/>
          </a:solidFill>
          <a:ln w="0">
            <a:solidFill>
              <a:srgbClr val="10B981"/>
            </a:solidFill>
            <a:prstDash val="solid"/>
          </a:ln>
        </p:spPr>
        <p:txBody>
          <a:bodyPr/>
          <a:lstStyle/>
          <a:p>
            <a:endParaRPr lang="ja-JP" noProof="1"/>
          </a:p>
        </p:txBody>
      </p:sp>
      <p:sp>
        <p:nvSpPr>
          <p:cNvPr id="40" name="正方形/長方形 39">
            <a:extLst>
              <a:ext uri="{FF2B5EF4-FFF2-40B4-BE49-F238E27FC236}">
                <a16:creationId xmlns:a16="http://schemas.microsoft.com/office/drawing/2014/main" id="{AD140A8D-F1CB-49DA-94F1-6C5BE4CF732C}"/>
              </a:ext>
            </a:extLst>
          </p:cNvPr>
          <p:cNvSpPr>
            <a:spLocks noGrp="1"/>
          </p:cNvSpPr>
          <p:nvPr/>
        </p:nvSpPr>
        <p:spPr>
          <a:xfrm>
            <a:off x="9114655" y="5624668"/>
            <a:ext cx="144280" cy="123825"/>
          </a:xfrm>
          <a:prstGeom prst="rect">
            <a:avLst/>
          </a:prstGeom>
          <a:solidFill>
            <a:srgbClr val="10B981"/>
          </a:solidFill>
          <a:ln w="0">
            <a:solidFill>
              <a:srgbClr val="10B981"/>
            </a:solidFill>
            <a:prstDash val="solid"/>
          </a:ln>
        </p:spPr>
        <p:txBody>
          <a:bodyPr/>
          <a:lstStyle/>
          <a:p>
            <a:endParaRPr lang="ja-JP" noProof="1"/>
          </a:p>
        </p:txBody>
      </p:sp>
      <p:pic>
        <p:nvPicPr>
          <p:cNvPr id="45" name="図 44">
            <a:extLst>
              <a:ext uri="{FF2B5EF4-FFF2-40B4-BE49-F238E27FC236}">
                <a16:creationId xmlns:a16="http://schemas.microsoft.com/office/drawing/2014/main" id="{89C8D7B5-056A-5DE8-D7B3-B11C5B958B7D}"/>
              </a:ext>
            </a:extLst>
          </p:cNvPr>
          <p:cNvPicPr>
            <a:picLocks noChangeAspect="1"/>
          </p:cNvPicPr>
          <p:nvPr/>
        </p:nvPicPr>
        <p:blipFill>
          <a:blip r:embed="rId3"/>
          <a:stretch>
            <a:fillRect/>
          </a:stretch>
        </p:blipFill>
        <p:spPr>
          <a:xfrm>
            <a:off x="800100" y="2111180"/>
            <a:ext cx="3242463" cy="2981325"/>
          </a:xfrm>
          <a:prstGeom prst="rect">
            <a:avLst/>
          </a:prstGeom>
        </p:spPr>
      </p:pic>
      <p:pic>
        <p:nvPicPr>
          <p:cNvPr id="46" name="図 45">
            <a:extLst>
              <a:ext uri="{FF2B5EF4-FFF2-40B4-BE49-F238E27FC236}">
                <a16:creationId xmlns:a16="http://schemas.microsoft.com/office/drawing/2014/main" id="{64F84279-C8A5-B6FC-4890-3B30B9B7B7A0}"/>
              </a:ext>
            </a:extLst>
          </p:cNvPr>
          <p:cNvPicPr>
            <a:picLocks noChangeAspect="1"/>
          </p:cNvPicPr>
          <p:nvPr/>
        </p:nvPicPr>
        <p:blipFill>
          <a:blip r:embed="rId4"/>
          <a:stretch>
            <a:fillRect/>
          </a:stretch>
        </p:blipFill>
        <p:spPr>
          <a:xfrm>
            <a:off x="4733662" y="1306922"/>
            <a:ext cx="1734076" cy="1594419"/>
          </a:xfrm>
          <a:prstGeom prst="rect">
            <a:avLst/>
          </a:prstGeom>
        </p:spPr>
      </p:pic>
      <p:pic>
        <p:nvPicPr>
          <p:cNvPr id="48" name="図 47">
            <a:extLst>
              <a:ext uri="{FF2B5EF4-FFF2-40B4-BE49-F238E27FC236}">
                <a16:creationId xmlns:a16="http://schemas.microsoft.com/office/drawing/2014/main" id="{321F6AE2-C348-240A-98E1-BDB3A576066D}"/>
              </a:ext>
            </a:extLst>
          </p:cNvPr>
          <p:cNvPicPr>
            <a:picLocks noChangeAspect="1"/>
          </p:cNvPicPr>
          <p:nvPr/>
        </p:nvPicPr>
        <p:blipFill>
          <a:blip r:embed="rId5"/>
          <a:stretch>
            <a:fillRect/>
          </a:stretch>
        </p:blipFill>
        <p:spPr>
          <a:xfrm>
            <a:off x="4723874" y="4684686"/>
            <a:ext cx="1741930" cy="1601641"/>
          </a:xfrm>
          <a:prstGeom prst="rect">
            <a:avLst/>
          </a:prstGeom>
        </p:spPr>
      </p:pic>
      <p:pic>
        <p:nvPicPr>
          <p:cNvPr id="49" name="図 48">
            <a:extLst>
              <a:ext uri="{FF2B5EF4-FFF2-40B4-BE49-F238E27FC236}">
                <a16:creationId xmlns:a16="http://schemas.microsoft.com/office/drawing/2014/main" id="{C341F2FF-F360-1C4E-A8DE-FE5D71C7E44B}"/>
              </a:ext>
            </a:extLst>
          </p:cNvPr>
          <p:cNvPicPr>
            <a:picLocks noChangeAspect="1"/>
          </p:cNvPicPr>
          <p:nvPr/>
        </p:nvPicPr>
        <p:blipFill>
          <a:blip r:embed="rId6"/>
          <a:stretch>
            <a:fillRect/>
          </a:stretch>
        </p:blipFill>
        <p:spPr>
          <a:xfrm>
            <a:off x="4723874" y="2936849"/>
            <a:ext cx="1741930" cy="1601640"/>
          </a:xfrm>
          <a:prstGeom prst="rect">
            <a:avLst/>
          </a:prstGeom>
        </p:spPr>
      </p:pic>
      <p:sp>
        <p:nvSpPr>
          <p:cNvPr id="4" name="テキスト ボックス 3">
            <a:extLst>
              <a:ext uri="{FF2B5EF4-FFF2-40B4-BE49-F238E27FC236}">
                <a16:creationId xmlns:a16="http://schemas.microsoft.com/office/drawing/2014/main" id="{25639526-A04E-C596-E59B-63B202AE2899}"/>
              </a:ext>
            </a:extLst>
          </p:cNvPr>
          <p:cNvSpPr txBox="1"/>
          <p:nvPr/>
        </p:nvSpPr>
        <p:spPr>
          <a:xfrm>
            <a:off x="7772748" y="1737608"/>
            <a:ext cx="1010213" cy="646331"/>
          </a:xfrm>
          <a:prstGeom prst="rect">
            <a:avLst/>
          </a:prstGeom>
          <a:noFill/>
        </p:spPr>
        <p:txBody>
          <a:bodyPr wrap="none" rtlCol="0">
            <a:spAutoFit/>
          </a:bodyPr>
          <a:lstStyle/>
          <a:p>
            <a:pPr algn="ctr"/>
            <a:r>
              <a:rPr kumimoji="1" lang="ja-JP" altLang="en-US"/>
              <a:t>クラス</a:t>
            </a:r>
            <a:r>
              <a:rPr kumimoji="1" lang="en-US" altLang="ja-JP" dirty="0"/>
              <a:t>A</a:t>
            </a:r>
          </a:p>
          <a:p>
            <a:pPr algn="ctr"/>
            <a:r>
              <a:rPr kumimoji="1" lang="ja-JP" altLang="en-US"/>
              <a:t>以外</a:t>
            </a:r>
          </a:p>
        </p:txBody>
      </p:sp>
      <p:sp>
        <p:nvSpPr>
          <p:cNvPr id="5" name="テキスト ボックス 4">
            <a:extLst>
              <a:ext uri="{FF2B5EF4-FFF2-40B4-BE49-F238E27FC236}">
                <a16:creationId xmlns:a16="http://schemas.microsoft.com/office/drawing/2014/main" id="{C28DC61E-BAB7-A3D5-61CD-ECE6C061CE8B}"/>
              </a:ext>
            </a:extLst>
          </p:cNvPr>
          <p:cNvSpPr txBox="1"/>
          <p:nvPr/>
        </p:nvSpPr>
        <p:spPr>
          <a:xfrm>
            <a:off x="7823993" y="3434611"/>
            <a:ext cx="1010213" cy="646331"/>
          </a:xfrm>
          <a:prstGeom prst="rect">
            <a:avLst/>
          </a:prstGeom>
          <a:noFill/>
        </p:spPr>
        <p:txBody>
          <a:bodyPr wrap="none" rtlCol="0">
            <a:spAutoFit/>
          </a:bodyPr>
          <a:lstStyle/>
          <a:p>
            <a:pPr algn="ctr"/>
            <a:r>
              <a:rPr kumimoji="1" lang="ja-JP" altLang="en-US"/>
              <a:t>クラス</a:t>
            </a:r>
            <a:r>
              <a:rPr kumimoji="1" lang="en-US" altLang="ja-JP" dirty="0"/>
              <a:t>B</a:t>
            </a:r>
          </a:p>
          <a:p>
            <a:pPr algn="ctr"/>
            <a:r>
              <a:rPr kumimoji="1" lang="ja-JP" altLang="en-US"/>
              <a:t>以外</a:t>
            </a:r>
          </a:p>
        </p:txBody>
      </p:sp>
      <p:sp>
        <p:nvSpPr>
          <p:cNvPr id="9" name="テキスト ボックス 8">
            <a:extLst>
              <a:ext uri="{FF2B5EF4-FFF2-40B4-BE49-F238E27FC236}">
                <a16:creationId xmlns:a16="http://schemas.microsoft.com/office/drawing/2014/main" id="{DCEA3821-29C4-F1FD-FF07-15D6DAC06393}"/>
              </a:ext>
            </a:extLst>
          </p:cNvPr>
          <p:cNvSpPr txBox="1"/>
          <p:nvPr/>
        </p:nvSpPr>
        <p:spPr>
          <a:xfrm>
            <a:off x="7803926" y="5133400"/>
            <a:ext cx="1010213" cy="646331"/>
          </a:xfrm>
          <a:prstGeom prst="rect">
            <a:avLst/>
          </a:prstGeom>
          <a:noFill/>
        </p:spPr>
        <p:txBody>
          <a:bodyPr wrap="none" rtlCol="0">
            <a:spAutoFit/>
          </a:bodyPr>
          <a:lstStyle/>
          <a:p>
            <a:pPr algn="ctr"/>
            <a:r>
              <a:rPr kumimoji="1" lang="ja-JP" altLang="en-US"/>
              <a:t>クラス</a:t>
            </a:r>
            <a:r>
              <a:rPr kumimoji="1" lang="en-US" altLang="ja-JP" dirty="0"/>
              <a:t>C</a:t>
            </a:r>
          </a:p>
          <a:p>
            <a:pPr algn="ctr"/>
            <a:r>
              <a:rPr kumimoji="1" lang="ja-JP" altLang="en-US"/>
              <a:t>以外</a:t>
            </a:r>
          </a:p>
        </p:txBody>
      </p:sp>
      <p:cxnSp>
        <p:nvCxnSpPr>
          <p:cNvPr id="10" name="直線コネクタ 9">
            <a:extLst>
              <a:ext uri="{FF2B5EF4-FFF2-40B4-BE49-F238E27FC236}">
                <a16:creationId xmlns:a16="http://schemas.microsoft.com/office/drawing/2014/main" id="{333AC013-BAEF-EF21-AA0C-AA6210D9E123}"/>
              </a:ext>
            </a:extLst>
          </p:cNvPr>
          <p:cNvCxnSpPr>
            <a:cxnSpLocks/>
            <a:endCxn id="28" idx="3"/>
          </p:cNvCxnSpPr>
          <p:nvPr/>
        </p:nvCxnSpPr>
        <p:spPr>
          <a:xfrm>
            <a:off x="9201785" y="1843079"/>
            <a:ext cx="0" cy="462127"/>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DC1368C-45B7-5D8B-1314-21295CDBB8B6}"/>
              </a:ext>
            </a:extLst>
          </p:cNvPr>
          <p:cNvCxnSpPr>
            <a:cxnSpLocks/>
          </p:cNvCxnSpPr>
          <p:nvPr/>
        </p:nvCxnSpPr>
        <p:spPr>
          <a:xfrm>
            <a:off x="9255987" y="3516949"/>
            <a:ext cx="0" cy="462127"/>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09C593D-5ADF-44A2-0608-CFEC6C3B42BD}"/>
              </a:ext>
            </a:extLst>
          </p:cNvPr>
          <p:cNvCxnSpPr>
            <a:cxnSpLocks/>
          </p:cNvCxnSpPr>
          <p:nvPr/>
        </p:nvCxnSpPr>
        <p:spPr>
          <a:xfrm>
            <a:off x="9266071" y="5244943"/>
            <a:ext cx="0" cy="462127"/>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ADEB4C1F-B0AB-687C-002D-6A4B90E22F23}"/>
              </a:ext>
            </a:extLst>
          </p:cNvPr>
          <p:cNvSpPr txBox="1"/>
          <p:nvPr/>
        </p:nvSpPr>
        <p:spPr>
          <a:xfrm>
            <a:off x="0" y="6487566"/>
            <a:ext cx="6686446" cy="415498"/>
          </a:xfrm>
          <a:prstGeom prst="rect">
            <a:avLst/>
          </a:prstGeom>
          <a:noFill/>
        </p:spPr>
        <p:txBody>
          <a:bodyPr wrap="none" rtlCol="0">
            <a:spAutoFit/>
          </a:bodyPr>
          <a:lstStyle/>
          <a:p>
            <a:r>
              <a:rPr lang="en-US" altLang="ja-JP" sz="1050" dirty="0"/>
              <a:t>[1]</a:t>
            </a:r>
            <a:r>
              <a:rPr lang="ja-JP" altLang="ja-JP" sz="1050"/>
              <a:t>Ribeiro, M. T., Singh, S., &amp; Guestrin, C. (2016). "Why should I trust you?": Explaining the predictions of any classifier. </a:t>
            </a:r>
            <a:br>
              <a:rPr lang="en-US" altLang="ja-JP" sz="1050" dirty="0"/>
            </a:br>
            <a:r>
              <a:rPr lang="ja-JP" altLang="ja-JP" sz="1050" i="1"/>
              <a:t>Proceedings of the 22nd ACM SIGKDD international conference on knowledge discovery and data mining</a:t>
            </a:r>
            <a:r>
              <a:rPr lang="ja-JP" altLang="ja-JP" sz="1050"/>
              <a:t>, 1135-1144.</a:t>
            </a:r>
            <a:endParaRPr kumimoji="1" lang="ja-JP" altLang="en-US" sz="1050"/>
          </a:p>
        </p:txBody>
      </p:sp>
    </p:spTree>
    <p:extLst>
      <p:ext uri="{BB962C8B-B14F-4D97-AF65-F5344CB8AC3E}">
        <p14:creationId xmlns:p14="http://schemas.microsoft.com/office/powerpoint/2010/main" val="709646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22" name="角丸四角形 21">
            <a:extLst>
              <a:ext uri="{FF2B5EF4-FFF2-40B4-BE49-F238E27FC236}">
                <a16:creationId xmlns:a16="http://schemas.microsoft.com/office/drawing/2014/main" id="{E3494949-914F-870F-0A2E-B31C62B6B2BF}"/>
              </a:ext>
            </a:extLst>
          </p:cNvPr>
          <p:cNvSpPr/>
          <p:nvPr/>
        </p:nvSpPr>
        <p:spPr>
          <a:xfrm>
            <a:off x="353568" y="1991432"/>
            <a:ext cx="2408682" cy="463296"/>
          </a:xfrm>
          <a:prstGeom prst="roundRect">
            <a:avLst/>
          </a:prstGeom>
          <a:solidFill>
            <a:srgbClr val="0F9ED5">
              <a:alpha val="38431"/>
            </a:srgbClr>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A1518D49-782F-E320-1D1F-6BD44EB09677}"/>
              </a:ext>
            </a:extLst>
          </p:cNvPr>
          <p:cNvSpPr/>
          <p:nvPr/>
        </p:nvSpPr>
        <p:spPr>
          <a:xfrm>
            <a:off x="3067392" y="3585172"/>
            <a:ext cx="2408682" cy="463296"/>
          </a:xfrm>
          <a:prstGeom prst="roundRect">
            <a:avLst/>
          </a:prstGeom>
          <a:solidFill>
            <a:srgbClr val="0F9ED5">
              <a:alpha val="38431"/>
            </a:srgbClr>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F1AA4A81-65D9-4460-9C50-8B2A4FA09904}"/>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7-title">
            <a:extLst>
              <a:ext uri="{FF2B5EF4-FFF2-40B4-BE49-F238E27FC236}">
                <a16:creationId xmlns:a16="http://schemas.microsoft.com/office/drawing/2014/main" id="{EE8FC56C-8321-46EA-BF49-FD7A05980B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Hiragino Sans"/>
                <a:ea typeface="Hiragino Sans"/>
                <a:cs typeface="Hiragino Sans"/>
              </a:defRPr>
            </a:pPr>
            <a:r>
              <a:rPr lang="ja-JP" sz="2850" b="1" noProof="1">
                <a:solidFill>
                  <a:srgbClr val="12233A"/>
                </a:solidFill>
                <a:latin typeface="Hiragino Sans"/>
                <a:ea typeface="Hiragino Sans"/>
                <a:cs typeface="Hiragino Sans"/>
              </a:rPr>
              <a:t>クラス別説明を並べるだけでは、全体像を読み取りにくい</a:t>
            </a:r>
          </a:p>
        </p:txBody>
      </p:sp>
      <p:sp>
        <p:nvSpPr>
          <p:cNvPr id="5" name="正方形/長方形 4">
            <a:extLst>
              <a:ext uri="{FF2B5EF4-FFF2-40B4-BE49-F238E27FC236}">
                <a16:creationId xmlns:a16="http://schemas.microsoft.com/office/drawing/2014/main" id="{FC56ABC9-862C-4B19-95D1-AB0DB3DD6C8D}"/>
              </a:ext>
            </a:extLst>
          </p:cNvPr>
          <p:cNvSpPr>
            <a:spLocks noGrp="1"/>
          </p:cNvSpPr>
          <p:nvPr/>
        </p:nvSpPr>
        <p:spPr>
          <a:xfrm>
            <a:off x="523875" y="1410022"/>
            <a:ext cx="2238375" cy="323850"/>
          </a:xfrm>
          <a:prstGeom prst="rect">
            <a:avLst/>
          </a:prstGeom>
          <a:noFill/>
          <a:ln w="0">
            <a:noFill/>
            <a:prstDash val="solid"/>
          </a:ln>
        </p:spPr>
        <p:txBody>
          <a:bodyPr lIns="0" tIns="0" rIns="0" bIns="0" anchor="t">
            <a:noAutofit/>
          </a:bodyPr>
          <a:lstStyle/>
          <a:p>
            <a:pPr algn="l">
              <a:buNone/>
              <a:defRPr sz="1875" b="1">
                <a:solidFill>
                  <a:srgbClr val="2563EB"/>
                </a:solidFill>
                <a:latin typeface="Hiragino Sans"/>
                <a:ea typeface="Hiragino Sans"/>
                <a:cs typeface="Hiragino Sans"/>
              </a:defRPr>
            </a:pPr>
            <a:r>
              <a:rPr lang="ja-JP" sz="1875" b="1" noProof="1">
                <a:solidFill>
                  <a:srgbClr val="2563EB"/>
                </a:solidFill>
                <a:latin typeface="Hiragino Sans"/>
                <a:ea typeface="Hiragino Sans"/>
                <a:cs typeface="Hiragino Sans"/>
              </a:rPr>
              <a:t>クラス A</a:t>
            </a:r>
          </a:p>
        </p:txBody>
      </p:sp>
      <p:cxnSp>
        <p:nvCxnSpPr>
          <p:cNvPr id="97" name="直線矢印コネクタ 38"/>
          <p:cNvCxnSpPr/>
          <p:nvPr/>
        </p:nvCxnSpPr>
        <p:spPr>
          <a:xfrm>
            <a:off x="523875" y="1819597"/>
            <a:ext cx="2190750" cy="0"/>
          </a:xfrm>
          <a:prstGeom prst="straightConnector1">
            <a:avLst/>
          </a:prstGeom>
          <a:ln w="9525">
            <a:solidFill>
              <a:srgbClr val="CBD5E1"/>
            </a:solidFill>
            <a:prstDash val="solid"/>
          </a:ln>
        </p:spPr>
      </p:cxnSp>
      <p:sp>
        <p:nvSpPr>
          <p:cNvPr id="7" name="正方形/長方形 6">
            <a:extLst>
              <a:ext uri="{FF2B5EF4-FFF2-40B4-BE49-F238E27FC236}">
                <a16:creationId xmlns:a16="http://schemas.microsoft.com/office/drawing/2014/main" id="{ED5842F6-5493-49D7-941C-5E46F4D892A7}"/>
              </a:ext>
            </a:extLst>
          </p:cNvPr>
          <p:cNvSpPr>
            <a:spLocks noGrp="1"/>
          </p:cNvSpPr>
          <p:nvPr/>
        </p:nvSpPr>
        <p:spPr>
          <a:xfrm>
            <a:off x="523875" y="212439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特徴1</a:t>
            </a:r>
          </a:p>
        </p:txBody>
      </p:sp>
      <p:sp>
        <p:nvSpPr>
          <p:cNvPr id="8" name="正方形/長方形 7">
            <a:extLst>
              <a:ext uri="{FF2B5EF4-FFF2-40B4-BE49-F238E27FC236}">
                <a16:creationId xmlns:a16="http://schemas.microsoft.com/office/drawing/2014/main" id="{F97AF587-3C0A-4485-B6F9-3B77943077DA}"/>
              </a:ext>
            </a:extLst>
          </p:cNvPr>
          <p:cNvSpPr>
            <a:spLocks noGrp="1"/>
          </p:cNvSpPr>
          <p:nvPr/>
        </p:nvSpPr>
        <p:spPr>
          <a:xfrm>
            <a:off x="2052636" y="2143447"/>
            <a:ext cx="671513" cy="180975"/>
          </a:xfrm>
          <a:prstGeom prst="rect">
            <a:avLst/>
          </a:prstGeom>
          <a:solidFill>
            <a:srgbClr val="2563EB"/>
          </a:solidFill>
          <a:ln w="0">
            <a:solidFill>
              <a:srgbClr val="2563EB"/>
            </a:solidFill>
            <a:prstDash val="solid"/>
          </a:ln>
        </p:spPr>
        <p:txBody>
          <a:bodyPr anchor="ctr" anchorCtr="1"/>
          <a:lstStyle/>
          <a:p>
            <a:r>
              <a:rPr lang="en-US" altLang="ja-JP" sz="1050" noProof="1">
                <a:solidFill>
                  <a:schemeClr val="bg1"/>
                </a:solidFill>
              </a:rPr>
              <a:t>+0.4</a:t>
            </a:r>
            <a:endParaRPr lang="ja-JP" sz="1050" noProof="1">
              <a:solidFill>
                <a:schemeClr val="bg1"/>
              </a:solidFill>
            </a:endParaRPr>
          </a:p>
        </p:txBody>
      </p:sp>
      <p:sp>
        <p:nvSpPr>
          <p:cNvPr id="9" name="正方形/長方形 8">
            <a:extLst>
              <a:ext uri="{FF2B5EF4-FFF2-40B4-BE49-F238E27FC236}">
                <a16:creationId xmlns:a16="http://schemas.microsoft.com/office/drawing/2014/main" id="{D810D807-BBBD-475D-B2D6-CE31F15E5E50}"/>
              </a:ext>
            </a:extLst>
          </p:cNvPr>
          <p:cNvSpPr>
            <a:spLocks noGrp="1"/>
          </p:cNvSpPr>
          <p:nvPr/>
        </p:nvSpPr>
        <p:spPr>
          <a:xfrm>
            <a:off x="523875" y="2934022"/>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特徴2</a:t>
            </a:r>
          </a:p>
        </p:txBody>
      </p:sp>
      <p:sp>
        <p:nvSpPr>
          <p:cNvPr id="10" name="正方形/長方形 9">
            <a:extLst>
              <a:ext uri="{FF2B5EF4-FFF2-40B4-BE49-F238E27FC236}">
                <a16:creationId xmlns:a16="http://schemas.microsoft.com/office/drawing/2014/main" id="{7CB2A021-E301-40E1-932C-F2A563C6F7F3}"/>
              </a:ext>
            </a:extLst>
          </p:cNvPr>
          <p:cNvSpPr>
            <a:spLocks noGrp="1"/>
          </p:cNvSpPr>
          <p:nvPr/>
        </p:nvSpPr>
        <p:spPr>
          <a:xfrm>
            <a:off x="1243013" y="2953072"/>
            <a:ext cx="809625" cy="180975"/>
          </a:xfrm>
          <a:prstGeom prst="rect">
            <a:avLst/>
          </a:prstGeom>
          <a:solidFill>
            <a:srgbClr val="2563EB"/>
          </a:solidFill>
          <a:ln w="0">
            <a:solidFill>
              <a:srgbClr val="2563EB"/>
            </a:solidFill>
            <a:prstDash val="solid"/>
          </a:ln>
        </p:spPr>
        <p:txBody>
          <a:bodyPr anchor="ctr" anchorCtr="1"/>
          <a:lstStyle/>
          <a:p>
            <a:r>
              <a:rPr lang="en-US" altLang="ja-JP" sz="1050" noProof="1">
                <a:solidFill>
                  <a:schemeClr val="bg1"/>
                </a:solidFill>
              </a:rPr>
              <a:t>-0.6</a:t>
            </a:r>
            <a:endParaRPr lang="ja-JP" sz="1050" noProof="1">
              <a:solidFill>
                <a:schemeClr val="bg1"/>
              </a:solidFill>
            </a:endParaRPr>
          </a:p>
        </p:txBody>
      </p:sp>
      <p:sp>
        <p:nvSpPr>
          <p:cNvPr id="11" name="正方形/長方形 10">
            <a:extLst>
              <a:ext uri="{FF2B5EF4-FFF2-40B4-BE49-F238E27FC236}">
                <a16:creationId xmlns:a16="http://schemas.microsoft.com/office/drawing/2014/main" id="{84B6F764-0125-4677-B9FA-03472D8464F6}"/>
              </a:ext>
            </a:extLst>
          </p:cNvPr>
          <p:cNvSpPr>
            <a:spLocks noGrp="1"/>
          </p:cNvSpPr>
          <p:nvPr/>
        </p:nvSpPr>
        <p:spPr>
          <a:xfrm>
            <a:off x="523875" y="374364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特徴5</a:t>
            </a:r>
          </a:p>
        </p:txBody>
      </p:sp>
      <p:sp>
        <p:nvSpPr>
          <p:cNvPr id="12" name="正方形/長方形 11">
            <a:extLst>
              <a:ext uri="{FF2B5EF4-FFF2-40B4-BE49-F238E27FC236}">
                <a16:creationId xmlns:a16="http://schemas.microsoft.com/office/drawing/2014/main" id="{57EC35DB-808D-42CC-B235-AD0C023ABEA4}"/>
              </a:ext>
            </a:extLst>
          </p:cNvPr>
          <p:cNvSpPr>
            <a:spLocks noGrp="1"/>
          </p:cNvSpPr>
          <p:nvPr/>
        </p:nvSpPr>
        <p:spPr>
          <a:xfrm>
            <a:off x="2052638" y="3762697"/>
            <a:ext cx="502614" cy="180975"/>
          </a:xfrm>
          <a:prstGeom prst="rect">
            <a:avLst/>
          </a:prstGeom>
          <a:solidFill>
            <a:srgbClr val="2563EB"/>
          </a:solidFill>
          <a:ln w="0">
            <a:solidFill>
              <a:srgbClr val="2563EB"/>
            </a:solidFill>
            <a:prstDash val="solid"/>
          </a:ln>
        </p:spPr>
        <p:txBody>
          <a:bodyPr anchor="ctr" anchorCtr="1"/>
          <a:lstStyle/>
          <a:p>
            <a:r>
              <a:rPr lang="en-US" altLang="ja-JP" sz="1050" noProof="1">
                <a:solidFill>
                  <a:schemeClr val="bg1"/>
                </a:solidFill>
              </a:rPr>
              <a:t>+0.3</a:t>
            </a:r>
            <a:endParaRPr lang="ja-JP" sz="1050" noProof="1">
              <a:solidFill>
                <a:schemeClr val="bg1"/>
              </a:solidFill>
            </a:endParaRPr>
          </a:p>
        </p:txBody>
      </p:sp>
      <p:sp>
        <p:nvSpPr>
          <p:cNvPr id="13" name="正方形/長方形 12">
            <a:extLst>
              <a:ext uri="{FF2B5EF4-FFF2-40B4-BE49-F238E27FC236}">
                <a16:creationId xmlns:a16="http://schemas.microsoft.com/office/drawing/2014/main" id="{963193BD-CCD1-4C01-AFAC-6D24CB059705}"/>
              </a:ext>
            </a:extLst>
          </p:cNvPr>
          <p:cNvSpPr>
            <a:spLocks noGrp="1"/>
          </p:cNvSpPr>
          <p:nvPr/>
        </p:nvSpPr>
        <p:spPr>
          <a:xfrm>
            <a:off x="3238500" y="1410022"/>
            <a:ext cx="2238375" cy="323850"/>
          </a:xfrm>
          <a:prstGeom prst="rect">
            <a:avLst/>
          </a:prstGeom>
          <a:noFill/>
          <a:ln w="0">
            <a:noFill/>
            <a:prstDash val="solid"/>
          </a:ln>
        </p:spPr>
        <p:txBody>
          <a:bodyPr lIns="0" tIns="0" rIns="0" bIns="0" anchor="t">
            <a:noAutofit/>
          </a:bodyPr>
          <a:lstStyle/>
          <a:p>
            <a:pPr algn="l">
              <a:buNone/>
              <a:defRPr sz="1875" b="1">
                <a:solidFill>
                  <a:srgbClr val="F59E0B"/>
                </a:solidFill>
                <a:latin typeface="Hiragino Sans"/>
                <a:ea typeface="Hiragino Sans"/>
                <a:cs typeface="Hiragino Sans"/>
              </a:defRPr>
            </a:pPr>
            <a:r>
              <a:rPr lang="ja-JP" sz="1875" b="1" noProof="1">
                <a:solidFill>
                  <a:srgbClr val="FF0000"/>
                </a:solidFill>
                <a:latin typeface="Hiragino Sans"/>
                <a:ea typeface="Hiragino Sans"/>
                <a:cs typeface="Hiragino Sans"/>
              </a:rPr>
              <a:t>クラス B</a:t>
            </a:r>
          </a:p>
        </p:txBody>
      </p:sp>
      <p:cxnSp>
        <p:nvCxnSpPr>
          <p:cNvPr id="105" name="直線矢印コネクタ 46"/>
          <p:cNvCxnSpPr/>
          <p:nvPr/>
        </p:nvCxnSpPr>
        <p:spPr>
          <a:xfrm>
            <a:off x="3238500" y="1819597"/>
            <a:ext cx="2190750" cy="0"/>
          </a:xfrm>
          <a:prstGeom prst="straightConnector1">
            <a:avLst/>
          </a:prstGeom>
          <a:ln w="9525">
            <a:solidFill>
              <a:srgbClr val="CBD5E1"/>
            </a:solidFill>
            <a:prstDash val="solid"/>
          </a:ln>
        </p:spPr>
      </p:cxnSp>
      <p:sp>
        <p:nvSpPr>
          <p:cNvPr id="15" name="正方形/長方形 14">
            <a:extLst>
              <a:ext uri="{FF2B5EF4-FFF2-40B4-BE49-F238E27FC236}">
                <a16:creationId xmlns:a16="http://schemas.microsoft.com/office/drawing/2014/main" id="{B653A798-C88C-4C36-97B5-105BC4AE163B}"/>
              </a:ext>
            </a:extLst>
          </p:cNvPr>
          <p:cNvSpPr>
            <a:spLocks noGrp="1"/>
          </p:cNvSpPr>
          <p:nvPr/>
        </p:nvSpPr>
        <p:spPr>
          <a:xfrm>
            <a:off x="3238500" y="212439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特徴2</a:t>
            </a:r>
          </a:p>
        </p:txBody>
      </p:sp>
      <p:sp>
        <p:nvSpPr>
          <p:cNvPr id="16" name="正方形/長方形 15">
            <a:extLst>
              <a:ext uri="{FF2B5EF4-FFF2-40B4-BE49-F238E27FC236}">
                <a16:creationId xmlns:a16="http://schemas.microsoft.com/office/drawing/2014/main" id="{E3410C17-715A-4214-8732-67432B3875B8}"/>
              </a:ext>
            </a:extLst>
          </p:cNvPr>
          <p:cNvSpPr>
            <a:spLocks noGrp="1"/>
          </p:cNvSpPr>
          <p:nvPr/>
        </p:nvSpPr>
        <p:spPr>
          <a:xfrm>
            <a:off x="4773930" y="2143447"/>
            <a:ext cx="512134" cy="180975"/>
          </a:xfrm>
          <a:prstGeom prst="rect">
            <a:avLst/>
          </a:prstGeom>
          <a:solidFill>
            <a:srgbClr val="FF0000"/>
          </a:solidFill>
          <a:ln w="0">
            <a:solidFill>
              <a:srgbClr val="FF0000"/>
            </a:solidFill>
            <a:prstDash val="solid"/>
          </a:ln>
        </p:spPr>
        <p:txBody>
          <a:bodyPr anchor="ctr" anchorCtr="1"/>
          <a:lstStyle/>
          <a:p>
            <a:r>
              <a:rPr lang="en-US" altLang="ja-JP" sz="1050" noProof="1">
                <a:solidFill>
                  <a:schemeClr val="bg1"/>
                </a:solidFill>
              </a:rPr>
              <a:t>+0.3</a:t>
            </a:r>
            <a:endParaRPr lang="ja-JP" sz="1050" noProof="1">
              <a:solidFill>
                <a:schemeClr val="bg1"/>
              </a:solidFill>
            </a:endParaRPr>
          </a:p>
        </p:txBody>
      </p:sp>
      <p:sp>
        <p:nvSpPr>
          <p:cNvPr id="17" name="正方形/長方形 16">
            <a:extLst>
              <a:ext uri="{FF2B5EF4-FFF2-40B4-BE49-F238E27FC236}">
                <a16:creationId xmlns:a16="http://schemas.microsoft.com/office/drawing/2014/main" id="{DEE74ADC-DC9D-41F5-BD0B-5D0113AC2E11}"/>
              </a:ext>
            </a:extLst>
          </p:cNvPr>
          <p:cNvSpPr>
            <a:spLocks noGrp="1"/>
          </p:cNvSpPr>
          <p:nvPr/>
        </p:nvSpPr>
        <p:spPr>
          <a:xfrm>
            <a:off x="3238500" y="2934022"/>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特徴4</a:t>
            </a:r>
          </a:p>
        </p:txBody>
      </p:sp>
      <p:sp>
        <p:nvSpPr>
          <p:cNvPr id="18" name="正方形/長方形 17">
            <a:extLst>
              <a:ext uri="{FF2B5EF4-FFF2-40B4-BE49-F238E27FC236}">
                <a16:creationId xmlns:a16="http://schemas.microsoft.com/office/drawing/2014/main" id="{7F6DB0B6-878A-480F-8D5F-AFD141AED6BD}"/>
              </a:ext>
            </a:extLst>
          </p:cNvPr>
          <p:cNvSpPr>
            <a:spLocks noGrp="1"/>
          </p:cNvSpPr>
          <p:nvPr/>
        </p:nvSpPr>
        <p:spPr>
          <a:xfrm>
            <a:off x="4095750" y="2953072"/>
            <a:ext cx="678180" cy="180975"/>
          </a:xfrm>
          <a:prstGeom prst="rect">
            <a:avLst/>
          </a:prstGeom>
          <a:solidFill>
            <a:srgbClr val="FF0000"/>
          </a:solidFill>
          <a:ln w="0">
            <a:solidFill>
              <a:srgbClr val="FF0000"/>
            </a:solidFill>
            <a:prstDash val="solid"/>
          </a:ln>
        </p:spPr>
        <p:txBody>
          <a:bodyPr anchor="ctr" anchorCtr="1"/>
          <a:lstStyle/>
          <a:p>
            <a:r>
              <a:rPr lang="en-US" altLang="ja-JP" sz="1050" noProof="1">
                <a:solidFill>
                  <a:schemeClr val="bg1"/>
                </a:solidFill>
              </a:rPr>
              <a:t>-0.5</a:t>
            </a:r>
            <a:endParaRPr lang="ja-JP" sz="1050" noProof="1">
              <a:solidFill>
                <a:schemeClr val="bg1"/>
              </a:solidFill>
            </a:endParaRPr>
          </a:p>
        </p:txBody>
      </p:sp>
      <p:sp>
        <p:nvSpPr>
          <p:cNvPr id="19" name="正方形/長方形 18">
            <a:extLst>
              <a:ext uri="{FF2B5EF4-FFF2-40B4-BE49-F238E27FC236}">
                <a16:creationId xmlns:a16="http://schemas.microsoft.com/office/drawing/2014/main" id="{0E8E1109-0AEF-4C79-B3CF-2C16FDFCA934}"/>
              </a:ext>
            </a:extLst>
          </p:cNvPr>
          <p:cNvSpPr>
            <a:spLocks noGrp="1"/>
          </p:cNvSpPr>
          <p:nvPr/>
        </p:nvSpPr>
        <p:spPr>
          <a:xfrm>
            <a:off x="3238500" y="374364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特徴1</a:t>
            </a:r>
          </a:p>
        </p:txBody>
      </p:sp>
      <p:sp>
        <p:nvSpPr>
          <p:cNvPr id="20" name="正方形/長方形 19">
            <a:extLst>
              <a:ext uri="{FF2B5EF4-FFF2-40B4-BE49-F238E27FC236}">
                <a16:creationId xmlns:a16="http://schemas.microsoft.com/office/drawing/2014/main" id="{1EC67A9D-E3B4-49EC-97EA-F71D28646910}"/>
              </a:ext>
            </a:extLst>
          </p:cNvPr>
          <p:cNvSpPr>
            <a:spLocks noGrp="1"/>
          </p:cNvSpPr>
          <p:nvPr/>
        </p:nvSpPr>
        <p:spPr>
          <a:xfrm>
            <a:off x="4095750" y="3762697"/>
            <a:ext cx="678180" cy="180975"/>
          </a:xfrm>
          <a:prstGeom prst="rect">
            <a:avLst/>
          </a:prstGeom>
          <a:solidFill>
            <a:srgbClr val="FF0000"/>
          </a:solidFill>
          <a:ln w="0">
            <a:solidFill>
              <a:srgbClr val="FF0000"/>
            </a:solidFill>
            <a:prstDash val="solid"/>
          </a:ln>
        </p:spPr>
        <p:txBody>
          <a:bodyPr anchor="ctr" anchorCtr="1"/>
          <a:lstStyle/>
          <a:p>
            <a:r>
              <a:rPr lang="en-US" altLang="ja-JP" sz="1050" noProof="1">
                <a:solidFill>
                  <a:schemeClr val="bg1"/>
                </a:solidFill>
              </a:rPr>
              <a:t>-0.5</a:t>
            </a:r>
            <a:endParaRPr lang="ja-JP" sz="1050" noProof="1">
              <a:solidFill>
                <a:schemeClr val="bg1"/>
              </a:solidFill>
            </a:endParaRPr>
          </a:p>
        </p:txBody>
      </p:sp>
      <p:sp>
        <p:nvSpPr>
          <p:cNvPr id="21" name="正方形/長方形 20">
            <a:extLst>
              <a:ext uri="{FF2B5EF4-FFF2-40B4-BE49-F238E27FC236}">
                <a16:creationId xmlns:a16="http://schemas.microsoft.com/office/drawing/2014/main" id="{E9DCC125-2D2A-4ECB-8715-5A08507D6CCB}"/>
              </a:ext>
            </a:extLst>
          </p:cNvPr>
          <p:cNvSpPr>
            <a:spLocks noGrp="1"/>
          </p:cNvSpPr>
          <p:nvPr/>
        </p:nvSpPr>
        <p:spPr>
          <a:xfrm>
            <a:off x="5953125" y="1410022"/>
            <a:ext cx="2238375" cy="323850"/>
          </a:xfrm>
          <a:prstGeom prst="rect">
            <a:avLst/>
          </a:prstGeom>
          <a:noFill/>
          <a:ln w="0">
            <a:noFill/>
            <a:prstDash val="solid"/>
          </a:ln>
        </p:spPr>
        <p:txBody>
          <a:bodyPr lIns="0" tIns="0" rIns="0" bIns="0" anchor="t">
            <a:noAutofit/>
          </a:bodyPr>
          <a:lstStyle/>
          <a:p>
            <a:pPr algn="l">
              <a:buNone/>
              <a:defRPr sz="1875" b="1">
                <a:solidFill>
                  <a:srgbClr val="10B981"/>
                </a:solidFill>
                <a:latin typeface="Hiragino Sans"/>
                <a:ea typeface="Hiragino Sans"/>
                <a:cs typeface="Hiragino Sans"/>
              </a:defRPr>
            </a:pPr>
            <a:r>
              <a:rPr lang="ja-JP" sz="1875" b="1" noProof="1">
                <a:solidFill>
                  <a:srgbClr val="10B981"/>
                </a:solidFill>
                <a:latin typeface="Hiragino Sans"/>
                <a:ea typeface="Hiragino Sans"/>
                <a:cs typeface="Hiragino Sans"/>
              </a:rPr>
              <a:t>クラス C</a:t>
            </a:r>
          </a:p>
        </p:txBody>
      </p:sp>
      <p:cxnSp>
        <p:nvCxnSpPr>
          <p:cNvPr id="113" name="直線矢印コネクタ 54"/>
          <p:cNvCxnSpPr/>
          <p:nvPr/>
        </p:nvCxnSpPr>
        <p:spPr>
          <a:xfrm>
            <a:off x="5953125" y="1819597"/>
            <a:ext cx="2190750" cy="0"/>
          </a:xfrm>
          <a:prstGeom prst="straightConnector1">
            <a:avLst/>
          </a:prstGeom>
          <a:ln w="9525">
            <a:solidFill>
              <a:srgbClr val="CBD5E1"/>
            </a:solidFill>
            <a:prstDash val="solid"/>
          </a:ln>
        </p:spPr>
      </p:cxnSp>
      <p:sp>
        <p:nvSpPr>
          <p:cNvPr id="23" name="正方形/長方形 22">
            <a:extLst>
              <a:ext uri="{FF2B5EF4-FFF2-40B4-BE49-F238E27FC236}">
                <a16:creationId xmlns:a16="http://schemas.microsoft.com/office/drawing/2014/main" id="{3A099ABE-CC82-4F2F-B8F4-3425531D59E5}"/>
              </a:ext>
            </a:extLst>
          </p:cNvPr>
          <p:cNvSpPr>
            <a:spLocks noGrp="1"/>
          </p:cNvSpPr>
          <p:nvPr/>
        </p:nvSpPr>
        <p:spPr>
          <a:xfrm>
            <a:off x="5953125" y="212439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特徴3</a:t>
            </a:r>
          </a:p>
        </p:txBody>
      </p:sp>
      <p:sp>
        <p:nvSpPr>
          <p:cNvPr id="24" name="正方形/長方形 23">
            <a:extLst>
              <a:ext uri="{FF2B5EF4-FFF2-40B4-BE49-F238E27FC236}">
                <a16:creationId xmlns:a16="http://schemas.microsoft.com/office/drawing/2014/main" id="{F412E6F8-0E49-4E21-A372-2DC40E5788FF}"/>
              </a:ext>
            </a:extLst>
          </p:cNvPr>
          <p:cNvSpPr>
            <a:spLocks noGrp="1"/>
          </p:cNvSpPr>
          <p:nvPr/>
        </p:nvSpPr>
        <p:spPr>
          <a:xfrm>
            <a:off x="6810375" y="2143447"/>
            <a:ext cx="714669" cy="180975"/>
          </a:xfrm>
          <a:prstGeom prst="rect">
            <a:avLst/>
          </a:prstGeom>
          <a:solidFill>
            <a:srgbClr val="10B981"/>
          </a:solidFill>
          <a:ln w="0">
            <a:solidFill>
              <a:srgbClr val="10B981"/>
            </a:solidFill>
            <a:prstDash val="solid"/>
          </a:ln>
        </p:spPr>
        <p:txBody>
          <a:bodyPr anchor="ctr" anchorCtr="1"/>
          <a:lstStyle/>
          <a:p>
            <a:r>
              <a:rPr lang="en-US" altLang="ja-JP" sz="1050" noProof="1">
                <a:solidFill>
                  <a:schemeClr val="bg1"/>
                </a:solidFill>
              </a:rPr>
              <a:t>-0.6</a:t>
            </a:r>
            <a:endParaRPr lang="ja-JP" sz="1050" noProof="1">
              <a:solidFill>
                <a:schemeClr val="bg1"/>
              </a:solidFill>
            </a:endParaRPr>
          </a:p>
        </p:txBody>
      </p:sp>
      <p:sp>
        <p:nvSpPr>
          <p:cNvPr id="25" name="正方形/長方形 24">
            <a:extLst>
              <a:ext uri="{FF2B5EF4-FFF2-40B4-BE49-F238E27FC236}">
                <a16:creationId xmlns:a16="http://schemas.microsoft.com/office/drawing/2014/main" id="{6AA202A1-C7AF-4C74-A8C1-E0A1B8170D90}"/>
              </a:ext>
            </a:extLst>
          </p:cNvPr>
          <p:cNvSpPr>
            <a:spLocks noGrp="1"/>
          </p:cNvSpPr>
          <p:nvPr/>
        </p:nvSpPr>
        <p:spPr>
          <a:xfrm>
            <a:off x="5953125" y="2934022"/>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特徴5</a:t>
            </a:r>
          </a:p>
        </p:txBody>
      </p:sp>
      <p:sp>
        <p:nvSpPr>
          <p:cNvPr id="26" name="正方形/長方形 25">
            <a:extLst>
              <a:ext uri="{FF2B5EF4-FFF2-40B4-BE49-F238E27FC236}">
                <a16:creationId xmlns:a16="http://schemas.microsoft.com/office/drawing/2014/main" id="{174943F7-D308-4363-B917-01F17FD95837}"/>
              </a:ext>
            </a:extLst>
          </p:cNvPr>
          <p:cNvSpPr>
            <a:spLocks noGrp="1"/>
          </p:cNvSpPr>
          <p:nvPr/>
        </p:nvSpPr>
        <p:spPr>
          <a:xfrm>
            <a:off x="7525051" y="2953072"/>
            <a:ext cx="826770" cy="180975"/>
          </a:xfrm>
          <a:prstGeom prst="rect">
            <a:avLst/>
          </a:prstGeom>
          <a:solidFill>
            <a:srgbClr val="10B981"/>
          </a:solidFill>
          <a:ln w="0">
            <a:solidFill>
              <a:srgbClr val="10B981"/>
            </a:solidFill>
            <a:prstDash val="solid"/>
          </a:ln>
        </p:spPr>
        <p:txBody>
          <a:bodyPr anchor="ctr" anchorCtr="1"/>
          <a:lstStyle/>
          <a:p>
            <a:r>
              <a:rPr lang="en-US" altLang="ja-JP" sz="1050" noProof="1">
                <a:solidFill>
                  <a:schemeClr val="bg1"/>
                </a:solidFill>
              </a:rPr>
              <a:t>+0.7</a:t>
            </a:r>
            <a:endParaRPr lang="ja-JP" sz="1050" noProof="1">
              <a:solidFill>
                <a:schemeClr val="bg1"/>
              </a:solidFill>
            </a:endParaRPr>
          </a:p>
        </p:txBody>
      </p:sp>
      <p:sp>
        <p:nvSpPr>
          <p:cNvPr id="27" name="正方形/長方形 26">
            <a:extLst>
              <a:ext uri="{FF2B5EF4-FFF2-40B4-BE49-F238E27FC236}">
                <a16:creationId xmlns:a16="http://schemas.microsoft.com/office/drawing/2014/main" id="{A5138BC3-7C1A-42EE-9E64-69586F44F6E9}"/>
              </a:ext>
            </a:extLst>
          </p:cNvPr>
          <p:cNvSpPr>
            <a:spLocks noGrp="1"/>
          </p:cNvSpPr>
          <p:nvPr/>
        </p:nvSpPr>
        <p:spPr>
          <a:xfrm>
            <a:off x="5953125" y="374364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Hiragino Sans"/>
                <a:ea typeface="Hiragino Sans"/>
                <a:cs typeface="Hiragino Sans"/>
              </a:defRPr>
            </a:pPr>
            <a:r>
              <a:rPr lang="ja-JP" sz="1350" b="1" noProof="1">
                <a:solidFill>
                  <a:srgbClr val="111827"/>
                </a:solidFill>
                <a:latin typeface="Hiragino Sans"/>
                <a:ea typeface="Hiragino Sans"/>
                <a:cs typeface="Hiragino Sans"/>
              </a:rPr>
              <a:t>特徴2</a:t>
            </a:r>
          </a:p>
        </p:txBody>
      </p:sp>
      <p:sp>
        <p:nvSpPr>
          <p:cNvPr id="28" name="正方形/長方形 27">
            <a:extLst>
              <a:ext uri="{FF2B5EF4-FFF2-40B4-BE49-F238E27FC236}">
                <a16:creationId xmlns:a16="http://schemas.microsoft.com/office/drawing/2014/main" id="{614BDDEF-52A9-4FE2-9F66-D5F7AA69E784}"/>
              </a:ext>
            </a:extLst>
          </p:cNvPr>
          <p:cNvSpPr>
            <a:spLocks noGrp="1"/>
          </p:cNvSpPr>
          <p:nvPr/>
        </p:nvSpPr>
        <p:spPr>
          <a:xfrm>
            <a:off x="6810374" y="3762697"/>
            <a:ext cx="714677" cy="180975"/>
          </a:xfrm>
          <a:prstGeom prst="rect">
            <a:avLst/>
          </a:prstGeom>
          <a:solidFill>
            <a:srgbClr val="10B981"/>
          </a:solidFill>
          <a:ln w="0">
            <a:solidFill>
              <a:srgbClr val="10B981"/>
            </a:solidFill>
            <a:prstDash val="solid"/>
          </a:ln>
        </p:spPr>
        <p:txBody>
          <a:bodyPr anchor="ctr" anchorCtr="1"/>
          <a:lstStyle/>
          <a:p>
            <a:r>
              <a:rPr lang="en-US" altLang="ja-JP" sz="1050" noProof="1">
                <a:solidFill>
                  <a:schemeClr val="bg1"/>
                </a:solidFill>
              </a:rPr>
              <a:t>-0.6</a:t>
            </a:r>
            <a:endParaRPr lang="ja-JP" sz="1050" noProof="1">
              <a:solidFill>
                <a:schemeClr val="bg1"/>
              </a:solidFill>
            </a:endParaRPr>
          </a:p>
        </p:txBody>
      </p:sp>
      <p:cxnSp>
        <p:nvCxnSpPr>
          <p:cNvPr id="120" name="直線矢印コネクタ 61"/>
          <p:cNvCxnSpPr>
            <a:cxnSpLocks/>
          </p:cNvCxnSpPr>
          <p:nvPr/>
        </p:nvCxnSpPr>
        <p:spPr>
          <a:xfrm>
            <a:off x="8763000" y="1314772"/>
            <a:ext cx="0" cy="3336502"/>
          </a:xfrm>
          <a:prstGeom prst="straightConnector1">
            <a:avLst/>
          </a:prstGeom>
          <a:ln w="19050">
            <a:solidFill>
              <a:srgbClr val="CBD5E1"/>
            </a:solidFill>
            <a:prstDash val="solid"/>
          </a:ln>
        </p:spPr>
      </p:cxnSp>
      <p:sp>
        <p:nvSpPr>
          <p:cNvPr id="30" name="正方形/長方形 29">
            <a:extLst>
              <a:ext uri="{FF2B5EF4-FFF2-40B4-BE49-F238E27FC236}">
                <a16:creationId xmlns:a16="http://schemas.microsoft.com/office/drawing/2014/main" id="{7232231D-4BA4-47E1-9658-6CC3BCF63FB7}"/>
              </a:ext>
            </a:extLst>
          </p:cNvPr>
          <p:cNvSpPr>
            <a:spLocks noGrp="1"/>
          </p:cNvSpPr>
          <p:nvPr/>
        </p:nvSpPr>
        <p:spPr>
          <a:xfrm>
            <a:off x="9191625" y="1457647"/>
            <a:ext cx="2286000" cy="323850"/>
          </a:xfrm>
          <a:prstGeom prst="rect">
            <a:avLst/>
          </a:prstGeom>
          <a:noFill/>
          <a:ln w="0">
            <a:noFill/>
            <a:prstDash val="solid"/>
          </a:ln>
        </p:spPr>
        <p:txBody>
          <a:bodyPr lIns="0" tIns="0" rIns="0" bIns="0" anchor="t">
            <a:noAutofit/>
          </a:bodyPr>
          <a:lstStyle/>
          <a:p>
            <a:pPr algn="l">
              <a:buNone/>
              <a:defRPr sz="1800" b="1">
                <a:solidFill>
                  <a:srgbClr val="111827"/>
                </a:solidFill>
                <a:latin typeface="Hiragino Sans"/>
                <a:ea typeface="Hiragino Sans"/>
                <a:cs typeface="Hiragino Sans"/>
              </a:defRPr>
            </a:pPr>
            <a:r>
              <a:rPr lang="ja-JP" altLang="en-US" sz="1800" b="1" noProof="1">
                <a:solidFill>
                  <a:srgbClr val="111827"/>
                </a:solidFill>
                <a:latin typeface="Hiragino Sans"/>
                <a:ea typeface="Hiragino Sans"/>
                <a:cs typeface="Hiragino Sans"/>
              </a:rPr>
              <a:t>解釈</a:t>
            </a:r>
            <a:endParaRPr lang="ja-JP" sz="1800" b="1" noProof="1">
              <a:solidFill>
                <a:srgbClr val="111827"/>
              </a:solidFill>
              <a:latin typeface="Hiragino Sans"/>
              <a:ea typeface="Hiragino Sans"/>
              <a:cs typeface="Hiragino Sans"/>
            </a:endParaRPr>
          </a:p>
        </p:txBody>
      </p:sp>
      <p:cxnSp>
        <p:nvCxnSpPr>
          <p:cNvPr id="6" name="直線コネクタ 5">
            <a:extLst>
              <a:ext uri="{FF2B5EF4-FFF2-40B4-BE49-F238E27FC236}">
                <a16:creationId xmlns:a16="http://schemas.microsoft.com/office/drawing/2014/main" id="{9DB67BC8-8E1A-8692-262B-EA9FFAAFFF52}"/>
              </a:ext>
            </a:extLst>
          </p:cNvPr>
          <p:cNvCxnSpPr>
            <a:cxnSpLocks/>
          </p:cNvCxnSpPr>
          <p:nvPr/>
        </p:nvCxnSpPr>
        <p:spPr>
          <a:xfrm>
            <a:off x="2052637" y="2324422"/>
            <a:ext cx="0" cy="1490663"/>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94C876EE-8ED0-60CA-48D9-CE76963C478E}"/>
              </a:ext>
            </a:extLst>
          </p:cNvPr>
          <p:cNvCxnSpPr>
            <a:cxnSpLocks/>
          </p:cNvCxnSpPr>
          <p:nvPr/>
        </p:nvCxnSpPr>
        <p:spPr>
          <a:xfrm>
            <a:off x="4773930" y="2283448"/>
            <a:ext cx="0" cy="1490663"/>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C41DA6F8-0494-80FA-D7BF-55787A592EA5}"/>
              </a:ext>
            </a:extLst>
          </p:cNvPr>
          <p:cNvCxnSpPr>
            <a:cxnSpLocks/>
          </p:cNvCxnSpPr>
          <p:nvPr/>
        </p:nvCxnSpPr>
        <p:spPr>
          <a:xfrm>
            <a:off x="7525044" y="2324422"/>
            <a:ext cx="0" cy="1490663"/>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081208A5-D2E6-04C7-262C-34826A068291}"/>
              </a:ext>
            </a:extLst>
          </p:cNvPr>
          <p:cNvSpPr txBox="1"/>
          <p:nvPr/>
        </p:nvSpPr>
        <p:spPr>
          <a:xfrm>
            <a:off x="9117496" y="2115286"/>
            <a:ext cx="2610010" cy="1200329"/>
          </a:xfrm>
          <a:prstGeom prst="rect">
            <a:avLst/>
          </a:prstGeom>
          <a:noFill/>
        </p:spPr>
        <p:txBody>
          <a:bodyPr wrap="none" rtlCol="0">
            <a:spAutoFit/>
          </a:bodyPr>
          <a:lstStyle/>
          <a:p>
            <a:r>
              <a:rPr kumimoji="1" lang="ja-JP" altLang="en-US"/>
              <a:t>特徴</a:t>
            </a:r>
            <a:r>
              <a:rPr kumimoji="1" lang="en-US" altLang="ja-JP" dirty="0"/>
              <a:t>1</a:t>
            </a:r>
            <a:r>
              <a:rPr kumimoji="1" lang="ja-JP" altLang="en-US"/>
              <a:t>を増加させると，</a:t>
            </a:r>
            <a:br>
              <a:rPr kumimoji="1" lang="en-US" altLang="ja-JP" dirty="0"/>
            </a:br>
            <a:r>
              <a:rPr kumimoji="1" lang="en-US" altLang="ja-JP" dirty="0"/>
              <a:t>A</a:t>
            </a:r>
            <a:r>
              <a:rPr kumimoji="1" lang="ja-JP" altLang="en-US"/>
              <a:t>である確率が高まり</a:t>
            </a:r>
            <a:br>
              <a:rPr kumimoji="1" lang="en-US" altLang="ja-JP" dirty="0"/>
            </a:br>
            <a:r>
              <a:rPr kumimoji="1" lang="en-US" altLang="ja-JP" dirty="0"/>
              <a:t>B</a:t>
            </a:r>
            <a:r>
              <a:rPr kumimoji="1" lang="ja-JP" altLang="en-US"/>
              <a:t>である確率が下がる</a:t>
            </a:r>
            <a:br>
              <a:rPr kumimoji="1" lang="en-US" altLang="ja-JP" dirty="0"/>
            </a:br>
            <a:r>
              <a:rPr kumimoji="1" lang="en-US" altLang="ja-JP" u="sng" dirty="0"/>
              <a:t>C</a:t>
            </a:r>
            <a:r>
              <a:rPr kumimoji="1" lang="ja-JP" altLang="en-US" u="sng"/>
              <a:t>は</a:t>
            </a:r>
            <a:r>
              <a:rPr lang="en-US" altLang="ja-JP" u="sng" dirty="0"/>
              <a:t>….</a:t>
            </a:r>
            <a:endParaRPr kumimoji="1" lang="ja-JP" altLang="en-US" u="sng"/>
          </a:p>
        </p:txBody>
      </p:sp>
      <p:sp>
        <p:nvSpPr>
          <p:cNvPr id="32" name="テキスト ボックス 31">
            <a:extLst>
              <a:ext uri="{FF2B5EF4-FFF2-40B4-BE49-F238E27FC236}">
                <a16:creationId xmlns:a16="http://schemas.microsoft.com/office/drawing/2014/main" id="{FCD7C562-296E-52BD-2D78-EEA01F241F90}"/>
              </a:ext>
            </a:extLst>
          </p:cNvPr>
          <p:cNvSpPr txBox="1"/>
          <p:nvPr/>
        </p:nvSpPr>
        <p:spPr>
          <a:xfrm>
            <a:off x="9117496" y="3450945"/>
            <a:ext cx="2610010" cy="1200329"/>
          </a:xfrm>
          <a:prstGeom prst="rect">
            <a:avLst/>
          </a:prstGeom>
          <a:noFill/>
        </p:spPr>
        <p:txBody>
          <a:bodyPr wrap="none" rtlCol="0">
            <a:spAutoFit/>
          </a:bodyPr>
          <a:lstStyle/>
          <a:p>
            <a:r>
              <a:rPr kumimoji="1" lang="ja-JP" altLang="en-US"/>
              <a:t>特徴</a:t>
            </a:r>
            <a:r>
              <a:rPr kumimoji="1" lang="en-US" altLang="ja-JP" dirty="0"/>
              <a:t>4</a:t>
            </a:r>
            <a:r>
              <a:rPr kumimoji="1" lang="ja-JP" altLang="en-US"/>
              <a:t>を増加させると，</a:t>
            </a:r>
            <a:br>
              <a:rPr kumimoji="1" lang="en-US" altLang="ja-JP" dirty="0"/>
            </a:br>
            <a:r>
              <a:rPr kumimoji="1" lang="en-US" altLang="ja-JP" dirty="0"/>
              <a:t>B</a:t>
            </a:r>
            <a:r>
              <a:rPr kumimoji="1" lang="ja-JP" altLang="en-US"/>
              <a:t>である確率が下がる</a:t>
            </a:r>
            <a:endParaRPr lang="en-US" altLang="ja-JP" dirty="0"/>
          </a:p>
          <a:p>
            <a:r>
              <a:rPr kumimoji="1" lang="en-US" altLang="ja-JP" u="sng" dirty="0"/>
              <a:t>A</a:t>
            </a:r>
            <a:r>
              <a:rPr kumimoji="1" lang="ja-JP" altLang="en-US" u="sng"/>
              <a:t>は</a:t>
            </a:r>
            <a:r>
              <a:rPr kumimoji="1" lang="en-US" altLang="ja-JP" u="sng" dirty="0"/>
              <a:t>…</a:t>
            </a:r>
            <a:br>
              <a:rPr kumimoji="1" lang="en-US" altLang="ja-JP" u="sng" dirty="0"/>
            </a:br>
            <a:r>
              <a:rPr kumimoji="1" lang="en-US" altLang="ja-JP" u="sng" dirty="0"/>
              <a:t>C</a:t>
            </a:r>
            <a:r>
              <a:rPr kumimoji="1" lang="ja-JP" altLang="en-US" u="sng"/>
              <a:t>は</a:t>
            </a:r>
            <a:r>
              <a:rPr kumimoji="1" lang="en-US" altLang="ja-JP" u="sng" dirty="0"/>
              <a:t>…</a:t>
            </a:r>
            <a:endParaRPr kumimoji="1" lang="ja-JP" altLang="en-US" u="sng"/>
          </a:p>
        </p:txBody>
      </p:sp>
      <p:sp>
        <p:nvSpPr>
          <p:cNvPr id="39" name="正方形/長方形 38">
            <a:extLst>
              <a:ext uri="{FF2B5EF4-FFF2-40B4-BE49-F238E27FC236}">
                <a16:creationId xmlns:a16="http://schemas.microsoft.com/office/drawing/2014/main" id="{B0C9D0E5-3977-D5AF-CF36-DADDB1752939}"/>
              </a:ext>
            </a:extLst>
          </p:cNvPr>
          <p:cNvSpPr>
            <a:spLocks noGrp="1"/>
          </p:cNvSpPr>
          <p:nvPr/>
        </p:nvSpPr>
        <p:spPr>
          <a:xfrm>
            <a:off x="2052636" y="5148714"/>
            <a:ext cx="3487271" cy="1236010"/>
          </a:xfrm>
          <a:prstGeom prst="rect">
            <a:avLst/>
          </a:prstGeom>
          <a:noFill/>
          <a:ln w="41275">
            <a:solidFill>
              <a:srgbClr val="10B981"/>
            </a:solidFill>
            <a:prstDash val="solid"/>
            <a:bevel/>
          </a:ln>
          <a:effectLst>
            <a:outerShdw blurRad="63500" sx="102000" sy="102000" algn="ctr" rotWithShape="0">
              <a:prstClr val="black">
                <a:alpha val="40000"/>
              </a:prstClr>
            </a:outerShdw>
          </a:effectLst>
        </p:spPr>
        <p:txBody>
          <a:bodyPr/>
          <a:lstStyle/>
          <a:p>
            <a:endParaRPr lang="ja-JP" noProof="1"/>
          </a:p>
        </p:txBody>
      </p:sp>
      <p:sp>
        <p:nvSpPr>
          <p:cNvPr id="40" name="正方形/長方形 39">
            <a:extLst>
              <a:ext uri="{FF2B5EF4-FFF2-40B4-BE49-F238E27FC236}">
                <a16:creationId xmlns:a16="http://schemas.microsoft.com/office/drawing/2014/main" id="{830D15C6-9A45-34D4-BFDB-EDD64456CE84}"/>
              </a:ext>
            </a:extLst>
          </p:cNvPr>
          <p:cNvSpPr>
            <a:spLocks noGrp="1"/>
          </p:cNvSpPr>
          <p:nvPr/>
        </p:nvSpPr>
        <p:spPr>
          <a:xfrm>
            <a:off x="2001093" y="5253489"/>
            <a:ext cx="3619500" cy="346074"/>
          </a:xfrm>
          <a:prstGeom prst="rect">
            <a:avLst/>
          </a:prstGeom>
          <a:noFill/>
          <a:ln w="0">
            <a:noFill/>
            <a:prstDash val="solid"/>
          </a:ln>
        </p:spPr>
        <p:txBody>
          <a:bodyPr lIns="0" tIns="0" rIns="0" bIns="0" anchor="t">
            <a:noAutofit/>
          </a:bodyPr>
          <a:lstStyle/>
          <a:p>
            <a:pPr algn="ctr">
              <a:buNone/>
              <a:defRPr sz="1575" b="1">
                <a:solidFill>
                  <a:srgbClr val="10B981"/>
                </a:solidFill>
                <a:latin typeface="Hiragino Sans"/>
                <a:ea typeface="Hiragino Sans"/>
                <a:cs typeface="Hiragino Sans"/>
              </a:defRPr>
            </a:pPr>
            <a:br>
              <a:rPr lang="ja-JP" sz="1575" b="1" noProof="1">
                <a:solidFill>
                  <a:srgbClr val="10B981"/>
                </a:solidFill>
                <a:latin typeface="Hiragino Sans"/>
                <a:ea typeface="Hiragino Sans"/>
                <a:cs typeface="Hiragino Sans"/>
              </a:rPr>
            </a:br>
            <a:br>
              <a:rPr lang="ja-JP" sz="1575" b="1" noProof="1">
                <a:solidFill>
                  <a:srgbClr val="10B981"/>
                </a:solidFill>
                <a:latin typeface="Hiragino Sans"/>
                <a:ea typeface="Hiragino Sans"/>
                <a:cs typeface="Hiragino Sans"/>
              </a:rPr>
            </a:br>
            <a:r>
              <a:rPr lang="ja-JP" sz="1575" b="1" noProof="1">
                <a:solidFill>
                  <a:srgbClr val="10B981"/>
                </a:solidFill>
                <a:latin typeface="Hiragino Sans"/>
                <a:ea typeface="Hiragino Sans"/>
                <a:cs typeface="Hiragino Sans"/>
              </a:rPr>
              <a:t>人が理解できる程度に単純</a:t>
            </a:r>
            <a:br>
              <a:rPr lang="ja-JP" sz="1575" b="1" noProof="1">
                <a:solidFill>
                  <a:srgbClr val="10B981"/>
                </a:solidFill>
                <a:latin typeface="Hiragino Sans"/>
                <a:ea typeface="Hiragino Sans"/>
                <a:cs typeface="Hiragino Sans"/>
              </a:rPr>
            </a:br>
            <a:r>
              <a:rPr lang="ja-JP" sz="1575" b="1" noProof="1">
                <a:solidFill>
                  <a:srgbClr val="10B981"/>
                </a:solidFill>
                <a:latin typeface="Hiragino Sans"/>
                <a:ea typeface="Hiragino Sans"/>
                <a:cs typeface="Hiragino Sans"/>
              </a:rPr>
              <a:t>（説明に使う特徴量の数を絞る罰則項）</a:t>
            </a:r>
          </a:p>
        </p:txBody>
      </p:sp>
      <p:pic>
        <p:nvPicPr>
          <p:cNvPr id="41" name="図 40">
            <a:extLst>
              <a:ext uri="{FF2B5EF4-FFF2-40B4-BE49-F238E27FC236}">
                <a16:creationId xmlns:a16="http://schemas.microsoft.com/office/drawing/2014/main" id="{DC07447C-6CBB-6B25-EB9E-C2100137E0AB}"/>
              </a:ext>
            </a:extLst>
          </p:cNvPr>
          <p:cNvPicPr>
            <a:picLocks noChangeAspect="1"/>
          </p:cNvPicPr>
          <p:nvPr/>
        </p:nvPicPr>
        <p:blipFill>
          <a:blip r:embed="rId3"/>
          <a:stretch>
            <a:fillRect/>
          </a:stretch>
        </p:blipFill>
        <p:spPr>
          <a:xfrm>
            <a:off x="3492829" y="5253489"/>
            <a:ext cx="636028" cy="346074"/>
          </a:xfrm>
          <a:prstGeom prst="rect">
            <a:avLst/>
          </a:prstGeom>
        </p:spPr>
      </p:pic>
      <p:sp>
        <p:nvSpPr>
          <p:cNvPr id="42" name="テキスト ボックス 41">
            <a:extLst>
              <a:ext uri="{FF2B5EF4-FFF2-40B4-BE49-F238E27FC236}">
                <a16:creationId xmlns:a16="http://schemas.microsoft.com/office/drawing/2014/main" id="{48BCD18D-1B4D-997D-B7B4-4F2B44C79273}"/>
              </a:ext>
            </a:extLst>
          </p:cNvPr>
          <p:cNvSpPr txBox="1"/>
          <p:nvPr/>
        </p:nvSpPr>
        <p:spPr>
          <a:xfrm>
            <a:off x="6021675" y="5195104"/>
            <a:ext cx="4339650" cy="1169551"/>
          </a:xfrm>
          <a:prstGeom prst="rect">
            <a:avLst/>
          </a:prstGeom>
          <a:noFill/>
        </p:spPr>
        <p:txBody>
          <a:bodyPr wrap="none" rtlCol="0">
            <a:spAutoFit/>
          </a:bodyPr>
          <a:lstStyle/>
          <a:p>
            <a:r>
              <a:rPr kumimoji="1" lang="ja-JP" altLang="en-US"/>
              <a:t>それぞれ説明に使う特徴量が異なるので</a:t>
            </a:r>
            <a:endParaRPr kumimoji="1" lang="en-US" altLang="ja-JP" dirty="0"/>
          </a:p>
          <a:p>
            <a:r>
              <a:rPr lang="ja-JP" altLang="en-US"/>
              <a:t>係数比較が困難</a:t>
            </a:r>
            <a:br>
              <a:rPr lang="en-US" altLang="ja-JP" dirty="0"/>
            </a:br>
            <a:r>
              <a:rPr lang="en-US" altLang="ja-JP" dirty="0"/>
              <a:t>  </a:t>
            </a:r>
            <a:r>
              <a:rPr lang="en-US" altLang="ja-JP" sz="1600" dirty="0"/>
              <a:t>A vs </a:t>
            </a:r>
            <a:r>
              <a:rPr lang="ja-JP" altLang="en-US" sz="1600"/>
              <a:t>その他で重要な特徴量と</a:t>
            </a:r>
            <a:br>
              <a:rPr lang="en-US" altLang="ja-JP" sz="1600" dirty="0"/>
            </a:br>
            <a:r>
              <a:rPr lang="en-US" altLang="ja-JP" sz="1600" dirty="0"/>
              <a:t>  B vs </a:t>
            </a:r>
            <a:r>
              <a:rPr lang="ja-JP" altLang="en-US" sz="1600"/>
              <a:t>その他で重要な特徴量は，一致しない</a:t>
            </a:r>
            <a:endParaRPr kumimoji="1" lang="ja-JP" altLang="en-US"/>
          </a:p>
        </p:txBody>
      </p:sp>
    </p:spTree>
    <p:extLst>
      <p:ext uri="{BB962C8B-B14F-4D97-AF65-F5344CB8AC3E}">
        <p14:creationId xmlns:p14="http://schemas.microsoft.com/office/powerpoint/2010/main" val="97829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1"/>
          </a:p>
        </p:txBody>
      </p:sp>
      <p:sp>
        <p:nvSpPr>
          <p:cNvPr id="3" name="title"/>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1">
                <a:solidFill>
                  <a:srgbClr val="17233D"/>
                </a:solidFill>
                <a:latin typeface="Hiragino Sans"/>
                <a:ea typeface="Hiragino Sans"/>
                <a:cs typeface="Hiragino Sans"/>
              </a:rPr>
              <a:t>目次</a:t>
            </a:r>
          </a:p>
        </p:txBody>
      </p:sp>
      <p:sp>
        <p:nvSpPr>
          <p:cNvPr id="6" name="toc-item-0"/>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1">
                <a:solidFill>
                  <a:srgbClr val="B9BEC4"/>
                </a:solidFill>
                <a:latin typeface="Hiragino Sans"/>
                <a:ea typeface="Hiragino Sans"/>
                <a:cs typeface="Hiragino Sans"/>
              </a:rPr>
              <a:t>　　1. XAI（説明可能なAI）</a:t>
            </a:r>
          </a:p>
        </p:txBody>
      </p:sp>
      <p:sp>
        <p:nvSpPr>
          <p:cNvPr id="7" name="toc-item-1"/>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1">
                <a:solidFill>
                  <a:srgbClr val="B9BEC4"/>
                </a:solidFill>
                <a:latin typeface="Hiragino Sans"/>
                <a:ea typeface="Hiragino Sans"/>
                <a:cs typeface="Hiragino Sans"/>
              </a:rPr>
              <a:t>　　2. LIME</a:t>
            </a:r>
          </a:p>
        </p:txBody>
      </p:sp>
      <p:sp>
        <p:nvSpPr>
          <p:cNvPr id="8" name="toc-item-2"/>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1">
                <a:solidFill>
                  <a:srgbClr val="B9BEC4"/>
                </a:solidFill>
                <a:latin typeface="Hiragino Sans"/>
                <a:ea typeface="Hiragino Sans"/>
                <a:cs typeface="Hiragino Sans"/>
              </a:rPr>
              <a:t>　　3. 多クラスに応用したLIME</a:t>
            </a:r>
          </a:p>
        </p:txBody>
      </p:sp>
      <p:sp>
        <p:nvSpPr>
          <p:cNvPr id="9" name="toc-item-3"/>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2200" b="1">
                <a:solidFill>
                  <a:srgbClr val="156082"/>
                </a:solidFill>
                <a:latin typeface="Hiragino Sans"/>
                <a:ea typeface="Hiragino Sans"/>
                <a:cs typeface="Hiragino Sans"/>
              </a:defRPr>
            </a:pPr>
            <a:r>
              <a:rPr lang="ja-JP" sz="2200" b="1" noProof="1">
                <a:solidFill>
                  <a:srgbClr val="156082"/>
                </a:solidFill>
                <a:latin typeface="Hiragino Sans"/>
                <a:ea typeface="Hiragino Sans"/>
                <a:cs typeface="Hiragino Sans"/>
              </a:rPr>
              <a:t>4. 関連研究</a:t>
            </a:r>
          </a:p>
        </p:txBody>
      </p:sp>
      <p:sp>
        <p:nvSpPr>
          <p:cNvPr id="10" name="toc-item-4"/>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1">
                <a:solidFill>
                  <a:srgbClr val="B9BEC4"/>
                </a:solidFill>
                <a:latin typeface="Hiragino Sans"/>
                <a:ea typeface="Hiragino Sans"/>
                <a:cs typeface="Hiragino Sans"/>
              </a:rPr>
              <a:t>　　5. 提案手法</a:t>
            </a:r>
          </a:p>
        </p:txBody>
      </p:sp>
      <p:sp>
        <p:nvSpPr>
          <p:cNvPr id="11" name="toc-item-5"/>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1">
                <a:solidFill>
                  <a:srgbClr val="B9BEC4"/>
                </a:solidFill>
                <a:latin typeface="Hiragino Sans"/>
                <a:ea typeface="Hiragino Sans"/>
                <a:cs typeface="Hiragino Sans"/>
              </a:rPr>
              <a:t>　　6. 実験と考察</a:t>
            </a:r>
          </a:p>
        </p:txBody>
      </p:sp>
      <p:sp>
        <p:nvSpPr>
          <p:cNvPr id="12" name="toc-item-6"/>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1">
                <a:solidFill>
                  <a:srgbClr val="B9BEC4"/>
                </a:solidFill>
                <a:latin typeface="Hiragino Sans"/>
                <a:ea typeface="Hiragino Sans"/>
                <a:cs typeface="Hiragino Sans"/>
              </a:rPr>
              <a:t>　　7. まとめと今後の展望</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E6B293B-66F0-DA79-47F1-1D7250D55922}"/>
              </a:ext>
            </a:extLst>
          </p:cNvPr>
          <p:cNvSpPr txBox="1"/>
          <p:nvPr/>
        </p:nvSpPr>
        <p:spPr>
          <a:xfrm>
            <a:off x="0" y="6496050"/>
            <a:ext cx="7874271" cy="415498"/>
          </a:xfrm>
          <a:prstGeom prst="rect">
            <a:avLst/>
          </a:prstGeom>
          <a:noFill/>
        </p:spPr>
        <p:txBody>
          <a:bodyPr wrap="none" rtlCol="0">
            <a:spAutoFit/>
          </a:bodyPr>
          <a:lstStyle/>
          <a:p>
            <a:r>
              <a:rPr lang="en-US" altLang="ja-JP" sz="1050" dirty="0"/>
              <a:t>[2]</a:t>
            </a:r>
            <a:r>
              <a:rPr lang="ja-JP" altLang="ja-JP" sz="1050"/>
              <a:t>P. J. Shih, C. C. Chang, and Y. J. Lee, "GANMEX: One-vs-One Attributions using GAN-based Model Explainability," </a:t>
            </a:r>
            <a:br>
              <a:rPr lang="en-US" altLang="ja-JP" sz="1050" dirty="0"/>
            </a:br>
            <a:r>
              <a:rPr lang="ja-JP" altLang="ja-JP" sz="1050"/>
              <a:t>in </a:t>
            </a:r>
            <a:r>
              <a:rPr lang="ja-JP" altLang="ja-JP" sz="1050" i="1"/>
              <a:t>Proceedings of the 38th International Conference on Machine Learning</a:t>
            </a:r>
            <a:r>
              <a:rPr lang="ja-JP" altLang="ja-JP" sz="1050"/>
              <a:t>, 2021, pp. 9545–9555.</a:t>
            </a:r>
            <a:endParaRPr kumimoji="1" lang="ja-JP" altLang="en-US" sz="1050"/>
          </a:p>
        </p:txBody>
      </p:sp>
      <p:sp>
        <p:nvSpPr>
          <p:cNvPr id="4" name="正方形/長方形 3">
            <a:extLst>
              <a:ext uri="{FF2B5EF4-FFF2-40B4-BE49-F238E27FC236}">
                <a16:creationId xmlns:a16="http://schemas.microsoft.com/office/drawing/2014/main" id="{70E46051-2633-6B39-D708-E34019BF612E}"/>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5" name="slide-7-title">
            <a:extLst>
              <a:ext uri="{FF2B5EF4-FFF2-40B4-BE49-F238E27FC236}">
                <a16:creationId xmlns:a16="http://schemas.microsoft.com/office/drawing/2014/main" id="{A64B9567-53EC-E0FE-AD5D-FF6F8CA7813A}"/>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r>
              <a:rPr lang="ja-JP" altLang="en-US" sz="3200"/>
              <a:t>関連研究</a:t>
            </a:r>
            <a:r>
              <a:rPr lang="en-US" altLang="ja-JP" sz="3200" dirty="0"/>
              <a:t>① : </a:t>
            </a:r>
            <a:r>
              <a:rPr lang="ja-JP" altLang="ja-JP" sz="3200" b="1"/>
              <a:t>One-vs-One</a:t>
            </a:r>
            <a:endParaRPr lang="ja-JP" altLang="en-US" sz="3200"/>
          </a:p>
        </p:txBody>
      </p:sp>
      <p:pic>
        <p:nvPicPr>
          <p:cNvPr id="13" name="図 12">
            <a:extLst>
              <a:ext uri="{FF2B5EF4-FFF2-40B4-BE49-F238E27FC236}">
                <a16:creationId xmlns:a16="http://schemas.microsoft.com/office/drawing/2014/main" id="{33C2502B-C804-EEED-1631-316663FB0F8A}"/>
              </a:ext>
            </a:extLst>
          </p:cNvPr>
          <p:cNvPicPr>
            <a:picLocks noChangeAspect="1"/>
          </p:cNvPicPr>
          <p:nvPr/>
        </p:nvPicPr>
        <p:blipFill>
          <a:blip r:embed="rId3"/>
          <a:stretch>
            <a:fillRect/>
          </a:stretch>
        </p:blipFill>
        <p:spPr>
          <a:xfrm>
            <a:off x="8299557" y="2472903"/>
            <a:ext cx="3073293" cy="2825780"/>
          </a:xfrm>
          <a:prstGeom prst="rect">
            <a:avLst/>
          </a:prstGeom>
        </p:spPr>
      </p:pic>
      <p:sp>
        <p:nvSpPr>
          <p:cNvPr id="950" name="card-bg"/>
          <p:cNvSpPr>
            <a:spLocks noGrp="1"/>
          </p:cNvSpPr>
          <p:nvPr/>
        </p:nvSpPr>
        <p:spPr>
          <a:xfrm>
            <a:off x="700000" y="1250000"/>
            <a:ext cx="3450000" cy="4700000"/>
          </a:xfrm>
          <a:prstGeom prst="roundRect">
            <a:avLst>
              <a:gd name="adj" fmla="val 5000"/>
            </a:avLst>
          </a:prstGeom>
          <a:solidFill>
            <a:srgbClr val="EAF4FB"/>
          </a:solidFill>
          <a:ln w="12700">
            <a:solidFill>
              <a:srgbClr val="2F6BDE"/>
            </a:solidFill>
          </a:ln>
        </p:spPr>
        <p:txBody>
          <a:bodyPr/>
          <a:lstStyle/>
          <a:p>
            <a:endParaRPr lang="ja-JP" altLang="en-US"/>
          </a:p>
        </p:txBody>
      </p:sp>
      <p:sp>
        <p:nvSpPr>
          <p:cNvPr id="951" name="card-header"/>
          <p:cNvSpPr>
            <a:spLocks noGrp="1"/>
          </p:cNvSpPr>
          <p:nvPr/>
        </p:nvSpPr>
        <p:spPr>
          <a:xfrm>
            <a:off x="920000" y="1430000"/>
            <a:ext cx="3010000" cy="380000"/>
          </a:xfrm>
          <a:prstGeom prst="rect">
            <a:avLst/>
          </a:prstGeom>
          <a:noFill/>
          <a:ln w="0">
            <a:noFill/>
            <a:prstDash val="solid"/>
          </a:ln>
        </p:spPr>
        <p:txBody>
          <a:bodyPr lIns="0" tIns="0" rIns="0" bIns="0" anchor="t">
            <a:noAutofit/>
          </a:bodyPr>
          <a:lstStyle/>
          <a:p>
            <a:pPr algn="l">
              <a:buNone/>
              <a:defRPr sz="1500" b="1">
                <a:solidFill>
                  <a:srgbClr val="2F6BDE"/>
                </a:solidFill>
                <a:latin typeface="Hiragino Sans"/>
                <a:ea typeface="Hiragino Sans"/>
                <a:cs typeface="Hiragino Sans"/>
              </a:defRPr>
            </a:pPr>
            <a:r>
              <a:rPr sz="1500" b="1">
                <a:solidFill>
                  <a:srgbClr val="2F6BDE"/>
                </a:solidFill>
                <a:latin typeface="Hiragino Sans"/>
                <a:ea typeface="Hiragino Sans"/>
                <a:cs typeface="Hiragino Sans"/>
              </a:rPr>
              <a:t>GANMEXが提案したこと</a:t>
            </a:r>
          </a:p>
        </p:txBody>
      </p:sp>
      <p:sp>
        <p:nvSpPr>
          <p:cNvPr id="952" name="card-bullets"/>
          <p:cNvSpPr>
            <a:spLocks noGrp="1"/>
          </p:cNvSpPr>
          <p:nvPr/>
        </p:nvSpPr>
        <p:spPr>
          <a:xfrm>
            <a:off x="920000" y="1900000"/>
            <a:ext cx="3010000" cy="3850000"/>
          </a:xfrm>
          <a:prstGeom prst="rect">
            <a:avLst/>
          </a:prstGeom>
          <a:noFill/>
          <a:ln w="0">
            <a:noFill/>
            <a:prstDash val="solid"/>
          </a:ln>
        </p:spPr>
        <p:txBody>
          <a:bodyPr lIns="0" tIns="0" rIns="0" bIns="0" anchor="t">
            <a:noAutofit/>
          </a:bodyPr>
          <a:lstStyle/>
          <a:p>
            <a:pPr algn="l">
              <a:buNone/>
              <a:defRPr sz="1250" b="0">
                <a:solidFill>
                  <a:srgbClr val="111827"/>
                </a:solidFill>
                <a:latin typeface="Hiragino Sans"/>
                <a:ea typeface="Hiragino Sans"/>
                <a:cs typeface="Hiragino Sans"/>
              </a:defRPr>
            </a:pPr>
            <a:r>
              <a:rPr sz="1250" b="0">
                <a:solidFill>
                  <a:srgbClr val="111827"/>
                </a:solidFill>
                <a:latin typeface="Hiragino Sans"/>
                <a:ea typeface="Hiragino Sans"/>
                <a:cs typeface="Hiragino Sans"/>
              </a:rPr>
              <a:t>・One-vs-One Attributionという考え方を提案</a:t>
            </a:r>
          </a:p>
          <a:p>
            <a:pPr algn="l">
              <a:buNone/>
              <a:defRPr sz="1250" b="0">
                <a:solidFill>
                  <a:srgbClr val="111827"/>
                </a:solidFill>
                <a:latin typeface="Hiragino Sans"/>
                <a:ea typeface="Hiragino Sans"/>
                <a:cs typeface="Hiragino Sans"/>
              </a:defRPr>
            </a:pPr>
            <a:r>
              <a:rPr sz="1250" b="0">
                <a:solidFill>
                  <a:srgbClr val="111827"/>
                </a:solidFill>
                <a:latin typeface="Hiragino Sans"/>
                <a:ea typeface="Hiragino Sans"/>
                <a:cs typeface="Hiragino Sans"/>
              </a:rPr>
              <a:t>・特定の2クラスを比較し、共通する特徴より2クラスを区別する特徴に注目する</a:t>
            </a:r>
          </a:p>
          <a:p>
            <a:pPr algn="l">
              <a:buNone/>
              <a:defRPr sz="1250" b="0">
                <a:solidFill>
                  <a:srgbClr val="111827"/>
                </a:solidFill>
                <a:latin typeface="Hiragino Sans"/>
                <a:ea typeface="Hiragino Sans"/>
                <a:cs typeface="Hiragino Sans"/>
              </a:defRPr>
            </a:pPr>
            <a:r>
              <a:rPr sz="1250" b="0">
                <a:solidFill>
                  <a:srgbClr val="111827"/>
                </a:solidFill>
                <a:latin typeface="Hiragino Sans"/>
                <a:ea typeface="Hiragino Sans"/>
                <a:cs typeface="Hiragino Sans"/>
              </a:rPr>
              <a:t>・GANで比較クラスの画像を生成し、attributionの基準にする（画像分類が対象）</a:t>
            </a:r>
          </a:p>
        </p:txBody>
      </p:sp>
      <p:sp>
        <p:nvSpPr>
          <p:cNvPr id="953" name="card-bg"/>
          <p:cNvSpPr>
            <a:spLocks noGrp="1"/>
          </p:cNvSpPr>
          <p:nvPr/>
        </p:nvSpPr>
        <p:spPr>
          <a:xfrm>
            <a:off x="4400000" y="1250000"/>
            <a:ext cx="3450000" cy="4700000"/>
          </a:xfrm>
          <a:prstGeom prst="roundRect">
            <a:avLst>
              <a:gd name="adj" fmla="val 5000"/>
            </a:avLst>
          </a:prstGeom>
          <a:solidFill>
            <a:srgbClr val="D1FAE5"/>
          </a:solidFill>
          <a:ln w="12700">
            <a:solidFill>
              <a:srgbClr val="2AA876"/>
            </a:solidFill>
          </a:ln>
        </p:spPr>
        <p:txBody>
          <a:bodyPr/>
          <a:lstStyle/>
          <a:p>
            <a:endParaRPr lang="ja-JP" altLang="en-US"/>
          </a:p>
        </p:txBody>
      </p:sp>
      <p:sp>
        <p:nvSpPr>
          <p:cNvPr id="954" name="card-header"/>
          <p:cNvSpPr>
            <a:spLocks noGrp="1"/>
          </p:cNvSpPr>
          <p:nvPr/>
        </p:nvSpPr>
        <p:spPr>
          <a:xfrm>
            <a:off x="4620000" y="1430000"/>
            <a:ext cx="3010000" cy="380000"/>
          </a:xfrm>
          <a:prstGeom prst="rect">
            <a:avLst/>
          </a:prstGeom>
          <a:noFill/>
          <a:ln w="0">
            <a:noFill/>
            <a:prstDash val="solid"/>
          </a:ln>
        </p:spPr>
        <p:txBody>
          <a:bodyPr lIns="0" tIns="0" rIns="0" bIns="0" anchor="t">
            <a:noAutofit/>
          </a:bodyPr>
          <a:lstStyle/>
          <a:p>
            <a:pPr algn="l">
              <a:buNone/>
              <a:defRPr sz="1500" b="1">
                <a:solidFill>
                  <a:srgbClr val="2AA876"/>
                </a:solidFill>
                <a:latin typeface="Hiragino Sans"/>
                <a:ea typeface="Hiragino Sans"/>
                <a:cs typeface="Hiragino Sans"/>
              </a:defRPr>
            </a:pPr>
            <a:r>
              <a:rPr sz="1500" b="1">
                <a:solidFill>
                  <a:srgbClr val="2AA876"/>
                </a:solidFill>
                <a:latin typeface="Hiragino Sans"/>
                <a:ea typeface="Hiragino Sans"/>
                <a:cs typeface="Hiragino Sans"/>
              </a:rPr>
              <a:t>本研究が活かす点</a:t>
            </a:r>
          </a:p>
        </p:txBody>
      </p:sp>
      <p:sp>
        <p:nvSpPr>
          <p:cNvPr id="955" name="card-bullets"/>
          <p:cNvSpPr>
            <a:spLocks noGrp="1"/>
          </p:cNvSpPr>
          <p:nvPr/>
        </p:nvSpPr>
        <p:spPr>
          <a:xfrm>
            <a:off x="4620000" y="1900000"/>
            <a:ext cx="3010000" cy="3850000"/>
          </a:xfrm>
          <a:prstGeom prst="rect">
            <a:avLst/>
          </a:prstGeom>
          <a:noFill/>
          <a:ln w="0">
            <a:noFill/>
            <a:prstDash val="solid"/>
          </a:ln>
        </p:spPr>
        <p:txBody>
          <a:bodyPr lIns="0" tIns="0" rIns="0" bIns="0" anchor="t">
            <a:noAutofit/>
          </a:bodyPr>
          <a:lstStyle/>
          <a:p>
            <a:pPr algn="l">
              <a:buNone/>
              <a:defRPr sz="1250" b="0">
                <a:solidFill>
                  <a:srgbClr val="111827"/>
                </a:solidFill>
                <a:latin typeface="Hiragino Sans"/>
                <a:ea typeface="Hiragino Sans"/>
                <a:cs typeface="Hiragino Sans"/>
              </a:defRPr>
            </a:pPr>
            <a:r>
              <a:rPr sz="1250" b="0">
                <a:solidFill>
                  <a:srgbClr val="111827"/>
                </a:solidFill>
                <a:latin typeface="Hiragino Sans"/>
                <a:ea typeface="Hiragino Sans"/>
                <a:cs typeface="Hiragino Sans"/>
              </a:rPr>
              <a:t>・「特定の2クラスを比較する」という問いの立て方を採用</a:t>
            </a:r>
          </a:p>
          <a:p>
            <a:pPr algn="l">
              <a:buNone/>
              <a:defRPr sz="1250" b="0">
                <a:solidFill>
                  <a:srgbClr val="111827"/>
                </a:solidFill>
                <a:latin typeface="Hiragino Sans"/>
                <a:ea typeface="Hiragino Sans"/>
                <a:cs typeface="Hiragino Sans"/>
              </a:defRPr>
            </a:pPr>
            <a:r>
              <a:rPr sz="1250" b="0">
                <a:solidFill>
                  <a:srgbClr val="111827"/>
                </a:solidFill>
                <a:latin typeface="Hiragino Sans"/>
                <a:ea typeface="Hiragino Sans"/>
                <a:cs typeface="Hiragino Sans"/>
              </a:rPr>
              <a:t>・画像やGANには依存しない</a:t>
            </a:r>
          </a:p>
          <a:p>
            <a:pPr algn="l">
              <a:buNone/>
              <a:defRPr sz="1250" b="0">
                <a:solidFill>
                  <a:srgbClr val="111827"/>
                </a:solidFill>
                <a:latin typeface="Hiragino Sans"/>
                <a:ea typeface="Hiragino Sans"/>
                <a:cs typeface="Hiragino Sans"/>
              </a:defRPr>
            </a:pPr>
            <a:r>
              <a:rPr sz="1250" b="0">
                <a:solidFill>
                  <a:srgbClr val="111827"/>
                </a:solidFill>
                <a:latin typeface="Hiragino Sans"/>
                <a:ea typeface="Hiragino Sans"/>
                <a:cs typeface="Hiragino Sans"/>
              </a:rPr>
              <a:t>・LIMEの局所線形モデルで、一般の表形式データにOne-vs-One説明を作る</a:t>
            </a:r>
          </a:p>
        </p:txBody>
      </p:sp>
    </p:spTree>
    <p:extLst>
      <p:ext uri="{BB962C8B-B14F-4D97-AF65-F5344CB8AC3E}">
        <p14:creationId xmlns:p14="http://schemas.microsoft.com/office/powerpoint/2010/main" val="3800402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60034D4-B03C-5F99-29ED-04D7CD8809B1}"/>
              </a:ext>
            </a:extLst>
          </p:cNvPr>
          <p:cNvSpPr txBox="1"/>
          <p:nvPr/>
        </p:nvSpPr>
        <p:spPr>
          <a:xfrm>
            <a:off x="0" y="6438900"/>
            <a:ext cx="7271542" cy="415498"/>
          </a:xfrm>
          <a:prstGeom prst="rect">
            <a:avLst/>
          </a:prstGeom>
          <a:noFill/>
        </p:spPr>
        <p:txBody>
          <a:bodyPr wrap="none" rtlCol="0">
            <a:spAutoFit/>
          </a:bodyPr>
          <a:lstStyle/>
          <a:p>
            <a:r>
              <a:rPr lang="en-US" altLang="ja-JP" sz="1050" dirty="0"/>
              <a:t>[3]</a:t>
            </a:r>
            <a:r>
              <a:rPr lang="ja-JP" altLang="ja-JP" sz="1050"/>
              <a:t>Nanavati, P., &amp; Prasad, R. (2023). CLIMAX: An exploration of Classifier-Based Contrastive Explanations. </a:t>
            </a:r>
            <a:endParaRPr lang="en-US" altLang="ja-JP" sz="1050" dirty="0"/>
          </a:p>
          <a:p>
            <a:r>
              <a:rPr lang="ja-JP" altLang="ja-JP" sz="1050"/>
              <a:t>In </a:t>
            </a:r>
            <a:r>
              <a:rPr lang="ja-JP" altLang="ja-JP" sz="1050" i="1"/>
              <a:t>2023 IEEE 5th International Conference on Cognitive Machine Intelligence (CogMI)</a:t>
            </a:r>
            <a:r>
              <a:rPr lang="ja-JP" altLang="ja-JP" sz="1050"/>
              <a:t>. IEEE.</a:t>
            </a:r>
            <a:endParaRPr kumimoji="1" lang="ja-JP" altLang="en-US" sz="1050"/>
          </a:p>
        </p:txBody>
      </p:sp>
      <p:sp>
        <p:nvSpPr>
          <p:cNvPr id="3" name="テキスト ボックス 2">
            <a:extLst>
              <a:ext uri="{FF2B5EF4-FFF2-40B4-BE49-F238E27FC236}">
                <a16:creationId xmlns:a16="http://schemas.microsoft.com/office/drawing/2014/main" id="{22C19D57-B849-A123-2F97-D665381C6579}"/>
              </a:ext>
            </a:extLst>
          </p:cNvPr>
          <p:cNvSpPr txBox="1"/>
          <p:nvPr/>
        </p:nvSpPr>
        <p:spPr>
          <a:xfrm>
            <a:off x="800100" y="1917034"/>
            <a:ext cx="9642383" cy="369332"/>
          </a:xfrm>
          <a:prstGeom prst="rect">
            <a:avLst/>
          </a:prstGeom>
          <a:noFill/>
        </p:spPr>
        <p:txBody>
          <a:bodyPr wrap="none" rtlCol="0">
            <a:spAutoFit/>
          </a:bodyPr>
          <a:lstStyle/>
          <a:p>
            <a:r>
              <a:rPr lang="ja-JP" altLang="ja-JP"/>
              <a:t>CLIMAX</a:t>
            </a:r>
            <a:r>
              <a:rPr lang="en-US" altLang="ja-JP" baseline="30000" dirty="0"/>
              <a:t>[3]</a:t>
            </a:r>
            <a:r>
              <a:rPr lang="ja-JP" altLang="ja-JP"/>
              <a:t>は、ブラックボックス分類器を局所的な分類モデルで説明する方法を提案している</a:t>
            </a:r>
          </a:p>
        </p:txBody>
      </p:sp>
      <p:pic>
        <p:nvPicPr>
          <p:cNvPr id="4" name="図 3">
            <a:extLst>
              <a:ext uri="{FF2B5EF4-FFF2-40B4-BE49-F238E27FC236}">
                <a16:creationId xmlns:a16="http://schemas.microsoft.com/office/drawing/2014/main" id="{5FD7DDE9-9424-21F5-CAEE-D80CD5A4A340}"/>
              </a:ext>
            </a:extLst>
          </p:cNvPr>
          <p:cNvPicPr>
            <a:picLocks noChangeAspect="1"/>
          </p:cNvPicPr>
          <p:nvPr/>
        </p:nvPicPr>
        <p:blipFill>
          <a:blip r:embed="rId2"/>
          <a:stretch>
            <a:fillRect/>
          </a:stretch>
        </p:blipFill>
        <p:spPr>
          <a:xfrm>
            <a:off x="3536950" y="2377245"/>
            <a:ext cx="4838700" cy="1092200"/>
          </a:xfrm>
          <a:prstGeom prst="rect">
            <a:avLst/>
          </a:prstGeom>
        </p:spPr>
      </p:pic>
      <p:pic>
        <p:nvPicPr>
          <p:cNvPr id="5" name="図 4">
            <a:extLst>
              <a:ext uri="{FF2B5EF4-FFF2-40B4-BE49-F238E27FC236}">
                <a16:creationId xmlns:a16="http://schemas.microsoft.com/office/drawing/2014/main" id="{A5D77F8D-6CC4-DF78-AE67-BC87D75D98BB}"/>
              </a:ext>
            </a:extLst>
          </p:cNvPr>
          <p:cNvPicPr>
            <a:picLocks noChangeAspect="1"/>
          </p:cNvPicPr>
          <p:nvPr/>
        </p:nvPicPr>
        <p:blipFill>
          <a:blip r:embed="rId3"/>
          <a:stretch>
            <a:fillRect/>
          </a:stretch>
        </p:blipFill>
        <p:spPr>
          <a:xfrm>
            <a:off x="4146550" y="3687539"/>
            <a:ext cx="3898900" cy="533400"/>
          </a:xfrm>
          <a:prstGeom prst="rect">
            <a:avLst/>
          </a:prstGeom>
        </p:spPr>
      </p:pic>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E7CC717D-3D8E-A9E2-6D2B-3E64075AB32B}"/>
                  </a:ext>
                </a:extLst>
              </p:cNvPr>
              <p:cNvSpPr txBox="1"/>
              <p:nvPr/>
            </p:nvSpPr>
            <p:spPr>
              <a:xfrm>
                <a:off x="818569" y="4800601"/>
                <a:ext cx="7316362" cy="957121"/>
              </a:xfrm>
              <a:prstGeom prst="rect">
                <a:avLst/>
              </a:prstGeom>
              <a:noFill/>
            </p:spPr>
            <p:txBody>
              <a:bodyPr wrap="none" rtlCol="0">
                <a:spAutoFit/>
              </a:bodyPr>
              <a:lstStyle/>
              <a:p>
                <a:r>
                  <a:rPr lang="ja-JP" altLang="ja-JP"/>
                  <a:t>CLIMAXの比較対象は、</a:t>
                </a:r>
              </a:p>
              <a:p>
                <a:pPr/>
                <a14:m>
                  <m:oMathPara xmlns:m="http://schemas.openxmlformats.org/officeDocument/2006/math">
                    <m:oMathParaPr>
                      <m:jc m:val="centerGroup"/>
                    </m:oMathParaPr>
                    <m:oMath xmlns:m="http://schemas.openxmlformats.org/officeDocument/2006/math">
                      <m:r>
                        <m:rPr>
                          <m:lit/>
                        </m:rPr>
                        <a:rPr lang="ja-JP" altLang="ja-JP" i="1" smtClean="0">
                          <a:latin typeface="Cambria Math" panose="02040503050406030204" pitchFamily="18" charset="0"/>
                        </a:rPr>
                        <m:t>[</m:t>
                      </m:r>
                      <m:r>
                        <a:rPr lang="ja-JP" altLang="ja-JP" i="1">
                          <a:latin typeface="Cambria Math" panose="02040503050406030204" pitchFamily="18" charset="0"/>
                        </a:rPr>
                        <m:t>𝐴</m:t>
                      </m:r>
                      <m:r>
                        <a:rPr lang="ja-JP" altLang="ja-JP" i="1">
                          <a:latin typeface="Cambria Math" panose="02040503050406030204" pitchFamily="18" charset="0"/>
                        </a:rPr>
                        <m:t> </m:t>
                      </m:r>
                      <m:r>
                        <m:rPr>
                          <m:nor/>
                        </m:rPr>
                        <a:rPr lang="ja-JP" altLang="ja-JP" i="0">
                          <a:latin typeface="Cambria Math" panose="02040503050406030204" pitchFamily="18" charset="0"/>
                        </a:rPr>
                        <m:t>対</m:t>
                      </m:r>
                      <m:r>
                        <a:rPr lang="ja-JP" altLang="ja-JP" i="1">
                          <a:latin typeface="Cambria Math" panose="02040503050406030204" pitchFamily="18" charset="0"/>
                        </a:rPr>
                        <m:t> </m:t>
                      </m:r>
                      <m:r>
                        <m:rPr>
                          <m:nor/>
                        </m:rPr>
                        <a:rPr lang="ja-JP" altLang="ja-JP" i="0">
                          <a:latin typeface="Cambria Math" panose="02040503050406030204" pitchFamily="18" charset="0"/>
                        </a:rPr>
                        <m:t>それ以外すべて</m:t>
                      </m:r>
                      <m:r>
                        <m:rPr>
                          <m:lit/>
                        </m:rPr>
                        <a:rPr lang="ja-JP" altLang="ja-JP" i="1" smtClean="0">
                          <a:latin typeface="Cambria Math" panose="02040503050406030204" pitchFamily="18" charset="0"/>
                        </a:rPr>
                        <m:t>]</m:t>
                      </m:r>
                      <m:r>
                        <m:rPr>
                          <m:lit/>
                        </m:rPr>
                        <a:rPr lang="en-US" altLang="ja-JP" b="0" i="0" smtClean="0">
                          <a:latin typeface="Cambria Math" panose="02040503050406030204" pitchFamily="18" charset="0"/>
                        </a:rPr>
                        <m:t> (</m:t>
                      </m:r>
                      <m:r>
                        <m:rPr>
                          <m:lit/>
                        </m:rPr>
                        <a:rPr lang="ja-JP" altLang="ja-JP" i="1" smtClean="0">
                          <a:latin typeface="Cambria Math" panose="02040503050406030204" pitchFamily="18" charset="0"/>
                        </a:rPr>
                        <m:t>[</m:t>
                      </m:r>
                      <m:r>
                        <a:rPr lang="ja-JP" altLang="ja-JP" i="1">
                          <a:latin typeface="Cambria Math" panose="02040503050406030204" pitchFamily="18" charset="0"/>
                        </a:rPr>
                        <m:t>1−</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𝐴</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𝐵</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𝐶</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𝐷</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r>
                        <m:rPr>
                          <m:lit/>
                        </m:rPr>
                        <a:rPr lang="ja-JP" altLang="ja-JP" i="1">
                          <a:latin typeface="Cambria Math" panose="02040503050406030204" pitchFamily="18" charset="0"/>
                        </a:rPr>
                        <m:t>]</m:t>
                      </m:r>
                      <m:r>
                        <m:rPr>
                          <m:lit/>
                        </m:rPr>
                        <a:rPr lang="en-US" altLang="ja-JP" b="0" i="1" smtClean="0">
                          <a:latin typeface="Cambria Math" panose="02040503050406030204" pitchFamily="18" charset="0"/>
                        </a:rPr>
                        <m:t>)</m:t>
                      </m:r>
                    </m:oMath>
                  </m:oMathPara>
                </a14:m>
                <a:endParaRPr lang="ja-JP" altLang="ja-JP"/>
              </a:p>
              <a:p>
                <a:endParaRPr kumimoji="1" lang="ja-JP" altLang="en-US"/>
              </a:p>
            </p:txBody>
          </p:sp>
        </mc:Choice>
        <mc:Fallback xmlns="">
          <p:sp>
            <p:nvSpPr>
              <p:cNvPr id="6" name="テキスト ボックス 5">
                <a:extLst>
                  <a:ext uri="{FF2B5EF4-FFF2-40B4-BE49-F238E27FC236}">
                    <a16:creationId xmlns:a16="http://schemas.microsoft.com/office/drawing/2014/main" id="{E7CC717D-3D8E-A9E2-6D2B-3E64075AB32B}"/>
                  </a:ext>
                </a:extLst>
              </p:cNvPr>
              <p:cNvSpPr txBox="1">
                <a:spLocks noRot="1" noChangeAspect="1" noMove="1" noResize="1" noEditPoints="1" noAdjustHandles="1" noChangeArrowheads="1" noChangeShapeType="1" noTextEdit="1"/>
              </p:cNvSpPr>
              <p:nvPr/>
            </p:nvSpPr>
            <p:spPr>
              <a:xfrm>
                <a:off x="818569" y="4800601"/>
                <a:ext cx="7316362" cy="957121"/>
              </a:xfrm>
              <a:prstGeom prst="rect">
                <a:avLst/>
              </a:prstGeom>
              <a:blipFill>
                <a:blip r:embed="rId4"/>
                <a:stretch>
                  <a:fillRect l="-693" t="-6579"/>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C8999B45-9B63-2892-3482-380DF6451A14}"/>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0" name="slide-7-title">
            <a:extLst>
              <a:ext uri="{FF2B5EF4-FFF2-40B4-BE49-F238E27FC236}">
                <a16:creationId xmlns:a16="http://schemas.microsoft.com/office/drawing/2014/main" id="{375D0B0D-448A-CE05-B377-E9209D9E882E}"/>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r>
              <a:rPr lang="ja-JP" altLang="en-US" sz="3200"/>
              <a:t>関連研究</a:t>
            </a:r>
            <a:r>
              <a:rPr lang="en-US" altLang="ja-JP" sz="3200" dirty="0"/>
              <a:t>② : </a:t>
            </a:r>
            <a:r>
              <a:rPr lang="ja-JP" altLang="ja-JP" sz="3200" b="1"/>
              <a:t>log-oddsを局所的に説明する</a:t>
            </a:r>
          </a:p>
        </p:txBody>
      </p:sp>
      <p:sp>
        <p:nvSpPr>
          <p:cNvPr id="950" name="climax-left-header"/>
          <p:cNvSpPr>
            <a:spLocks noGrp="1"/>
          </p:cNvSpPr>
          <p:nvPr/>
        </p:nvSpPr>
        <p:spPr>
          <a:xfrm>
            <a:off x="700000" y="2450000"/>
            <a:ext cx="2700000" cy="350000"/>
          </a:xfrm>
          <a:prstGeom prst="rect">
            <a:avLst/>
          </a:prstGeom>
          <a:noFill/>
          <a:ln w="0">
            <a:noFill/>
            <a:prstDash val="solid"/>
          </a:ln>
        </p:spPr>
        <p:txBody>
          <a:bodyPr lIns="0" tIns="0" rIns="0" bIns="0" anchor="t">
            <a:noAutofit/>
          </a:bodyPr>
          <a:lstStyle/>
          <a:p>
            <a:pPr algn="l">
              <a:buNone/>
              <a:defRPr sz="1350" b="1">
                <a:solidFill>
                  <a:srgbClr val="2F6BDE"/>
                </a:solidFill>
                <a:latin typeface="Hiragino Sans"/>
                <a:ea typeface="Hiragino Sans"/>
                <a:cs typeface="Hiragino Sans"/>
              </a:defRPr>
            </a:pPr>
            <a:r>
              <a:rPr sz="1350" b="1">
                <a:solidFill>
                  <a:srgbClr val="2F6BDE"/>
                </a:solidFill>
                <a:latin typeface="Hiragino Sans"/>
                <a:ea typeface="Hiragino Sans"/>
                <a:cs typeface="Hiragino Sans"/>
              </a:rPr>
              <a:t>CLIMAXが提案したこと</a:t>
            </a:r>
          </a:p>
        </p:txBody>
      </p:sp>
      <p:sp>
        <p:nvSpPr>
          <p:cNvPr id="951" name="climax-left-body"/>
          <p:cNvSpPr>
            <a:spLocks noGrp="1"/>
          </p:cNvSpPr>
          <p:nvPr/>
        </p:nvSpPr>
        <p:spPr>
          <a:xfrm>
            <a:off x="700000" y="2870000"/>
            <a:ext cx="2700000" cy="1830000"/>
          </a:xfrm>
          <a:prstGeom prst="rect">
            <a:avLst/>
          </a:prstGeom>
          <a:noFill/>
          <a:ln w="0">
            <a:noFill/>
            <a:prstDash val="solid"/>
          </a:ln>
        </p:spPr>
        <p:txBody>
          <a:bodyPr lIns="0" tIns="0" rIns="0" bIns="0" anchor="t">
            <a:noAutofit/>
          </a:bodyPr>
          <a:lstStyle/>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・局所的なモデルで説明</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・対数オッズを回帰</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（L-CLIMAX）</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・確率を交差エントロピー</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で回帰（CE-CLIMAX）</a:t>
            </a:r>
          </a:p>
        </p:txBody>
      </p:sp>
      <p:sp>
        <p:nvSpPr>
          <p:cNvPr id="952" name="climax-right-header"/>
          <p:cNvSpPr>
            <a:spLocks noGrp="1"/>
          </p:cNvSpPr>
          <p:nvPr/>
        </p:nvSpPr>
        <p:spPr>
          <a:xfrm>
            <a:off x="8450000" y="2450000"/>
            <a:ext cx="2980000" cy="350000"/>
          </a:xfrm>
          <a:prstGeom prst="rect">
            <a:avLst/>
          </a:prstGeom>
          <a:noFill/>
          <a:ln w="0">
            <a:noFill/>
            <a:prstDash val="solid"/>
          </a:ln>
        </p:spPr>
        <p:txBody>
          <a:bodyPr lIns="0" tIns="0" rIns="0" bIns="0" anchor="t">
            <a:noAutofit/>
          </a:bodyPr>
          <a:lstStyle/>
          <a:p>
            <a:pPr algn="l">
              <a:buNone/>
              <a:defRPr sz="1350" b="1">
                <a:solidFill>
                  <a:srgbClr val="2AA876"/>
                </a:solidFill>
                <a:latin typeface="Hiragino Sans"/>
                <a:ea typeface="Hiragino Sans"/>
                <a:cs typeface="Hiragino Sans"/>
              </a:defRPr>
            </a:pPr>
            <a:r>
              <a:rPr sz="1350" b="1">
                <a:solidFill>
                  <a:srgbClr val="2AA876"/>
                </a:solidFill>
                <a:latin typeface="Hiragino Sans"/>
                <a:ea typeface="Hiragino Sans"/>
                <a:cs typeface="Hiragino Sans"/>
              </a:rPr>
              <a:t>本研究が活かす点</a:t>
            </a:r>
          </a:p>
        </p:txBody>
      </p:sp>
      <p:sp>
        <p:nvSpPr>
          <p:cNvPr id="953" name="climax-right-body"/>
          <p:cNvSpPr>
            <a:spLocks noGrp="1"/>
          </p:cNvSpPr>
          <p:nvPr/>
        </p:nvSpPr>
        <p:spPr>
          <a:xfrm>
            <a:off x="8450000" y="2870000"/>
            <a:ext cx="2980000" cy="1830000"/>
          </a:xfrm>
          <a:prstGeom prst="rect">
            <a:avLst/>
          </a:prstGeom>
          <a:noFill/>
          <a:ln w="0">
            <a:noFill/>
            <a:prstDash val="solid"/>
          </a:ln>
        </p:spPr>
        <p:txBody>
          <a:bodyPr lIns="0" tIns="0" rIns="0" bIns="0" anchor="t">
            <a:noAutofit/>
          </a:bodyPr>
          <a:lstStyle/>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・確率でなく対数比・交差</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エントロピーで近似</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・比較対象は「それ以外</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全部」でなく予測1位・</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2位の2クラスに絞る</a:t>
            </a:r>
          </a:p>
        </p:txBody>
      </p:sp>
    </p:spTree>
    <p:extLst>
      <p:ext uri="{BB962C8B-B14F-4D97-AF65-F5344CB8AC3E}">
        <p14:creationId xmlns:p14="http://schemas.microsoft.com/office/powerpoint/2010/main" val="3940133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0"/>
          </a:p>
        </p:txBody>
      </p:sp>
      <p:sp>
        <p:nvSpPr>
          <p:cNvPr id="3" name="title"/>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目次</a:t>
            </a:r>
          </a:p>
        </p:txBody>
      </p:sp>
      <p:sp>
        <p:nvSpPr>
          <p:cNvPr id="6" name="toc-item-0"/>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1. XAI（説明可能なAI）</a:t>
            </a:r>
          </a:p>
        </p:txBody>
      </p:sp>
      <p:sp>
        <p:nvSpPr>
          <p:cNvPr id="7" name="toc-item-1"/>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2. LIME</a:t>
            </a:r>
          </a:p>
        </p:txBody>
      </p:sp>
      <p:sp>
        <p:nvSpPr>
          <p:cNvPr id="8" name="toc-item-2"/>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3. 多クラスに応用したLIME</a:t>
            </a:r>
          </a:p>
        </p:txBody>
      </p:sp>
      <p:sp>
        <p:nvSpPr>
          <p:cNvPr id="9" name="toc-item-3"/>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4. 関連研究</a:t>
            </a:r>
          </a:p>
        </p:txBody>
      </p:sp>
      <p:sp>
        <p:nvSpPr>
          <p:cNvPr id="10" name="toc-item-4"/>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2200" b="1">
                <a:solidFill>
                  <a:srgbClr val="156082"/>
                </a:solidFill>
                <a:latin typeface="Hiragino Sans"/>
                <a:ea typeface="Hiragino Sans"/>
                <a:cs typeface="Hiragino Sans"/>
              </a:defRPr>
            </a:pPr>
            <a:r>
              <a:rPr lang="ja-JP" sz="2200" b="1" noProof="0">
                <a:solidFill>
                  <a:srgbClr val="156082"/>
                </a:solidFill>
                <a:latin typeface="Hiragino Sans"/>
                <a:ea typeface="Hiragino Sans"/>
                <a:cs typeface="Hiragino Sans"/>
              </a:rPr>
              <a:t>5. 提案手法</a:t>
            </a:r>
          </a:p>
        </p:txBody>
      </p:sp>
      <p:sp>
        <p:nvSpPr>
          <p:cNvPr id="11" name="toc-item-5"/>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6. 実験と考察</a:t>
            </a:r>
          </a:p>
        </p:txBody>
      </p:sp>
      <p:sp>
        <p:nvSpPr>
          <p:cNvPr id="12" name="toc-item-6"/>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7. まとめと今後の展望</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akeaway-bg"/>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noProof="0"/>
          </a:p>
        </p:txBody>
      </p:sp>
      <p:sp>
        <p:nvSpPr>
          <p:cNvPr id="9" name="takeaway-text"/>
          <p:cNvSpPr>
            <a:spLocks noGrp="1"/>
          </p:cNvSpPr>
          <p:nvPr/>
        </p:nvSpPr>
        <p:spPr>
          <a:xfrm>
            <a:off x="952500" y="5857875"/>
            <a:ext cx="10287000" cy="304800"/>
          </a:xfrm>
          <a:prstGeom prst="rect">
            <a:avLst/>
          </a:prstGeom>
          <a:noFill/>
          <a:ln w="0">
            <a:noFill/>
            <a:prstDash val="solid"/>
          </a:ln>
        </p:spPr>
        <p:txBody>
          <a:bodyPr lIns="0" tIns="0" rIns="0" bIns="0" anchor="ctr">
            <a:noAutofit/>
          </a:bodyPr>
          <a:lstStyle/>
          <a:p>
            <a:pPr algn="ctr">
              <a:buNone/>
              <a:defRPr sz="1350" b="1">
                <a:solidFill>
                  <a:srgbClr val="1479C9"/>
                </a:solidFill>
                <a:latin typeface="Hiragino Sans"/>
                <a:ea typeface="Hiragino Sans"/>
                <a:cs typeface="Hiragino Sans"/>
              </a:defRPr>
            </a:pPr>
            <a:r>
              <a:rPr lang="ja-JP" sz="1350" b="1" noProof="0">
                <a:solidFill>
                  <a:srgbClr val="1479C9"/>
                </a:solidFill>
                <a:latin typeface="Hiragino Sans"/>
                <a:ea typeface="Hiragino Sans"/>
                <a:cs typeface="Hiragino Sans"/>
              </a:rPr>
              <a:t>OVRはクラスの数だけ説明が増えるが、提案は常に1本の回帰で競合2クラスの違いを説明する</a:t>
            </a:r>
          </a:p>
        </p:txBody>
      </p:sp>
      <p:sp>
        <p:nvSpPr>
          <p:cNvPr id="59" name="accent-bar">
            <a:extLst>
              <a:ext uri="{FF2B5EF4-FFF2-40B4-BE49-F238E27FC236}">
                <a16:creationId xmlns:a16="http://schemas.microsoft.com/office/drawing/2014/main" id="{C03CBFCD-47EC-70F9-C97C-A19B2BA6771D}"/>
              </a:ext>
            </a:extLst>
          </p:cNvPr>
          <p:cNvSpPr>
            <a:spLocks noGrp="1"/>
          </p:cNvSpPr>
          <p:nvPr/>
        </p:nvSpPr>
        <p:spPr>
          <a:xfrm>
            <a:off x="514350" y="409575"/>
            <a:ext cx="114300" cy="476250"/>
          </a:xfrm>
          <a:prstGeom prst="rect">
            <a:avLst/>
          </a:prstGeom>
          <a:solidFill>
            <a:srgbClr val="1479C9"/>
          </a:solidFill>
          <a:ln w="0">
            <a:noFill/>
            <a:prstDash val="solid"/>
          </a:ln>
        </p:spPr>
        <p:txBody>
          <a:bodyPr/>
          <a:lstStyle/>
          <a:p>
            <a:endParaRPr lang="ja-JP" noProof="0"/>
          </a:p>
        </p:txBody>
      </p:sp>
      <p:sp>
        <p:nvSpPr>
          <p:cNvPr id="60" name="title">
            <a:extLst>
              <a:ext uri="{FF2B5EF4-FFF2-40B4-BE49-F238E27FC236}">
                <a16:creationId xmlns:a16="http://schemas.microsoft.com/office/drawing/2014/main" id="{640BFAC4-1BF2-D67C-D406-6C7BC71CEAB1}"/>
              </a:ext>
            </a:extLst>
          </p:cNvPr>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提案手法の全体像：OVRとの違い</a:t>
            </a:r>
          </a:p>
        </p:txBody>
      </p:sp>
      <p:sp>
        <p:nvSpPr>
          <p:cNvPr id="61" name="subtitle">
            <a:extLst>
              <a:ext uri="{FF2B5EF4-FFF2-40B4-BE49-F238E27FC236}">
                <a16:creationId xmlns:a16="http://schemas.microsoft.com/office/drawing/2014/main" id="{7527D648-273A-F891-484A-700A58EF4A9B}"/>
              </a:ext>
            </a:extLst>
          </p:cNvPr>
          <p:cNvSpPr>
            <a:spLocks noGrp="1"/>
          </p:cNvSpPr>
          <p:nvPr/>
        </p:nvSpPr>
        <p:spPr>
          <a:xfrm>
            <a:off x="762000" y="800100"/>
            <a:ext cx="10668000" cy="247650"/>
          </a:xfrm>
          <a:prstGeom prst="rect">
            <a:avLst/>
          </a:prstGeom>
          <a:noFill/>
          <a:ln w="0">
            <a:noFill/>
            <a:prstDash val="solid"/>
          </a:ln>
        </p:spPr>
        <p:txBody>
          <a:bodyPr lIns="0" tIns="0" rIns="0" bIns="0" anchor="ctr">
            <a:noAutofit/>
          </a:bodyPr>
          <a:lstStyle/>
          <a:p>
            <a:pPr algn="l">
              <a:buNone/>
              <a:defRPr sz="1200" b="0">
                <a:solidFill>
                  <a:srgbClr val="687386"/>
                </a:solidFill>
                <a:latin typeface="Hiragino Sans"/>
                <a:ea typeface="Hiragino Sans"/>
                <a:cs typeface="Hiragino Sans"/>
              </a:defRPr>
            </a:pPr>
            <a:r>
              <a:rPr lang="ja-JP" sz="1200" b="0" noProof="0">
                <a:solidFill>
                  <a:srgbClr val="687386"/>
                </a:solidFill>
                <a:latin typeface="Hiragino Sans"/>
                <a:ea typeface="Hiragino Sans"/>
                <a:cs typeface="Hiragino Sans"/>
              </a:rPr>
              <a:t>同じLIMEの枠組みで、回帰する対象と説明の数がどこで分かれるか</a:t>
            </a:r>
          </a:p>
        </p:txBody>
      </p:sp>
      <p:sp>
        <p:nvSpPr>
          <p:cNvPr id="62" name="ovr-label">
            <a:extLst>
              <a:ext uri="{FF2B5EF4-FFF2-40B4-BE49-F238E27FC236}">
                <a16:creationId xmlns:a16="http://schemas.microsoft.com/office/drawing/2014/main" id="{30BC29A6-F9EE-AB89-FA37-D48B1AB3A2A2}"/>
              </a:ext>
            </a:extLst>
          </p:cNvPr>
          <p:cNvSpPr>
            <a:spLocks noGrp="1"/>
          </p:cNvSpPr>
          <p:nvPr/>
        </p:nvSpPr>
        <p:spPr>
          <a:xfrm>
            <a:off x="514350" y="1150000"/>
            <a:ext cx="4000000" cy="300000"/>
          </a:xfrm>
          <a:prstGeom prst="rect">
            <a:avLst/>
          </a:prstGeom>
          <a:noFill/>
          <a:ln w="0">
            <a:noFill/>
            <a:prstDash val="solid"/>
          </a:ln>
        </p:spPr>
        <p:txBody>
          <a:bodyPr lIns="0" tIns="0" rIns="0" bIns="0" anchor="t">
            <a:noAutofit/>
          </a:bodyPr>
          <a:lstStyle/>
          <a:p>
            <a:pPr algn="l">
              <a:buNone/>
              <a:defRPr sz="1500" b="1">
                <a:solidFill>
                  <a:srgbClr val="64748B"/>
                </a:solidFill>
                <a:latin typeface="Hiragino Sans"/>
                <a:ea typeface="Hiragino Sans"/>
                <a:cs typeface="Hiragino Sans"/>
              </a:defRPr>
            </a:pPr>
            <a:r>
              <a:rPr lang="ja-JP" sz="1500" b="1" noProof="0">
                <a:solidFill>
                  <a:srgbClr val="64748B"/>
                </a:solidFill>
                <a:latin typeface="Hiragino Sans"/>
                <a:ea typeface="Hiragino Sans"/>
                <a:cs typeface="Hiragino Sans"/>
              </a:rPr>
              <a:t>One-vs-Rest（従来）</a:t>
            </a:r>
          </a:p>
        </p:txBody>
      </p:sp>
      <p:sp>
        <p:nvSpPr>
          <p:cNvPr id="63" name="step-box">
            <a:extLst>
              <a:ext uri="{FF2B5EF4-FFF2-40B4-BE49-F238E27FC236}">
                <a16:creationId xmlns:a16="http://schemas.microsoft.com/office/drawing/2014/main" id="{4280851E-3E14-18B2-76BF-66B7BE3BE50E}"/>
              </a:ext>
            </a:extLst>
          </p:cNvPr>
          <p:cNvSpPr>
            <a:spLocks noGrp="1"/>
          </p:cNvSpPr>
          <p:nvPr/>
        </p:nvSpPr>
        <p:spPr>
          <a:xfrm>
            <a:off x="514350" y="1500000"/>
            <a:ext cx="1952625" cy="1050000"/>
          </a:xfrm>
          <a:prstGeom prst="rect">
            <a:avLst/>
          </a:prstGeom>
          <a:solidFill>
            <a:srgbClr val="F3F4F6"/>
          </a:solidFill>
          <a:ln w="19050">
            <a:solidFill>
              <a:srgbClr val="CBD5E1"/>
            </a:solidFill>
            <a:prstDash val="solid"/>
          </a:ln>
        </p:spPr>
        <p:txBody>
          <a:bodyPr/>
          <a:lstStyle/>
          <a:p>
            <a:endParaRPr lang="ja-JP" noProof="0"/>
          </a:p>
        </p:txBody>
      </p:sp>
      <p:sp>
        <p:nvSpPr>
          <p:cNvPr id="64" name="step-num">
            <a:extLst>
              <a:ext uri="{FF2B5EF4-FFF2-40B4-BE49-F238E27FC236}">
                <a16:creationId xmlns:a16="http://schemas.microsoft.com/office/drawing/2014/main" id="{AC747E18-ED7D-83DA-D62B-DCC2D2E2199B}"/>
              </a:ext>
            </a:extLst>
          </p:cNvPr>
          <p:cNvSpPr>
            <a:spLocks noGrp="1"/>
          </p:cNvSpPr>
          <p:nvPr/>
        </p:nvSpPr>
        <p:spPr>
          <a:xfrm>
            <a:off x="685800" y="1600000"/>
            <a:ext cx="476250" cy="247650"/>
          </a:xfrm>
          <a:prstGeom prst="rect">
            <a:avLst/>
          </a:prstGeom>
          <a:noFill/>
          <a:ln w="0">
            <a:noFill/>
            <a:prstDash val="solid"/>
          </a:ln>
        </p:spPr>
        <p:txBody>
          <a:bodyPr lIns="0" tIns="0" rIns="0" bIns="0" anchor="t">
            <a:noAutofit/>
          </a:bodyPr>
          <a:lstStyle/>
          <a:p>
            <a:pPr algn="l">
              <a:buNone/>
              <a:defRPr sz="1150" b="1">
                <a:solidFill>
                  <a:srgbClr val="64748B"/>
                </a:solidFill>
                <a:latin typeface="Hiragino Sans"/>
                <a:ea typeface="Hiragino Sans"/>
                <a:cs typeface="Hiragino Sans"/>
              </a:defRPr>
            </a:pPr>
            <a:r>
              <a:rPr lang="ja-JP" sz="1150" b="1" noProof="0">
                <a:solidFill>
                  <a:srgbClr val="64748B"/>
                </a:solidFill>
                <a:latin typeface="Hiragino Sans"/>
                <a:ea typeface="Hiragino Sans"/>
                <a:cs typeface="Hiragino Sans"/>
              </a:rPr>
              <a:t>01</a:t>
            </a:r>
          </a:p>
        </p:txBody>
      </p:sp>
      <p:sp>
        <p:nvSpPr>
          <p:cNvPr id="65" name="step-label">
            <a:extLst>
              <a:ext uri="{FF2B5EF4-FFF2-40B4-BE49-F238E27FC236}">
                <a16:creationId xmlns:a16="http://schemas.microsoft.com/office/drawing/2014/main" id="{2A407C71-160C-1CB2-FADA-BD2516D7CEE5}"/>
              </a:ext>
            </a:extLst>
          </p:cNvPr>
          <p:cNvSpPr>
            <a:spLocks noGrp="1"/>
          </p:cNvSpPr>
          <p:nvPr/>
        </p:nvSpPr>
        <p:spPr>
          <a:xfrm>
            <a:off x="685800" y="19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クラスを</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1つ選ぶ</a:t>
            </a:r>
          </a:p>
        </p:txBody>
      </p:sp>
      <p:sp>
        <p:nvSpPr>
          <p:cNvPr id="66" name="step-box">
            <a:extLst>
              <a:ext uri="{FF2B5EF4-FFF2-40B4-BE49-F238E27FC236}">
                <a16:creationId xmlns:a16="http://schemas.microsoft.com/office/drawing/2014/main" id="{55162497-6050-FE57-CCA5-0FCA21296F47}"/>
              </a:ext>
            </a:extLst>
          </p:cNvPr>
          <p:cNvSpPr>
            <a:spLocks noGrp="1"/>
          </p:cNvSpPr>
          <p:nvPr/>
        </p:nvSpPr>
        <p:spPr>
          <a:xfrm>
            <a:off x="2800350" y="1500000"/>
            <a:ext cx="1952625" cy="1050000"/>
          </a:xfrm>
          <a:prstGeom prst="rect">
            <a:avLst/>
          </a:prstGeom>
          <a:solidFill>
            <a:srgbClr val="F3F4F6"/>
          </a:solidFill>
          <a:ln w="19050">
            <a:solidFill>
              <a:srgbClr val="CBD5E1"/>
            </a:solidFill>
            <a:prstDash val="solid"/>
          </a:ln>
        </p:spPr>
        <p:txBody>
          <a:bodyPr/>
          <a:lstStyle/>
          <a:p>
            <a:endParaRPr lang="ja-JP" noProof="0"/>
          </a:p>
        </p:txBody>
      </p:sp>
      <p:sp>
        <p:nvSpPr>
          <p:cNvPr id="67" name="step-num">
            <a:extLst>
              <a:ext uri="{FF2B5EF4-FFF2-40B4-BE49-F238E27FC236}">
                <a16:creationId xmlns:a16="http://schemas.microsoft.com/office/drawing/2014/main" id="{B2DBA621-41C2-D8CC-052B-04CD4E0AA840}"/>
              </a:ext>
            </a:extLst>
          </p:cNvPr>
          <p:cNvSpPr>
            <a:spLocks noGrp="1"/>
          </p:cNvSpPr>
          <p:nvPr/>
        </p:nvSpPr>
        <p:spPr>
          <a:xfrm>
            <a:off x="2971800" y="1600000"/>
            <a:ext cx="476250" cy="247650"/>
          </a:xfrm>
          <a:prstGeom prst="rect">
            <a:avLst/>
          </a:prstGeom>
          <a:noFill/>
          <a:ln w="0">
            <a:noFill/>
            <a:prstDash val="solid"/>
          </a:ln>
        </p:spPr>
        <p:txBody>
          <a:bodyPr lIns="0" tIns="0" rIns="0" bIns="0" anchor="t">
            <a:noAutofit/>
          </a:bodyPr>
          <a:lstStyle/>
          <a:p>
            <a:pPr algn="l">
              <a:buNone/>
              <a:defRPr sz="1150" b="1">
                <a:solidFill>
                  <a:srgbClr val="64748B"/>
                </a:solidFill>
                <a:latin typeface="Hiragino Sans"/>
                <a:ea typeface="Hiragino Sans"/>
                <a:cs typeface="Hiragino Sans"/>
              </a:defRPr>
            </a:pPr>
            <a:r>
              <a:rPr lang="ja-JP" sz="1150" b="1" noProof="0">
                <a:solidFill>
                  <a:srgbClr val="64748B"/>
                </a:solidFill>
                <a:latin typeface="Hiragino Sans"/>
                <a:ea typeface="Hiragino Sans"/>
                <a:cs typeface="Hiragino Sans"/>
              </a:rPr>
              <a:t>02</a:t>
            </a:r>
          </a:p>
        </p:txBody>
      </p:sp>
      <p:sp>
        <p:nvSpPr>
          <p:cNvPr id="68" name="step-label">
            <a:extLst>
              <a:ext uri="{FF2B5EF4-FFF2-40B4-BE49-F238E27FC236}">
                <a16:creationId xmlns:a16="http://schemas.microsoft.com/office/drawing/2014/main" id="{1F961A54-B088-013F-5971-A55DFBA13636}"/>
              </a:ext>
            </a:extLst>
          </p:cNvPr>
          <p:cNvSpPr>
            <a:spLocks noGrp="1"/>
          </p:cNvSpPr>
          <p:nvPr/>
        </p:nvSpPr>
        <p:spPr>
          <a:xfrm>
            <a:off x="2971800" y="19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近傍サンプルを</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生成する</a:t>
            </a:r>
          </a:p>
        </p:txBody>
      </p:sp>
      <p:sp>
        <p:nvSpPr>
          <p:cNvPr id="69" name="step-box">
            <a:extLst>
              <a:ext uri="{FF2B5EF4-FFF2-40B4-BE49-F238E27FC236}">
                <a16:creationId xmlns:a16="http://schemas.microsoft.com/office/drawing/2014/main" id="{839A0F61-956A-9C13-D09E-62F4086C8DB6}"/>
              </a:ext>
            </a:extLst>
          </p:cNvPr>
          <p:cNvSpPr>
            <a:spLocks noGrp="1"/>
          </p:cNvSpPr>
          <p:nvPr/>
        </p:nvSpPr>
        <p:spPr>
          <a:xfrm>
            <a:off x="5086350" y="1500000"/>
            <a:ext cx="1952625" cy="1050000"/>
          </a:xfrm>
          <a:prstGeom prst="rect">
            <a:avLst/>
          </a:prstGeom>
          <a:solidFill>
            <a:srgbClr val="F3F4F6"/>
          </a:solidFill>
          <a:ln w="19050">
            <a:solidFill>
              <a:srgbClr val="CBD5E1"/>
            </a:solidFill>
            <a:prstDash val="solid"/>
          </a:ln>
        </p:spPr>
        <p:txBody>
          <a:bodyPr/>
          <a:lstStyle/>
          <a:p>
            <a:endParaRPr lang="ja-JP" noProof="0"/>
          </a:p>
        </p:txBody>
      </p:sp>
      <p:sp>
        <p:nvSpPr>
          <p:cNvPr id="70" name="step-num">
            <a:extLst>
              <a:ext uri="{FF2B5EF4-FFF2-40B4-BE49-F238E27FC236}">
                <a16:creationId xmlns:a16="http://schemas.microsoft.com/office/drawing/2014/main" id="{879B69C4-D9A0-2A30-3A39-4C6D935B6DC8}"/>
              </a:ext>
            </a:extLst>
          </p:cNvPr>
          <p:cNvSpPr>
            <a:spLocks noGrp="1"/>
          </p:cNvSpPr>
          <p:nvPr/>
        </p:nvSpPr>
        <p:spPr>
          <a:xfrm>
            <a:off x="5257800" y="1600000"/>
            <a:ext cx="476250" cy="247650"/>
          </a:xfrm>
          <a:prstGeom prst="rect">
            <a:avLst/>
          </a:prstGeom>
          <a:noFill/>
          <a:ln w="0">
            <a:noFill/>
            <a:prstDash val="solid"/>
          </a:ln>
        </p:spPr>
        <p:txBody>
          <a:bodyPr lIns="0" tIns="0" rIns="0" bIns="0" anchor="t">
            <a:noAutofit/>
          </a:bodyPr>
          <a:lstStyle/>
          <a:p>
            <a:pPr algn="l">
              <a:buNone/>
              <a:defRPr sz="1150" b="1">
                <a:solidFill>
                  <a:srgbClr val="64748B"/>
                </a:solidFill>
                <a:latin typeface="Hiragino Sans"/>
                <a:ea typeface="Hiragino Sans"/>
                <a:cs typeface="Hiragino Sans"/>
              </a:defRPr>
            </a:pPr>
            <a:r>
              <a:rPr lang="ja-JP" sz="1150" b="1" noProof="0">
                <a:solidFill>
                  <a:srgbClr val="64748B"/>
                </a:solidFill>
                <a:latin typeface="Hiragino Sans"/>
                <a:ea typeface="Hiragino Sans"/>
                <a:cs typeface="Hiragino Sans"/>
              </a:rPr>
              <a:t>03</a:t>
            </a:r>
          </a:p>
        </p:txBody>
      </p:sp>
      <p:sp>
        <p:nvSpPr>
          <p:cNvPr id="71" name="step-label">
            <a:extLst>
              <a:ext uri="{FF2B5EF4-FFF2-40B4-BE49-F238E27FC236}">
                <a16:creationId xmlns:a16="http://schemas.microsoft.com/office/drawing/2014/main" id="{F8A5F855-B292-D599-8863-5246D624B1E8}"/>
              </a:ext>
            </a:extLst>
          </p:cNvPr>
          <p:cNvSpPr>
            <a:spLocks noGrp="1"/>
          </p:cNvSpPr>
          <p:nvPr/>
        </p:nvSpPr>
        <p:spPr>
          <a:xfrm>
            <a:off x="5257800" y="19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各クラスの確率を</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回帰(C回)</a:t>
            </a:r>
          </a:p>
        </p:txBody>
      </p:sp>
      <p:sp>
        <p:nvSpPr>
          <p:cNvPr id="72" name="step-box">
            <a:extLst>
              <a:ext uri="{FF2B5EF4-FFF2-40B4-BE49-F238E27FC236}">
                <a16:creationId xmlns:a16="http://schemas.microsoft.com/office/drawing/2014/main" id="{1E0CC0A4-119B-26D5-1AC3-FA84CCFC98AF}"/>
              </a:ext>
            </a:extLst>
          </p:cNvPr>
          <p:cNvSpPr>
            <a:spLocks noGrp="1"/>
          </p:cNvSpPr>
          <p:nvPr/>
        </p:nvSpPr>
        <p:spPr>
          <a:xfrm>
            <a:off x="7372350" y="1500000"/>
            <a:ext cx="1952625" cy="1050000"/>
          </a:xfrm>
          <a:prstGeom prst="rect">
            <a:avLst/>
          </a:prstGeom>
          <a:solidFill>
            <a:srgbClr val="F3F4F6"/>
          </a:solidFill>
          <a:ln w="19050">
            <a:solidFill>
              <a:srgbClr val="CBD5E1"/>
            </a:solidFill>
            <a:prstDash val="solid"/>
          </a:ln>
        </p:spPr>
        <p:txBody>
          <a:bodyPr/>
          <a:lstStyle/>
          <a:p>
            <a:endParaRPr lang="ja-JP" noProof="0"/>
          </a:p>
        </p:txBody>
      </p:sp>
      <p:sp>
        <p:nvSpPr>
          <p:cNvPr id="73" name="step-num">
            <a:extLst>
              <a:ext uri="{FF2B5EF4-FFF2-40B4-BE49-F238E27FC236}">
                <a16:creationId xmlns:a16="http://schemas.microsoft.com/office/drawing/2014/main" id="{D0D10E3F-2E92-6095-9969-EED3A304DD58}"/>
              </a:ext>
            </a:extLst>
          </p:cNvPr>
          <p:cNvSpPr>
            <a:spLocks noGrp="1"/>
          </p:cNvSpPr>
          <p:nvPr/>
        </p:nvSpPr>
        <p:spPr>
          <a:xfrm>
            <a:off x="7543800" y="1600000"/>
            <a:ext cx="476250" cy="247650"/>
          </a:xfrm>
          <a:prstGeom prst="rect">
            <a:avLst/>
          </a:prstGeom>
          <a:noFill/>
          <a:ln w="0">
            <a:noFill/>
            <a:prstDash val="solid"/>
          </a:ln>
        </p:spPr>
        <p:txBody>
          <a:bodyPr lIns="0" tIns="0" rIns="0" bIns="0" anchor="t">
            <a:noAutofit/>
          </a:bodyPr>
          <a:lstStyle/>
          <a:p>
            <a:pPr algn="l">
              <a:buNone/>
              <a:defRPr sz="1150" b="1">
                <a:solidFill>
                  <a:srgbClr val="64748B"/>
                </a:solidFill>
                <a:latin typeface="Hiragino Sans"/>
                <a:ea typeface="Hiragino Sans"/>
                <a:cs typeface="Hiragino Sans"/>
              </a:defRPr>
            </a:pPr>
            <a:r>
              <a:rPr lang="ja-JP" sz="1150" b="1" noProof="0">
                <a:solidFill>
                  <a:srgbClr val="64748B"/>
                </a:solidFill>
                <a:latin typeface="Hiragino Sans"/>
                <a:ea typeface="Hiragino Sans"/>
                <a:cs typeface="Hiragino Sans"/>
              </a:rPr>
              <a:t>04</a:t>
            </a:r>
          </a:p>
        </p:txBody>
      </p:sp>
      <p:sp>
        <p:nvSpPr>
          <p:cNvPr id="74" name="step-label">
            <a:extLst>
              <a:ext uri="{FF2B5EF4-FFF2-40B4-BE49-F238E27FC236}">
                <a16:creationId xmlns:a16="http://schemas.microsoft.com/office/drawing/2014/main" id="{CFF5E756-5B4F-6BA3-ABEE-F0F5D0306BFA}"/>
              </a:ext>
            </a:extLst>
          </p:cNvPr>
          <p:cNvSpPr>
            <a:spLocks noGrp="1"/>
          </p:cNvSpPr>
          <p:nvPr/>
        </p:nvSpPr>
        <p:spPr>
          <a:xfrm>
            <a:off x="7543800" y="19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クラスごとに</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特徴を選ぶ</a:t>
            </a:r>
          </a:p>
        </p:txBody>
      </p:sp>
      <p:sp>
        <p:nvSpPr>
          <p:cNvPr id="75" name="step-box">
            <a:extLst>
              <a:ext uri="{FF2B5EF4-FFF2-40B4-BE49-F238E27FC236}">
                <a16:creationId xmlns:a16="http://schemas.microsoft.com/office/drawing/2014/main" id="{07D1D40F-FE69-824E-09E7-2AD6D84201B0}"/>
              </a:ext>
            </a:extLst>
          </p:cNvPr>
          <p:cNvSpPr>
            <a:spLocks noGrp="1"/>
          </p:cNvSpPr>
          <p:nvPr/>
        </p:nvSpPr>
        <p:spPr>
          <a:xfrm>
            <a:off x="9658350" y="1500000"/>
            <a:ext cx="1952625" cy="1050000"/>
          </a:xfrm>
          <a:prstGeom prst="rect">
            <a:avLst/>
          </a:prstGeom>
          <a:solidFill>
            <a:srgbClr val="F3F4F6"/>
          </a:solidFill>
          <a:ln w="19050">
            <a:solidFill>
              <a:srgbClr val="CBD5E1"/>
            </a:solidFill>
            <a:prstDash val="solid"/>
          </a:ln>
        </p:spPr>
        <p:txBody>
          <a:bodyPr/>
          <a:lstStyle/>
          <a:p>
            <a:endParaRPr lang="ja-JP" noProof="0"/>
          </a:p>
        </p:txBody>
      </p:sp>
      <p:sp>
        <p:nvSpPr>
          <p:cNvPr id="76" name="step-num">
            <a:extLst>
              <a:ext uri="{FF2B5EF4-FFF2-40B4-BE49-F238E27FC236}">
                <a16:creationId xmlns:a16="http://schemas.microsoft.com/office/drawing/2014/main" id="{4897C0CC-4D58-E0EE-8274-8ABD0D8C5083}"/>
              </a:ext>
            </a:extLst>
          </p:cNvPr>
          <p:cNvSpPr>
            <a:spLocks noGrp="1"/>
          </p:cNvSpPr>
          <p:nvPr/>
        </p:nvSpPr>
        <p:spPr>
          <a:xfrm>
            <a:off x="9829800" y="1600000"/>
            <a:ext cx="476250" cy="247650"/>
          </a:xfrm>
          <a:prstGeom prst="rect">
            <a:avLst/>
          </a:prstGeom>
          <a:noFill/>
          <a:ln w="0">
            <a:noFill/>
            <a:prstDash val="solid"/>
          </a:ln>
        </p:spPr>
        <p:txBody>
          <a:bodyPr lIns="0" tIns="0" rIns="0" bIns="0" anchor="t">
            <a:noAutofit/>
          </a:bodyPr>
          <a:lstStyle/>
          <a:p>
            <a:pPr algn="l">
              <a:buNone/>
              <a:defRPr sz="1150" b="1">
                <a:solidFill>
                  <a:srgbClr val="64748B"/>
                </a:solidFill>
                <a:latin typeface="Hiragino Sans"/>
                <a:ea typeface="Hiragino Sans"/>
                <a:cs typeface="Hiragino Sans"/>
              </a:defRPr>
            </a:pPr>
            <a:r>
              <a:rPr lang="ja-JP" sz="1150" b="1" noProof="0">
                <a:solidFill>
                  <a:srgbClr val="64748B"/>
                </a:solidFill>
                <a:latin typeface="Hiragino Sans"/>
                <a:ea typeface="Hiragino Sans"/>
                <a:cs typeface="Hiragino Sans"/>
              </a:rPr>
              <a:t>05</a:t>
            </a:r>
          </a:p>
        </p:txBody>
      </p:sp>
      <p:sp>
        <p:nvSpPr>
          <p:cNvPr id="77" name="step-label">
            <a:extLst>
              <a:ext uri="{FF2B5EF4-FFF2-40B4-BE49-F238E27FC236}">
                <a16:creationId xmlns:a16="http://schemas.microsoft.com/office/drawing/2014/main" id="{BFD0BC23-67ED-1E1C-1A6A-A11005149FDD}"/>
              </a:ext>
            </a:extLst>
          </p:cNvPr>
          <p:cNvSpPr>
            <a:spLocks noGrp="1"/>
          </p:cNvSpPr>
          <p:nvPr/>
        </p:nvSpPr>
        <p:spPr>
          <a:xfrm>
            <a:off x="9829800" y="19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クラス別の説明が</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C個できる</a:t>
            </a:r>
          </a:p>
        </p:txBody>
      </p:sp>
      <p:sp>
        <p:nvSpPr>
          <p:cNvPr id="82" name="shared-note">
            <a:extLst>
              <a:ext uri="{FF2B5EF4-FFF2-40B4-BE49-F238E27FC236}">
                <a16:creationId xmlns:a16="http://schemas.microsoft.com/office/drawing/2014/main" id="{23975B64-1F38-0473-792E-0F4656A7C194}"/>
              </a:ext>
            </a:extLst>
          </p:cNvPr>
          <p:cNvSpPr>
            <a:spLocks noGrp="1"/>
          </p:cNvSpPr>
          <p:nvPr/>
        </p:nvSpPr>
        <p:spPr>
          <a:xfrm>
            <a:off x="514350" y="2610000"/>
            <a:ext cx="11049000" cy="260000"/>
          </a:xfrm>
          <a:prstGeom prst="rect">
            <a:avLst/>
          </a:prstGeom>
          <a:noFill/>
          <a:ln w="0">
            <a:noFill/>
            <a:prstDash val="solid"/>
          </a:ln>
        </p:spPr>
        <p:txBody>
          <a:bodyPr lIns="0" tIns="0" rIns="0" bIns="0" anchor="ctr">
            <a:noAutofit/>
          </a:bodyPr>
          <a:lstStyle/>
          <a:p>
            <a:pPr algn="ctr">
              <a:buNone/>
              <a:defRPr sz="1100" b="0">
                <a:solidFill>
                  <a:srgbClr val="64748B"/>
                </a:solidFill>
                <a:latin typeface="Hiragino Sans"/>
                <a:ea typeface="Hiragino Sans"/>
                <a:cs typeface="Hiragino Sans"/>
              </a:defRPr>
            </a:pPr>
            <a:r>
              <a:rPr lang="ja-JP" sz="1100" b="0" noProof="0">
                <a:solidFill>
                  <a:srgbClr val="64748B"/>
                </a:solidFill>
                <a:latin typeface="Hiragino Sans"/>
                <a:ea typeface="Hiragino Sans"/>
                <a:cs typeface="Hiragino Sans"/>
              </a:rPr>
              <a:t>①②の近傍生成・重み付けは、提案手法と共通のLIME機構を使う</a:t>
            </a:r>
          </a:p>
        </p:txBody>
      </p:sp>
      <p:sp>
        <p:nvSpPr>
          <p:cNvPr id="83" name="prop-label">
            <a:extLst>
              <a:ext uri="{FF2B5EF4-FFF2-40B4-BE49-F238E27FC236}">
                <a16:creationId xmlns:a16="http://schemas.microsoft.com/office/drawing/2014/main" id="{6C7109AD-B9D6-8CFF-77D3-1A37BDFCE56A}"/>
              </a:ext>
            </a:extLst>
          </p:cNvPr>
          <p:cNvSpPr>
            <a:spLocks noGrp="1"/>
          </p:cNvSpPr>
          <p:nvPr/>
        </p:nvSpPr>
        <p:spPr>
          <a:xfrm>
            <a:off x="514350" y="2930000"/>
            <a:ext cx="6000000" cy="300000"/>
          </a:xfrm>
          <a:prstGeom prst="rect">
            <a:avLst/>
          </a:prstGeom>
          <a:noFill/>
          <a:ln w="0">
            <a:noFill/>
            <a:prstDash val="solid"/>
          </a:ln>
        </p:spPr>
        <p:txBody>
          <a:bodyPr lIns="0" tIns="0" rIns="0" bIns="0" anchor="t">
            <a:noAutofit/>
          </a:bodyPr>
          <a:lstStyle/>
          <a:p>
            <a:pPr algn="l">
              <a:buNone/>
              <a:defRPr sz="1500" b="1">
                <a:solidFill>
                  <a:srgbClr val="10B981"/>
                </a:solidFill>
                <a:latin typeface="Hiragino Sans"/>
                <a:ea typeface="Hiragino Sans"/>
                <a:cs typeface="Hiragino Sans"/>
              </a:defRPr>
            </a:pPr>
            <a:r>
              <a:rPr lang="ja-JP" sz="1500" b="1" noProof="0">
                <a:solidFill>
                  <a:srgbClr val="10B981"/>
                </a:solidFill>
                <a:latin typeface="Hiragino Sans"/>
                <a:ea typeface="Hiragino Sans"/>
                <a:cs typeface="Hiragino Sans"/>
              </a:rPr>
              <a:t>提案：予測 Top-1 / Top-2 に絞る</a:t>
            </a:r>
          </a:p>
        </p:txBody>
      </p:sp>
      <p:sp>
        <p:nvSpPr>
          <p:cNvPr id="84" name="step-box">
            <a:extLst>
              <a:ext uri="{FF2B5EF4-FFF2-40B4-BE49-F238E27FC236}">
                <a16:creationId xmlns:a16="http://schemas.microsoft.com/office/drawing/2014/main" id="{9F4127C3-45C5-A9AD-FA3A-84FD5C8F52F0}"/>
              </a:ext>
            </a:extLst>
          </p:cNvPr>
          <p:cNvSpPr>
            <a:spLocks noGrp="1"/>
          </p:cNvSpPr>
          <p:nvPr/>
        </p:nvSpPr>
        <p:spPr>
          <a:xfrm>
            <a:off x="514350" y="3300000"/>
            <a:ext cx="1952625" cy="1050000"/>
          </a:xfrm>
          <a:prstGeom prst="rect">
            <a:avLst/>
          </a:prstGeom>
          <a:solidFill>
            <a:srgbClr val="D1FAE5"/>
          </a:solidFill>
          <a:ln w="19050">
            <a:solidFill>
              <a:srgbClr val="10B981"/>
            </a:solidFill>
            <a:prstDash val="solid"/>
          </a:ln>
        </p:spPr>
        <p:txBody>
          <a:bodyPr/>
          <a:lstStyle/>
          <a:p>
            <a:endParaRPr lang="ja-JP" noProof="0"/>
          </a:p>
        </p:txBody>
      </p:sp>
      <p:sp>
        <p:nvSpPr>
          <p:cNvPr id="85" name="step-num">
            <a:extLst>
              <a:ext uri="{FF2B5EF4-FFF2-40B4-BE49-F238E27FC236}">
                <a16:creationId xmlns:a16="http://schemas.microsoft.com/office/drawing/2014/main" id="{E9E8DA75-FD44-CE82-B39E-FA1EE72F622D}"/>
              </a:ext>
            </a:extLst>
          </p:cNvPr>
          <p:cNvSpPr>
            <a:spLocks noGrp="1"/>
          </p:cNvSpPr>
          <p:nvPr/>
        </p:nvSpPr>
        <p:spPr>
          <a:xfrm>
            <a:off x="685800" y="3400000"/>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lang="ja-JP" sz="1150" b="1" noProof="0">
                <a:solidFill>
                  <a:srgbClr val="10B981"/>
                </a:solidFill>
                <a:latin typeface="Hiragino Sans"/>
                <a:ea typeface="Hiragino Sans"/>
                <a:cs typeface="Hiragino Sans"/>
              </a:rPr>
              <a:t>01</a:t>
            </a:r>
          </a:p>
        </p:txBody>
      </p:sp>
      <p:sp>
        <p:nvSpPr>
          <p:cNvPr id="86" name="step-label">
            <a:extLst>
              <a:ext uri="{FF2B5EF4-FFF2-40B4-BE49-F238E27FC236}">
                <a16:creationId xmlns:a16="http://schemas.microsoft.com/office/drawing/2014/main" id="{CB83A605-7D82-3B23-4322-DDF10B0D6005}"/>
              </a:ext>
            </a:extLst>
          </p:cNvPr>
          <p:cNvSpPr>
            <a:spLocks noGrp="1"/>
          </p:cNvSpPr>
          <p:nvPr/>
        </p:nvSpPr>
        <p:spPr>
          <a:xfrm>
            <a:off x="685800" y="37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予測1位・2位を</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選ぶ</a:t>
            </a:r>
          </a:p>
        </p:txBody>
      </p:sp>
      <p:sp>
        <p:nvSpPr>
          <p:cNvPr id="87" name="step-box">
            <a:extLst>
              <a:ext uri="{FF2B5EF4-FFF2-40B4-BE49-F238E27FC236}">
                <a16:creationId xmlns:a16="http://schemas.microsoft.com/office/drawing/2014/main" id="{9CEF9780-9B14-09AB-FC0A-2A38C0C2BB42}"/>
              </a:ext>
            </a:extLst>
          </p:cNvPr>
          <p:cNvSpPr>
            <a:spLocks noGrp="1"/>
          </p:cNvSpPr>
          <p:nvPr/>
        </p:nvSpPr>
        <p:spPr>
          <a:xfrm>
            <a:off x="2800350" y="3300000"/>
            <a:ext cx="1952625" cy="1050000"/>
          </a:xfrm>
          <a:prstGeom prst="rect">
            <a:avLst/>
          </a:prstGeom>
          <a:solidFill>
            <a:srgbClr val="D1FAE5"/>
          </a:solidFill>
          <a:ln w="19050">
            <a:solidFill>
              <a:srgbClr val="10B981"/>
            </a:solidFill>
            <a:prstDash val="solid"/>
          </a:ln>
        </p:spPr>
        <p:txBody>
          <a:bodyPr/>
          <a:lstStyle/>
          <a:p>
            <a:endParaRPr lang="ja-JP" noProof="0"/>
          </a:p>
        </p:txBody>
      </p:sp>
      <p:sp>
        <p:nvSpPr>
          <p:cNvPr id="88" name="step-num">
            <a:extLst>
              <a:ext uri="{FF2B5EF4-FFF2-40B4-BE49-F238E27FC236}">
                <a16:creationId xmlns:a16="http://schemas.microsoft.com/office/drawing/2014/main" id="{74E53596-FB3A-CF60-1DDA-48B80F37D4BF}"/>
              </a:ext>
            </a:extLst>
          </p:cNvPr>
          <p:cNvSpPr>
            <a:spLocks noGrp="1"/>
          </p:cNvSpPr>
          <p:nvPr/>
        </p:nvSpPr>
        <p:spPr>
          <a:xfrm>
            <a:off x="2971800" y="3400000"/>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lang="ja-JP" sz="1150" b="1" noProof="0">
                <a:solidFill>
                  <a:srgbClr val="10B981"/>
                </a:solidFill>
                <a:latin typeface="Hiragino Sans"/>
                <a:ea typeface="Hiragino Sans"/>
                <a:cs typeface="Hiragino Sans"/>
              </a:rPr>
              <a:t>02</a:t>
            </a:r>
          </a:p>
        </p:txBody>
      </p:sp>
      <p:sp>
        <p:nvSpPr>
          <p:cNvPr id="89" name="step-label">
            <a:extLst>
              <a:ext uri="{FF2B5EF4-FFF2-40B4-BE49-F238E27FC236}">
                <a16:creationId xmlns:a16="http://schemas.microsoft.com/office/drawing/2014/main" id="{FB65E177-1EBB-42EE-EB71-268753355E73}"/>
              </a:ext>
            </a:extLst>
          </p:cNvPr>
          <p:cNvSpPr>
            <a:spLocks noGrp="1"/>
          </p:cNvSpPr>
          <p:nvPr/>
        </p:nvSpPr>
        <p:spPr>
          <a:xfrm>
            <a:off x="2971800" y="37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近傍サンプルを</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生成する</a:t>
            </a:r>
          </a:p>
        </p:txBody>
      </p:sp>
      <p:sp>
        <p:nvSpPr>
          <p:cNvPr id="90" name="step-box">
            <a:extLst>
              <a:ext uri="{FF2B5EF4-FFF2-40B4-BE49-F238E27FC236}">
                <a16:creationId xmlns:a16="http://schemas.microsoft.com/office/drawing/2014/main" id="{6C90425F-CDFF-43B5-6D53-5D138814CC42}"/>
              </a:ext>
            </a:extLst>
          </p:cNvPr>
          <p:cNvSpPr>
            <a:spLocks noGrp="1"/>
          </p:cNvSpPr>
          <p:nvPr/>
        </p:nvSpPr>
        <p:spPr>
          <a:xfrm>
            <a:off x="5086350" y="3300000"/>
            <a:ext cx="1952625" cy="1050000"/>
          </a:xfrm>
          <a:prstGeom prst="rect">
            <a:avLst/>
          </a:prstGeom>
          <a:solidFill>
            <a:srgbClr val="D1FAE5"/>
          </a:solidFill>
          <a:ln w="19050">
            <a:solidFill>
              <a:srgbClr val="10B981"/>
            </a:solidFill>
            <a:prstDash val="solid"/>
          </a:ln>
        </p:spPr>
        <p:txBody>
          <a:bodyPr/>
          <a:lstStyle/>
          <a:p>
            <a:endParaRPr lang="ja-JP" noProof="0"/>
          </a:p>
        </p:txBody>
      </p:sp>
      <p:sp>
        <p:nvSpPr>
          <p:cNvPr id="91" name="step-num">
            <a:extLst>
              <a:ext uri="{FF2B5EF4-FFF2-40B4-BE49-F238E27FC236}">
                <a16:creationId xmlns:a16="http://schemas.microsoft.com/office/drawing/2014/main" id="{F5DF4A1A-CFF9-5AFF-1A93-D5A5234D46C0}"/>
              </a:ext>
            </a:extLst>
          </p:cNvPr>
          <p:cNvSpPr>
            <a:spLocks noGrp="1"/>
          </p:cNvSpPr>
          <p:nvPr/>
        </p:nvSpPr>
        <p:spPr>
          <a:xfrm>
            <a:off x="5257800" y="3400000"/>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lang="ja-JP" sz="1150" b="1" noProof="0">
                <a:solidFill>
                  <a:srgbClr val="10B981"/>
                </a:solidFill>
                <a:latin typeface="Hiragino Sans"/>
                <a:ea typeface="Hiragino Sans"/>
                <a:cs typeface="Hiragino Sans"/>
              </a:rPr>
              <a:t>03</a:t>
            </a:r>
          </a:p>
        </p:txBody>
      </p:sp>
      <p:sp>
        <p:nvSpPr>
          <p:cNvPr id="92" name="step-label">
            <a:extLst>
              <a:ext uri="{FF2B5EF4-FFF2-40B4-BE49-F238E27FC236}">
                <a16:creationId xmlns:a16="http://schemas.microsoft.com/office/drawing/2014/main" id="{8ED1349A-53EA-E30B-9034-E3B1F175AE4C}"/>
              </a:ext>
            </a:extLst>
          </p:cNvPr>
          <p:cNvSpPr>
            <a:spLocks noGrp="1"/>
          </p:cNvSpPr>
          <p:nvPr/>
        </p:nvSpPr>
        <p:spPr>
          <a:xfrm>
            <a:off x="5257800" y="37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q(対数比など)を</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1回だけ回帰</a:t>
            </a:r>
          </a:p>
        </p:txBody>
      </p:sp>
      <p:sp>
        <p:nvSpPr>
          <p:cNvPr id="93" name="step-box">
            <a:extLst>
              <a:ext uri="{FF2B5EF4-FFF2-40B4-BE49-F238E27FC236}">
                <a16:creationId xmlns:a16="http://schemas.microsoft.com/office/drawing/2014/main" id="{3006F25E-6210-7FF0-D75B-2DC18270AF63}"/>
              </a:ext>
            </a:extLst>
          </p:cNvPr>
          <p:cNvSpPr>
            <a:spLocks noGrp="1"/>
          </p:cNvSpPr>
          <p:nvPr/>
        </p:nvSpPr>
        <p:spPr>
          <a:xfrm>
            <a:off x="7372350" y="3300000"/>
            <a:ext cx="1952625" cy="1050000"/>
          </a:xfrm>
          <a:prstGeom prst="rect">
            <a:avLst/>
          </a:prstGeom>
          <a:solidFill>
            <a:srgbClr val="D1FAE5"/>
          </a:solidFill>
          <a:ln w="19050">
            <a:solidFill>
              <a:srgbClr val="10B981"/>
            </a:solidFill>
            <a:prstDash val="solid"/>
          </a:ln>
        </p:spPr>
        <p:txBody>
          <a:bodyPr/>
          <a:lstStyle/>
          <a:p>
            <a:endParaRPr lang="ja-JP" noProof="0"/>
          </a:p>
        </p:txBody>
      </p:sp>
      <p:sp>
        <p:nvSpPr>
          <p:cNvPr id="94" name="step-num">
            <a:extLst>
              <a:ext uri="{FF2B5EF4-FFF2-40B4-BE49-F238E27FC236}">
                <a16:creationId xmlns:a16="http://schemas.microsoft.com/office/drawing/2014/main" id="{C4A88176-8399-331A-F925-3D44B634DDCA}"/>
              </a:ext>
            </a:extLst>
          </p:cNvPr>
          <p:cNvSpPr>
            <a:spLocks noGrp="1"/>
          </p:cNvSpPr>
          <p:nvPr/>
        </p:nvSpPr>
        <p:spPr>
          <a:xfrm>
            <a:off x="7543800" y="3400000"/>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lang="ja-JP" sz="1150" b="1" noProof="0">
                <a:solidFill>
                  <a:srgbClr val="10B981"/>
                </a:solidFill>
                <a:latin typeface="Hiragino Sans"/>
                <a:ea typeface="Hiragino Sans"/>
                <a:cs typeface="Hiragino Sans"/>
              </a:rPr>
              <a:t>04</a:t>
            </a:r>
          </a:p>
        </p:txBody>
      </p:sp>
      <p:sp>
        <p:nvSpPr>
          <p:cNvPr id="95" name="step-label">
            <a:extLst>
              <a:ext uri="{FF2B5EF4-FFF2-40B4-BE49-F238E27FC236}">
                <a16:creationId xmlns:a16="http://schemas.microsoft.com/office/drawing/2014/main" id="{0A9C6FE7-42D0-1FC1-F2B8-387C05482D4E}"/>
              </a:ext>
            </a:extLst>
          </p:cNvPr>
          <p:cNvSpPr>
            <a:spLocks noGrp="1"/>
          </p:cNvSpPr>
          <p:nvPr/>
        </p:nvSpPr>
        <p:spPr>
          <a:xfrm>
            <a:off x="7543800" y="37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特徴を1回だけ</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K個選ぶ</a:t>
            </a:r>
          </a:p>
        </p:txBody>
      </p:sp>
      <p:sp>
        <p:nvSpPr>
          <p:cNvPr id="96" name="step-box">
            <a:extLst>
              <a:ext uri="{FF2B5EF4-FFF2-40B4-BE49-F238E27FC236}">
                <a16:creationId xmlns:a16="http://schemas.microsoft.com/office/drawing/2014/main" id="{4F12206D-F8F7-05B1-9F64-4642C05F1D67}"/>
              </a:ext>
            </a:extLst>
          </p:cNvPr>
          <p:cNvSpPr>
            <a:spLocks noGrp="1"/>
          </p:cNvSpPr>
          <p:nvPr/>
        </p:nvSpPr>
        <p:spPr>
          <a:xfrm>
            <a:off x="9658350" y="3300000"/>
            <a:ext cx="1952625" cy="1050000"/>
          </a:xfrm>
          <a:prstGeom prst="rect">
            <a:avLst/>
          </a:prstGeom>
          <a:solidFill>
            <a:srgbClr val="D1FAE5"/>
          </a:solidFill>
          <a:ln w="19050">
            <a:solidFill>
              <a:srgbClr val="10B981"/>
            </a:solidFill>
            <a:prstDash val="solid"/>
          </a:ln>
        </p:spPr>
        <p:txBody>
          <a:bodyPr/>
          <a:lstStyle/>
          <a:p>
            <a:endParaRPr lang="ja-JP" noProof="0"/>
          </a:p>
        </p:txBody>
      </p:sp>
      <p:sp>
        <p:nvSpPr>
          <p:cNvPr id="97" name="step-num">
            <a:extLst>
              <a:ext uri="{FF2B5EF4-FFF2-40B4-BE49-F238E27FC236}">
                <a16:creationId xmlns:a16="http://schemas.microsoft.com/office/drawing/2014/main" id="{3455EB09-7C39-F91A-4D8E-469F18B15BC0}"/>
              </a:ext>
            </a:extLst>
          </p:cNvPr>
          <p:cNvSpPr>
            <a:spLocks noGrp="1"/>
          </p:cNvSpPr>
          <p:nvPr/>
        </p:nvSpPr>
        <p:spPr>
          <a:xfrm>
            <a:off x="9829800" y="3400000"/>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lang="ja-JP" sz="1150" b="1" noProof="0">
                <a:solidFill>
                  <a:srgbClr val="10B981"/>
                </a:solidFill>
                <a:latin typeface="Hiragino Sans"/>
                <a:ea typeface="Hiragino Sans"/>
                <a:cs typeface="Hiragino Sans"/>
              </a:rPr>
              <a:t>05</a:t>
            </a:r>
          </a:p>
        </p:txBody>
      </p:sp>
      <p:sp>
        <p:nvSpPr>
          <p:cNvPr id="98" name="step-label">
            <a:extLst>
              <a:ext uri="{FF2B5EF4-FFF2-40B4-BE49-F238E27FC236}">
                <a16:creationId xmlns:a16="http://schemas.microsoft.com/office/drawing/2014/main" id="{A60FF866-27C3-FF70-FA8D-7E4967B8E6F7}"/>
              </a:ext>
            </a:extLst>
          </p:cNvPr>
          <p:cNvSpPr>
            <a:spLocks noGrp="1"/>
          </p:cNvSpPr>
          <p:nvPr/>
        </p:nvSpPr>
        <p:spPr>
          <a:xfrm>
            <a:off x="9829800" y="3700000"/>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AとBを分ける</a:t>
            </a:r>
          </a:p>
          <a:p>
            <a:pPr algn="ctr">
              <a:buNone/>
              <a:defRPr sz="1250" b="1">
                <a:solidFill>
                  <a:srgbClr val="111827"/>
                </a:solidFill>
                <a:latin typeface="Hiragino Sans"/>
                <a:ea typeface="Hiragino Sans"/>
                <a:cs typeface="Hiragino Sans"/>
              </a:defRPr>
            </a:pPr>
            <a:r>
              <a:rPr lang="ja-JP" sz="1250" b="1" noProof="0">
                <a:solidFill>
                  <a:srgbClr val="111827"/>
                </a:solidFill>
                <a:latin typeface="Hiragino Sans"/>
                <a:ea typeface="Hiragino Sans"/>
                <a:cs typeface="Hiragino Sans"/>
              </a:rPr>
              <a:t>説明が1つ</a:t>
            </a:r>
          </a:p>
        </p:txBody>
      </p:sp>
      <p:cxnSp>
        <p:nvCxnSpPr>
          <p:cNvPr id="103" name="divider">
            <a:extLst>
              <a:ext uri="{FF2B5EF4-FFF2-40B4-BE49-F238E27FC236}">
                <a16:creationId xmlns:a16="http://schemas.microsoft.com/office/drawing/2014/main" id="{8F2B9C08-9602-FD88-3D6A-D97E194A8D83}"/>
              </a:ext>
            </a:extLst>
          </p:cNvPr>
          <p:cNvCxnSpPr/>
          <p:nvPr/>
        </p:nvCxnSpPr>
        <p:spPr>
          <a:xfrm>
            <a:off x="514350" y="4500000"/>
            <a:ext cx="11049000" cy="0"/>
          </a:xfrm>
          <a:prstGeom prst="straightConnector1">
            <a:avLst/>
          </a:prstGeom>
          <a:ln w="19050">
            <a:solidFill>
              <a:srgbClr val="CBD5E1"/>
            </a:solidFill>
            <a:prstDash val="solid"/>
          </a:ln>
        </p:spPr>
      </p:cxnSp>
      <p:sp>
        <p:nvSpPr>
          <p:cNvPr id="104" name="diff1-title">
            <a:extLst>
              <a:ext uri="{FF2B5EF4-FFF2-40B4-BE49-F238E27FC236}">
                <a16:creationId xmlns:a16="http://schemas.microsoft.com/office/drawing/2014/main" id="{5B8051EC-AE21-11BF-BEF9-5B416611EA61}"/>
              </a:ext>
            </a:extLst>
          </p:cNvPr>
          <p:cNvSpPr>
            <a:spLocks noGrp="1"/>
          </p:cNvSpPr>
          <p:nvPr/>
        </p:nvSpPr>
        <p:spPr>
          <a:xfrm>
            <a:off x="762000" y="4650000"/>
            <a:ext cx="5000000" cy="300000"/>
          </a:xfrm>
          <a:prstGeom prst="rect">
            <a:avLst/>
          </a:prstGeom>
          <a:noFill/>
          <a:ln w="0">
            <a:noFill/>
            <a:prstDash val="solid"/>
          </a:ln>
        </p:spPr>
        <p:txBody>
          <a:bodyPr lIns="0" tIns="0" rIns="0" bIns="0" anchor="t">
            <a:noAutofit/>
          </a:bodyPr>
          <a:lstStyle/>
          <a:p>
            <a:pPr algn="l">
              <a:buNone/>
              <a:defRPr sz="1350" b="1">
                <a:solidFill>
                  <a:srgbClr val="17233D"/>
                </a:solidFill>
                <a:latin typeface="Hiragino Sans"/>
                <a:ea typeface="Hiragino Sans"/>
                <a:cs typeface="Hiragino Sans"/>
              </a:defRPr>
            </a:pPr>
            <a:r>
              <a:rPr lang="ja-JP" sz="1350" b="1" noProof="0">
                <a:solidFill>
                  <a:srgbClr val="17233D"/>
                </a:solidFill>
                <a:latin typeface="Hiragino Sans"/>
                <a:ea typeface="Hiragino Sans"/>
                <a:cs typeface="Hiragino Sans"/>
              </a:rPr>
              <a:t>① 回帰する対象が違う</a:t>
            </a:r>
          </a:p>
        </p:txBody>
      </p:sp>
      <p:sp>
        <p:nvSpPr>
          <p:cNvPr id="105" name="diff1-desc">
            <a:extLst>
              <a:ext uri="{FF2B5EF4-FFF2-40B4-BE49-F238E27FC236}">
                <a16:creationId xmlns:a16="http://schemas.microsoft.com/office/drawing/2014/main" id="{F15A8B95-68CB-5EC3-04F8-8FD6886D8C49}"/>
              </a:ext>
            </a:extLst>
          </p:cNvPr>
          <p:cNvSpPr>
            <a:spLocks noGrp="1"/>
          </p:cNvSpPr>
          <p:nvPr/>
        </p:nvSpPr>
        <p:spPr>
          <a:xfrm>
            <a:off x="762000" y="4990000"/>
            <a:ext cx="5000000" cy="600000"/>
          </a:xfrm>
          <a:prstGeom prst="rect">
            <a:avLst/>
          </a:prstGeom>
          <a:noFill/>
          <a:ln w="0">
            <a:noFill/>
            <a:prstDash val="solid"/>
          </a:ln>
        </p:spPr>
        <p:txBody>
          <a:bodyPr lIns="0" tIns="0" rIns="0" bIns="0" anchor="t">
            <a:noAutofit/>
          </a:bodyPr>
          <a:lstStyle/>
          <a:p>
            <a:pPr algn="l">
              <a:buNone/>
              <a:defRPr sz="1150" b="0">
                <a:solidFill>
                  <a:srgbClr val="64748B"/>
                </a:solidFill>
                <a:latin typeface="Hiragino Sans"/>
                <a:ea typeface="Hiragino Sans"/>
                <a:cs typeface="Hiragino Sans"/>
              </a:defRPr>
            </a:pPr>
            <a:r>
              <a:rPr lang="ja-JP" sz="1150" b="0" noProof="0">
                <a:solidFill>
                  <a:srgbClr val="64748B"/>
                </a:solidFill>
                <a:latin typeface="Hiragino Sans"/>
                <a:ea typeface="Hiragino Sans"/>
                <a:cs typeface="Hiragino Sans"/>
              </a:rPr>
              <a:t>OVR：各クラスの確率をそれぞれ回帰</a:t>
            </a:r>
          </a:p>
          <a:p>
            <a:pPr algn="l">
              <a:buNone/>
              <a:defRPr sz="1150" b="0">
                <a:solidFill>
                  <a:srgbClr val="64748B"/>
                </a:solidFill>
                <a:latin typeface="Hiragino Sans"/>
                <a:ea typeface="Hiragino Sans"/>
                <a:cs typeface="Hiragino Sans"/>
              </a:defRPr>
            </a:pPr>
            <a:r>
              <a:rPr lang="ja-JP" sz="1150" b="0" noProof="0">
                <a:solidFill>
                  <a:srgbClr val="64748B"/>
                </a:solidFill>
                <a:latin typeface="Hiragino Sans"/>
                <a:ea typeface="Hiragino Sans"/>
                <a:cs typeface="Hiragino Sans"/>
              </a:rPr>
              <a:t>提案：2クラスの確率比 q（または対数比）を回帰</a:t>
            </a:r>
          </a:p>
        </p:txBody>
      </p:sp>
      <p:sp>
        <p:nvSpPr>
          <p:cNvPr id="106" name="diff2-title">
            <a:extLst>
              <a:ext uri="{FF2B5EF4-FFF2-40B4-BE49-F238E27FC236}">
                <a16:creationId xmlns:a16="http://schemas.microsoft.com/office/drawing/2014/main" id="{A1E2E2E4-F630-5C06-165F-64642B86D613}"/>
              </a:ext>
            </a:extLst>
          </p:cNvPr>
          <p:cNvSpPr>
            <a:spLocks noGrp="1"/>
          </p:cNvSpPr>
          <p:nvPr/>
        </p:nvSpPr>
        <p:spPr>
          <a:xfrm>
            <a:off x="6200000" y="4650000"/>
            <a:ext cx="5000000" cy="300000"/>
          </a:xfrm>
          <a:prstGeom prst="rect">
            <a:avLst/>
          </a:prstGeom>
          <a:noFill/>
          <a:ln w="0">
            <a:noFill/>
            <a:prstDash val="solid"/>
          </a:ln>
        </p:spPr>
        <p:txBody>
          <a:bodyPr lIns="0" tIns="0" rIns="0" bIns="0" anchor="t">
            <a:noAutofit/>
          </a:bodyPr>
          <a:lstStyle/>
          <a:p>
            <a:pPr algn="l">
              <a:buNone/>
              <a:defRPr sz="1350" b="1">
                <a:solidFill>
                  <a:srgbClr val="17233D"/>
                </a:solidFill>
                <a:latin typeface="Hiragino Sans"/>
                <a:ea typeface="Hiragino Sans"/>
                <a:cs typeface="Hiragino Sans"/>
              </a:defRPr>
            </a:pPr>
            <a:r>
              <a:rPr lang="ja-JP" sz="1350" b="1" noProof="0">
                <a:solidFill>
                  <a:srgbClr val="17233D"/>
                </a:solidFill>
                <a:latin typeface="Hiragino Sans"/>
                <a:ea typeface="Hiragino Sans"/>
                <a:cs typeface="Hiragino Sans"/>
              </a:rPr>
              <a:t>② できる説明の数が違う</a:t>
            </a:r>
          </a:p>
        </p:txBody>
      </p:sp>
      <p:sp>
        <p:nvSpPr>
          <p:cNvPr id="107" name="diff2-desc">
            <a:extLst>
              <a:ext uri="{FF2B5EF4-FFF2-40B4-BE49-F238E27FC236}">
                <a16:creationId xmlns:a16="http://schemas.microsoft.com/office/drawing/2014/main" id="{AB6B1FE5-9207-E84C-F246-10758C4C042D}"/>
              </a:ext>
            </a:extLst>
          </p:cNvPr>
          <p:cNvSpPr>
            <a:spLocks noGrp="1"/>
          </p:cNvSpPr>
          <p:nvPr/>
        </p:nvSpPr>
        <p:spPr>
          <a:xfrm>
            <a:off x="6200000" y="4990000"/>
            <a:ext cx="5000000" cy="600000"/>
          </a:xfrm>
          <a:prstGeom prst="rect">
            <a:avLst/>
          </a:prstGeom>
          <a:noFill/>
          <a:ln w="0">
            <a:noFill/>
            <a:prstDash val="solid"/>
          </a:ln>
        </p:spPr>
        <p:txBody>
          <a:bodyPr lIns="0" tIns="0" rIns="0" bIns="0" anchor="t">
            <a:noAutofit/>
          </a:bodyPr>
          <a:lstStyle/>
          <a:p>
            <a:pPr algn="l">
              <a:buNone/>
              <a:defRPr sz="1150" b="0">
                <a:solidFill>
                  <a:srgbClr val="64748B"/>
                </a:solidFill>
                <a:latin typeface="Hiragino Sans"/>
                <a:ea typeface="Hiragino Sans"/>
                <a:cs typeface="Hiragino Sans"/>
              </a:defRPr>
            </a:pPr>
            <a:r>
              <a:rPr lang="ja-JP" sz="1150" b="0" noProof="0">
                <a:solidFill>
                  <a:srgbClr val="64748B"/>
                </a:solidFill>
                <a:latin typeface="Hiragino Sans"/>
                <a:ea typeface="Hiragino Sans"/>
                <a:cs typeface="Hiragino Sans"/>
              </a:rPr>
              <a:t>OVR：クラスの数だけ（C個）の説明ができる</a:t>
            </a:r>
          </a:p>
          <a:p>
            <a:pPr algn="l">
              <a:buNone/>
              <a:defRPr sz="1150" b="0">
                <a:solidFill>
                  <a:srgbClr val="64748B"/>
                </a:solidFill>
                <a:latin typeface="Hiragino Sans"/>
                <a:ea typeface="Hiragino Sans"/>
                <a:cs typeface="Hiragino Sans"/>
              </a:defRPr>
            </a:pPr>
            <a:r>
              <a:rPr lang="ja-JP" sz="1150" b="0" noProof="0">
                <a:solidFill>
                  <a:srgbClr val="64748B"/>
                </a:solidFill>
                <a:latin typeface="Hiragino Sans"/>
                <a:ea typeface="Hiragino Sans"/>
                <a:cs typeface="Hiragino Sans"/>
              </a:rPr>
              <a:t>提案：AとBを区別する説明が常に1つ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37429-54F9-064E-F0CB-79A3FFC9E199}"/>
            </a:ext>
          </a:extLst>
        </p:cNvPr>
        <p:cNvGrpSpPr/>
        <p:nvPr/>
      </p:nvGrpSpPr>
      <p:grpSpPr>
        <a:xfrm>
          <a:off x="0" y="0"/>
          <a:ext cx="0" cy="0"/>
          <a:chOff x="0" y="0"/>
          <a:chExt cx="0" cy="0"/>
        </a:xfrm>
      </p:grpSpPr>
      <p:sp>
        <p:nvSpPr>
          <p:cNvPr id="2" name="accent-bar">
            <a:extLst>
              <a:ext uri="{FF2B5EF4-FFF2-40B4-BE49-F238E27FC236}">
                <a16:creationId xmlns:a16="http://schemas.microsoft.com/office/drawing/2014/main" id="{AAA851A5-44E8-1BBB-AF2B-9212309EEFD3}"/>
              </a:ext>
            </a:extLst>
          </p:cNvPr>
          <p:cNvSpPr>
            <a:spLocks noGrp="1"/>
          </p:cNvSpPr>
          <p:nvPr/>
        </p:nvSpPr>
        <p:spPr>
          <a:xfrm>
            <a:off x="514350" y="409575"/>
            <a:ext cx="114300" cy="476250"/>
          </a:xfrm>
          <a:prstGeom prst="rect">
            <a:avLst/>
          </a:prstGeom>
          <a:solidFill>
            <a:srgbClr val="1479C9"/>
          </a:solidFill>
          <a:ln w="0">
            <a:noFill/>
            <a:prstDash val="solid"/>
          </a:ln>
        </p:spPr>
        <p:txBody>
          <a:bodyPr/>
          <a:lstStyle/>
          <a:p>
            <a:endParaRPr/>
          </a:p>
        </p:txBody>
      </p:sp>
      <p:sp>
        <p:nvSpPr>
          <p:cNvPr id="3" name="title">
            <a:extLst>
              <a:ext uri="{FF2B5EF4-FFF2-40B4-BE49-F238E27FC236}">
                <a16:creationId xmlns:a16="http://schemas.microsoft.com/office/drawing/2014/main" id="{B377DD97-5DE6-ADDB-0B78-66A6CC488E6B}"/>
              </a:ext>
            </a:extLst>
          </p:cNvPr>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提案手法の全体像：OVRとの違い</a:t>
            </a:r>
          </a:p>
        </p:txBody>
      </p:sp>
      <p:sp>
        <p:nvSpPr>
          <p:cNvPr id="27" name="prop-label">
            <a:extLst>
              <a:ext uri="{FF2B5EF4-FFF2-40B4-BE49-F238E27FC236}">
                <a16:creationId xmlns:a16="http://schemas.microsoft.com/office/drawing/2014/main" id="{65FA73CB-AD93-0113-A910-0CB73CF27289}"/>
              </a:ext>
            </a:extLst>
          </p:cNvPr>
          <p:cNvSpPr>
            <a:spLocks noGrp="1"/>
          </p:cNvSpPr>
          <p:nvPr/>
        </p:nvSpPr>
        <p:spPr>
          <a:xfrm>
            <a:off x="514350" y="1122051"/>
            <a:ext cx="6000000" cy="300000"/>
          </a:xfrm>
          <a:prstGeom prst="rect">
            <a:avLst/>
          </a:prstGeom>
          <a:noFill/>
          <a:ln w="0">
            <a:noFill/>
            <a:prstDash val="solid"/>
          </a:ln>
        </p:spPr>
        <p:txBody>
          <a:bodyPr lIns="0" tIns="0" rIns="0" bIns="0" anchor="t">
            <a:noAutofit/>
          </a:bodyPr>
          <a:lstStyle/>
          <a:p>
            <a:pPr algn="l">
              <a:buNone/>
              <a:defRPr sz="1500" b="1">
                <a:solidFill>
                  <a:srgbClr val="10B981"/>
                </a:solidFill>
                <a:latin typeface="Hiragino Sans"/>
                <a:ea typeface="Hiragino Sans"/>
                <a:cs typeface="Hiragino Sans"/>
              </a:defRPr>
            </a:pPr>
            <a:r>
              <a:rPr sz="1500" b="1">
                <a:solidFill>
                  <a:srgbClr val="10B981"/>
                </a:solidFill>
                <a:latin typeface="Hiragino Sans"/>
                <a:ea typeface="Hiragino Sans"/>
                <a:cs typeface="Hiragino Sans"/>
              </a:rPr>
              <a:t>提案：予測 Top-1 / Top-2 に絞る</a:t>
            </a:r>
          </a:p>
        </p:txBody>
      </p:sp>
      <p:sp>
        <p:nvSpPr>
          <p:cNvPr id="28" name="step-box">
            <a:extLst>
              <a:ext uri="{FF2B5EF4-FFF2-40B4-BE49-F238E27FC236}">
                <a16:creationId xmlns:a16="http://schemas.microsoft.com/office/drawing/2014/main" id="{74544560-BACD-12D9-BA7A-3BCD816F18D3}"/>
              </a:ext>
            </a:extLst>
          </p:cNvPr>
          <p:cNvSpPr>
            <a:spLocks noGrp="1"/>
          </p:cNvSpPr>
          <p:nvPr/>
        </p:nvSpPr>
        <p:spPr>
          <a:xfrm>
            <a:off x="514350" y="1492051"/>
            <a:ext cx="1952625" cy="1050000"/>
          </a:xfrm>
          <a:prstGeom prst="rect">
            <a:avLst/>
          </a:prstGeom>
          <a:solidFill>
            <a:srgbClr val="D1FAE5">
              <a:alpha val="34260"/>
            </a:srgbClr>
          </a:solidFill>
          <a:ln w="19050">
            <a:solidFill>
              <a:srgbClr val="10B981">
                <a:alpha val="49000"/>
              </a:srgbClr>
            </a:solidFill>
            <a:prstDash val="solid"/>
          </a:ln>
        </p:spPr>
        <p:txBody>
          <a:bodyPr/>
          <a:lstStyle/>
          <a:p>
            <a:endParaRPr/>
          </a:p>
        </p:txBody>
      </p:sp>
      <p:sp>
        <p:nvSpPr>
          <p:cNvPr id="29" name="step-num">
            <a:extLst>
              <a:ext uri="{FF2B5EF4-FFF2-40B4-BE49-F238E27FC236}">
                <a16:creationId xmlns:a16="http://schemas.microsoft.com/office/drawing/2014/main" id="{3AD8E69F-2402-6DE0-5316-8C8946BEC6F7}"/>
              </a:ext>
            </a:extLst>
          </p:cNvPr>
          <p:cNvSpPr>
            <a:spLocks noGrp="1"/>
          </p:cNvSpPr>
          <p:nvPr/>
        </p:nvSpPr>
        <p:spPr>
          <a:xfrm>
            <a:off x="685800" y="1592051"/>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sz="1150" b="1">
                <a:solidFill>
                  <a:schemeClr val="bg1">
                    <a:lumMod val="85000"/>
                  </a:schemeClr>
                </a:solidFill>
                <a:latin typeface="Hiragino Sans"/>
                <a:ea typeface="Hiragino Sans"/>
                <a:cs typeface="Hiragino Sans"/>
              </a:rPr>
              <a:t>01</a:t>
            </a:r>
          </a:p>
        </p:txBody>
      </p:sp>
      <p:sp>
        <p:nvSpPr>
          <p:cNvPr id="30" name="step-label">
            <a:extLst>
              <a:ext uri="{FF2B5EF4-FFF2-40B4-BE49-F238E27FC236}">
                <a16:creationId xmlns:a16="http://schemas.microsoft.com/office/drawing/2014/main" id="{B2CA8C73-5B68-3C88-D245-F1954D55505A}"/>
              </a:ext>
            </a:extLst>
          </p:cNvPr>
          <p:cNvSpPr>
            <a:spLocks noGrp="1"/>
          </p:cNvSpPr>
          <p:nvPr/>
        </p:nvSpPr>
        <p:spPr>
          <a:xfrm>
            <a:off x="685800" y="1892051"/>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sz="1250" b="1">
                <a:solidFill>
                  <a:schemeClr val="bg1">
                    <a:lumMod val="85000"/>
                  </a:schemeClr>
                </a:solidFill>
                <a:latin typeface="Hiragino Sans"/>
                <a:ea typeface="Hiragino Sans"/>
                <a:cs typeface="Hiragino Sans"/>
              </a:rPr>
              <a:t>予測1位・2位を</a:t>
            </a:r>
          </a:p>
          <a:p>
            <a:pPr algn="ctr">
              <a:buNone/>
              <a:defRPr sz="1250" b="1">
                <a:solidFill>
                  <a:srgbClr val="111827"/>
                </a:solidFill>
                <a:latin typeface="Hiragino Sans"/>
                <a:ea typeface="Hiragino Sans"/>
                <a:cs typeface="Hiragino Sans"/>
              </a:defRPr>
            </a:pPr>
            <a:r>
              <a:rPr sz="1250" b="1">
                <a:solidFill>
                  <a:schemeClr val="bg1">
                    <a:lumMod val="85000"/>
                  </a:schemeClr>
                </a:solidFill>
                <a:latin typeface="Hiragino Sans"/>
                <a:ea typeface="Hiragino Sans"/>
                <a:cs typeface="Hiragino Sans"/>
              </a:rPr>
              <a:t>選ぶ</a:t>
            </a:r>
          </a:p>
        </p:txBody>
      </p:sp>
      <p:sp>
        <p:nvSpPr>
          <p:cNvPr id="31" name="step-box">
            <a:extLst>
              <a:ext uri="{FF2B5EF4-FFF2-40B4-BE49-F238E27FC236}">
                <a16:creationId xmlns:a16="http://schemas.microsoft.com/office/drawing/2014/main" id="{D8F7DF40-EE57-0524-BD18-85A9CF24506D}"/>
              </a:ext>
            </a:extLst>
          </p:cNvPr>
          <p:cNvSpPr>
            <a:spLocks noGrp="1"/>
          </p:cNvSpPr>
          <p:nvPr/>
        </p:nvSpPr>
        <p:spPr>
          <a:xfrm>
            <a:off x="2800350" y="1492051"/>
            <a:ext cx="1952625" cy="1050000"/>
          </a:xfrm>
          <a:prstGeom prst="rect">
            <a:avLst/>
          </a:prstGeom>
          <a:solidFill>
            <a:srgbClr val="D1FAE5">
              <a:alpha val="34260"/>
            </a:srgbClr>
          </a:solidFill>
          <a:ln w="19050">
            <a:solidFill>
              <a:srgbClr val="10B981">
                <a:alpha val="49000"/>
              </a:srgbClr>
            </a:solidFill>
            <a:prstDash val="solid"/>
          </a:ln>
        </p:spPr>
        <p:txBody>
          <a:bodyPr/>
          <a:lstStyle/>
          <a:p>
            <a:endParaRPr/>
          </a:p>
        </p:txBody>
      </p:sp>
      <p:sp>
        <p:nvSpPr>
          <p:cNvPr id="32" name="step-num">
            <a:extLst>
              <a:ext uri="{FF2B5EF4-FFF2-40B4-BE49-F238E27FC236}">
                <a16:creationId xmlns:a16="http://schemas.microsoft.com/office/drawing/2014/main" id="{2BE54151-6799-2D23-8354-ABBF5DCA05C7}"/>
              </a:ext>
            </a:extLst>
          </p:cNvPr>
          <p:cNvSpPr>
            <a:spLocks noGrp="1"/>
          </p:cNvSpPr>
          <p:nvPr/>
        </p:nvSpPr>
        <p:spPr>
          <a:xfrm>
            <a:off x="2971800" y="1592051"/>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sz="1150" b="1">
                <a:solidFill>
                  <a:schemeClr val="bg1">
                    <a:lumMod val="85000"/>
                  </a:schemeClr>
                </a:solidFill>
                <a:latin typeface="Hiragino Sans"/>
                <a:ea typeface="Hiragino Sans"/>
                <a:cs typeface="Hiragino Sans"/>
              </a:rPr>
              <a:t>02</a:t>
            </a:r>
          </a:p>
        </p:txBody>
      </p:sp>
      <p:sp>
        <p:nvSpPr>
          <p:cNvPr id="33" name="step-label">
            <a:extLst>
              <a:ext uri="{FF2B5EF4-FFF2-40B4-BE49-F238E27FC236}">
                <a16:creationId xmlns:a16="http://schemas.microsoft.com/office/drawing/2014/main" id="{E2606E6C-9BF8-9671-D608-BBB341465601}"/>
              </a:ext>
            </a:extLst>
          </p:cNvPr>
          <p:cNvSpPr>
            <a:spLocks noGrp="1"/>
          </p:cNvSpPr>
          <p:nvPr/>
        </p:nvSpPr>
        <p:spPr>
          <a:xfrm>
            <a:off x="2971800" y="1892051"/>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sz="1250" b="1">
                <a:solidFill>
                  <a:schemeClr val="bg1">
                    <a:lumMod val="85000"/>
                  </a:schemeClr>
                </a:solidFill>
                <a:latin typeface="Hiragino Sans"/>
                <a:ea typeface="Hiragino Sans"/>
                <a:cs typeface="Hiragino Sans"/>
              </a:rPr>
              <a:t>近傍サンプルを</a:t>
            </a:r>
          </a:p>
          <a:p>
            <a:pPr algn="ctr">
              <a:buNone/>
              <a:defRPr sz="1250" b="1">
                <a:solidFill>
                  <a:srgbClr val="111827"/>
                </a:solidFill>
                <a:latin typeface="Hiragino Sans"/>
                <a:ea typeface="Hiragino Sans"/>
                <a:cs typeface="Hiragino Sans"/>
              </a:defRPr>
            </a:pPr>
            <a:r>
              <a:rPr sz="1250" b="1">
                <a:solidFill>
                  <a:schemeClr val="bg1">
                    <a:lumMod val="85000"/>
                  </a:schemeClr>
                </a:solidFill>
                <a:latin typeface="Hiragino Sans"/>
                <a:ea typeface="Hiragino Sans"/>
                <a:cs typeface="Hiragino Sans"/>
              </a:rPr>
              <a:t>生成する</a:t>
            </a:r>
          </a:p>
        </p:txBody>
      </p:sp>
      <p:sp>
        <p:nvSpPr>
          <p:cNvPr id="34" name="step-box">
            <a:extLst>
              <a:ext uri="{FF2B5EF4-FFF2-40B4-BE49-F238E27FC236}">
                <a16:creationId xmlns:a16="http://schemas.microsoft.com/office/drawing/2014/main" id="{870DCECC-80D8-4901-05E2-1BFC5E4B48C5}"/>
              </a:ext>
            </a:extLst>
          </p:cNvPr>
          <p:cNvSpPr>
            <a:spLocks noGrp="1"/>
          </p:cNvSpPr>
          <p:nvPr/>
        </p:nvSpPr>
        <p:spPr>
          <a:xfrm>
            <a:off x="5086350" y="1492051"/>
            <a:ext cx="1952625" cy="1050000"/>
          </a:xfrm>
          <a:prstGeom prst="rect">
            <a:avLst/>
          </a:prstGeom>
          <a:solidFill>
            <a:srgbClr val="D1FAE5">
              <a:alpha val="34260"/>
            </a:srgbClr>
          </a:solidFill>
          <a:ln w="19050">
            <a:solidFill>
              <a:srgbClr val="10B981"/>
            </a:solidFill>
            <a:prstDash val="solid"/>
          </a:ln>
        </p:spPr>
        <p:txBody>
          <a:bodyPr/>
          <a:lstStyle/>
          <a:p>
            <a:endParaRPr/>
          </a:p>
        </p:txBody>
      </p:sp>
      <p:sp>
        <p:nvSpPr>
          <p:cNvPr id="35" name="step-num">
            <a:extLst>
              <a:ext uri="{FF2B5EF4-FFF2-40B4-BE49-F238E27FC236}">
                <a16:creationId xmlns:a16="http://schemas.microsoft.com/office/drawing/2014/main" id="{C26B3756-536E-A98A-54E1-AFC6040E5AA1}"/>
              </a:ext>
            </a:extLst>
          </p:cNvPr>
          <p:cNvSpPr>
            <a:spLocks noGrp="1"/>
          </p:cNvSpPr>
          <p:nvPr/>
        </p:nvSpPr>
        <p:spPr>
          <a:xfrm>
            <a:off x="5257800" y="1592051"/>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sz="1150" b="1">
                <a:solidFill>
                  <a:srgbClr val="10B981"/>
                </a:solidFill>
                <a:latin typeface="Hiragino Sans"/>
                <a:ea typeface="Hiragino Sans"/>
                <a:cs typeface="Hiragino Sans"/>
              </a:rPr>
              <a:t>03</a:t>
            </a:r>
          </a:p>
        </p:txBody>
      </p:sp>
      <p:sp>
        <p:nvSpPr>
          <p:cNvPr id="36" name="step-label">
            <a:extLst>
              <a:ext uri="{FF2B5EF4-FFF2-40B4-BE49-F238E27FC236}">
                <a16:creationId xmlns:a16="http://schemas.microsoft.com/office/drawing/2014/main" id="{586FC3A9-75D6-B78D-CFF1-A84AE733ABF0}"/>
              </a:ext>
            </a:extLst>
          </p:cNvPr>
          <p:cNvSpPr>
            <a:spLocks noGrp="1"/>
          </p:cNvSpPr>
          <p:nvPr/>
        </p:nvSpPr>
        <p:spPr>
          <a:xfrm>
            <a:off x="5257800" y="1892051"/>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q(対数比など)を</a:t>
            </a:r>
          </a:p>
          <a:p>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1回だけ回帰</a:t>
            </a:r>
          </a:p>
        </p:txBody>
      </p:sp>
      <p:sp>
        <p:nvSpPr>
          <p:cNvPr id="37" name="step-box">
            <a:extLst>
              <a:ext uri="{FF2B5EF4-FFF2-40B4-BE49-F238E27FC236}">
                <a16:creationId xmlns:a16="http://schemas.microsoft.com/office/drawing/2014/main" id="{8E2111DA-59F1-9E43-8460-715F9108AC27}"/>
              </a:ext>
            </a:extLst>
          </p:cNvPr>
          <p:cNvSpPr>
            <a:spLocks noGrp="1"/>
          </p:cNvSpPr>
          <p:nvPr/>
        </p:nvSpPr>
        <p:spPr>
          <a:xfrm>
            <a:off x="7372350" y="1492051"/>
            <a:ext cx="1952625" cy="1050000"/>
          </a:xfrm>
          <a:prstGeom prst="rect">
            <a:avLst/>
          </a:prstGeom>
          <a:solidFill>
            <a:srgbClr val="D1FAE5">
              <a:alpha val="34260"/>
            </a:srgbClr>
          </a:solidFill>
          <a:ln w="19050">
            <a:solidFill>
              <a:srgbClr val="10B981">
                <a:alpha val="49000"/>
              </a:srgbClr>
            </a:solidFill>
            <a:prstDash val="solid"/>
          </a:ln>
        </p:spPr>
        <p:txBody>
          <a:bodyPr/>
          <a:lstStyle/>
          <a:p>
            <a:endParaRPr/>
          </a:p>
        </p:txBody>
      </p:sp>
      <p:sp>
        <p:nvSpPr>
          <p:cNvPr id="38" name="step-num">
            <a:extLst>
              <a:ext uri="{FF2B5EF4-FFF2-40B4-BE49-F238E27FC236}">
                <a16:creationId xmlns:a16="http://schemas.microsoft.com/office/drawing/2014/main" id="{9A8BB996-7EAC-B2B1-715B-0D8F487715C5}"/>
              </a:ext>
            </a:extLst>
          </p:cNvPr>
          <p:cNvSpPr>
            <a:spLocks noGrp="1"/>
          </p:cNvSpPr>
          <p:nvPr/>
        </p:nvSpPr>
        <p:spPr>
          <a:xfrm>
            <a:off x="7543800" y="1592051"/>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sz="1150" b="1">
                <a:solidFill>
                  <a:schemeClr val="bg1">
                    <a:lumMod val="85000"/>
                  </a:schemeClr>
                </a:solidFill>
                <a:latin typeface="Hiragino Sans"/>
                <a:ea typeface="Hiragino Sans"/>
                <a:cs typeface="Hiragino Sans"/>
              </a:rPr>
              <a:t>04</a:t>
            </a:r>
          </a:p>
        </p:txBody>
      </p:sp>
      <p:sp>
        <p:nvSpPr>
          <p:cNvPr id="39" name="step-label">
            <a:extLst>
              <a:ext uri="{FF2B5EF4-FFF2-40B4-BE49-F238E27FC236}">
                <a16:creationId xmlns:a16="http://schemas.microsoft.com/office/drawing/2014/main" id="{C7CB0132-3299-BCFE-2F5B-670F0D595B30}"/>
              </a:ext>
            </a:extLst>
          </p:cNvPr>
          <p:cNvSpPr>
            <a:spLocks noGrp="1"/>
          </p:cNvSpPr>
          <p:nvPr/>
        </p:nvSpPr>
        <p:spPr>
          <a:xfrm>
            <a:off x="7543800" y="1892051"/>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sz="1250" b="1" dirty="0">
                <a:solidFill>
                  <a:schemeClr val="bg1">
                    <a:lumMod val="85000"/>
                  </a:schemeClr>
                </a:solidFill>
                <a:latin typeface="Hiragino Sans"/>
                <a:ea typeface="Hiragino Sans"/>
                <a:cs typeface="Hiragino Sans"/>
              </a:rPr>
              <a:t>特徴を1回だけ</a:t>
            </a:r>
          </a:p>
          <a:p>
            <a:pPr algn="ctr">
              <a:buNone/>
              <a:defRPr sz="1250" b="1">
                <a:solidFill>
                  <a:srgbClr val="111827"/>
                </a:solidFill>
                <a:latin typeface="Hiragino Sans"/>
                <a:ea typeface="Hiragino Sans"/>
                <a:cs typeface="Hiragino Sans"/>
              </a:defRPr>
            </a:pPr>
            <a:r>
              <a:rPr sz="1250" b="1" dirty="0" err="1">
                <a:solidFill>
                  <a:schemeClr val="bg1">
                    <a:lumMod val="85000"/>
                  </a:schemeClr>
                </a:solidFill>
                <a:latin typeface="Hiragino Sans"/>
                <a:ea typeface="Hiragino Sans"/>
                <a:cs typeface="Hiragino Sans"/>
              </a:rPr>
              <a:t>K個選ぶ</a:t>
            </a:r>
            <a:endParaRPr sz="1250" b="1" dirty="0">
              <a:solidFill>
                <a:schemeClr val="bg1">
                  <a:lumMod val="85000"/>
                </a:schemeClr>
              </a:solidFill>
              <a:latin typeface="Hiragino Sans"/>
              <a:ea typeface="Hiragino Sans"/>
              <a:cs typeface="Hiragino Sans"/>
            </a:endParaRPr>
          </a:p>
        </p:txBody>
      </p:sp>
      <p:sp>
        <p:nvSpPr>
          <p:cNvPr id="40" name="step-box">
            <a:extLst>
              <a:ext uri="{FF2B5EF4-FFF2-40B4-BE49-F238E27FC236}">
                <a16:creationId xmlns:a16="http://schemas.microsoft.com/office/drawing/2014/main" id="{AD04C27C-2E4E-7E13-37D8-EEFA1ACAD162}"/>
              </a:ext>
            </a:extLst>
          </p:cNvPr>
          <p:cNvSpPr>
            <a:spLocks noGrp="1"/>
          </p:cNvSpPr>
          <p:nvPr/>
        </p:nvSpPr>
        <p:spPr>
          <a:xfrm>
            <a:off x="9658350" y="1492051"/>
            <a:ext cx="1952625" cy="1050000"/>
          </a:xfrm>
          <a:prstGeom prst="rect">
            <a:avLst/>
          </a:prstGeom>
          <a:solidFill>
            <a:srgbClr val="D1FAE5">
              <a:alpha val="34260"/>
            </a:srgbClr>
          </a:solidFill>
          <a:ln w="19050">
            <a:solidFill>
              <a:srgbClr val="10B981">
                <a:alpha val="49000"/>
              </a:srgbClr>
            </a:solidFill>
            <a:prstDash val="solid"/>
          </a:ln>
        </p:spPr>
        <p:txBody>
          <a:bodyPr/>
          <a:lstStyle/>
          <a:p>
            <a:endParaRPr/>
          </a:p>
        </p:txBody>
      </p:sp>
      <p:sp>
        <p:nvSpPr>
          <p:cNvPr id="41" name="step-num">
            <a:extLst>
              <a:ext uri="{FF2B5EF4-FFF2-40B4-BE49-F238E27FC236}">
                <a16:creationId xmlns:a16="http://schemas.microsoft.com/office/drawing/2014/main" id="{551B9969-D3AB-EDA8-7B3C-69E7A6968EBB}"/>
              </a:ext>
            </a:extLst>
          </p:cNvPr>
          <p:cNvSpPr>
            <a:spLocks noGrp="1"/>
          </p:cNvSpPr>
          <p:nvPr/>
        </p:nvSpPr>
        <p:spPr>
          <a:xfrm>
            <a:off x="9829800" y="1592051"/>
            <a:ext cx="476250" cy="247650"/>
          </a:xfrm>
          <a:prstGeom prst="rect">
            <a:avLst/>
          </a:prstGeom>
          <a:noFill/>
          <a:ln w="0">
            <a:noFill/>
            <a:prstDash val="solid"/>
          </a:ln>
        </p:spPr>
        <p:txBody>
          <a:bodyPr lIns="0" tIns="0" rIns="0" bIns="0" anchor="t">
            <a:noAutofit/>
          </a:bodyPr>
          <a:lstStyle/>
          <a:p>
            <a:pPr algn="l">
              <a:buNone/>
              <a:defRPr sz="1150" b="1">
                <a:solidFill>
                  <a:srgbClr val="10B981"/>
                </a:solidFill>
                <a:latin typeface="Hiragino Sans"/>
                <a:ea typeface="Hiragino Sans"/>
                <a:cs typeface="Hiragino Sans"/>
              </a:defRPr>
            </a:pPr>
            <a:r>
              <a:rPr sz="1150" b="1">
                <a:solidFill>
                  <a:schemeClr val="bg1">
                    <a:lumMod val="85000"/>
                  </a:schemeClr>
                </a:solidFill>
                <a:latin typeface="Hiragino Sans"/>
                <a:ea typeface="Hiragino Sans"/>
                <a:cs typeface="Hiragino Sans"/>
              </a:rPr>
              <a:t>05</a:t>
            </a:r>
          </a:p>
        </p:txBody>
      </p:sp>
      <p:sp>
        <p:nvSpPr>
          <p:cNvPr id="42" name="step-label">
            <a:extLst>
              <a:ext uri="{FF2B5EF4-FFF2-40B4-BE49-F238E27FC236}">
                <a16:creationId xmlns:a16="http://schemas.microsoft.com/office/drawing/2014/main" id="{92DB3BB9-1E54-0C0E-E400-4B7AE20F364F}"/>
              </a:ext>
            </a:extLst>
          </p:cNvPr>
          <p:cNvSpPr>
            <a:spLocks noGrp="1"/>
          </p:cNvSpPr>
          <p:nvPr/>
        </p:nvSpPr>
        <p:spPr>
          <a:xfrm>
            <a:off x="9829800" y="1892051"/>
            <a:ext cx="1609725" cy="600000"/>
          </a:xfrm>
          <a:prstGeom prst="rect">
            <a:avLst/>
          </a:prstGeom>
          <a:noFill/>
          <a:ln w="0">
            <a:noFill/>
            <a:prstDash val="solid"/>
          </a:ln>
        </p:spPr>
        <p:txBody>
          <a:bodyPr lIns="0" tIns="0" rIns="0" bIns="0" anchor="t">
            <a:noAutofit/>
          </a:bodyPr>
          <a:lstStyle/>
          <a:p>
            <a:pPr algn="ctr">
              <a:buNone/>
              <a:defRPr sz="1250" b="1">
                <a:solidFill>
                  <a:srgbClr val="111827"/>
                </a:solidFill>
                <a:latin typeface="Hiragino Sans"/>
                <a:ea typeface="Hiragino Sans"/>
                <a:cs typeface="Hiragino Sans"/>
              </a:defRPr>
            </a:pPr>
            <a:r>
              <a:rPr sz="1250" b="1">
                <a:solidFill>
                  <a:schemeClr val="bg1">
                    <a:lumMod val="85000"/>
                  </a:schemeClr>
                </a:solidFill>
                <a:latin typeface="Hiragino Sans"/>
                <a:ea typeface="Hiragino Sans"/>
                <a:cs typeface="Hiragino Sans"/>
              </a:rPr>
              <a:t>AとBを分ける</a:t>
            </a:r>
          </a:p>
          <a:p>
            <a:pPr algn="ctr">
              <a:buNone/>
              <a:defRPr sz="1250" b="1">
                <a:solidFill>
                  <a:srgbClr val="111827"/>
                </a:solidFill>
                <a:latin typeface="Hiragino Sans"/>
                <a:ea typeface="Hiragino Sans"/>
                <a:cs typeface="Hiragino Sans"/>
              </a:defRPr>
            </a:pPr>
            <a:r>
              <a:rPr sz="1250" b="1">
                <a:solidFill>
                  <a:schemeClr val="bg1">
                    <a:lumMod val="85000"/>
                  </a:schemeClr>
                </a:solidFill>
                <a:latin typeface="Hiragino Sans"/>
                <a:ea typeface="Hiragino Sans"/>
                <a:cs typeface="Hiragino Sans"/>
              </a:rPr>
              <a:t>説明が1つ</a:t>
            </a:r>
          </a:p>
        </p:txBody>
      </p:sp>
      <p:sp>
        <p:nvSpPr>
          <p:cNvPr id="47" name="card-bg">
            <a:extLst>
              <a:ext uri="{FF2B5EF4-FFF2-40B4-BE49-F238E27FC236}">
                <a16:creationId xmlns:a16="http://schemas.microsoft.com/office/drawing/2014/main" id="{AE1922E0-6FC6-7F8B-858B-FE59F6A22329}"/>
              </a:ext>
            </a:extLst>
          </p:cNvPr>
          <p:cNvSpPr>
            <a:spLocks noGrp="1"/>
          </p:cNvSpPr>
          <p:nvPr/>
        </p:nvSpPr>
        <p:spPr>
          <a:xfrm>
            <a:off x="762000" y="3065949"/>
            <a:ext cx="3356000" cy="2200000"/>
          </a:xfrm>
          <a:prstGeom prst="rect">
            <a:avLst/>
          </a:prstGeom>
          <a:solidFill>
            <a:srgbClr val="F3F4F6"/>
          </a:solidFill>
          <a:ln w="19050">
            <a:solidFill>
              <a:srgbClr val="2AA876"/>
            </a:solidFill>
            <a:prstDash val="solid"/>
          </a:ln>
        </p:spPr>
        <p:txBody>
          <a:bodyPr/>
          <a:lstStyle/>
          <a:p>
            <a:endParaRPr/>
          </a:p>
        </p:txBody>
      </p:sp>
      <p:sp>
        <p:nvSpPr>
          <p:cNvPr id="54" name="card-name">
            <a:extLst>
              <a:ext uri="{FF2B5EF4-FFF2-40B4-BE49-F238E27FC236}">
                <a16:creationId xmlns:a16="http://schemas.microsoft.com/office/drawing/2014/main" id="{264837C7-8927-5001-CB94-B1D9A010E390}"/>
              </a:ext>
            </a:extLst>
          </p:cNvPr>
          <p:cNvSpPr>
            <a:spLocks noGrp="1"/>
          </p:cNvSpPr>
          <p:nvPr/>
        </p:nvSpPr>
        <p:spPr>
          <a:xfrm>
            <a:off x="962000" y="3215949"/>
            <a:ext cx="2956000" cy="350000"/>
          </a:xfrm>
          <a:prstGeom prst="rect">
            <a:avLst/>
          </a:prstGeom>
          <a:noFill/>
          <a:ln w="0">
            <a:noFill/>
            <a:prstDash val="solid"/>
          </a:ln>
        </p:spPr>
        <p:txBody>
          <a:bodyPr lIns="0" tIns="0" rIns="0" bIns="0" anchor="t">
            <a:noAutofit/>
          </a:bodyPr>
          <a:lstStyle/>
          <a:p>
            <a:pPr algn="l">
              <a:buNone/>
              <a:defRPr sz="1700" b="1">
                <a:solidFill>
                  <a:srgbClr val="2AA876"/>
                </a:solidFill>
                <a:latin typeface="Hiragino Sans"/>
                <a:ea typeface="Hiragino Sans"/>
                <a:cs typeface="Hiragino Sans"/>
              </a:defRPr>
            </a:pPr>
            <a:r>
              <a:rPr sz="1700" b="1">
                <a:solidFill>
                  <a:srgbClr val="2AA876"/>
                </a:solidFill>
                <a:latin typeface="Hiragino Sans"/>
                <a:ea typeface="Hiragino Sans"/>
                <a:cs typeface="Hiragino Sans"/>
              </a:rPr>
              <a:t>2クラスLIME（基準）</a:t>
            </a:r>
          </a:p>
        </p:txBody>
      </p:sp>
      <p:sp>
        <p:nvSpPr>
          <p:cNvPr id="55" name="card-target">
            <a:extLst>
              <a:ext uri="{FF2B5EF4-FFF2-40B4-BE49-F238E27FC236}">
                <a16:creationId xmlns:a16="http://schemas.microsoft.com/office/drawing/2014/main" id="{766A6ED1-2931-98C6-2962-D4DBF17F801A}"/>
              </a:ext>
            </a:extLst>
          </p:cNvPr>
          <p:cNvSpPr>
            <a:spLocks noGrp="1"/>
          </p:cNvSpPr>
          <p:nvPr/>
        </p:nvSpPr>
        <p:spPr>
          <a:xfrm>
            <a:off x="962000" y="3685949"/>
            <a:ext cx="2956000" cy="350000"/>
          </a:xfrm>
          <a:prstGeom prst="rect">
            <a:avLst/>
          </a:prstGeom>
          <a:noFill/>
          <a:ln w="0">
            <a:noFill/>
            <a:prstDash val="solid"/>
          </a:ln>
        </p:spPr>
        <p:txBody>
          <a:bodyPr lIns="0" tIns="0" rIns="0" bIns="0" anchor="t">
            <a:noAutofit/>
          </a:bodyPr>
          <a:lstStyle/>
          <a:p>
            <a:pPr algn="l">
              <a:buNone/>
              <a:defRPr sz="1300" b="1">
                <a:solidFill>
                  <a:srgbClr val="111827"/>
                </a:solidFill>
                <a:latin typeface="Hiragino Sans"/>
                <a:ea typeface="Hiragino Sans"/>
                <a:cs typeface="Hiragino Sans"/>
              </a:defRPr>
            </a:pPr>
            <a:r>
              <a:rPr sz="1300" b="1">
                <a:solidFill>
                  <a:srgbClr val="111827"/>
                </a:solidFill>
                <a:latin typeface="Hiragino Sans"/>
                <a:ea typeface="Hiragino Sans"/>
                <a:cs typeface="Hiragino Sans"/>
              </a:rPr>
              <a:t>q を Ridge回帰</a:t>
            </a:r>
          </a:p>
        </p:txBody>
      </p:sp>
      <p:sp>
        <p:nvSpPr>
          <p:cNvPr id="56" name="card-note">
            <a:extLst>
              <a:ext uri="{FF2B5EF4-FFF2-40B4-BE49-F238E27FC236}">
                <a16:creationId xmlns:a16="http://schemas.microsoft.com/office/drawing/2014/main" id="{2A3DFA19-8DFE-FD02-2E4F-AFA7469EBF58}"/>
              </a:ext>
            </a:extLst>
          </p:cNvPr>
          <p:cNvSpPr>
            <a:spLocks noGrp="1"/>
          </p:cNvSpPr>
          <p:nvPr/>
        </p:nvSpPr>
        <p:spPr>
          <a:xfrm>
            <a:off x="962000" y="4145949"/>
            <a:ext cx="2956000" cy="1000000"/>
          </a:xfrm>
          <a:prstGeom prst="rect">
            <a:avLst/>
          </a:prstGeom>
          <a:noFill/>
          <a:ln w="0">
            <a:noFill/>
            <a:prstDash val="solid"/>
          </a:ln>
        </p:spPr>
        <p:txBody>
          <a:bodyPr lIns="0" tIns="0" rIns="0" bIns="0" anchor="t">
            <a:noAutofit/>
          </a:bodyPr>
          <a:lstStyle/>
          <a:p>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2クラスへ絞ってから</a:t>
            </a:r>
          </a:p>
          <a:p>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通常のLIMEを当てはめる基準</a:t>
            </a:r>
          </a:p>
        </p:txBody>
      </p:sp>
      <p:sp>
        <p:nvSpPr>
          <p:cNvPr id="57" name="card-bg">
            <a:extLst>
              <a:ext uri="{FF2B5EF4-FFF2-40B4-BE49-F238E27FC236}">
                <a16:creationId xmlns:a16="http://schemas.microsoft.com/office/drawing/2014/main" id="{241173B4-A376-684D-D47B-DE5845F5A991}"/>
              </a:ext>
            </a:extLst>
          </p:cNvPr>
          <p:cNvSpPr>
            <a:spLocks noGrp="1"/>
          </p:cNvSpPr>
          <p:nvPr/>
        </p:nvSpPr>
        <p:spPr>
          <a:xfrm>
            <a:off x="4418000" y="3065949"/>
            <a:ext cx="3356000" cy="2200000"/>
          </a:xfrm>
          <a:prstGeom prst="rect">
            <a:avLst/>
          </a:prstGeom>
          <a:solidFill>
            <a:srgbClr val="F3F4F6"/>
          </a:solidFill>
          <a:ln w="19050">
            <a:solidFill>
              <a:srgbClr val="F28C28"/>
            </a:solidFill>
            <a:prstDash val="solid"/>
          </a:ln>
        </p:spPr>
        <p:txBody>
          <a:bodyPr/>
          <a:lstStyle/>
          <a:p>
            <a:endParaRPr/>
          </a:p>
        </p:txBody>
      </p:sp>
      <p:sp>
        <p:nvSpPr>
          <p:cNvPr id="58" name="card-name">
            <a:extLst>
              <a:ext uri="{FF2B5EF4-FFF2-40B4-BE49-F238E27FC236}">
                <a16:creationId xmlns:a16="http://schemas.microsoft.com/office/drawing/2014/main" id="{C44A5280-7B31-078D-C7CF-E9AD26F8F989}"/>
              </a:ext>
            </a:extLst>
          </p:cNvPr>
          <p:cNvSpPr>
            <a:spLocks noGrp="1"/>
          </p:cNvSpPr>
          <p:nvPr/>
        </p:nvSpPr>
        <p:spPr>
          <a:xfrm>
            <a:off x="4618000" y="3215949"/>
            <a:ext cx="2956000" cy="350000"/>
          </a:xfrm>
          <a:prstGeom prst="rect">
            <a:avLst/>
          </a:prstGeom>
          <a:noFill/>
          <a:ln w="0">
            <a:noFill/>
            <a:prstDash val="solid"/>
          </a:ln>
        </p:spPr>
        <p:txBody>
          <a:bodyPr lIns="0" tIns="0" rIns="0" bIns="0" anchor="t">
            <a:noAutofit/>
          </a:bodyPr>
          <a:lstStyle/>
          <a:p>
            <a:pPr algn="l">
              <a:buNone/>
              <a:defRPr sz="1700" b="1">
                <a:solidFill>
                  <a:srgbClr val="F28C28"/>
                </a:solidFill>
                <a:latin typeface="Hiragino Sans"/>
                <a:ea typeface="Hiragino Sans"/>
                <a:cs typeface="Hiragino Sans"/>
              </a:defRPr>
            </a:pPr>
            <a:r>
              <a:rPr sz="1700" b="1">
                <a:solidFill>
                  <a:srgbClr val="F28C28"/>
                </a:solidFill>
                <a:latin typeface="Hiragino Sans"/>
                <a:ea typeface="Hiragino Sans"/>
                <a:cs typeface="Hiragino Sans"/>
              </a:rPr>
              <a:t>Contrastive</a:t>
            </a:r>
          </a:p>
        </p:txBody>
      </p:sp>
      <p:sp>
        <p:nvSpPr>
          <p:cNvPr id="59" name="card-target">
            <a:extLst>
              <a:ext uri="{FF2B5EF4-FFF2-40B4-BE49-F238E27FC236}">
                <a16:creationId xmlns:a16="http://schemas.microsoft.com/office/drawing/2014/main" id="{9A36E38A-22CF-28C3-FE7F-108CCAAC306A}"/>
              </a:ext>
            </a:extLst>
          </p:cNvPr>
          <p:cNvSpPr>
            <a:spLocks noGrp="1"/>
          </p:cNvSpPr>
          <p:nvPr/>
        </p:nvSpPr>
        <p:spPr>
          <a:xfrm>
            <a:off x="4618000" y="3685949"/>
            <a:ext cx="2956000" cy="350000"/>
          </a:xfrm>
          <a:prstGeom prst="rect">
            <a:avLst/>
          </a:prstGeom>
          <a:noFill/>
          <a:ln w="0">
            <a:noFill/>
            <a:prstDash val="solid"/>
          </a:ln>
        </p:spPr>
        <p:txBody>
          <a:bodyPr lIns="0" tIns="0" rIns="0" bIns="0" anchor="t">
            <a:noAutofit/>
          </a:bodyPr>
          <a:lstStyle/>
          <a:p>
            <a:pPr algn="l">
              <a:buNone/>
              <a:defRPr sz="1300" b="1">
                <a:solidFill>
                  <a:srgbClr val="111827"/>
                </a:solidFill>
                <a:latin typeface="Hiragino Sans"/>
                <a:ea typeface="Hiragino Sans"/>
                <a:cs typeface="Hiragino Sans"/>
              </a:defRPr>
            </a:pPr>
            <a:r>
              <a:rPr sz="1300" b="1">
                <a:solidFill>
                  <a:srgbClr val="111827"/>
                </a:solidFill>
                <a:latin typeface="Hiragino Sans"/>
                <a:ea typeface="Hiragino Sans"/>
                <a:cs typeface="Hiragino Sans"/>
              </a:rPr>
              <a:t>log(p1/p2) を Ridge回帰</a:t>
            </a:r>
          </a:p>
        </p:txBody>
      </p:sp>
      <p:sp>
        <p:nvSpPr>
          <p:cNvPr id="60" name="card-note">
            <a:extLst>
              <a:ext uri="{FF2B5EF4-FFF2-40B4-BE49-F238E27FC236}">
                <a16:creationId xmlns:a16="http://schemas.microsoft.com/office/drawing/2014/main" id="{FACFBE45-7347-99CC-D179-916B8EE37CAA}"/>
              </a:ext>
            </a:extLst>
          </p:cNvPr>
          <p:cNvSpPr>
            <a:spLocks noGrp="1"/>
          </p:cNvSpPr>
          <p:nvPr/>
        </p:nvSpPr>
        <p:spPr>
          <a:xfrm>
            <a:off x="4618000" y="4145949"/>
            <a:ext cx="2956000" cy="1000000"/>
          </a:xfrm>
          <a:prstGeom prst="rect">
            <a:avLst/>
          </a:prstGeom>
          <a:noFill/>
          <a:ln w="0">
            <a:noFill/>
            <a:prstDash val="solid"/>
          </a:ln>
        </p:spPr>
        <p:txBody>
          <a:bodyPr lIns="0" tIns="0" rIns="0" bIns="0" anchor="t">
            <a:noAutofit/>
          </a:bodyPr>
          <a:lstStyle/>
          <a:p>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比を対数比に変えて</a:t>
            </a:r>
          </a:p>
          <a:p>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線形なlogit差に強くする</a:t>
            </a:r>
          </a:p>
        </p:txBody>
      </p:sp>
      <p:sp>
        <p:nvSpPr>
          <p:cNvPr id="61" name="card-bg">
            <a:extLst>
              <a:ext uri="{FF2B5EF4-FFF2-40B4-BE49-F238E27FC236}">
                <a16:creationId xmlns:a16="http://schemas.microsoft.com/office/drawing/2014/main" id="{DBE01649-DDCE-9B93-EFC3-3D08D6ED3D47}"/>
              </a:ext>
            </a:extLst>
          </p:cNvPr>
          <p:cNvSpPr>
            <a:spLocks noGrp="1"/>
          </p:cNvSpPr>
          <p:nvPr/>
        </p:nvSpPr>
        <p:spPr>
          <a:xfrm>
            <a:off x="8074000" y="3065949"/>
            <a:ext cx="3356000" cy="2200000"/>
          </a:xfrm>
          <a:prstGeom prst="rect">
            <a:avLst/>
          </a:prstGeom>
          <a:solidFill>
            <a:srgbClr val="F3F4F6"/>
          </a:solidFill>
          <a:ln w="19050">
            <a:solidFill>
              <a:srgbClr val="7B61A8"/>
            </a:solidFill>
            <a:prstDash val="solid"/>
          </a:ln>
        </p:spPr>
        <p:txBody>
          <a:bodyPr/>
          <a:lstStyle/>
          <a:p>
            <a:endParaRPr/>
          </a:p>
        </p:txBody>
      </p:sp>
      <p:sp>
        <p:nvSpPr>
          <p:cNvPr id="62" name="card-name">
            <a:extLst>
              <a:ext uri="{FF2B5EF4-FFF2-40B4-BE49-F238E27FC236}">
                <a16:creationId xmlns:a16="http://schemas.microsoft.com/office/drawing/2014/main" id="{C0052F7C-87D2-AC9B-D426-CD87EF598EF6}"/>
              </a:ext>
            </a:extLst>
          </p:cNvPr>
          <p:cNvSpPr>
            <a:spLocks noGrp="1"/>
          </p:cNvSpPr>
          <p:nvPr/>
        </p:nvSpPr>
        <p:spPr>
          <a:xfrm>
            <a:off x="8274000" y="3215949"/>
            <a:ext cx="2956000" cy="350000"/>
          </a:xfrm>
          <a:prstGeom prst="rect">
            <a:avLst/>
          </a:prstGeom>
          <a:noFill/>
          <a:ln w="0">
            <a:noFill/>
            <a:prstDash val="solid"/>
          </a:ln>
        </p:spPr>
        <p:txBody>
          <a:bodyPr lIns="0" tIns="0" rIns="0" bIns="0" anchor="t">
            <a:noAutofit/>
          </a:bodyPr>
          <a:lstStyle/>
          <a:p>
            <a:pPr algn="l">
              <a:buNone/>
              <a:defRPr sz="1700" b="1">
                <a:solidFill>
                  <a:srgbClr val="7B61A8"/>
                </a:solidFill>
                <a:latin typeface="Hiragino Sans"/>
                <a:ea typeface="Hiragino Sans"/>
                <a:cs typeface="Hiragino Sans"/>
              </a:defRPr>
            </a:pPr>
            <a:r>
              <a:rPr sz="1700" b="1">
                <a:solidFill>
                  <a:srgbClr val="7B61A8"/>
                </a:solidFill>
                <a:latin typeface="Hiragino Sans"/>
                <a:ea typeface="Hiragino Sans"/>
                <a:cs typeface="Hiragino Sans"/>
              </a:rPr>
              <a:t>OVO Logistic</a:t>
            </a:r>
          </a:p>
        </p:txBody>
      </p:sp>
      <p:sp>
        <p:nvSpPr>
          <p:cNvPr id="63" name="card-target">
            <a:extLst>
              <a:ext uri="{FF2B5EF4-FFF2-40B4-BE49-F238E27FC236}">
                <a16:creationId xmlns:a16="http://schemas.microsoft.com/office/drawing/2014/main" id="{3C6CCB5C-0C44-F8F1-F7AE-8E023E139AB7}"/>
              </a:ext>
            </a:extLst>
          </p:cNvPr>
          <p:cNvSpPr>
            <a:spLocks noGrp="1"/>
          </p:cNvSpPr>
          <p:nvPr/>
        </p:nvSpPr>
        <p:spPr>
          <a:xfrm>
            <a:off x="8274000" y="3685949"/>
            <a:ext cx="2956000" cy="350000"/>
          </a:xfrm>
          <a:prstGeom prst="rect">
            <a:avLst/>
          </a:prstGeom>
          <a:noFill/>
          <a:ln w="0">
            <a:noFill/>
            <a:prstDash val="solid"/>
          </a:ln>
        </p:spPr>
        <p:txBody>
          <a:bodyPr lIns="0" tIns="0" rIns="0" bIns="0" anchor="t">
            <a:noAutofit/>
          </a:bodyPr>
          <a:lstStyle/>
          <a:p>
            <a:pPr algn="l">
              <a:buNone/>
              <a:defRPr sz="1300" b="1">
                <a:solidFill>
                  <a:srgbClr val="111827"/>
                </a:solidFill>
                <a:latin typeface="Hiragino Sans"/>
                <a:ea typeface="Hiragino Sans"/>
                <a:cs typeface="Hiragino Sans"/>
              </a:defRPr>
            </a:pPr>
            <a:r>
              <a:rPr sz="1300" b="1">
                <a:solidFill>
                  <a:srgbClr val="111827"/>
                </a:solidFill>
                <a:latin typeface="Hiragino Sans"/>
                <a:ea typeface="Hiragino Sans"/>
                <a:cs typeface="Hiragino Sans"/>
              </a:rPr>
              <a:t>q を交差エントロピーで回帰</a:t>
            </a:r>
          </a:p>
        </p:txBody>
      </p:sp>
      <p:sp>
        <p:nvSpPr>
          <p:cNvPr id="64" name="card-note">
            <a:extLst>
              <a:ext uri="{FF2B5EF4-FFF2-40B4-BE49-F238E27FC236}">
                <a16:creationId xmlns:a16="http://schemas.microsoft.com/office/drawing/2014/main" id="{4D9B2E99-1E5D-40F4-855C-3B5D5542B3DF}"/>
              </a:ext>
            </a:extLst>
          </p:cNvPr>
          <p:cNvSpPr>
            <a:spLocks noGrp="1"/>
          </p:cNvSpPr>
          <p:nvPr/>
        </p:nvSpPr>
        <p:spPr>
          <a:xfrm>
            <a:off x="8274000" y="4145949"/>
            <a:ext cx="2956000" cy="1000000"/>
          </a:xfrm>
          <a:prstGeom prst="rect">
            <a:avLst/>
          </a:prstGeom>
          <a:noFill/>
          <a:ln w="0">
            <a:noFill/>
            <a:prstDash val="solid"/>
          </a:ln>
        </p:spPr>
        <p:txBody>
          <a:bodyPr lIns="0" tIns="0" rIns="0" bIns="0" anchor="t">
            <a:noAutofit/>
          </a:bodyPr>
          <a:lstStyle/>
          <a:p>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二乗誤差を交差エントロピーに</a:t>
            </a:r>
          </a:p>
          <a:p>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変え、極端な確率でも安定させる</a:t>
            </a:r>
          </a:p>
        </p:txBody>
      </p:sp>
      <p:sp>
        <p:nvSpPr>
          <p:cNvPr id="65" name="why-bg">
            <a:extLst>
              <a:ext uri="{FF2B5EF4-FFF2-40B4-BE49-F238E27FC236}">
                <a16:creationId xmlns:a16="http://schemas.microsoft.com/office/drawing/2014/main" id="{BEDBE3D1-8D20-FB86-018D-0386E074C6C1}"/>
              </a:ext>
            </a:extLst>
          </p:cNvPr>
          <p:cNvSpPr>
            <a:spLocks noGrp="1"/>
          </p:cNvSpPr>
          <p:nvPr/>
        </p:nvSpPr>
        <p:spPr>
          <a:xfrm>
            <a:off x="762000" y="5465949"/>
            <a:ext cx="10668000" cy="900000"/>
          </a:xfrm>
          <a:prstGeom prst="roundRect">
            <a:avLst>
              <a:gd name="adj" fmla="val 6000"/>
            </a:avLst>
          </a:prstGeom>
          <a:solidFill>
            <a:srgbClr val="FFF4D6"/>
          </a:solidFill>
          <a:ln w="0">
            <a:noFill/>
          </a:ln>
        </p:spPr>
        <p:txBody>
          <a:bodyPr/>
          <a:lstStyle/>
          <a:p>
            <a:endParaRPr/>
          </a:p>
        </p:txBody>
      </p:sp>
      <p:sp>
        <p:nvSpPr>
          <p:cNvPr id="66" name="why-label">
            <a:extLst>
              <a:ext uri="{FF2B5EF4-FFF2-40B4-BE49-F238E27FC236}">
                <a16:creationId xmlns:a16="http://schemas.microsoft.com/office/drawing/2014/main" id="{88CEB7C8-E95A-E3C1-7681-7699B6F78299}"/>
              </a:ext>
            </a:extLst>
          </p:cNvPr>
          <p:cNvSpPr>
            <a:spLocks noGrp="1"/>
          </p:cNvSpPr>
          <p:nvPr/>
        </p:nvSpPr>
        <p:spPr>
          <a:xfrm>
            <a:off x="962000" y="5585949"/>
            <a:ext cx="3000000" cy="300000"/>
          </a:xfrm>
          <a:prstGeom prst="rect">
            <a:avLst/>
          </a:prstGeom>
          <a:noFill/>
          <a:ln w="0">
            <a:noFill/>
            <a:prstDash val="solid"/>
          </a:ln>
        </p:spPr>
        <p:txBody>
          <a:bodyPr lIns="0" tIns="0" rIns="0" bIns="0" anchor="t">
            <a:noAutofit/>
          </a:bodyPr>
          <a:lstStyle/>
          <a:p>
            <a:pPr algn="l">
              <a:buNone/>
              <a:defRPr sz="1300" b="1">
                <a:solidFill>
                  <a:srgbClr val="F59E0B"/>
                </a:solidFill>
                <a:latin typeface="Hiragino Sans"/>
                <a:ea typeface="Hiragino Sans"/>
                <a:cs typeface="Hiragino Sans"/>
              </a:defRPr>
            </a:pPr>
            <a:r>
              <a:rPr sz="1300" b="1">
                <a:solidFill>
                  <a:srgbClr val="F59E0B"/>
                </a:solidFill>
                <a:latin typeface="Hiragino Sans"/>
                <a:ea typeface="Hiragino Sans"/>
                <a:cs typeface="Hiragino Sans"/>
              </a:rPr>
              <a:t>なぜ2つ追加したのか</a:t>
            </a:r>
          </a:p>
        </p:txBody>
      </p:sp>
      <p:sp>
        <p:nvSpPr>
          <p:cNvPr id="67" name="why-desc">
            <a:extLst>
              <a:ext uri="{FF2B5EF4-FFF2-40B4-BE49-F238E27FC236}">
                <a16:creationId xmlns:a16="http://schemas.microsoft.com/office/drawing/2014/main" id="{CDC7B485-FBD3-D05A-69FF-9F013B4EC64E}"/>
              </a:ext>
            </a:extLst>
          </p:cNvPr>
          <p:cNvSpPr>
            <a:spLocks noGrp="1"/>
          </p:cNvSpPr>
          <p:nvPr/>
        </p:nvSpPr>
        <p:spPr>
          <a:xfrm>
            <a:off x="962000" y="5895949"/>
            <a:ext cx="10268000" cy="460000"/>
          </a:xfrm>
          <a:prstGeom prst="rect">
            <a:avLst/>
          </a:prstGeom>
          <a:noFill/>
          <a:ln w="0">
            <a:noFill/>
            <a:prstDash val="solid"/>
          </a:ln>
        </p:spPr>
        <p:txBody>
          <a:bodyPr lIns="0" tIns="0" rIns="0" bIns="0" anchor="t">
            <a:noAutofit/>
          </a:bodyPr>
          <a:lstStyle/>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2クラスLIMEを基準に、Contrastiveは回帰対象（比→対数比）を変えて比較する</a:t>
            </a:r>
          </a:p>
          <a:p>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OVO Logisticは損失（二乗誤差→交差エントロピー）を変えて比較する</a:t>
            </a:r>
          </a:p>
        </p:txBody>
      </p:sp>
    </p:spTree>
    <p:extLst>
      <p:ext uri="{BB962C8B-B14F-4D97-AF65-F5344CB8AC3E}">
        <p14:creationId xmlns:p14="http://schemas.microsoft.com/office/powerpoint/2010/main" val="2250875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0"/>
          </a:p>
        </p:txBody>
      </p:sp>
      <p:sp>
        <p:nvSpPr>
          <p:cNvPr id="3" name="title"/>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目次</a:t>
            </a:r>
          </a:p>
        </p:txBody>
      </p:sp>
      <p:sp>
        <p:nvSpPr>
          <p:cNvPr id="6" name="toc-item-0"/>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1. XAI（説明可能なAI）</a:t>
            </a:r>
          </a:p>
        </p:txBody>
      </p:sp>
      <p:sp>
        <p:nvSpPr>
          <p:cNvPr id="7" name="toc-item-1"/>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2. LIME</a:t>
            </a:r>
          </a:p>
        </p:txBody>
      </p:sp>
      <p:sp>
        <p:nvSpPr>
          <p:cNvPr id="8" name="toc-item-2"/>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3. 多クラスに応用したLIME</a:t>
            </a:r>
          </a:p>
        </p:txBody>
      </p:sp>
      <p:sp>
        <p:nvSpPr>
          <p:cNvPr id="9" name="toc-item-3"/>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4. 関連研究</a:t>
            </a:r>
          </a:p>
        </p:txBody>
      </p:sp>
      <p:sp>
        <p:nvSpPr>
          <p:cNvPr id="10" name="toc-item-4"/>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5. 提案手法</a:t>
            </a:r>
          </a:p>
        </p:txBody>
      </p:sp>
      <p:sp>
        <p:nvSpPr>
          <p:cNvPr id="11" name="toc-item-5"/>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lgn="l">
              <a:buNone/>
              <a:defRPr sz="2200" b="1">
                <a:solidFill>
                  <a:srgbClr val="156082"/>
                </a:solidFill>
                <a:latin typeface="Hiragino Sans"/>
                <a:ea typeface="Hiragino Sans"/>
                <a:cs typeface="Hiragino Sans"/>
              </a:defRPr>
            </a:pPr>
            <a:r>
              <a:rPr lang="ja-JP" sz="2200" b="1" noProof="0">
                <a:solidFill>
                  <a:srgbClr val="156082"/>
                </a:solidFill>
                <a:latin typeface="Hiragino Sans"/>
                <a:ea typeface="Hiragino Sans"/>
                <a:cs typeface="Hiragino Sans"/>
              </a:rPr>
              <a:t>6. 実験と考察</a:t>
            </a:r>
          </a:p>
        </p:txBody>
      </p:sp>
      <p:sp>
        <p:nvSpPr>
          <p:cNvPr id="12" name="toc-item-6"/>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7. まとめと今後の展望</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ADE5C19-DBDE-48F8-AE96-283A50BC174E}"/>
              </a:ext>
            </a:extLst>
          </p:cNvPr>
          <p:cNvSpPr>
            <a:spLocks noGrp="1"/>
          </p:cNvSpPr>
          <p:nvPr/>
        </p:nvSpPr>
        <p:spPr>
          <a:xfrm>
            <a:off x="514350" y="409575"/>
            <a:ext cx="114300" cy="476250"/>
          </a:xfrm>
          <a:prstGeom prst="rect">
            <a:avLst/>
          </a:prstGeom>
          <a:solidFill>
            <a:srgbClr val="1479C9"/>
          </a:solidFill>
          <a:ln w="0">
            <a:noFill/>
          </a:ln>
        </p:spPr>
        <p:txBody>
          <a:bodyPr/>
          <a:lstStyle/>
          <a:p>
            <a:endParaRPr/>
          </a:p>
        </p:txBody>
      </p:sp>
      <p:sp>
        <p:nvSpPr>
          <p:cNvPr id="2" name="正方形/長方形 1">
            <a:extLst>
              <a:ext uri="{FF2B5EF4-FFF2-40B4-BE49-F238E27FC236}">
                <a16:creationId xmlns:a16="http://schemas.microsoft.com/office/drawing/2014/main" id="{7BD5797D-F1EE-4DE8-9C9D-8C140102DEE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実験設定</a:t>
            </a:r>
          </a:p>
        </p:txBody>
      </p:sp>
      <p:sp>
        <p:nvSpPr>
          <p:cNvPr id="3" name="正方形/長方形 2">
            <a:extLst>
              <a:ext uri="{FF2B5EF4-FFF2-40B4-BE49-F238E27FC236}">
                <a16:creationId xmlns:a16="http://schemas.microsoft.com/office/drawing/2014/main" id="{D0C92C36-03F2-4A52-BF76-D12016ED49A3}"/>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すべての手法で摂動点・近接度重み・説明対象を共有</a:t>
            </a:r>
          </a:p>
        </p:txBody>
      </p:sp>
      <p:graphicFrame>
        <p:nvGraphicFramePr>
          <p:cNvPr id="13" name="表 10"/>
          <p:cNvGraphicFramePr/>
          <p:nvPr/>
        </p:nvGraphicFramePr>
        <p:xfrm>
          <a:off x="762000" y="1295400"/>
          <a:ext cx="10668000" cy="4629150"/>
        </p:xfrm>
        <a:graphic>
          <a:graphicData uri="http://schemas.openxmlformats.org/drawingml/2006/table">
            <a:tbl>
              <a:tblPr/>
              <a:tblGrid>
                <a:gridCol w="2333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14350">
                <a:tc>
                  <a:txBody>
                    <a:bodyPr/>
                    <a:lstStyle/>
                    <a:p>
                      <a:r>
                        <a:rPr sz="1275" b="1">
                          <a:solidFill>
                            <a:srgbClr val="FFFFFF"/>
                          </a:solidFill>
                          <a:latin typeface="Hiragino Sans"/>
                          <a:ea typeface="Hiragino Sans"/>
                          <a:cs typeface="Hiragino Sans"/>
                        </a:rPr>
                        <a:t>項目</a:t>
                      </a:r>
                    </a:p>
                  </a:txBody>
                  <a:tcPr marL="114300" marR="114300" marT="76200" marB="76200" anchor="ctr">
                    <a:solidFill>
                      <a:srgbClr val="1479C9"/>
                    </a:solidFill>
                  </a:tcPr>
                </a:tc>
                <a:tc>
                  <a:txBody>
                    <a:bodyPr/>
                    <a:lstStyle/>
                    <a:p>
                      <a:r>
                        <a:rPr sz="1275" b="1">
                          <a:solidFill>
                            <a:srgbClr val="FFFFFF"/>
                          </a:solidFill>
                          <a:latin typeface="Hiragino Sans"/>
                          <a:ea typeface="Hiragino Sans"/>
                          <a:cs typeface="Hiragino Sans"/>
                        </a:rPr>
                        <a:t>設定</a:t>
                      </a:r>
                    </a:p>
                  </a:txBody>
                  <a:tcPr marL="114300" marR="114300" marT="76200" marB="76200" anchor="ctr">
                    <a:solidFill>
                      <a:srgbClr val="1479C9"/>
                    </a:solidFill>
                  </a:tcPr>
                </a:tc>
                <a:extLst>
                  <a:ext uri="{0D108BD9-81ED-4DB2-BD59-A6C34878D82A}">
                    <a16:rowId xmlns:a16="http://schemas.microsoft.com/office/drawing/2014/main" val="10000"/>
                  </a:ext>
                </a:extLst>
              </a:tr>
              <a:tr h="514350">
                <a:tc>
                  <a:txBody>
                    <a:bodyPr/>
                    <a:lstStyle/>
                    <a:p>
                      <a:r>
                        <a:rPr sz="1125" b="1">
                          <a:solidFill>
                            <a:srgbClr val="1479C9"/>
                          </a:solidFill>
                          <a:latin typeface="Hiragino Sans"/>
                          <a:ea typeface="Hiragino Sans"/>
                          <a:cs typeface="Hiragino Sans"/>
                        </a:rPr>
                        <a:t>データ</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make_classification、2,000件、学習70%／評価30%</a:t>
                      </a:r>
                    </a:p>
                  </a:txBody>
                  <a:tcPr marL="114300" marR="114300" marT="57150" marB="57150" anchor="ctr">
                    <a:solidFill>
                      <a:srgbClr val="FBFCFE"/>
                    </a:solidFill>
                  </a:tcPr>
                </a:tc>
                <a:extLst>
                  <a:ext uri="{0D108BD9-81ED-4DB2-BD59-A6C34878D82A}">
                    <a16:rowId xmlns:a16="http://schemas.microsoft.com/office/drawing/2014/main" val="10001"/>
                  </a:ext>
                </a:extLst>
              </a:tr>
              <a:tr h="514350">
                <a:tc>
                  <a:txBody>
                    <a:bodyPr/>
                    <a:lstStyle/>
                    <a:p>
                      <a:r>
                        <a:rPr sz="1125" b="1">
                          <a:solidFill>
                            <a:srgbClr val="1479C9"/>
                          </a:solidFill>
                          <a:latin typeface="Hiragino Sans"/>
                          <a:ea typeface="Hiragino Sans"/>
                          <a:cs typeface="Hiragino Sans"/>
                        </a:rPr>
                        <a:t>局所真値実験</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非線形softmax、相関入力、弱い密ノイズ、d=30, C={3,5,8}, K=5、曲率={0.35,0.80}</a:t>
                      </a:r>
                    </a:p>
                  </a:txBody>
                  <a:tcPr marL="114300" marR="114300" marT="57150" marB="57150" anchor="ctr"/>
                </a:tc>
                <a:extLst>
                  <a:ext uri="{0D108BD9-81ED-4DB2-BD59-A6C34878D82A}">
                    <a16:rowId xmlns:a16="http://schemas.microsoft.com/office/drawing/2014/main" val="10002"/>
                  </a:ext>
                </a:extLst>
              </a:tr>
              <a:tr h="514350">
                <a:tc>
                  <a:txBody>
                    <a:bodyPr/>
                    <a:lstStyle/>
                    <a:p>
                      <a:r>
                        <a:rPr sz="1125" b="1">
                          <a:solidFill>
                            <a:srgbClr val="1479C9"/>
                          </a:solidFill>
                          <a:latin typeface="Hiragino Sans"/>
                          <a:ea typeface="Hiragino Sans"/>
                          <a:cs typeface="Hiragino Sans"/>
                        </a:rPr>
                        <a:t>反復と評価</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各条件20独立BB、各6説明点。真の局所勾配Top-5再現率＋未使用摂動での符号忠実度</a:t>
                      </a:r>
                    </a:p>
                  </a:txBody>
                  <a:tcPr marL="114300" marR="114300" marT="57150" marB="57150" anchor="ctr">
                    <a:solidFill>
                      <a:srgbClr val="FBFCFE"/>
                    </a:solidFill>
                  </a:tcPr>
                </a:tc>
                <a:extLst>
                  <a:ext uri="{0D108BD9-81ED-4DB2-BD59-A6C34878D82A}">
                    <a16:rowId xmlns:a16="http://schemas.microsoft.com/office/drawing/2014/main" val="10003"/>
                  </a:ext>
                </a:extLst>
              </a:tr>
              <a:tr h="514350">
                <a:tc>
                  <a:txBody>
                    <a:bodyPr/>
                    <a:lstStyle/>
                    <a:p>
                      <a:r>
                        <a:rPr sz="1125" b="1">
                          <a:solidFill>
                            <a:srgbClr val="1479C9"/>
                          </a:solidFill>
                          <a:latin typeface="Hiragino Sans"/>
                          <a:ea typeface="Hiragino Sans"/>
                          <a:cs typeface="Hiragino Sans"/>
                        </a:rPr>
                        <a:t>計算時間</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Random Forest 200本、d={8,14,20}, C=3〜10、各条件10 seeds、説明点4件</a:t>
                      </a:r>
                    </a:p>
                  </a:txBody>
                  <a:tcPr marL="114300" marR="114300" marT="57150" marB="57150" anchor="ctr"/>
                </a:tc>
                <a:extLst>
                  <a:ext uri="{0D108BD9-81ED-4DB2-BD59-A6C34878D82A}">
                    <a16:rowId xmlns:a16="http://schemas.microsoft.com/office/drawing/2014/main" val="10004"/>
                  </a:ext>
                </a:extLst>
              </a:tr>
              <a:tr h="514350">
                <a:tc>
                  <a:txBody>
                    <a:bodyPr/>
                    <a:lstStyle/>
                    <a:p>
                      <a:r>
                        <a:rPr sz="1125" b="1">
                          <a:solidFill>
                            <a:srgbClr val="1479C9"/>
                          </a:solidFill>
                          <a:latin typeface="Hiragino Sans"/>
                          <a:ea typeface="Hiragino Sans"/>
                          <a:cs typeface="Hiragino Sans"/>
                        </a:rPr>
                        <a:t>説明対象</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各入力における予測確率Top-1とTop-2。確率差が小さい点を優先</a:t>
                      </a:r>
                    </a:p>
                  </a:txBody>
                  <a:tcPr marL="114300" marR="114300" marT="57150" marB="57150" anchor="ctr">
                    <a:solidFill>
                      <a:srgbClr val="FBFCFE"/>
                    </a:solidFill>
                  </a:tcPr>
                </a:tc>
                <a:extLst>
                  <a:ext uri="{0D108BD9-81ED-4DB2-BD59-A6C34878D82A}">
                    <a16:rowId xmlns:a16="http://schemas.microsoft.com/office/drawing/2014/main" val="10005"/>
                  </a:ext>
                </a:extLst>
              </a:tr>
              <a:tr h="514350">
                <a:tc>
                  <a:txBody>
                    <a:bodyPr/>
                    <a:lstStyle/>
                    <a:p>
                      <a:r>
                        <a:rPr sz="1125" b="1">
                          <a:solidFill>
                            <a:srgbClr val="1479C9"/>
                          </a:solidFill>
                          <a:latin typeface="Hiragino Sans"/>
                          <a:ea typeface="Hiragino Sans"/>
                          <a:cs typeface="Hiragino Sans"/>
                        </a:rPr>
                        <a:t>摂動と局所重み</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各説明点でGaussian摂動300点。特徴標準偏差と指数カーネルを全手法で共有</a:t>
                      </a:r>
                    </a:p>
                  </a:txBody>
                  <a:tcPr marL="114300" marR="114300" marT="57150" marB="57150" anchor="ctr"/>
                </a:tc>
                <a:extLst>
                  <a:ext uri="{0D108BD9-81ED-4DB2-BD59-A6C34878D82A}">
                    <a16:rowId xmlns:a16="http://schemas.microsoft.com/office/drawing/2014/main" val="10006"/>
                  </a:ext>
                </a:extLst>
              </a:tr>
              <a:tr h="514350">
                <a:tc>
                  <a:txBody>
                    <a:bodyPr/>
                    <a:lstStyle/>
                    <a:p>
                      <a:r>
                        <a:rPr sz="1125" b="1">
                          <a:solidFill>
                            <a:srgbClr val="1479C9"/>
                          </a:solidFill>
                          <a:latin typeface="Hiragino Sans"/>
                          <a:ea typeface="Hiragino Sans"/>
                          <a:cs typeface="Hiragino Sans"/>
                        </a:rPr>
                        <a:t>特徴選択</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関連性・時間実験では同じK。Lasso pathで選択後、選択特徴だけで最終再fit</a:t>
                      </a:r>
                    </a:p>
                  </a:txBody>
                  <a:tcPr marL="114300" marR="114300" marT="57150" marB="57150" anchor="ctr">
                    <a:solidFill>
                      <a:srgbClr val="FBFCFE"/>
                    </a:solidFill>
                  </a:tcPr>
                </a:tc>
                <a:extLst>
                  <a:ext uri="{0D108BD9-81ED-4DB2-BD59-A6C34878D82A}">
                    <a16:rowId xmlns:a16="http://schemas.microsoft.com/office/drawing/2014/main" val="10007"/>
                  </a:ext>
                </a:extLst>
              </a:tr>
              <a:tr h="514350">
                <a:tc>
                  <a:txBody>
                    <a:bodyPr/>
                    <a:lstStyle/>
                    <a:p>
                      <a:r>
                        <a:rPr sz="1125" b="1">
                          <a:solidFill>
                            <a:srgbClr val="1479C9"/>
                          </a:solidFill>
                          <a:latin typeface="Hiragino Sans"/>
                          <a:ea typeface="Hiragino Sans"/>
                          <a:cs typeface="Hiragino Sans"/>
                        </a:rPr>
                        <a:t>サロゲート</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Ridge α=1.0、Logistic C=1.0。乱数も各条件内で手法間共有</a:t>
                      </a:r>
                    </a:p>
                  </a:txBody>
                  <a:tcPr marL="114300" marR="114300" marT="57150" marB="5715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1022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2F6021A5-FB3E-4B79-A6F8-B7DCE6EB2CCC}"/>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2BAF003A-2CC4-4ABE-91AE-27EE07AEF5D2}"/>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結果1：真の局所特徴を選べるか</a:t>
            </a:r>
          </a:p>
        </p:txBody>
      </p:sp>
      <p:sp>
        <p:nvSpPr>
          <p:cNvPr id="3" name="正方形/長方形 2">
            <a:extLst>
              <a:ext uri="{FF2B5EF4-FFF2-40B4-BE49-F238E27FC236}">
                <a16:creationId xmlns:a16="http://schemas.microsoft.com/office/drawing/2014/main" id="{9034DE62-E9A9-447A-9459-919E802B499D}"/>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非線形・相関・ノイズを含む30次元BB。各点の真のA/B勾配Top-5を数値計算</a:t>
            </a:r>
          </a:p>
        </p:txBody>
      </p:sp>
      <p:pic>
        <p:nvPicPr>
          <p:cNvPr id="20" name="図 19"/>
          <p:cNvPicPr>
            <a:picLocks noChangeAspect="1"/>
          </p:cNvPicPr>
          <p:nvPr/>
        </p:nvPicPr>
        <p:blipFill>
          <a:blip r:embed="rId3"/>
          <a:stretch/>
        </p:blipFill>
        <p:spPr>
          <a:xfrm>
            <a:off x="523875" y="2614166"/>
            <a:ext cx="8524875" cy="3572767"/>
          </a:xfrm>
          <a:prstGeom prst="rect">
            <a:avLst/>
          </a:prstGeom>
        </p:spPr>
      </p:pic>
      <p:sp>
        <p:nvSpPr>
          <p:cNvPr id="6" name="角丸四角形 5">
            <a:extLst>
              <a:ext uri="{FF2B5EF4-FFF2-40B4-BE49-F238E27FC236}">
                <a16:creationId xmlns:a16="http://schemas.microsoft.com/office/drawing/2014/main" id="{320073FC-A068-493B-9184-36B6599D264B}"/>
              </a:ext>
            </a:extLst>
          </p:cNvPr>
          <p:cNvSpPr>
            <a:spLocks noGrp="1"/>
          </p:cNvSpPr>
          <p:nvPr/>
        </p:nvSpPr>
        <p:spPr>
          <a:xfrm>
            <a:off x="9220200" y="2428875"/>
            <a:ext cx="2305050" cy="1162050"/>
          </a:xfrm>
          <a:prstGeom prst="roundRect">
            <a:avLst>
              <a:gd name="adj" fmla="val 6557"/>
            </a:avLst>
          </a:prstGeom>
          <a:solidFill>
            <a:srgbClr val="F7F9FC"/>
          </a:solidFill>
          <a:ln w="9525">
            <a:solidFill>
              <a:srgbClr val="E7EBF0"/>
            </a:solidFill>
          </a:ln>
        </p:spPr>
        <p:txBody>
          <a:bodyPr/>
          <a:lstStyle/>
          <a:p>
            <a:endParaRPr lang="ja-JP" altLang="en-US"/>
          </a:p>
        </p:txBody>
      </p:sp>
      <p:sp>
        <p:nvSpPr>
          <p:cNvPr id="7" name="正方形/長方形 6">
            <a:extLst>
              <a:ext uri="{FF2B5EF4-FFF2-40B4-BE49-F238E27FC236}">
                <a16:creationId xmlns:a16="http://schemas.microsoft.com/office/drawing/2014/main" id="{AA5A21CE-4DAF-4C05-9568-C0E74A110E0E}"/>
              </a:ext>
            </a:extLst>
          </p:cNvPr>
          <p:cNvSpPr>
            <a:spLocks noGrp="1"/>
          </p:cNvSpPr>
          <p:nvPr/>
        </p:nvSpPr>
        <p:spPr>
          <a:xfrm>
            <a:off x="9391650" y="2543175"/>
            <a:ext cx="1962150" cy="266700"/>
          </a:xfrm>
          <a:prstGeom prst="rect">
            <a:avLst/>
          </a:prstGeom>
          <a:noFill/>
          <a:ln w="0">
            <a:noFill/>
          </a:ln>
        </p:spPr>
        <p:txBody>
          <a:bodyPr anchor="ctr">
            <a:normAutofit fontScale="85185"/>
          </a:bodyPr>
          <a:lstStyle/>
          <a:p>
            <a:pPr algn="ctr">
              <a:defRPr sz="1350" b="1">
                <a:solidFill>
                  <a:srgbClr val="687386"/>
                </a:solidFill>
                <a:latin typeface="Hiragino Sans"/>
                <a:ea typeface="Hiragino Sans"/>
                <a:cs typeface="Hiragino Sans"/>
              </a:defRPr>
            </a:pPr>
            <a:r>
              <a:rPr sz="1350" b="1">
                <a:solidFill>
                  <a:srgbClr val="687386"/>
                </a:solidFill>
                <a:latin typeface="Hiragino Sans"/>
                <a:ea typeface="Hiragino Sans"/>
                <a:cs typeface="Hiragino Sans"/>
              </a:rPr>
              <a:t>全条件平均</a:t>
            </a:r>
          </a:p>
        </p:txBody>
      </p:sp>
      <p:sp>
        <p:nvSpPr>
          <p:cNvPr id="8" name="正方形/長方形 7">
            <a:extLst>
              <a:ext uri="{FF2B5EF4-FFF2-40B4-BE49-F238E27FC236}">
                <a16:creationId xmlns:a16="http://schemas.microsoft.com/office/drawing/2014/main" id="{42195F54-3AAC-4555-A421-85573DDFDB0A}"/>
              </a:ext>
            </a:extLst>
          </p:cNvPr>
          <p:cNvSpPr>
            <a:spLocks noGrp="1"/>
          </p:cNvSpPr>
          <p:nvPr/>
        </p:nvSpPr>
        <p:spPr>
          <a:xfrm>
            <a:off x="9391650" y="2886075"/>
            <a:ext cx="1962150" cy="533400"/>
          </a:xfrm>
          <a:prstGeom prst="rect">
            <a:avLst/>
          </a:prstGeom>
          <a:noFill/>
          <a:ln w="0">
            <a:noFill/>
          </a:ln>
        </p:spPr>
        <p:txBody>
          <a:bodyPr anchor="ctr">
            <a:normAutofit/>
          </a:bodyPr>
          <a:lstStyle/>
          <a:p>
            <a:pPr algn="ctr">
              <a:defRPr sz="2025" b="1">
                <a:solidFill>
                  <a:srgbClr val="687386"/>
                </a:solidFill>
                <a:latin typeface="Hiragino Sans"/>
                <a:ea typeface="Hiragino Sans"/>
                <a:cs typeface="Hiragino Sans"/>
              </a:defRPr>
            </a:pPr>
            <a:r>
              <a:rPr sz="2025" b="1">
                <a:solidFill>
                  <a:srgbClr val="687386"/>
                </a:solidFill>
                <a:latin typeface="Hiragino Sans"/>
                <a:ea typeface="Hiragino Sans"/>
                <a:cs typeface="Hiragino Sans"/>
              </a:rPr>
              <a:t>OVR  0.820</a:t>
            </a:r>
          </a:p>
        </p:txBody>
      </p:sp>
      <p:sp>
        <p:nvSpPr>
          <p:cNvPr id="9" name="角丸四角形 8">
            <a:extLst>
              <a:ext uri="{FF2B5EF4-FFF2-40B4-BE49-F238E27FC236}">
                <a16:creationId xmlns:a16="http://schemas.microsoft.com/office/drawing/2014/main" id="{4D28DE9F-8CA4-4F70-AAD2-3106582FD7A9}"/>
              </a:ext>
            </a:extLst>
          </p:cNvPr>
          <p:cNvSpPr>
            <a:spLocks noGrp="1"/>
          </p:cNvSpPr>
          <p:nvPr/>
        </p:nvSpPr>
        <p:spPr>
          <a:xfrm>
            <a:off x="9220200" y="3781425"/>
            <a:ext cx="2305050" cy="1219200"/>
          </a:xfrm>
          <a:prstGeom prst="roundRect">
            <a:avLst>
              <a:gd name="adj" fmla="val 6250"/>
            </a:avLst>
          </a:prstGeom>
          <a:solidFill>
            <a:srgbClr val="EAF4FB"/>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9582CB9E-AC87-4447-9DEE-52219695FAB9}"/>
              </a:ext>
            </a:extLst>
          </p:cNvPr>
          <p:cNvSpPr>
            <a:spLocks noGrp="1"/>
          </p:cNvSpPr>
          <p:nvPr/>
        </p:nvSpPr>
        <p:spPr>
          <a:xfrm>
            <a:off x="9391650" y="3952875"/>
            <a:ext cx="1962150" cy="838200"/>
          </a:xfrm>
          <a:prstGeom prst="rect">
            <a:avLst/>
          </a:prstGeom>
          <a:noFill/>
          <a:ln w="0">
            <a:noFill/>
          </a:ln>
        </p:spPr>
        <p:txBody>
          <a:bodyPr anchor="ctr">
            <a:normAutofit fontScale="85542"/>
          </a:bodyPr>
          <a:lstStyle/>
          <a:p>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2クラス通常LIME  0.913</a:t>
            </a:r>
          </a:p>
          <a:p>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Contrastive  0.926</a:t>
            </a:r>
          </a:p>
        </p:txBody>
      </p:sp>
      <p:sp>
        <p:nvSpPr>
          <p:cNvPr id="11" name="角丸四角形 10">
            <a:extLst>
              <a:ext uri="{FF2B5EF4-FFF2-40B4-BE49-F238E27FC236}">
                <a16:creationId xmlns:a16="http://schemas.microsoft.com/office/drawing/2014/main" id="{E5FFD85C-C62F-4D75-9A3D-748A7CB033A2}"/>
              </a:ext>
            </a:extLst>
          </p:cNvPr>
          <p:cNvSpPr>
            <a:spLocks noGrp="1"/>
          </p:cNvSpPr>
          <p:nvPr/>
        </p:nvSpPr>
        <p:spPr>
          <a:xfrm>
            <a:off x="9220200" y="5191125"/>
            <a:ext cx="2305050" cy="1266825"/>
          </a:xfrm>
          <a:prstGeom prst="roundRect">
            <a:avLst>
              <a:gd name="adj" fmla="val 6015"/>
            </a:avLst>
          </a:prstGeom>
          <a:solidFill>
            <a:srgbClr val="FFF4D6"/>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160B63F0-6EB7-4201-8645-0857765B54AF}"/>
              </a:ext>
            </a:extLst>
          </p:cNvPr>
          <p:cNvSpPr>
            <a:spLocks noGrp="1"/>
          </p:cNvSpPr>
          <p:nvPr/>
        </p:nvSpPr>
        <p:spPr>
          <a:xfrm>
            <a:off x="9391650" y="5381625"/>
            <a:ext cx="1962150" cy="685800"/>
          </a:xfrm>
          <a:prstGeom prst="rect">
            <a:avLst/>
          </a:prstGeom>
          <a:noFill/>
          <a:ln w="0">
            <a:noFill/>
          </a:ln>
        </p:spPr>
        <p:txBody>
          <a:bodyPr anchor="ctr">
            <a:normAutofit fontScale="98728" lnSpcReduction="10000"/>
          </a:bodyPr>
          <a:lstStyle/>
          <a:p>
            <a:pPr algn="ctr">
              <a:defRPr sz="1425" b="1">
                <a:solidFill>
                  <a:srgbClr val="2AA876"/>
                </a:solidFill>
                <a:latin typeface="Hiragino Sans"/>
                <a:ea typeface="Hiragino Sans"/>
                <a:cs typeface="Hiragino Sans"/>
              </a:defRPr>
            </a:pPr>
            <a:r>
              <a:rPr sz="1425" b="1">
                <a:solidFill>
                  <a:srgbClr val="2AA876"/>
                </a:solidFill>
                <a:latin typeface="Hiragino Sans"/>
                <a:ea typeface="Hiragino Sans"/>
                <a:cs typeface="Hiragino Sans"/>
              </a:rPr>
              <a:t>両方式とも</a:t>
            </a:r>
          </a:p>
          <a:p>
            <a:pPr algn="ctr">
              <a:defRPr sz="1425" b="1">
                <a:solidFill>
                  <a:srgbClr val="2AA876"/>
                </a:solidFill>
                <a:latin typeface="Hiragino Sans"/>
                <a:ea typeface="Hiragino Sans"/>
                <a:cs typeface="Hiragino Sans"/>
              </a:defRPr>
            </a:pPr>
            <a:r>
              <a:rPr sz="1425" b="1">
                <a:solidFill>
                  <a:srgbClr val="2AA876"/>
                </a:solidFill>
                <a:latin typeface="Hiragino Sans"/>
                <a:ea typeface="Hiragino Sans"/>
                <a:cs typeface="Hiragino Sans"/>
              </a:rPr>
              <a:t>OVRより全6条件で有意</a:t>
            </a:r>
          </a:p>
        </p:txBody>
      </p:sp>
      <p:sp>
        <p:nvSpPr>
          <p:cNvPr id="13" name="正方形/長方形 12">
            <a:extLst>
              <a:ext uri="{FF2B5EF4-FFF2-40B4-BE49-F238E27FC236}">
                <a16:creationId xmlns:a16="http://schemas.microsoft.com/office/drawing/2014/main" id="{E4BF0BB5-2941-4149-965F-BCAE15CECAFC}"/>
              </a:ext>
            </a:extLst>
          </p:cNvPr>
          <p:cNvSpPr>
            <a:spLocks noGrp="1"/>
          </p:cNvSpPr>
          <p:nvPr/>
        </p:nvSpPr>
        <p:spPr>
          <a:xfrm>
            <a:off x="9391650" y="6105525"/>
            <a:ext cx="1962150" cy="219075"/>
          </a:xfrm>
          <a:prstGeom prst="rect">
            <a:avLst/>
          </a:prstGeom>
          <a:noFill/>
          <a:ln w="0">
            <a:noFill/>
          </a:ln>
        </p:spPr>
        <p:txBody>
          <a:bodyPr anchor="ctr">
            <a:normAutofit fontScale="87262" lnSpcReduction="10000"/>
          </a:bodyPr>
          <a:lstStyle/>
          <a:p>
            <a:pPr algn="ctr">
              <a:defRPr sz="1050" b="0">
                <a:solidFill>
                  <a:srgbClr val="687386"/>
                </a:solidFill>
                <a:latin typeface="Hiragino Sans"/>
                <a:ea typeface="Hiragino Sans"/>
                <a:cs typeface="Hiragino Sans"/>
              </a:defRPr>
            </a:pPr>
            <a:r>
              <a:rPr sz="1050" b="0">
                <a:solidFill>
                  <a:srgbClr val="687386"/>
                </a:solidFill>
                <a:latin typeface="Hiragino Sans"/>
                <a:ea typeface="Hiragino Sans"/>
                <a:cs typeface="Hiragino Sans"/>
              </a:rPr>
              <a:t>Holm補正後</a:t>
            </a:r>
          </a:p>
        </p:txBody>
      </p:sp>
      <p:sp>
        <p:nvSpPr>
          <p:cNvPr id="950" name="metric-explain-bg"/>
          <p:cNvSpPr>
            <a:spLocks noGrp="1"/>
          </p:cNvSpPr>
          <p:nvPr/>
        </p:nvSpPr>
        <p:spPr>
          <a:xfrm>
            <a:off x="700000" y="1130000"/>
            <a:ext cx="8300000" cy="1350000"/>
          </a:xfrm>
          <a:prstGeom prst="roundRect">
            <a:avLst>
              <a:gd name="adj" fmla="val 6000"/>
            </a:avLst>
          </a:prstGeom>
          <a:solidFill>
            <a:srgbClr val="EAF4FB"/>
          </a:solidFill>
          <a:ln w="0">
            <a:noFill/>
          </a:ln>
        </p:spPr>
        <p:txBody>
          <a:bodyPr/>
          <a:lstStyle/>
          <a:p>
            <a:endParaRPr lang="ja-JP" altLang="en-US"/>
          </a:p>
        </p:txBody>
      </p:sp>
      <p:sp>
        <p:nvSpPr>
          <p:cNvPr id="951" name="metric-explain-text"/>
          <p:cNvSpPr>
            <a:spLocks noGrp="1"/>
          </p:cNvSpPr>
          <p:nvPr/>
        </p:nvSpPr>
        <p:spPr>
          <a:xfrm>
            <a:off x="950000" y="1250000"/>
            <a:ext cx="7800000" cy="1150000"/>
          </a:xfrm>
          <a:prstGeom prst="rect">
            <a:avLst/>
          </a:prstGeom>
          <a:noFill/>
          <a:ln w="0">
            <a:noFill/>
            <a:prstDash val="solid"/>
          </a:ln>
        </p:spPr>
        <p:txBody>
          <a:bodyPr lIns="0" tIns="0" rIns="0" bIns="0" anchor="t">
            <a:noAutofit/>
          </a:bodyPr>
          <a:lstStyle/>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評価指標：各説明点で、AとBの確率比を実際に動かしている「本当に重要な特徴」上位5個を</a:t>
            </a:r>
          </a:p>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あらかじめ数値計算で求めておき、各手法が選んだ上位5特徴と何個一致したかを再現率として測る</a:t>
            </a:r>
          </a:p>
        </p:txBody>
      </p:sp>
    </p:spTree>
    <p:extLst>
      <p:ext uri="{BB962C8B-B14F-4D97-AF65-F5344CB8AC3E}">
        <p14:creationId xmlns:p14="http://schemas.microsoft.com/office/powerpoint/2010/main" val="1791297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4DCB69D2-1432-4371-8A1C-1D15C4DD8890}"/>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24C63779-04D4-425B-BE8D-9448B5D50E4A}"/>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結果2：未知の近傍でも判定を再現できるか</a:t>
            </a:r>
          </a:p>
        </p:txBody>
      </p:sp>
      <p:sp>
        <p:nvSpPr>
          <p:cNvPr id="3" name="正方形/長方形 2">
            <a:extLst>
              <a:ext uri="{FF2B5EF4-FFF2-40B4-BE49-F238E27FC236}">
                <a16:creationId xmlns:a16="http://schemas.microsoft.com/office/drawing/2014/main" id="{B0B9591A-3D81-403E-A9FC-B7A0A65CF007}"/>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結果1と同じ非線形BBで、学習に使っていない400摂動上のA/B判定を評価</a:t>
            </a:r>
          </a:p>
        </p:txBody>
      </p:sp>
      <p:pic>
        <p:nvPicPr>
          <p:cNvPr id="20" name="図 19"/>
          <p:cNvPicPr>
            <a:picLocks noChangeAspect="1"/>
          </p:cNvPicPr>
          <p:nvPr/>
        </p:nvPicPr>
        <p:blipFill>
          <a:blip r:embed="rId3"/>
          <a:stretch/>
        </p:blipFill>
        <p:spPr>
          <a:xfrm>
            <a:off x="514350" y="2604641"/>
            <a:ext cx="8524875" cy="3572767"/>
          </a:xfrm>
          <a:prstGeom prst="rect">
            <a:avLst/>
          </a:prstGeom>
        </p:spPr>
      </p:pic>
      <p:sp>
        <p:nvSpPr>
          <p:cNvPr id="6" name="角丸四角形 5">
            <a:extLst>
              <a:ext uri="{FF2B5EF4-FFF2-40B4-BE49-F238E27FC236}">
                <a16:creationId xmlns:a16="http://schemas.microsoft.com/office/drawing/2014/main" id="{A1680A8C-917F-49BA-9194-1A2AF8480FF1}"/>
              </a:ext>
            </a:extLst>
          </p:cNvPr>
          <p:cNvSpPr>
            <a:spLocks noGrp="1"/>
          </p:cNvSpPr>
          <p:nvPr/>
        </p:nvSpPr>
        <p:spPr>
          <a:xfrm>
            <a:off x="9210675" y="2419350"/>
            <a:ext cx="2305050" cy="1162050"/>
          </a:xfrm>
          <a:prstGeom prst="roundRect">
            <a:avLst>
              <a:gd name="adj" fmla="val 6557"/>
            </a:avLst>
          </a:prstGeom>
          <a:solidFill>
            <a:srgbClr val="F7F9FC"/>
          </a:solidFill>
          <a:ln w="9525">
            <a:solidFill>
              <a:srgbClr val="E7EBF0"/>
            </a:solidFill>
          </a:ln>
        </p:spPr>
        <p:txBody>
          <a:bodyPr/>
          <a:lstStyle/>
          <a:p>
            <a:endParaRPr lang="ja-JP" altLang="en-US"/>
          </a:p>
        </p:txBody>
      </p:sp>
      <p:sp>
        <p:nvSpPr>
          <p:cNvPr id="7" name="正方形/長方形 6">
            <a:extLst>
              <a:ext uri="{FF2B5EF4-FFF2-40B4-BE49-F238E27FC236}">
                <a16:creationId xmlns:a16="http://schemas.microsoft.com/office/drawing/2014/main" id="{A32D2F38-BC99-464A-8C1E-2E45CA143A3C}"/>
              </a:ext>
            </a:extLst>
          </p:cNvPr>
          <p:cNvSpPr>
            <a:spLocks noGrp="1"/>
          </p:cNvSpPr>
          <p:nvPr/>
        </p:nvSpPr>
        <p:spPr>
          <a:xfrm>
            <a:off x="9382125" y="2533650"/>
            <a:ext cx="1962150" cy="266700"/>
          </a:xfrm>
          <a:prstGeom prst="rect">
            <a:avLst/>
          </a:prstGeom>
          <a:noFill/>
          <a:ln w="0">
            <a:noFill/>
          </a:ln>
        </p:spPr>
        <p:txBody>
          <a:bodyPr anchor="ctr">
            <a:normAutofit fontScale="85185"/>
          </a:bodyPr>
          <a:lstStyle/>
          <a:p>
            <a:pPr algn="ctr">
              <a:defRPr sz="1350" b="1">
                <a:solidFill>
                  <a:srgbClr val="687386"/>
                </a:solidFill>
                <a:latin typeface="Hiragino Sans"/>
                <a:ea typeface="Hiragino Sans"/>
                <a:cs typeface="Hiragino Sans"/>
              </a:defRPr>
            </a:pPr>
            <a:r>
              <a:rPr sz="1350" b="1">
                <a:solidFill>
                  <a:srgbClr val="687386"/>
                </a:solidFill>
                <a:latin typeface="Hiragino Sans"/>
                <a:ea typeface="Hiragino Sans"/>
                <a:cs typeface="Hiragino Sans"/>
              </a:rPr>
              <a:t>全条件平均</a:t>
            </a:r>
          </a:p>
        </p:txBody>
      </p:sp>
      <p:sp>
        <p:nvSpPr>
          <p:cNvPr id="8" name="正方形/長方形 7">
            <a:extLst>
              <a:ext uri="{FF2B5EF4-FFF2-40B4-BE49-F238E27FC236}">
                <a16:creationId xmlns:a16="http://schemas.microsoft.com/office/drawing/2014/main" id="{DCCC3293-52D1-49FF-B093-0C4DE2F11D96}"/>
              </a:ext>
            </a:extLst>
          </p:cNvPr>
          <p:cNvSpPr>
            <a:spLocks noGrp="1"/>
          </p:cNvSpPr>
          <p:nvPr/>
        </p:nvSpPr>
        <p:spPr>
          <a:xfrm>
            <a:off x="9382125" y="2876550"/>
            <a:ext cx="1962150" cy="533400"/>
          </a:xfrm>
          <a:prstGeom prst="rect">
            <a:avLst/>
          </a:prstGeom>
          <a:noFill/>
          <a:ln w="0">
            <a:noFill/>
          </a:ln>
        </p:spPr>
        <p:txBody>
          <a:bodyPr anchor="ctr">
            <a:normAutofit/>
          </a:bodyPr>
          <a:lstStyle/>
          <a:p>
            <a:pPr algn="ctr">
              <a:defRPr sz="2025" b="1">
                <a:solidFill>
                  <a:srgbClr val="687386"/>
                </a:solidFill>
                <a:latin typeface="Hiragino Sans"/>
                <a:ea typeface="Hiragino Sans"/>
                <a:cs typeface="Hiragino Sans"/>
              </a:defRPr>
            </a:pPr>
            <a:r>
              <a:rPr sz="2025" b="1">
                <a:solidFill>
                  <a:srgbClr val="687386"/>
                </a:solidFill>
                <a:latin typeface="Hiragino Sans"/>
                <a:ea typeface="Hiragino Sans"/>
                <a:cs typeface="Hiragino Sans"/>
              </a:rPr>
              <a:t>OVR  0.887</a:t>
            </a:r>
          </a:p>
        </p:txBody>
      </p:sp>
      <p:sp>
        <p:nvSpPr>
          <p:cNvPr id="9" name="角丸四角形 8">
            <a:extLst>
              <a:ext uri="{FF2B5EF4-FFF2-40B4-BE49-F238E27FC236}">
                <a16:creationId xmlns:a16="http://schemas.microsoft.com/office/drawing/2014/main" id="{1384D89E-BA46-4CB5-B3F4-EF5BB3B0490E}"/>
              </a:ext>
            </a:extLst>
          </p:cNvPr>
          <p:cNvSpPr>
            <a:spLocks noGrp="1"/>
          </p:cNvSpPr>
          <p:nvPr/>
        </p:nvSpPr>
        <p:spPr>
          <a:xfrm>
            <a:off x="9210675" y="3771900"/>
            <a:ext cx="2305050" cy="1219200"/>
          </a:xfrm>
          <a:prstGeom prst="roundRect">
            <a:avLst>
              <a:gd name="adj" fmla="val 6250"/>
            </a:avLst>
          </a:prstGeom>
          <a:solidFill>
            <a:srgbClr val="EAF4FB"/>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0769DAC5-5E57-43A6-A795-EC7D92312F33}"/>
              </a:ext>
            </a:extLst>
          </p:cNvPr>
          <p:cNvSpPr>
            <a:spLocks noGrp="1"/>
          </p:cNvSpPr>
          <p:nvPr/>
        </p:nvSpPr>
        <p:spPr>
          <a:xfrm>
            <a:off x="9382125" y="3943350"/>
            <a:ext cx="1962150" cy="838200"/>
          </a:xfrm>
          <a:prstGeom prst="rect">
            <a:avLst/>
          </a:prstGeom>
          <a:noFill/>
          <a:ln w="0">
            <a:noFill/>
          </a:ln>
        </p:spPr>
        <p:txBody>
          <a:bodyPr anchor="ctr">
            <a:normAutofit fontScale="85542"/>
          </a:bodyPr>
          <a:lstStyle/>
          <a:p>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2クラス通常LIME  0.898</a:t>
            </a:r>
          </a:p>
          <a:p>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Contrastive  0.901</a:t>
            </a:r>
          </a:p>
        </p:txBody>
      </p:sp>
      <p:sp>
        <p:nvSpPr>
          <p:cNvPr id="11" name="角丸四角形 10">
            <a:extLst>
              <a:ext uri="{FF2B5EF4-FFF2-40B4-BE49-F238E27FC236}">
                <a16:creationId xmlns:a16="http://schemas.microsoft.com/office/drawing/2014/main" id="{2D37DFB8-5DCB-40A9-BEAD-598D75295A61}"/>
              </a:ext>
            </a:extLst>
          </p:cNvPr>
          <p:cNvSpPr>
            <a:spLocks noGrp="1"/>
          </p:cNvSpPr>
          <p:nvPr/>
        </p:nvSpPr>
        <p:spPr>
          <a:xfrm>
            <a:off x="9210675" y="5181600"/>
            <a:ext cx="2305050" cy="1266825"/>
          </a:xfrm>
          <a:prstGeom prst="roundRect">
            <a:avLst>
              <a:gd name="adj" fmla="val 6015"/>
            </a:avLst>
          </a:prstGeom>
          <a:solidFill>
            <a:srgbClr val="FFF4D6"/>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BBFB2DF5-FE5E-4201-B094-28585033CA2E}"/>
              </a:ext>
            </a:extLst>
          </p:cNvPr>
          <p:cNvSpPr>
            <a:spLocks noGrp="1"/>
          </p:cNvSpPr>
          <p:nvPr/>
        </p:nvSpPr>
        <p:spPr>
          <a:xfrm>
            <a:off x="9382125" y="5372100"/>
            <a:ext cx="1962150" cy="685800"/>
          </a:xfrm>
          <a:prstGeom prst="rect">
            <a:avLst/>
          </a:prstGeom>
          <a:noFill/>
          <a:ln w="0">
            <a:noFill/>
          </a:ln>
        </p:spPr>
        <p:txBody>
          <a:bodyPr anchor="ctr">
            <a:normAutofit/>
          </a:bodyPr>
          <a:lstStyle/>
          <a:p>
            <a:pPr algn="ctr">
              <a:defRPr sz="1575" b="1">
                <a:solidFill>
                  <a:srgbClr val="F28C28"/>
                </a:solidFill>
                <a:latin typeface="Hiragino Sans"/>
                <a:ea typeface="Hiragino Sans"/>
                <a:cs typeface="Hiragino Sans"/>
              </a:defRPr>
            </a:pPr>
            <a:r>
              <a:rPr sz="1575" b="1" dirty="0">
                <a:solidFill>
                  <a:srgbClr val="F28C28"/>
                </a:solidFill>
                <a:latin typeface="Hiragino Sans"/>
                <a:ea typeface="Hiragino Sans"/>
                <a:cs typeface="Hiragino Sans"/>
              </a:rPr>
              <a:t>改善は約1ポイント</a:t>
            </a:r>
          </a:p>
          <a:p>
            <a:pPr algn="ctr">
              <a:defRPr sz="1575" b="1">
                <a:solidFill>
                  <a:srgbClr val="F28C28"/>
                </a:solidFill>
                <a:latin typeface="Hiragino Sans"/>
                <a:ea typeface="Hiragino Sans"/>
                <a:cs typeface="Hiragino Sans"/>
              </a:defRPr>
            </a:pPr>
            <a:r>
              <a:rPr sz="1575" b="1" dirty="0" err="1">
                <a:solidFill>
                  <a:srgbClr val="F28C28"/>
                </a:solidFill>
                <a:latin typeface="Hiragino Sans"/>
                <a:ea typeface="Hiragino Sans"/>
                <a:cs typeface="Hiragino Sans"/>
              </a:rPr>
              <a:t>大差ではない</a:t>
            </a:r>
            <a:endParaRPr sz="1575" b="1" dirty="0">
              <a:solidFill>
                <a:srgbClr val="F28C28"/>
              </a:solidFill>
              <a:latin typeface="Hiragino Sans"/>
              <a:ea typeface="Hiragino Sans"/>
              <a:cs typeface="Hiragino Sans"/>
            </a:endParaRPr>
          </a:p>
        </p:txBody>
      </p:sp>
      <p:sp>
        <p:nvSpPr>
          <p:cNvPr id="13" name="正方形/長方形 12">
            <a:extLst>
              <a:ext uri="{FF2B5EF4-FFF2-40B4-BE49-F238E27FC236}">
                <a16:creationId xmlns:a16="http://schemas.microsoft.com/office/drawing/2014/main" id="{86D4E878-E694-41BD-83C9-0A7DBCAABC34}"/>
              </a:ext>
            </a:extLst>
          </p:cNvPr>
          <p:cNvSpPr>
            <a:spLocks noGrp="1"/>
          </p:cNvSpPr>
          <p:nvPr/>
        </p:nvSpPr>
        <p:spPr>
          <a:xfrm>
            <a:off x="9382125" y="6096000"/>
            <a:ext cx="1962150" cy="219075"/>
          </a:xfrm>
          <a:prstGeom prst="rect">
            <a:avLst/>
          </a:prstGeom>
          <a:noFill/>
          <a:ln w="0">
            <a:noFill/>
          </a:ln>
        </p:spPr>
        <p:txBody>
          <a:bodyPr anchor="ctr">
            <a:normAutofit fontScale="87262" lnSpcReduction="10000"/>
          </a:bodyPr>
          <a:lstStyle/>
          <a:p>
            <a:pPr algn="ctr">
              <a:defRPr sz="1050" b="0">
                <a:solidFill>
                  <a:srgbClr val="2AA876"/>
                </a:solidFill>
                <a:latin typeface="Hiragino Sans"/>
                <a:ea typeface="Hiragino Sans"/>
                <a:cs typeface="Hiragino Sans"/>
              </a:defRPr>
            </a:pPr>
            <a:r>
              <a:rPr sz="1050" b="0">
                <a:solidFill>
                  <a:srgbClr val="2AA876"/>
                </a:solidFill>
                <a:latin typeface="Hiragino Sans"/>
                <a:ea typeface="Hiragino Sans"/>
                <a:cs typeface="Hiragino Sans"/>
              </a:rPr>
              <a:t>両方式とも6/6条件で有意</a:t>
            </a:r>
          </a:p>
        </p:txBody>
      </p:sp>
      <p:sp>
        <p:nvSpPr>
          <p:cNvPr id="950" name="metric-explain-bg"/>
          <p:cNvSpPr>
            <a:spLocks noGrp="1"/>
          </p:cNvSpPr>
          <p:nvPr/>
        </p:nvSpPr>
        <p:spPr>
          <a:xfrm>
            <a:off x="700000" y="1130000"/>
            <a:ext cx="8300000" cy="1350000"/>
          </a:xfrm>
          <a:prstGeom prst="roundRect">
            <a:avLst>
              <a:gd name="adj" fmla="val 6000"/>
            </a:avLst>
          </a:prstGeom>
          <a:solidFill>
            <a:srgbClr val="EAF4FB"/>
          </a:solidFill>
          <a:ln w="0">
            <a:noFill/>
          </a:ln>
        </p:spPr>
        <p:txBody>
          <a:bodyPr/>
          <a:lstStyle/>
          <a:p>
            <a:endParaRPr lang="ja-JP" altLang="en-US"/>
          </a:p>
        </p:txBody>
      </p:sp>
      <p:sp>
        <p:nvSpPr>
          <p:cNvPr id="951" name="metric-explain-text"/>
          <p:cNvSpPr>
            <a:spLocks noGrp="1"/>
          </p:cNvSpPr>
          <p:nvPr/>
        </p:nvSpPr>
        <p:spPr>
          <a:xfrm>
            <a:off x="950000" y="1250000"/>
            <a:ext cx="7800000" cy="1150000"/>
          </a:xfrm>
          <a:prstGeom prst="rect">
            <a:avLst/>
          </a:prstGeom>
          <a:noFill/>
          <a:ln w="0">
            <a:noFill/>
            <a:prstDash val="solid"/>
          </a:ln>
        </p:spPr>
        <p:txBody>
          <a:bodyPr lIns="0" tIns="0" rIns="0" bIns="0" anchor="t">
            <a:noAutofit/>
          </a:bodyPr>
          <a:lstStyle/>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評価指標：学習には使っていない未知の摂動点400個を用意し、各手法の説明が</a:t>
            </a:r>
          </a:p>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「AとBどちらが優勢か」をブラックボックスの実際の判定とどれだけ一致させられるかを測る</a:t>
            </a:r>
          </a:p>
        </p:txBody>
      </p:sp>
    </p:spTree>
    <p:extLst>
      <p:ext uri="{BB962C8B-B14F-4D97-AF65-F5344CB8AC3E}">
        <p14:creationId xmlns:p14="http://schemas.microsoft.com/office/powerpoint/2010/main" val="1261852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5BE9303-D8C0-47EF-8220-BB81C6525F78}"/>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183513A9-4CCA-42B4-81F9-D50ACA303BF9}"/>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結果3：クラス数が増えたときの計算時間</a:t>
            </a:r>
          </a:p>
        </p:txBody>
      </p:sp>
      <p:sp>
        <p:nvSpPr>
          <p:cNvPr id="3" name="正方形/長方形 2">
            <a:extLst>
              <a:ext uri="{FF2B5EF4-FFF2-40B4-BE49-F238E27FC236}">
                <a16:creationId xmlns:a16="http://schemas.microsoft.com/office/drawing/2014/main" id="{43CCC51C-F78F-402A-A953-87432076637A}"/>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Top-1対Top-2の1ペアだけを説明。特徴選択＋選択後の最終再学習を測定</a:t>
            </a:r>
          </a:p>
        </p:txBody>
      </p:sp>
      <p:pic>
        <p:nvPicPr>
          <p:cNvPr id="12" name="図 11"/>
          <p:cNvPicPr>
            <a:picLocks noChangeAspect="1"/>
          </p:cNvPicPr>
          <p:nvPr/>
        </p:nvPicPr>
        <p:blipFill>
          <a:blip r:embed="rId3"/>
          <a:stretch/>
        </p:blipFill>
        <p:spPr>
          <a:xfrm>
            <a:off x="656947" y="1123950"/>
            <a:ext cx="10878106" cy="4552950"/>
          </a:xfrm>
          <a:prstGeom prst="rect">
            <a:avLst/>
          </a:prstGeom>
        </p:spPr>
      </p:pic>
      <p:sp>
        <p:nvSpPr>
          <p:cNvPr id="6" name="角丸四角形 5">
            <a:extLst>
              <a:ext uri="{FF2B5EF4-FFF2-40B4-BE49-F238E27FC236}">
                <a16:creationId xmlns:a16="http://schemas.microsoft.com/office/drawing/2014/main" id="{7947CD97-3DE1-41FF-8046-11678AA24782}"/>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13DC71E6-B70C-48C1-B4E1-AA6DA63574C9}"/>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Hiragino Sans"/>
                <a:ea typeface="Hiragino Sans"/>
                <a:cs typeface="Hiragino Sans"/>
              </a:defRPr>
            </a:pPr>
            <a:r>
              <a:rPr sz="1350" b="1" dirty="0">
                <a:solidFill>
                  <a:srgbClr val="1479C9"/>
                </a:solidFill>
                <a:latin typeface="Hiragino Sans"/>
                <a:ea typeface="Hiragino Sans"/>
                <a:cs typeface="Hiragino Sans"/>
              </a:rPr>
              <a:t>C=10ではOVR 63.46msに対し、2クラスLIME 6.48ms・Contrastive 6.51msで約10分の1</a:t>
            </a:r>
          </a:p>
        </p:txBody>
      </p:sp>
    </p:spTree>
    <p:extLst>
      <p:ext uri="{BB962C8B-B14F-4D97-AF65-F5344CB8AC3E}">
        <p14:creationId xmlns:p14="http://schemas.microsoft.com/office/powerpoint/2010/main" val="602216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8023B-1113-20DC-9629-DA8A1A9E75EF}"/>
            </a:ext>
          </a:extLst>
        </p:cNvPr>
        <p:cNvGrpSpPr/>
        <p:nvPr/>
      </p:nvGrpSpPr>
      <p:grpSpPr>
        <a:xfrm>
          <a:off x="0" y="0"/>
          <a:ext cx="0" cy="0"/>
          <a:chOff x="0" y="0"/>
          <a:chExt cx="0" cy="0"/>
        </a:xfrm>
      </p:grpSpPr>
      <p:sp>
        <p:nvSpPr>
          <p:cNvPr id="2" name="accent-bar">
            <a:extLst>
              <a:ext uri="{FF2B5EF4-FFF2-40B4-BE49-F238E27FC236}">
                <a16:creationId xmlns:a16="http://schemas.microsoft.com/office/drawing/2014/main" id="{D2D53574-14F8-2805-EC19-0AACFF8EC7F9}"/>
              </a:ext>
            </a:extLst>
          </p:cNvPr>
          <p:cNvSpPr>
            <a:spLocks noGrp="1"/>
          </p:cNvSpPr>
          <p:nvPr/>
        </p:nvSpPr>
        <p:spPr>
          <a:xfrm>
            <a:off x="514350" y="409575"/>
            <a:ext cx="114300" cy="476250"/>
          </a:xfrm>
          <a:prstGeom prst="rect">
            <a:avLst/>
          </a:prstGeom>
          <a:solidFill>
            <a:srgbClr val="156082"/>
          </a:solidFill>
          <a:ln w="0">
            <a:noFill/>
            <a:prstDash val="solid"/>
          </a:ln>
        </p:spPr>
        <p:txBody>
          <a:bodyPr/>
          <a:lstStyle/>
          <a:p>
            <a:endParaRPr lang="ja-JP" noProof="0"/>
          </a:p>
        </p:txBody>
      </p:sp>
      <p:sp>
        <p:nvSpPr>
          <p:cNvPr id="3" name="title">
            <a:extLst>
              <a:ext uri="{FF2B5EF4-FFF2-40B4-BE49-F238E27FC236}">
                <a16:creationId xmlns:a16="http://schemas.microsoft.com/office/drawing/2014/main" id="{883FBF8A-9D91-8D7A-E616-3C0B713F16F5}"/>
              </a:ext>
            </a:extLst>
          </p:cNvPr>
          <p:cNvSpPr>
            <a:spLocks noGrp="1"/>
          </p:cNvSpPr>
          <p:nvPr/>
        </p:nvSpPr>
        <p:spPr>
          <a:xfrm>
            <a:off x="762000" y="342900"/>
            <a:ext cx="10668000" cy="476250"/>
          </a:xfrm>
          <a:prstGeom prst="rect">
            <a:avLst/>
          </a:prstGeom>
          <a:noFill/>
          <a:ln w="0">
            <a:noFill/>
            <a:prstDash val="solid"/>
          </a:ln>
        </p:spPr>
        <p:txBody>
          <a:bodyPr lIns="0" tIns="0" rIns="0" bIns="0" anchor="ctr">
            <a:noAutofit/>
          </a:bodyPr>
          <a:lstStyle/>
          <a:p>
            <a:pPr algn="l">
              <a:buNone/>
              <a:defRPr sz="2550" b="1">
                <a:solidFill>
                  <a:srgbClr val="17233D"/>
                </a:solidFill>
                <a:latin typeface="Hiragino Sans"/>
                <a:ea typeface="Hiragino Sans"/>
                <a:cs typeface="Hiragino Sans"/>
              </a:defRPr>
            </a:pPr>
            <a:r>
              <a:rPr lang="ja-JP" sz="2550" b="1" noProof="0">
                <a:solidFill>
                  <a:srgbClr val="17233D"/>
                </a:solidFill>
                <a:latin typeface="Hiragino Sans"/>
                <a:ea typeface="Hiragino Sans"/>
                <a:cs typeface="Hiragino Sans"/>
              </a:rPr>
              <a:t>目次</a:t>
            </a:r>
          </a:p>
        </p:txBody>
      </p:sp>
      <p:sp>
        <p:nvSpPr>
          <p:cNvPr id="6" name="toc-item-0">
            <a:extLst>
              <a:ext uri="{FF2B5EF4-FFF2-40B4-BE49-F238E27FC236}">
                <a16:creationId xmlns:a16="http://schemas.microsoft.com/office/drawing/2014/main" id="{553640C9-401A-855C-62FE-3D023B0CE46F}"/>
              </a:ext>
            </a:extLst>
          </p:cNvPr>
          <p:cNvSpPr>
            <a:spLocks noGrp="1"/>
          </p:cNvSpPr>
          <p:nvPr/>
        </p:nvSpPr>
        <p:spPr>
          <a:xfrm>
            <a:off x="1200000" y="150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1. XAI（説明可能なAI）</a:t>
            </a:r>
          </a:p>
        </p:txBody>
      </p:sp>
      <p:sp>
        <p:nvSpPr>
          <p:cNvPr id="7" name="toc-item-1">
            <a:extLst>
              <a:ext uri="{FF2B5EF4-FFF2-40B4-BE49-F238E27FC236}">
                <a16:creationId xmlns:a16="http://schemas.microsoft.com/office/drawing/2014/main" id="{1D029715-49A4-DFA5-93A5-5AB51BE94352}"/>
              </a:ext>
            </a:extLst>
          </p:cNvPr>
          <p:cNvSpPr>
            <a:spLocks noGrp="1"/>
          </p:cNvSpPr>
          <p:nvPr/>
        </p:nvSpPr>
        <p:spPr>
          <a:xfrm>
            <a:off x="1200000" y="21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2. LIME</a:t>
            </a:r>
          </a:p>
        </p:txBody>
      </p:sp>
      <p:sp>
        <p:nvSpPr>
          <p:cNvPr id="8" name="toc-item-2">
            <a:extLst>
              <a:ext uri="{FF2B5EF4-FFF2-40B4-BE49-F238E27FC236}">
                <a16:creationId xmlns:a16="http://schemas.microsoft.com/office/drawing/2014/main" id="{FF43227E-CA78-D86B-836E-3CE4EA10C533}"/>
              </a:ext>
            </a:extLst>
          </p:cNvPr>
          <p:cNvSpPr>
            <a:spLocks noGrp="1"/>
          </p:cNvSpPr>
          <p:nvPr/>
        </p:nvSpPr>
        <p:spPr>
          <a:xfrm>
            <a:off x="1200000" y="274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3. 多クラスに応用したLIME</a:t>
            </a:r>
          </a:p>
        </p:txBody>
      </p:sp>
      <p:sp>
        <p:nvSpPr>
          <p:cNvPr id="9" name="toc-item-3">
            <a:extLst>
              <a:ext uri="{FF2B5EF4-FFF2-40B4-BE49-F238E27FC236}">
                <a16:creationId xmlns:a16="http://schemas.microsoft.com/office/drawing/2014/main" id="{B8688290-D6BA-EE27-7BE3-1AFBE49F8F2E}"/>
              </a:ext>
            </a:extLst>
          </p:cNvPr>
          <p:cNvSpPr>
            <a:spLocks noGrp="1"/>
          </p:cNvSpPr>
          <p:nvPr/>
        </p:nvSpPr>
        <p:spPr>
          <a:xfrm>
            <a:off x="1200000" y="336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4. 関連研究</a:t>
            </a:r>
          </a:p>
        </p:txBody>
      </p:sp>
      <p:sp>
        <p:nvSpPr>
          <p:cNvPr id="10" name="toc-item-4">
            <a:extLst>
              <a:ext uri="{FF2B5EF4-FFF2-40B4-BE49-F238E27FC236}">
                <a16:creationId xmlns:a16="http://schemas.microsoft.com/office/drawing/2014/main" id="{A9986BF8-3857-FF53-45DE-3181DBD11449}"/>
              </a:ext>
            </a:extLst>
          </p:cNvPr>
          <p:cNvSpPr>
            <a:spLocks noGrp="1"/>
          </p:cNvSpPr>
          <p:nvPr/>
        </p:nvSpPr>
        <p:spPr>
          <a:xfrm>
            <a:off x="1200000" y="398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5. 提案手法</a:t>
            </a:r>
          </a:p>
        </p:txBody>
      </p:sp>
      <p:sp>
        <p:nvSpPr>
          <p:cNvPr id="11" name="toc-item-5">
            <a:extLst>
              <a:ext uri="{FF2B5EF4-FFF2-40B4-BE49-F238E27FC236}">
                <a16:creationId xmlns:a16="http://schemas.microsoft.com/office/drawing/2014/main" id="{E24911AD-1199-ED71-8818-ECD6276ABF23}"/>
              </a:ext>
            </a:extLst>
          </p:cNvPr>
          <p:cNvSpPr>
            <a:spLocks noGrp="1"/>
          </p:cNvSpPr>
          <p:nvPr/>
        </p:nvSpPr>
        <p:spPr>
          <a:xfrm>
            <a:off x="1200000" y="4600000"/>
            <a:ext cx="9792000" cy="620000"/>
          </a:xfrm>
          <a:prstGeom prst="rect">
            <a:avLst/>
          </a:prstGeom>
          <a:noFill/>
          <a:ln w="0">
            <a:noFill/>
            <a:prstDash val="solid"/>
          </a:ln>
        </p:spPr>
        <p:txBody>
          <a:bodyPr lIns="0" tIns="0" rIns="0" bIns="0" anchor="ctr">
            <a:noAutofit/>
          </a:bodyPr>
          <a:lstStyle/>
          <a:p>
            <a:pPr>
              <a:defRPr sz="1600" b="0">
                <a:solidFill>
                  <a:srgbClr val="B9BEC4"/>
                </a:solidFill>
                <a:latin typeface="Hiragino Sans"/>
                <a:ea typeface="Hiragino Sans"/>
                <a:cs typeface="Hiragino Sans"/>
              </a:defRPr>
            </a:pPr>
            <a:r>
              <a:rPr lang="ja-JP" sz="1600" noProof="0">
                <a:solidFill>
                  <a:srgbClr val="B9BEC4"/>
                </a:solidFill>
                <a:latin typeface="Hiragino Sans"/>
                <a:ea typeface="Hiragino Sans"/>
              </a:rPr>
              <a:t>　　6. 実験と考察</a:t>
            </a:r>
          </a:p>
        </p:txBody>
      </p:sp>
      <p:sp>
        <p:nvSpPr>
          <p:cNvPr id="12" name="toc-item-6">
            <a:extLst>
              <a:ext uri="{FF2B5EF4-FFF2-40B4-BE49-F238E27FC236}">
                <a16:creationId xmlns:a16="http://schemas.microsoft.com/office/drawing/2014/main" id="{5B372183-15FD-0FBB-A864-7764C0B2A563}"/>
              </a:ext>
            </a:extLst>
          </p:cNvPr>
          <p:cNvSpPr>
            <a:spLocks noGrp="1"/>
          </p:cNvSpPr>
          <p:nvPr/>
        </p:nvSpPr>
        <p:spPr>
          <a:xfrm>
            <a:off x="1200000" y="5220000"/>
            <a:ext cx="9792000" cy="620000"/>
          </a:xfrm>
          <a:prstGeom prst="rect">
            <a:avLst/>
          </a:prstGeom>
          <a:noFill/>
          <a:ln w="0">
            <a:noFill/>
            <a:prstDash val="solid"/>
          </a:ln>
        </p:spPr>
        <p:txBody>
          <a:bodyPr lIns="0" tIns="0" rIns="0" bIns="0" anchor="ctr">
            <a:noAutofit/>
          </a:bodyPr>
          <a:lstStyle/>
          <a:p>
            <a:pPr algn="l">
              <a:buNone/>
              <a:defRPr sz="1600" b="0">
                <a:solidFill>
                  <a:srgbClr val="B9BEC4"/>
                </a:solidFill>
                <a:latin typeface="Hiragino Sans"/>
                <a:ea typeface="Hiragino Sans"/>
                <a:cs typeface="Hiragino Sans"/>
              </a:defRPr>
            </a:pPr>
            <a:r>
              <a:rPr lang="ja-JP" sz="1600" b="0" noProof="0">
                <a:solidFill>
                  <a:srgbClr val="B9BEC4"/>
                </a:solidFill>
                <a:latin typeface="Hiragino Sans"/>
                <a:ea typeface="Hiragino Sans"/>
                <a:cs typeface="Hiragino Sans"/>
              </a:rPr>
              <a:t>　　</a:t>
            </a:r>
            <a:r>
              <a:rPr lang="ja-JP" sz="2200" b="1" noProof="0">
                <a:solidFill>
                  <a:srgbClr val="156082"/>
                </a:solidFill>
                <a:latin typeface="Hiragino Sans"/>
                <a:ea typeface="Hiragino Sans"/>
              </a:rPr>
              <a:t>7. まとめと今後の展望</a:t>
            </a:r>
          </a:p>
        </p:txBody>
      </p:sp>
    </p:spTree>
    <p:extLst>
      <p:ext uri="{BB962C8B-B14F-4D97-AF65-F5344CB8AC3E}">
        <p14:creationId xmlns:p14="http://schemas.microsoft.com/office/powerpoint/2010/main" val="3893991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EA20911D-D3CA-4A33-B664-B37E759B3C48}"/>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BFD1BF9D-F02A-4F30-BA9B-0D165B31B334}"/>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まとめと今後の展望</a:t>
            </a:r>
          </a:p>
        </p:txBody>
      </p:sp>
      <p:sp>
        <p:nvSpPr>
          <p:cNvPr id="3" name="正方形/長方形 2">
            <a:extLst>
              <a:ext uri="{FF2B5EF4-FFF2-40B4-BE49-F238E27FC236}">
                <a16:creationId xmlns:a16="http://schemas.microsoft.com/office/drawing/2014/main" id="{C31C39FF-F03C-4C6E-A6DB-B3C57A11011D}"/>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本編で示した価値を3点に絞って振り返り、残る課題を示す</a:t>
            </a:r>
          </a:p>
        </p:txBody>
      </p:sp>
      <p:sp>
        <p:nvSpPr>
          <p:cNvPr id="5" name="角丸四角形 4">
            <a:extLst>
              <a:ext uri="{FF2B5EF4-FFF2-40B4-BE49-F238E27FC236}">
                <a16:creationId xmlns:a16="http://schemas.microsoft.com/office/drawing/2014/main" id="{E5A47D8C-147F-4979-B4E5-F120F9D7FAE1}"/>
              </a:ext>
            </a:extLst>
          </p:cNvPr>
          <p:cNvSpPr>
            <a:spLocks noGrp="1"/>
          </p:cNvSpPr>
          <p:nvPr/>
        </p:nvSpPr>
        <p:spPr>
          <a:xfrm>
            <a:off x="781050" y="2128837"/>
            <a:ext cx="1466850" cy="323850"/>
          </a:xfrm>
          <a:prstGeom prst="roundRect">
            <a:avLst>
              <a:gd name="adj" fmla="val 23529"/>
            </a:avLst>
          </a:prstGeom>
          <a:solidFill>
            <a:srgbClr val="F28C28"/>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C8EDD95D-772A-438C-89F9-1CEC69D3470C}"/>
              </a:ext>
            </a:extLst>
          </p:cNvPr>
          <p:cNvSpPr>
            <a:spLocks noGrp="1"/>
          </p:cNvSpPr>
          <p:nvPr/>
        </p:nvSpPr>
        <p:spPr>
          <a:xfrm>
            <a:off x="876300" y="2147887"/>
            <a:ext cx="1276350" cy="276225"/>
          </a:xfrm>
          <a:prstGeom prst="rect">
            <a:avLst/>
          </a:prstGeom>
          <a:noFill/>
          <a:ln w="0">
            <a:noFill/>
          </a:ln>
        </p:spPr>
        <p:txBody>
          <a:bodyPr anchor="ctr">
            <a:normAutofit fontScale="95098"/>
          </a:bodyPr>
          <a:lstStyle/>
          <a:p>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関連性</a:t>
            </a:r>
          </a:p>
        </p:txBody>
      </p:sp>
      <p:sp>
        <p:nvSpPr>
          <p:cNvPr id="7" name="正方形/長方形 6">
            <a:extLst>
              <a:ext uri="{FF2B5EF4-FFF2-40B4-BE49-F238E27FC236}">
                <a16:creationId xmlns:a16="http://schemas.microsoft.com/office/drawing/2014/main" id="{C96C96F1-2684-4185-96ED-A0050F92A558}"/>
              </a:ext>
            </a:extLst>
          </p:cNvPr>
          <p:cNvSpPr>
            <a:spLocks noGrp="1"/>
          </p:cNvSpPr>
          <p:nvPr/>
        </p:nvSpPr>
        <p:spPr>
          <a:xfrm>
            <a:off x="2571750" y="1985962"/>
            <a:ext cx="2952750" cy="438150"/>
          </a:xfrm>
          <a:prstGeom prst="rect">
            <a:avLst/>
          </a:prstGeom>
          <a:noFill/>
          <a:ln w="0">
            <a:noFill/>
          </a:ln>
        </p:spPr>
        <p:txBody>
          <a:bodyPr anchor="ctr">
            <a:normAutofit fontScale="84859" lnSpcReduction="10000"/>
          </a:bodyPr>
          <a:lstStyle/>
          <a:p>
            <a:pPr algn="l">
              <a:defRPr sz="1725" b="1">
                <a:solidFill>
                  <a:srgbClr val="F28C28"/>
                </a:solidFill>
                <a:latin typeface="Hiragino Sans"/>
                <a:ea typeface="Hiragino Sans"/>
                <a:cs typeface="Hiragino Sans"/>
              </a:defRPr>
            </a:pPr>
            <a:r>
              <a:rPr sz="1725" b="1">
                <a:solidFill>
                  <a:srgbClr val="F28C28"/>
                </a:solidFill>
                <a:latin typeface="Hiragino Sans"/>
                <a:ea typeface="Hiragino Sans"/>
                <a:cs typeface="Hiragino Sans"/>
              </a:rPr>
              <a:t>「AとBの違い」を直接説明できる</a:t>
            </a:r>
          </a:p>
        </p:txBody>
      </p:sp>
      <p:sp>
        <p:nvSpPr>
          <p:cNvPr id="10" name="角丸四角形 9">
            <a:extLst>
              <a:ext uri="{FF2B5EF4-FFF2-40B4-BE49-F238E27FC236}">
                <a16:creationId xmlns:a16="http://schemas.microsoft.com/office/drawing/2014/main" id="{6D198832-69E6-42AB-A63C-17095B71A1FF}"/>
              </a:ext>
            </a:extLst>
          </p:cNvPr>
          <p:cNvSpPr>
            <a:spLocks noGrp="1"/>
          </p:cNvSpPr>
          <p:nvPr/>
        </p:nvSpPr>
        <p:spPr>
          <a:xfrm>
            <a:off x="781050" y="3433762"/>
            <a:ext cx="1466850" cy="323850"/>
          </a:xfrm>
          <a:prstGeom prst="roundRect">
            <a:avLst>
              <a:gd name="adj" fmla="val 23529"/>
            </a:avLst>
          </a:prstGeom>
          <a:solidFill>
            <a:srgbClr val="2AA876"/>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0D21862D-B94D-4D2E-931B-AADDBCF13ECD}"/>
              </a:ext>
            </a:extLst>
          </p:cNvPr>
          <p:cNvSpPr>
            <a:spLocks noGrp="1"/>
          </p:cNvSpPr>
          <p:nvPr/>
        </p:nvSpPr>
        <p:spPr>
          <a:xfrm>
            <a:off x="876300" y="3452812"/>
            <a:ext cx="1276350" cy="276225"/>
          </a:xfrm>
          <a:prstGeom prst="rect">
            <a:avLst/>
          </a:prstGeom>
          <a:noFill/>
          <a:ln w="0">
            <a:noFill/>
          </a:ln>
        </p:spPr>
        <p:txBody>
          <a:bodyPr anchor="ctr">
            <a:normAutofit fontScale="95098"/>
          </a:bodyPr>
          <a:lstStyle/>
          <a:p>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忠実度</a:t>
            </a:r>
          </a:p>
        </p:txBody>
      </p:sp>
      <p:sp>
        <p:nvSpPr>
          <p:cNvPr id="12" name="正方形/長方形 11">
            <a:extLst>
              <a:ext uri="{FF2B5EF4-FFF2-40B4-BE49-F238E27FC236}">
                <a16:creationId xmlns:a16="http://schemas.microsoft.com/office/drawing/2014/main" id="{7E4B10A2-9317-4CB9-A19A-C651FA916EA3}"/>
              </a:ext>
            </a:extLst>
          </p:cNvPr>
          <p:cNvSpPr>
            <a:spLocks noGrp="1"/>
          </p:cNvSpPr>
          <p:nvPr/>
        </p:nvSpPr>
        <p:spPr>
          <a:xfrm>
            <a:off x="2571750" y="3290887"/>
            <a:ext cx="2952750" cy="438150"/>
          </a:xfrm>
          <a:prstGeom prst="rect">
            <a:avLst/>
          </a:prstGeom>
          <a:noFill/>
          <a:ln w="0">
            <a:noFill/>
          </a:ln>
        </p:spPr>
        <p:txBody>
          <a:bodyPr anchor="ctr">
            <a:normAutofit/>
          </a:bodyPr>
          <a:lstStyle/>
          <a:p>
            <a:pPr algn="l">
              <a:defRPr sz="1725" b="1">
                <a:solidFill>
                  <a:srgbClr val="2AA876"/>
                </a:solidFill>
                <a:latin typeface="Hiragino Sans"/>
                <a:ea typeface="Hiragino Sans"/>
                <a:cs typeface="Hiragino Sans"/>
              </a:defRPr>
            </a:pPr>
            <a:r>
              <a:rPr sz="1725" b="1">
                <a:solidFill>
                  <a:srgbClr val="2AA876"/>
                </a:solidFill>
                <a:latin typeface="Hiragino Sans"/>
                <a:ea typeface="Hiragino Sans"/>
                <a:cs typeface="Hiragino Sans"/>
              </a:rPr>
              <a:t>従来(OVR)より精度は落ちない</a:t>
            </a:r>
          </a:p>
        </p:txBody>
      </p:sp>
      <p:sp>
        <p:nvSpPr>
          <p:cNvPr id="15" name="角丸四角形 14">
            <a:extLst>
              <a:ext uri="{FF2B5EF4-FFF2-40B4-BE49-F238E27FC236}">
                <a16:creationId xmlns:a16="http://schemas.microsoft.com/office/drawing/2014/main" id="{F856F5A7-5A7C-4575-8D82-060A3CF681F0}"/>
              </a:ext>
            </a:extLst>
          </p:cNvPr>
          <p:cNvSpPr>
            <a:spLocks noGrp="1"/>
          </p:cNvSpPr>
          <p:nvPr/>
        </p:nvSpPr>
        <p:spPr>
          <a:xfrm>
            <a:off x="781050" y="4738687"/>
            <a:ext cx="1466850" cy="323850"/>
          </a:xfrm>
          <a:prstGeom prst="roundRect">
            <a:avLst>
              <a:gd name="adj" fmla="val 23529"/>
            </a:avLst>
          </a:prstGeom>
          <a:solidFill>
            <a:srgbClr val="1479C9"/>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86DE01E8-AC26-4810-9B26-CF20ECB41AF2}"/>
              </a:ext>
            </a:extLst>
          </p:cNvPr>
          <p:cNvSpPr>
            <a:spLocks noGrp="1"/>
          </p:cNvSpPr>
          <p:nvPr/>
        </p:nvSpPr>
        <p:spPr>
          <a:xfrm>
            <a:off x="876300" y="4757737"/>
            <a:ext cx="1276350" cy="276225"/>
          </a:xfrm>
          <a:prstGeom prst="rect">
            <a:avLst/>
          </a:prstGeom>
          <a:noFill/>
          <a:ln w="0">
            <a:noFill/>
          </a:ln>
        </p:spPr>
        <p:txBody>
          <a:bodyPr anchor="ctr">
            <a:normAutofit fontScale="95098"/>
          </a:bodyPr>
          <a:lstStyle/>
          <a:p>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効率</a:t>
            </a:r>
          </a:p>
        </p:txBody>
      </p:sp>
      <p:sp>
        <p:nvSpPr>
          <p:cNvPr id="17" name="正方形/長方形 16">
            <a:extLst>
              <a:ext uri="{FF2B5EF4-FFF2-40B4-BE49-F238E27FC236}">
                <a16:creationId xmlns:a16="http://schemas.microsoft.com/office/drawing/2014/main" id="{3561187F-EDCE-4655-9C1C-8C9ACDF80D15}"/>
              </a:ext>
            </a:extLst>
          </p:cNvPr>
          <p:cNvSpPr>
            <a:spLocks noGrp="1"/>
          </p:cNvSpPr>
          <p:nvPr/>
        </p:nvSpPr>
        <p:spPr>
          <a:xfrm>
            <a:off x="2571750" y="4595812"/>
            <a:ext cx="2952750" cy="438150"/>
          </a:xfrm>
          <a:prstGeom prst="rect">
            <a:avLst/>
          </a:prstGeom>
          <a:noFill/>
          <a:ln w="0">
            <a:noFill/>
          </a:ln>
        </p:spPr>
        <p:txBody>
          <a:bodyPr anchor="ctr">
            <a:normAutofit/>
          </a:bodyPr>
          <a:lstStyle/>
          <a:p>
            <a:pPr algn="l">
              <a:defRPr sz="1725" b="1">
                <a:solidFill>
                  <a:srgbClr val="1479C9"/>
                </a:solidFill>
                <a:latin typeface="Hiragino Sans"/>
                <a:ea typeface="Hiragino Sans"/>
                <a:cs typeface="Hiragino Sans"/>
              </a:defRPr>
            </a:pPr>
            <a:r>
              <a:rPr sz="1725" b="1">
                <a:solidFill>
                  <a:srgbClr val="1479C9"/>
                </a:solidFill>
                <a:latin typeface="Hiragino Sans"/>
                <a:ea typeface="Hiragino Sans"/>
                <a:cs typeface="Hiragino Sans"/>
              </a:rPr>
              <a:t>クラス数に対してほぼ一定</a:t>
            </a:r>
          </a:p>
        </p:txBody>
      </p:sp>
      <p:cxnSp>
        <p:nvCxnSpPr>
          <p:cNvPr id="900" name="outlook-divider"/>
          <p:cNvCxnSpPr/>
          <p:nvPr/>
        </p:nvCxnSpPr>
        <p:spPr>
          <a:xfrm>
            <a:off x="762000" y="5140000"/>
            <a:ext cx="10668000" cy="0"/>
          </a:xfrm>
          <a:prstGeom prst="straightConnector1">
            <a:avLst/>
          </a:prstGeom>
          <a:ln w="19050">
            <a:solidFill>
              <a:srgbClr val="CBD5E1"/>
            </a:solidFill>
            <a:prstDash val="solid"/>
          </a:ln>
        </p:spPr>
      </p:cxnSp>
      <p:sp>
        <p:nvSpPr>
          <p:cNvPr id="901" name="outlook-label"/>
          <p:cNvSpPr>
            <a:spLocks noGrp="1"/>
          </p:cNvSpPr>
          <p:nvPr/>
        </p:nvSpPr>
        <p:spPr>
          <a:xfrm>
            <a:off x="762000" y="5230000"/>
            <a:ext cx="4000000" cy="320000"/>
          </a:xfrm>
          <a:prstGeom prst="rect">
            <a:avLst/>
          </a:prstGeom>
          <a:noFill/>
          <a:ln w="0">
            <a:noFill/>
            <a:prstDash val="solid"/>
          </a:ln>
        </p:spPr>
        <p:txBody>
          <a:bodyPr lIns="0" tIns="0" rIns="0" bIns="0" anchor="t">
            <a:noAutofit/>
          </a:bodyPr>
          <a:lstStyle/>
          <a:p>
            <a:pPr algn="l">
              <a:buNone/>
              <a:defRPr sz="1800" b="1">
                <a:solidFill>
                  <a:srgbClr val="17233D"/>
                </a:solidFill>
                <a:latin typeface="Hiragino Sans"/>
                <a:ea typeface="Hiragino Sans"/>
                <a:cs typeface="Hiragino Sans"/>
              </a:defRPr>
            </a:pPr>
            <a:r>
              <a:rPr sz="1800" b="1">
                <a:solidFill>
                  <a:srgbClr val="17233D"/>
                </a:solidFill>
                <a:latin typeface="Hiragino Sans"/>
                <a:ea typeface="Hiragino Sans"/>
                <a:cs typeface="Hiragino Sans"/>
              </a:rPr>
              <a:t>今後の展望</a:t>
            </a:r>
          </a:p>
        </p:txBody>
      </p:sp>
      <p:sp>
        <p:nvSpPr>
          <p:cNvPr id="902" name="outlook-item-0"/>
          <p:cNvSpPr>
            <a:spLocks noGrp="1"/>
          </p:cNvSpPr>
          <p:nvPr/>
        </p:nvSpPr>
        <p:spPr>
          <a:xfrm>
            <a:off x="900000" y="5620000"/>
            <a:ext cx="10200000" cy="300000"/>
          </a:xfrm>
          <a:prstGeom prst="rect">
            <a:avLst/>
          </a:prstGeom>
          <a:noFill/>
          <a:ln w="0">
            <a:noFill/>
            <a:prstDash val="solid"/>
          </a:ln>
        </p:spPr>
        <p:txBody>
          <a:bodyPr lIns="0" tIns="0" rIns="0" bIns="0" anchor="t">
            <a:noAutofit/>
          </a:bodyPr>
          <a:lstStyle/>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・解釈性の向上を定量的に測る方法の検討（人による理解しやすさの評価など）</a:t>
            </a:r>
          </a:p>
        </p:txBody>
      </p:sp>
      <p:sp>
        <p:nvSpPr>
          <p:cNvPr id="903" name="outlook-item-1"/>
          <p:cNvSpPr>
            <a:spLocks noGrp="1"/>
          </p:cNvSpPr>
          <p:nvPr/>
        </p:nvSpPr>
        <p:spPr>
          <a:xfrm>
            <a:off x="900000" y="5960000"/>
            <a:ext cx="10200000" cy="300000"/>
          </a:xfrm>
          <a:prstGeom prst="rect">
            <a:avLst/>
          </a:prstGeom>
          <a:noFill/>
          <a:ln w="0">
            <a:noFill/>
            <a:prstDash val="solid"/>
          </a:ln>
        </p:spPr>
        <p:txBody>
          <a:bodyPr lIns="0" tIns="0" rIns="0" bIns="0" anchor="t">
            <a:noAutofit/>
          </a:bodyPr>
          <a:lstStyle/>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・実データでの検証</a:t>
            </a:r>
          </a:p>
        </p:txBody>
      </p:sp>
      <p:sp>
        <p:nvSpPr>
          <p:cNvPr id="904" name="outlook-item-2"/>
          <p:cNvSpPr>
            <a:spLocks noGrp="1"/>
          </p:cNvSpPr>
          <p:nvPr/>
        </p:nvSpPr>
        <p:spPr>
          <a:xfrm>
            <a:off x="900000" y="6300000"/>
            <a:ext cx="10200000" cy="300000"/>
          </a:xfrm>
          <a:prstGeom prst="rect">
            <a:avLst/>
          </a:prstGeom>
          <a:noFill/>
          <a:ln w="0">
            <a:noFill/>
            <a:prstDash val="solid"/>
          </a:ln>
        </p:spPr>
        <p:txBody>
          <a:bodyPr lIns="0" tIns="0" rIns="0" bIns="0" anchor="t">
            <a:noAutofit/>
          </a:bodyPr>
          <a:lstStyle/>
          <a:p>
            <a:pPr algn="l">
              <a:buNone/>
              <a:defRPr sz="1300" b="0">
                <a:solidFill>
                  <a:srgbClr val="111827"/>
                </a:solidFill>
                <a:latin typeface="Hiragino Sans"/>
                <a:ea typeface="Hiragino Sans"/>
                <a:cs typeface="Hiragino Sans"/>
              </a:defRPr>
            </a:pPr>
            <a:r>
              <a:rPr sz="1300" b="0">
                <a:solidFill>
                  <a:srgbClr val="111827"/>
                </a:solidFill>
                <a:latin typeface="Hiragino Sans"/>
                <a:ea typeface="Hiragino Sans"/>
                <a:cs typeface="Hiragino Sans"/>
              </a:rPr>
              <a:t>・競合クラスがTop-2以外や入力ごとに変わる場合への対応</a:t>
            </a:r>
          </a:p>
        </p:txBody>
      </p:sp>
    </p:spTree>
    <p:extLst>
      <p:ext uri="{BB962C8B-B14F-4D97-AF65-F5344CB8AC3E}">
        <p14:creationId xmlns:p14="http://schemas.microsoft.com/office/powerpoint/2010/main" val="1089054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77124F7A-27DA-4E92-8915-145E679EDDE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D131223-4895-499C-9636-6FA2A33264C1}"/>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考察1：2クラスに絞ると何が変わるか</a:t>
            </a:r>
          </a:p>
        </p:txBody>
      </p:sp>
      <p:sp>
        <p:nvSpPr>
          <p:cNvPr id="3" name="正方形/長方形 2">
            <a:extLst>
              <a:ext uri="{FF2B5EF4-FFF2-40B4-BE49-F238E27FC236}">
                <a16:creationId xmlns:a16="http://schemas.microsoft.com/office/drawing/2014/main" id="{7BA98B94-5BE9-4978-8470-8C6C143F3667}"/>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OVRとpairwise説明は、そもそも答えている質問が異なる</a:t>
            </a:r>
          </a:p>
        </p:txBody>
      </p:sp>
      <p:sp>
        <p:nvSpPr>
          <p:cNvPr id="5" name="角丸四角形 4">
            <a:extLst>
              <a:ext uri="{FF2B5EF4-FFF2-40B4-BE49-F238E27FC236}">
                <a16:creationId xmlns:a16="http://schemas.microsoft.com/office/drawing/2014/main" id="{ACDE1BBE-F6CE-4A5D-8A87-AE4BCA14DBD0}"/>
              </a:ext>
            </a:extLst>
          </p:cNvPr>
          <p:cNvSpPr>
            <a:spLocks noGrp="1"/>
          </p:cNvSpPr>
          <p:nvPr/>
        </p:nvSpPr>
        <p:spPr>
          <a:xfrm>
            <a:off x="762000" y="1219200"/>
            <a:ext cx="10668000" cy="781050"/>
          </a:xfrm>
          <a:prstGeom prst="roundRect">
            <a:avLst>
              <a:gd name="adj" fmla="val 9756"/>
            </a:avLst>
          </a:prstGeom>
          <a:solidFill>
            <a:srgbClr val="EAF4FB"/>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1DCF3F60-242F-49C4-93CA-E8549FF262B9}"/>
              </a:ext>
            </a:extLst>
          </p:cNvPr>
          <p:cNvSpPr>
            <a:spLocks noGrp="1"/>
          </p:cNvSpPr>
          <p:nvPr/>
        </p:nvSpPr>
        <p:spPr>
          <a:xfrm>
            <a:off x="1000125" y="1381125"/>
            <a:ext cx="10191750" cy="438150"/>
          </a:xfrm>
          <a:prstGeom prst="rect">
            <a:avLst/>
          </a:prstGeom>
          <a:noFill/>
          <a:ln w="0">
            <a:noFill/>
          </a:ln>
        </p:spPr>
        <p:txBody>
          <a:bodyPr anchor="ctr">
            <a:normAutofit/>
          </a:bodyPr>
          <a:lstStyle/>
          <a:p>
            <a:pPr algn="ctr">
              <a:defRPr sz="1800" b="1">
                <a:solidFill>
                  <a:srgbClr val="1479C9"/>
                </a:solidFill>
                <a:latin typeface="Hiragino Sans"/>
                <a:ea typeface="Hiragino Sans"/>
                <a:cs typeface="Hiragino Sans"/>
              </a:defRPr>
            </a:pPr>
            <a:r>
              <a:rPr sz="1800" b="1">
                <a:solidFill>
                  <a:srgbClr val="1479C9"/>
                </a:solidFill>
                <a:latin typeface="Hiragino Sans"/>
                <a:ea typeface="Hiragino Sans"/>
                <a:cs typeface="Hiragino Sans"/>
              </a:rPr>
              <a:t>OVRは『なぜクラスAらしいか』、2クラス説明は『なぜAがBより選ばれたか』に答える</a:t>
            </a:r>
          </a:p>
        </p:txBody>
      </p:sp>
      <p:sp>
        <p:nvSpPr>
          <p:cNvPr id="7" name="角丸四角形 6">
            <a:extLst>
              <a:ext uri="{FF2B5EF4-FFF2-40B4-BE49-F238E27FC236}">
                <a16:creationId xmlns:a16="http://schemas.microsoft.com/office/drawing/2014/main" id="{F06556CE-8855-4901-85DD-41FA203280CC}"/>
              </a:ext>
            </a:extLst>
          </p:cNvPr>
          <p:cNvSpPr>
            <a:spLocks noGrp="1"/>
          </p:cNvSpPr>
          <p:nvPr/>
        </p:nvSpPr>
        <p:spPr>
          <a:xfrm>
            <a:off x="838200" y="2400300"/>
            <a:ext cx="2076450" cy="304800"/>
          </a:xfrm>
          <a:prstGeom prst="roundRect">
            <a:avLst>
              <a:gd name="adj" fmla="val 25000"/>
            </a:avLst>
          </a:prstGeom>
          <a:solidFill>
            <a:srgbClr val="2AA876"/>
          </a:solidFill>
          <a:ln w="0">
            <a:noFill/>
          </a:ln>
        </p:spPr>
        <p:txBody>
          <a:bodyPr/>
          <a:lstStyle/>
          <a:p>
            <a:endParaRPr lang="ja-JP" altLang="en-US"/>
          </a:p>
        </p:txBody>
      </p:sp>
      <p:sp>
        <p:nvSpPr>
          <p:cNvPr id="8" name="正方形/長方形 7">
            <a:extLst>
              <a:ext uri="{FF2B5EF4-FFF2-40B4-BE49-F238E27FC236}">
                <a16:creationId xmlns:a16="http://schemas.microsoft.com/office/drawing/2014/main" id="{9D88ADB7-A78E-4A0C-9573-73760900F3B4}"/>
              </a:ext>
            </a:extLst>
          </p:cNvPr>
          <p:cNvSpPr>
            <a:spLocks noGrp="1"/>
          </p:cNvSpPr>
          <p:nvPr/>
        </p:nvSpPr>
        <p:spPr>
          <a:xfrm>
            <a:off x="933450" y="2409825"/>
            <a:ext cx="1885950" cy="276225"/>
          </a:xfrm>
          <a:prstGeom prst="rect">
            <a:avLst/>
          </a:prstGeom>
          <a:noFill/>
          <a:ln w="0">
            <a:noFill/>
          </a:ln>
        </p:spPr>
        <p:txBody>
          <a:bodyPr anchor="ctr">
            <a:normAutofit/>
          </a:bodyPr>
          <a:lstStyle/>
          <a:p>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① 共通証拠を相殺</a:t>
            </a:r>
          </a:p>
        </p:txBody>
      </p:sp>
      <p:sp>
        <p:nvSpPr>
          <p:cNvPr id="9" name="角丸四角形 8">
            <a:extLst>
              <a:ext uri="{FF2B5EF4-FFF2-40B4-BE49-F238E27FC236}">
                <a16:creationId xmlns:a16="http://schemas.microsoft.com/office/drawing/2014/main" id="{D6961BEB-026C-487E-91BA-822D1EFEB4EE}"/>
              </a:ext>
            </a:extLst>
          </p:cNvPr>
          <p:cNvSpPr>
            <a:spLocks noGrp="1"/>
          </p:cNvSpPr>
          <p:nvPr/>
        </p:nvSpPr>
        <p:spPr>
          <a:xfrm>
            <a:off x="3105150" y="22669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C3F861FB-BAC7-4550-A0BE-294C73B0C11C}"/>
              </a:ext>
            </a:extLst>
          </p:cNvPr>
          <p:cNvSpPr>
            <a:spLocks noGrp="1"/>
          </p:cNvSpPr>
          <p:nvPr/>
        </p:nvSpPr>
        <p:spPr>
          <a:xfrm>
            <a:off x="3314700" y="2343150"/>
            <a:ext cx="7829550" cy="647700"/>
          </a:xfrm>
          <a:prstGeom prst="rect">
            <a:avLst/>
          </a:prstGeom>
          <a:noFill/>
          <a:ln w="0">
            <a:noFill/>
          </a:ln>
        </p:spPr>
        <p:txBody>
          <a:bodyPr anchor="ctr">
            <a:normAutofit/>
          </a:bodyPr>
          <a:lstStyle/>
          <a:p>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AとBを同じ方向に押し上げる特徴は、A単独では重要でもA対Bの勝敗には効かない。qやlog(pA/pB)を説明すると、その共通成分が表示上位から外れやすい。</a:t>
            </a:r>
          </a:p>
        </p:txBody>
      </p:sp>
      <p:sp>
        <p:nvSpPr>
          <p:cNvPr id="11" name="角丸四角形 10">
            <a:extLst>
              <a:ext uri="{FF2B5EF4-FFF2-40B4-BE49-F238E27FC236}">
                <a16:creationId xmlns:a16="http://schemas.microsoft.com/office/drawing/2014/main" id="{C1F7E951-B5AF-4287-B28B-8B5476604A93}"/>
              </a:ext>
            </a:extLst>
          </p:cNvPr>
          <p:cNvSpPr>
            <a:spLocks noGrp="1"/>
          </p:cNvSpPr>
          <p:nvPr/>
        </p:nvSpPr>
        <p:spPr>
          <a:xfrm>
            <a:off x="838200" y="3467100"/>
            <a:ext cx="2076450" cy="304800"/>
          </a:xfrm>
          <a:prstGeom prst="roundRect">
            <a:avLst>
              <a:gd name="adj" fmla="val 25000"/>
            </a:avLst>
          </a:prstGeom>
          <a:solidFill>
            <a:srgbClr val="F28C28"/>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F08715F1-8CF4-4651-AB83-BD93B8337223}"/>
              </a:ext>
            </a:extLst>
          </p:cNvPr>
          <p:cNvSpPr>
            <a:spLocks noGrp="1"/>
          </p:cNvSpPr>
          <p:nvPr/>
        </p:nvSpPr>
        <p:spPr>
          <a:xfrm>
            <a:off x="933450" y="3476625"/>
            <a:ext cx="1885950" cy="276225"/>
          </a:xfrm>
          <a:prstGeom prst="rect">
            <a:avLst/>
          </a:prstGeom>
          <a:noFill/>
          <a:ln w="0">
            <a:noFill/>
          </a:ln>
        </p:spPr>
        <p:txBody>
          <a:bodyPr anchor="ctr">
            <a:normAutofit/>
          </a:bodyPr>
          <a:lstStyle/>
          <a:p>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② 表示予算を集中</a:t>
            </a:r>
          </a:p>
        </p:txBody>
      </p:sp>
      <p:sp>
        <p:nvSpPr>
          <p:cNvPr id="13" name="角丸四角形 12">
            <a:extLst>
              <a:ext uri="{FF2B5EF4-FFF2-40B4-BE49-F238E27FC236}">
                <a16:creationId xmlns:a16="http://schemas.microsoft.com/office/drawing/2014/main" id="{774F9717-E53D-4097-8009-349E69F64690}"/>
              </a:ext>
            </a:extLst>
          </p:cNvPr>
          <p:cNvSpPr>
            <a:spLocks noGrp="1"/>
          </p:cNvSpPr>
          <p:nvPr/>
        </p:nvSpPr>
        <p:spPr>
          <a:xfrm>
            <a:off x="3105150" y="33337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4" name="正方形/長方形 13">
            <a:extLst>
              <a:ext uri="{FF2B5EF4-FFF2-40B4-BE49-F238E27FC236}">
                <a16:creationId xmlns:a16="http://schemas.microsoft.com/office/drawing/2014/main" id="{1B8BDDE1-4937-4322-B272-92F1B644E661}"/>
              </a:ext>
            </a:extLst>
          </p:cNvPr>
          <p:cNvSpPr>
            <a:spLocks noGrp="1"/>
          </p:cNvSpPr>
          <p:nvPr/>
        </p:nvSpPr>
        <p:spPr>
          <a:xfrm>
            <a:off x="3314700" y="3409950"/>
            <a:ext cx="7829550" cy="647700"/>
          </a:xfrm>
          <a:prstGeom prst="rect">
            <a:avLst/>
          </a:prstGeom>
          <a:noFill/>
          <a:ln w="0">
            <a:noFill/>
          </a:ln>
        </p:spPr>
        <p:txBody>
          <a:bodyPr anchor="ctr">
            <a:normAutofit/>
          </a:bodyPr>
          <a:lstStyle/>
          <a:p>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説明特徴数Kが小さいほど、関係のない共通特徴が1個入る損失は大きい。pairwise方式は限られた枠を『どちらを支持するか』へ集中できる。</a:t>
            </a:r>
          </a:p>
        </p:txBody>
      </p:sp>
      <p:sp>
        <p:nvSpPr>
          <p:cNvPr id="15" name="角丸四角形 14">
            <a:extLst>
              <a:ext uri="{FF2B5EF4-FFF2-40B4-BE49-F238E27FC236}">
                <a16:creationId xmlns:a16="http://schemas.microsoft.com/office/drawing/2014/main" id="{4F770AEE-0980-414C-BAB3-B9782933B146}"/>
              </a:ext>
            </a:extLst>
          </p:cNvPr>
          <p:cNvSpPr>
            <a:spLocks noGrp="1"/>
          </p:cNvSpPr>
          <p:nvPr/>
        </p:nvSpPr>
        <p:spPr>
          <a:xfrm>
            <a:off x="838200" y="4533900"/>
            <a:ext cx="2076450" cy="304800"/>
          </a:xfrm>
          <a:prstGeom prst="roundRect">
            <a:avLst>
              <a:gd name="adj" fmla="val 25000"/>
            </a:avLst>
          </a:prstGeom>
          <a:solidFill>
            <a:srgbClr val="7B61A8"/>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7F234A3-88E6-42DD-A4CB-83093EC39213}"/>
              </a:ext>
            </a:extLst>
          </p:cNvPr>
          <p:cNvSpPr>
            <a:spLocks noGrp="1"/>
          </p:cNvSpPr>
          <p:nvPr/>
        </p:nvSpPr>
        <p:spPr>
          <a:xfrm>
            <a:off x="933450" y="4543425"/>
            <a:ext cx="1885950" cy="276225"/>
          </a:xfrm>
          <a:prstGeom prst="rect">
            <a:avLst/>
          </a:prstGeom>
          <a:noFill/>
          <a:ln w="0">
            <a:noFill/>
          </a:ln>
        </p:spPr>
        <p:txBody>
          <a:bodyPr anchor="ctr">
            <a:normAutofit/>
          </a:bodyPr>
          <a:lstStyle/>
          <a:p>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③ 忠実度は維持</a:t>
            </a:r>
          </a:p>
        </p:txBody>
      </p:sp>
      <p:sp>
        <p:nvSpPr>
          <p:cNvPr id="17" name="角丸四角形 16">
            <a:extLst>
              <a:ext uri="{FF2B5EF4-FFF2-40B4-BE49-F238E27FC236}">
                <a16:creationId xmlns:a16="http://schemas.microsoft.com/office/drawing/2014/main" id="{EF4D6B40-1911-4C59-A2AC-B331CE6A27BB}"/>
              </a:ext>
            </a:extLst>
          </p:cNvPr>
          <p:cNvSpPr>
            <a:spLocks noGrp="1"/>
          </p:cNvSpPr>
          <p:nvPr/>
        </p:nvSpPr>
        <p:spPr>
          <a:xfrm>
            <a:off x="3105150" y="44005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8" name="正方形/長方形 17">
            <a:extLst>
              <a:ext uri="{FF2B5EF4-FFF2-40B4-BE49-F238E27FC236}">
                <a16:creationId xmlns:a16="http://schemas.microsoft.com/office/drawing/2014/main" id="{E0B400B1-328C-4544-96F5-58384419DA28}"/>
              </a:ext>
            </a:extLst>
          </p:cNvPr>
          <p:cNvSpPr>
            <a:spLocks noGrp="1"/>
          </p:cNvSpPr>
          <p:nvPr/>
        </p:nvSpPr>
        <p:spPr>
          <a:xfrm>
            <a:off x="3314700" y="4476750"/>
            <a:ext cx="7829550" cy="647700"/>
          </a:xfrm>
          <a:prstGeom prst="rect">
            <a:avLst/>
          </a:prstGeom>
          <a:noFill/>
          <a:ln w="0">
            <a:noFill/>
          </a:ln>
        </p:spPr>
        <p:txBody>
          <a:bodyPr anchor="ctr">
            <a:normAutofit/>
          </a:bodyPr>
          <a:lstStyle/>
          <a:p>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RF主実験の改善は+0.0041と小さいが、同じKでも悪化せず、特徴関連性と計算時間は明確に改善した。価値は3指標を合わせて判断する。</a:t>
            </a:r>
          </a:p>
        </p:txBody>
      </p:sp>
      <p:sp>
        <p:nvSpPr>
          <p:cNvPr id="19" name="角丸四角形 18">
            <a:extLst>
              <a:ext uri="{FF2B5EF4-FFF2-40B4-BE49-F238E27FC236}">
                <a16:creationId xmlns:a16="http://schemas.microsoft.com/office/drawing/2014/main" id="{9A6A73C0-FE58-494E-9009-5B6BE6B70DD3}"/>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D5DE864F-5F2E-4FD9-AEAC-A5733F056978}"/>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このスライドの主張：精度向上だけでなく、『質問に合う特徴を出す』ことが2クラス化の主要な意義</a:t>
            </a:r>
          </a:p>
        </p:txBody>
      </p:sp>
    </p:spTree>
    <p:extLst>
      <p:ext uri="{BB962C8B-B14F-4D97-AF65-F5344CB8AC3E}">
        <p14:creationId xmlns:p14="http://schemas.microsoft.com/office/powerpoint/2010/main" val="311209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80DB455E-8A96-49E1-B31B-1C180752B632}"/>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F5F208D7-0D70-407C-B2E4-236342F1125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考察2：3つの2クラス方式をどう使い分けるか</a:t>
            </a:r>
          </a:p>
        </p:txBody>
      </p:sp>
      <p:sp>
        <p:nvSpPr>
          <p:cNvPr id="3" name="正方形/長方形 2">
            <a:extLst>
              <a:ext uri="{FF2B5EF4-FFF2-40B4-BE49-F238E27FC236}">
                <a16:creationId xmlns:a16="http://schemas.microsoft.com/office/drawing/2014/main" id="{109FA467-DB4C-4F7B-9F58-CD3DFDCAC26A}"/>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2クラスの選択と、その後のリンク関数・損失の選択を分けて考える</a:t>
            </a:r>
          </a:p>
        </p:txBody>
      </p:sp>
      <p:sp>
        <p:nvSpPr>
          <p:cNvPr id="5" name="角丸四角形 4">
            <a:extLst>
              <a:ext uri="{FF2B5EF4-FFF2-40B4-BE49-F238E27FC236}">
                <a16:creationId xmlns:a16="http://schemas.microsoft.com/office/drawing/2014/main" id="{3534BEAD-C324-44E9-8E28-F62E595F6CAA}"/>
              </a:ext>
            </a:extLst>
          </p:cNvPr>
          <p:cNvSpPr>
            <a:spLocks noGrp="1"/>
          </p:cNvSpPr>
          <p:nvPr/>
        </p:nvSpPr>
        <p:spPr>
          <a:xfrm>
            <a:off x="685800" y="1352550"/>
            <a:ext cx="3486150" cy="3390900"/>
          </a:xfrm>
          <a:prstGeom prst="roundRect">
            <a:avLst>
              <a:gd name="adj" fmla="val 2247"/>
            </a:avLst>
          </a:prstGeom>
          <a:solidFill>
            <a:srgbClr val="FFFFFF"/>
          </a:solidFill>
          <a:ln w="9525">
            <a:solidFill>
              <a:srgbClr val="2AA876"/>
            </a:solidFill>
          </a:ln>
        </p:spPr>
        <p:txBody>
          <a:bodyPr/>
          <a:lstStyle/>
          <a:p>
            <a:endParaRPr lang="ja-JP" altLang="en-US"/>
          </a:p>
        </p:txBody>
      </p:sp>
      <p:sp>
        <p:nvSpPr>
          <p:cNvPr id="6" name="角丸四角形 5">
            <a:extLst>
              <a:ext uri="{FF2B5EF4-FFF2-40B4-BE49-F238E27FC236}">
                <a16:creationId xmlns:a16="http://schemas.microsoft.com/office/drawing/2014/main" id="{6D0E0B8A-83E9-4419-9AC1-566C5228CD95}"/>
              </a:ext>
            </a:extLst>
          </p:cNvPr>
          <p:cNvSpPr>
            <a:spLocks noGrp="1"/>
          </p:cNvSpPr>
          <p:nvPr/>
        </p:nvSpPr>
        <p:spPr>
          <a:xfrm>
            <a:off x="685800" y="1352550"/>
            <a:ext cx="3486150" cy="571500"/>
          </a:xfrm>
          <a:prstGeom prst="roundRect">
            <a:avLst>
              <a:gd name="adj" fmla="val 13333"/>
            </a:avLst>
          </a:prstGeom>
          <a:solidFill>
            <a:srgbClr val="2AA876"/>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BD9CFCE2-1E53-455D-A217-C17DB4921F4A}"/>
              </a:ext>
            </a:extLst>
          </p:cNvPr>
          <p:cNvSpPr>
            <a:spLocks noGrp="1"/>
          </p:cNvSpPr>
          <p:nvPr/>
        </p:nvSpPr>
        <p:spPr>
          <a:xfrm>
            <a:off x="857250" y="1447800"/>
            <a:ext cx="3143250" cy="381000"/>
          </a:xfrm>
          <a:prstGeom prst="rect">
            <a:avLst/>
          </a:prstGeom>
          <a:noFill/>
          <a:ln w="0">
            <a:noFill/>
          </a:ln>
        </p:spPr>
        <p:txBody>
          <a:bodyPr anchor="ctr">
            <a:normAutofit/>
          </a:bodyPr>
          <a:lstStyle/>
          <a:p>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2クラスLIME</a:t>
            </a:r>
          </a:p>
        </p:txBody>
      </p:sp>
      <p:sp>
        <p:nvSpPr>
          <p:cNvPr id="8" name="正方形/長方形 7">
            <a:extLst>
              <a:ext uri="{FF2B5EF4-FFF2-40B4-BE49-F238E27FC236}">
                <a16:creationId xmlns:a16="http://schemas.microsoft.com/office/drawing/2014/main" id="{413AC622-052D-4716-9D19-79292FE2A4FA}"/>
              </a:ext>
            </a:extLst>
          </p:cNvPr>
          <p:cNvSpPr>
            <a:spLocks noGrp="1"/>
          </p:cNvSpPr>
          <p:nvPr/>
        </p:nvSpPr>
        <p:spPr>
          <a:xfrm>
            <a:off x="914400" y="2114550"/>
            <a:ext cx="3028950" cy="457200"/>
          </a:xfrm>
          <a:prstGeom prst="rect">
            <a:avLst/>
          </a:prstGeom>
          <a:noFill/>
          <a:ln w="0">
            <a:noFill/>
          </a:ln>
        </p:spPr>
        <p:txBody>
          <a:bodyPr anchor="ctr">
            <a:normAutofit/>
          </a:bodyPr>
          <a:lstStyle/>
          <a:p>
            <a:pPr algn="ctr">
              <a:defRPr sz="1500" b="1">
                <a:solidFill>
                  <a:srgbClr val="2AA876"/>
                </a:solidFill>
                <a:latin typeface="Hiragino Sans"/>
                <a:ea typeface="Hiragino Sans"/>
                <a:cs typeface="Hiragino Sans"/>
              </a:defRPr>
            </a:pPr>
            <a:r>
              <a:rPr sz="1500" b="1">
                <a:solidFill>
                  <a:srgbClr val="2AA876"/>
                </a:solidFill>
                <a:latin typeface="Hiragino Sans"/>
                <a:ea typeface="Hiragino Sans"/>
                <a:cs typeface="Hiragino Sans"/>
              </a:rPr>
              <a:t>qをRidge回帰</a:t>
            </a:r>
          </a:p>
        </p:txBody>
      </p:sp>
      <p:sp>
        <p:nvSpPr>
          <p:cNvPr id="9" name="正方形/長方形 8">
            <a:extLst>
              <a:ext uri="{FF2B5EF4-FFF2-40B4-BE49-F238E27FC236}">
                <a16:creationId xmlns:a16="http://schemas.microsoft.com/office/drawing/2014/main" id="{AB1D49E2-9307-464C-8D18-8041000B3685}"/>
              </a:ext>
            </a:extLst>
          </p:cNvPr>
          <p:cNvSpPr>
            <a:spLocks noGrp="1"/>
          </p:cNvSpPr>
          <p:nvPr/>
        </p:nvSpPr>
        <p:spPr>
          <a:xfrm>
            <a:off x="923925" y="2705100"/>
            <a:ext cx="3009900" cy="9525"/>
          </a:xfrm>
          <a:prstGeom prst="rect">
            <a:avLst/>
          </a:prstGeom>
          <a:solidFill>
            <a:srgbClr val="E7EBF0"/>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E0DB002D-D0DF-43EA-ABD5-3557FD75FB6B}"/>
              </a:ext>
            </a:extLst>
          </p:cNvPr>
          <p:cNvSpPr>
            <a:spLocks noGrp="1"/>
          </p:cNvSpPr>
          <p:nvPr/>
        </p:nvSpPr>
        <p:spPr>
          <a:xfrm>
            <a:off x="971550" y="2895600"/>
            <a:ext cx="2914650" cy="1524000"/>
          </a:xfrm>
          <a:prstGeom prst="rect">
            <a:avLst/>
          </a:prstGeom>
          <a:noFill/>
          <a:ln w="0">
            <a:noFill/>
          </a:ln>
        </p:spPr>
        <p:txBody>
          <a:bodyPr anchor="ctr">
            <a:normAutofit/>
          </a:bodyPr>
          <a:lstStyle/>
          <a:p>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3種類のBBで安定し、実装も最も単純。非線形NNとRFで最高忠実度。まず置くべき汎用ベースライン。</a:t>
            </a:r>
          </a:p>
        </p:txBody>
      </p:sp>
      <p:sp>
        <p:nvSpPr>
          <p:cNvPr id="11" name="角丸四角形 10">
            <a:extLst>
              <a:ext uri="{FF2B5EF4-FFF2-40B4-BE49-F238E27FC236}">
                <a16:creationId xmlns:a16="http://schemas.microsoft.com/office/drawing/2014/main" id="{1981E8FB-6923-40FA-8F45-63F34C59E794}"/>
              </a:ext>
            </a:extLst>
          </p:cNvPr>
          <p:cNvSpPr>
            <a:spLocks noGrp="1"/>
          </p:cNvSpPr>
          <p:nvPr/>
        </p:nvSpPr>
        <p:spPr>
          <a:xfrm>
            <a:off x="4438650" y="1352550"/>
            <a:ext cx="3486150" cy="3390900"/>
          </a:xfrm>
          <a:prstGeom prst="roundRect">
            <a:avLst>
              <a:gd name="adj" fmla="val 2247"/>
            </a:avLst>
          </a:prstGeom>
          <a:solidFill>
            <a:srgbClr val="FFFFFF"/>
          </a:solidFill>
          <a:ln w="9525">
            <a:solidFill>
              <a:srgbClr val="F28C28"/>
            </a:solidFill>
          </a:ln>
        </p:spPr>
        <p:txBody>
          <a:bodyPr/>
          <a:lstStyle/>
          <a:p>
            <a:endParaRPr lang="ja-JP" altLang="en-US"/>
          </a:p>
        </p:txBody>
      </p:sp>
      <p:sp>
        <p:nvSpPr>
          <p:cNvPr id="12" name="角丸四角形 11">
            <a:extLst>
              <a:ext uri="{FF2B5EF4-FFF2-40B4-BE49-F238E27FC236}">
                <a16:creationId xmlns:a16="http://schemas.microsoft.com/office/drawing/2014/main" id="{0F438F6A-BFB4-44F3-8D9C-6D9F4A8EFE3C}"/>
              </a:ext>
            </a:extLst>
          </p:cNvPr>
          <p:cNvSpPr>
            <a:spLocks noGrp="1"/>
          </p:cNvSpPr>
          <p:nvPr/>
        </p:nvSpPr>
        <p:spPr>
          <a:xfrm>
            <a:off x="4438650" y="1352550"/>
            <a:ext cx="3486150" cy="571500"/>
          </a:xfrm>
          <a:prstGeom prst="roundRect">
            <a:avLst>
              <a:gd name="adj" fmla="val 13333"/>
            </a:avLst>
          </a:prstGeom>
          <a:solidFill>
            <a:srgbClr val="F28C28"/>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BB6D458-0A61-48B3-9D6C-EE1D4982AA84}"/>
              </a:ext>
            </a:extLst>
          </p:cNvPr>
          <p:cNvSpPr>
            <a:spLocks noGrp="1"/>
          </p:cNvSpPr>
          <p:nvPr/>
        </p:nvSpPr>
        <p:spPr>
          <a:xfrm>
            <a:off x="4610100" y="1447800"/>
            <a:ext cx="3143250" cy="381000"/>
          </a:xfrm>
          <a:prstGeom prst="rect">
            <a:avLst/>
          </a:prstGeom>
          <a:noFill/>
          <a:ln w="0">
            <a:noFill/>
          </a:ln>
        </p:spPr>
        <p:txBody>
          <a:bodyPr anchor="ctr">
            <a:normAutofit/>
          </a:bodyPr>
          <a:lstStyle/>
          <a:p>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Contrastive</a:t>
            </a:r>
          </a:p>
        </p:txBody>
      </p:sp>
      <p:sp>
        <p:nvSpPr>
          <p:cNvPr id="14" name="正方形/長方形 13">
            <a:extLst>
              <a:ext uri="{FF2B5EF4-FFF2-40B4-BE49-F238E27FC236}">
                <a16:creationId xmlns:a16="http://schemas.microsoft.com/office/drawing/2014/main" id="{1CB32110-729B-4AE0-9FB4-B883450A46EE}"/>
              </a:ext>
            </a:extLst>
          </p:cNvPr>
          <p:cNvSpPr>
            <a:spLocks noGrp="1"/>
          </p:cNvSpPr>
          <p:nvPr/>
        </p:nvSpPr>
        <p:spPr>
          <a:xfrm>
            <a:off x="4667250" y="2114550"/>
            <a:ext cx="3028950" cy="457200"/>
          </a:xfrm>
          <a:prstGeom prst="rect">
            <a:avLst/>
          </a:prstGeom>
          <a:noFill/>
          <a:ln w="0">
            <a:noFill/>
          </a:ln>
        </p:spPr>
        <p:txBody>
          <a:bodyPr anchor="ctr">
            <a:normAutofit/>
          </a:bodyPr>
          <a:lstStyle/>
          <a:p>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log(p₁/p₂)をRidge回帰</a:t>
            </a:r>
          </a:p>
        </p:txBody>
      </p:sp>
      <p:sp>
        <p:nvSpPr>
          <p:cNvPr id="15" name="正方形/長方形 14">
            <a:extLst>
              <a:ext uri="{FF2B5EF4-FFF2-40B4-BE49-F238E27FC236}">
                <a16:creationId xmlns:a16="http://schemas.microsoft.com/office/drawing/2014/main" id="{400DD01E-6381-404B-A301-2F9CBE2D2D73}"/>
              </a:ext>
            </a:extLst>
          </p:cNvPr>
          <p:cNvSpPr>
            <a:spLocks noGrp="1"/>
          </p:cNvSpPr>
          <p:nvPr/>
        </p:nvSpPr>
        <p:spPr>
          <a:xfrm>
            <a:off x="4676775" y="2705100"/>
            <a:ext cx="3009900" cy="9525"/>
          </a:xfrm>
          <a:prstGeom prst="rect">
            <a:avLst/>
          </a:prstGeom>
          <a:solidFill>
            <a:srgbClr val="E7EBF0"/>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AAD4D557-DA42-4AEE-B421-DAD2C561C8DF}"/>
              </a:ext>
            </a:extLst>
          </p:cNvPr>
          <p:cNvSpPr>
            <a:spLocks noGrp="1"/>
          </p:cNvSpPr>
          <p:nvPr/>
        </p:nvSpPr>
        <p:spPr>
          <a:xfrm>
            <a:off x="4724400" y="2895600"/>
            <a:ext cx="2914650" cy="1524000"/>
          </a:xfrm>
          <a:prstGeom prst="rect">
            <a:avLst/>
          </a:prstGeom>
          <a:noFill/>
          <a:ln w="0">
            <a:noFill/>
          </a:ln>
        </p:spPr>
        <p:txBody>
          <a:bodyPr anchor="ctr">
            <a:normAutofit/>
          </a:bodyPr>
          <a:lstStyle/>
          <a:p>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線形softmaxで忠実度・Brier・真係数復元が最良。局所logit差が線形に近い場合に理論と結果が一致。</a:t>
            </a:r>
          </a:p>
        </p:txBody>
      </p:sp>
      <p:sp>
        <p:nvSpPr>
          <p:cNvPr id="17" name="角丸四角形 16">
            <a:extLst>
              <a:ext uri="{FF2B5EF4-FFF2-40B4-BE49-F238E27FC236}">
                <a16:creationId xmlns:a16="http://schemas.microsoft.com/office/drawing/2014/main" id="{D99EB17D-CC9D-4567-BB9E-BDD5B96ACADF}"/>
              </a:ext>
            </a:extLst>
          </p:cNvPr>
          <p:cNvSpPr>
            <a:spLocks noGrp="1"/>
          </p:cNvSpPr>
          <p:nvPr/>
        </p:nvSpPr>
        <p:spPr>
          <a:xfrm>
            <a:off x="8191500" y="1352550"/>
            <a:ext cx="3486150" cy="3390900"/>
          </a:xfrm>
          <a:prstGeom prst="roundRect">
            <a:avLst>
              <a:gd name="adj" fmla="val 2247"/>
            </a:avLst>
          </a:prstGeom>
          <a:solidFill>
            <a:srgbClr val="FFFFFF"/>
          </a:solidFill>
          <a:ln w="9525">
            <a:solidFill>
              <a:srgbClr val="7B61A8"/>
            </a:solidFill>
          </a:ln>
        </p:spPr>
        <p:txBody>
          <a:bodyPr/>
          <a:lstStyle/>
          <a:p>
            <a:endParaRPr lang="ja-JP" altLang="en-US"/>
          </a:p>
        </p:txBody>
      </p:sp>
      <p:sp>
        <p:nvSpPr>
          <p:cNvPr id="18" name="角丸四角形 17">
            <a:extLst>
              <a:ext uri="{FF2B5EF4-FFF2-40B4-BE49-F238E27FC236}">
                <a16:creationId xmlns:a16="http://schemas.microsoft.com/office/drawing/2014/main" id="{B25BB86D-96D1-4A20-A2D0-3F99E98CF027}"/>
              </a:ext>
            </a:extLst>
          </p:cNvPr>
          <p:cNvSpPr>
            <a:spLocks noGrp="1"/>
          </p:cNvSpPr>
          <p:nvPr/>
        </p:nvSpPr>
        <p:spPr>
          <a:xfrm>
            <a:off x="8191500" y="1352550"/>
            <a:ext cx="3486150" cy="571500"/>
          </a:xfrm>
          <a:prstGeom prst="roundRect">
            <a:avLst>
              <a:gd name="adj" fmla="val 13333"/>
            </a:avLst>
          </a:prstGeom>
          <a:solidFill>
            <a:srgbClr val="7B61A8"/>
          </a:solidFill>
          <a:ln w="0">
            <a:noFill/>
          </a:ln>
        </p:spPr>
        <p:txBody>
          <a:bodyPr/>
          <a:lstStyle/>
          <a:p>
            <a:endParaRPr lang="ja-JP" altLang="en-US"/>
          </a:p>
        </p:txBody>
      </p:sp>
      <p:sp>
        <p:nvSpPr>
          <p:cNvPr id="19" name="正方形/長方形 18">
            <a:extLst>
              <a:ext uri="{FF2B5EF4-FFF2-40B4-BE49-F238E27FC236}">
                <a16:creationId xmlns:a16="http://schemas.microsoft.com/office/drawing/2014/main" id="{5FEBD468-9E95-4D56-AE6D-3FD6CE37B90E}"/>
              </a:ext>
            </a:extLst>
          </p:cNvPr>
          <p:cNvSpPr>
            <a:spLocks noGrp="1"/>
          </p:cNvSpPr>
          <p:nvPr/>
        </p:nvSpPr>
        <p:spPr>
          <a:xfrm>
            <a:off x="8362950" y="1447800"/>
            <a:ext cx="3143250" cy="381000"/>
          </a:xfrm>
          <a:prstGeom prst="rect">
            <a:avLst/>
          </a:prstGeom>
          <a:noFill/>
          <a:ln w="0">
            <a:noFill/>
          </a:ln>
        </p:spPr>
        <p:txBody>
          <a:bodyPr anchor="ctr">
            <a:normAutofit/>
          </a:bodyPr>
          <a:lstStyle/>
          <a:p>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OVO Logistic</a:t>
            </a:r>
          </a:p>
        </p:txBody>
      </p:sp>
      <p:sp>
        <p:nvSpPr>
          <p:cNvPr id="20" name="正方形/長方形 19">
            <a:extLst>
              <a:ext uri="{FF2B5EF4-FFF2-40B4-BE49-F238E27FC236}">
                <a16:creationId xmlns:a16="http://schemas.microsoft.com/office/drawing/2014/main" id="{6B1B0C5C-A8FC-45F0-80B3-865CC809FD59}"/>
              </a:ext>
            </a:extLst>
          </p:cNvPr>
          <p:cNvSpPr>
            <a:spLocks noGrp="1"/>
          </p:cNvSpPr>
          <p:nvPr/>
        </p:nvSpPr>
        <p:spPr>
          <a:xfrm>
            <a:off x="8420100" y="2114550"/>
            <a:ext cx="3028950" cy="457200"/>
          </a:xfrm>
          <a:prstGeom prst="rect">
            <a:avLst/>
          </a:prstGeom>
          <a:noFill/>
          <a:ln w="0">
            <a:noFill/>
          </a:ln>
        </p:spPr>
        <p:txBody>
          <a:bodyPr anchor="ctr">
            <a:normAutofit/>
          </a:bodyPr>
          <a:lstStyle/>
          <a:p>
            <a:pPr algn="ctr">
              <a:defRPr sz="1500" b="1">
                <a:solidFill>
                  <a:srgbClr val="7B61A8"/>
                </a:solidFill>
                <a:latin typeface="Hiragino Sans"/>
                <a:ea typeface="Hiragino Sans"/>
                <a:cs typeface="Hiragino Sans"/>
              </a:defRPr>
            </a:pPr>
            <a:r>
              <a:rPr sz="1500" b="1">
                <a:solidFill>
                  <a:srgbClr val="7B61A8"/>
                </a:solidFill>
                <a:latin typeface="Hiragino Sans"/>
                <a:ea typeface="Hiragino Sans"/>
                <a:cs typeface="Hiragino Sans"/>
              </a:rPr>
              <a:t>qを交差エントロピーで回帰</a:t>
            </a:r>
          </a:p>
        </p:txBody>
      </p:sp>
      <p:sp>
        <p:nvSpPr>
          <p:cNvPr id="21" name="正方形/長方形 20">
            <a:extLst>
              <a:ext uri="{FF2B5EF4-FFF2-40B4-BE49-F238E27FC236}">
                <a16:creationId xmlns:a16="http://schemas.microsoft.com/office/drawing/2014/main" id="{5F84DFF3-F8E0-497C-81D6-C2156F56CB38}"/>
              </a:ext>
            </a:extLst>
          </p:cNvPr>
          <p:cNvSpPr>
            <a:spLocks noGrp="1"/>
          </p:cNvSpPr>
          <p:nvPr/>
        </p:nvSpPr>
        <p:spPr>
          <a:xfrm>
            <a:off x="8429625" y="2705100"/>
            <a:ext cx="3009900" cy="9525"/>
          </a:xfrm>
          <a:prstGeom prst="rect">
            <a:avLst/>
          </a:prstGeom>
          <a:solidFill>
            <a:srgbClr val="E7EBF0"/>
          </a:solidFill>
          <a:ln w="0">
            <a:noFill/>
          </a:ln>
        </p:spPr>
        <p:txBody>
          <a:bodyPr/>
          <a:lstStyle/>
          <a:p>
            <a:endParaRPr lang="ja-JP" altLang="en-US"/>
          </a:p>
        </p:txBody>
      </p:sp>
      <p:sp>
        <p:nvSpPr>
          <p:cNvPr id="22" name="正方形/長方形 21">
            <a:extLst>
              <a:ext uri="{FF2B5EF4-FFF2-40B4-BE49-F238E27FC236}">
                <a16:creationId xmlns:a16="http://schemas.microsoft.com/office/drawing/2014/main" id="{967DFAAF-3432-402D-B19E-284586C76187}"/>
              </a:ext>
            </a:extLst>
          </p:cNvPr>
          <p:cNvSpPr>
            <a:spLocks noGrp="1"/>
          </p:cNvSpPr>
          <p:nvPr/>
        </p:nvSpPr>
        <p:spPr>
          <a:xfrm>
            <a:off x="8477250" y="2895600"/>
            <a:ext cx="2914650" cy="1524000"/>
          </a:xfrm>
          <a:prstGeom prst="rect">
            <a:avLst/>
          </a:prstGeom>
          <a:noFill/>
          <a:ln w="0">
            <a:noFill/>
          </a:ln>
        </p:spPr>
        <p:txBody>
          <a:bodyPr anchor="ctr">
            <a:normAutofit/>
          </a:bodyPr>
          <a:lstStyle/>
          <a:p>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極端確率でも目的変数が発散しない利点はあるが、今回の疎な設定では忠実度が低く、次元増加で遅くなった。</a:t>
            </a:r>
          </a:p>
        </p:txBody>
      </p:sp>
      <p:sp>
        <p:nvSpPr>
          <p:cNvPr id="23" name="角丸四角形 22">
            <a:extLst>
              <a:ext uri="{FF2B5EF4-FFF2-40B4-BE49-F238E27FC236}">
                <a16:creationId xmlns:a16="http://schemas.microsoft.com/office/drawing/2014/main" id="{8BADF2B1-3344-4E82-967E-3477B5767639}"/>
              </a:ext>
            </a:extLst>
          </p:cNvPr>
          <p:cNvSpPr>
            <a:spLocks noGrp="1"/>
          </p:cNvSpPr>
          <p:nvPr/>
        </p:nvSpPr>
        <p:spPr>
          <a:xfrm>
            <a:off x="971550" y="5010150"/>
            <a:ext cx="10248900" cy="647700"/>
          </a:xfrm>
          <a:prstGeom prst="roundRect">
            <a:avLst>
              <a:gd name="adj" fmla="val 11765"/>
            </a:avLst>
          </a:prstGeom>
          <a:solidFill>
            <a:srgbClr val="FFF4D6"/>
          </a:solidFill>
          <a:ln w="0">
            <a:noFill/>
          </a:ln>
        </p:spPr>
        <p:txBody>
          <a:bodyPr/>
          <a:lstStyle/>
          <a:p>
            <a:endParaRPr lang="ja-JP" altLang="en-US"/>
          </a:p>
        </p:txBody>
      </p:sp>
      <p:sp>
        <p:nvSpPr>
          <p:cNvPr id="24" name="正方形/長方形 23">
            <a:extLst>
              <a:ext uri="{FF2B5EF4-FFF2-40B4-BE49-F238E27FC236}">
                <a16:creationId xmlns:a16="http://schemas.microsoft.com/office/drawing/2014/main" id="{EB657E7C-C124-4244-9DF0-709099EB037D}"/>
              </a:ext>
            </a:extLst>
          </p:cNvPr>
          <p:cNvSpPr>
            <a:spLocks noGrp="1"/>
          </p:cNvSpPr>
          <p:nvPr/>
        </p:nvSpPr>
        <p:spPr>
          <a:xfrm>
            <a:off x="1219200" y="5143500"/>
            <a:ext cx="9753600" cy="381000"/>
          </a:xfrm>
          <a:prstGeom prst="rect">
            <a:avLst/>
          </a:prstGeom>
          <a:noFill/>
          <a:ln w="0">
            <a:noFill/>
          </a:ln>
        </p:spPr>
        <p:txBody>
          <a:bodyPr anchor="ctr">
            <a:normAutofit/>
          </a:bodyPr>
          <a:lstStyle/>
          <a:p>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研究としての主張は『対数比が常に最良』ではなく、2クラス化の効果と回帰方法の条件依存性を分離したこと</a:t>
            </a:r>
          </a:p>
        </p:txBody>
      </p:sp>
      <p:sp>
        <p:nvSpPr>
          <p:cNvPr id="25" name="角丸四角形 24">
            <a:extLst>
              <a:ext uri="{FF2B5EF4-FFF2-40B4-BE49-F238E27FC236}">
                <a16:creationId xmlns:a16="http://schemas.microsoft.com/office/drawing/2014/main" id="{B0D8874F-FFF9-4534-A705-A810A04B51D7}"/>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26" name="正方形/長方形 25">
            <a:extLst>
              <a:ext uri="{FF2B5EF4-FFF2-40B4-BE49-F238E27FC236}">
                <a16:creationId xmlns:a16="http://schemas.microsoft.com/office/drawing/2014/main" id="{25CF4CD7-3B64-4215-A404-1C8218AD69BC}"/>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このスライドの主張：現時点の汎用候補は2クラスLIME、線形logit構造が期待できる場合はContrastive</a:t>
            </a:r>
          </a:p>
        </p:txBody>
      </p:sp>
    </p:spTree>
    <p:extLst>
      <p:ext uri="{BB962C8B-B14F-4D97-AF65-F5344CB8AC3E}">
        <p14:creationId xmlns:p14="http://schemas.microsoft.com/office/powerpoint/2010/main" val="212765295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Hiragino Sans"/>
        <a:ea typeface="Hiragino Sans"/>
        <a:cs typeface="Hiragino Sans"/>
      </a:majorFont>
      <a:minorFont>
        <a:latin typeface="Hiragino Sans"/>
        <a:ea typeface="Hiragino Sans"/>
        <a:cs typeface="Hiragino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Hiragino Sans"/>
        <a:ea typeface="Hiragino Sans"/>
        <a:cs typeface="Hiragino Sans"/>
      </a:majorFont>
      <a:minorFont>
        <a:latin typeface="Hiragino Sans"/>
        <a:ea typeface="Hiragino Sans"/>
        <a:cs typeface="Hiragino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3950</TotalTime>
  <Words>2681</Words>
  <Application>Microsoft Macintosh PowerPoint</Application>
  <DocSecurity>0</DocSecurity>
  <PresentationFormat>ワイド画面</PresentationFormat>
  <Paragraphs>466</Paragraphs>
  <Slides>30</Slides>
  <Notes>16</Notes>
  <HiddenSlides>2</HiddenSlides>
  <MMClips>5</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30</vt:i4>
      </vt:variant>
    </vt:vector>
  </HeadingPairs>
  <TitlesOfParts>
    <vt:vector size="34" baseType="lpstr">
      <vt:lpstr>Hiragino Sans</vt:lpstr>
      <vt:lpstr>Arial</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池亀　颯太</cp:lastModifiedBy>
  <cp:revision>17</cp:revision>
  <dcterms:created xsi:type="dcterms:W3CDTF">2026-09-02T04:12:37Z</dcterms:created>
  <dcterms:modified xsi:type="dcterms:W3CDTF">2026-09-10T07:57:55Z</dcterms:modified>
</cp:coreProperties>
</file>