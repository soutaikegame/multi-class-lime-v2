
<file path=[Content_Types].xml><?xml version="1.0" encoding="utf-8"?>
<Types xmlns="http://schemas.openxmlformats.org/package/2006/content-types">
  <Default Extension="emf" ContentType="image/x-emf"/>
  <Default Extension="MOV" ContentType="video/quicktime"/>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2"/>
  </p:notesMasterIdLst>
  <p:sldIdLst>
    <p:sldId id="256" r:id="rId2"/>
    <p:sldId id="309" r:id="rId3"/>
    <p:sldId id="257" r:id="rId4"/>
    <p:sldId id="267" r:id="rId5"/>
    <p:sldId id="303" r:id="rId6"/>
    <p:sldId id="258" r:id="rId7"/>
    <p:sldId id="259" r:id="rId8"/>
    <p:sldId id="274" r:id="rId9"/>
    <p:sldId id="279" r:id="rId10"/>
    <p:sldId id="280" r:id="rId11"/>
    <p:sldId id="281" r:id="rId12"/>
    <p:sldId id="282" r:id="rId13"/>
    <p:sldId id="304" r:id="rId14"/>
    <p:sldId id="261" r:id="rId15"/>
    <p:sldId id="262" r:id="rId16"/>
    <p:sldId id="305" r:id="rId17"/>
    <p:sldId id="283" r:id="rId18"/>
    <p:sldId id="284" r:id="rId19"/>
    <p:sldId id="306" r:id="rId20"/>
    <p:sldId id="301" r:id="rId21"/>
    <p:sldId id="277" r:id="rId22"/>
    <p:sldId id="307" r:id="rId23"/>
    <p:sldId id="271" r:id="rId24"/>
    <p:sldId id="273" r:id="rId25"/>
    <p:sldId id="311" r:id="rId26"/>
    <p:sldId id="275" r:id="rId27"/>
    <p:sldId id="310" r:id="rId28"/>
    <p:sldId id="276" r:id="rId29"/>
    <p:sldId id="293" r:id="rId30"/>
    <p:sldId id="294" r:id="rId31"/>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F9ED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7994"/>
    <p:restoredTop sz="94678"/>
  </p:normalViewPr>
  <p:slideViewPr>
    <p:cSldViewPr snapToGrid="0">
      <p:cViewPr>
        <p:scale>
          <a:sx n="135" d="100"/>
          <a:sy n="135" d="100"/>
        </p:scale>
        <p:origin x="1880" y="50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LIMEの基本的な仕組みを二値分類の例から説明し、Slide</a:t>
            </a:r>
            <a:r>
              <a:rPr dirty="0"/>
              <a:t> 6以降で多クラス分類へ話を広げる。今回はFisherの提案手法や実験結果には踏み込まず、研究の出発点を整理する。</a:t>
            </a:r>
          </a:p>
          <a:p>
            <a:endParaRPr dirty="0"/>
          </a:p>
          <a:p>
            <a:r>
              <a:rPr dirty="0"/>
              <a:t>[Sources]</a:t>
            </a:r>
          </a:p>
          <a:p>
            <a:r>
              <a:rPr dirty="0"/>
              <a:t>- https://</a:t>
            </a:r>
            <a:r>
              <a:rPr dirty="0" err="1"/>
              <a:t>arxiv.org</a:t>
            </a:r>
            <a:r>
              <a:rPr dirty="0"/>
              <a:t>/abs/1602.04938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XAIはExplainable</a:t>
            </a:r>
            <a:r>
              <a:rPr dirty="0"/>
              <a:t> Artificial Intelligenceの略。予測値だけでは分からない判断根拠を示し、予測の確認だけでなく、モデルが本質的でない特徴を学んでいないかを調べるデバッグにも役立つ。図の値は実験結果ではなく模式例。</a:t>
            </a:r>
          </a:p>
          <a:p>
            <a:endParaRPr dirty="0"/>
          </a:p>
          <a:p>
            <a:r>
              <a:rPr dirty="0"/>
              <a:t>[Sources]</a:t>
            </a:r>
          </a:p>
          <a:p>
            <a:r>
              <a:rPr dirty="0"/>
              <a:t>- https://</a:t>
            </a:r>
            <a:r>
              <a:rPr dirty="0" err="1"/>
              <a:t>arxiv.org</a:t>
            </a:r>
            <a:r>
              <a:rPr dirty="0"/>
              <a:t>/abs/1602.04938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FD2F1E-E80A-D38C-27C6-E4DD3621B7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5ABF99-7FAF-0DDA-FCA0-4300DA58AD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F4AAB7-9608-0CDC-C113-B41EF21CD4EA}"/>
              </a:ext>
            </a:extLst>
          </p:cNvPr>
          <p:cNvSpPr>
            <a:spLocks noGrp="1"/>
          </p:cNvSpPr>
          <p:nvPr>
            <p:ph type="body" idx="1"/>
          </p:nvPr>
        </p:nvSpPr>
        <p:spPr/>
        <p:txBody>
          <a:bodyPr/>
          <a:lstStyle/>
          <a:p>
            <a:r>
              <a:rPr dirty="0" err="1"/>
              <a:t>XAIはExplainable</a:t>
            </a:r>
            <a:r>
              <a:rPr dirty="0"/>
              <a:t> Artificial Intelligenceの略。予測値だけでは分からない判断根拠を示し、予測の確認だけでなく、モデルが本質的でない特徴を学んでいないかを調べるデバッグにも役立つ。図の値は実験結果ではなく模式例。</a:t>
            </a:r>
          </a:p>
          <a:p>
            <a:endParaRPr dirty="0"/>
          </a:p>
          <a:p>
            <a:r>
              <a:rPr dirty="0"/>
              <a:t>[Sources]</a:t>
            </a:r>
          </a:p>
          <a:p>
            <a:r>
              <a:rPr dirty="0"/>
              <a:t>- https://</a:t>
            </a:r>
            <a:r>
              <a:rPr dirty="0" err="1"/>
              <a:t>arxiv.org</a:t>
            </a:r>
            <a:r>
              <a:rPr dirty="0"/>
              <a:t>/abs/1602.04938</a:t>
            </a:r>
          </a:p>
        </p:txBody>
      </p:sp>
      <p:sp>
        <p:nvSpPr>
          <p:cNvPr id="4" name="Slide Number Placeholder 3">
            <a:extLst>
              <a:ext uri="{FF2B5EF4-FFF2-40B4-BE49-F238E27FC236}">
                <a16:creationId xmlns:a16="http://schemas.microsoft.com/office/drawing/2014/main" id="{DB40223A-206A-7457-0921-380E18E9E4B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9693786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LIMEはブラックボックス全体を一本の単純なモデルに置き換えるのではない。説明対象の入力周辺だけに重みを置き、その狭い範囲で元モデルと似た出力を返す解釈可能なモデルを学習する。したがって説明は局所的であり、別の入力では別の説明になりうる。</a:t>
            </a:r>
          </a:p>
          <a:p>
            <a:endParaRPr dirty="0"/>
          </a:p>
          <a:p>
            <a:r>
              <a:rPr dirty="0"/>
              <a:t>[Sources]</a:t>
            </a:r>
          </a:p>
          <a:p>
            <a:r>
              <a:rPr dirty="0"/>
              <a:t>- https://</a:t>
            </a:r>
            <a:r>
              <a:rPr dirty="0" err="1"/>
              <a:t>arxiv.org</a:t>
            </a:r>
            <a:r>
              <a:rPr dirty="0"/>
              <a:t>/abs/1602.04938</a:t>
            </a:r>
          </a:p>
          <a:p>
            <a:r>
              <a:rPr dirty="0"/>
              <a:t>
[Sources]
- Ribeiro, Singh &amp; </a:t>
            </a:r>
            <a:r>
              <a:rPr dirty="0" err="1"/>
              <a:t>Guestrin</a:t>
            </a:r>
            <a:r>
              <a:rPr dirty="0"/>
              <a:t>, ‘Why Should I Trust You?’, KDD 2016（LIMEの概念的根拠）
- Open Design Local </a:t>
            </a:r>
            <a:r>
              <a:rPr dirty="0" err="1"/>
              <a:t>Codexで作成した模式図。実験結果ではない</a:t>
            </a:r>
            <a:r>
              <a:rPr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件の入力を選び、周辺に人工サンプルを生成し、ブラックボックスの予測を取得する。元の入力に近いサンプルほど強く重み付けし、少数の特徴を使う局所モデルを学習する。目的関数の第1項は局所的な予測のずれ、第2項は説明モデルの複雑さを表す。</a:t>
            </a:r>
          </a:p>
          <a:p>
            <a:endParaRPr dirty="0"/>
          </a:p>
          <a:p>
            <a:r>
              <a:rPr dirty="0"/>
              <a:t>[Sources]</a:t>
            </a:r>
          </a:p>
          <a:p>
            <a:r>
              <a:rPr dirty="0"/>
              <a:t>- https://</a:t>
            </a:r>
            <a:r>
              <a:rPr dirty="0" err="1"/>
              <a:t>arxiv.org</a:t>
            </a:r>
            <a:r>
              <a:rPr dirty="0"/>
              <a:t>/abs/1602.04938</a:t>
            </a:r>
          </a:p>
          <a:p>
            <a:r>
              <a:rPr dirty="0"/>
              <a:t>- https://</a:t>
            </a:r>
            <a:r>
              <a:rPr dirty="0" err="1"/>
              <a:t>github.com</a:t>
            </a:r>
            <a:r>
              <a:rPr dirty="0"/>
              <a:t>/</a:t>
            </a:r>
            <a:r>
              <a:rPr dirty="0" err="1"/>
              <a:t>marcotcr</a:t>
            </a:r>
            <a:r>
              <a:rPr dirty="0"/>
              <a:t>/lime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ここで初めて多クラス分類へ広げる。one-vs-restは各クラスについて、そのクラス対その他という二値問題を作る代表的な多クラス化戦略。LIMEも多クラス分類器へ適用できるが、指定したラベルの確率列をクラスごとに別々に近似する。近傍は共有できても、局所モデルと特徴選択は別々になる。</a:t>
            </a:r>
          </a:p>
          <a:p>
            <a:endParaRPr dirty="0"/>
          </a:p>
          <a:p>
            <a:r>
              <a:rPr dirty="0"/>
              <a:t>[Sources]</a:t>
            </a:r>
          </a:p>
          <a:p>
            <a:r>
              <a:rPr dirty="0"/>
              <a:t>- https://</a:t>
            </a:r>
            <a:r>
              <a:rPr dirty="0" err="1"/>
              <a:t>arxiv.org</a:t>
            </a:r>
            <a:r>
              <a:rPr dirty="0"/>
              <a:t>/abs/1602.04938</a:t>
            </a:r>
          </a:p>
          <a:p>
            <a:r>
              <a:rPr dirty="0"/>
              <a:t>- https://</a:t>
            </a:r>
            <a:r>
              <a:rPr dirty="0" err="1"/>
              <a:t>github.com</a:t>
            </a:r>
            <a:r>
              <a:rPr dirty="0"/>
              <a:t>/</a:t>
            </a:r>
            <a:r>
              <a:rPr dirty="0" err="1"/>
              <a:t>marcotcr</a:t>
            </a:r>
            <a:r>
              <a:rPr dirty="0"/>
              <a:t>/lime/blob/master/lime/</a:t>
            </a:r>
            <a:r>
              <a:rPr dirty="0" err="1"/>
              <a:t>lime_base.py</a:t>
            </a:r>
            <a:endParaRPr dirty="0"/>
          </a:p>
          <a:p>
            <a:r>
              <a:rPr dirty="0"/>
              <a:t>- https://scikit-</a:t>
            </a:r>
            <a:r>
              <a:rPr dirty="0" err="1"/>
              <a:t>learn.org</a:t>
            </a:r>
            <a:r>
              <a:rPr dirty="0"/>
              <a:t>/stable/modules/generated/</a:t>
            </a:r>
            <a:r>
              <a:rPr dirty="0" err="1"/>
              <a:t>sklearn.multiclass.OneVsRestClassifier.html</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クラス別の説明それぞれには意味がある。しかし、クラスごとに選ばれる特徴、順位、符号が異なると、利用者は複数の説明を横断してAとBの違いを組み立てなければならない。ここで問題にしているのは数理的な矛盾ではなく、多クラス全体を読む負担である。</a:t>
            </a:r>
          </a:p>
          <a:p>
            <a:endParaRPr dirty="0"/>
          </a:p>
          <a:p>
            <a:r>
              <a:rPr dirty="0"/>
              <a:t>[Sources]</a:t>
            </a:r>
          </a:p>
          <a:p>
            <a:r>
              <a:rPr dirty="0"/>
              <a:t>- https://</a:t>
            </a:r>
            <a:r>
              <a:rPr dirty="0" err="1"/>
              <a:t>arxiv.org</a:t>
            </a:r>
            <a:r>
              <a:rPr dirty="0"/>
              <a:t>/abs/2005.01427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11492790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7FA4D1-27DC-75CE-FA2C-FAE76CABB1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216DB3-FE59-6366-B24A-C9A9B0DCD2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765345-4BD1-7350-DD5A-80795B0EB808}"/>
              </a:ext>
            </a:extLst>
          </p:cNvPr>
          <p:cNvSpPr>
            <a:spLocks noGrp="1"/>
          </p:cNvSpPr>
          <p:nvPr>
            <p:ph type="body" idx="1"/>
          </p:nvPr>
        </p:nvSpPr>
        <p:spPr/>
        <p:txBody>
          <a:bodyPr/>
          <a:lstStyle/>
          <a:p>
            <a:endParaRPr/>
          </a:p>
        </p:txBody>
      </p:sp>
      <p:sp>
        <p:nvSpPr>
          <p:cNvPr id="4" name="Slide Number Placeholder 3">
            <a:extLst>
              <a:ext uri="{FF2B5EF4-FFF2-40B4-BE49-F238E27FC236}">
                <a16:creationId xmlns:a16="http://schemas.microsoft.com/office/drawing/2014/main" id="{56B9496E-5127-5FF8-CCBC-AB216CB404A5}"/>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8999210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実験設定の出典: src/run_ovo_vs_ovr_experiment.py, src/run_blackbox_comparison_experiment.py, src/run_feature_role_experiment.py, src/run_timing_experiment.py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出典: results/challenging_groundtruth_recall.png, challenging_groundtruth_results.csv。真値は各説明点で数値計算したlog(p_A/p_B)の局所勾配。競合特徴数とKを一致させた旧実験とは異なり、弱い密ノイズを含む30次元からTop-5を選ぶ。</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出典: results/challenging_groundtruth_fidelity.png。全条件平均はOVR 0.8871、2クラス通常LIME 0.8983、Contrastive 0.9005。20独立BBの対応検定で両方式とも6/6条件有意だが、実用差は約1.1〜1.3ポイント。</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出典: results/timing_scaling.png。BB推論と摂動生成は含まない。全クラス対ではなく、Top-1/Top-2の1ペアだけを説明する設定。</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一般化範囲は今回の合成データとTop-1/Top-2。実データとユーザ評価は今後の課題として口頭で補足する。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説明時は、OVRとpairwiseが異なる問いへ答える点を明示する。解釈性を断定せず、既知の真値に対する特徴関連性が改善したと述べる。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OVO Logisticは失敗扱いではなく、正則化C、サンプル数、局所幅との相互作用を今後調べる。今回の結論は合成データとTop-1/Top-2に限定。</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0.emf"/><Relationship Id="rId5" Type="http://schemas.openxmlformats.org/officeDocument/2006/relationships/image" Target="../media/image9.emf"/><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1.MOV"/><Relationship Id="rId1" Type="http://schemas.microsoft.com/office/2007/relationships/media" Target="../media/media1.MOV"/><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2.MOV"/><Relationship Id="rId1" Type="http://schemas.microsoft.com/office/2007/relationships/media" Target="../media/media2.MOV"/><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3.MOV"/><Relationship Id="rId1" Type="http://schemas.microsoft.com/office/2007/relationships/media" Target="../media/media3.MOV"/><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4.MOV"/><Relationship Id="rId1" Type="http://schemas.microsoft.com/office/2007/relationships/media" Target="../media/media4.MOV"/><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5.MOV"/><Relationship Id="rId1" Type="http://schemas.microsoft.com/office/2007/relationships/media" Target="../media/media5.MOV"/><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5.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emf"/><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CFCFD"/>
        </a:solidFill>
        <a:effectLst/>
      </p:bgPr>
    </p:bg>
    <p:spTree>
      <p:nvGrpSpPr>
        <p:cNvPr id="1" name=""/>
        <p:cNvGrpSpPr/>
        <p:nvPr/>
      </p:nvGrpSpPr>
      <p:grpSpPr>
        <a:xfrm>
          <a:off x="0" y="0"/>
          <a:ext cx="0" cy="0"/>
          <a:chOff x="0" y="0"/>
          <a:chExt cx="0" cy="0"/>
        </a:xfrm>
      </p:grpSpPr>
      <p:sp>
        <p:nvSpPr>
          <p:cNvPr id="13" name="正方形/長方形 12">
            <a:extLst>
              <a:ext uri="{FF2B5EF4-FFF2-40B4-BE49-F238E27FC236}">
                <a16:creationId xmlns:a16="http://schemas.microsoft.com/office/drawing/2014/main" id="{17A78FFF-9B69-4A91-AA42-579F155BBCE4}"/>
              </a:ext>
            </a:extLst>
          </p:cNvPr>
          <p:cNvSpPr>
            <a:spLocks noGrp="1"/>
          </p:cNvSpPr>
          <p:nvPr/>
        </p:nvSpPr>
        <p:spPr>
          <a:xfrm>
            <a:off x="0" y="0"/>
            <a:ext cx="171450" cy="6858000"/>
          </a:xfrm>
          <a:prstGeom prst="rect">
            <a:avLst/>
          </a:prstGeom>
          <a:solidFill>
            <a:srgbClr val="2563EB"/>
          </a:solidFill>
          <a:ln w="0">
            <a:solidFill>
              <a:srgbClr val="2563EB"/>
            </a:solidFill>
            <a:prstDash val="solid"/>
          </a:ln>
        </p:spPr>
        <p:txBody>
          <a:bodyPr/>
          <a:lstStyle/>
          <a:p>
            <a:endParaRPr lang="ja-JP" noProof="1"/>
          </a:p>
        </p:txBody>
      </p:sp>
      <p:sp>
        <p:nvSpPr>
          <p:cNvPr id="2" name="正方形/長方形 1">
            <a:extLst>
              <a:ext uri="{FF2B5EF4-FFF2-40B4-BE49-F238E27FC236}">
                <a16:creationId xmlns:a16="http://schemas.microsoft.com/office/drawing/2014/main" id="{F84B2074-DAA8-4AAB-BEB3-2641FD2B8DD5}"/>
              </a:ext>
            </a:extLst>
          </p:cNvPr>
          <p:cNvSpPr>
            <a:spLocks noGrp="1"/>
          </p:cNvSpPr>
          <p:nvPr/>
        </p:nvSpPr>
        <p:spPr>
          <a:xfrm>
            <a:off x="352985" y="215153"/>
            <a:ext cx="2857500" cy="323850"/>
          </a:xfrm>
          <a:prstGeom prst="rect">
            <a:avLst/>
          </a:prstGeom>
          <a:noFill/>
          <a:ln w="0">
            <a:noFill/>
            <a:prstDash val="solid"/>
          </a:ln>
        </p:spPr>
        <p:txBody>
          <a:bodyPr lIns="0" tIns="0" rIns="0" bIns="0" anchor="t">
            <a:noAutofit/>
          </a:bodyPr>
          <a:lstStyle/>
          <a:p>
            <a:pPr algn="l">
              <a:buNone/>
              <a:defRPr sz="1425" b="1">
                <a:solidFill>
                  <a:srgbClr val="2F6BDE"/>
                </a:solidFill>
                <a:latin typeface="Hiragino Sans"/>
                <a:ea typeface="Hiragino Sans"/>
                <a:cs typeface="Hiragino Sans"/>
              </a:defRPr>
            </a:pPr>
            <a:r>
              <a:rPr lang="ja-JP" altLang="en-US" sz="1425" b="1" noProof="1">
                <a:solidFill>
                  <a:srgbClr val="2F6BDE"/>
                </a:solidFill>
                <a:latin typeface="Hiragino Sans"/>
                <a:ea typeface="Hiragino Sans"/>
                <a:cs typeface="Hiragino Sans"/>
              </a:rPr>
              <a:t>齊藤研究室</a:t>
            </a:r>
            <a:r>
              <a:rPr lang="en-US" altLang="ja-JP" sz="1425" b="1" noProof="1">
                <a:solidFill>
                  <a:srgbClr val="2F6BDE"/>
                </a:solidFill>
                <a:latin typeface="Hiragino Sans"/>
                <a:ea typeface="Hiragino Sans"/>
                <a:cs typeface="Hiragino Sans"/>
              </a:rPr>
              <a:t> </a:t>
            </a:r>
            <a:r>
              <a:rPr lang="ja-JP" sz="1425" b="1" noProof="1">
                <a:solidFill>
                  <a:srgbClr val="2F6BDE"/>
                </a:solidFill>
                <a:latin typeface="Hiragino Sans"/>
                <a:ea typeface="Hiragino Sans"/>
                <a:cs typeface="Hiragino Sans"/>
              </a:rPr>
              <a:t>ゼミ中間発表</a:t>
            </a:r>
            <a:r>
              <a:rPr lang="en-US" altLang="ja-JP" sz="1425" b="1" noProof="1">
                <a:solidFill>
                  <a:srgbClr val="2F6BDE"/>
                </a:solidFill>
                <a:latin typeface="Hiragino Sans"/>
                <a:ea typeface="Hiragino Sans"/>
                <a:cs typeface="Hiragino Sans"/>
              </a:rPr>
              <a:t>2026①</a:t>
            </a:r>
            <a:endParaRPr lang="ja-JP" sz="1425" b="1" noProof="1">
              <a:solidFill>
                <a:srgbClr val="2F6BDE"/>
              </a:solidFill>
              <a:latin typeface="Hiragino Sans"/>
              <a:ea typeface="Hiragino Sans"/>
              <a:cs typeface="Hiragino Sans"/>
            </a:endParaRPr>
          </a:p>
        </p:txBody>
      </p:sp>
      <p:sp>
        <p:nvSpPr>
          <p:cNvPr id="3" name="cover-title">
            <a:extLst>
              <a:ext uri="{FF2B5EF4-FFF2-40B4-BE49-F238E27FC236}">
                <a16:creationId xmlns:a16="http://schemas.microsoft.com/office/drawing/2014/main" id="{2E43AB2B-2427-4746-ABA1-9F8EF1095148}"/>
              </a:ext>
            </a:extLst>
          </p:cNvPr>
          <p:cNvSpPr>
            <a:spLocks noGrp="1"/>
          </p:cNvSpPr>
          <p:nvPr/>
        </p:nvSpPr>
        <p:spPr>
          <a:xfrm>
            <a:off x="2029385" y="2571750"/>
            <a:ext cx="8853768" cy="1714500"/>
          </a:xfrm>
          <a:prstGeom prst="rect">
            <a:avLst/>
          </a:prstGeom>
          <a:noFill/>
          <a:ln w="0">
            <a:noFill/>
            <a:prstDash val="solid"/>
          </a:ln>
        </p:spPr>
        <p:txBody>
          <a:bodyPr lIns="0" tIns="0" rIns="0" bIns="0" anchor="t">
            <a:noAutofit/>
          </a:bodyPr>
          <a:lstStyle/>
          <a:p>
            <a:pPr algn="l">
              <a:lnSpc>
                <a:spcPct val="102000"/>
              </a:lnSpc>
              <a:buNone/>
              <a:defRPr sz="3750" b="1">
                <a:solidFill>
                  <a:srgbClr val="12233A"/>
                </a:solidFill>
                <a:latin typeface="Hiragino Sans"/>
                <a:ea typeface="Hiragino Sans"/>
                <a:cs typeface="Hiragino Sans"/>
              </a:defRPr>
            </a:pPr>
            <a:r>
              <a:rPr lang="ja-JP" sz="6000" b="1" noProof="1">
                <a:solidFill>
                  <a:srgbClr val="12233A"/>
                </a:solidFill>
                <a:latin typeface="Hiragino Sans"/>
                <a:ea typeface="Hiragino Sans"/>
                <a:cs typeface="Hiragino Sans"/>
              </a:rPr>
              <a:t>多クラス分類における</a:t>
            </a:r>
          </a:p>
          <a:p>
            <a:pPr algn="l">
              <a:lnSpc>
                <a:spcPct val="102000"/>
              </a:lnSpc>
              <a:buNone/>
              <a:defRPr sz="3750" b="1">
                <a:solidFill>
                  <a:srgbClr val="12233A"/>
                </a:solidFill>
                <a:latin typeface="Hiragino Sans"/>
                <a:ea typeface="Hiragino Sans"/>
                <a:cs typeface="Hiragino Sans"/>
              </a:defRPr>
            </a:pPr>
            <a:r>
              <a:rPr lang="ja-JP" sz="6000" b="1" noProof="1">
                <a:solidFill>
                  <a:srgbClr val="12233A"/>
                </a:solidFill>
                <a:latin typeface="Hiragino Sans"/>
                <a:ea typeface="Hiragino Sans"/>
                <a:cs typeface="Hiragino Sans"/>
              </a:rPr>
              <a:t>LIMEの説明方法と課題</a:t>
            </a:r>
          </a:p>
        </p:txBody>
      </p:sp>
      <p:cxnSp>
        <p:nvCxnSpPr>
          <p:cNvPr id="39" name="直線矢印コネクタ 16"/>
          <p:cNvCxnSpPr>
            <a:cxnSpLocks/>
          </p:cNvCxnSpPr>
          <p:nvPr/>
        </p:nvCxnSpPr>
        <p:spPr>
          <a:xfrm>
            <a:off x="685800" y="4476750"/>
            <a:ext cx="10708341" cy="0"/>
          </a:xfrm>
          <a:prstGeom prst="straightConnector1">
            <a:avLst/>
          </a:prstGeom>
          <a:ln w="19050">
            <a:solidFill>
              <a:srgbClr val="CBD5E1"/>
            </a:solidFill>
            <a:prstDash val="solid"/>
          </a:ln>
        </p:spPr>
      </p:cxnSp>
      <p:sp>
        <p:nvSpPr>
          <p:cNvPr id="6" name="正方形/長方形 5">
            <a:extLst>
              <a:ext uri="{FF2B5EF4-FFF2-40B4-BE49-F238E27FC236}">
                <a16:creationId xmlns:a16="http://schemas.microsoft.com/office/drawing/2014/main" id="{E06F0708-AD48-42F5-B4AE-2EE952E453FE}"/>
              </a:ext>
            </a:extLst>
          </p:cNvPr>
          <p:cNvSpPr>
            <a:spLocks noGrp="1"/>
          </p:cNvSpPr>
          <p:nvPr/>
        </p:nvSpPr>
        <p:spPr>
          <a:xfrm>
            <a:off x="4872317" y="4762500"/>
            <a:ext cx="3810000" cy="381000"/>
          </a:xfrm>
          <a:prstGeom prst="rect">
            <a:avLst/>
          </a:prstGeom>
          <a:noFill/>
          <a:ln w="0">
            <a:noFill/>
            <a:prstDash val="solid"/>
          </a:ln>
        </p:spPr>
        <p:txBody>
          <a:bodyPr lIns="0" tIns="0" rIns="0" bIns="0" anchor="t">
            <a:noAutofit/>
          </a:bodyPr>
          <a:lstStyle/>
          <a:p>
            <a:pPr algn="l">
              <a:buNone/>
              <a:defRPr sz="1350" b="1">
                <a:solidFill>
                  <a:srgbClr val="12233A"/>
                </a:solidFill>
                <a:latin typeface="Hiragino Sans"/>
                <a:ea typeface="Hiragino Sans"/>
                <a:cs typeface="Hiragino Sans"/>
              </a:defRPr>
            </a:pPr>
            <a:r>
              <a:rPr lang="ja-JP" sz="2000" b="1" noProof="1">
                <a:solidFill>
                  <a:srgbClr val="12233A"/>
                </a:solidFill>
                <a:latin typeface="Hiragino Sans"/>
                <a:ea typeface="Hiragino Sans"/>
                <a:cs typeface="Hiragino Sans"/>
              </a:rPr>
              <a:t>池亀 颯太　M1</a:t>
            </a:r>
          </a:p>
        </p:txBody>
      </p:sp>
      <p:sp>
        <p:nvSpPr>
          <p:cNvPr id="7" name="正方形/長方形 6">
            <a:extLst>
              <a:ext uri="{FF2B5EF4-FFF2-40B4-BE49-F238E27FC236}">
                <a16:creationId xmlns:a16="http://schemas.microsoft.com/office/drawing/2014/main" id="{5448BD7F-E594-4D25-AD2B-BAB2BB4E626A}"/>
              </a:ext>
            </a:extLst>
          </p:cNvPr>
          <p:cNvSpPr>
            <a:spLocks noGrp="1"/>
          </p:cNvSpPr>
          <p:nvPr/>
        </p:nvSpPr>
        <p:spPr>
          <a:xfrm>
            <a:off x="4872317" y="5219700"/>
            <a:ext cx="3810000" cy="304800"/>
          </a:xfrm>
          <a:prstGeom prst="rect">
            <a:avLst/>
          </a:prstGeom>
          <a:noFill/>
          <a:ln w="0">
            <a:noFill/>
            <a:prstDash val="solid"/>
          </a:ln>
        </p:spPr>
        <p:txBody>
          <a:bodyPr lIns="0" tIns="0" rIns="0" bIns="0" anchor="t">
            <a:noAutofit/>
          </a:bodyPr>
          <a:lstStyle/>
          <a:p>
            <a:pPr algn="l">
              <a:buNone/>
              <a:defRPr sz="1200" b="0">
                <a:solidFill>
                  <a:srgbClr val="667085"/>
                </a:solidFill>
                <a:latin typeface="Hiragino Sans"/>
                <a:ea typeface="Hiragino Sans"/>
                <a:cs typeface="Hiragino Sans"/>
              </a:defRPr>
            </a:pPr>
            <a:r>
              <a:rPr lang="ja-JP" sz="2000" b="0" noProof="1">
                <a:solidFill>
                  <a:srgbClr val="667085"/>
                </a:solidFill>
                <a:latin typeface="Hiragino Sans"/>
                <a:ea typeface="Hiragino Sans"/>
                <a:cs typeface="Hiragino Sans"/>
              </a:rPr>
              <a:t>2026年9月12日（土）</a:t>
            </a:r>
          </a:p>
        </p:txBody>
      </p:sp>
    </p:spTree>
    <p:extLst>
      <p:ext uri="{BB962C8B-B14F-4D97-AF65-F5344CB8AC3E}">
        <p14:creationId xmlns:p14="http://schemas.microsoft.com/office/powerpoint/2010/main" val="5444768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CEA98-C6C7-741E-DFF7-2B0866E018AF}"/>
            </a:ext>
          </a:extLst>
        </p:cNvPr>
        <p:cNvGrpSpPr/>
        <p:nvPr/>
      </p:nvGrpSpPr>
      <p:grpSpPr>
        <a:xfrm>
          <a:off x="0" y="0"/>
          <a:ext cx="0" cy="0"/>
          <a:chOff x="0" y="0"/>
          <a:chExt cx="0" cy="0"/>
        </a:xfrm>
      </p:grpSpPr>
      <p:sp>
        <p:nvSpPr>
          <p:cNvPr id="2" name="accent-bar">
            <a:extLst>
              <a:ext uri="{FF2B5EF4-FFF2-40B4-BE49-F238E27FC236}">
                <a16:creationId xmlns:a16="http://schemas.microsoft.com/office/drawing/2014/main" id="{9B4A03B4-23D8-AAFF-CACF-E45F1A1910C2}"/>
              </a:ext>
            </a:extLst>
          </p:cNvPr>
          <p:cNvSpPr>
            <a:spLocks noGrp="1"/>
          </p:cNvSpPr>
          <p:nvPr/>
        </p:nvSpPr>
        <p:spPr>
          <a:xfrm>
            <a:off x="514350" y="409575"/>
            <a:ext cx="114300" cy="476250"/>
          </a:xfrm>
          <a:prstGeom prst="rect">
            <a:avLst/>
          </a:prstGeom>
          <a:solidFill>
            <a:srgbClr val="156082"/>
          </a:solidFill>
          <a:ln w="0">
            <a:noFill/>
            <a:prstDash val="solid"/>
          </a:ln>
        </p:spPr>
        <p:txBody>
          <a:bodyPr/>
          <a:lstStyle/>
          <a:p>
            <a:endParaRPr lang="ja-JP" noProof="0"/>
          </a:p>
        </p:txBody>
      </p:sp>
      <p:sp>
        <p:nvSpPr>
          <p:cNvPr id="3" name="title">
            <a:extLst>
              <a:ext uri="{FF2B5EF4-FFF2-40B4-BE49-F238E27FC236}">
                <a16:creationId xmlns:a16="http://schemas.microsoft.com/office/drawing/2014/main" id="{285B07F7-3C25-029D-69FE-1DD34F5B8B62}"/>
              </a:ext>
            </a:extLst>
          </p:cNvPr>
          <p:cNvSpPr>
            <a:spLocks noGrp="1"/>
          </p:cNvSpPr>
          <p:nvPr/>
        </p:nvSpPr>
        <p:spPr>
          <a:xfrm>
            <a:off x="762000" y="342900"/>
            <a:ext cx="10668000" cy="476250"/>
          </a:xfrm>
          <a:prstGeom prst="rect">
            <a:avLst/>
          </a:prstGeom>
          <a:noFill/>
          <a:ln w="0">
            <a:noFill/>
            <a:prstDash val="solid"/>
          </a:ln>
        </p:spPr>
        <p:txBody>
          <a:bodyPr lIns="0" tIns="0" rIns="0" bIns="0" anchor="ctr">
            <a:noAutofit/>
          </a:bodyPr>
          <a:lstStyle/>
          <a:p>
            <a:pPr algn="l">
              <a:buNone/>
              <a:defRPr sz="2550" b="1">
                <a:solidFill>
                  <a:srgbClr val="17233D"/>
                </a:solidFill>
                <a:latin typeface="Hiragino Sans"/>
                <a:ea typeface="Hiragino Sans"/>
                <a:cs typeface="Hiragino Sans"/>
              </a:defRPr>
            </a:pPr>
            <a:r>
              <a:rPr lang="ja-JP" sz="2550" b="1" noProof="0">
                <a:solidFill>
                  <a:srgbClr val="17233D"/>
                </a:solidFill>
                <a:latin typeface="Hiragino Sans"/>
                <a:ea typeface="Hiragino Sans"/>
                <a:cs typeface="Hiragino Sans"/>
              </a:rPr>
              <a:t>目次</a:t>
            </a:r>
          </a:p>
        </p:txBody>
      </p:sp>
      <p:sp>
        <p:nvSpPr>
          <p:cNvPr id="6" name="toc-item-0">
            <a:extLst>
              <a:ext uri="{FF2B5EF4-FFF2-40B4-BE49-F238E27FC236}">
                <a16:creationId xmlns:a16="http://schemas.microsoft.com/office/drawing/2014/main" id="{951D46BD-9ADE-450B-9AFB-B7F44228516E}"/>
              </a:ext>
            </a:extLst>
          </p:cNvPr>
          <p:cNvSpPr>
            <a:spLocks noGrp="1"/>
          </p:cNvSpPr>
          <p:nvPr/>
        </p:nvSpPr>
        <p:spPr>
          <a:xfrm>
            <a:off x="1200000" y="150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2200" b="1" noProof="0">
                <a:solidFill>
                  <a:schemeClr val="accent1"/>
                </a:solidFill>
                <a:latin typeface="Hiragino Sans"/>
                <a:ea typeface="Hiragino Sans"/>
                <a:cs typeface="Hiragino Sans"/>
              </a:rPr>
              <a:t>　　</a:t>
            </a:r>
            <a:r>
              <a:rPr lang="ja-JP" sz="2200" b="1" noProof="0">
                <a:solidFill>
                  <a:schemeClr val="accent1"/>
                </a:solidFill>
                <a:latin typeface="Hiragino Sans"/>
                <a:ea typeface="Hiragino Sans"/>
              </a:rPr>
              <a:t>1. XAI（説明可能なAI）</a:t>
            </a:r>
          </a:p>
        </p:txBody>
      </p:sp>
      <p:sp>
        <p:nvSpPr>
          <p:cNvPr id="7" name="toc-item-1">
            <a:extLst>
              <a:ext uri="{FF2B5EF4-FFF2-40B4-BE49-F238E27FC236}">
                <a16:creationId xmlns:a16="http://schemas.microsoft.com/office/drawing/2014/main" id="{D0622490-9C82-DEB2-BF92-B7533DE6F91E}"/>
              </a:ext>
            </a:extLst>
          </p:cNvPr>
          <p:cNvSpPr>
            <a:spLocks noGrp="1"/>
          </p:cNvSpPr>
          <p:nvPr/>
        </p:nvSpPr>
        <p:spPr>
          <a:xfrm>
            <a:off x="1200000" y="2120000"/>
            <a:ext cx="9792000" cy="620000"/>
          </a:xfrm>
          <a:prstGeom prst="rect">
            <a:avLst/>
          </a:prstGeom>
          <a:noFill/>
          <a:ln w="0">
            <a:noFill/>
            <a:prstDash val="solid"/>
          </a:ln>
        </p:spPr>
        <p:txBody>
          <a:bodyPr lIns="0" tIns="0" rIns="0" bIns="0" anchor="ctr">
            <a:noAutofit/>
          </a:bodyPr>
          <a:lstStyle/>
          <a:p>
            <a:pPr algn="l">
              <a:buNone/>
              <a:defRPr sz="2200" b="1">
                <a:solidFill>
                  <a:srgbClr val="156082"/>
                </a:solidFill>
                <a:latin typeface="Hiragino Sans"/>
                <a:ea typeface="Hiragino Sans"/>
                <a:cs typeface="Hiragino Sans"/>
              </a:defRPr>
            </a:pPr>
            <a:r>
              <a:rPr lang="ja-JP" sz="2200" b="1" noProof="0">
                <a:solidFill>
                  <a:schemeClr val="accent1"/>
                </a:solidFill>
                <a:latin typeface="Hiragino Sans"/>
                <a:ea typeface="Hiragino Sans"/>
                <a:cs typeface="Hiragino Sans"/>
              </a:rPr>
              <a:t>　　2. LIME</a:t>
            </a:r>
          </a:p>
        </p:txBody>
      </p:sp>
      <p:sp>
        <p:nvSpPr>
          <p:cNvPr id="8" name="toc-item-2">
            <a:extLst>
              <a:ext uri="{FF2B5EF4-FFF2-40B4-BE49-F238E27FC236}">
                <a16:creationId xmlns:a16="http://schemas.microsoft.com/office/drawing/2014/main" id="{BF6EB4A9-85BE-DA7F-1A97-D3174D55FC4C}"/>
              </a:ext>
            </a:extLst>
          </p:cNvPr>
          <p:cNvSpPr>
            <a:spLocks noGrp="1"/>
          </p:cNvSpPr>
          <p:nvPr/>
        </p:nvSpPr>
        <p:spPr>
          <a:xfrm>
            <a:off x="1200000" y="274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2200" b="1" noProof="0">
                <a:solidFill>
                  <a:schemeClr val="accent1"/>
                </a:solidFill>
                <a:latin typeface="Hiragino Sans"/>
                <a:ea typeface="Hiragino Sans"/>
                <a:cs typeface="Hiragino Sans"/>
              </a:rPr>
              <a:t>　　3. </a:t>
            </a:r>
            <a:r>
              <a:rPr lang="ja-JP" sz="2200" b="1" noProof="0">
                <a:solidFill>
                  <a:schemeClr val="accent1"/>
                </a:solidFill>
                <a:latin typeface="Hiragino Sans"/>
                <a:ea typeface="Hiragino Sans"/>
              </a:rPr>
              <a:t>多クラスに応用した</a:t>
            </a:r>
            <a:r>
              <a:rPr lang="ja-JP" sz="2200" b="1" noProof="0">
                <a:solidFill>
                  <a:schemeClr val="accent1"/>
                </a:solidFill>
                <a:latin typeface="Hiragino Sans"/>
                <a:ea typeface="Hiragino Sans"/>
                <a:cs typeface="Hiragino Sans"/>
              </a:rPr>
              <a:t>LIME</a:t>
            </a:r>
          </a:p>
        </p:txBody>
      </p:sp>
      <p:sp>
        <p:nvSpPr>
          <p:cNvPr id="9" name="toc-item-3">
            <a:extLst>
              <a:ext uri="{FF2B5EF4-FFF2-40B4-BE49-F238E27FC236}">
                <a16:creationId xmlns:a16="http://schemas.microsoft.com/office/drawing/2014/main" id="{B50CCC8A-850C-CEC6-AA95-3B615F18065A}"/>
              </a:ext>
            </a:extLst>
          </p:cNvPr>
          <p:cNvSpPr>
            <a:spLocks noGrp="1"/>
          </p:cNvSpPr>
          <p:nvPr/>
        </p:nvSpPr>
        <p:spPr>
          <a:xfrm>
            <a:off x="1200000" y="336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2200" b="1" noProof="0">
                <a:solidFill>
                  <a:schemeClr val="accent1"/>
                </a:solidFill>
                <a:latin typeface="Hiragino Sans"/>
                <a:ea typeface="Hiragino Sans"/>
                <a:cs typeface="Hiragino Sans"/>
              </a:rPr>
              <a:t>　　4. 関連研究</a:t>
            </a:r>
          </a:p>
        </p:txBody>
      </p:sp>
      <p:sp>
        <p:nvSpPr>
          <p:cNvPr id="10" name="toc-item-4">
            <a:extLst>
              <a:ext uri="{FF2B5EF4-FFF2-40B4-BE49-F238E27FC236}">
                <a16:creationId xmlns:a16="http://schemas.microsoft.com/office/drawing/2014/main" id="{FE0D3D48-34A3-0800-0F07-CB24834FE6D0}"/>
              </a:ext>
            </a:extLst>
          </p:cNvPr>
          <p:cNvSpPr>
            <a:spLocks noGrp="1"/>
          </p:cNvSpPr>
          <p:nvPr/>
        </p:nvSpPr>
        <p:spPr>
          <a:xfrm>
            <a:off x="1200000" y="398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2200" b="1" noProof="0">
                <a:solidFill>
                  <a:schemeClr val="accent1"/>
                </a:solidFill>
                <a:latin typeface="Hiragino Sans"/>
                <a:ea typeface="Hiragino Sans"/>
                <a:cs typeface="Hiragino Sans"/>
              </a:rPr>
              <a:t>　　5. 提案手法</a:t>
            </a:r>
          </a:p>
        </p:txBody>
      </p:sp>
      <p:sp>
        <p:nvSpPr>
          <p:cNvPr id="11" name="toc-item-5">
            <a:extLst>
              <a:ext uri="{FF2B5EF4-FFF2-40B4-BE49-F238E27FC236}">
                <a16:creationId xmlns:a16="http://schemas.microsoft.com/office/drawing/2014/main" id="{63095010-51CD-E57F-B80A-ECC0633461B3}"/>
              </a:ext>
            </a:extLst>
          </p:cNvPr>
          <p:cNvSpPr>
            <a:spLocks noGrp="1"/>
          </p:cNvSpPr>
          <p:nvPr/>
        </p:nvSpPr>
        <p:spPr>
          <a:xfrm>
            <a:off x="1200000" y="460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2200" b="1" noProof="0">
                <a:solidFill>
                  <a:schemeClr val="accent1"/>
                </a:solidFill>
                <a:latin typeface="Hiragino Sans"/>
                <a:ea typeface="Hiragino Sans"/>
                <a:cs typeface="Hiragino Sans"/>
              </a:rPr>
              <a:t>　　6. 実験と考察</a:t>
            </a:r>
          </a:p>
        </p:txBody>
      </p:sp>
      <p:sp>
        <p:nvSpPr>
          <p:cNvPr id="12" name="toc-item-6">
            <a:extLst>
              <a:ext uri="{FF2B5EF4-FFF2-40B4-BE49-F238E27FC236}">
                <a16:creationId xmlns:a16="http://schemas.microsoft.com/office/drawing/2014/main" id="{D4A4A180-FEE3-C75E-8E43-83642BF32E47}"/>
              </a:ext>
            </a:extLst>
          </p:cNvPr>
          <p:cNvSpPr>
            <a:spLocks noGrp="1"/>
          </p:cNvSpPr>
          <p:nvPr/>
        </p:nvSpPr>
        <p:spPr>
          <a:xfrm>
            <a:off x="1200000" y="522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2200" b="1" noProof="0">
                <a:solidFill>
                  <a:schemeClr val="accent1"/>
                </a:solidFill>
                <a:latin typeface="Hiragino Sans"/>
                <a:ea typeface="Hiragino Sans"/>
                <a:cs typeface="Hiragino Sans"/>
              </a:rPr>
              <a:t>　　7. まとめと今後の展望</a:t>
            </a:r>
          </a:p>
        </p:txBody>
      </p:sp>
    </p:spTree>
    <p:extLst>
      <p:ext uri="{BB962C8B-B14F-4D97-AF65-F5344CB8AC3E}">
        <p14:creationId xmlns:p14="http://schemas.microsoft.com/office/powerpoint/2010/main" val="5490367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CFCFD"/>
        </a:solidFill>
        <a:effectLst/>
      </p:bgPr>
    </p:bg>
    <p:spTree>
      <p:nvGrpSpPr>
        <p:cNvPr id="1" name=""/>
        <p:cNvGrpSpPr/>
        <p:nvPr/>
      </p:nvGrpSpPr>
      <p:grpSpPr>
        <a:xfrm>
          <a:off x="0" y="0"/>
          <a:ext cx="0" cy="0"/>
          <a:chOff x="0" y="0"/>
          <a:chExt cx="0" cy="0"/>
        </a:xfrm>
      </p:grpSpPr>
      <p:sp>
        <p:nvSpPr>
          <p:cNvPr id="35" name="正方形/長方形 34">
            <a:extLst>
              <a:ext uri="{FF2B5EF4-FFF2-40B4-BE49-F238E27FC236}">
                <a16:creationId xmlns:a16="http://schemas.microsoft.com/office/drawing/2014/main" id="{2EC6FA3A-EF6E-4DD5-9F3D-8DE9357801F0}"/>
              </a:ext>
            </a:extLst>
          </p:cNvPr>
          <p:cNvSpPr>
            <a:spLocks noGrp="1"/>
          </p:cNvSpPr>
          <p:nvPr/>
        </p:nvSpPr>
        <p:spPr>
          <a:xfrm>
            <a:off x="514350" y="419100"/>
            <a:ext cx="114300" cy="457200"/>
          </a:xfrm>
          <a:prstGeom prst="rect">
            <a:avLst/>
          </a:prstGeom>
          <a:solidFill>
            <a:srgbClr val="2F6BDE"/>
          </a:solidFill>
          <a:ln w="0">
            <a:solidFill>
              <a:srgbClr val="2F6BDE"/>
            </a:solidFill>
            <a:prstDash val="solid"/>
          </a:ln>
        </p:spPr>
        <p:txBody>
          <a:bodyPr/>
          <a:lstStyle/>
          <a:p>
            <a:endParaRPr lang="ja-JP" noProof="1"/>
          </a:p>
        </p:txBody>
      </p:sp>
      <p:sp>
        <p:nvSpPr>
          <p:cNvPr id="2" name="slide-2-title">
            <a:extLst>
              <a:ext uri="{FF2B5EF4-FFF2-40B4-BE49-F238E27FC236}">
                <a16:creationId xmlns:a16="http://schemas.microsoft.com/office/drawing/2014/main" id="{C7DA64B8-E76C-44F5-86D4-3ED7FAD1A7A0}"/>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lgn="l">
              <a:buNone/>
              <a:defRPr sz="2850" b="1">
                <a:solidFill>
                  <a:srgbClr val="12233A"/>
                </a:solidFill>
                <a:latin typeface="Hiragino Sans"/>
                <a:ea typeface="Hiragino Sans"/>
                <a:cs typeface="Hiragino Sans"/>
              </a:defRPr>
            </a:pPr>
            <a:r>
              <a:rPr lang="ja-JP" sz="2850" b="1" noProof="1">
                <a:solidFill>
                  <a:srgbClr val="12233A"/>
                </a:solidFill>
                <a:latin typeface="Hiragino Sans"/>
                <a:ea typeface="Hiragino Sans"/>
                <a:cs typeface="Hiragino Sans"/>
              </a:rPr>
              <a:t>複雑なAIモデルの課題</a:t>
            </a:r>
          </a:p>
        </p:txBody>
      </p:sp>
      <p:sp>
        <p:nvSpPr>
          <p:cNvPr id="5" name="右矢印 4">
            <a:extLst>
              <a:ext uri="{FF2B5EF4-FFF2-40B4-BE49-F238E27FC236}">
                <a16:creationId xmlns:a16="http://schemas.microsoft.com/office/drawing/2014/main" id="{CF7D41FF-F54C-48C5-8774-3500F56DD139}"/>
              </a:ext>
            </a:extLst>
          </p:cNvPr>
          <p:cNvSpPr>
            <a:spLocks noGrp="1"/>
          </p:cNvSpPr>
          <p:nvPr/>
        </p:nvSpPr>
        <p:spPr>
          <a:xfrm>
            <a:off x="2968095" y="2457991"/>
            <a:ext cx="647700" cy="323850"/>
          </a:xfrm>
          <a:prstGeom prst="rightArrow">
            <a:avLst/>
          </a:prstGeom>
          <a:solidFill>
            <a:srgbClr val="2563EB"/>
          </a:solidFill>
          <a:ln w="0">
            <a:solidFill>
              <a:srgbClr val="2563EB"/>
            </a:solidFill>
            <a:prstDash val="solid"/>
          </a:ln>
        </p:spPr>
        <p:txBody>
          <a:bodyPr/>
          <a:lstStyle/>
          <a:p>
            <a:endParaRPr lang="ja-JP" noProof="1"/>
          </a:p>
        </p:txBody>
      </p:sp>
      <p:sp>
        <p:nvSpPr>
          <p:cNvPr id="6" name="右矢印 5">
            <a:extLst>
              <a:ext uri="{FF2B5EF4-FFF2-40B4-BE49-F238E27FC236}">
                <a16:creationId xmlns:a16="http://schemas.microsoft.com/office/drawing/2014/main" id="{AE686193-47DB-4E76-AAF1-B08B45F64CF7}"/>
              </a:ext>
            </a:extLst>
          </p:cNvPr>
          <p:cNvSpPr>
            <a:spLocks noGrp="1"/>
          </p:cNvSpPr>
          <p:nvPr/>
        </p:nvSpPr>
        <p:spPr>
          <a:xfrm>
            <a:off x="5730345" y="2457991"/>
            <a:ext cx="647700" cy="323850"/>
          </a:xfrm>
          <a:prstGeom prst="rightArrow">
            <a:avLst/>
          </a:prstGeom>
          <a:solidFill>
            <a:srgbClr val="2563EB"/>
          </a:solidFill>
          <a:ln w="0">
            <a:solidFill>
              <a:srgbClr val="2563EB"/>
            </a:solidFill>
            <a:prstDash val="solid"/>
          </a:ln>
        </p:spPr>
        <p:txBody>
          <a:bodyPr/>
          <a:lstStyle/>
          <a:p>
            <a:endParaRPr lang="ja-JP" noProof="1"/>
          </a:p>
        </p:txBody>
      </p:sp>
      <p:sp>
        <p:nvSpPr>
          <p:cNvPr id="9" name="正方形/長方形 8">
            <a:extLst>
              <a:ext uri="{FF2B5EF4-FFF2-40B4-BE49-F238E27FC236}">
                <a16:creationId xmlns:a16="http://schemas.microsoft.com/office/drawing/2014/main" id="{B497D0B8-981D-4543-BB62-3F998F6DBDE6}"/>
              </a:ext>
            </a:extLst>
          </p:cNvPr>
          <p:cNvSpPr>
            <a:spLocks noGrp="1"/>
          </p:cNvSpPr>
          <p:nvPr/>
        </p:nvSpPr>
        <p:spPr>
          <a:xfrm>
            <a:off x="720195" y="1905541"/>
            <a:ext cx="1809750" cy="323850"/>
          </a:xfrm>
          <a:prstGeom prst="rect">
            <a:avLst/>
          </a:prstGeom>
          <a:noFill/>
          <a:ln w="0">
            <a:noFill/>
            <a:prstDash val="solid"/>
          </a:ln>
        </p:spPr>
        <p:txBody>
          <a:bodyPr lIns="0" tIns="0" rIns="0" bIns="0" anchor="t">
            <a:noAutofit/>
          </a:bodyPr>
          <a:lstStyle/>
          <a:p>
            <a:pPr algn="l">
              <a:buNone/>
              <a:defRPr sz="1800" b="1">
                <a:solidFill>
                  <a:srgbClr val="111827"/>
                </a:solidFill>
                <a:latin typeface="Hiragino Sans"/>
                <a:ea typeface="Hiragino Sans"/>
                <a:cs typeface="Hiragino Sans"/>
              </a:defRPr>
            </a:pPr>
            <a:r>
              <a:rPr lang="ja-JP" sz="1800" b="1" noProof="1">
                <a:solidFill>
                  <a:srgbClr val="111827"/>
                </a:solidFill>
                <a:latin typeface="Hiragino Sans"/>
                <a:ea typeface="Hiragino Sans"/>
                <a:cs typeface="Hiragino Sans"/>
              </a:rPr>
              <a:t>乗客データ</a:t>
            </a:r>
          </a:p>
        </p:txBody>
      </p:sp>
      <p:cxnSp>
        <p:nvCxnSpPr>
          <p:cNvPr id="64" name="直線矢印コネクタ 43"/>
          <p:cNvCxnSpPr/>
          <p:nvPr/>
        </p:nvCxnSpPr>
        <p:spPr>
          <a:xfrm>
            <a:off x="720195" y="2181206"/>
            <a:ext cx="1714500" cy="0"/>
          </a:xfrm>
          <a:prstGeom prst="straightConnector1">
            <a:avLst/>
          </a:prstGeom>
          <a:ln w="9525">
            <a:solidFill>
              <a:srgbClr val="CBD5E1"/>
            </a:solidFill>
            <a:prstDash val="solid"/>
          </a:ln>
        </p:spPr>
      </p:cxnSp>
      <p:sp>
        <p:nvSpPr>
          <p:cNvPr id="11" name="正方形/長方形 10">
            <a:extLst>
              <a:ext uri="{FF2B5EF4-FFF2-40B4-BE49-F238E27FC236}">
                <a16:creationId xmlns:a16="http://schemas.microsoft.com/office/drawing/2014/main" id="{44B44796-4A5A-41BF-88C4-D8E9392134C4}"/>
              </a:ext>
            </a:extLst>
          </p:cNvPr>
          <p:cNvSpPr>
            <a:spLocks noGrp="1"/>
          </p:cNvSpPr>
          <p:nvPr/>
        </p:nvSpPr>
        <p:spPr>
          <a:xfrm>
            <a:off x="720195" y="2238917"/>
            <a:ext cx="1809750" cy="1238250"/>
          </a:xfrm>
          <a:prstGeom prst="rect">
            <a:avLst/>
          </a:prstGeom>
          <a:noFill/>
          <a:ln w="0">
            <a:noFill/>
            <a:prstDash val="solid"/>
          </a:ln>
        </p:spPr>
        <p:txBody>
          <a:bodyPr lIns="0" tIns="0" rIns="0" bIns="0" anchor="t">
            <a:noAutofit/>
          </a:bodyPr>
          <a:lstStyle/>
          <a:p>
            <a:pPr marL="285750" indent="-285750" algn="l">
              <a:buFont typeface="Arial" panose="020B0604020202020204" pitchFamily="34" charset="0"/>
              <a:buChar char="•"/>
              <a:defRPr sz="1575" b="0">
                <a:solidFill>
                  <a:srgbClr val="111827"/>
                </a:solidFill>
                <a:latin typeface="Hiragino Sans"/>
                <a:ea typeface="Hiragino Sans"/>
                <a:cs typeface="Hiragino Sans"/>
              </a:defRPr>
            </a:pPr>
            <a:r>
              <a:rPr lang="ja-JP" sz="1575" b="0" noProof="1">
                <a:solidFill>
                  <a:srgbClr val="111827"/>
                </a:solidFill>
                <a:latin typeface="Hiragino Sans"/>
                <a:ea typeface="Hiragino Sans"/>
                <a:cs typeface="Hiragino Sans"/>
              </a:rPr>
              <a:t>年齢　　　 22</a:t>
            </a:r>
            <a:endParaRPr lang="ja-JP" sz="1575" noProof="1">
              <a:solidFill>
                <a:srgbClr val="111827"/>
              </a:solidFill>
              <a:latin typeface="Hiragino Sans"/>
              <a:ea typeface="Hiragino Sans"/>
              <a:cs typeface="Hiragino Sans"/>
            </a:endParaRPr>
          </a:p>
          <a:p>
            <a:pPr marL="285750" indent="-285750" algn="l">
              <a:buFont typeface="Arial" panose="020B0604020202020204" pitchFamily="34" charset="0"/>
              <a:buChar char="•"/>
              <a:defRPr sz="1575" b="0">
                <a:solidFill>
                  <a:srgbClr val="111827"/>
                </a:solidFill>
                <a:latin typeface="Hiragino Sans"/>
                <a:ea typeface="Hiragino Sans"/>
                <a:cs typeface="Hiragino Sans"/>
              </a:defRPr>
            </a:pPr>
            <a:r>
              <a:rPr lang="ja-JP" sz="1575" b="0" noProof="1">
                <a:solidFill>
                  <a:srgbClr val="111827"/>
                </a:solidFill>
                <a:latin typeface="Hiragino Sans"/>
                <a:ea typeface="Hiragino Sans"/>
                <a:cs typeface="Hiragino Sans"/>
              </a:rPr>
              <a:t>名前</a:t>
            </a:r>
            <a:r>
              <a:rPr lang="ja-JP" sz="1575" noProof="1">
                <a:solidFill>
                  <a:srgbClr val="111827"/>
                </a:solidFill>
                <a:latin typeface="Hiragino Sans"/>
                <a:ea typeface="Hiragino Sans"/>
                <a:cs typeface="Hiragino Sans"/>
              </a:rPr>
              <a:t>　　　 Jane</a:t>
            </a:r>
            <a:endParaRPr lang="ja-JP" sz="1575" b="0" noProof="1">
              <a:solidFill>
                <a:srgbClr val="111827"/>
              </a:solidFill>
              <a:latin typeface="Hiragino Sans"/>
              <a:ea typeface="Hiragino Sans"/>
              <a:cs typeface="Hiragino Sans"/>
            </a:endParaRPr>
          </a:p>
          <a:p>
            <a:pPr marL="285750" indent="-285750" algn="l">
              <a:buFont typeface="Arial" panose="020B0604020202020204" pitchFamily="34" charset="0"/>
              <a:buChar char="•"/>
              <a:defRPr sz="1575" b="0">
                <a:solidFill>
                  <a:srgbClr val="111827"/>
                </a:solidFill>
                <a:latin typeface="Hiragino Sans"/>
                <a:ea typeface="Hiragino Sans"/>
                <a:cs typeface="Hiragino Sans"/>
              </a:defRPr>
            </a:pPr>
            <a:r>
              <a:rPr lang="ja-JP" sz="1575" b="0" noProof="1">
                <a:solidFill>
                  <a:srgbClr val="111827"/>
                </a:solidFill>
                <a:latin typeface="Hiragino Sans"/>
                <a:ea typeface="Hiragino Sans"/>
                <a:cs typeface="Hiragino Sans"/>
              </a:rPr>
              <a:t>性別　　　 女性</a:t>
            </a:r>
          </a:p>
          <a:p>
            <a:pPr marL="285750" indent="-285750" algn="l">
              <a:buFont typeface="Arial" panose="020B0604020202020204" pitchFamily="34" charset="0"/>
              <a:buChar char="•"/>
              <a:defRPr sz="1575" b="0">
                <a:solidFill>
                  <a:srgbClr val="111827"/>
                </a:solidFill>
                <a:latin typeface="Hiragino Sans"/>
                <a:ea typeface="Hiragino Sans"/>
                <a:cs typeface="Hiragino Sans"/>
              </a:defRPr>
            </a:pPr>
            <a:r>
              <a:rPr lang="ja-JP" sz="1575" b="0" noProof="1">
                <a:solidFill>
                  <a:srgbClr val="111827"/>
                </a:solidFill>
                <a:latin typeface="Hiragino Sans"/>
                <a:ea typeface="Hiragino Sans"/>
                <a:cs typeface="Hiragino Sans"/>
              </a:rPr>
              <a:t>客室等級　 1等</a:t>
            </a:r>
          </a:p>
          <a:p>
            <a:pPr marL="285750" indent="-285750" algn="l">
              <a:buFont typeface="Arial" panose="020B0604020202020204" pitchFamily="34" charset="0"/>
              <a:buChar char="•"/>
              <a:defRPr sz="1575" b="0">
                <a:solidFill>
                  <a:srgbClr val="111827"/>
                </a:solidFill>
                <a:latin typeface="Hiragino Sans"/>
                <a:ea typeface="Hiragino Sans"/>
                <a:cs typeface="Hiragino Sans"/>
              </a:defRPr>
            </a:pPr>
            <a:r>
              <a:rPr lang="ja-JP" sz="1575" b="0" noProof="1">
                <a:solidFill>
                  <a:srgbClr val="111827"/>
                </a:solidFill>
                <a:latin typeface="Hiragino Sans"/>
                <a:ea typeface="Hiragino Sans"/>
                <a:cs typeface="Hiragino Sans"/>
              </a:rPr>
              <a:t>運賃　　　 71</a:t>
            </a:r>
          </a:p>
        </p:txBody>
      </p:sp>
      <p:sp>
        <p:nvSpPr>
          <p:cNvPr id="13" name="正方形/長方形 12">
            <a:extLst>
              <a:ext uri="{FF2B5EF4-FFF2-40B4-BE49-F238E27FC236}">
                <a16:creationId xmlns:a16="http://schemas.microsoft.com/office/drawing/2014/main" id="{86FE31E9-A27A-4303-A695-EBD1BE89B854}"/>
              </a:ext>
            </a:extLst>
          </p:cNvPr>
          <p:cNvSpPr>
            <a:spLocks noGrp="1"/>
          </p:cNvSpPr>
          <p:nvPr/>
        </p:nvSpPr>
        <p:spPr>
          <a:xfrm>
            <a:off x="3634845" y="1953166"/>
            <a:ext cx="2000250" cy="1333500"/>
          </a:xfrm>
          <a:prstGeom prst="rect">
            <a:avLst/>
          </a:prstGeom>
          <a:solidFill>
            <a:srgbClr val="111827"/>
          </a:solidFill>
          <a:ln w="0">
            <a:solidFill>
              <a:srgbClr val="111827"/>
            </a:solidFill>
            <a:prstDash val="solid"/>
          </a:ln>
        </p:spPr>
        <p:txBody>
          <a:bodyPr/>
          <a:lstStyle/>
          <a:p>
            <a:endParaRPr lang="ja-JP" noProof="1"/>
          </a:p>
        </p:txBody>
      </p:sp>
      <p:sp>
        <p:nvSpPr>
          <p:cNvPr id="14" name="正方形/長方形 13">
            <a:extLst>
              <a:ext uri="{FF2B5EF4-FFF2-40B4-BE49-F238E27FC236}">
                <a16:creationId xmlns:a16="http://schemas.microsoft.com/office/drawing/2014/main" id="{5AC9DA3E-7593-4816-9049-050F7332A8C4}"/>
              </a:ext>
            </a:extLst>
          </p:cNvPr>
          <p:cNvSpPr>
            <a:spLocks noGrp="1"/>
          </p:cNvSpPr>
          <p:nvPr/>
        </p:nvSpPr>
        <p:spPr>
          <a:xfrm>
            <a:off x="3634845" y="2210341"/>
            <a:ext cx="2000250" cy="838200"/>
          </a:xfrm>
          <a:prstGeom prst="rect">
            <a:avLst/>
          </a:prstGeom>
          <a:noFill/>
          <a:ln w="0">
            <a:noFill/>
            <a:prstDash val="solid"/>
          </a:ln>
        </p:spPr>
        <p:txBody>
          <a:bodyPr lIns="0" tIns="0" rIns="0" bIns="0" anchor="ctr">
            <a:noAutofit/>
          </a:bodyPr>
          <a:lstStyle/>
          <a:p>
            <a:pPr algn="ctr">
              <a:buNone/>
              <a:defRPr sz="2250" b="1">
                <a:solidFill>
                  <a:srgbClr val="FFFFFF"/>
                </a:solidFill>
                <a:latin typeface="Hiragino Sans"/>
                <a:ea typeface="Hiragino Sans"/>
                <a:cs typeface="Hiragino Sans"/>
              </a:defRPr>
            </a:pPr>
            <a:r>
              <a:rPr lang="ja-JP" sz="2250" b="1" noProof="1">
                <a:solidFill>
                  <a:srgbClr val="FFFFFF"/>
                </a:solidFill>
                <a:latin typeface="Hiragino Sans"/>
                <a:ea typeface="Hiragino Sans"/>
                <a:cs typeface="Hiragino Sans"/>
              </a:rPr>
              <a:t>BLACK</a:t>
            </a:r>
          </a:p>
          <a:p>
            <a:pPr algn="ctr">
              <a:buNone/>
              <a:defRPr sz="2250" b="1">
                <a:solidFill>
                  <a:srgbClr val="FFFFFF"/>
                </a:solidFill>
                <a:latin typeface="Hiragino Sans"/>
                <a:ea typeface="Hiragino Sans"/>
                <a:cs typeface="Hiragino Sans"/>
              </a:defRPr>
            </a:pPr>
            <a:r>
              <a:rPr lang="ja-JP" sz="2250" b="1" noProof="1">
                <a:solidFill>
                  <a:srgbClr val="FFFFFF"/>
                </a:solidFill>
                <a:latin typeface="Hiragino Sans"/>
                <a:ea typeface="Hiragino Sans"/>
                <a:cs typeface="Hiragino Sans"/>
              </a:rPr>
              <a:t>BOX</a:t>
            </a:r>
          </a:p>
        </p:txBody>
      </p:sp>
      <p:sp>
        <p:nvSpPr>
          <p:cNvPr id="16" name="正方形/長方形 15">
            <a:extLst>
              <a:ext uri="{FF2B5EF4-FFF2-40B4-BE49-F238E27FC236}">
                <a16:creationId xmlns:a16="http://schemas.microsoft.com/office/drawing/2014/main" id="{3049682F-0280-4316-BDBB-8BDF1272EFE5}"/>
              </a:ext>
            </a:extLst>
          </p:cNvPr>
          <p:cNvSpPr>
            <a:spLocks noGrp="1"/>
          </p:cNvSpPr>
          <p:nvPr/>
        </p:nvSpPr>
        <p:spPr>
          <a:xfrm>
            <a:off x="6625695" y="1981741"/>
            <a:ext cx="1238250" cy="285750"/>
          </a:xfrm>
          <a:prstGeom prst="rect">
            <a:avLst/>
          </a:prstGeom>
          <a:noFill/>
          <a:ln w="0">
            <a:noFill/>
            <a:prstDash val="solid"/>
          </a:ln>
        </p:spPr>
        <p:txBody>
          <a:bodyPr lIns="0" tIns="0" rIns="0" bIns="0" anchor="t">
            <a:noAutofit/>
          </a:bodyPr>
          <a:lstStyle/>
          <a:p>
            <a:pPr algn="ctr">
              <a:buNone/>
              <a:defRPr sz="1650" b="1">
                <a:solidFill>
                  <a:srgbClr val="2563EB"/>
                </a:solidFill>
                <a:latin typeface="Hiragino Sans"/>
                <a:ea typeface="Hiragino Sans"/>
                <a:cs typeface="Hiragino Sans"/>
              </a:defRPr>
            </a:pPr>
            <a:r>
              <a:rPr lang="ja-JP" sz="1650" b="1" noProof="1">
                <a:solidFill>
                  <a:srgbClr val="2563EB"/>
                </a:solidFill>
                <a:latin typeface="Hiragino Sans"/>
                <a:ea typeface="Hiragino Sans"/>
                <a:cs typeface="Hiragino Sans"/>
              </a:rPr>
              <a:t>予測</a:t>
            </a:r>
          </a:p>
        </p:txBody>
      </p:sp>
      <p:sp>
        <p:nvSpPr>
          <p:cNvPr id="17" name="正方形/長方形 16">
            <a:extLst>
              <a:ext uri="{FF2B5EF4-FFF2-40B4-BE49-F238E27FC236}">
                <a16:creationId xmlns:a16="http://schemas.microsoft.com/office/drawing/2014/main" id="{D8C1BE27-8892-4CD9-8EFA-DFB9BB0FD15F}"/>
              </a:ext>
            </a:extLst>
          </p:cNvPr>
          <p:cNvSpPr>
            <a:spLocks noGrp="1"/>
          </p:cNvSpPr>
          <p:nvPr/>
        </p:nvSpPr>
        <p:spPr>
          <a:xfrm>
            <a:off x="6625695" y="2419891"/>
            <a:ext cx="1238250" cy="266700"/>
          </a:xfrm>
          <a:prstGeom prst="rect">
            <a:avLst/>
          </a:prstGeom>
          <a:noFill/>
          <a:ln w="0">
            <a:noFill/>
            <a:prstDash val="solid"/>
          </a:ln>
        </p:spPr>
        <p:txBody>
          <a:bodyPr lIns="0" tIns="0" rIns="0" bIns="0" anchor="t">
            <a:noAutofit/>
          </a:bodyPr>
          <a:lstStyle/>
          <a:p>
            <a:pPr algn="ctr">
              <a:buNone/>
              <a:defRPr sz="1500" b="0">
                <a:solidFill>
                  <a:srgbClr val="111827"/>
                </a:solidFill>
                <a:latin typeface="Hiragino Sans"/>
                <a:ea typeface="Hiragino Sans"/>
                <a:cs typeface="Hiragino Sans"/>
              </a:defRPr>
            </a:pPr>
            <a:r>
              <a:rPr lang="ja-JP" sz="1500" b="0" noProof="1">
                <a:solidFill>
                  <a:srgbClr val="111827"/>
                </a:solidFill>
                <a:latin typeface="Hiragino Sans"/>
                <a:ea typeface="Hiragino Sans"/>
                <a:cs typeface="Hiragino Sans"/>
              </a:rPr>
              <a:t>生存確率</a:t>
            </a:r>
          </a:p>
        </p:txBody>
      </p:sp>
      <p:sp>
        <p:nvSpPr>
          <p:cNvPr id="18" name="正方形/長方形 17">
            <a:extLst>
              <a:ext uri="{FF2B5EF4-FFF2-40B4-BE49-F238E27FC236}">
                <a16:creationId xmlns:a16="http://schemas.microsoft.com/office/drawing/2014/main" id="{46A41101-F07F-4960-89B3-8AF86D00DFB1}"/>
              </a:ext>
            </a:extLst>
          </p:cNvPr>
          <p:cNvSpPr>
            <a:spLocks noGrp="1"/>
          </p:cNvSpPr>
          <p:nvPr/>
        </p:nvSpPr>
        <p:spPr>
          <a:xfrm>
            <a:off x="6625695" y="2715166"/>
            <a:ext cx="1238250" cy="457200"/>
          </a:xfrm>
          <a:prstGeom prst="rect">
            <a:avLst/>
          </a:prstGeom>
          <a:noFill/>
          <a:ln w="0">
            <a:noFill/>
            <a:prstDash val="solid"/>
          </a:ln>
        </p:spPr>
        <p:txBody>
          <a:bodyPr lIns="0" tIns="0" rIns="0" bIns="0" anchor="t">
            <a:noAutofit/>
          </a:bodyPr>
          <a:lstStyle/>
          <a:p>
            <a:pPr algn="ctr">
              <a:buNone/>
              <a:defRPr sz="2850" b="1">
                <a:solidFill>
                  <a:srgbClr val="2563EB"/>
                </a:solidFill>
                <a:latin typeface="Hiragino Sans"/>
                <a:ea typeface="Hiragino Sans"/>
                <a:cs typeface="Hiragino Sans"/>
              </a:defRPr>
            </a:pPr>
            <a:r>
              <a:rPr lang="ja-JP" sz="2850" b="1" noProof="1">
                <a:solidFill>
                  <a:srgbClr val="2563EB"/>
                </a:solidFill>
                <a:latin typeface="Hiragino Sans"/>
                <a:ea typeface="Hiragino Sans"/>
                <a:cs typeface="Hiragino Sans"/>
              </a:rPr>
              <a:t>0.78</a:t>
            </a:r>
          </a:p>
        </p:txBody>
      </p:sp>
      <p:pic>
        <p:nvPicPr>
          <p:cNvPr id="43" name="図 42">
            <a:extLst>
              <a:ext uri="{FF2B5EF4-FFF2-40B4-BE49-F238E27FC236}">
                <a16:creationId xmlns:a16="http://schemas.microsoft.com/office/drawing/2014/main" id="{4BC52433-BA3C-E782-7669-CE110681557F}"/>
              </a:ext>
            </a:extLst>
          </p:cNvPr>
          <p:cNvPicPr>
            <a:picLocks noChangeAspect="1"/>
          </p:cNvPicPr>
          <p:nvPr/>
        </p:nvPicPr>
        <p:blipFill>
          <a:blip r:embed="rId3"/>
          <a:stretch>
            <a:fillRect/>
          </a:stretch>
        </p:blipFill>
        <p:spPr>
          <a:xfrm>
            <a:off x="681566" y="4431101"/>
            <a:ext cx="2059225" cy="1893381"/>
          </a:xfrm>
          <a:prstGeom prst="rect">
            <a:avLst/>
          </a:prstGeom>
        </p:spPr>
      </p:pic>
      <p:pic>
        <p:nvPicPr>
          <p:cNvPr id="44" name="図 43">
            <a:extLst>
              <a:ext uri="{FF2B5EF4-FFF2-40B4-BE49-F238E27FC236}">
                <a16:creationId xmlns:a16="http://schemas.microsoft.com/office/drawing/2014/main" id="{1302AFA1-3830-F9E1-C37C-97AD857CF7BB}"/>
              </a:ext>
            </a:extLst>
          </p:cNvPr>
          <p:cNvPicPr>
            <a:picLocks noChangeAspect="1"/>
          </p:cNvPicPr>
          <p:nvPr/>
        </p:nvPicPr>
        <p:blipFill>
          <a:blip r:embed="rId4"/>
          <a:stretch>
            <a:fillRect/>
          </a:stretch>
        </p:blipFill>
        <p:spPr>
          <a:xfrm>
            <a:off x="5656442" y="4338502"/>
            <a:ext cx="2192499" cy="2015922"/>
          </a:xfrm>
          <a:prstGeom prst="rect">
            <a:avLst/>
          </a:prstGeom>
        </p:spPr>
      </p:pic>
      <p:sp>
        <p:nvSpPr>
          <p:cNvPr id="49" name="右矢印 48">
            <a:extLst>
              <a:ext uri="{FF2B5EF4-FFF2-40B4-BE49-F238E27FC236}">
                <a16:creationId xmlns:a16="http://schemas.microsoft.com/office/drawing/2014/main" id="{152AA240-681E-4078-DBDE-A22E19AEFB48}"/>
              </a:ext>
            </a:extLst>
          </p:cNvPr>
          <p:cNvSpPr>
            <a:spLocks noGrp="1"/>
          </p:cNvSpPr>
          <p:nvPr/>
        </p:nvSpPr>
        <p:spPr>
          <a:xfrm>
            <a:off x="2828756" y="4928084"/>
            <a:ext cx="522590" cy="261295"/>
          </a:xfrm>
          <a:prstGeom prst="rightArrow">
            <a:avLst/>
          </a:prstGeom>
          <a:solidFill>
            <a:srgbClr val="2563EB"/>
          </a:solidFill>
          <a:ln w="0">
            <a:solidFill>
              <a:srgbClr val="2563EB"/>
            </a:solidFill>
            <a:prstDash val="solid"/>
          </a:ln>
        </p:spPr>
        <p:txBody>
          <a:bodyPr/>
          <a:lstStyle/>
          <a:p>
            <a:endParaRPr lang="ja-JP" noProof="1"/>
          </a:p>
        </p:txBody>
      </p:sp>
      <p:sp>
        <p:nvSpPr>
          <p:cNvPr id="50" name="右矢印 49">
            <a:extLst>
              <a:ext uri="{FF2B5EF4-FFF2-40B4-BE49-F238E27FC236}">
                <a16:creationId xmlns:a16="http://schemas.microsoft.com/office/drawing/2014/main" id="{752375DB-29FA-44B2-AAE3-E73128F939E8}"/>
              </a:ext>
            </a:extLst>
          </p:cNvPr>
          <p:cNvSpPr>
            <a:spLocks noGrp="1"/>
          </p:cNvSpPr>
          <p:nvPr/>
        </p:nvSpPr>
        <p:spPr>
          <a:xfrm>
            <a:off x="5328537" y="4928084"/>
            <a:ext cx="522590" cy="261295"/>
          </a:xfrm>
          <a:prstGeom prst="rightArrow">
            <a:avLst/>
          </a:prstGeom>
          <a:solidFill>
            <a:srgbClr val="2563EB"/>
          </a:solidFill>
          <a:ln w="0">
            <a:solidFill>
              <a:srgbClr val="2563EB"/>
            </a:solidFill>
            <a:prstDash val="solid"/>
          </a:ln>
        </p:spPr>
        <p:txBody>
          <a:bodyPr/>
          <a:lstStyle/>
          <a:p>
            <a:endParaRPr lang="ja-JP" noProof="1"/>
          </a:p>
        </p:txBody>
      </p:sp>
      <p:sp>
        <p:nvSpPr>
          <p:cNvPr id="51" name="正方形/長方形 50">
            <a:extLst>
              <a:ext uri="{FF2B5EF4-FFF2-40B4-BE49-F238E27FC236}">
                <a16:creationId xmlns:a16="http://schemas.microsoft.com/office/drawing/2014/main" id="{C1D923FB-B379-B4A6-472E-2DA5AF5BFC71}"/>
              </a:ext>
            </a:extLst>
          </p:cNvPr>
          <p:cNvSpPr>
            <a:spLocks noGrp="1"/>
          </p:cNvSpPr>
          <p:nvPr/>
        </p:nvSpPr>
        <p:spPr>
          <a:xfrm>
            <a:off x="3495506" y="4618285"/>
            <a:ext cx="1613879" cy="1075919"/>
          </a:xfrm>
          <a:prstGeom prst="rect">
            <a:avLst/>
          </a:prstGeom>
          <a:solidFill>
            <a:srgbClr val="111827"/>
          </a:solidFill>
          <a:ln w="0">
            <a:solidFill>
              <a:srgbClr val="111827"/>
            </a:solidFill>
            <a:prstDash val="solid"/>
          </a:ln>
        </p:spPr>
        <p:txBody>
          <a:bodyPr/>
          <a:lstStyle/>
          <a:p>
            <a:endParaRPr lang="ja-JP" noProof="1"/>
          </a:p>
        </p:txBody>
      </p:sp>
      <p:sp>
        <p:nvSpPr>
          <p:cNvPr id="52" name="正方形/長方形 51">
            <a:extLst>
              <a:ext uri="{FF2B5EF4-FFF2-40B4-BE49-F238E27FC236}">
                <a16:creationId xmlns:a16="http://schemas.microsoft.com/office/drawing/2014/main" id="{86D43C8A-63E2-878E-34FE-D3AB59B87FDD}"/>
              </a:ext>
            </a:extLst>
          </p:cNvPr>
          <p:cNvSpPr>
            <a:spLocks noGrp="1"/>
          </p:cNvSpPr>
          <p:nvPr/>
        </p:nvSpPr>
        <p:spPr>
          <a:xfrm>
            <a:off x="3495506" y="4851522"/>
            <a:ext cx="1613879" cy="676292"/>
          </a:xfrm>
          <a:prstGeom prst="rect">
            <a:avLst/>
          </a:prstGeom>
          <a:noFill/>
          <a:ln w="0">
            <a:noFill/>
            <a:prstDash val="solid"/>
          </a:ln>
        </p:spPr>
        <p:txBody>
          <a:bodyPr lIns="0" tIns="0" rIns="0" bIns="0" anchor="ctr">
            <a:noAutofit/>
          </a:bodyPr>
          <a:lstStyle/>
          <a:p>
            <a:pPr algn="ctr">
              <a:buNone/>
              <a:defRPr sz="2250" b="1">
                <a:solidFill>
                  <a:srgbClr val="FFFFFF"/>
                </a:solidFill>
                <a:latin typeface="Hiragino Sans"/>
                <a:ea typeface="Hiragino Sans"/>
                <a:cs typeface="Hiragino Sans"/>
              </a:defRPr>
            </a:pPr>
            <a:r>
              <a:rPr lang="ja-JP" sz="2250" b="1" noProof="1">
                <a:solidFill>
                  <a:srgbClr val="FFFFFF"/>
                </a:solidFill>
                <a:latin typeface="Hiragino Sans"/>
                <a:ea typeface="Hiragino Sans"/>
                <a:cs typeface="Hiragino Sans"/>
              </a:rPr>
              <a:t>機械学習</a:t>
            </a:r>
            <a:br>
              <a:rPr lang="en-US" altLang="ja-JP" sz="2250" b="1" noProof="1">
                <a:solidFill>
                  <a:srgbClr val="FFFFFF"/>
                </a:solidFill>
                <a:latin typeface="Hiragino Sans"/>
                <a:ea typeface="Hiragino Sans"/>
                <a:cs typeface="Hiragino Sans"/>
              </a:rPr>
            </a:br>
            <a:r>
              <a:rPr lang="ja-JP" sz="2250" b="1" noProof="1">
                <a:solidFill>
                  <a:srgbClr val="FFFFFF"/>
                </a:solidFill>
                <a:latin typeface="Hiragino Sans"/>
                <a:ea typeface="Hiragino Sans"/>
                <a:cs typeface="Hiragino Sans"/>
              </a:rPr>
              <a:t>モデル</a:t>
            </a:r>
          </a:p>
        </p:txBody>
      </p:sp>
      <p:sp>
        <p:nvSpPr>
          <p:cNvPr id="53" name="テキスト ボックス 52">
            <a:extLst>
              <a:ext uri="{FF2B5EF4-FFF2-40B4-BE49-F238E27FC236}">
                <a16:creationId xmlns:a16="http://schemas.microsoft.com/office/drawing/2014/main" id="{E58D4C17-7C06-0105-45EA-DD32D8F9E22B}"/>
              </a:ext>
            </a:extLst>
          </p:cNvPr>
          <p:cNvSpPr txBox="1"/>
          <p:nvPr/>
        </p:nvSpPr>
        <p:spPr>
          <a:xfrm>
            <a:off x="8201263" y="4964512"/>
            <a:ext cx="3990737" cy="923330"/>
          </a:xfrm>
          <a:prstGeom prst="rect">
            <a:avLst/>
          </a:prstGeom>
          <a:noFill/>
        </p:spPr>
        <p:txBody>
          <a:bodyPr wrap="square" rtlCol="0">
            <a:spAutoFit/>
          </a:bodyPr>
          <a:lstStyle/>
          <a:p>
            <a:r>
              <a:rPr lang="ja-JP" noProof="1"/>
              <a:t>ニューラルネットワークやランダムフォレストは</a:t>
            </a:r>
            <a:r>
              <a:rPr lang="ja-JP" altLang="en-US" noProof="1"/>
              <a:t>，</a:t>
            </a:r>
            <a:br>
              <a:rPr lang="ja-JP" noProof="1"/>
            </a:br>
            <a:r>
              <a:rPr lang="ja-JP" noProof="1"/>
              <a:t>どう予測したかの説明がほぼ不可能</a:t>
            </a:r>
          </a:p>
        </p:txBody>
      </p:sp>
      <p:sp>
        <p:nvSpPr>
          <p:cNvPr id="54" name="テキスト ボックス 53">
            <a:extLst>
              <a:ext uri="{FF2B5EF4-FFF2-40B4-BE49-F238E27FC236}">
                <a16:creationId xmlns:a16="http://schemas.microsoft.com/office/drawing/2014/main" id="{4870606F-2875-D44E-7C27-E33F7F1EE4AA}"/>
              </a:ext>
            </a:extLst>
          </p:cNvPr>
          <p:cNvSpPr txBox="1"/>
          <p:nvPr/>
        </p:nvSpPr>
        <p:spPr>
          <a:xfrm>
            <a:off x="7983008" y="2181206"/>
            <a:ext cx="4251629" cy="923330"/>
          </a:xfrm>
          <a:prstGeom prst="rect">
            <a:avLst/>
          </a:prstGeom>
          <a:noFill/>
        </p:spPr>
        <p:txBody>
          <a:bodyPr wrap="square" rtlCol="0">
            <a:spAutoFit/>
          </a:bodyPr>
          <a:lstStyle/>
          <a:p>
            <a:r>
              <a:rPr lang="en-US" altLang="ja-JP" noProof="1"/>
              <a:t>- </a:t>
            </a:r>
            <a:r>
              <a:rPr lang="ja-JP" altLang="ja-JP" noProof="1"/>
              <a:t>予測精度と解釈可能性はトレードオフ</a:t>
            </a:r>
          </a:p>
          <a:p>
            <a:r>
              <a:rPr lang="en-US" altLang="ja-JP" noProof="1"/>
              <a:t>- </a:t>
            </a:r>
            <a:r>
              <a:rPr lang="ja-JP" altLang="en-US" noProof="1"/>
              <a:t>医療や金融のような説明責任が求められる現場では，解釈可能性も重要</a:t>
            </a:r>
            <a:endParaRPr kumimoji="1" lang="ja-JP" noProof="1"/>
          </a:p>
        </p:txBody>
      </p:sp>
      <p:sp>
        <p:nvSpPr>
          <p:cNvPr id="55" name="正方形/長方形 54">
            <a:extLst>
              <a:ext uri="{FF2B5EF4-FFF2-40B4-BE49-F238E27FC236}">
                <a16:creationId xmlns:a16="http://schemas.microsoft.com/office/drawing/2014/main" id="{D073CE75-503C-7B13-CC74-9C07867C42FA}"/>
              </a:ext>
            </a:extLst>
          </p:cNvPr>
          <p:cNvSpPr>
            <a:spLocks noGrp="1"/>
          </p:cNvSpPr>
          <p:nvPr/>
        </p:nvSpPr>
        <p:spPr>
          <a:xfrm>
            <a:off x="486832" y="1788251"/>
            <a:ext cx="2276475" cy="1714500"/>
          </a:xfrm>
          <a:prstGeom prst="rect">
            <a:avLst/>
          </a:prstGeom>
          <a:noFill/>
          <a:ln w="41275" cap="rnd" cmpd="dbl">
            <a:solidFill>
              <a:schemeClr val="accent4"/>
            </a:solidFill>
            <a:bevel/>
          </a:ln>
        </p:spPr>
        <p:style>
          <a:lnRef idx="2">
            <a:schemeClr val="accent4"/>
          </a:lnRef>
          <a:fillRef idx="1">
            <a:schemeClr val="lt1"/>
          </a:fillRef>
          <a:effectRef idx="0">
            <a:schemeClr val="accent4"/>
          </a:effectRef>
          <a:fontRef idx="minor">
            <a:schemeClr val="dk1"/>
          </a:fontRef>
        </p:style>
        <p:txBody>
          <a:bodyPr/>
          <a:lstStyle/>
          <a:p>
            <a:endParaRPr lang="ja-JP" noProof="1"/>
          </a:p>
        </p:txBody>
      </p:sp>
      <p:sp>
        <p:nvSpPr>
          <p:cNvPr id="56" name="正方形/長方形 55">
            <a:extLst>
              <a:ext uri="{FF2B5EF4-FFF2-40B4-BE49-F238E27FC236}">
                <a16:creationId xmlns:a16="http://schemas.microsoft.com/office/drawing/2014/main" id="{5BBAF048-75B6-D9C7-9F63-0ABA13A536AA}"/>
              </a:ext>
            </a:extLst>
          </p:cNvPr>
          <p:cNvSpPr>
            <a:spLocks noGrp="1"/>
          </p:cNvSpPr>
          <p:nvPr/>
        </p:nvSpPr>
        <p:spPr>
          <a:xfrm>
            <a:off x="6506632" y="1762666"/>
            <a:ext cx="1443509" cy="1714500"/>
          </a:xfrm>
          <a:prstGeom prst="rect">
            <a:avLst/>
          </a:prstGeom>
          <a:noFill/>
          <a:ln w="41275" cap="rnd" cmpd="dbl">
            <a:solidFill>
              <a:schemeClr val="accent4"/>
            </a:solidFill>
            <a:bevel/>
          </a:ln>
        </p:spPr>
        <p:style>
          <a:lnRef idx="2">
            <a:schemeClr val="accent4"/>
          </a:lnRef>
          <a:fillRef idx="1">
            <a:schemeClr val="lt1"/>
          </a:fillRef>
          <a:effectRef idx="0">
            <a:schemeClr val="accent4"/>
          </a:effectRef>
          <a:fontRef idx="minor">
            <a:schemeClr val="dk1"/>
          </a:fontRef>
        </p:style>
        <p:txBody>
          <a:bodyPr/>
          <a:lstStyle/>
          <a:p>
            <a:endParaRPr lang="ja-JP" noProof="1"/>
          </a:p>
        </p:txBody>
      </p:sp>
    </p:spTree>
    <p:extLst>
      <p:ext uri="{BB962C8B-B14F-4D97-AF65-F5344CB8AC3E}">
        <p14:creationId xmlns:p14="http://schemas.microsoft.com/office/powerpoint/2010/main" val="15659080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0FAB7-E38D-D461-CBFA-07030154AC9A}"/>
            </a:ext>
          </a:extLst>
        </p:cNvPr>
        <p:cNvGrpSpPr/>
        <p:nvPr/>
      </p:nvGrpSpPr>
      <p:grpSpPr>
        <a:xfrm>
          <a:off x="0" y="0"/>
          <a:ext cx="0" cy="0"/>
          <a:chOff x="0" y="0"/>
          <a:chExt cx="0" cy="0"/>
        </a:xfrm>
      </p:grpSpPr>
      <p:sp>
        <p:nvSpPr>
          <p:cNvPr id="35" name="正方形/長方形 34">
            <a:extLst>
              <a:ext uri="{FF2B5EF4-FFF2-40B4-BE49-F238E27FC236}">
                <a16:creationId xmlns:a16="http://schemas.microsoft.com/office/drawing/2014/main" id="{83225A2E-E4B0-7ECD-069D-EE751DA15187}"/>
              </a:ext>
            </a:extLst>
          </p:cNvPr>
          <p:cNvSpPr>
            <a:spLocks noGrp="1"/>
          </p:cNvSpPr>
          <p:nvPr/>
        </p:nvSpPr>
        <p:spPr>
          <a:xfrm>
            <a:off x="514350" y="419100"/>
            <a:ext cx="114300" cy="457200"/>
          </a:xfrm>
          <a:prstGeom prst="rect">
            <a:avLst/>
          </a:prstGeom>
          <a:solidFill>
            <a:srgbClr val="2F6BDE"/>
          </a:solidFill>
          <a:ln w="0">
            <a:solidFill>
              <a:srgbClr val="2F6BDE"/>
            </a:solidFill>
            <a:prstDash val="solid"/>
          </a:ln>
        </p:spPr>
        <p:txBody>
          <a:bodyPr/>
          <a:lstStyle/>
          <a:p>
            <a:endParaRPr lang="ja-JP" noProof="1"/>
          </a:p>
        </p:txBody>
      </p:sp>
      <p:sp>
        <p:nvSpPr>
          <p:cNvPr id="2" name="slide-2-title">
            <a:extLst>
              <a:ext uri="{FF2B5EF4-FFF2-40B4-BE49-F238E27FC236}">
                <a16:creationId xmlns:a16="http://schemas.microsoft.com/office/drawing/2014/main" id="{486018BA-5A52-D9D4-A1DD-07011EF367AF}"/>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defRPr sz="2850" b="1">
                <a:solidFill>
                  <a:srgbClr val="12233A"/>
                </a:solidFill>
                <a:latin typeface="Hiragino Sans"/>
                <a:ea typeface="Hiragino Sans"/>
                <a:cs typeface="Hiragino Sans"/>
              </a:defRPr>
            </a:pPr>
            <a:r>
              <a:rPr lang="ja-JP" sz="2850" b="1" noProof="1">
                <a:solidFill>
                  <a:srgbClr val="12233A"/>
                </a:solidFill>
                <a:latin typeface="Hiragino Sans"/>
                <a:ea typeface="Hiragino Sans"/>
                <a:cs typeface="Hiragino Sans"/>
              </a:rPr>
              <a:t>XAI</a:t>
            </a:r>
            <a:r>
              <a:rPr lang="en-US" altLang="ja-JP" sz="2850" b="1" noProof="1">
                <a:solidFill>
                  <a:srgbClr val="12233A"/>
                </a:solidFill>
                <a:latin typeface="Hiragino Sans"/>
                <a:ea typeface="Hiragino Sans"/>
                <a:cs typeface="Hiragino Sans"/>
              </a:rPr>
              <a:t> </a:t>
            </a:r>
            <a:r>
              <a:rPr lang="ja-JP" altLang="en-US"/>
              <a:t>複雑な</a:t>
            </a:r>
            <a:r>
              <a:rPr lang="en-US" altLang="ja-JP" dirty="0"/>
              <a:t>AI</a:t>
            </a:r>
            <a:r>
              <a:rPr lang="ja-JP" altLang="en-US"/>
              <a:t>の処理を説明するツール</a:t>
            </a:r>
            <a:endParaRPr lang="ja-JP" sz="2850" b="1" noProof="1">
              <a:solidFill>
                <a:srgbClr val="12233A"/>
              </a:solidFill>
              <a:latin typeface="Hiragino Sans"/>
              <a:ea typeface="Hiragino Sans"/>
              <a:cs typeface="Hiragino Sans"/>
            </a:endParaRPr>
          </a:p>
        </p:txBody>
      </p:sp>
      <p:sp>
        <p:nvSpPr>
          <p:cNvPr id="7" name="右矢印 6">
            <a:extLst>
              <a:ext uri="{FF2B5EF4-FFF2-40B4-BE49-F238E27FC236}">
                <a16:creationId xmlns:a16="http://schemas.microsoft.com/office/drawing/2014/main" id="{D30E43B7-BF45-8AB1-26FB-40FB7B45EB1E}"/>
              </a:ext>
            </a:extLst>
          </p:cNvPr>
          <p:cNvSpPr>
            <a:spLocks noGrp="1"/>
          </p:cNvSpPr>
          <p:nvPr/>
        </p:nvSpPr>
        <p:spPr>
          <a:xfrm>
            <a:off x="8239125" y="2477262"/>
            <a:ext cx="647700" cy="323850"/>
          </a:xfrm>
          <a:prstGeom prst="rightArrow">
            <a:avLst/>
          </a:prstGeom>
          <a:solidFill>
            <a:srgbClr val="10B981"/>
          </a:solidFill>
          <a:ln w="0">
            <a:solidFill>
              <a:srgbClr val="10B981"/>
            </a:solidFill>
            <a:prstDash val="solid"/>
          </a:ln>
        </p:spPr>
        <p:txBody>
          <a:bodyPr/>
          <a:lstStyle/>
          <a:p>
            <a:endParaRPr lang="ja-JP" noProof="1"/>
          </a:p>
        </p:txBody>
      </p:sp>
      <p:sp>
        <p:nvSpPr>
          <p:cNvPr id="10" name="右矢印 9">
            <a:extLst>
              <a:ext uri="{FF2B5EF4-FFF2-40B4-BE49-F238E27FC236}">
                <a16:creationId xmlns:a16="http://schemas.microsoft.com/office/drawing/2014/main" id="{04B1F12F-9109-D8E8-FC6F-D72C5D12EC34}"/>
              </a:ext>
            </a:extLst>
          </p:cNvPr>
          <p:cNvSpPr>
            <a:spLocks noGrp="1"/>
          </p:cNvSpPr>
          <p:nvPr/>
        </p:nvSpPr>
        <p:spPr>
          <a:xfrm>
            <a:off x="3048000" y="2562987"/>
            <a:ext cx="647700" cy="323850"/>
          </a:xfrm>
          <a:prstGeom prst="rightArrow">
            <a:avLst/>
          </a:prstGeom>
          <a:solidFill>
            <a:srgbClr val="2563EB"/>
          </a:solidFill>
          <a:ln w="0">
            <a:solidFill>
              <a:srgbClr val="2563EB"/>
            </a:solidFill>
            <a:prstDash val="solid"/>
          </a:ln>
        </p:spPr>
        <p:txBody>
          <a:bodyPr/>
          <a:lstStyle/>
          <a:p>
            <a:endParaRPr lang="ja-JP" noProof="1"/>
          </a:p>
        </p:txBody>
      </p:sp>
      <p:sp>
        <p:nvSpPr>
          <p:cNvPr id="12" name="右矢印 11">
            <a:extLst>
              <a:ext uri="{FF2B5EF4-FFF2-40B4-BE49-F238E27FC236}">
                <a16:creationId xmlns:a16="http://schemas.microsoft.com/office/drawing/2014/main" id="{D29B0B41-C9AD-8668-2669-1562CD0906BE}"/>
              </a:ext>
            </a:extLst>
          </p:cNvPr>
          <p:cNvSpPr>
            <a:spLocks noGrp="1"/>
          </p:cNvSpPr>
          <p:nvPr/>
        </p:nvSpPr>
        <p:spPr>
          <a:xfrm>
            <a:off x="5810250" y="2562987"/>
            <a:ext cx="647700" cy="323850"/>
          </a:xfrm>
          <a:prstGeom prst="rightArrow">
            <a:avLst/>
          </a:prstGeom>
          <a:solidFill>
            <a:srgbClr val="2563EB"/>
          </a:solidFill>
          <a:ln w="0">
            <a:solidFill>
              <a:srgbClr val="2563EB"/>
            </a:solidFill>
            <a:prstDash val="solid"/>
          </a:ln>
        </p:spPr>
        <p:txBody>
          <a:bodyPr/>
          <a:lstStyle/>
          <a:p>
            <a:endParaRPr lang="ja-JP" noProof="1"/>
          </a:p>
        </p:txBody>
      </p:sp>
      <p:sp>
        <p:nvSpPr>
          <p:cNvPr id="36" name="正方形/長方形 35">
            <a:extLst>
              <a:ext uri="{FF2B5EF4-FFF2-40B4-BE49-F238E27FC236}">
                <a16:creationId xmlns:a16="http://schemas.microsoft.com/office/drawing/2014/main" id="{4895D028-8216-43C5-DE9F-EE6B33753FCF}"/>
              </a:ext>
            </a:extLst>
          </p:cNvPr>
          <p:cNvSpPr>
            <a:spLocks noGrp="1"/>
          </p:cNvSpPr>
          <p:nvPr/>
        </p:nvSpPr>
        <p:spPr>
          <a:xfrm>
            <a:off x="676275" y="1867662"/>
            <a:ext cx="2276475" cy="1714500"/>
          </a:xfrm>
          <a:prstGeom prst="rect">
            <a:avLst/>
          </a:prstGeom>
          <a:solidFill>
            <a:schemeClr val="lt1"/>
          </a:solidFill>
          <a:ln w="41275" cap="rnd" cmpd="dbl">
            <a:solidFill>
              <a:schemeClr val="accent4"/>
            </a:solidFill>
            <a:bevel/>
          </a:ln>
          <a:effectLst>
            <a:outerShdw blurRad="50800" dist="38100" dir="2700000" algn="tl"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a:lstStyle/>
          <a:p>
            <a:endParaRPr lang="ja-JP" noProof="1"/>
          </a:p>
        </p:txBody>
      </p:sp>
      <p:sp>
        <p:nvSpPr>
          <p:cNvPr id="37" name="正方形/長方形 36">
            <a:extLst>
              <a:ext uri="{FF2B5EF4-FFF2-40B4-BE49-F238E27FC236}">
                <a16:creationId xmlns:a16="http://schemas.microsoft.com/office/drawing/2014/main" id="{6E07434F-F25D-F953-75E4-1AEF36E3C30F}"/>
              </a:ext>
            </a:extLst>
          </p:cNvPr>
          <p:cNvSpPr>
            <a:spLocks noGrp="1"/>
          </p:cNvSpPr>
          <p:nvPr/>
        </p:nvSpPr>
        <p:spPr>
          <a:xfrm>
            <a:off x="904875" y="2010537"/>
            <a:ext cx="1809750" cy="323850"/>
          </a:xfrm>
          <a:prstGeom prst="rect">
            <a:avLst/>
          </a:prstGeom>
          <a:noFill/>
          <a:ln w="0">
            <a:noFill/>
            <a:prstDash val="solid"/>
          </a:ln>
        </p:spPr>
        <p:txBody>
          <a:bodyPr lIns="0" tIns="0" rIns="0" bIns="0" anchor="t">
            <a:noAutofit/>
          </a:bodyPr>
          <a:lstStyle/>
          <a:p>
            <a:pPr algn="l">
              <a:buNone/>
              <a:defRPr sz="1800" b="1">
                <a:solidFill>
                  <a:srgbClr val="111827"/>
                </a:solidFill>
                <a:latin typeface="Hiragino Sans"/>
                <a:ea typeface="Hiragino Sans"/>
                <a:cs typeface="Hiragino Sans"/>
              </a:defRPr>
            </a:pPr>
            <a:r>
              <a:rPr lang="ja-JP" sz="1800" b="1" noProof="1">
                <a:solidFill>
                  <a:srgbClr val="111827"/>
                </a:solidFill>
                <a:latin typeface="Hiragino Sans"/>
                <a:ea typeface="Hiragino Sans"/>
                <a:cs typeface="Hiragino Sans"/>
              </a:rPr>
              <a:t>乗客データ</a:t>
            </a:r>
          </a:p>
        </p:txBody>
      </p:sp>
      <p:cxnSp>
        <p:nvCxnSpPr>
          <p:cNvPr id="38" name="直線矢印コネクタ 43">
            <a:extLst>
              <a:ext uri="{FF2B5EF4-FFF2-40B4-BE49-F238E27FC236}">
                <a16:creationId xmlns:a16="http://schemas.microsoft.com/office/drawing/2014/main" id="{E1880F44-F5F1-889C-4C16-0D0E1293F015}"/>
              </a:ext>
            </a:extLst>
          </p:cNvPr>
          <p:cNvCxnSpPr/>
          <p:nvPr/>
        </p:nvCxnSpPr>
        <p:spPr>
          <a:xfrm>
            <a:off x="904875" y="2286202"/>
            <a:ext cx="1714500" cy="0"/>
          </a:xfrm>
          <a:prstGeom prst="straightConnector1">
            <a:avLst/>
          </a:prstGeom>
          <a:ln w="9525">
            <a:solidFill>
              <a:srgbClr val="CBD5E1"/>
            </a:solidFill>
            <a:prstDash val="solid"/>
          </a:ln>
        </p:spPr>
      </p:cxnSp>
      <p:sp>
        <p:nvSpPr>
          <p:cNvPr id="39" name="正方形/長方形 38">
            <a:extLst>
              <a:ext uri="{FF2B5EF4-FFF2-40B4-BE49-F238E27FC236}">
                <a16:creationId xmlns:a16="http://schemas.microsoft.com/office/drawing/2014/main" id="{F33EBFDA-1D24-83BD-05EF-B9AD19D0CD26}"/>
              </a:ext>
            </a:extLst>
          </p:cNvPr>
          <p:cNvSpPr>
            <a:spLocks noGrp="1"/>
          </p:cNvSpPr>
          <p:nvPr/>
        </p:nvSpPr>
        <p:spPr>
          <a:xfrm>
            <a:off x="904875" y="2343913"/>
            <a:ext cx="1809750" cy="1238250"/>
          </a:xfrm>
          <a:prstGeom prst="rect">
            <a:avLst/>
          </a:prstGeom>
          <a:noFill/>
          <a:ln w="0">
            <a:noFill/>
            <a:prstDash val="solid"/>
          </a:ln>
        </p:spPr>
        <p:txBody>
          <a:bodyPr lIns="0" tIns="0" rIns="0" bIns="0" anchor="t">
            <a:noAutofit/>
          </a:bodyPr>
          <a:lstStyle/>
          <a:p>
            <a:pPr marL="285750" indent="-285750" algn="l">
              <a:buFont typeface="Arial" panose="020B0604020202020204" pitchFamily="34" charset="0"/>
              <a:buChar char="•"/>
              <a:defRPr sz="1575" b="0">
                <a:solidFill>
                  <a:srgbClr val="111827"/>
                </a:solidFill>
                <a:latin typeface="Hiragino Sans"/>
                <a:ea typeface="Hiragino Sans"/>
                <a:cs typeface="Hiragino Sans"/>
              </a:defRPr>
            </a:pPr>
            <a:r>
              <a:rPr lang="ja-JP" sz="1575" b="0" noProof="1">
                <a:solidFill>
                  <a:srgbClr val="111827"/>
                </a:solidFill>
                <a:latin typeface="Hiragino Sans"/>
                <a:ea typeface="Hiragino Sans"/>
                <a:cs typeface="Hiragino Sans"/>
              </a:rPr>
              <a:t>年齢　　　 22</a:t>
            </a:r>
            <a:endParaRPr lang="ja-JP" sz="1575" noProof="1">
              <a:solidFill>
                <a:srgbClr val="111827"/>
              </a:solidFill>
              <a:latin typeface="Hiragino Sans"/>
              <a:ea typeface="Hiragino Sans"/>
              <a:cs typeface="Hiragino Sans"/>
            </a:endParaRPr>
          </a:p>
          <a:p>
            <a:pPr marL="285750" indent="-285750" algn="l">
              <a:buFont typeface="Arial" panose="020B0604020202020204" pitchFamily="34" charset="0"/>
              <a:buChar char="•"/>
              <a:defRPr sz="1575" b="0">
                <a:solidFill>
                  <a:srgbClr val="111827"/>
                </a:solidFill>
                <a:latin typeface="Hiragino Sans"/>
                <a:ea typeface="Hiragino Sans"/>
                <a:cs typeface="Hiragino Sans"/>
              </a:defRPr>
            </a:pPr>
            <a:r>
              <a:rPr lang="ja-JP" sz="1575" b="0" noProof="1">
                <a:solidFill>
                  <a:srgbClr val="111827"/>
                </a:solidFill>
                <a:latin typeface="Hiragino Sans"/>
                <a:ea typeface="Hiragino Sans"/>
                <a:cs typeface="Hiragino Sans"/>
              </a:rPr>
              <a:t>名前</a:t>
            </a:r>
            <a:r>
              <a:rPr lang="ja-JP" sz="1575" noProof="1">
                <a:solidFill>
                  <a:srgbClr val="111827"/>
                </a:solidFill>
                <a:latin typeface="Hiragino Sans"/>
                <a:ea typeface="Hiragino Sans"/>
                <a:cs typeface="Hiragino Sans"/>
              </a:rPr>
              <a:t>　　　 Jane</a:t>
            </a:r>
            <a:endParaRPr lang="ja-JP" sz="1575" b="0" noProof="1">
              <a:solidFill>
                <a:srgbClr val="111827"/>
              </a:solidFill>
              <a:latin typeface="Hiragino Sans"/>
              <a:ea typeface="Hiragino Sans"/>
              <a:cs typeface="Hiragino Sans"/>
            </a:endParaRPr>
          </a:p>
          <a:p>
            <a:pPr marL="285750" indent="-285750" algn="l">
              <a:buFont typeface="Arial" panose="020B0604020202020204" pitchFamily="34" charset="0"/>
              <a:buChar char="•"/>
              <a:defRPr sz="1575" b="0">
                <a:solidFill>
                  <a:srgbClr val="111827"/>
                </a:solidFill>
                <a:latin typeface="Hiragino Sans"/>
                <a:ea typeface="Hiragino Sans"/>
                <a:cs typeface="Hiragino Sans"/>
              </a:defRPr>
            </a:pPr>
            <a:r>
              <a:rPr lang="ja-JP" sz="1575" b="0" noProof="1">
                <a:solidFill>
                  <a:srgbClr val="111827"/>
                </a:solidFill>
                <a:latin typeface="Hiragino Sans"/>
                <a:ea typeface="Hiragino Sans"/>
                <a:cs typeface="Hiragino Sans"/>
              </a:rPr>
              <a:t>性別　　　 女性</a:t>
            </a:r>
          </a:p>
          <a:p>
            <a:pPr marL="285750" indent="-285750" algn="l">
              <a:buFont typeface="Arial" panose="020B0604020202020204" pitchFamily="34" charset="0"/>
              <a:buChar char="•"/>
              <a:defRPr sz="1575" b="0">
                <a:solidFill>
                  <a:srgbClr val="111827"/>
                </a:solidFill>
                <a:latin typeface="Hiragino Sans"/>
                <a:ea typeface="Hiragino Sans"/>
                <a:cs typeface="Hiragino Sans"/>
              </a:defRPr>
            </a:pPr>
            <a:r>
              <a:rPr lang="ja-JP" sz="1575" b="0" noProof="1">
                <a:solidFill>
                  <a:srgbClr val="111827"/>
                </a:solidFill>
                <a:latin typeface="Hiragino Sans"/>
                <a:ea typeface="Hiragino Sans"/>
                <a:cs typeface="Hiragino Sans"/>
              </a:rPr>
              <a:t>客室等級　 1等</a:t>
            </a:r>
          </a:p>
          <a:p>
            <a:pPr marL="285750" indent="-285750" algn="l">
              <a:buFont typeface="Arial" panose="020B0604020202020204" pitchFamily="34" charset="0"/>
              <a:buChar char="•"/>
              <a:defRPr sz="1575" b="0">
                <a:solidFill>
                  <a:srgbClr val="111827"/>
                </a:solidFill>
                <a:latin typeface="Hiragino Sans"/>
                <a:ea typeface="Hiragino Sans"/>
                <a:cs typeface="Hiragino Sans"/>
              </a:defRPr>
            </a:pPr>
            <a:r>
              <a:rPr lang="ja-JP" sz="1575" b="0" noProof="1">
                <a:solidFill>
                  <a:srgbClr val="111827"/>
                </a:solidFill>
                <a:latin typeface="Hiragino Sans"/>
                <a:ea typeface="Hiragino Sans"/>
                <a:cs typeface="Hiragino Sans"/>
              </a:rPr>
              <a:t>運賃　　　 71</a:t>
            </a:r>
          </a:p>
        </p:txBody>
      </p:sp>
      <p:sp>
        <p:nvSpPr>
          <p:cNvPr id="40" name="正方形/長方形 39">
            <a:extLst>
              <a:ext uri="{FF2B5EF4-FFF2-40B4-BE49-F238E27FC236}">
                <a16:creationId xmlns:a16="http://schemas.microsoft.com/office/drawing/2014/main" id="{5D2CCE5E-142C-88EB-EB58-DD1269FFAF27}"/>
              </a:ext>
            </a:extLst>
          </p:cNvPr>
          <p:cNvSpPr>
            <a:spLocks noGrp="1"/>
          </p:cNvSpPr>
          <p:nvPr/>
        </p:nvSpPr>
        <p:spPr>
          <a:xfrm>
            <a:off x="3714750" y="2058162"/>
            <a:ext cx="2000250" cy="1333500"/>
          </a:xfrm>
          <a:prstGeom prst="rect">
            <a:avLst/>
          </a:prstGeom>
          <a:solidFill>
            <a:srgbClr val="111827"/>
          </a:solidFill>
          <a:ln w="0">
            <a:solidFill>
              <a:srgbClr val="111827"/>
            </a:solidFill>
            <a:prstDash val="solid"/>
          </a:ln>
        </p:spPr>
        <p:txBody>
          <a:bodyPr/>
          <a:lstStyle/>
          <a:p>
            <a:endParaRPr lang="ja-JP" noProof="1"/>
          </a:p>
        </p:txBody>
      </p:sp>
      <p:sp>
        <p:nvSpPr>
          <p:cNvPr id="41" name="正方形/長方形 40">
            <a:extLst>
              <a:ext uri="{FF2B5EF4-FFF2-40B4-BE49-F238E27FC236}">
                <a16:creationId xmlns:a16="http://schemas.microsoft.com/office/drawing/2014/main" id="{3A98CF65-C0A9-535F-DE00-E954258E5E91}"/>
              </a:ext>
            </a:extLst>
          </p:cNvPr>
          <p:cNvSpPr>
            <a:spLocks noGrp="1"/>
          </p:cNvSpPr>
          <p:nvPr/>
        </p:nvSpPr>
        <p:spPr>
          <a:xfrm>
            <a:off x="3714750" y="2315337"/>
            <a:ext cx="2000250" cy="838200"/>
          </a:xfrm>
          <a:prstGeom prst="rect">
            <a:avLst/>
          </a:prstGeom>
          <a:noFill/>
          <a:ln w="0">
            <a:noFill/>
            <a:prstDash val="solid"/>
          </a:ln>
        </p:spPr>
        <p:txBody>
          <a:bodyPr lIns="0" tIns="0" rIns="0" bIns="0" anchor="ctr">
            <a:noAutofit/>
          </a:bodyPr>
          <a:lstStyle/>
          <a:p>
            <a:pPr algn="ctr">
              <a:buNone/>
              <a:defRPr sz="2250" b="1">
                <a:solidFill>
                  <a:srgbClr val="FFFFFF"/>
                </a:solidFill>
                <a:latin typeface="Hiragino Sans"/>
                <a:ea typeface="Hiragino Sans"/>
                <a:cs typeface="Hiragino Sans"/>
              </a:defRPr>
            </a:pPr>
            <a:r>
              <a:rPr lang="ja-JP" sz="2250" b="1" noProof="1">
                <a:solidFill>
                  <a:srgbClr val="FFFFFF"/>
                </a:solidFill>
                <a:latin typeface="Hiragino Sans"/>
                <a:ea typeface="Hiragino Sans"/>
                <a:cs typeface="Hiragino Sans"/>
              </a:rPr>
              <a:t>BLACK</a:t>
            </a:r>
          </a:p>
          <a:p>
            <a:pPr algn="ctr">
              <a:buNone/>
              <a:defRPr sz="2250" b="1">
                <a:solidFill>
                  <a:srgbClr val="FFFFFF"/>
                </a:solidFill>
                <a:latin typeface="Hiragino Sans"/>
                <a:ea typeface="Hiragino Sans"/>
                <a:cs typeface="Hiragino Sans"/>
              </a:defRPr>
            </a:pPr>
            <a:r>
              <a:rPr lang="ja-JP" sz="2250" b="1" noProof="1">
                <a:solidFill>
                  <a:srgbClr val="FFFFFF"/>
                </a:solidFill>
                <a:latin typeface="Hiragino Sans"/>
                <a:ea typeface="Hiragino Sans"/>
                <a:cs typeface="Hiragino Sans"/>
              </a:rPr>
              <a:t>BOX</a:t>
            </a:r>
          </a:p>
        </p:txBody>
      </p:sp>
      <p:sp>
        <p:nvSpPr>
          <p:cNvPr id="42" name="正方形/長方形 41">
            <a:extLst>
              <a:ext uri="{FF2B5EF4-FFF2-40B4-BE49-F238E27FC236}">
                <a16:creationId xmlns:a16="http://schemas.microsoft.com/office/drawing/2014/main" id="{CB9FE3FE-126F-EB11-7A7F-2D9F4C7EE072}"/>
              </a:ext>
            </a:extLst>
          </p:cNvPr>
          <p:cNvSpPr>
            <a:spLocks noGrp="1"/>
          </p:cNvSpPr>
          <p:nvPr/>
        </p:nvSpPr>
        <p:spPr>
          <a:xfrm>
            <a:off x="6477000" y="1867662"/>
            <a:ext cx="1666875" cy="1714500"/>
          </a:xfrm>
          <a:prstGeom prst="rect">
            <a:avLst/>
          </a:prstGeom>
          <a:solidFill>
            <a:schemeClr val="lt1"/>
          </a:solidFill>
          <a:ln w="41275" cap="rnd" cmpd="dbl">
            <a:solidFill>
              <a:schemeClr val="accent4"/>
            </a:solidFill>
            <a:bevel/>
          </a:ln>
          <a:effectLst>
            <a:outerShdw blurRad="50800" dist="38100" dir="2700000" algn="tl"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a:lstStyle/>
          <a:p>
            <a:endParaRPr lang="ja-JP" noProof="1"/>
          </a:p>
        </p:txBody>
      </p:sp>
      <p:sp>
        <p:nvSpPr>
          <p:cNvPr id="43" name="正方形/長方形 42">
            <a:extLst>
              <a:ext uri="{FF2B5EF4-FFF2-40B4-BE49-F238E27FC236}">
                <a16:creationId xmlns:a16="http://schemas.microsoft.com/office/drawing/2014/main" id="{94FDAEB5-DED9-EF22-48D3-1F13595C29AD}"/>
              </a:ext>
            </a:extLst>
          </p:cNvPr>
          <p:cNvSpPr>
            <a:spLocks noGrp="1"/>
          </p:cNvSpPr>
          <p:nvPr/>
        </p:nvSpPr>
        <p:spPr>
          <a:xfrm>
            <a:off x="6705600" y="2086737"/>
            <a:ext cx="1238250" cy="285750"/>
          </a:xfrm>
          <a:prstGeom prst="rect">
            <a:avLst/>
          </a:prstGeom>
          <a:noFill/>
          <a:ln w="0">
            <a:noFill/>
            <a:prstDash val="solid"/>
          </a:ln>
        </p:spPr>
        <p:txBody>
          <a:bodyPr lIns="0" tIns="0" rIns="0" bIns="0" anchor="t">
            <a:noAutofit/>
          </a:bodyPr>
          <a:lstStyle/>
          <a:p>
            <a:pPr algn="ctr">
              <a:buNone/>
              <a:defRPr sz="1650" b="1">
                <a:solidFill>
                  <a:srgbClr val="2563EB"/>
                </a:solidFill>
                <a:latin typeface="Hiragino Sans"/>
                <a:ea typeface="Hiragino Sans"/>
                <a:cs typeface="Hiragino Sans"/>
              </a:defRPr>
            </a:pPr>
            <a:r>
              <a:rPr lang="ja-JP" sz="1650" b="1" noProof="1">
                <a:solidFill>
                  <a:srgbClr val="2563EB"/>
                </a:solidFill>
                <a:latin typeface="Hiragino Sans"/>
                <a:ea typeface="Hiragino Sans"/>
                <a:cs typeface="Hiragino Sans"/>
              </a:rPr>
              <a:t>予測</a:t>
            </a:r>
          </a:p>
        </p:txBody>
      </p:sp>
      <p:sp>
        <p:nvSpPr>
          <p:cNvPr id="44" name="正方形/長方形 43">
            <a:extLst>
              <a:ext uri="{FF2B5EF4-FFF2-40B4-BE49-F238E27FC236}">
                <a16:creationId xmlns:a16="http://schemas.microsoft.com/office/drawing/2014/main" id="{DB5F8A68-7F4D-744D-5DB5-47799F2C2F67}"/>
              </a:ext>
            </a:extLst>
          </p:cNvPr>
          <p:cNvSpPr>
            <a:spLocks noGrp="1"/>
          </p:cNvSpPr>
          <p:nvPr/>
        </p:nvSpPr>
        <p:spPr>
          <a:xfrm>
            <a:off x="6705600" y="2524887"/>
            <a:ext cx="1238250" cy="266700"/>
          </a:xfrm>
          <a:prstGeom prst="rect">
            <a:avLst/>
          </a:prstGeom>
          <a:noFill/>
          <a:ln w="0">
            <a:noFill/>
            <a:prstDash val="solid"/>
          </a:ln>
        </p:spPr>
        <p:txBody>
          <a:bodyPr lIns="0" tIns="0" rIns="0" bIns="0" anchor="t">
            <a:noAutofit/>
          </a:bodyPr>
          <a:lstStyle/>
          <a:p>
            <a:pPr algn="ctr">
              <a:buNone/>
              <a:defRPr sz="1500" b="0">
                <a:solidFill>
                  <a:srgbClr val="111827"/>
                </a:solidFill>
                <a:latin typeface="Hiragino Sans"/>
                <a:ea typeface="Hiragino Sans"/>
                <a:cs typeface="Hiragino Sans"/>
              </a:defRPr>
            </a:pPr>
            <a:r>
              <a:rPr lang="ja-JP" sz="1500" b="0" noProof="1">
                <a:solidFill>
                  <a:srgbClr val="111827"/>
                </a:solidFill>
                <a:latin typeface="Hiragino Sans"/>
                <a:ea typeface="Hiragino Sans"/>
                <a:cs typeface="Hiragino Sans"/>
              </a:rPr>
              <a:t>生存確率</a:t>
            </a:r>
          </a:p>
        </p:txBody>
      </p:sp>
      <p:sp>
        <p:nvSpPr>
          <p:cNvPr id="45" name="正方形/長方形 44">
            <a:extLst>
              <a:ext uri="{FF2B5EF4-FFF2-40B4-BE49-F238E27FC236}">
                <a16:creationId xmlns:a16="http://schemas.microsoft.com/office/drawing/2014/main" id="{8DF652D9-F8FE-9D43-A610-6A3AC8073097}"/>
              </a:ext>
            </a:extLst>
          </p:cNvPr>
          <p:cNvSpPr>
            <a:spLocks noGrp="1"/>
          </p:cNvSpPr>
          <p:nvPr/>
        </p:nvSpPr>
        <p:spPr>
          <a:xfrm>
            <a:off x="6705600" y="2820162"/>
            <a:ext cx="1238250" cy="457200"/>
          </a:xfrm>
          <a:prstGeom prst="rect">
            <a:avLst/>
          </a:prstGeom>
          <a:noFill/>
          <a:ln w="0">
            <a:noFill/>
            <a:prstDash val="solid"/>
          </a:ln>
        </p:spPr>
        <p:txBody>
          <a:bodyPr lIns="0" tIns="0" rIns="0" bIns="0" anchor="t">
            <a:noAutofit/>
          </a:bodyPr>
          <a:lstStyle/>
          <a:p>
            <a:pPr algn="ctr">
              <a:buNone/>
              <a:defRPr sz="2850" b="1">
                <a:solidFill>
                  <a:srgbClr val="2563EB"/>
                </a:solidFill>
                <a:latin typeface="Hiragino Sans"/>
                <a:ea typeface="Hiragino Sans"/>
                <a:cs typeface="Hiragino Sans"/>
              </a:defRPr>
            </a:pPr>
            <a:r>
              <a:rPr lang="ja-JP" sz="2850" b="1" noProof="1">
                <a:solidFill>
                  <a:srgbClr val="2563EB"/>
                </a:solidFill>
                <a:latin typeface="Hiragino Sans"/>
                <a:ea typeface="Hiragino Sans"/>
                <a:cs typeface="Hiragino Sans"/>
              </a:rPr>
              <a:t>0.78</a:t>
            </a:r>
          </a:p>
        </p:txBody>
      </p:sp>
      <p:sp>
        <p:nvSpPr>
          <p:cNvPr id="50" name="テキスト ボックス 49">
            <a:extLst>
              <a:ext uri="{FF2B5EF4-FFF2-40B4-BE49-F238E27FC236}">
                <a16:creationId xmlns:a16="http://schemas.microsoft.com/office/drawing/2014/main" id="{F27425C6-C75A-B065-707A-E247B394B1CA}"/>
              </a:ext>
            </a:extLst>
          </p:cNvPr>
          <p:cNvSpPr txBox="1"/>
          <p:nvPr/>
        </p:nvSpPr>
        <p:spPr>
          <a:xfrm>
            <a:off x="628650" y="3816557"/>
            <a:ext cx="4708340" cy="369332"/>
          </a:xfrm>
          <a:prstGeom prst="rect">
            <a:avLst/>
          </a:prstGeom>
          <a:noFill/>
        </p:spPr>
        <p:txBody>
          <a:bodyPr wrap="none" rtlCol="0">
            <a:spAutoFit/>
          </a:bodyPr>
          <a:lstStyle/>
          <a:p>
            <a:r>
              <a:rPr kumimoji="1" lang="ja-JP" noProof="1"/>
              <a:t>2. モデルの誤学習の</a:t>
            </a:r>
            <a:r>
              <a:rPr kumimoji="1" lang="ja-JP" altLang="en-US" noProof="1"/>
              <a:t>検知</a:t>
            </a:r>
            <a:r>
              <a:rPr kumimoji="1" lang="ja-JP" noProof="1"/>
              <a:t>(予期せぬズル</a:t>
            </a:r>
            <a:r>
              <a:rPr kumimoji="1" lang="ja-JP" altLang="en-US" noProof="1"/>
              <a:t>など</a:t>
            </a:r>
            <a:r>
              <a:rPr kumimoji="1" lang="ja-JP" noProof="1"/>
              <a:t>)</a:t>
            </a:r>
          </a:p>
        </p:txBody>
      </p:sp>
      <p:pic>
        <p:nvPicPr>
          <p:cNvPr id="53" name="図 52">
            <a:extLst>
              <a:ext uri="{FF2B5EF4-FFF2-40B4-BE49-F238E27FC236}">
                <a16:creationId xmlns:a16="http://schemas.microsoft.com/office/drawing/2014/main" id="{D18CBCB8-2A77-9994-214A-AD4FB884A25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6749" y="4561244"/>
            <a:ext cx="1848115" cy="1834007"/>
          </a:xfrm>
          <a:prstGeom prst="rect">
            <a:avLst/>
          </a:prstGeom>
        </p:spPr>
      </p:pic>
      <p:pic>
        <p:nvPicPr>
          <p:cNvPr id="55" name="図 54">
            <a:extLst>
              <a:ext uri="{FF2B5EF4-FFF2-40B4-BE49-F238E27FC236}">
                <a16:creationId xmlns:a16="http://schemas.microsoft.com/office/drawing/2014/main" id="{198567EF-C91B-A93C-8528-65100093A60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752585" y="4557730"/>
            <a:ext cx="1848115" cy="1841034"/>
          </a:xfrm>
          <a:prstGeom prst="rect">
            <a:avLst/>
          </a:prstGeom>
        </p:spPr>
      </p:pic>
      <p:sp>
        <p:nvSpPr>
          <p:cNvPr id="4" name="正方形/長方形 3">
            <a:extLst>
              <a:ext uri="{FF2B5EF4-FFF2-40B4-BE49-F238E27FC236}">
                <a16:creationId xmlns:a16="http://schemas.microsoft.com/office/drawing/2014/main" id="{7BE34941-21EA-59B2-B26B-598AF61BF524}"/>
              </a:ext>
            </a:extLst>
          </p:cNvPr>
          <p:cNvSpPr>
            <a:spLocks noGrp="1"/>
          </p:cNvSpPr>
          <p:nvPr/>
        </p:nvSpPr>
        <p:spPr>
          <a:xfrm>
            <a:off x="9001125" y="1636116"/>
            <a:ext cx="2667000" cy="2049556"/>
          </a:xfrm>
          <a:prstGeom prst="rect">
            <a:avLst/>
          </a:prstGeom>
          <a:solidFill>
            <a:schemeClr val="lt1"/>
          </a:solidFill>
          <a:ln w="41275" cap="rnd" cmpd="dbl">
            <a:solidFill>
              <a:schemeClr val="accent6"/>
            </a:solidFill>
            <a:bevel/>
          </a:ln>
          <a:effectLst>
            <a:outerShdw blurRad="50800" dist="38100" dir="2700000" algn="tl"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a:lstStyle/>
          <a:p>
            <a:endParaRPr lang="ja-JP" noProof="1"/>
          </a:p>
        </p:txBody>
      </p:sp>
      <p:sp>
        <p:nvSpPr>
          <p:cNvPr id="5" name="正方形/長方形 4">
            <a:extLst>
              <a:ext uri="{FF2B5EF4-FFF2-40B4-BE49-F238E27FC236}">
                <a16:creationId xmlns:a16="http://schemas.microsoft.com/office/drawing/2014/main" id="{D1B73467-5DB3-3009-FB60-E1A5911C8F82}"/>
              </a:ext>
            </a:extLst>
          </p:cNvPr>
          <p:cNvSpPr>
            <a:spLocks noGrp="1"/>
          </p:cNvSpPr>
          <p:nvPr/>
        </p:nvSpPr>
        <p:spPr>
          <a:xfrm>
            <a:off x="9105900" y="1840063"/>
            <a:ext cx="2171700" cy="323850"/>
          </a:xfrm>
          <a:prstGeom prst="rect">
            <a:avLst/>
          </a:prstGeom>
          <a:noFill/>
          <a:ln w="0">
            <a:noFill/>
            <a:prstDash val="solid"/>
          </a:ln>
        </p:spPr>
        <p:txBody>
          <a:bodyPr lIns="0" tIns="0" rIns="0" bIns="0" anchor="t">
            <a:noAutofit/>
          </a:bodyPr>
          <a:lstStyle/>
          <a:p>
            <a:pPr algn="l">
              <a:buNone/>
              <a:defRPr sz="1800" b="1">
                <a:solidFill>
                  <a:srgbClr val="10B981"/>
                </a:solidFill>
                <a:latin typeface="Hiragino Sans"/>
                <a:ea typeface="Hiragino Sans"/>
                <a:cs typeface="Hiragino Sans"/>
              </a:defRPr>
            </a:pPr>
            <a:r>
              <a:rPr lang="ja-JP" sz="1800" b="1" noProof="1">
                <a:solidFill>
                  <a:srgbClr val="10B981"/>
                </a:solidFill>
                <a:latin typeface="Hiragino Sans"/>
                <a:ea typeface="Hiragino Sans"/>
                <a:cs typeface="Hiragino Sans"/>
              </a:rPr>
              <a:t>XAIによる説明</a:t>
            </a:r>
          </a:p>
        </p:txBody>
      </p:sp>
      <p:sp>
        <p:nvSpPr>
          <p:cNvPr id="6" name="正方形/長方形 5">
            <a:extLst>
              <a:ext uri="{FF2B5EF4-FFF2-40B4-BE49-F238E27FC236}">
                <a16:creationId xmlns:a16="http://schemas.microsoft.com/office/drawing/2014/main" id="{A9A6FFDC-7AE5-9E0E-96DD-5CEDD6649D6C}"/>
              </a:ext>
            </a:extLst>
          </p:cNvPr>
          <p:cNvSpPr>
            <a:spLocks noGrp="1"/>
          </p:cNvSpPr>
          <p:nvPr/>
        </p:nvSpPr>
        <p:spPr>
          <a:xfrm>
            <a:off x="9105900" y="2314072"/>
            <a:ext cx="857250" cy="247650"/>
          </a:xfrm>
          <a:prstGeom prst="rect">
            <a:avLst/>
          </a:prstGeom>
          <a:noFill/>
          <a:ln w="0">
            <a:noFill/>
            <a:prstDash val="solid"/>
          </a:ln>
        </p:spPr>
        <p:txBody>
          <a:bodyPr lIns="0" tIns="0" rIns="0" bIns="0" anchor="t">
            <a:noAutofit/>
          </a:bodyPr>
          <a:lstStyle/>
          <a:p>
            <a:pPr algn="l">
              <a:buNone/>
              <a:defRPr sz="1425" b="1">
                <a:solidFill>
                  <a:srgbClr val="111827"/>
                </a:solidFill>
                <a:latin typeface="Hiragino Sans"/>
                <a:ea typeface="Hiragino Sans"/>
                <a:cs typeface="Hiragino Sans"/>
              </a:defRPr>
            </a:pPr>
            <a:r>
              <a:rPr lang="ja-JP" sz="1425" b="1" noProof="1">
                <a:solidFill>
                  <a:srgbClr val="111827"/>
                </a:solidFill>
                <a:latin typeface="Hiragino Sans"/>
                <a:ea typeface="Hiragino Sans"/>
                <a:cs typeface="Hiragino Sans"/>
              </a:rPr>
              <a:t>運賃</a:t>
            </a:r>
          </a:p>
        </p:txBody>
      </p:sp>
      <p:sp>
        <p:nvSpPr>
          <p:cNvPr id="8" name="正方形/長方形 7">
            <a:extLst>
              <a:ext uri="{FF2B5EF4-FFF2-40B4-BE49-F238E27FC236}">
                <a16:creationId xmlns:a16="http://schemas.microsoft.com/office/drawing/2014/main" id="{5A6289A8-9D03-3F3E-2289-5F15E966EB31}"/>
              </a:ext>
            </a:extLst>
          </p:cNvPr>
          <p:cNvSpPr>
            <a:spLocks noGrp="1"/>
          </p:cNvSpPr>
          <p:nvPr/>
        </p:nvSpPr>
        <p:spPr>
          <a:xfrm>
            <a:off x="10334625" y="2333122"/>
            <a:ext cx="571500" cy="190500"/>
          </a:xfrm>
          <a:prstGeom prst="rect">
            <a:avLst/>
          </a:prstGeom>
          <a:solidFill>
            <a:srgbClr val="10B981"/>
          </a:solidFill>
          <a:ln w="0">
            <a:solidFill>
              <a:srgbClr val="10B981"/>
            </a:solidFill>
            <a:prstDash val="solid"/>
          </a:ln>
        </p:spPr>
        <p:txBody>
          <a:bodyPr/>
          <a:lstStyle/>
          <a:p>
            <a:endParaRPr lang="ja-JP" noProof="1"/>
          </a:p>
        </p:txBody>
      </p:sp>
      <p:sp>
        <p:nvSpPr>
          <p:cNvPr id="9" name="正方形/長方形 8">
            <a:extLst>
              <a:ext uri="{FF2B5EF4-FFF2-40B4-BE49-F238E27FC236}">
                <a16:creationId xmlns:a16="http://schemas.microsoft.com/office/drawing/2014/main" id="{373CFCB1-E2F5-7DBE-DE1B-60284A60C28C}"/>
              </a:ext>
            </a:extLst>
          </p:cNvPr>
          <p:cNvSpPr>
            <a:spLocks noGrp="1"/>
          </p:cNvSpPr>
          <p:nvPr/>
        </p:nvSpPr>
        <p:spPr>
          <a:xfrm>
            <a:off x="10953750" y="2285497"/>
            <a:ext cx="571500" cy="266700"/>
          </a:xfrm>
          <a:prstGeom prst="rect">
            <a:avLst/>
          </a:prstGeom>
          <a:noFill/>
          <a:ln w="0">
            <a:noFill/>
            <a:prstDash val="solid"/>
          </a:ln>
        </p:spPr>
        <p:txBody>
          <a:bodyPr lIns="0" tIns="0" rIns="0" bIns="0" anchor="t">
            <a:noAutofit/>
          </a:bodyPr>
          <a:lstStyle/>
          <a:p>
            <a:pPr algn="r">
              <a:buNone/>
              <a:defRPr sz="1275" b="1">
                <a:solidFill>
                  <a:srgbClr val="10B981"/>
                </a:solidFill>
                <a:latin typeface="Hiragino Sans"/>
                <a:ea typeface="Hiragino Sans"/>
                <a:cs typeface="Hiragino Sans"/>
              </a:defRPr>
            </a:pPr>
            <a:r>
              <a:rPr lang="ja-JP" sz="1275" b="1" noProof="1">
                <a:solidFill>
                  <a:srgbClr val="10B981"/>
                </a:solidFill>
                <a:latin typeface="Hiragino Sans"/>
                <a:ea typeface="Hiragino Sans"/>
                <a:cs typeface="Hiragino Sans"/>
              </a:rPr>
              <a:t>+0.50</a:t>
            </a:r>
          </a:p>
        </p:txBody>
      </p:sp>
      <p:sp>
        <p:nvSpPr>
          <p:cNvPr id="11" name="正方形/長方形 10">
            <a:extLst>
              <a:ext uri="{FF2B5EF4-FFF2-40B4-BE49-F238E27FC236}">
                <a16:creationId xmlns:a16="http://schemas.microsoft.com/office/drawing/2014/main" id="{8DD3C08C-55DB-6B9F-9C93-97CE31A17462}"/>
              </a:ext>
            </a:extLst>
          </p:cNvPr>
          <p:cNvSpPr>
            <a:spLocks noGrp="1"/>
          </p:cNvSpPr>
          <p:nvPr/>
        </p:nvSpPr>
        <p:spPr>
          <a:xfrm>
            <a:off x="9105900" y="2809372"/>
            <a:ext cx="857250" cy="247650"/>
          </a:xfrm>
          <a:prstGeom prst="rect">
            <a:avLst/>
          </a:prstGeom>
          <a:noFill/>
          <a:ln w="0">
            <a:noFill/>
            <a:prstDash val="solid"/>
          </a:ln>
        </p:spPr>
        <p:txBody>
          <a:bodyPr lIns="0" tIns="0" rIns="0" bIns="0" anchor="t">
            <a:noAutofit/>
          </a:bodyPr>
          <a:lstStyle/>
          <a:p>
            <a:pPr algn="l">
              <a:buNone/>
              <a:defRPr sz="1425" b="1">
                <a:solidFill>
                  <a:srgbClr val="111827"/>
                </a:solidFill>
                <a:latin typeface="Hiragino Sans"/>
                <a:ea typeface="Hiragino Sans"/>
                <a:cs typeface="Hiragino Sans"/>
              </a:defRPr>
            </a:pPr>
            <a:r>
              <a:rPr lang="ja-JP" sz="1425" b="1" noProof="1">
                <a:solidFill>
                  <a:srgbClr val="111827"/>
                </a:solidFill>
                <a:latin typeface="Hiragino Sans"/>
                <a:ea typeface="Hiragino Sans"/>
                <a:cs typeface="Hiragino Sans"/>
              </a:rPr>
              <a:t>年齢</a:t>
            </a:r>
          </a:p>
        </p:txBody>
      </p:sp>
      <p:sp>
        <p:nvSpPr>
          <p:cNvPr id="13" name="正方形/長方形 12">
            <a:extLst>
              <a:ext uri="{FF2B5EF4-FFF2-40B4-BE49-F238E27FC236}">
                <a16:creationId xmlns:a16="http://schemas.microsoft.com/office/drawing/2014/main" id="{E3825E94-9F7B-464F-E7C4-7AC6B1AFB783}"/>
              </a:ext>
            </a:extLst>
          </p:cNvPr>
          <p:cNvSpPr>
            <a:spLocks noGrp="1"/>
          </p:cNvSpPr>
          <p:nvPr/>
        </p:nvSpPr>
        <p:spPr>
          <a:xfrm>
            <a:off x="9963150" y="2828422"/>
            <a:ext cx="371475" cy="190500"/>
          </a:xfrm>
          <a:prstGeom prst="rect">
            <a:avLst/>
          </a:prstGeom>
          <a:solidFill>
            <a:srgbClr val="EF4444"/>
          </a:solidFill>
          <a:ln w="0">
            <a:solidFill>
              <a:srgbClr val="EF4444"/>
            </a:solidFill>
            <a:prstDash val="solid"/>
          </a:ln>
        </p:spPr>
        <p:txBody>
          <a:bodyPr/>
          <a:lstStyle/>
          <a:p>
            <a:endParaRPr lang="ja-JP" noProof="1"/>
          </a:p>
        </p:txBody>
      </p:sp>
      <p:sp>
        <p:nvSpPr>
          <p:cNvPr id="14" name="正方形/長方形 13">
            <a:extLst>
              <a:ext uri="{FF2B5EF4-FFF2-40B4-BE49-F238E27FC236}">
                <a16:creationId xmlns:a16="http://schemas.microsoft.com/office/drawing/2014/main" id="{64610E52-861D-8D7D-0CBA-67816A3D29E9}"/>
              </a:ext>
            </a:extLst>
          </p:cNvPr>
          <p:cNvSpPr>
            <a:spLocks noGrp="1"/>
          </p:cNvSpPr>
          <p:nvPr/>
        </p:nvSpPr>
        <p:spPr>
          <a:xfrm>
            <a:off x="10953750" y="2780797"/>
            <a:ext cx="571500" cy="266700"/>
          </a:xfrm>
          <a:prstGeom prst="rect">
            <a:avLst/>
          </a:prstGeom>
          <a:noFill/>
          <a:ln w="0">
            <a:noFill/>
            <a:prstDash val="solid"/>
          </a:ln>
        </p:spPr>
        <p:txBody>
          <a:bodyPr lIns="0" tIns="0" rIns="0" bIns="0" anchor="t">
            <a:noAutofit/>
          </a:bodyPr>
          <a:lstStyle/>
          <a:p>
            <a:pPr algn="r">
              <a:buNone/>
              <a:defRPr sz="1275" b="1">
                <a:solidFill>
                  <a:srgbClr val="EF4444"/>
                </a:solidFill>
                <a:latin typeface="Hiragino Sans"/>
                <a:ea typeface="Hiragino Sans"/>
                <a:cs typeface="Hiragino Sans"/>
              </a:defRPr>
            </a:pPr>
            <a:r>
              <a:rPr lang="ja-JP" sz="1275" b="1" noProof="1">
                <a:solidFill>
                  <a:srgbClr val="EF4444"/>
                </a:solidFill>
                <a:latin typeface="Hiragino Sans"/>
                <a:ea typeface="Hiragino Sans"/>
                <a:cs typeface="Hiragino Sans"/>
              </a:rPr>
              <a:t>−0.20</a:t>
            </a:r>
          </a:p>
        </p:txBody>
      </p:sp>
      <p:sp>
        <p:nvSpPr>
          <p:cNvPr id="15" name="正方形/長方形 14">
            <a:extLst>
              <a:ext uri="{FF2B5EF4-FFF2-40B4-BE49-F238E27FC236}">
                <a16:creationId xmlns:a16="http://schemas.microsoft.com/office/drawing/2014/main" id="{900FE2C9-96E8-1435-3DFA-63EF48820151}"/>
              </a:ext>
            </a:extLst>
          </p:cNvPr>
          <p:cNvSpPr>
            <a:spLocks noGrp="1"/>
          </p:cNvSpPr>
          <p:nvPr/>
        </p:nvSpPr>
        <p:spPr>
          <a:xfrm>
            <a:off x="9105900" y="3304672"/>
            <a:ext cx="857250" cy="247650"/>
          </a:xfrm>
          <a:prstGeom prst="rect">
            <a:avLst/>
          </a:prstGeom>
          <a:noFill/>
          <a:ln w="0">
            <a:noFill/>
            <a:prstDash val="solid"/>
          </a:ln>
        </p:spPr>
        <p:txBody>
          <a:bodyPr lIns="0" tIns="0" rIns="0" bIns="0" anchor="t">
            <a:noAutofit/>
          </a:bodyPr>
          <a:lstStyle/>
          <a:p>
            <a:pPr algn="l">
              <a:buNone/>
              <a:defRPr sz="1425" b="1">
                <a:solidFill>
                  <a:srgbClr val="111827"/>
                </a:solidFill>
                <a:latin typeface="Hiragino Sans"/>
                <a:ea typeface="Hiragino Sans"/>
                <a:cs typeface="Hiragino Sans"/>
              </a:defRPr>
            </a:pPr>
            <a:r>
              <a:rPr lang="ja-JP" sz="1425" b="1" noProof="1">
                <a:solidFill>
                  <a:srgbClr val="111827"/>
                </a:solidFill>
                <a:latin typeface="Hiragino Sans"/>
                <a:ea typeface="Hiragino Sans"/>
                <a:cs typeface="Hiragino Sans"/>
              </a:rPr>
              <a:t>客室等級</a:t>
            </a:r>
          </a:p>
        </p:txBody>
      </p:sp>
      <p:sp>
        <p:nvSpPr>
          <p:cNvPr id="16" name="正方形/長方形 15">
            <a:extLst>
              <a:ext uri="{FF2B5EF4-FFF2-40B4-BE49-F238E27FC236}">
                <a16:creationId xmlns:a16="http://schemas.microsoft.com/office/drawing/2014/main" id="{9D32287A-AC01-2106-D06E-0ACEF608D053}"/>
              </a:ext>
            </a:extLst>
          </p:cNvPr>
          <p:cNvSpPr>
            <a:spLocks noGrp="1"/>
          </p:cNvSpPr>
          <p:nvPr/>
        </p:nvSpPr>
        <p:spPr>
          <a:xfrm>
            <a:off x="10334625" y="3323722"/>
            <a:ext cx="266700" cy="190500"/>
          </a:xfrm>
          <a:prstGeom prst="rect">
            <a:avLst/>
          </a:prstGeom>
          <a:solidFill>
            <a:srgbClr val="10B981"/>
          </a:solidFill>
          <a:ln w="0">
            <a:solidFill>
              <a:srgbClr val="10B981"/>
            </a:solidFill>
            <a:prstDash val="solid"/>
          </a:ln>
        </p:spPr>
        <p:txBody>
          <a:bodyPr/>
          <a:lstStyle/>
          <a:p>
            <a:endParaRPr lang="ja-JP" noProof="1"/>
          </a:p>
        </p:txBody>
      </p:sp>
      <p:sp>
        <p:nvSpPr>
          <p:cNvPr id="17" name="正方形/長方形 16">
            <a:extLst>
              <a:ext uri="{FF2B5EF4-FFF2-40B4-BE49-F238E27FC236}">
                <a16:creationId xmlns:a16="http://schemas.microsoft.com/office/drawing/2014/main" id="{810FF06D-1808-078F-AF78-B3CAB723F2F5}"/>
              </a:ext>
            </a:extLst>
          </p:cNvPr>
          <p:cNvSpPr>
            <a:spLocks noGrp="1"/>
          </p:cNvSpPr>
          <p:nvPr/>
        </p:nvSpPr>
        <p:spPr>
          <a:xfrm>
            <a:off x="10953750" y="3276097"/>
            <a:ext cx="571500" cy="266700"/>
          </a:xfrm>
          <a:prstGeom prst="rect">
            <a:avLst/>
          </a:prstGeom>
          <a:noFill/>
          <a:ln w="0">
            <a:noFill/>
            <a:prstDash val="solid"/>
          </a:ln>
        </p:spPr>
        <p:txBody>
          <a:bodyPr lIns="0" tIns="0" rIns="0" bIns="0" anchor="t">
            <a:noAutofit/>
          </a:bodyPr>
          <a:lstStyle/>
          <a:p>
            <a:pPr algn="r">
              <a:buNone/>
              <a:defRPr sz="1275" b="1">
                <a:solidFill>
                  <a:srgbClr val="10B981"/>
                </a:solidFill>
                <a:latin typeface="Hiragino Sans"/>
                <a:ea typeface="Hiragino Sans"/>
                <a:cs typeface="Hiragino Sans"/>
              </a:defRPr>
            </a:pPr>
            <a:r>
              <a:rPr lang="ja-JP" sz="1275" b="1" noProof="1">
                <a:solidFill>
                  <a:srgbClr val="10B981"/>
                </a:solidFill>
                <a:latin typeface="Hiragino Sans"/>
                <a:ea typeface="Hiragino Sans"/>
                <a:cs typeface="Hiragino Sans"/>
              </a:rPr>
              <a:t>+0.15</a:t>
            </a:r>
          </a:p>
        </p:txBody>
      </p:sp>
      <p:sp>
        <p:nvSpPr>
          <p:cNvPr id="3" name="テキスト ボックス 2">
            <a:extLst>
              <a:ext uri="{FF2B5EF4-FFF2-40B4-BE49-F238E27FC236}">
                <a16:creationId xmlns:a16="http://schemas.microsoft.com/office/drawing/2014/main" id="{4BE0B363-3D81-B6DC-C386-0D520379A452}"/>
              </a:ext>
            </a:extLst>
          </p:cNvPr>
          <p:cNvSpPr txBox="1"/>
          <p:nvPr/>
        </p:nvSpPr>
        <p:spPr>
          <a:xfrm>
            <a:off x="628650" y="996117"/>
            <a:ext cx="6183103" cy="923330"/>
          </a:xfrm>
          <a:prstGeom prst="rect">
            <a:avLst/>
          </a:prstGeom>
          <a:noFill/>
        </p:spPr>
        <p:txBody>
          <a:bodyPr wrap="none" rtlCol="0">
            <a:spAutoFit/>
          </a:bodyPr>
          <a:lstStyle/>
          <a:p>
            <a:br>
              <a:rPr kumimoji="1" lang="en-US" altLang="ja-JP" dirty="0"/>
            </a:br>
            <a:r>
              <a:rPr kumimoji="1" lang="en-US" altLang="ja-JP" dirty="0"/>
              <a:t>1. </a:t>
            </a:r>
            <a:r>
              <a:rPr lang="ja-JP" altLang="ja-JP" noProof="1"/>
              <a:t>「なぜその判断に至ったのか」のプロセスや理由を提示</a:t>
            </a:r>
          </a:p>
          <a:p>
            <a:endParaRPr kumimoji="1" lang="ja-JP" altLang="en-US"/>
          </a:p>
        </p:txBody>
      </p:sp>
      <p:sp>
        <p:nvSpPr>
          <p:cNvPr id="18" name="テキスト ボックス 17">
            <a:extLst>
              <a:ext uri="{FF2B5EF4-FFF2-40B4-BE49-F238E27FC236}">
                <a16:creationId xmlns:a16="http://schemas.microsoft.com/office/drawing/2014/main" id="{0B051C82-1280-8ABC-2820-0547C6A9BC07}"/>
              </a:ext>
            </a:extLst>
          </p:cNvPr>
          <p:cNvSpPr txBox="1"/>
          <p:nvPr/>
        </p:nvSpPr>
        <p:spPr>
          <a:xfrm>
            <a:off x="6067961" y="4828861"/>
            <a:ext cx="5457289" cy="1200329"/>
          </a:xfrm>
          <a:prstGeom prst="rect">
            <a:avLst/>
          </a:prstGeom>
          <a:noFill/>
        </p:spPr>
        <p:txBody>
          <a:bodyPr wrap="square" rtlCol="0">
            <a:spAutoFit/>
          </a:bodyPr>
          <a:lstStyle/>
          <a:p>
            <a:r>
              <a:rPr kumimoji="1" lang="ja-JP" altLang="en-US"/>
              <a:t>例</a:t>
            </a:r>
            <a:r>
              <a:rPr kumimoji="1" lang="en-US" altLang="ja-JP" dirty="0"/>
              <a:t> : </a:t>
            </a:r>
            <a:r>
              <a:rPr kumimoji="1" lang="ja-JP" altLang="en-US"/>
              <a:t>ハスキー犬の画像認識</a:t>
            </a:r>
            <a:endParaRPr kumimoji="1" lang="en-US" altLang="ja-JP" dirty="0"/>
          </a:p>
          <a:p>
            <a:r>
              <a:rPr lang="ja-JP" altLang="en-US"/>
              <a:t>犬ではなく，背景の雪によってハスキー犬か否かを判断していた</a:t>
            </a:r>
            <a:endParaRPr lang="en-US" altLang="ja-JP" dirty="0"/>
          </a:p>
          <a:p>
            <a:r>
              <a:rPr lang="en-US" altLang="ja-JP" dirty="0"/>
              <a:t>→</a:t>
            </a:r>
            <a:r>
              <a:rPr lang="ja-JP" altLang="en-US"/>
              <a:t>モデルが誤った学習をしている</a:t>
            </a:r>
            <a:endParaRPr kumimoji="1" lang="ja-JP" altLang="en-US"/>
          </a:p>
        </p:txBody>
      </p:sp>
      <p:sp>
        <p:nvSpPr>
          <p:cNvPr id="19" name="テキスト ボックス 18">
            <a:extLst>
              <a:ext uri="{FF2B5EF4-FFF2-40B4-BE49-F238E27FC236}">
                <a16:creationId xmlns:a16="http://schemas.microsoft.com/office/drawing/2014/main" id="{75362BDC-EAA7-0066-86B2-88D99AEAD70B}"/>
              </a:ext>
            </a:extLst>
          </p:cNvPr>
          <p:cNvSpPr txBox="1"/>
          <p:nvPr/>
        </p:nvSpPr>
        <p:spPr>
          <a:xfrm>
            <a:off x="1399400" y="4253467"/>
            <a:ext cx="902811" cy="307777"/>
          </a:xfrm>
          <a:prstGeom prst="rect">
            <a:avLst/>
          </a:prstGeom>
          <a:noFill/>
        </p:spPr>
        <p:txBody>
          <a:bodyPr wrap="none" rtlCol="0">
            <a:spAutoFit/>
          </a:bodyPr>
          <a:lstStyle/>
          <a:p>
            <a:r>
              <a:rPr kumimoji="1" lang="ja-JP" altLang="en-US" sz="1400"/>
              <a:t>入力画像</a:t>
            </a:r>
          </a:p>
        </p:txBody>
      </p:sp>
      <p:sp>
        <p:nvSpPr>
          <p:cNvPr id="20" name="テキスト ボックス 19">
            <a:extLst>
              <a:ext uri="{FF2B5EF4-FFF2-40B4-BE49-F238E27FC236}">
                <a16:creationId xmlns:a16="http://schemas.microsoft.com/office/drawing/2014/main" id="{C565AFB0-C915-D7B6-876E-CE06C471380A}"/>
              </a:ext>
            </a:extLst>
          </p:cNvPr>
          <p:cNvSpPr txBox="1"/>
          <p:nvPr/>
        </p:nvSpPr>
        <p:spPr>
          <a:xfrm>
            <a:off x="3545324" y="4244192"/>
            <a:ext cx="2339102" cy="307777"/>
          </a:xfrm>
          <a:prstGeom prst="rect">
            <a:avLst/>
          </a:prstGeom>
          <a:noFill/>
        </p:spPr>
        <p:txBody>
          <a:bodyPr wrap="none" rtlCol="0">
            <a:spAutoFit/>
          </a:bodyPr>
          <a:lstStyle/>
          <a:p>
            <a:r>
              <a:rPr kumimoji="1" lang="ja-JP" altLang="en-US" sz="1400"/>
              <a:t>説明の根拠となったパーツ</a:t>
            </a:r>
          </a:p>
        </p:txBody>
      </p:sp>
      <p:sp>
        <p:nvSpPr>
          <p:cNvPr id="21" name="テキスト ボックス 20">
            <a:extLst>
              <a:ext uri="{FF2B5EF4-FFF2-40B4-BE49-F238E27FC236}">
                <a16:creationId xmlns:a16="http://schemas.microsoft.com/office/drawing/2014/main" id="{5851E3AA-88AA-B545-4D02-BEF25D0A3D8E}"/>
              </a:ext>
            </a:extLst>
          </p:cNvPr>
          <p:cNvSpPr txBox="1"/>
          <p:nvPr/>
        </p:nvSpPr>
        <p:spPr>
          <a:xfrm>
            <a:off x="0" y="6487566"/>
            <a:ext cx="6686446" cy="415498"/>
          </a:xfrm>
          <a:prstGeom prst="rect">
            <a:avLst/>
          </a:prstGeom>
          <a:noFill/>
        </p:spPr>
        <p:txBody>
          <a:bodyPr wrap="none" rtlCol="0">
            <a:spAutoFit/>
          </a:bodyPr>
          <a:lstStyle/>
          <a:p>
            <a:r>
              <a:rPr lang="en-US" altLang="ja-JP" sz="1050" dirty="0"/>
              <a:t>[1]</a:t>
            </a:r>
            <a:r>
              <a:rPr lang="ja-JP" altLang="ja-JP" sz="1050"/>
              <a:t>Ribeiro, M. T., Singh, S., &amp; Guestrin, C. (2016). "Why should I trust you?": Explaining the predictions of any classifier. </a:t>
            </a:r>
            <a:br>
              <a:rPr lang="en-US" altLang="ja-JP" sz="1050" dirty="0"/>
            </a:br>
            <a:r>
              <a:rPr lang="ja-JP" altLang="ja-JP" sz="1050" i="1"/>
              <a:t>Proceedings of the 22nd ACM SIGKDD international conference on knowledge discovery and data mining</a:t>
            </a:r>
            <a:r>
              <a:rPr lang="ja-JP" altLang="ja-JP" sz="1050"/>
              <a:t>, 1135-1144.</a:t>
            </a:r>
            <a:endParaRPr kumimoji="1" lang="ja-JP" altLang="en-US" sz="1050"/>
          </a:p>
        </p:txBody>
      </p:sp>
    </p:spTree>
    <p:extLst>
      <p:ext uri="{BB962C8B-B14F-4D97-AF65-F5344CB8AC3E}">
        <p14:creationId xmlns:p14="http://schemas.microsoft.com/office/powerpoint/2010/main" val="19309838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accent-bar"/>
          <p:cNvSpPr>
            <a:spLocks noGrp="1"/>
          </p:cNvSpPr>
          <p:nvPr/>
        </p:nvSpPr>
        <p:spPr>
          <a:xfrm>
            <a:off x="514350" y="409575"/>
            <a:ext cx="114300" cy="476250"/>
          </a:xfrm>
          <a:prstGeom prst="rect">
            <a:avLst/>
          </a:prstGeom>
          <a:solidFill>
            <a:srgbClr val="156082"/>
          </a:solidFill>
          <a:ln w="0">
            <a:noFill/>
            <a:prstDash val="solid"/>
          </a:ln>
        </p:spPr>
        <p:txBody>
          <a:bodyPr/>
          <a:lstStyle/>
          <a:p>
            <a:endParaRPr lang="ja-JP" noProof="0"/>
          </a:p>
        </p:txBody>
      </p:sp>
      <p:sp>
        <p:nvSpPr>
          <p:cNvPr id="3" name="title"/>
          <p:cNvSpPr>
            <a:spLocks noGrp="1"/>
          </p:cNvSpPr>
          <p:nvPr/>
        </p:nvSpPr>
        <p:spPr>
          <a:xfrm>
            <a:off x="762000" y="342900"/>
            <a:ext cx="10668000" cy="476250"/>
          </a:xfrm>
          <a:prstGeom prst="rect">
            <a:avLst/>
          </a:prstGeom>
          <a:noFill/>
          <a:ln w="0">
            <a:noFill/>
            <a:prstDash val="solid"/>
          </a:ln>
        </p:spPr>
        <p:txBody>
          <a:bodyPr lIns="0" tIns="0" rIns="0" bIns="0" anchor="ctr">
            <a:noAutofit/>
          </a:bodyPr>
          <a:lstStyle/>
          <a:p>
            <a:pPr algn="l">
              <a:buNone/>
              <a:defRPr sz="2550" b="1">
                <a:solidFill>
                  <a:srgbClr val="17233D"/>
                </a:solidFill>
                <a:latin typeface="Hiragino Sans"/>
                <a:ea typeface="Hiragino Sans"/>
                <a:cs typeface="Hiragino Sans"/>
              </a:defRPr>
            </a:pPr>
            <a:r>
              <a:rPr lang="ja-JP" sz="2550" b="1" noProof="0">
                <a:solidFill>
                  <a:srgbClr val="17233D"/>
                </a:solidFill>
                <a:latin typeface="Hiragino Sans"/>
                <a:ea typeface="Hiragino Sans"/>
                <a:cs typeface="Hiragino Sans"/>
              </a:rPr>
              <a:t>目次</a:t>
            </a:r>
          </a:p>
        </p:txBody>
      </p:sp>
      <p:sp>
        <p:nvSpPr>
          <p:cNvPr id="6" name="toc-item-0"/>
          <p:cNvSpPr>
            <a:spLocks noGrp="1"/>
          </p:cNvSpPr>
          <p:nvPr/>
        </p:nvSpPr>
        <p:spPr>
          <a:xfrm>
            <a:off x="1200000" y="150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a:t>
            </a:r>
            <a:r>
              <a:rPr lang="ja-JP" sz="2200" b="1" noProof="0">
                <a:solidFill>
                  <a:srgbClr val="156082"/>
                </a:solidFill>
                <a:latin typeface="Hiragino Sans"/>
                <a:ea typeface="Hiragino Sans"/>
              </a:rPr>
              <a:t>1. XAI（説明可能なAI）</a:t>
            </a:r>
          </a:p>
        </p:txBody>
      </p:sp>
      <p:sp>
        <p:nvSpPr>
          <p:cNvPr id="7" name="toc-item-1"/>
          <p:cNvSpPr>
            <a:spLocks noGrp="1"/>
          </p:cNvSpPr>
          <p:nvPr/>
        </p:nvSpPr>
        <p:spPr>
          <a:xfrm>
            <a:off x="1200000" y="2120000"/>
            <a:ext cx="9792000" cy="620000"/>
          </a:xfrm>
          <a:prstGeom prst="rect">
            <a:avLst/>
          </a:prstGeom>
          <a:noFill/>
          <a:ln w="0">
            <a:noFill/>
            <a:prstDash val="solid"/>
          </a:ln>
        </p:spPr>
        <p:txBody>
          <a:bodyPr lIns="0" tIns="0" rIns="0" bIns="0" anchor="ctr">
            <a:noAutofit/>
          </a:bodyPr>
          <a:lstStyle/>
          <a:p>
            <a:pPr>
              <a:defRPr sz="1600" b="0">
                <a:solidFill>
                  <a:srgbClr val="B9BEC4"/>
                </a:solidFill>
                <a:latin typeface="Hiragino Sans"/>
                <a:ea typeface="Hiragino Sans"/>
                <a:cs typeface="Hiragino Sans"/>
              </a:defRPr>
            </a:pPr>
            <a:r>
              <a:rPr lang="ja-JP" sz="1600" noProof="0">
                <a:solidFill>
                  <a:srgbClr val="B9BEC4"/>
                </a:solidFill>
                <a:latin typeface="Hiragino Sans"/>
                <a:ea typeface="Hiragino Sans"/>
              </a:rPr>
              <a:t>　　2. LIME</a:t>
            </a:r>
          </a:p>
        </p:txBody>
      </p:sp>
      <p:sp>
        <p:nvSpPr>
          <p:cNvPr id="8" name="toc-item-2"/>
          <p:cNvSpPr>
            <a:spLocks noGrp="1"/>
          </p:cNvSpPr>
          <p:nvPr/>
        </p:nvSpPr>
        <p:spPr>
          <a:xfrm>
            <a:off x="1200000" y="274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3. 多クラスに応用したLIME</a:t>
            </a:r>
          </a:p>
        </p:txBody>
      </p:sp>
      <p:sp>
        <p:nvSpPr>
          <p:cNvPr id="9" name="toc-item-3"/>
          <p:cNvSpPr>
            <a:spLocks noGrp="1"/>
          </p:cNvSpPr>
          <p:nvPr/>
        </p:nvSpPr>
        <p:spPr>
          <a:xfrm>
            <a:off x="1200000" y="336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4. 関連研究</a:t>
            </a:r>
          </a:p>
        </p:txBody>
      </p:sp>
      <p:sp>
        <p:nvSpPr>
          <p:cNvPr id="10" name="toc-item-4"/>
          <p:cNvSpPr>
            <a:spLocks noGrp="1"/>
          </p:cNvSpPr>
          <p:nvPr/>
        </p:nvSpPr>
        <p:spPr>
          <a:xfrm>
            <a:off x="1200000" y="398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5. 提案手法</a:t>
            </a:r>
          </a:p>
        </p:txBody>
      </p:sp>
      <p:sp>
        <p:nvSpPr>
          <p:cNvPr id="11" name="toc-item-5"/>
          <p:cNvSpPr>
            <a:spLocks noGrp="1"/>
          </p:cNvSpPr>
          <p:nvPr/>
        </p:nvSpPr>
        <p:spPr>
          <a:xfrm>
            <a:off x="1200000" y="460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6. 実験と考察</a:t>
            </a:r>
          </a:p>
        </p:txBody>
      </p:sp>
      <p:sp>
        <p:nvSpPr>
          <p:cNvPr id="12" name="toc-item-6"/>
          <p:cNvSpPr>
            <a:spLocks noGrp="1"/>
          </p:cNvSpPr>
          <p:nvPr/>
        </p:nvSpPr>
        <p:spPr>
          <a:xfrm>
            <a:off x="1200000" y="522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7. まとめと今後の展望</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CFCFD"/>
        </a:solidFill>
        <a:effectLst/>
      </p:bgPr>
    </p:bg>
    <p:spTree>
      <p:nvGrpSpPr>
        <p:cNvPr id="1" name=""/>
        <p:cNvGrpSpPr/>
        <p:nvPr/>
      </p:nvGrpSpPr>
      <p:grpSpPr>
        <a:xfrm>
          <a:off x="0" y="0"/>
          <a:ext cx="0" cy="0"/>
          <a:chOff x="0" y="0"/>
          <a:chExt cx="0" cy="0"/>
        </a:xfrm>
      </p:grpSpPr>
      <p:sp>
        <p:nvSpPr>
          <p:cNvPr id="38" name="正方形/長方形 37">
            <a:extLst>
              <a:ext uri="{FF2B5EF4-FFF2-40B4-BE49-F238E27FC236}">
                <a16:creationId xmlns:a16="http://schemas.microsoft.com/office/drawing/2014/main" id="{A5CABAE7-EE96-43F6-8798-508681155297}"/>
              </a:ext>
            </a:extLst>
          </p:cNvPr>
          <p:cNvSpPr>
            <a:spLocks noGrp="1"/>
          </p:cNvSpPr>
          <p:nvPr/>
        </p:nvSpPr>
        <p:spPr>
          <a:xfrm>
            <a:off x="514350" y="419100"/>
            <a:ext cx="114300" cy="457200"/>
          </a:xfrm>
          <a:prstGeom prst="rect">
            <a:avLst/>
          </a:prstGeom>
          <a:solidFill>
            <a:srgbClr val="2F6BDE"/>
          </a:solidFill>
          <a:ln w="0">
            <a:solidFill>
              <a:srgbClr val="2F6BDE"/>
            </a:solidFill>
            <a:prstDash val="solid"/>
          </a:ln>
        </p:spPr>
        <p:txBody>
          <a:bodyPr/>
          <a:lstStyle/>
          <a:p>
            <a:endParaRPr lang="ja-JP" noProof="1"/>
          </a:p>
        </p:txBody>
      </p:sp>
      <p:sp>
        <p:nvSpPr>
          <p:cNvPr id="2" name="slide-3-title">
            <a:extLst>
              <a:ext uri="{FF2B5EF4-FFF2-40B4-BE49-F238E27FC236}">
                <a16:creationId xmlns:a16="http://schemas.microsoft.com/office/drawing/2014/main" id="{F2977694-D0B3-41BB-BD59-7C652764FDBD}"/>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lgn="l">
              <a:buNone/>
              <a:defRPr sz="2850" b="1">
                <a:solidFill>
                  <a:srgbClr val="12233A"/>
                </a:solidFill>
                <a:latin typeface="Hiragino Sans"/>
                <a:ea typeface="Hiragino Sans"/>
                <a:cs typeface="Hiragino Sans"/>
              </a:defRPr>
            </a:pPr>
            <a:r>
              <a:rPr lang="ja-JP" sz="2850" b="1" noProof="1">
                <a:solidFill>
                  <a:srgbClr val="12233A"/>
                </a:solidFill>
                <a:latin typeface="Hiragino Sans"/>
                <a:ea typeface="Hiragino Sans"/>
                <a:cs typeface="Hiragino Sans"/>
              </a:rPr>
              <a:t>LIME </a:t>
            </a:r>
          </a:p>
        </p:txBody>
      </p:sp>
      <p:sp>
        <p:nvSpPr>
          <p:cNvPr id="5" name="正方形/長方形 4">
            <a:extLst>
              <a:ext uri="{FF2B5EF4-FFF2-40B4-BE49-F238E27FC236}">
                <a16:creationId xmlns:a16="http://schemas.microsoft.com/office/drawing/2014/main" id="{74BDF188-2E3E-46A9-8518-B56A08BC8684}"/>
              </a:ext>
            </a:extLst>
          </p:cNvPr>
          <p:cNvSpPr>
            <a:spLocks noGrp="1"/>
          </p:cNvSpPr>
          <p:nvPr/>
        </p:nvSpPr>
        <p:spPr>
          <a:xfrm>
            <a:off x="258318" y="2145208"/>
            <a:ext cx="4177227" cy="457200"/>
          </a:xfrm>
          <a:prstGeom prst="rect">
            <a:avLst/>
          </a:prstGeom>
          <a:noFill/>
          <a:ln w="0">
            <a:noFill/>
            <a:prstDash val="solid"/>
          </a:ln>
        </p:spPr>
        <p:txBody>
          <a:bodyPr lIns="0" tIns="0" rIns="0" bIns="0" anchor="t">
            <a:noAutofit/>
          </a:bodyPr>
          <a:lstStyle/>
          <a:p>
            <a:pPr algn="l">
              <a:buNone/>
              <a:defRPr sz="2400" b="1">
                <a:solidFill>
                  <a:srgbClr val="2F6BDE"/>
                </a:solidFill>
                <a:latin typeface="Hiragino Sans"/>
                <a:ea typeface="Hiragino Sans"/>
                <a:cs typeface="Hiragino Sans"/>
              </a:defRPr>
            </a:pPr>
            <a:r>
              <a:rPr lang="ja-JP" sz="4400" b="1" noProof="1">
                <a:solidFill>
                  <a:srgbClr val="2F6BDE"/>
                </a:solidFill>
                <a:latin typeface="Hiragino Sans"/>
                <a:ea typeface="Hiragino Sans"/>
                <a:cs typeface="Hiragino Sans"/>
              </a:rPr>
              <a:t>LIME</a:t>
            </a:r>
            <a:endParaRPr lang="ja-JP" sz="2800" b="1" noProof="1">
              <a:solidFill>
                <a:srgbClr val="2F6BDE"/>
              </a:solidFill>
              <a:latin typeface="Hiragino Sans"/>
              <a:ea typeface="Hiragino Sans"/>
              <a:cs typeface="Hiragino Sans"/>
            </a:endParaRPr>
          </a:p>
        </p:txBody>
      </p:sp>
      <p:sp>
        <p:nvSpPr>
          <p:cNvPr id="6" name="正方形/長方形 5">
            <a:extLst>
              <a:ext uri="{FF2B5EF4-FFF2-40B4-BE49-F238E27FC236}">
                <a16:creationId xmlns:a16="http://schemas.microsoft.com/office/drawing/2014/main" id="{25BC8E6A-AD03-4BC1-8F71-70EF8E678E5D}"/>
              </a:ext>
            </a:extLst>
          </p:cNvPr>
          <p:cNvSpPr>
            <a:spLocks noGrp="1"/>
          </p:cNvSpPr>
          <p:nvPr/>
        </p:nvSpPr>
        <p:spPr>
          <a:xfrm>
            <a:off x="258318" y="2862199"/>
            <a:ext cx="5581650" cy="1714500"/>
          </a:xfrm>
          <a:prstGeom prst="rect">
            <a:avLst/>
          </a:prstGeom>
          <a:noFill/>
          <a:ln w="0">
            <a:noFill/>
            <a:prstDash val="solid"/>
          </a:ln>
        </p:spPr>
        <p:txBody>
          <a:bodyPr lIns="0" tIns="0" rIns="0" bIns="0" anchor="t">
            <a:noAutofit/>
          </a:bodyPr>
          <a:lstStyle/>
          <a:p>
            <a:pPr algn="l">
              <a:lnSpc>
                <a:spcPct val="106000"/>
              </a:lnSpc>
              <a:buNone/>
              <a:defRPr sz="1500" b="1">
                <a:solidFill>
                  <a:srgbClr val="12233A"/>
                </a:solidFill>
                <a:latin typeface="Hiragino Sans"/>
                <a:ea typeface="Hiragino Sans"/>
                <a:cs typeface="Hiragino Sans"/>
              </a:defRPr>
            </a:pPr>
            <a:r>
              <a:rPr lang="ja-JP" sz="2400" b="1" noProof="1">
                <a:solidFill>
                  <a:srgbClr val="12233A"/>
                </a:solidFill>
                <a:latin typeface="Hiragino Sans"/>
                <a:ea typeface="Hiragino Sans"/>
                <a:cs typeface="Hiragino Sans"/>
              </a:rPr>
              <a:t>Local		</a:t>
            </a:r>
            <a:r>
              <a:rPr lang="en-US" altLang="ja-JP" sz="2400" b="1" noProof="1">
                <a:solidFill>
                  <a:srgbClr val="12233A"/>
                </a:solidFill>
                <a:latin typeface="Hiragino Sans"/>
                <a:ea typeface="Hiragino Sans"/>
                <a:cs typeface="Hiragino Sans"/>
              </a:rPr>
              <a:t>	</a:t>
            </a:r>
            <a:r>
              <a:rPr lang="ja-JP" sz="2400" b="1" noProof="1">
                <a:solidFill>
                  <a:srgbClr val="12233A"/>
                </a:solidFill>
                <a:latin typeface="Hiragino Sans"/>
                <a:ea typeface="Hiragino Sans"/>
                <a:cs typeface="Hiragino Sans"/>
              </a:rPr>
              <a:t>局所的</a:t>
            </a:r>
          </a:p>
          <a:p>
            <a:pPr algn="l">
              <a:lnSpc>
                <a:spcPct val="106000"/>
              </a:lnSpc>
              <a:buNone/>
              <a:defRPr sz="1500" b="1">
                <a:solidFill>
                  <a:srgbClr val="12233A"/>
                </a:solidFill>
                <a:latin typeface="Hiragino Sans"/>
                <a:ea typeface="Hiragino Sans"/>
                <a:cs typeface="Hiragino Sans"/>
              </a:defRPr>
            </a:pPr>
            <a:r>
              <a:rPr lang="ja-JP" sz="2400" b="1" noProof="1">
                <a:solidFill>
                  <a:srgbClr val="12233A"/>
                </a:solidFill>
                <a:latin typeface="Hiragino Sans"/>
                <a:ea typeface="Hiragino Sans"/>
                <a:cs typeface="Hiragino Sans"/>
              </a:rPr>
              <a:t>Interpretable</a:t>
            </a:r>
            <a:r>
              <a:rPr lang="en-US" altLang="ja-JP" sz="2400" b="1" noProof="1">
                <a:solidFill>
                  <a:srgbClr val="12233A"/>
                </a:solidFill>
                <a:latin typeface="Hiragino Sans"/>
                <a:ea typeface="Hiragino Sans"/>
                <a:cs typeface="Hiragino Sans"/>
              </a:rPr>
              <a:t>	</a:t>
            </a:r>
            <a:r>
              <a:rPr lang="ja-JP" sz="2400" b="1" noProof="1">
                <a:solidFill>
                  <a:srgbClr val="12233A"/>
                </a:solidFill>
                <a:latin typeface="Hiragino Sans"/>
                <a:ea typeface="Hiragino Sans"/>
                <a:cs typeface="Hiragino Sans"/>
              </a:rPr>
              <a:t>解釈可能</a:t>
            </a:r>
          </a:p>
          <a:p>
            <a:pPr algn="l">
              <a:lnSpc>
                <a:spcPct val="106000"/>
              </a:lnSpc>
              <a:buNone/>
              <a:defRPr sz="1500" b="1">
                <a:solidFill>
                  <a:srgbClr val="12233A"/>
                </a:solidFill>
                <a:latin typeface="Hiragino Sans"/>
                <a:ea typeface="Hiragino Sans"/>
                <a:cs typeface="Hiragino Sans"/>
              </a:defRPr>
            </a:pPr>
            <a:r>
              <a:rPr lang="ja-JP" sz="2400" b="1" noProof="1">
                <a:solidFill>
                  <a:srgbClr val="12233A"/>
                </a:solidFill>
                <a:latin typeface="Hiragino Sans"/>
                <a:ea typeface="Hiragino Sans"/>
                <a:cs typeface="Hiragino Sans"/>
              </a:rPr>
              <a:t>Model-agnostic </a:t>
            </a:r>
            <a:r>
              <a:rPr lang="en-US" altLang="ja-JP" sz="2400" b="1" noProof="1">
                <a:solidFill>
                  <a:srgbClr val="12233A"/>
                </a:solidFill>
                <a:latin typeface="Hiragino Sans"/>
                <a:ea typeface="Hiragino Sans"/>
                <a:cs typeface="Hiragino Sans"/>
              </a:rPr>
              <a:t>	</a:t>
            </a:r>
            <a:r>
              <a:rPr lang="ja-JP" sz="2400" b="1" noProof="1">
                <a:solidFill>
                  <a:srgbClr val="FF0000"/>
                </a:solidFill>
                <a:latin typeface="Hiragino Sans"/>
                <a:ea typeface="Hiragino Sans"/>
                <a:cs typeface="Hiragino Sans"/>
              </a:rPr>
              <a:t>モデル非依存</a:t>
            </a:r>
          </a:p>
          <a:p>
            <a:pPr algn="l">
              <a:lnSpc>
                <a:spcPct val="106000"/>
              </a:lnSpc>
              <a:buNone/>
              <a:defRPr sz="1500" b="1">
                <a:solidFill>
                  <a:srgbClr val="12233A"/>
                </a:solidFill>
                <a:latin typeface="Hiragino Sans"/>
                <a:ea typeface="Hiragino Sans"/>
                <a:cs typeface="Hiragino Sans"/>
              </a:defRPr>
            </a:pPr>
            <a:r>
              <a:rPr lang="ja-JP" sz="2400" b="1" noProof="1">
                <a:solidFill>
                  <a:srgbClr val="12233A"/>
                </a:solidFill>
                <a:latin typeface="Hiragino Sans"/>
                <a:ea typeface="Hiragino Sans"/>
                <a:cs typeface="Hiragino Sans"/>
              </a:rPr>
              <a:t>Explanations	説明</a:t>
            </a:r>
          </a:p>
        </p:txBody>
      </p:sp>
      <p:sp>
        <p:nvSpPr>
          <p:cNvPr id="7" name="正方形/長方形 6">
            <a:extLst>
              <a:ext uri="{FF2B5EF4-FFF2-40B4-BE49-F238E27FC236}">
                <a16:creationId xmlns:a16="http://schemas.microsoft.com/office/drawing/2014/main" id="{2A29B0FF-82CB-4F7C-913D-7E72B0F562E5}"/>
              </a:ext>
            </a:extLst>
          </p:cNvPr>
          <p:cNvSpPr>
            <a:spLocks noGrp="1"/>
          </p:cNvSpPr>
          <p:nvPr/>
        </p:nvSpPr>
        <p:spPr>
          <a:xfrm>
            <a:off x="567750" y="4571111"/>
            <a:ext cx="5272218" cy="552450"/>
          </a:xfrm>
          <a:prstGeom prst="rect">
            <a:avLst/>
          </a:prstGeom>
          <a:noFill/>
          <a:ln w="0">
            <a:noFill/>
            <a:prstDash val="solid"/>
          </a:ln>
        </p:spPr>
        <p:txBody>
          <a:bodyPr lIns="0" tIns="0" rIns="0" bIns="0" anchor="t">
            <a:noAutofit/>
          </a:bodyPr>
          <a:lstStyle/>
          <a:p>
            <a:pPr algn="l">
              <a:lnSpc>
                <a:spcPct val="108000"/>
              </a:lnSpc>
              <a:buNone/>
              <a:defRPr sz="1350" b="0">
                <a:solidFill>
                  <a:srgbClr val="667085"/>
                </a:solidFill>
                <a:latin typeface="Hiragino Sans"/>
                <a:ea typeface="Hiragino Sans"/>
                <a:cs typeface="Hiragino Sans"/>
              </a:defRPr>
            </a:pPr>
            <a:r>
              <a:rPr lang="ja-JP" sz="1400" b="0" noProof="1">
                <a:solidFill>
                  <a:srgbClr val="667085"/>
                </a:solidFill>
                <a:latin typeface="Hiragino Sans"/>
                <a:ea typeface="Hiragino Sans"/>
                <a:cs typeface="Hiragino Sans"/>
              </a:rPr>
              <a:t>モデル内部を見ず，入力と予測だけを使う</a:t>
            </a:r>
          </a:p>
        </p:txBody>
      </p:sp>
      <p:pic>
        <p:nvPicPr>
          <p:cNvPr id="11" name="図 10">
            <a:extLst>
              <a:ext uri="{FF2B5EF4-FFF2-40B4-BE49-F238E27FC236}">
                <a16:creationId xmlns:a16="http://schemas.microsoft.com/office/drawing/2014/main" id="{DD219A03-AEA4-B412-EA21-B6822712B71B}"/>
              </a:ext>
            </a:extLst>
          </p:cNvPr>
          <p:cNvPicPr>
            <a:picLocks noChangeAspect="1"/>
          </p:cNvPicPr>
          <p:nvPr/>
        </p:nvPicPr>
        <p:blipFill>
          <a:blip r:embed="rId3"/>
          <a:stretch>
            <a:fillRect/>
          </a:stretch>
        </p:blipFill>
        <p:spPr>
          <a:xfrm>
            <a:off x="4441599" y="1804468"/>
            <a:ext cx="4411145" cy="4055885"/>
          </a:xfrm>
          <a:prstGeom prst="rect">
            <a:avLst/>
          </a:prstGeom>
        </p:spPr>
      </p:pic>
      <p:sp>
        <p:nvSpPr>
          <p:cNvPr id="28" name="テキスト ボックス 27">
            <a:extLst>
              <a:ext uri="{FF2B5EF4-FFF2-40B4-BE49-F238E27FC236}">
                <a16:creationId xmlns:a16="http://schemas.microsoft.com/office/drawing/2014/main" id="{024389A8-1F5F-F243-5052-2FDB1CB778AE}"/>
              </a:ext>
            </a:extLst>
          </p:cNvPr>
          <p:cNvSpPr txBox="1"/>
          <p:nvPr/>
        </p:nvSpPr>
        <p:spPr>
          <a:xfrm>
            <a:off x="6812453" y="3292862"/>
            <a:ext cx="1107996" cy="369332"/>
          </a:xfrm>
          <a:prstGeom prst="rect">
            <a:avLst/>
          </a:prstGeom>
          <a:noFill/>
        </p:spPr>
        <p:txBody>
          <a:bodyPr wrap="none" rtlCol="0">
            <a:spAutoFit/>
          </a:bodyPr>
          <a:lstStyle/>
          <a:p>
            <a:r>
              <a:rPr kumimoji="1" lang="ja-JP" noProof="1"/>
              <a:t>説明対象</a:t>
            </a:r>
          </a:p>
        </p:txBody>
      </p:sp>
      <p:sp>
        <p:nvSpPr>
          <p:cNvPr id="32" name="テキスト ボックス 31">
            <a:extLst>
              <a:ext uri="{FF2B5EF4-FFF2-40B4-BE49-F238E27FC236}">
                <a16:creationId xmlns:a16="http://schemas.microsoft.com/office/drawing/2014/main" id="{443FEB40-AF37-EC83-0339-2B9D49D01D7B}"/>
              </a:ext>
            </a:extLst>
          </p:cNvPr>
          <p:cNvSpPr txBox="1"/>
          <p:nvPr/>
        </p:nvSpPr>
        <p:spPr>
          <a:xfrm>
            <a:off x="7920449" y="1642015"/>
            <a:ext cx="1338828" cy="369332"/>
          </a:xfrm>
          <a:prstGeom prst="rect">
            <a:avLst/>
          </a:prstGeom>
          <a:noFill/>
        </p:spPr>
        <p:txBody>
          <a:bodyPr wrap="none" rtlCol="0">
            <a:spAutoFit/>
          </a:bodyPr>
          <a:lstStyle/>
          <a:p>
            <a:r>
              <a:rPr kumimoji="1" lang="ja-JP" noProof="1"/>
              <a:t>近似の直線</a:t>
            </a:r>
          </a:p>
        </p:txBody>
      </p:sp>
      <p:pic>
        <p:nvPicPr>
          <p:cNvPr id="33" name="図 32">
            <a:extLst>
              <a:ext uri="{FF2B5EF4-FFF2-40B4-BE49-F238E27FC236}">
                <a16:creationId xmlns:a16="http://schemas.microsoft.com/office/drawing/2014/main" id="{61D870EE-63F4-6843-9954-CD03503F0202}"/>
              </a:ext>
            </a:extLst>
          </p:cNvPr>
          <p:cNvPicPr>
            <a:picLocks noChangeAspect="1"/>
          </p:cNvPicPr>
          <p:nvPr/>
        </p:nvPicPr>
        <p:blipFill>
          <a:blip r:embed="rId4"/>
          <a:stretch>
            <a:fillRect/>
          </a:stretch>
        </p:blipFill>
        <p:spPr>
          <a:xfrm>
            <a:off x="8635711" y="2137004"/>
            <a:ext cx="3131127" cy="228600"/>
          </a:xfrm>
          <a:prstGeom prst="rect">
            <a:avLst/>
          </a:prstGeom>
        </p:spPr>
      </p:pic>
      <p:sp>
        <p:nvSpPr>
          <p:cNvPr id="3" name="正方形/長方形 2">
            <a:extLst>
              <a:ext uri="{FF2B5EF4-FFF2-40B4-BE49-F238E27FC236}">
                <a16:creationId xmlns:a16="http://schemas.microsoft.com/office/drawing/2014/main" id="{3CAB0DB8-E479-F425-6134-333D0E0F9021}"/>
              </a:ext>
            </a:extLst>
          </p:cNvPr>
          <p:cNvSpPr>
            <a:spLocks noGrp="1"/>
          </p:cNvSpPr>
          <p:nvPr/>
        </p:nvSpPr>
        <p:spPr>
          <a:xfrm>
            <a:off x="9010650" y="2850231"/>
            <a:ext cx="2667000" cy="2049556"/>
          </a:xfrm>
          <a:prstGeom prst="rect">
            <a:avLst/>
          </a:prstGeom>
          <a:solidFill>
            <a:schemeClr val="lt1"/>
          </a:solidFill>
          <a:ln w="41275" cap="rnd" cmpd="dbl">
            <a:solidFill>
              <a:schemeClr val="accent6"/>
            </a:solidFill>
            <a:bevel/>
          </a:ln>
          <a:effectLst>
            <a:outerShdw blurRad="50800" dist="38100" dir="2700000" algn="tl"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a:lstStyle/>
          <a:p>
            <a:endParaRPr lang="ja-JP" noProof="1"/>
          </a:p>
        </p:txBody>
      </p:sp>
      <p:sp>
        <p:nvSpPr>
          <p:cNvPr id="4" name="正方形/長方形 3">
            <a:extLst>
              <a:ext uri="{FF2B5EF4-FFF2-40B4-BE49-F238E27FC236}">
                <a16:creationId xmlns:a16="http://schemas.microsoft.com/office/drawing/2014/main" id="{96E9A7E1-D1FC-3A38-20EB-094FED1FE74E}"/>
              </a:ext>
            </a:extLst>
          </p:cNvPr>
          <p:cNvSpPr>
            <a:spLocks noGrp="1"/>
          </p:cNvSpPr>
          <p:nvPr/>
        </p:nvSpPr>
        <p:spPr>
          <a:xfrm>
            <a:off x="9115425" y="3054178"/>
            <a:ext cx="2171700" cy="323850"/>
          </a:xfrm>
          <a:prstGeom prst="rect">
            <a:avLst/>
          </a:prstGeom>
          <a:noFill/>
          <a:ln w="0">
            <a:noFill/>
            <a:prstDash val="solid"/>
          </a:ln>
        </p:spPr>
        <p:txBody>
          <a:bodyPr lIns="0" tIns="0" rIns="0" bIns="0" anchor="t">
            <a:noAutofit/>
          </a:bodyPr>
          <a:lstStyle/>
          <a:p>
            <a:pPr algn="l">
              <a:buNone/>
              <a:defRPr sz="1800" b="1">
                <a:solidFill>
                  <a:srgbClr val="10B981"/>
                </a:solidFill>
                <a:latin typeface="Hiragino Sans"/>
                <a:ea typeface="Hiragino Sans"/>
                <a:cs typeface="Hiragino Sans"/>
              </a:defRPr>
            </a:pPr>
            <a:r>
              <a:rPr lang="ja-JP" sz="1800" b="1" noProof="1">
                <a:solidFill>
                  <a:srgbClr val="10B981"/>
                </a:solidFill>
                <a:latin typeface="Hiragino Sans"/>
                <a:ea typeface="Hiragino Sans"/>
                <a:cs typeface="Hiragino Sans"/>
              </a:rPr>
              <a:t>XAIによる説明</a:t>
            </a:r>
          </a:p>
        </p:txBody>
      </p:sp>
      <p:sp>
        <p:nvSpPr>
          <p:cNvPr id="8" name="正方形/長方形 7">
            <a:extLst>
              <a:ext uri="{FF2B5EF4-FFF2-40B4-BE49-F238E27FC236}">
                <a16:creationId xmlns:a16="http://schemas.microsoft.com/office/drawing/2014/main" id="{2C24D344-052C-D561-3497-2A5BA0207ECA}"/>
              </a:ext>
            </a:extLst>
          </p:cNvPr>
          <p:cNvSpPr>
            <a:spLocks noGrp="1"/>
          </p:cNvSpPr>
          <p:nvPr/>
        </p:nvSpPr>
        <p:spPr>
          <a:xfrm>
            <a:off x="9115425" y="3528187"/>
            <a:ext cx="857250" cy="247650"/>
          </a:xfrm>
          <a:prstGeom prst="rect">
            <a:avLst/>
          </a:prstGeom>
          <a:noFill/>
          <a:ln w="0">
            <a:noFill/>
            <a:prstDash val="solid"/>
          </a:ln>
        </p:spPr>
        <p:txBody>
          <a:bodyPr lIns="0" tIns="0" rIns="0" bIns="0" anchor="t">
            <a:noAutofit/>
          </a:bodyPr>
          <a:lstStyle/>
          <a:p>
            <a:pPr algn="l">
              <a:buNone/>
              <a:defRPr sz="1425" b="1">
                <a:solidFill>
                  <a:srgbClr val="111827"/>
                </a:solidFill>
                <a:latin typeface="Hiragino Sans"/>
                <a:ea typeface="Hiragino Sans"/>
                <a:cs typeface="Hiragino Sans"/>
              </a:defRPr>
            </a:pPr>
            <a:r>
              <a:rPr lang="ja-JP" sz="1425" b="1" noProof="1">
                <a:solidFill>
                  <a:srgbClr val="111827"/>
                </a:solidFill>
                <a:latin typeface="Hiragino Sans"/>
                <a:ea typeface="Hiragino Sans"/>
                <a:cs typeface="Hiragino Sans"/>
              </a:rPr>
              <a:t>運賃</a:t>
            </a:r>
          </a:p>
        </p:txBody>
      </p:sp>
      <p:sp>
        <p:nvSpPr>
          <p:cNvPr id="9" name="正方形/長方形 8">
            <a:extLst>
              <a:ext uri="{FF2B5EF4-FFF2-40B4-BE49-F238E27FC236}">
                <a16:creationId xmlns:a16="http://schemas.microsoft.com/office/drawing/2014/main" id="{0D1F4FBB-B973-56CE-20F3-4AA14F5C62A2}"/>
              </a:ext>
            </a:extLst>
          </p:cNvPr>
          <p:cNvSpPr>
            <a:spLocks noGrp="1"/>
          </p:cNvSpPr>
          <p:nvPr/>
        </p:nvSpPr>
        <p:spPr>
          <a:xfrm>
            <a:off x="10344150" y="3547237"/>
            <a:ext cx="571500" cy="190500"/>
          </a:xfrm>
          <a:prstGeom prst="rect">
            <a:avLst/>
          </a:prstGeom>
          <a:solidFill>
            <a:srgbClr val="10B981"/>
          </a:solidFill>
          <a:ln w="0">
            <a:solidFill>
              <a:srgbClr val="10B981"/>
            </a:solidFill>
            <a:prstDash val="solid"/>
          </a:ln>
        </p:spPr>
        <p:txBody>
          <a:bodyPr/>
          <a:lstStyle/>
          <a:p>
            <a:endParaRPr lang="ja-JP" noProof="1"/>
          </a:p>
        </p:txBody>
      </p:sp>
      <p:sp>
        <p:nvSpPr>
          <p:cNvPr id="10" name="正方形/長方形 9">
            <a:extLst>
              <a:ext uri="{FF2B5EF4-FFF2-40B4-BE49-F238E27FC236}">
                <a16:creationId xmlns:a16="http://schemas.microsoft.com/office/drawing/2014/main" id="{36036B8B-23E8-8571-C473-AC5EDFB40895}"/>
              </a:ext>
            </a:extLst>
          </p:cNvPr>
          <p:cNvSpPr>
            <a:spLocks noGrp="1"/>
          </p:cNvSpPr>
          <p:nvPr/>
        </p:nvSpPr>
        <p:spPr>
          <a:xfrm>
            <a:off x="10963275" y="3499612"/>
            <a:ext cx="571500" cy="266700"/>
          </a:xfrm>
          <a:prstGeom prst="rect">
            <a:avLst/>
          </a:prstGeom>
          <a:noFill/>
          <a:ln w="0">
            <a:noFill/>
            <a:prstDash val="solid"/>
          </a:ln>
        </p:spPr>
        <p:txBody>
          <a:bodyPr lIns="0" tIns="0" rIns="0" bIns="0" anchor="t">
            <a:noAutofit/>
          </a:bodyPr>
          <a:lstStyle/>
          <a:p>
            <a:pPr algn="r">
              <a:buNone/>
              <a:defRPr sz="1275" b="1">
                <a:solidFill>
                  <a:srgbClr val="10B981"/>
                </a:solidFill>
                <a:latin typeface="Hiragino Sans"/>
                <a:ea typeface="Hiragino Sans"/>
                <a:cs typeface="Hiragino Sans"/>
              </a:defRPr>
            </a:pPr>
            <a:r>
              <a:rPr lang="ja-JP" sz="1275" b="1" noProof="1">
                <a:solidFill>
                  <a:srgbClr val="10B981"/>
                </a:solidFill>
                <a:latin typeface="Hiragino Sans"/>
                <a:ea typeface="Hiragino Sans"/>
                <a:cs typeface="Hiragino Sans"/>
              </a:rPr>
              <a:t>+0.50</a:t>
            </a:r>
          </a:p>
        </p:txBody>
      </p:sp>
      <p:sp>
        <p:nvSpPr>
          <p:cNvPr id="12" name="正方形/長方形 11">
            <a:extLst>
              <a:ext uri="{FF2B5EF4-FFF2-40B4-BE49-F238E27FC236}">
                <a16:creationId xmlns:a16="http://schemas.microsoft.com/office/drawing/2014/main" id="{733B194E-88AD-A783-DC47-319BB4ABE2A8}"/>
              </a:ext>
            </a:extLst>
          </p:cNvPr>
          <p:cNvSpPr>
            <a:spLocks noGrp="1"/>
          </p:cNvSpPr>
          <p:nvPr/>
        </p:nvSpPr>
        <p:spPr>
          <a:xfrm>
            <a:off x="9115425" y="4023487"/>
            <a:ext cx="857250" cy="247650"/>
          </a:xfrm>
          <a:prstGeom prst="rect">
            <a:avLst/>
          </a:prstGeom>
          <a:noFill/>
          <a:ln w="0">
            <a:noFill/>
            <a:prstDash val="solid"/>
          </a:ln>
        </p:spPr>
        <p:txBody>
          <a:bodyPr lIns="0" tIns="0" rIns="0" bIns="0" anchor="t">
            <a:noAutofit/>
          </a:bodyPr>
          <a:lstStyle/>
          <a:p>
            <a:pPr algn="l">
              <a:buNone/>
              <a:defRPr sz="1425" b="1">
                <a:solidFill>
                  <a:srgbClr val="111827"/>
                </a:solidFill>
                <a:latin typeface="Hiragino Sans"/>
                <a:ea typeface="Hiragino Sans"/>
                <a:cs typeface="Hiragino Sans"/>
              </a:defRPr>
            </a:pPr>
            <a:r>
              <a:rPr lang="ja-JP" sz="1425" b="1" noProof="1">
                <a:solidFill>
                  <a:srgbClr val="111827"/>
                </a:solidFill>
                <a:latin typeface="Hiragino Sans"/>
                <a:ea typeface="Hiragino Sans"/>
                <a:cs typeface="Hiragino Sans"/>
              </a:rPr>
              <a:t>年齢</a:t>
            </a:r>
          </a:p>
        </p:txBody>
      </p:sp>
      <p:sp>
        <p:nvSpPr>
          <p:cNvPr id="13" name="正方形/長方形 12">
            <a:extLst>
              <a:ext uri="{FF2B5EF4-FFF2-40B4-BE49-F238E27FC236}">
                <a16:creationId xmlns:a16="http://schemas.microsoft.com/office/drawing/2014/main" id="{D8EA1E57-EAD8-0C01-8A0E-08630944EAD2}"/>
              </a:ext>
            </a:extLst>
          </p:cNvPr>
          <p:cNvSpPr>
            <a:spLocks noGrp="1"/>
          </p:cNvSpPr>
          <p:nvPr/>
        </p:nvSpPr>
        <p:spPr>
          <a:xfrm>
            <a:off x="9972675" y="4042537"/>
            <a:ext cx="371475" cy="190500"/>
          </a:xfrm>
          <a:prstGeom prst="rect">
            <a:avLst/>
          </a:prstGeom>
          <a:solidFill>
            <a:srgbClr val="EF4444"/>
          </a:solidFill>
          <a:ln w="0">
            <a:solidFill>
              <a:srgbClr val="EF4444"/>
            </a:solidFill>
            <a:prstDash val="solid"/>
          </a:ln>
        </p:spPr>
        <p:txBody>
          <a:bodyPr/>
          <a:lstStyle/>
          <a:p>
            <a:endParaRPr lang="ja-JP" noProof="1"/>
          </a:p>
        </p:txBody>
      </p:sp>
      <p:sp>
        <p:nvSpPr>
          <p:cNvPr id="14" name="正方形/長方形 13">
            <a:extLst>
              <a:ext uri="{FF2B5EF4-FFF2-40B4-BE49-F238E27FC236}">
                <a16:creationId xmlns:a16="http://schemas.microsoft.com/office/drawing/2014/main" id="{F02B9C82-13DF-88DF-81D6-FBB768190C74}"/>
              </a:ext>
            </a:extLst>
          </p:cNvPr>
          <p:cNvSpPr>
            <a:spLocks noGrp="1"/>
          </p:cNvSpPr>
          <p:nvPr/>
        </p:nvSpPr>
        <p:spPr>
          <a:xfrm>
            <a:off x="10963275" y="3994912"/>
            <a:ext cx="571500" cy="266700"/>
          </a:xfrm>
          <a:prstGeom prst="rect">
            <a:avLst/>
          </a:prstGeom>
          <a:noFill/>
          <a:ln w="0">
            <a:noFill/>
            <a:prstDash val="solid"/>
          </a:ln>
        </p:spPr>
        <p:txBody>
          <a:bodyPr lIns="0" tIns="0" rIns="0" bIns="0" anchor="t">
            <a:noAutofit/>
          </a:bodyPr>
          <a:lstStyle/>
          <a:p>
            <a:pPr algn="r">
              <a:buNone/>
              <a:defRPr sz="1275" b="1">
                <a:solidFill>
                  <a:srgbClr val="EF4444"/>
                </a:solidFill>
                <a:latin typeface="Hiragino Sans"/>
                <a:ea typeface="Hiragino Sans"/>
                <a:cs typeface="Hiragino Sans"/>
              </a:defRPr>
            </a:pPr>
            <a:r>
              <a:rPr lang="ja-JP" sz="1275" b="1" noProof="1">
                <a:solidFill>
                  <a:srgbClr val="EF4444"/>
                </a:solidFill>
                <a:latin typeface="Hiragino Sans"/>
                <a:ea typeface="Hiragino Sans"/>
                <a:cs typeface="Hiragino Sans"/>
              </a:rPr>
              <a:t>−0.20</a:t>
            </a:r>
          </a:p>
        </p:txBody>
      </p:sp>
      <p:sp>
        <p:nvSpPr>
          <p:cNvPr id="15" name="正方形/長方形 14">
            <a:extLst>
              <a:ext uri="{FF2B5EF4-FFF2-40B4-BE49-F238E27FC236}">
                <a16:creationId xmlns:a16="http://schemas.microsoft.com/office/drawing/2014/main" id="{79DE4EB3-DE9F-1D96-48B1-E20322FDD8F8}"/>
              </a:ext>
            </a:extLst>
          </p:cNvPr>
          <p:cNvSpPr>
            <a:spLocks noGrp="1"/>
          </p:cNvSpPr>
          <p:nvPr/>
        </p:nvSpPr>
        <p:spPr>
          <a:xfrm>
            <a:off x="9115425" y="4518787"/>
            <a:ext cx="857250" cy="247650"/>
          </a:xfrm>
          <a:prstGeom prst="rect">
            <a:avLst/>
          </a:prstGeom>
          <a:noFill/>
          <a:ln w="0">
            <a:noFill/>
            <a:prstDash val="solid"/>
          </a:ln>
        </p:spPr>
        <p:txBody>
          <a:bodyPr lIns="0" tIns="0" rIns="0" bIns="0" anchor="t">
            <a:noAutofit/>
          </a:bodyPr>
          <a:lstStyle/>
          <a:p>
            <a:pPr algn="l">
              <a:buNone/>
              <a:defRPr sz="1425" b="1">
                <a:solidFill>
                  <a:srgbClr val="111827"/>
                </a:solidFill>
                <a:latin typeface="Hiragino Sans"/>
                <a:ea typeface="Hiragino Sans"/>
                <a:cs typeface="Hiragino Sans"/>
              </a:defRPr>
            </a:pPr>
            <a:r>
              <a:rPr lang="ja-JP" sz="1425" b="1" noProof="1">
                <a:solidFill>
                  <a:srgbClr val="111827"/>
                </a:solidFill>
                <a:latin typeface="Hiragino Sans"/>
                <a:ea typeface="Hiragino Sans"/>
                <a:cs typeface="Hiragino Sans"/>
              </a:rPr>
              <a:t>客室等級</a:t>
            </a:r>
          </a:p>
        </p:txBody>
      </p:sp>
      <p:sp>
        <p:nvSpPr>
          <p:cNvPr id="16" name="正方形/長方形 15">
            <a:extLst>
              <a:ext uri="{FF2B5EF4-FFF2-40B4-BE49-F238E27FC236}">
                <a16:creationId xmlns:a16="http://schemas.microsoft.com/office/drawing/2014/main" id="{88E4198E-DFDE-E9BE-5627-5AF40695441E}"/>
              </a:ext>
            </a:extLst>
          </p:cNvPr>
          <p:cNvSpPr>
            <a:spLocks noGrp="1"/>
          </p:cNvSpPr>
          <p:nvPr/>
        </p:nvSpPr>
        <p:spPr>
          <a:xfrm>
            <a:off x="10344150" y="4537837"/>
            <a:ext cx="266700" cy="190500"/>
          </a:xfrm>
          <a:prstGeom prst="rect">
            <a:avLst/>
          </a:prstGeom>
          <a:solidFill>
            <a:srgbClr val="10B981"/>
          </a:solidFill>
          <a:ln w="0">
            <a:solidFill>
              <a:srgbClr val="10B981"/>
            </a:solidFill>
            <a:prstDash val="solid"/>
          </a:ln>
        </p:spPr>
        <p:txBody>
          <a:bodyPr/>
          <a:lstStyle/>
          <a:p>
            <a:endParaRPr lang="ja-JP" noProof="1"/>
          </a:p>
        </p:txBody>
      </p:sp>
      <p:sp>
        <p:nvSpPr>
          <p:cNvPr id="17" name="正方形/長方形 16">
            <a:extLst>
              <a:ext uri="{FF2B5EF4-FFF2-40B4-BE49-F238E27FC236}">
                <a16:creationId xmlns:a16="http://schemas.microsoft.com/office/drawing/2014/main" id="{2CAA3E78-AD9D-608B-3104-DAC1BBBE1251}"/>
              </a:ext>
            </a:extLst>
          </p:cNvPr>
          <p:cNvSpPr>
            <a:spLocks noGrp="1"/>
          </p:cNvSpPr>
          <p:nvPr/>
        </p:nvSpPr>
        <p:spPr>
          <a:xfrm>
            <a:off x="10963275" y="4490212"/>
            <a:ext cx="571500" cy="266700"/>
          </a:xfrm>
          <a:prstGeom prst="rect">
            <a:avLst/>
          </a:prstGeom>
          <a:noFill/>
          <a:ln w="0">
            <a:noFill/>
            <a:prstDash val="solid"/>
          </a:ln>
        </p:spPr>
        <p:txBody>
          <a:bodyPr lIns="0" tIns="0" rIns="0" bIns="0" anchor="t">
            <a:noAutofit/>
          </a:bodyPr>
          <a:lstStyle/>
          <a:p>
            <a:pPr algn="r">
              <a:buNone/>
              <a:defRPr sz="1275" b="1">
                <a:solidFill>
                  <a:srgbClr val="10B981"/>
                </a:solidFill>
                <a:latin typeface="Hiragino Sans"/>
                <a:ea typeface="Hiragino Sans"/>
                <a:cs typeface="Hiragino Sans"/>
              </a:defRPr>
            </a:pPr>
            <a:r>
              <a:rPr lang="ja-JP" sz="1275" b="1" noProof="1">
                <a:solidFill>
                  <a:srgbClr val="10B981"/>
                </a:solidFill>
                <a:latin typeface="Hiragino Sans"/>
                <a:ea typeface="Hiragino Sans"/>
                <a:cs typeface="Hiragino Sans"/>
              </a:rPr>
              <a:t>+0.15</a:t>
            </a:r>
          </a:p>
        </p:txBody>
      </p:sp>
      <p:sp>
        <p:nvSpPr>
          <p:cNvPr id="18" name="テキスト ボックス 17">
            <a:extLst>
              <a:ext uri="{FF2B5EF4-FFF2-40B4-BE49-F238E27FC236}">
                <a16:creationId xmlns:a16="http://schemas.microsoft.com/office/drawing/2014/main" id="{0651DD7C-4B20-AEB4-501D-DDE2B3C1CB00}"/>
              </a:ext>
            </a:extLst>
          </p:cNvPr>
          <p:cNvSpPr txBox="1"/>
          <p:nvPr/>
        </p:nvSpPr>
        <p:spPr>
          <a:xfrm>
            <a:off x="3371850" y="5923337"/>
            <a:ext cx="6128601" cy="369332"/>
          </a:xfrm>
          <a:prstGeom prst="rect">
            <a:avLst/>
          </a:prstGeom>
          <a:noFill/>
        </p:spPr>
        <p:txBody>
          <a:bodyPr wrap="none" rtlCol="0">
            <a:spAutoFit/>
          </a:bodyPr>
          <a:lstStyle/>
          <a:p>
            <a:r>
              <a:rPr kumimoji="1" lang="ja-JP" altLang="en-US"/>
              <a:t>複雑なモデル</a:t>
            </a:r>
            <a:r>
              <a:rPr kumimoji="1" lang="en-US" altLang="ja-JP" dirty="0"/>
              <a:t>(</a:t>
            </a:r>
            <a:r>
              <a:rPr kumimoji="1" lang="ja-JP" altLang="en-US"/>
              <a:t>曲線</a:t>
            </a:r>
            <a:r>
              <a:rPr kumimoji="1" lang="en-US" altLang="ja-JP" dirty="0"/>
              <a:t>)</a:t>
            </a:r>
            <a:r>
              <a:rPr kumimoji="1" lang="ja-JP" altLang="en-US"/>
              <a:t>を，簡単なモデル</a:t>
            </a:r>
            <a:r>
              <a:rPr kumimoji="1" lang="en-US" altLang="ja-JP" dirty="0"/>
              <a:t>(</a:t>
            </a:r>
            <a:r>
              <a:rPr kumimoji="1" lang="ja-JP" altLang="en-US"/>
              <a:t>直線</a:t>
            </a:r>
            <a:r>
              <a:rPr kumimoji="1" lang="en-US" altLang="ja-JP" dirty="0"/>
              <a:t>)</a:t>
            </a:r>
            <a:r>
              <a:rPr kumimoji="1" lang="ja-JP" altLang="en-US"/>
              <a:t>に置き換える</a:t>
            </a:r>
          </a:p>
        </p:txBody>
      </p:sp>
      <p:sp>
        <p:nvSpPr>
          <p:cNvPr id="19" name="テキスト ボックス 18">
            <a:extLst>
              <a:ext uri="{FF2B5EF4-FFF2-40B4-BE49-F238E27FC236}">
                <a16:creationId xmlns:a16="http://schemas.microsoft.com/office/drawing/2014/main" id="{A4DB578D-A3C5-4912-64CE-E1DB6ABAC1B3}"/>
              </a:ext>
            </a:extLst>
          </p:cNvPr>
          <p:cNvSpPr txBox="1"/>
          <p:nvPr/>
        </p:nvSpPr>
        <p:spPr>
          <a:xfrm>
            <a:off x="6267236" y="6311384"/>
            <a:ext cx="1479892" cy="369332"/>
          </a:xfrm>
          <a:prstGeom prst="rect">
            <a:avLst/>
          </a:prstGeom>
          <a:noFill/>
        </p:spPr>
        <p:txBody>
          <a:bodyPr wrap="none" rtlCol="0">
            <a:spAutoFit/>
          </a:bodyPr>
          <a:lstStyle/>
          <a:p>
            <a:r>
              <a:rPr kumimoji="1" lang="en-US" altLang="ja-JP" dirty="0"/>
              <a:t>(</a:t>
            </a:r>
            <a:r>
              <a:rPr kumimoji="1" lang="ja-JP" altLang="en-US"/>
              <a:t>サロゲート</a:t>
            </a:r>
            <a:r>
              <a:rPr kumimoji="1" lang="en-US" altLang="ja-JP" dirty="0"/>
              <a:t>)</a:t>
            </a:r>
            <a:endParaRPr kumimoji="1" lang="ja-JP" altLang="en-US"/>
          </a:p>
        </p:txBody>
      </p:sp>
    </p:spTree>
    <p:extLst>
      <p:ext uri="{BB962C8B-B14F-4D97-AF65-F5344CB8AC3E}">
        <p14:creationId xmlns:p14="http://schemas.microsoft.com/office/powerpoint/2010/main" val="19855311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CFCFD"/>
        </a:solidFill>
        <a:effectLst/>
      </p:bgPr>
    </p:bg>
    <p:spTree>
      <p:nvGrpSpPr>
        <p:cNvPr id="1" name=""/>
        <p:cNvGrpSpPr/>
        <p:nvPr/>
      </p:nvGrpSpPr>
      <p:grpSpPr>
        <a:xfrm>
          <a:off x="0" y="0"/>
          <a:ext cx="0" cy="0"/>
          <a:chOff x="0" y="0"/>
          <a:chExt cx="0" cy="0"/>
        </a:xfrm>
      </p:grpSpPr>
      <p:sp>
        <p:nvSpPr>
          <p:cNvPr id="36" name="正方形/長方形 35">
            <a:extLst>
              <a:ext uri="{FF2B5EF4-FFF2-40B4-BE49-F238E27FC236}">
                <a16:creationId xmlns:a16="http://schemas.microsoft.com/office/drawing/2014/main" id="{E9A51388-D423-448C-A9E4-BF0E5CC22FD1}"/>
              </a:ext>
            </a:extLst>
          </p:cNvPr>
          <p:cNvSpPr>
            <a:spLocks noGrp="1"/>
          </p:cNvSpPr>
          <p:nvPr/>
        </p:nvSpPr>
        <p:spPr>
          <a:xfrm>
            <a:off x="514350" y="419100"/>
            <a:ext cx="114300" cy="457200"/>
          </a:xfrm>
          <a:prstGeom prst="rect">
            <a:avLst/>
          </a:prstGeom>
          <a:solidFill>
            <a:srgbClr val="2F6BDE"/>
          </a:solidFill>
          <a:ln w="0">
            <a:solidFill>
              <a:srgbClr val="2F6BDE"/>
            </a:solidFill>
            <a:prstDash val="solid"/>
          </a:ln>
        </p:spPr>
        <p:txBody>
          <a:bodyPr/>
          <a:lstStyle/>
          <a:p>
            <a:endParaRPr lang="ja-JP" noProof="1"/>
          </a:p>
        </p:txBody>
      </p:sp>
      <p:sp>
        <p:nvSpPr>
          <p:cNvPr id="2" name="slide-4-title">
            <a:extLst>
              <a:ext uri="{FF2B5EF4-FFF2-40B4-BE49-F238E27FC236}">
                <a16:creationId xmlns:a16="http://schemas.microsoft.com/office/drawing/2014/main" id="{B88F81F8-218A-4596-BD6E-9744D41A4A20}"/>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buNone/>
              <a:defRPr sz="2850" b="1">
                <a:solidFill>
                  <a:srgbClr val="12233A"/>
                </a:solidFill>
                <a:latin typeface="Hiragino Sans"/>
                <a:ea typeface="Hiragino Sans"/>
                <a:cs typeface="Hiragino Sans"/>
              </a:defRPr>
            </a:pPr>
            <a:r>
              <a:rPr lang="ja-JP" sz="2850" b="1" noProof="1">
                <a:solidFill>
                  <a:srgbClr val="12233A"/>
                </a:solidFill>
                <a:latin typeface="Hiragino Sans"/>
                <a:ea typeface="Hiragino Sans"/>
                <a:cs typeface="Hiragino Sans"/>
              </a:rPr>
              <a:t>LIMEのアルゴリズム</a:t>
            </a:r>
          </a:p>
        </p:txBody>
      </p:sp>
      <p:sp>
        <p:nvSpPr>
          <p:cNvPr id="9" name="正方形/長方形 8">
            <a:extLst>
              <a:ext uri="{FF2B5EF4-FFF2-40B4-BE49-F238E27FC236}">
                <a16:creationId xmlns:a16="http://schemas.microsoft.com/office/drawing/2014/main" id="{803CF79B-E99E-4B55-AE67-BA4C56704DB4}"/>
              </a:ext>
            </a:extLst>
          </p:cNvPr>
          <p:cNvSpPr>
            <a:spLocks noGrp="1"/>
          </p:cNvSpPr>
          <p:nvPr/>
        </p:nvSpPr>
        <p:spPr>
          <a:xfrm>
            <a:off x="514350" y="1600200"/>
            <a:ext cx="1952625" cy="1381125"/>
          </a:xfrm>
          <a:prstGeom prst="rect">
            <a:avLst/>
          </a:prstGeom>
          <a:solidFill>
            <a:srgbClr val="F3F4F6"/>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p>
        </p:txBody>
      </p:sp>
      <p:sp>
        <p:nvSpPr>
          <p:cNvPr id="10" name="正方形/長方形 9">
            <a:extLst>
              <a:ext uri="{FF2B5EF4-FFF2-40B4-BE49-F238E27FC236}">
                <a16:creationId xmlns:a16="http://schemas.microsoft.com/office/drawing/2014/main" id="{3C100994-F9AB-40C7-899C-AACB47AB9CCC}"/>
              </a:ext>
            </a:extLst>
          </p:cNvPr>
          <p:cNvSpPr>
            <a:spLocks noGrp="1"/>
          </p:cNvSpPr>
          <p:nvPr/>
        </p:nvSpPr>
        <p:spPr>
          <a:xfrm>
            <a:off x="685800" y="1752600"/>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rgbClr val="2563EB"/>
                </a:solidFill>
                <a:latin typeface="Hiragino Sans"/>
                <a:ea typeface="Hiragino Sans"/>
                <a:cs typeface="Hiragino Sans"/>
              </a:rPr>
              <a:t>01</a:t>
            </a:r>
          </a:p>
        </p:txBody>
      </p:sp>
      <p:sp>
        <p:nvSpPr>
          <p:cNvPr id="11" name="正方形/長方形 10">
            <a:extLst>
              <a:ext uri="{FF2B5EF4-FFF2-40B4-BE49-F238E27FC236}">
                <a16:creationId xmlns:a16="http://schemas.microsoft.com/office/drawing/2014/main" id="{36A6719D-46B1-4863-B69E-E4D5F12A458D}"/>
              </a:ext>
            </a:extLst>
          </p:cNvPr>
          <p:cNvSpPr>
            <a:spLocks noGrp="1"/>
          </p:cNvSpPr>
          <p:nvPr/>
        </p:nvSpPr>
        <p:spPr>
          <a:xfrm>
            <a:off x="685800" y="2114550"/>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rgbClr val="111827"/>
                </a:solidFill>
                <a:latin typeface="Hiragino Sans"/>
                <a:ea typeface="Hiragino Sans"/>
                <a:cs typeface="Hiragino Sans"/>
              </a:rPr>
              <a:t>説明対象を</a:t>
            </a:r>
          </a:p>
          <a:p>
            <a:pPr algn="ctr">
              <a:buNone/>
              <a:defRPr sz="1500" b="1">
                <a:solidFill>
                  <a:srgbClr val="111827"/>
                </a:solidFill>
                <a:latin typeface="Hiragino Sans"/>
                <a:ea typeface="Hiragino Sans"/>
                <a:cs typeface="Hiragino Sans"/>
              </a:defRPr>
            </a:pPr>
            <a:r>
              <a:rPr lang="ja-JP" sz="1600" b="1" noProof="1">
                <a:solidFill>
                  <a:srgbClr val="111827"/>
                </a:solidFill>
                <a:latin typeface="Hiragino Sans"/>
                <a:ea typeface="Hiragino Sans"/>
                <a:cs typeface="Hiragino Sans"/>
              </a:rPr>
              <a:t>1つ選ぶ</a:t>
            </a:r>
          </a:p>
        </p:txBody>
      </p:sp>
      <p:sp>
        <p:nvSpPr>
          <p:cNvPr id="12" name="正方形/長方形 11">
            <a:extLst>
              <a:ext uri="{FF2B5EF4-FFF2-40B4-BE49-F238E27FC236}">
                <a16:creationId xmlns:a16="http://schemas.microsoft.com/office/drawing/2014/main" id="{C839CFBB-15B4-41BC-9B25-7A14C64A2BEC}"/>
              </a:ext>
            </a:extLst>
          </p:cNvPr>
          <p:cNvSpPr>
            <a:spLocks noGrp="1"/>
          </p:cNvSpPr>
          <p:nvPr/>
        </p:nvSpPr>
        <p:spPr>
          <a:xfrm>
            <a:off x="2800350" y="1600200"/>
            <a:ext cx="1952625" cy="1381125"/>
          </a:xfrm>
          <a:prstGeom prst="rect">
            <a:avLst/>
          </a:prstGeom>
          <a:solidFill>
            <a:srgbClr val="F3F4F6"/>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p>
        </p:txBody>
      </p:sp>
      <p:sp>
        <p:nvSpPr>
          <p:cNvPr id="13" name="正方形/長方形 12">
            <a:extLst>
              <a:ext uri="{FF2B5EF4-FFF2-40B4-BE49-F238E27FC236}">
                <a16:creationId xmlns:a16="http://schemas.microsoft.com/office/drawing/2014/main" id="{0E56D9E4-5496-473E-BB29-D0567A20BC36}"/>
              </a:ext>
            </a:extLst>
          </p:cNvPr>
          <p:cNvSpPr>
            <a:spLocks noGrp="1"/>
          </p:cNvSpPr>
          <p:nvPr/>
        </p:nvSpPr>
        <p:spPr>
          <a:xfrm>
            <a:off x="2971800" y="1752600"/>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rgbClr val="2563EB"/>
                </a:solidFill>
                <a:latin typeface="Hiragino Sans"/>
                <a:ea typeface="Hiragino Sans"/>
                <a:cs typeface="Hiragino Sans"/>
              </a:rPr>
              <a:t>02</a:t>
            </a:r>
          </a:p>
        </p:txBody>
      </p:sp>
      <p:sp>
        <p:nvSpPr>
          <p:cNvPr id="14" name="正方形/長方形 13">
            <a:extLst>
              <a:ext uri="{FF2B5EF4-FFF2-40B4-BE49-F238E27FC236}">
                <a16:creationId xmlns:a16="http://schemas.microsoft.com/office/drawing/2014/main" id="{79C05803-1C44-4C10-AB37-D683DA88F741}"/>
              </a:ext>
            </a:extLst>
          </p:cNvPr>
          <p:cNvSpPr>
            <a:spLocks noGrp="1"/>
          </p:cNvSpPr>
          <p:nvPr/>
        </p:nvSpPr>
        <p:spPr>
          <a:xfrm>
            <a:off x="2971800" y="2114550"/>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rgbClr val="111827"/>
                </a:solidFill>
                <a:latin typeface="Hiragino Sans"/>
                <a:ea typeface="Hiragino Sans"/>
                <a:cs typeface="Hiragino Sans"/>
              </a:rPr>
              <a:t>近傍サンプルを</a:t>
            </a:r>
          </a:p>
          <a:p>
            <a:pPr algn="ctr">
              <a:buNone/>
              <a:defRPr sz="1500" b="1">
                <a:solidFill>
                  <a:srgbClr val="111827"/>
                </a:solidFill>
                <a:latin typeface="Hiragino Sans"/>
                <a:ea typeface="Hiragino Sans"/>
                <a:cs typeface="Hiragino Sans"/>
              </a:defRPr>
            </a:pPr>
            <a:r>
              <a:rPr lang="ja-JP" sz="1600" b="1" noProof="1">
                <a:solidFill>
                  <a:srgbClr val="111827"/>
                </a:solidFill>
                <a:latin typeface="Hiragino Sans"/>
                <a:ea typeface="Hiragino Sans"/>
                <a:cs typeface="Hiragino Sans"/>
              </a:rPr>
              <a:t>多数作る</a:t>
            </a:r>
          </a:p>
        </p:txBody>
      </p:sp>
      <p:sp>
        <p:nvSpPr>
          <p:cNvPr id="15" name="正方形/長方形 14">
            <a:extLst>
              <a:ext uri="{FF2B5EF4-FFF2-40B4-BE49-F238E27FC236}">
                <a16:creationId xmlns:a16="http://schemas.microsoft.com/office/drawing/2014/main" id="{1A9597DE-D3C9-49E6-B9E8-9CF1432A6438}"/>
              </a:ext>
            </a:extLst>
          </p:cNvPr>
          <p:cNvSpPr>
            <a:spLocks noGrp="1"/>
          </p:cNvSpPr>
          <p:nvPr/>
        </p:nvSpPr>
        <p:spPr>
          <a:xfrm>
            <a:off x="5086350" y="1600200"/>
            <a:ext cx="1952625" cy="1381125"/>
          </a:xfrm>
          <a:prstGeom prst="rect">
            <a:avLst/>
          </a:prstGeom>
          <a:solidFill>
            <a:srgbClr val="F3F4F6"/>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p>
        </p:txBody>
      </p:sp>
      <p:sp>
        <p:nvSpPr>
          <p:cNvPr id="16" name="正方形/長方形 15">
            <a:extLst>
              <a:ext uri="{FF2B5EF4-FFF2-40B4-BE49-F238E27FC236}">
                <a16:creationId xmlns:a16="http://schemas.microsoft.com/office/drawing/2014/main" id="{707F0283-81BB-4D64-837A-AE24550C7FDC}"/>
              </a:ext>
            </a:extLst>
          </p:cNvPr>
          <p:cNvSpPr>
            <a:spLocks noGrp="1"/>
          </p:cNvSpPr>
          <p:nvPr/>
        </p:nvSpPr>
        <p:spPr>
          <a:xfrm>
            <a:off x="5257800" y="1752600"/>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rgbClr val="2563EB"/>
                </a:solidFill>
                <a:latin typeface="Hiragino Sans"/>
                <a:ea typeface="Hiragino Sans"/>
                <a:cs typeface="Hiragino Sans"/>
              </a:rPr>
              <a:t>03</a:t>
            </a:r>
          </a:p>
        </p:txBody>
      </p:sp>
      <p:sp>
        <p:nvSpPr>
          <p:cNvPr id="17" name="正方形/長方形 16">
            <a:extLst>
              <a:ext uri="{FF2B5EF4-FFF2-40B4-BE49-F238E27FC236}">
                <a16:creationId xmlns:a16="http://schemas.microsoft.com/office/drawing/2014/main" id="{0BE24583-8266-43EE-9569-8E14A7E8F2DE}"/>
              </a:ext>
            </a:extLst>
          </p:cNvPr>
          <p:cNvSpPr>
            <a:spLocks noGrp="1"/>
          </p:cNvSpPr>
          <p:nvPr/>
        </p:nvSpPr>
        <p:spPr>
          <a:xfrm>
            <a:off x="5172074" y="2134281"/>
            <a:ext cx="178117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rgbClr val="111827"/>
                </a:solidFill>
                <a:latin typeface="Hiragino Sans"/>
                <a:ea typeface="Hiragino Sans"/>
                <a:cs typeface="Hiragino Sans"/>
              </a:rPr>
              <a:t>ブラックボックスの</a:t>
            </a:r>
          </a:p>
          <a:p>
            <a:pPr algn="ctr">
              <a:buNone/>
              <a:defRPr sz="1500" b="1">
                <a:solidFill>
                  <a:srgbClr val="111827"/>
                </a:solidFill>
                <a:latin typeface="Hiragino Sans"/>
                <a:ea typeface="Hiragino Sans"/>
                <a:cs typeface="Hiragino Sans"/>
              </a:defRPr>
            </a:pPr>
            <a:r>
              <a:rPr lang="ja-JP" sz="1600" b="1" noProof="1">
                <a:solidFill>
                  <a:srgbClr val="111827"/>
                </a:solidFill>
                <a:latin typeface="Hiragino Sans"/>
                <a:ea typeface="Hiragino Sans"/>
                <a:cs typeface="Hiragino Sans"/>
              </a:rPr>
              <a:t>予測を得る</a:t>
            </a:r>
          </a:p>
        </p:txBody>
      </p:sp>
      <p:sp>
        <p:nvSpPr>
          <p:cNvPr id="18" name="正方形/長方形 17">
            <a:extLst>
              <a:ext uri="{FF2B5EF4-FFF2-40B4-BE49-F238E27FC236}">
                <a16:creationId xmlns:a16="http://schemas.microsoft.com/office/drawing/2014/main" id="{B87BCA31-032B-40B5-B864-3F5D99033DC7}"/>
              </a:ext>
            </a:extLst>
          </p:cNvPr>
          <p:cNvSpPr>
            <a:spLocks noGrp="1"/>
          </p:cNvSpPr>
          <p:nvPr/>
        </p:nvSpPr>
        <p:spPr>
          <a:xfrm>
            <a:off x="7372350" y="1600200"/>
            <a:ext cx="1952625" cy="1381125"/>
          </a:xfrm>
          <a:prstGeom prst="rect">
            <a:avLst/>
          </a:prstGeom>
          <a:solidFill>
            <a:srgbClr val="F3F4F6"/>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p>
        </p:txBody>
      </p:sp>
      <p:sp>
        <p:nvSpPr>
          <p:cNvPr id="19" name="正方形/長方形 18">
            <a:extLst>
              <a:ext uri="{FF2B5EF4-FFF2-40B4-BE49-F238E27FC236}">
                <a16:creationId xmlns:a16="http://schemas.microsoft.com/office/drawing/2014/main" id="{0E68EC00-BE7D-427A-AECF-BDECEA00EA02}"/>
              </a:ext>
            </a:extLst>
          </p:cNvPr>
          <p:cNvSpPr>
            <a:spLocks noGrp="1"/>
          </p:cNvSpPr>
          <p:nvPr/>
        </p:nvSpPr>
        <p:spPr>
          <a:xfrm>
            <a:off x="7543800" y="1752600"/>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rgbClr val="2563EB"/>
                </a:solidFill>
                <a:latin typeface="Hiragino Sans"/>
                <a:ea typeface="Hiragino Sans"/>
                <a:cs typeface="Hiragino Sans"/>
              </a:rPr>
              <a:t>04</a:t>
            </a:r>
          </a:p>
        </p:txBody>
      </p:sp>
      <p:sp>
        <p:nvSpPr>
          <p:cNvPr id="20" name="正方形/長方形 19">
            <a:extLst>
              <a:ext uri="{FF2B5EF4-FFF2-40B4-BE49-F238E27FC236}">
                <a16:creationId xmlns:a16="http://schemas.microsoft.com/office/drawing/2014/main" id="{99234844-DF1C-46D6-B875-BEDA4551C528}"/>
              </a:ext>
            </a:extLst>
          </p:cNvPr>
          <p:cNvSpPr>
            <a:spLocks noGrp="1"/>
          </p:cNvSpPr>
          <p:nvPr/>
        </p:nvSpPr>
        <p:spPr>
          <a:xfrm>
            <a:off x="7543800" y="2114550"/>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rgbClr val="111827"/>
                </a:solidFill>
                <a:latin typeface="Hiragino Sans"/>
                <a:ea typeface="Hiragino Sans"/>
                <a:cs typeface="Hiragino Sans"/>
              </a:rPr>
              <a:t>近いサンプルを</a:t>
            </a:r>
          </a:p>
          <a:p>
            <a:pPr algn="ctr">
              <a:buNone/>
              <a:defRPr sz="1500" b="1">
                <a:solidFill>
                  <a:srgbClr val="111827"/>
                </a:solidFill>
                <a:latin typeface="Hiragino Sans"/>
                <a:ea typeface="Hiragino Sans"/>
                <a:cs typeface="Hiragino Sans"/>
              </a:defRPr>
            </a:pPr>
            <a:r>
              <a:rPr lang="ja-JP" sz="1600" b="1" noProof="1">
                <a:solidFill>
                  <a:srgbClr val="111827"/>
                </a:solidFill>
                <a:latin typeface="Hiragino Sans"/>
                <a:ea typeface="Hiragino Sans"/>
                <a:cs typeface="Hiragino Sans"/>
              </a:rPr>
              <a:t>強く重み付け</a:t>
            </a:r>
          </a:p>
        </p:txBody>
      </p:sp>
      <p:sp>
        <p:nvSpPr>
          <p:cNvPr id="21" name="正方形/長方形 20">
            <a:extLst>
              <a:ext uri="{FF2B5EF4-FFF2-40B4-BE49-F238E27FC236}">
                <a16:creationId xmlns:a16="http://schemas.microsoft.com/office/drawing/2014/main" id="{1D073FBD-B191-4B1C-A83B-0FF5ED0650F7}"/>
              </a:ext>
            </a:extLst>
          </p:cNvPr>
          <p:cNvSpPr>
            <a:spLocks noGrp="1"/>
          </p:cNvSpPr>
          <p:nvPr/>
        </p:nvSpPr>
        <p:spPr>
          <a:xfrm>
            <a:off x="9658350" y="1600200"/>
            <a:ext cx="1952625" cy="1381125"/>
          </a:xfrm>
          <a:prstGeom prst="rect">
            <a:avLst/>
          </a:prstGeom>
          <a:solidFill>
            <a:srgbClr val="D1FAE5"/>
          </a:solidFill>
          <a:ln w="19050">
            <a:solidFill>
              <a:srgbClr val="10B981"/>
            </a:solidFill>
            <a:prstDash val="solid"/>
          </a:ln>
          <a:effectLst>
            <a:outerShdw blurRad="50800" dist="38100" dir="2700000" algn="tl" rotWithShape="0">
              <a:prstClr val="black">
                <a:alpha val="40000"/>
              </a:prstClr>
            </a:outerShdw>
          </a:effectLst>
        </p:spPr>
        <p:txBody>
          <a:bodyPr/>
          <a:lstStyle/>
          <a:p>
            <a:endParaRPr lang="ja-JP" noProof="1"/>
          </a:p>
        </p:txBody>
      </p:sp>
      <p:sp>
        <p:nvSpPr>
          <p:cNvPr id="22" name="正方形/長方形 21">
            <a:extLst>
              <a:ext uri="{FF2B5EF4-FFF2-40B4-BE49-F238E27FC236}">
                <a16:creationId xmlns:a16="http://schemas.microsoft.com/office/drawing/2014/main" id="{96538127-B9A1-44C0-B12F-9AB935469740}"/>
              </a:ext>
            </a:extLst>
          </p:cNvPr>
          <p:cNvSpPr>
            <a:spLocks noGrp="1"/>
          </p:cNvSpPr>
          <p:nvPr/>
        </p:nvSpPr>
        <p:spPr>
          <a:xfrm>
            <a:off x="9829800" y="1752600"/>
            <a:ext cx="476250" cy="247650"/>
          </a:xfrm>
          <a:prstGeom prst="rect">
            <a:avLst/>
          </a:prstGeom>
          <a:noFill/>
          <a:ln w="0">
            <a:noFill/>
            <a:prstDash val="solid"/>
          </a:ln>
        </p:spPr>
        <p:txBody>
          <a:bodyPr lIns="0" tIns="0" rIns="0" bIns="0" anchor="t">
            <a:noAutofit/>
          </a:bodyPr>
          <a:lstStyle/>
          <a:p>
            <a:pPr algn="l">
              <a:buNone/>
              <a:defRPr sz="1275" b="1">
                <a:solidFill>
                  <a:srgbClr val="10B981"/>
                </a:solidFill>
                <a:latin typeface="Hiragino Sans"/>
                <a:ea typeface="Hiragino Sans"/>
                <a:cs typeface="Hiragino Sans"/>
              </a:defRPr>
            </a:pPr>
            <a:r>
              <a:rPr lang="ja-JP" sz="1600" b="1" noProof="1">
                <a:solidFill>
                  <a:srgbClr val="10B981"/>
                </a:solidFill>
                <a:latin typeface="Hiragino Sans"/>
                <a:ea typeface="Hiragino Sans"/>
                <a:cs typeface="Hiragino Sans"/>
              </a:rPr>
              <a:t>05</a:t>
            </a:r>
          </a:p>
        </p:txBody>
      </p:sp>
      <p:sp>
        <p:nvSpPr>
          <p:cNvPr id="23" name="正方形/長方形 22">
            <a:extLst>
              <a:ext uri="{FF2B5EF4-FFF2-40B4-BE49-F238E27FC236}">
                <a16:creationId xmlns:a16="http://schemas.microsoft.com/office/drawing/2014/main" id="{5C38DA0D-55F7-486D-823A-59D68EB35847}"/>
              </a:ext>
            </a:extLst>
          </p:cNvPr>
          <p:cNvSpPr>
            <a:spLocks noGrp="1"/>
          </p:cNvSpPr>
          <p:nvPr/>
        </p:nvSpPr>
        <p:spPr>
          <a:xfrm>
            <a:off x="9740154" y="2114550"/>
            <a:ext cx="178117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rgbClr val="111827"/>
                </a:solidFill>
                <a:latin typeface="Hiragino Sans"/>
                <a:ea typeface="Hiragino Sans"/>
                <a:cs typeface="Hiragino Sans"/>
              </a:rPr>
              <a:t>単純な局所モデルを</a:t>
            </a:r>
          </a:p>
          <a:p>
            <a:pPr algn="ctr">
              <a:buNone/>
              <a:defRPr sz="1500" b="1">
                <a:solidFill>
                  <a:srgbClr val="111827"/>
                </a:solidFill>
                <a:latin typeface="Hiragino Sans"/>
                <a:ea typeface="Hiragino Sans"/>
                <a:cs typeface="Hiragino Sans"/>
              </a:defRPr>
            </a:pPr>
            <a:r>
              <a:rPr lang="ja-JP" sz="1600" b="1" noProof="1">
                <a:solidFill>
                  <a:srgbClr val="111827"/>
                </a:solidFill>
                <a:latin typeface="Hiragino Sans"/>
                <a:ea typeface="Hiragino Sans"/>
                <a:cs typeface="Hiragino Sans"/>
              </a:rPr>
              <a:t>学習する</a:t>
            </a:r>
          </a:p>
        </p:txBody>
      </p:sp>
      <p:cxnSp>
        <p:nvCxnSpPr>
          <p:cNvPr id="107" name="直線矢印コネクタ 58"/>
          <p:cNvCxnSpPr/>
          <p:nvPr/>
        </p:nvCxnSpPr>
        <p:spPr>
          <a:xfrm>
            <a:off x="523875" y="3362325"/>
            <a:ext cx="11049000" cy="0"/>
          </a:xfrm>
          <a:prstGeom prst="straightConnector1">
            <a:avLst/>
          </a:prstGeom>
          <a:ln w="19050">
            <a:solidFill>
              <a:srgbClr val="CBD5E1"/>
            </a:solidFill>
            <a:prstDash val="solid"/>
          </a:ln>
        </p:spPr>
      </p:cxnSp>
      <p:sp>
        <p:nvSpPr>
          <p:cNvPr id="25" name="正方形/長方形 24">
            <a:extLst>
              <a:ext uri="{FF2B5EF4-FFF2-40B4-BE49-F238E27FC236}">
                <a16:creationId xmlns:a16="http://schemas.microsoft.com/office/drawing/2014/main" id="{F978DE0E-8795-4644-A05E-64B77F5DF41C}"/>
              </a:ext>
            </a:extLst>
          </p:cNvPr>
          <p:cNvSpPr>
            <a:spLocks noGrp="1"/>
          </p:cNvSpPr>
          <p:nvPr/>
        </p:nvSpPr>
        <p:spPr>
          <a:xfrm>
            <a:off x="666750" y="3667125"/>
            <a:ext cx="2476500" cy="342900"/>
          </a:xfrm>
          <a:prstGeom prst="rect">
            <a:avLst/>
          </a:prstGeom>
          <a:noFill/>
          <a:ln w="0">
            <a:noFill/>
            <a:prstDash val="solid"/>
          </a:ln>
        </p:spPr>
        <p:txBody>
          <a:bodyPr lIns="0" tIns="0" rIns="0" bIns="0" anchor="t">
            <a:noAutofit/>
          </a:bodyPr>
          <a:lstStyle/>
          <a:p>
            <a:pPr algn="l">
              <a:buNone/>
              <a:defRPr sz="1800" b="1">
                <a:solidFill>
                  <a:srgbClr val="2563EB"/>
                </a:solidFill>
                <a:latin typeface="Hiragino Sans"/>
                <a:ea typeface="Hiragino Sans"/>
                <a:cs typeface="Hiragino Sans"/>
              </a:defRPr>
            </a:pPr>
            <a:r>
              <a:rPr lang="ja-JP" sz="1800" b="1" noProof="1">
                <a:solidFill>
                  <a:srgbClr val="2563EB"/>
                </a:solidFill>
                <a:latin typeface="Hiragino Sans"/>
                <a:ea typeface="Hiragino Sans"/>
                <a:cs typeface="Hiragino Sans"/>
              </a:rPr>
              <a:t>LIMEの目的関数</a:t>
            </a:r>
          </a:p>
        </p:txBody>
      </p:sp>
      <p:sp>
        <p:nvSpPr>
          <p:cNvPr id="30" name="正方形/長方形 29">
            <a:extLst>
              <a:ext uri="{FF2B5EF4-FFF2-40B4-BE49-F238E27FC236}">
                <a16:creationId xmlns:a16="http://schemas.microsoft.com/office/drawing/2014/main" id="{ADC570E3-8068-49BC-8287-8DBD23FB616F}"/>
              </a:ext>
            </a:extLst>
          </p:cNvPr>
          <p:cNvSpPr>
            <a:spLocks noGrp="1"/>
          </p:cNvSpPr>
          <p:nvPr/>
        </p:nvSpPr>
        <p:spPr>
          <a:xfrm>
            <a:off x="1846729" y="5048250"/>
            <a:ext cx="3384000" cy="1236009"/>
          </a:xfrm>
          <a:prstGeom prst="rect">
            <a:avLst/>
          </a:prstGeom>
          <a:noFill/>
          <a:ln w="41275">
            <a:solidFill>
              <a:srgbClr val="2563EB"/>
            </a:solidFill>
            <a:prstDash val="solid"/>
            <a:bevel/>
          </a:ln>
          <a:effectLst>
            <a:outerShdw blurRad="63500" sx="102000" sy="102000" algn="ctr" rotWithShape="0">
              <a:prstClr val="black">
                <a:alpha val="40000"/>
              </a:prstClr>
            </a:outerShdw>
          </a:effectLst>
        </p:spPr>
        <p:txBody>
          <a:bodyPr/>
          <a:lstStyle/>
          <a:p>
            <a:endParaRPr lang="ja-JP" noProof="1"/>
          </a:p>
        </p:txBody>
      </p:sp>
      <mc:AlternateContent xmlns:mc="http://schemas.openxmlformats.org/markup-compatibility/2006" xmlns:a14="http://schemas.microsoft.com/office/drawing/2010/main">
        <mc:Choice Requires="a14">
          <p:sp>
            <p:nvSpPr>
              <p:cNvPr id="31" name="正方形/長方形 30">
                <a:extLst>
                  <a:ext uri="{FF2B5EF4-FFF2-40B4-BE49-F238E27FC236}">
                    <a16:creationId xmlns:a16="http://schemas.microsoft.com/office/drawing/2014/main" id="{44DF11AC-6EF3-4048-8180-BFB46459E624}"/>
                  </a:ext>
                </a:extLst>
              </p:cNvPr>
              <p:cNvSpPr>
                <a:spLocks noGrp="1"/>
              </p:cNvSpPr>
              <p:nvPr/>
            </p:nvSpPr>
            <p:spPr>
              <a:xfrm>
                <a:off x="1714500" y="5153025"/>
                <a:ext cx="3619500" cy="533400"/>
              </a:xfrm>
              <a:prstGeom prst="rect">
                <a:avLst/>
              </a:prstGeom>
              <a:noFill/>
              <a:ln w="0">
                <a:noFill/>
                <a:prstDash val="solid"/>
              </a:ln>
            </p:spPr>
            <p:txBody>
              <a:bodyPr lIns="0" tIns="0" rIns="0" bIns="0" anchor="t">
                <a:noAutofit/>
              </a:bodyPr>
              <a:lstStyle/>
              <a:p>
                <a:pPr algn="ctr">
                  <a:buNone/>
                  <a:defRPr sz="1575" b="1">
                    <a:solidFill>
                      <a:srgbClr val="2563EB"/>
                    </a:solidFill>
                    <a:latin typeface="Hiragino Sans"/>
                    <a:ea typeface="Hiragino Sans"/>
                    <a:cs typeface="Hiragino Sans"/>
                  </a:defRPr>
                </a:pPr>
                <a:br>
                  <a:rPr lang="ja-JP" sz="1575" b="1" noProof="1">
                    <a:solidFill>
                      <a:srgbClr val="2563EB"/>
                    </a:solidFill>
                    <a:latin typeface="Hiragino Sans"/>
                    <a:ea typeface="Hiragino Sans"/>
                    <a:cs typeface="Hiragino Sans"/>
                  </a:rPr>
                </a:br>
                <a:br>
                  <a:rPr lang="ja-JP" sz="1575" b="1" noProof="1">
                    <a:solidFill>
                      <a:srgbClr val="2563EB"/>
                    </a:solidFill>
                    <a:latin typeface="Hiragino Sans"/>
                    <a:ea typeface="Hiragino Sans"/>
                    <a:cs typeface="Hiragino Sans"/>
                  </a:rPr>
                </a:br>
                <a:r>
                  <a:rPr lang="ja-JP" sz="1575" b="1" noProof="1">
                    <a:solidFill>
                      <a:srgbClr val="2563EB"/>
                    </a:solidFill>
                    <a:latin typeface="Hiragino Sans"/>
                    <a:ea typeface="Hiragino Sans"/>
                    <a:cs typeface="Hiragino Sans"/>
                  </a:rPr>
                  <a:t>対象点の近くで予測を再現</a:t>
                </a:r>
                <a:br>
                  <a:rPr lang="ja-JP" sz="1575" b="1" noProof="1">
                    <a:solidFill>
                      <a:srgbClr val="2563EB"/>
                    </a:solidFill>
                    <a:latin typeface="Hiragino Sans"/>
                    <a:ea typeface="Hiragino Sans"/>
                    <a:cs typeface="Hiragino Sans"/>
                  </a:rPr>
                </a:br>
                <a:r>
                  <a:rPr lang="ja-JP" sz="1575" b="1" noProof="1">
                    <a:solidFill>
                      <a:srgbClr val="2563EB"/>
                    </a:solidFill>
                    <a:latin typeface="Hiragino Sans"/>
                    <a:ea typeface="Hiragino Sans"/>
                    <a:cs typeface="Hiragino Sans"/>
                  </a:rPr>
                  <a:t>（元モデル </a:t>
                </a:r>
                <a14:m>
                  <m:oMath xmlns:m="http://schemas.openxmlformats.org/officeDocument/2006/math">
                    <m:r>
                      <a:rPr lang="ja-JP" sz="1575" b="1" i="1" noProof="1" dirty="0" smtClean="0">
                        <a:solidFill>
                          <a:srgbClr val="2563EB"/>
                        </a:solidFill>
                        <a:latin typeface="Cambria Math" panose="02040503050406030204" pitchFamily="18" charset="0"/>
                        <a:ea typeface="Hiragino Sans"/>
                        <a:cs typeface="Hiragino Sans"/>
                      </a:rPr>
                      <m:t>𝒇</m:t>
                    </m:r>
                  </m:oMath>
                </a14:m>
                <a:r>
                  <a:rPr lang="ja-JP" sz="1575" b="1" noProof="1">
                    <a:solidFill>
                      <a:srgbClr val="2563EB"/>
                    </a:solidFill>
                    <a:latin typeface="Hiragino Sans"/>
                    <a:ea typeface="Hiragino Sans"/>
                    <a:cs typeface="Hiragino Sans"/>
                  </a:rPr>
                  <a:t> と予測モデル </a:t>
                </a:r>
                <a14:m>
                  <m:oMath xmlns:m="http://schemas.openxmlformats.org/officeDocument/2006/math">
                    <m:r>
                      <a:rPr lang="ja-JP" sz="1575" b="1" i="1" noProof="1" dirty="0" smtClean="0">
                        <a:solidFill>
                          <a:srgbClr val="2563EB"/>
                        </a:solidFill>
                        <a:latin typeface="Cambria Math" panose="02040503050406030204" pitchFamily="18" charset="0"/>
                        <a:ea typeface="Hiragino Sans"/>
                        <a:cs typeface="Hiragino Sans"/>
                      </a:rPr>
                      <m:t>𝒈</m:t>
                    </m:r>
                  </m:oMath>
                </a14:m>
                <a:r>
                  <a:rPr lang="ja-JP" sz="1575" b="1" noProof="1">
                    <a:solidFill>
                      <a:srgbClr val="2563EB"/>
                    </a:solidFill>
                    <a:latin typeface="Hiragino Sans"/>
                    <a:ea typeface="Hiragino Sans"/>
                    <a:cs typeface="Hiragino Sans"/>
                  </a:rPr>
                  <a:t> の差）</a:t>
                </a:r>
              </a:p>
            </p:txBody>
          </p:sp>
        </mc:Choice>
        <mc:Fallback xmlns="">
          <p:sp>
            <p:nvSpPr>
              <p:cNvPr id="31" name="正方形/長方形 30">
                <a:extLst>
                  <a:ext uri="{FF2B5EF4-FFF2-40B4-BE49-F238E27FC236}">
                    <a16:creationId xmlns:a16="http://schemas.microsoft.com/office/drawing/2014/main" id="{44DF11AC-6EF3-4048-8180-BFB46459E624}"/>
                  </a:ext>
                </a:extLst>
              </p:cNvPr>
              <p:cNvSpPr>
                <a:spLocks noGrp="1" noRot="1" noChangeAspect="1" noMove="1" noResize="1" noEditPoints="1" noAdjustHandles="1" noChangeArrowheads="1" noChangeShapeType="1" noTextEdit="1"/>
              </p:cNvSpPr>
              <p:nvPr/>
            </p:nvSpPr>
            <p:spPr>
              <a:xfrm>
                <a:off x="1714500" y="5153025"/>
                <a:ext cx="3619500" cy="533400"/>
              </a:xfrm>
              <a:prstGeom prst="rect">
                <a:avLst/>
              </a:prstGeom>
              <a:blipFill>
                <a:blip r:embed="rId3"/>
                <a:stretch>
                  <a:fillRect b="-100000"/>
                </a:stretch>
              </a:blipFill>
              <a:ln w="0">
                <a:noFill/>
                <a:prstDash val="solid"/>
              </a:ln>
            </p:spPr>
            <p:txBody>
              <a:bodyPr/>
              <a:lstStyle/>
              <a:p>
                <a:r>
                  <a:rPr lang="ja-JP" altLang="en-US">
                    <a:noFill/>
                  </a:rPr>
                  <a:t> </a:t>
                </a:r>
              </a:p>
            </p:txBody>
          </p:sp>
        </mc:Fallback>
      </mc:AlternateContent>
      <p:sp>
        <p:nvSpPr>
          <p:cNvPr id="32" name="正方形/長方形 31">
            <a:extLst>
              <a:ext uri="{FF2B5EF4-FFF2-40B4-BE49-F238E27FC236}">
                <a16:creationId xmlns:a16="http://schemas.microsoft.com/office/drawing/2014/main" id="{B08EA841-27BB-487C-AD94-F0AB9A1BA6B1}"/>
              </a:ext>
            </a:extLst>
          </p:cNvPr>
          <p:cNvSpPr>
            <a:spLocks noGrp="1"/>
          </p:cNvSpPr>
          <p:nvPr/>
        </p:nvSpPr>
        <p:spPr>
          <a:xfrm>
            <a:off x="5779994" y="5519830"/>
            <a:ext cx="552450" cy="476250"/>
          </a:xfrm>
          <a:prstGeom prst="rect">
            <a:avLst/>
          </a:prstGeom>
          <a:noFill/>
          <a:ln w="0">
            <a:noFill/>
            <a:prstDash val="solid"/>
          </a:ln>
        </p:spPr>
        <p:txBody>
          <a:bodyPr lIns="0" tIns="0" rIns="0" bIns="0" anchor="t">
            <a:noAutofit/>
          </a:bodyPr>
          <a:lstStyle/>
          <a:p>
            <a:pPr algn="ctr">
              <a:buNone/>
              <a:defRPr sz="2400" b="1">
                <a:solidFill>
                  <a:srgbClr val="111827"/>
                </a:solidFill>
                <a:latin typeface="Hiragino Sans"/>
                <a:ea typeface="Hiragino Sans"/>
                <a:cs typeface="Hiragino Sans"/>
              </a:defRPr>
            </a:pPr>
            <a:r>
              <a:rPr lang="ja-JP" sz="2400" b="1" noProof="1">
                <a:solidFill>
                  <a:srgbClr val="111827"/>
                </a:solidFill>
                <a:latin typeface="Hiragino Sans"/>
                <a:ea typeface="Hiragino Sans"/>
                <a:cs typeface="Hiragino Sans"/>
              </a:rPr>
              <a:t>＋</a:t>
            </a:r>
          </a:p>
        </p:txBody>
      </p:sp>
      <p:sp>
        <p:nvSpPr>
          <p:cNvPr id="33" name="正方形/長方形 32">
            <a:extLst>
              <a:ext uri="{FF2B5EF4-FFF2-40B4-BE49-F238E27FC236}">
                <a16:creationId xmlns:a16="http://schemas.microsoft.com/office/drawing/2014/main" id="{BA684434-869B-46F4-9C4F-52D923F007E0}"/>
              </a:ext>
            </a:extLst>
          </p:cNvPr>
          <p:cNvSpPr>
            <a:spLocks noGrp="1"/>
          </p:cNvSpPr>
          <p:nvPr/>
        </p:nvSpPr>
        <p:spPr>
          <a:xfrm>
            <a:off x="6814293" y="5048250"/>
            <a:ext cx="3487271" cy="1236010"/>
          </a:xfrm>
          <a:prstGeom prst="rect">
            <a:avLst/>
          </a:prstGeom>
          <a:noFill/>
          <a:ln w="41275">
            <a:solidFill>
              <a:srgbClr val="10B981"/>
            </a:solidFill>
            <a:prstDash val="solid"/>
            <a:bevel/>
          </a:ln>
          <a:effectLst>
            <a:outerShdw blurRad="63500" sx="102000" sy="102000" algn="ctr" rotWithShape="0">
              <a:prstClr val="black">
                <a:alpha val="40000"/>
              </a:prstClr>
            </a:outerShdw>
          </a:effectLst>
        </p:spPr>
        <p:txBody>
          <a:bodyPr/>
          <a:lstStyle/>
          <a:p>
            <a:endParaRPr lang="ja-JP" noProof="1"/>
          </a:p>
        </p:txBody>
      </p:sp>
      <p:sp>
        <p:nvSpPr>
          <p:cNvPr id="34" name="正方形/長方形 33">
            <a:extLst>
              <a:ext uri="{FF2B5EF4-FFF2-40B4-BE49-F238E27FC236}">
                <a16:creationId xmlns:a16="http://schemas.microsoft.com/office/drawing/2014/main" id="{6E00E308-AD4A-4754-94BA-164218CABF44}"/>
              </a:ext>
            </a:extLst>
          </p:cNvPr>
          <p:cNvSpPr>
            <a:spLocks noGrp="1"/>
          </p:cNvSpPr>
          <p:nvPr/>
        </p:nvSpPr>
        <p:spPr>
          <a:xfrm>
            <a:off x="6762750" y="5153025"/>
            <a:ext cx="3619500" cy="346074"/>
          </a:xfrm>
          <a:prstGeom prst="rect">
            <a:avLst/>
          </a:prstGeom>
          <a:noFill/>
          <a:ln w="0">
            <a:noFill/>
            <a:prstDash val="solid"/>
          </a:ln>
        </p:spPr>
        <p:txBody>
          <a:bodyPr lIns="0" tIns="0" rIns="0" bIns="0" anchor="t">
            <a:noAutofit/>
          </a:bodyPr>
          <a:lstStyle/>
          <a:p>
            <a:pPr algn="ctr">
              <a:buNone/>
              <a:defRPr sz="1575" b="1">
                <a:solidFill>
                  <a:srgbClr val="10B981"/>
                </a:solidFill>
                <a:latin typeface="Hiragino Sans"/>
                <a:ea typeface="Hiragino Sans"/>
                <a:cs typeface="Hiragino Sans"/>
              </a:defRPr>
            </a:pPr>
            <a:br>
              <a:rPr lang="ja-JP" sz="1575" b="1" noProof="1">
                <a:solidFill>
                  <a:srgbClr val="10B981"/>
                </a:solidFill>
                <a:latin typeface="Hiragino Sans"/>
                <a:ea typeface="Hiragino Sans"/>
                <a:cs typeface="Hiragino Sans"/>
              </a:rPr>
            </a:br>
            <a:br>
              <a:rPr lang="ja-JP" sz="1575" b="1" noProof="1">
                <a:solidFill>
                  <a:srgbClr val="10B981"/>
                </a:solidFill>
                <a:latin typeface="Hiragino Sans"/>
                <a:ea typeface="Hiragino Sans"/>
                <a:cs typeface="Hiragino Sans"/>
              </a:rPr>
            </a:br>
            <a:r>
              <a:rPr lang="ja-JP" sz="1575" b="1" noProof="1">
                <a:solidFill>
                  <a:srgbClr val="10B981"/>
                </a:solidFill>
                <a:latin typeface="Hiragino Sans"/>
                <a:ea typeface="Hiragino Sans"/>
                <a:cs typeface="Hiragino Sans"/>
              </a:rPr>
              <a:t>人が理解できる程度に単純</a:t>
            </a:r>
            <a:br>
              <a:rPr lang="ja-JP" sz="1575" b="1" noProof="1">
                <a:solidFill>
                  <a:srgbClr val="10B981"/>
                </a:solidFill>
                <a:latin typeface="Hiragino Sans"/>
                <a:ea typeface="Hiragino Sans"/>
                <a:cs typeface="Hiragino Sans"/>
              </a:rPr>
            </a:br>
            <a:r>
              <a:rPr lang="ja-JP" sz="1575" b="1" noProof="1">
                <a:solidFill>
                  <a:srgbClr val="10B981"/>
                </a:solidFill>
                <a:latin typeface="Hiragino Sans"/>
                <a:ea typeface="Hiragino Sans"/>
                <a:cs typeface="Hiragino Sans"/>
              </a:rPr>
              <a:t>（説明に使う特徴量の数を絞る罰則項）</a:t>
            </a:r>
          </a:p>
        </p:txBody>
      </p:sp>
      <p:pic>
        <p:nvPicPr>
          <p:cNvPr id="24" name="図 23">
            <a:extLst>
              <a:ext uri="{FF2B5EF4-FFF2-40B4-BE49-F238E27FC236}">
                <a16:creationId xmlns:a16="http://schemas.microsoft.com/office/drawing/2014/main" id="{4EF24772-832D-564C-3554-2B2632238581}"/>
              </a:ext>
            </a:extLst>
          </p:cNvPr>
          <p:cNvPicPr>
            <a:picLocks noChangeAspect="1"/>
          </p:cNvPicPr>
          <p:nvPr/>
        </p:nvPicPr>
        <p:blipFill>
          <a:blip r:embed="rId4"/>
          <a:stretch>
            <a:fillRect/>
          </a:stretch>
        </p:blipFill>
        <p:spPr>
          <a:xfrm>
            <a:off x="3704291" y="4033837"/>
            <a:ext cx="5016500" cy="711200"/>
          </a:xfrm>
          <a:prstGeom prst="rect">
            <a:avLst/>
          </a:prstGeom>
        </p:spPr>
      </p:pic>
      <p:pic>
        <p:nvPicPr>
          <p:cNvPr id="40" name="図 39">
            <a:extLst>
              <a:ext uri="{FF2B5EF4-FFF2-40B4-BE49-F238E27FC236}">
                <a16:creationId xmlns:a16="http://schemas.microsoft.com/office/drawing/2014/main" id="{04CE3D3E-7159-044E-51D5-6F00ECC045B5}"/>
              </a:ext>
            </a:extLst>
          </p:cNvPr>
          <p:cNvPicPr>
            <a:picLocks noChangeAspect="1"/>
          </p:cNvPicPr>
          <p:nvPr/>
        </p:nvPicPr>
        <p:blipFill>
          <a:blip r:embed="rId5"/>
          <a:stretch>
            <a:fillRect/>
          </a:stretch>
        </p:blipFill>
        <p:spPr>
          <a:xfrm>
            <a:off x="8254486" y="5153025"/>
            <a:ext cx="636028" cy="346074"/>
          </a:xfrm>
          <a:prstGeom prst="rect">
            <a:avLst/>
          </a:prstGeom>
        </p:spPr>
      </p:pic>
      <p:pic>
        <p:nvPicPr>
          <p:cNvPr id="41" name="図 40">
            <a:extLst>
              <a:ext uri="{FF2B5EF4-FFF2-40B4-BE49-F238E27FC236}">
                <a16:creationId xmlns:a16="http://schemas.microsoft.com/office/drawing/2014/main" id="{1D124B92-3624-B788-623F-D7D02912D517}"/>
              </a:ext>
            </a:extLst>
          </p:cNvPr>
          <p:cNvPicPr>
            <a:picLocks noChangeAspect="1"/>
          </p:cNvPicPr>
          <p:nvPr/>
        </p:nvPicPr>
        <p:blipFill>
          <a:blip r:embed="rId6"/>
          <a:stretch>
            <a:fillRect/>
          </a:stretch>
        </p:blipFill>
        <p:spPr>
          <a:xfrm>
            <a:off x="2838076" y="5153025"/>
            <a:ext cx="1372347" cy="323419"/>
          </a:xfrm>
          <a:prstGeom prst="rect">
            <a:avLst/>
          </a:prstGeom>
        </p:spPr>
      </p:pic>
      <mc:AlternateContent xmlns:mc="http://schemas.openxmlformats.org/markup-compatibility/2006" xmlns:a14="http://schemas.microsoft.com/office/drawing/2010/main">
        <mc:Choice Requires="a14">
          <p:sp>
            <p:nvSpPr>
              <p:cNvPr id="42" name="テキスト ボックス 41">
                <a:extLst>
                  <a:ext uri="{FF2B5EF4-FFF2-40B4-BE49-F238E27FC236}">
                    <a16:creationId xmlns:a16="http://schemas.microsoft.com/office/drawing/2014/main" id="{E044DA4A-0E02-8240-98EE-607E4A4339CC}"/>
                  </a:ext>
                </a:extLst>
              </p:cNvPr>
              <p:cNvSpPr txBox="1"/>
              <p:nvPr/>
            </p:nvSpPr>
            <p:spPr>
              <a:xfrm>
                <a:off x="4333338" y="6492173"/>
                <a:ext cx="3667158" cy="369332"/>
              </a:xfrm>
              <a:prstGeom prst="rect">
                <a:avLst/>
              </a:prstGeom>
              <a:noFill/>
            </p:spPr>
            <p:txBody>
              <a:bodyPr wrap="none" rtlCol="0">
                <a:spAutoFit/>
              </a:bodyPr>
              <a:lstStyle/>
              <a:p>
                <a:r>
                  <a:rPr kumimoji="1" lang="ja-JP" noProof="1"/>
                  <a:t>を最小にするような </a:t>
                </a:r>
                <a14:m>
                  <m:oMath xmlns:m="http://schemas.openxmlformats.org/officeDocument/2006/math">
                    <m:r>
                      <a:rPr kumimoji="1" lang="ja-JP" i="1" noProof="1" dirty="0" smtClean="0">
                        <a:latin typeface="Cambria Math" panose="02040503050406030204" pitchFamily="18" charset="0"/>
                      </a:rPr>
                      <m:t>𝑔</m:t>
                    </m:r>
                  </m:oMath>
                </a14:m>
                <a:r>
                  <a:rPr kumimoji="1" lang="ja-JP" noProof="1"/>
                  <a:t> を見つける</a:t>
                </a:r>
              </a:p>
            </p:txBody>
          </p:sp>
        </mc:Choice>
        <mc:Fallback xmlns="">
          <p:sp>
            <p:nvSpPr>
              <p:cNvPr id="42" name="テキスト ボックス 41">
                <a:extLst>
                  <a:ext uri="{FF2B5EF4-FFF2-40B4-BE49-F238E27FC236}">
                    <a16:creationId xmlns:a16="http://schemas.microsoft.com/office/drawing/2014/main" id="{E044DA4A-0E02-8240-98EE-607E4A4339CC}"/>
                  </a:ext>
                </a:extLst>
              </p:cNvPr>
              <p:cNvSpPr txBox="1">
                <a:spLocks noRot="1" noChangeAspect="1" noMove="1" noResize="1" noEditPoints="1" noAdjustHandles="1" noChangeArrowheads="1" noChangeShapeType="1" noTextEdit="1"/>
              </p:cNvSpPr>
              <p:nvPr/>
            </p:nvSpPr>
            <p:spPr>
              <a:xfrm>
                <a:off x="4333338" y="6492173"/>
                <a:ext cx="3667158" cy="369332"/>
              </a:xfrm>
              <a:prstGeom prst="rect">
                <a:avLst/>
              </a:prstGeom>
              <a:blipFill>
                <a:blip r:embed="rId7"/>
                <a:stretch>
                  <a:fillRect l="-1730" t="-16667" r="-692" b="-2000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2631466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2F41E53D-A720-C1FB-69D7-B6520F92BBE1}"/>
              </a:ext>
            </a:extLst>
          </p:cNvPr>
          <p:cNvSpPr>
            <a:spLocks noGrp="1"/>
          </p:cNvSpPr>
          <p:nvPr/>
        </p:nvSpPr>
        <p:spPr>
          <a:xfrm>
            <a:off x="2800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0" name="正方形/長方形 9">
            <a:extLst>
              <a:ext uri="{FF2B5EF4-FFF2-40B4-BE49-F238E27FC236}">
                <a16:creationId xmlns:a16="http://schemas.microsoft.com/office/drawing/2014/main" id="{A02CAE2C-CDBF-3842-E1E0-EE85C1D35FD6}"/>
              </a:ext>
            </a:extLst>
          </p:cNvPr>
          <p:cNvSpPr>
            <a:spLocks noGrp="1"/>
          </p:cNvSpPr>
          <p:nvPr/>
        </p:nvSpPr>
        <p:spPr>
          <a:xfrm>
            <a:off x="2971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02</a:t>
            </a:r>
          </a:p>
        </p:txBody>
      </p:sp>
      <p:sp>
        <p:nvSpPr>
          <p:cNvPr id="11" name="正方形/長方形 10">
            <a:extLst>
              <a:ext uri="{FF2B5EF4-FFF2-40B4-BE49-F238E27FC236}">
                <a16:creationId xmlns:a16="http://schemas.microsoft.com/office/drawing/2014/main" id="{7E7FB131-EDD9-51FB-59C2-D521296E8E67}"/>
              </a:ext>
            </a:extLst>
          </p:cNvPr>
          <p:cNvSpPr>
            <a:spLocks noGrp="1"/>
          </p:cNvSpPr>
          <p:nvPr/>
        </p:nvSpPr>
        <p:spPr>
          <a:xfrm>
            <a:off x="2971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近傍サンプルを</a:t>
            </a:r>
          </a:p>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多数作る</a:t>
            </a:r>
          </a:p>
        </p:txBody>
      </p:sp>
      <p:sp>
        <p:nvSpPr>
          <p:cNvPr id="12" name="正方形/長方形 11">
            <a:extLst>
              <a:ext uri="{FF2B5EF4-FFF2-40B4-BE49-F238E27FC236}">
                <a16:creationId xmlns:a16="http://schemas.microsoft.com/office/drawing/2014/main" id="{F8883DC9-B2D5-6891-BE88-AF9626B3A98F}"/>
              </a:ext>
            </a:extLst>
          </p:cNvPr>
          <p:cNvSpPr>
            <a:spLocks noGrp="1"/>
          </p:cNvSpPr>
          <p:nvPr/>
        </p:nvSpPr>
        <p:spPr>
          <a:xfrm>
            <a:off x="5086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3" name="正方形/長方形 12">
            <a:extLst>
              <a:ext uri="{FF2B5EF4-FFF2-40B4-BE49-F238E27FC236}">
                <a16:creationId xmlns:a16="http://schemas.microsoft.com/office/drawing/2014/main" id="{2D4D0B34-FAD8-873D-7B8A-529F44CA9D52}"/>
              </a:ext>
            </a:extLst>
          </p:cNvPr>
          <p:cNvSpPr>
            <a:spLocks noGrp="1"/>
          </p:cNvSpPr>
          <p:nvPr/>
        </p:nvSpPr>
        <p:spPr>
          <a:xfrm>
            <a:off x="5257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03</a:t>
            </a:r>
          </a:p>
        </p:txBody>
      </p:sp>
      <p:sp>
        <p:nvSpPr>
          <p:cNvPr id="14" name="正方形/長方形 13">
            <a:extLst>
              <a:ext uri="{FF2B5EF4-FFF2-40B4-BE49-F238E27FC236}">
                <a16:creationId xmlns:a16="http://schemas.microsoft.com/office/drawing/2014/main" id="{A40471F9-A826-81C1-5912-2D51B0EC8AF5}"/>
              </a:ext>
            </a:extLst>
          </p:cNvPr>
          <p:cNvSpPr>
            <a:spLocks noGrp="1"/>
          </p:cNvSpPr>
          <p:nvPr/>
        </p:nvSpPr>
        <p:spPr>
          <a:xfrm>
            <a:off x="5172074" y="1614327"/>
            <a:ext cx="178117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ブラックボックスの</a:t>
            </a:r>
          </a:p>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予測を得る</a:t>
            </a:r>
          </a:p>
        </p:txBody>
      </p:sp>
      <p:sp>
        <p:nvSpPr>
          <p:cNvPr id="15" name="正方形/長方形 14">
            <a:extLst>
              <a:ext uri="{FF2B5EF4-FFF2-40B4-BE49-F238E27FC236}">
                <a16:creationId xmlns:a16="http://schemas.microsoft.com/office/drawing/2014/main" id="{C81C6085-F8F1-EDBF-4605-3D491A31EEF7}"/>
              </a:ext>
            </a:extLst>
          </p:cNvPr>
          <p:cNvSpPr>
            <a:spLocks noGrp="1"/>
          </p:cNvSpPr>
          <p:nvPr/>
        </p:nvSpPr>
        <p:spPr>
          <a:xfrm>
            <a:off x="7372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6" name="正方形/長方形 15">
            <a:extLst>
              <a:ext uri="{FF2B5EF4-FFF2-40B4-BE49-F238E27FC236}">
                <a16:creationId xmlns:a16="http://schemas.microsoft.com/office/drawing/2014/main" id="{98660CCB-CBF6-5F69-8E16-EDCF383EC170}"/>
              </a:ext>
            </a:extLst>
          </p:cNvPr>
          <p:cNvSpPr>
            <a:spLocks noGrp="1"/>
          </p:cNvSpPr>
          <p:nvPr/>
        </p:nvSpPr>
        <p:spPr>
          <a:xfrm>
            <a:off x="7543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04</a:t>
            </a:r>
          </a:p>
        </p:txBody>
      </p:sp>
      <p:sp>
        <p:nvSpPr>
          <p:cNvPr id="17" name="正方形/長方形 16">
            <a:extLst>
              <a:ext uri="{FF2B5EF4-FFF2-40B4-BE49-F238E27FC236}">
                <a16:creationId xmlns:a16="http://schemas.microsoft.com/office/drawing/2014/main" id="{51681764-E807-5A70-4FB6-4A8C59143046}"/>
              </a:ext>
            </a:extLst>
          </p:cNvPr>
          <p:cNvSpPr>
            <a:spLocks noGrp="1"/>
          </p:cNvSpPr>
          <p:nvPr/>
        </p:nvSpPr>
        <p:spPr>
          <a:xfrm>
            <a:off x="7543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近いサンプルを</a:t>
            </a:r>
          </a:p>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強く重み付け</a:t>
            </a:r>
          </a:p>
        </p:txBody>
      </p:sp>
      <p:sp>
        <p:nvSpPr>
          <p:cNvPr id="18" name="正方形/長方形 17">
            <a:extLst>
              <a:ext uri="{FF2B5EF4-FFF2-40B4-BE49-F238E27FC236}">
                <a16:creationId xmlns:a16="http://schemas.microsoft.com/office/drawing/2014/main" id="{B81A5DC7-2F03-6F4C-7C0D-9DAE5665F208}"/>
              </a:ext>
            </a:extLst>
          </p:cNvPr>
          <p:cNvSpPr>
            <a:spLocks noGrp="1"/>
          </p:cNvSpPr>
          <p:nvPr/>
        </p:nvSpPr>
        <p:spPr>
          <a:xfrm>
            <a:off x="9658350" y="1080246"/>
            <a:ext cx="1952625" cy="1381125"/>
          </a:xfrm>
          <a:prstGeom prst="rect">
            <a:avLst/>
          </a:prstGeom>
          <a:solidFill>
            <a:srgbClr val="D1FAE5">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9" name="正方形/長方形 18">
            <a:extLst>
              <a:ext uri="{FF2B5EF4-FFF2-40B4-BE49-F238E27FC236}">
                <a16:creationId xmlns:a16="http://schemas.microsoft.com/office/drawing/2014/main" id="{4FFCB6B6-4749-50B0-15D3-9C181317CCE2}"/>
              </a:ext>
            </a:extLst>
          </p:cNvPr>
          <p:cNvSpPr>
            <a:spLocks noGrp="1"/>
          </p:cNvSpPr>
          <p:nvPr/>
        </p:nvSpPr>
        <p:spPr>
          <a:xfrm>
            <a:off x="9829800" y="1232646"/>
            <a:ext cx="476250" cy="247650"/>
          </a:xfrm>
          <a:prstGeom prst="rect">
            <a:avLst/>
          </a:prstGeom>
          <a:noFill/>
          <a:ln w="0">
            <a:noFill/>
            <a:prstDash val="solid"/>
          </a:ln>
        </p:spPr>
        <p:txBody>
          <a:bodyPr lIns="0" tIns="0" rIns="0" bIns="0" anchor="t">
            <a:noAutofit/>
          </a:bodyPr>
          <a:lstStyle/>
          <a:p>
            <a:pPr algn="l">
              <a:buNone/>
              <a:defRPr sz="1275" b="1">
                <a:solidFill>
                  <a:srgbClr val="10B981"/>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05</a:t>
            </a:r>
          </a:p>
        </p:txBody>
      </p:sp>
      <p:sp>
        <p:nvSpPr>
          <p:cNvPr id="20" name="正方形/長方形 19">
            <a:extLst>
              <a:ext uri="{FF2B5EF4-FFF2-40B4-BE49-F238E27FC236}">
                <a16:creationId xmlns:a16="http://schemas.microsoft.com/office/drawing/2014/main" id="{984C6D74-BB5E-BB98-D405-7EA7A79B0306}"/>
              </a:ext>
            </a:extLst>
          </p:cNvPr>
          <p:cNvSpPr>
            <a:spLocks noGrp="1"/>
          </p:cNvSpPr>
          <p:nvPr/>
        </p:nvSpPr>
        <p:spPr>
          <a:xfrm>
            <a:off x="9740154" y="1594596"/>
            <a:ext cx="178117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単純な局所モデルを</a:t>
            </a:r>
          </a:p>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学習する</a:t>
            </a:r>
          </a:p>
        </p:txBody>
      </p:sp>
      <p:sp>
        <p:nvSpPr>
          <p:cNvPr id="24" name="正方形/長方形 23">
            <a:extLst>
              <a:ext uri="{FF2B5EF4-FFF2-40B4-BE49-F238E27FC236}">
                <a16:creationId xmlns:a16="http://schemas.microsoft.com/office/drawing/2014/main" id="{65E9C2AE-FF01-FF45-F9E1-D8B80210363F}"/>
              </a:ext>
            </a:extLst>
          </p:cNvPr>
          <p:cNvSpPr>
            <a:spLocks noGrp="1"/>
          </p:cNvSpPr>
          <p:nvPr/>
        </p:nvSpPr>
        <p:spPr>
          <a:xfrm>
            <a:off x="514350" y="1080246"/>
            <a:ext cx="1952625" cy="1381125"/>
          </a:xfrm>
          <a:prstGeom prst="rect">
            <a:avLst/>
          </a:prstGeom>
          <a:solidFill>
            <a:srgbClr val="F3F4F6"/>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p>
        </p:txBody>
      </p:sp>
      <p:sp>
        <p:nvSpPr>
          <p:cNvPr id="25" name="正方形/長方形 24">
            <a:extLst>
              <a:ext uri="{FF2B5EF4-FFF2-40B4-BE49-F238E27FC236}">
                <a16:creationId xmlns:a16="http://schemas.microsoft.com/office/drawing/2014/main" id="{EA841F48-90DF-8393-A0E2-D7FC6294950E}"/>
              </a:ext>
            </a:extLst>
          </p:cNvPr>
          <p:cNvSpPr>
            <a:spLocks noGrp="1"/>
          </p:cNvSpPr>
          <p:nvPr/>
        </p:nvSpPr>
        <p:spPr>
          <a:xfrm>
            <a:off x="685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rgbClr val="2563EB"/>
                </a:solidFill>
                <a:latin typeface="Hiragino Sans"/>
                <a:ea typeface="Hiragino Sans"/>
                <a:cs typeface="Hiragino Sans"/>
              </a:rPr>
              <a:t>01</a:t>
            </a:r>
          </a:p>
        </p:txBody>
      </p:sp>
      <p:sp>
        <p:nvSpPr>
          <p:cNvPr id="26" name="正方形/長方形 25">
            <a:extLst>
              <a:ext uri="{FF2B5EF4-FFF2-40B4-BE49-F238E27FC236}">
                <a16:creationId xmlns:a16="http://schemas.microsoft.com/office/drawing/2014/main" id="{45C49E04-CE98-24EA-D9C0-474487B460F6}"/>
              </a:ext>
            </a:extLst>
          </p:cNvPr>
          <p:cNvSpPr>
            <a:spLocks noGrp="1"/>
          </p:cNvSpPr>
          <p:nvPr/>
        </p:nvSpPr>
        <p:spPr>
          <a:xfrm>
            <a:off x="685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rgbClr val="111827"/>
                </a:solidFill>
                <a:latin typeface="Hiragino Sans"/>
                <a:ea typeface="Hiragino Sans"/>
                <a:cs typeface="Hiragino Sans"/>
              </a:rPr>
              <a:t>説明対象を</a:t>
            </a:r>
          </a:p>
          <a:p>
            <a:pPr algn="ctr">
              <a:buNone/>
              <a:defRPr sz="1500" b="1">
                <a:solidFill>
                  <a:srgbClr val="111827"/>
                </a:solidFill>
                <a:latin typeface="Hiragino Sans"/>
                <a:ea typeface="Hiragino Sans"/>
                <a:cs typeface="Hiragino Sans"/>
              </a:defRPr>
            </a:pPr>
            <a:r>
              <a:rPr lang="ja-JP" sz="1600" b="1" noProof="1">
                <a:solidFill>
                  <a:srgbClr val="111827"/>
                </a:solidFill>
                <a:latin typeface="Hiragino Sans"/>
                <a:ea typeface="Hiragino Sans"/>
                <a:cs typeface="Hiragino Sans"/>
              </a:rPr>
              <a:t>1つ選ぶ</a:t>
            </a:r>
          </a:p>
        </p:txBody>
      </p:sp>
      <p:sp>
        <p:nvSpPr>
          <p:cNvPr id="5" name="正方形/長方形 4">
            <a:extLst>
              <a:ext uri="{FF2B5EF4-FFF2-40B4-BE49-F238E27FC236}">
                <a16:creationId xmlns:a16="http://schemas.microsoft.com/office/drawing/2014/main" id="{AE4B24F0-6B6D-89FE-0D48-F31A84E9629B}"/>
              </a:ext>
            </a:extLst>
          </p:cNvPr>
          <p:cNvSpPr>
            <a:spLocks noGrp="1"/>
          </p:cNvSpPr>
          <p:nvPr/>
        </p:nvSpPr>
        <p:spPr>
          <a:xfrm>
            <a:off x="514350" y="419100"/>
            <a:ext cx="114300" cy="457200"/>
          </a:xfrm>
          <a:prstGeom prst="rect">
            <a:avLst/>
          </a:prstGeom>
          <a:solidFill>
            <a:srgbClr val="2F6BDE"/>
          </a:solidFill>
          <a:ln w="0">
            <a:solidFill>
              <a:srgbClr val="2F6BDE"/>
            </a:solidFill>
            <a:prstDash val="solid"/>
          </a:ln>
        </p:spPr>
        <p:txBody>
          <a:bodyPr/>
          <a:lstStyle/>
          <a:p>
            <a:endParaRPr lang="ja-JP" noProof="1"/>
          </a:p>
        </p:txBody>
      </p:sp>
      <p:sp>
        <p:nvSpPr>
          <p:cNvPr id="6" name="slide-4-title">
            <a:extLst>
              <a:ext uri="{FF2B5EF4-FFF2-40B4-BE49-F238E27FC236}">
                <a16:creationId xmlns:a16="http://schemas.microsoft.com/office/drawing/2014/main" id="{FD337B4B-5865-3819-19E3-67C55B5FE62D}"/>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buNone/>
              <a:defRPr sz="2850" b="1">
                <a:solidFill>
                  <a:srgbClr val="12233A"/>
                </a:solidFill>
                <a:latin typeface="Hiragino Sans"/>
                <a:ea typeface="Hiragino Sans"/>
                <a:cs typeface="Hiragino Sans"/>
              </a:defRPr>
            </a:pPr>
            <a:r>
              <a:rPr lang="ja-JP" sz="2850" b="1" noProof="1">
                <a:solidFill>
                  <a:srgbClr val="12233A"/>
                </a:solidFill>
                <a:latin typeface="Hiragino Sans"/>
                <a:ea typeface="Hiragino Sans"/>
                <a:cs typeface="Hiragino Sans"/>
              </a:rPr>
              <a:t>LIMEのアルゴリズム</a:t>
            </a:r>
          </a:p>
        </p:txBody>
      </p:sp>
      <p:pic>
        <p:nvPicPr>
          <p:cNvPr id="31" name="画面収録 2026-09-09 18.02.34">
            <a:hlinkClick r:id="" action="ppaction://media"/>
            <a:extLst>
              <a:ext uri="{FF2B5EF4-FFF2-40B4-BE49-F238E27FC236}">
                <a16:creationId xmlns:a16="http://schemas.microsoft.com/office/drawing/2014/main" id="{992D6A4E-55C9-A740-C86F-C8B57E5415A9}"/>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022027" y="2737596"/>
            <a:ext cx="6147946" cy="3960000"/>
          </a:xfrm>
          <a:prstGeom prst="rect">
            <a:avLst/>
          </a:prstGeom>
        </p:spPr>
      </p:pic>
    </p:spTree>
    <p:extLst>
      <p:ext uri="{BB962C8B-B14F-4D97-AF65-F5344CB8AC3E}">
        <p14:creationId xmlns:p14="http://schemas.microsoft.com/office/powerpoint/2010/main" val="297160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926"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1"/>
                </p:tgtEl>
              </p:cMediaNode>
            </p:video>
            <p:seq concurrent="1" nextAc="seek">
              <p:cTn id="8" restart="whenNotActive" fill="hold" evtFilter="cancelBubble" nodeType="interactiveSeq">
                <p:stCondLst>
                  <p:cond evt="onClick" delay="0">
                    <p:tgtEl>
                      <p:spTgt spid="31"/>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1"/>
                                        </p:tgtEl>
                                      </p:cBhvr>
                                    </p:cmd>
                                  </p:childTnLst>
                                </p:cTn>
                              </p:par>
                            </p:childTnLst>
                          </p:cTn>
                        </p:par>
                      </p:childTnLst>
                    </p:cTn>
                  </p:par>
                </p:childTnLst>
              </p:cTn>
              <p:nextCondLst>
                <p:cond evt="onClick" delay="0">
                  <p:tgtEl>
                    <p:spTgt spid="31"/>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D1D7D-C8D5-DA78-0A4F-EECD226507EE}"/>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710083C8-0CDE-C1A2-0FBD-72189BC77A10}"/>
              </a:ext>
            </a:extLst>
          </p:cNvPr>
          <p:cNvSpPr>
            <a:spLocks noGrp="1"/>
          </p:cNvSpPr>
          <p:nvPr/>
        </p:nvSpPr>
        <p:spPr>
          <a:xfrm>
            <a:off x="514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7" name="正方形/長方形 6">
            <a:extLst>
              <a:ext uri="{FF2B5EF4-FFF2-40B4-BE49-F238E27FC236}">
                <a16:creationId xmlns:a16="http://schemas.microsoft.com/office/drawing/2014/main" id="{18F89DDC-426D-E355-EA8C-4603864C1121}"/>
              </a:ext>
            </a:extLst>
          </p:cNvPr>
          <p:cNvSpPr>
            <a:spLocks noGrp="1"/>
          </p:cNvSpPr>
          <p:nvPr/>
        </p:nvSpPr>
        <p:spPr>
          <a:xfrm>
            <a:off x="685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01</a:t>
            </a:r>
          </a:p>
        </p:txBody>
      </p:sp>
      <p:sp>
        <p:nvSpPr>
          <p:cNvPr id="8" name="正方形/長方形 7">
            <a:extLst>
              <a:ext uri="{FF2B5EF4-FFF2-40B4-BE49-F238E27FC236}">
                <a16:creationId xmlns:a16="http://schemas.microsoft.com/office/drawing/2014/main" id="{B0DF8E90-C879-0733-B5E1-8D29F984B50F}"/>
              </a:ext>
            </a:extLst>
          </p:cNvPr>
          <p:cNvSpPr>
            <a:spLocks noGrp="1"/>
          </p:cNvSpPr>
          <p:nvPr/>
        </p:nvSpPr>
        <p:spPr>
          <a:xfrm>
            <a:off x="685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説明対象を</a:t>
            </a:r>
          </a:p>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1つ選ぶ</a:t>
            </a:r>
          </a:p>
        </p:txBody>
      </p:sp>
      <p:sp>
        <p:nvSpPr>
          <p:cNvPr id="12" name="正方形/長方形 11">
            <a:extLst>
              <a:ext uri="{FF2B5EF4-FFF2-40B4-BE49-F238E27FC236}">
                <a16:creationId xmlns:a16="http://schemas.microsoft.com/office/drawing/2014/main" id="{6EEBDC03-24AD-A445-8C42-41A319C900D3}"/>
              </a:ext>
            </a:extLst>
          </p:cNvPr>
          <p:cNvSpPr>
            <a:spLocks noGrp="1"/>
          </p:cNvSpPr>
          <p:nvPr/>
        </p:nvSpPr>
        <p:spPr>
          <a:xfrm>
            <a:off x="5086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3" name="正方形/長方形 12">
            <a:extLst>
              <a:ext uri="{FF2B5EF4-FFF2-40B4-BE49-F238E27FC236}">
                <a16:creationId xmlns:a16="http://schemas.microsoft.com/office/drawing/2014/main" id="{A80E067D-3520-0395-17A3-A4AC286C82BB}"/>
              </a:ext>
            </a:extLst>
          </p:cNvPr>
          <p:cNvSpPr>
            <a:spLocks noGrp="1"/>
          </p:cNvSpPr>
          <p:nvPr/>
        </p:nvSpPr>
        <p:spPr>
          <a:xfrm>
            <a:off x="5257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03</a:t>
            </a:r>
          </a:p>
        </p:txBody>
      </p:sp>
      <p:sp>
        <p:nvSpPr>
          <p:cNvPr id="14" name="正方形/長方形 13">
            <a:extLst>
              <a:ext uri="{FF2B5EF4-FFF2-40B4-BE49-F238E27FC236}">
                <a16:creationId xmlns:a16="http://schemas.microsoft.com/office/drawing/2014/main" id="{6C207B62-144F-0A54-7865-87A0A5A68470}"/>
              </a:ext>
            </a:extLst>
          </p:cNvPr>
          <p:cNvSpPr>
            <a:spLocks noGrp="1"/>
          </p:cNvSpPr>
          <p:nvPr/>
        </p:nvSpPr>
        <p:spPr>
          <a:xfrm>
            <a:off x="5172074" y="1614327"/>
            <a:ext cx="178117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ブラックボックスの</a:t>
            </a:r>
          </a:p>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予測を得る</a:t>
            </a:r>
          </a:p>
        </p:txBody>
      </p:sp>
      <p:sp>
        <p:nvSpPr>
          <p:cNvPr id="15" name="正方形/長方形 14">
            <a:extLst>
              <a:ext uri="{FF2B5EF4-FFF2-40B4-BE49-F238E27FC236}">
                <a16:creationId xmlns:a16="http://schemas.microsoft.com/office/drawing/2014/main" id="{9ED779F2-EE9E-70AA-1CD8-E349D13703EE}"/>
              </a:ext>
            </a:extLst>
          </p:cNvPr>
          <p:cNvSpPr>
            <a:spLocks noGrp="1"/>
          </p:cNvSpPr>
          <p:nvPr/>
        </p:nvSpPr>
        <p:spPr>
          <a:xfrm>
            <a:off x="7372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6" name="正方形/長方形 15">
            <a:extLst>
              <a:ext uri="{FF2B5EF4-FFF2-40B4-BE49-F238E27FC236}">
                <a16:creationId xmlns:a16="http://schemas.microsoft.com/office/drawing/2014/main" id="{BD66C05F-1257-0ECC-608B-A2E6220EDAC3}"/>
              </a:ext>
            </a:extLst>
          </p:cNvPr>
          <p:cNvSpPr>
            <a:spLocks noGrp="1"/>
          </p:cNvSpPr>
          <p:nvPr/>
        </p:nvSpPr>
        <p:spPr>
          <a:xfrm>
            <a:off x="7543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04</a:t>
            </a:r>
          </a:p>
        </p:txBody>
      </p:sp>
      <p:sp>
        <p:nvSpPr>
          <p:cNvPr id="17" name="正方形/長方形 16">
            <a:extLst>
              <a:ext uri="{FF2B5EF4-FFF2-40B4-BE49-F238E27FC236}">
                <a16:creationId xmlns:a16="http://schemas.microsoft.com/office/drawing/2014/main" id="{73A1B258-1988-7C8E-4747-2388AB90733D}"/>
              </a:ext>
            </a:extLst>
          </p:cNvPr>
          <p:cNvSpPr>
            <a:spLocks noGrp="1"/>
          </p:cNvSpPr>
          <p:nvPr/>
        </p:nvSpPr>
        <p:spPr>
          <a:xfrm>
            <a:off x="7543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近いサンプルを</a:t>
            </a:r>
          </a:p>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強く重み付け</a:t>
            </a:r>
          </a:p>
        </p:txBody>
      </p:sp>
      <p:sp>
        <p:nvSpPr>
          <p:cNvPr id="18" name="正方形/長方形 17">
            <a:extLst>
              <a:ext uri="{FF2B5EF4-FFF2-40B4-BE49-F238E27FC236}">
                <a16:creationId xmlns:a16="http://schemas.microsoft.com/office/drawing/2014/main" id="{D0EE61CE-A8AA-91DC-1A3A-42DC102BAC2D}"/>
              </a:ext>
            </a:extLst>
          </p:cNvPr>
          <p:cNvSpPr>
            <a:spLocks noGrp="1"/>
          </p:cNvSpPr>
          <p:nvPr/>
        </p:nvSpPr>
        <p:spPr>
          <a:xfrm>
            <a:off x="9658350" y="1080246"/>
            <a:ext cx="1952625" cy="1381125"/>
          </a:xfrm>
          <a:prstGeom prst="rect">
            <a:avLst/>
          </a:prstGeom>
          <a:solidFill>
            <a:srgbClr val="D1FAE5">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9" name="正方形/長方形 18">
            <a:extLst>
              <a:ext uri="{FF2B5EF4-FFF2-40B4-BE49-F238E27FC236}">
                <a16:creationId xmlns:a16="http://schemas.microsoft.com/office/drawing/2014/main" id="{4F31E889-B862-C530-FC7C-A7E47584FFC7}"/>
              </a:ext>
            </a:extLst>
          </p:cNvPr>
          <p:cNvSpPr>
            <a:spLocks noGrp="1"/>
          </p:cNvSpPr>
          <p:nvPr/>
        </p:nvSpPr>
        <p:spPr>
          <a:xfrm>
            <a:off x="9829800" y="1232646"/>
            <a:ext cx="476250" cy="247650"/>
          </a:xfrm>
          <a:prstGeom prst="rect">
            <a:avLst/>
          </a:prstGeom>
          <a:noFill/>
          <a:ln w="0">
            <a:noFill/>
            <a:prstDash val="solid"/>
          </a:ln>
        </p:spPr>
        <p:txBody>
          <a:bodyPr lIns="0" tIns="0" rIns="0" bIns="0" anchor="t">
            <a:noAutofit/>
          </a:bodyPr>
          <a:lstStyle/>
          <a:p>
            <a:pPr algn="l">
              <a:buNone/>
              <a:defRPr sz="1275" b="1">
                <a:solidFill>
                  <a:srgbClr val="10B981"/>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05</a:t>
            </a:r>
          </a:p>
        </p:txBody>
      </p:sp>
      <p:sp>
        <p:nvSpPr>
          <p:cNvPr id="20" name="正方形/長方形 19">
            <a:extLst>
              <a:ext uri="{FF2B5EF4-FFF2-40B4-BE49-F238E27FC236}">
                <a16:creationId xmlns:a16="http://schemas.microsoft.com/office/drawing/2014/main" id="{5B522025-B22B-F584-8746-2E09D61CFA54}"/>
              </a:ext>
            </a:extLst>
          </p:cNvPr>
          <p:cNvSpPr>
            <a:spLocks noGrp="1"/>
          </p:cNvSpPr>
          <p:nvPr/>
        </p:nvSpPr>
        <p:spPr>
          <a:xfrm>
            <a:off x="9740154" y="1594596"/>
            <a:ext cx="178117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単純な局所モデルを</a:t>
            </a:r>
          </a:p>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学習する</a:t>
            </a:r>
          </a:p>
        </p:txBody>
      </p:sp>
      <p:sp>
        <p:nvSpPr>
          <p:cNvPr id="2" name="正方形/長方形 1">
            <a:extLst>
              <a:ext uri="{FF2B5EF4-FFF2-40B4-BE49-F238E27FC236}">
                <a16:creationId xmlns:a16="http://schemas.microsoft.com/office/drawing/2014/main" id="{6AE96CC5-FD73-DA8A-3D83-ABC00B3E08DD}"/>
              </a:ext>
            </a:extLst>
          </p:cNvPr>
          <p:cNvSpPr>
            <a:spLocks noGrp="1"/>
          </p:cNvSpPr>
          <p:nvPr/>
        </p:nvSpPr>
        <p:spPr>
          <a:xfrm>
            <a:off x="2800350" y="1080246"/>
            <a:ext cx="1952625" cy="1381125"/>
          </a:xfrm>
          <a:prstGeom prst="rect">
            <a:avLst/>
          </a:prstGeom>
          <a:solidFill>
            <a:srgbClr val="F3F4F6"/>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p>
        </p:txBody>
      </p:sp>
      <p:sp>
        <p:nvSpPr>
          <p:cNvPr id="3" name="正方形/長方形 2">
            <a:extLst>
              <a:ext uri="{FF2B5EF4-FFF2-40B4-BE49-F238E27FC236}">
                <a16:creationId xmlns:a16="http://schemas.microsoft.com/office/drawing/2014/main" id="{21C00F8F-3EAE-CE0D-BB05-284CD69A6772}"/>
              </a:ext>
            </a:extLst>
          </p:cNvPr>
          <p:cNvSpPr>
            <a:spLocks noGrp="1"/>
          </p:cNvSpPr>
          <p:nvPr/>
        </p:nvSpPr>
        <p:spPr>
          <a:xfrm>
            <a:off x="2971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rgbClr val="2563EB"/>
                </a:solidFill>
                <a:latin typeface="Hiragino Sans"/>
                <a:ea typeface="Hiragino Sans"/>
                <a:cs typeface="Hiragino Sans"/>
              </a:rPr>
              <a:t>02</a:t>
            </a:r>
          </a:p>
        </p:txBody>
      </p:sp>
      <p:sp>
        <p:nvSpPr>
          <p:cNvPr id="4" name="正方形/長方形 3">
            <a:extLst>
              <a:ext uri="{FF2B5EF4-FFF2-40B4-BE49-F238E27FC236}">
                <a16:creationId xmlns:a16="http://schemas.microsoft.com/office/drawing/2014/main" id="{066D0BD8-96A6-77CD-BAED-C00F1983B8FF}"/>
              </a:ext>
            </a:extLst>
          </p:cNvPr>
          <p:cNvSpPr>
            <a:spLocks noGrp="1"/>
          </p:cNvSpPr>
          <p:nvPr/>
        </p:nvSpPr>
        <p:spPr>
          <a:xfrm>
            <a:off x="2971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rgbClr val="111827"/>
                </a:solidFill>
                <a:latin typeface="Hiragino Sans"/>
                <a:ea typeface="Hiragino Sans"/>
                <a:cs typeface="Hiragino Sans"/>
              </a:rPr>
              <a:t>近傍サンプルを</a:t>
            </a:r>
          </a:p>
          <a:p>
            <a:pPr algn="ctr">
              <a:buNone/>
              <a:defRPr sz="1500" b="1">
                <a:solidFill>
                  <a:srgbClr val="111827"/>
                </a:solidFill>
                <a:latin typeface="Hiragino Sans"/>
                <a:ea typeface="Hiragino Sans"/>
                <a:cs typeface="Hiragino Sans"/>
              </a:defRPr>
            </a:pPr>
            <a:r>
              <a:rPr lang="ja-JP" sz="1600" b="1" noProof="1">
                <a:solidFill>
                  <a:srgbClr val="111827"/>
                </a:solidFill>
                <a:latin typeface="Hiragino Sans"/>
                <a:ea typeface="Hiragino Sans"/>
                <a:cs typeface="Hiragino Sans"/>
              </a:rPr>
              <a:t>多数作る</a:t>
            </a:r>
          </a:p>
        </p:txBody>
      </p:sp>
      <p:sp>
        <p:nvSpPr>
          <p:cNvPr id="5" name="正方形/長方形 4">
            <a:extLst>
              <a:ext uri="{FF2B5EF4-FFF2-40B4-BE49-F238E27FC236}">
                <a16:creationId xmlns:a16="http://schemas.microsoft.com/office/drawing/2014/main" id="{4AB5D658-B073-38DB-0D31-1E8E296B1A8A}"/>
              </a:ext>
            </a:extLst>
          </p:cNvPr>
          <p:cNvSpPr>
            <a:spLocks noGrp="1"/>
          </p:cNvSpPr>
          <p:nvPr/>
        </p:nvSpPr>
        <p:spPr>
          <a:xfrm>
            <a:off x="514350" y="419100"/>
            <a:ext cx="114300" cy="457200"/>
          </a:xfrm>
          <a:prstGeom prst="rect">
            <a:avLst/>
          </a:prstGeom>
          <a:solidFill>
            <a:srgbClr val="2F6BDE"/>
          </a:solidFill>
          <a:ln w="0">
            <a:solidFill>
              <a:srgbClr val="2F6BDE"/>
            </a:solidFill>
            <a:prstDash val="solid"/>
          </a:ln>
        </p:spPr>
        <p:txBody>
          <a:bodyPr/>
          <a:lstStyle/>
          <a:p>
            <a:endParaRPr lang="ja-JP" noProof="1"/>
          </a:p>
        </p:txBody>
      </p:sp>
      <p:sp>
        <p:nvSpPr>
          <p:cNvPr id="9" name="slide-4-title">
            <a:extLst>
              <a:ext uri="{FF2B5EF4-FFF2-40B4-BE49-F238E27FC236}">
                <a16:creationId xmlns:a16="http://schemas.microsoft.com/office/drawing/2014/main" id="{E3197D2D-A790-DCFE-F242-198245B2F519}"/>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buNone/>
              <a:defRPr sz="2850" b="1">
                <a:solidFill>
                  <a:srgbClr val="12233A"/>
                </a:solidFill>
                <a:latin typeface="Hiragino Sans"/>
                <a:ea typeface="Hiragino Sans"/>
                <a:cs typeface="Hiragino Sans"/>
              </a:defRPr>
            </a:pPr>
            <a:r>
              <a:rPr lang="ja-JP" sz="2850" b="1" noProof="1">
                <a:solidFill>
                  <a:srgbClr val="12233A"/>
                </a:solidFill>
                <a:latin typeface="Hiragino Sans"/>
                <a:ea typeface="Hiragino Sans"/>
                <a:cs typeface="Hiragino Sans"/>
              </a:rPr>
              <a:t>LIMEのアルゴリズム</a:t>
            </a:r>
          </a:p>
        </p:txBody>
      </p:sp>
      <p:pic>
        <p:nvPicPr>
          <p:cNvPr id="21" name="画面収録 2026-09-09 18.02.34 3">
            <a:hlinkClick r:id="" action="ppaction://media"/>
            <a:extLst>
              <a:ext uri="{FF2B5EF4-FFF2-40B4-BE49-F238E27FC236}">
                <a16:creationId xmlns:a16="http://schemas.microsoft.com/office/drawing/2014/main" id="{600EA6E4-7BBA-B7BE-F55B-B0B97391A9BF}"/>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022027" y="2737596"/>
            <a:ext cx="6147945" cy="3960000"/>
          </a:xfrm>
          <a:prstGeom prst="rect">
            <a:avLst/>
          </a:prstGeom>
        </p:spPr>
      </p:pic>
    </p:spTree>
    <p:extLst>
      <p:ext uri="{BB962C8B-B14F-4D97-AF65-F5344CB8AC3E}">
        <p14:creationId xmlns:p14="http://schemas.microsoft.com/office/powerpoint/2010/main" val="42086161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156"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1"/>
                </p:tgtEl>
              </p:cMediaNode>
            </p:video>
            <p:seq concurrent="1" nextAc="seek">
              <p:cTn id="8" restart="whenNotActive" fill="hold" evtFilter="cancelBubble" nodeType="interactiveSeq">
                <p:stCondLst>
                  <p:cond evt="onClick" delay="0">
                    <p:tgtEl>
                      <p:spTgt spid="21"/>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1"/>
                                        </p:tgtEl>
                                      </p:cBhvr>
                                    </p:cmd>
                                  </p:childTnLst>
                                </p:cTn>
                              </p:par>
                            </p:childTnLst>
                          </p:cTn>
                        </p:par>
                      </p:childTnLst>
                    </p:cTn>
                  </p:par>
                </p:childTnLst>
              </p:cTn>
              <p:nextCondLst>
                <p:cond evt="onClick" delay="0">
                  <p:tgtEl>
                    <p:spTgt spid="21"/>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E1B688-D899-C2F8-6743-A38C0E3AE354}"/>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A6968BF9-7080-9640-517E-4BFDC9D920B5}"/>
              </a:ext>
            </a:extLst>
          </p:cNvPr>
          <p:cNvSpPr>
            <a:spLocks noGrp="1"/>
          </p:cNvSpPr>
          <p:nvPr/>
        </p:nvSpPr>
        <p:spPr>
          <a:xfrm>
            <a:off x="514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7" name="正方形/長方形 6">
            <a:extLst>
              <a:ext uri="{FF2B5EF4-FFF2-40B4-BE49-F238E27FC236}">
                <a16:creationId xmlns:a16="http://schemas.microsoft.com/office/drawing/2014/main" id="{B1BDF870-9B25-01C0-CCC4-3458282DD1E4}"/>
              </a:ext>
            </a:extLst>
          </p:cNvPr>
          <p:cNvSpPr>
            <a:spLocks noGrp="1"/>
          </p:cNvSpPr>
          <p:nvPr/>
        </p:nvSpPr>
        <p:spPr>
          <a:xfrm>
            <a:off x="685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01</a:t>
            </a:r>
          </a:p>
        </p:txBody>
      </p:sp>
      <p:sp>
        <p:nvSpPr>
          <p:cNvPr id="8" name="正方形/長方形 7">
            <a:extLst>
              <a:ext uri="{FF2B5EF4-FFF2-40B4-BE49-F238E27FC236}">
                <a16:creationId xmlns:a16="http://schemas.microsoft.com/office/drawing/2014/main" id="{5DBBF450-508C-2094-A846-DF22F4B17BD0}"/>
              </a:ext>
            </a:extLst>
          </p:cNvPr>
          <p:cNvSpPr>
            <a:spLocks noGrp="1"/>
          </p:cNvSpPr>
          <p:nvPr/>
        </p:nvSpPr>
        <p:spPr>
          <a:xfrm>
            <a:off x="685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説明対象を</a:t>
            </a:r>
          </a:p>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1つ選ぶ</a:t>
            </a:r>
          </a:p>
        </p:txBody>
      </p:sp>
      <p:sp>
        <p:nvSpPr>
          <p:cNvPr id="9" name="正方形/長方形 8">
            <a:extLst>
              <a:ext uri="{FF2B5EF4-FFF2-40B4-BE49-F238E27FC236}">
                <a16:creationId xmlns:a16="http://schemas.microsoft.com/office/drawing/2014/main" id="{8D708216-6C8A-7FFB-955D-4261AAA30822}"/>
              </a:ext>
            </a:extLst>
          </p:cNvPr>
          <p:cNvSpPr>
            <a:spLocks noGrp="1"/>
          </p:cNvSpPr>
          <p:nvPr/>
        </p:nvSpPr>
        <p:spPr>
          <a:xfrm>
            <a:off x="2800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0" name="正方形/長方形 9">
            <a:extLst>
              <a:ext uri="{FF2B5EF4-FFF2-40B4-BE49-F238E27FC236}">
                <a16:creationId xmlns:a16="http://schemas.microsoft.com/office/drawing/2014/main" id="{FDE8823F-C600-9E00-0EEE-E8E9636D2631}"/>
              </a:ext>
            </a:extLst>
          </p:cNvPr>
          <p:cNvSpPr>
            <a:spLocks noGrp="1"/>
          </p:cNvSpPr>
          <p:nvPr/>
        </p:nvSpPr>
        <p:spPr>
          <a:xfrm>
            <a:off x="2971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02</a:t>
            </a:r>
          </a:p>
        </p:txBody>
      </p:sp>
      <p:sp>
        <p:nvSpPr>
          <p:cNvPr id="11" name="正方形/長方形 10">
            <a:extLst>
              <a:ext uri="{FF2B5EF4-FFF2-40B4-BE49-F238E27FC236}">
                <a16:creationId xmlns:a16="http://schemas.microsoft.com/office/drawing/2014/main" id="{D5DAD645-D15A-AE43-F189-DAAA852C70A4}"/>
              </a:ext>
            </a:extLst>
          </p:cNvPr>
          <p:cNvSpPr>
            <a:spLocks noGrp="1"/>
          </p:cNvSpPr>
          <p:nvPr/>
        </p:nvSpPr>
        <p:spPr>
          <a:xfrm>
            <a:off x="2971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近傍サンプルを</a:t>
            </a:r>
          </a:p>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多数作る</a:t>
            </a:r>
          </a:p>
        </p:txBody>
      </p:sp>
      <p:sp>
        <p:nvSpPr>
          <p:cNvPr id="15" name="正方形/長方形 14">
            <a:extLst>
              <a:ext uri="{FF2B5EF4-FFF2-40B4-BE49-F238E27FC236}">
                <a16:creationId xmlns:a16="http://schemas.microsoft.com/office/drawing/2014/main" id="{0A5B0454-3FE0-6B8A-6988-B65205695725}"/>
              </a:ext>
            </a:extLst>
          </p:cNvPr>
          <p:cNvSpPr>
            <a:spLocks noGrp="1"/>
          </p:cNvSpPr>
          <p:nvPr/>
        </p:nvSpPr>
        <p:spPr>
          <a:xfrm>
            <a:off x="7372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6" name="正方形/長方形 15">
            <a:extLst>
              <a:ext uri="{FF2B5EF4-FFF2-40B4-BE49-F238E27FC236}">
                <a16:creationId xmlns:a16="http://schemas.microsoft.com/office/drawing/2014/main" id="{3709A8D8-901D-4795-E093-CAE6CEAE4C29}"/>
              </a:ext>
            </a:extLst>
          </p:cNvPr>
          <p:cNvSpPr>
            <a:spLocks noGrp="1"/>
          </p:cNvSpPr>
          <p:nvPr/>
        </p:nvSpPr>
        <p:spPr>
          <a:xfrm>
            <a:off x="7543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04</a:t>
            </a:r>
          </a:p>
        </p:txBody>
      </p:sp>
      <p:sp>
        <p:nvSpPr>
          <p:cNvPr id="17" name="正方形/長方形 16">
            <a:extLst>
              <a:ext uri="{FF2B5EF4-FFF2-40B4-BE49-F238E27FC236}">
                <a16:creationId xmlns:a16="http://schemas.microsoft.com/office/drawing/2014/main" id="{AB00427C-8EE8-5726-A172-5EFA76185C84}"/>
              </a:ext>
            </a:extLst>
          </p:cNvPr>
          <p:cNvSpPr>
            <a:spLocks noGrp="1"/>
          </p:cNvSpPr>
          <p:nvPr/>
        </p:nvSpPr>
        <p:spPr>
          <a:xfrm>
            <a:off x="7543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近いサンプルを</a:t>
            </a:r>
          </a:p>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強く重み付け</a:t>
            </a:r>
          </a:p>
        </p:txBody>
      </p:sp>
      <p:sp>
        <p:nvSpPr>
          <p:cNvPr id="18" name="正方形/長方形 17">
            <a:extLst>
              <a:ext uri="{FF2B5EF4-FFF2-40B4-BE49-F238E27FC236}">
                <a16:creationId xmlns:a16="http://schemas.microsoft.com/office/drawing/2014/main" id="{0097BD7E-BF61-E3F7-6DC0-1C4EAEFB5B82}"/>
              </a:ext>
            </a:extLst>
          </p:cNvPr>
          <p:cNvSpPr>
            <a:spLocks noGrp="1"/>
          </p:cNvSpPr>
          <p:nvPr/>
        </p:nvSpPr>
        <p:spPr>
          <a:xfrm>
            <a:off x="9658350" y="1080246"/>
            <a:ext cx="1952625" cy="1381125"/>
          </a:xfrm>
          <a:prstGeom prst="rect">
            <a:avLst/>
          </a:prstGeom>
          <a:solidFill>
            <a:srgbClr val="D1FAE5">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9" name="正方形/長方形 18">
            <a:extLst>
              <a:ext uri="{FF2B5EF4-FFF2-40B4-BE49-F238E27FC236}">
                <a16:creationId xmlns:a16="http://schemas.microsoft.com/office/drawing/2014/main" id="{02DBDFD1-4E7A-5761-1371-64C5D3154E9B}"/>
              </a:ext>
            </a:extLst>
          </p:cNvPr>
          <p:cNvSpPr>
            <a:spLocks noGrp="1"/>
          </p:cNvSpPr>
          <p:nvPr/>
        </p:nvSpPr>
        <p:spPr>
          <a:xfrm>
            <a:off x="9829800" y="1232646"/>
            <a:ext cx="476250" cy="247650"/>
          </a:xfrm>
          <a:prstGeom prst="rect">
            <a:avLst/>
          </a:prstGeom>
          <a:noFill/>
          <a:ln w="0">
            <a:noFill/>
            <a:prstDash val="solid"/>
          </a:ln>
        </p:spPr>
        <p:txBody>
          <a:bodyPr lIns="0" tIns="0" rIns="0" bIns="0" anchor="t">
            <a:noAutofit/>
          </a:bodyPr>
          <a:lstStyle/>
          <a:p>
            <a:pPr algn="l">
              <a:buNone/>
              <a:defRPr sz="1275" b="1">
                <a:solidFill>
                  <a:srgbClr val="10B981"/>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05</a:t>
            </a:r>
          </a:p>
        </p:txBody>
      </p:sp>
      <p:sp>
        <p:nvSpPr>
          <p:cNvPr id="20" name="正方形/長方形 19">
            <a:extLst>
              <a:ext uri="{FF2B5EF4-FFF2-40B4-BE49-F238E27FC236}">
                <a16:creationId xmlns:a16="http://schemas.microsoft.com/office/drawing/2014/main" id="{5FF85026-5120-7F39-14E0-4BD0120FF5E5}"/>
              </a:ext>
            </a:extLst>
          </p:cNvPr>
          <p:cNvSpPr>
            <a:spLocks noGrp="1"/>
          </p:cNvSpPr>
          <p:nvPr/>
        </p:nvSpPr>
        <p:spPr>
          <a:xfrm>
            <a:off x="9740154" y="1594596"/>
            <a:ext cx="178117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単純な局所モデルを</a:t>
            </a:r>
          </a:p>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学習する</a:t>
            </a:r>
          </a:p>
        </p:txBody>
      </p:sp>
      <p:sp>
        <p:nvSpPr>
          <p:cNvPr id="2" name="正方形/長方形 1">
            <a:extLst>
              <a:ext uri="{FF2B5EF4-FFF2-40B4-BE49-F238E27FC236}">
                <a16:creationId xmlns:a16="http://schemas.microsoft.com/office/drawing/2014/main" id="{F91CB9A1-95E6-0848-9A3B-E6BB95E5EDC4}"/>
              </a:ext>
            </a:extLst>
          </p:cNvPr>
          <p:cNvSpPr>
            <a:spLocks noGrp="1"/>
          </p:cNvSpPr>
          <p:nvPr/>
        </p:nvSpPr>
        <p:spPr>
          <a:xfrm>
            <a:off x="5086350" y="1080246"/>
            <a:ext cx="1952625" cy="1381125"/>
          </a:xfrm>
          <a:prstGeom prst="rect">
            <a:avLst/>
          </a:prstGeom>
          <a:solidFill>
            <a:srgbClr val="F3F4F6"/>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p>
        </p:txBody>
      </p:sp>
      <p:sp>
        <p:nvSpPr>
          <p:cNvPr id="3" name="正方形/長方形 2">
            <a:extLst>
              <a:ext uri="{FF2B5EF4-FFF2-40B4-BE49-F238E27FC236}">
                <a16:creationId xmlns:a16="http://schemas.microsoft.com/office/drawing/2014/main" id="{627B3B70-4FC6-0F35-5FF6-9A09A78A7BD3}"/>
              </a:ext>
            </a:extLst>
          </p:cNvPr>
          <p:cNvSpPr>
            <a:spLocks noGrp="1"/>
          </p:cNvSpPr>
          <p:nvPr/>
        </p:nvSpPr>
        <p:spPr>
          <a:xfrm>
            <a:off x="5257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rgbClr val="2563EB"/>
                </a:solidFill>
                <a:latin typeface="Hiragino Sans"/>
                <a:ea typeface="Hiragino Sans"/>
                <a:cs typeface="Hiragino Sans"/>
              </a:rPr>
              <a:t>03</a:t>
            </a:r>
          </a:p>
        </p:txBody>
      </p:sp>
      <p:sp>
        <p:nvSpPr>
          <p:cNvPr id="4" name="正方形/長方形 3">
            <a:extLst>
              <a:ext uri="{FF2B5EF4-FFF2-40B4-BE49-F238E27FC236}">
                <a16:creationId xmlns:a16="http://schemas.microsoft.com/office/drawing/2014/main" id="{DBB452A6-B84B-6494-DD5A-1DF6AB5F76C7}"/>
              </a:ext>
            </a:extLst>
          </p:cNvPr>
          <p:cNvSpPr>
            <a:spLocks noGrp="1"/>
          </p:cNvSpPr>
          <p:nvPr/>
        </p:nvSpPr>
        <p:spPr>
          <a:xfrm>
            <a:off x="5172074" y="1614327"/>
            <a:ext cx="178117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rgbClr val="111827"/>
                </a:solidFill>
                <a:latin typeface="Hiragino Sans"/>
                <a:ea typeface="Hiragino Sans"/>
                <a:cs typeface="Hiragino Sans"/>
              </a:rPr>
              <a:t>ブラックボックスの</a:t>
            </a:r>
          </a:p>
          <a:p>
            <a:pPr algn="ctr">
              <a:buNone/>
              <a:defRPr sz="1500" b="1">
                <a:solidFill>
                  <a:srgbClr val="111827"/>
                </a:solidFill>
                <a:latin typeface="Hiragino Sans"/>
                <a:ea typeface="Hiragino Sans"/>
                <a:cs typeface="Hiragino Sans"/>
              </a:defRPr>
            </a:pPr>
            <a:r>
              <a:rPr lang="ja-JP" sz="1600" b="1" noProof="1">
                <a:solidFill>
                  <a:srgbClr val="111827"/>
                </a:solidFill>
                <a:latin typeface="Hiragino Sans"/>
                <a:ea typeface="Hiragino Sans"/>
                <a:cs typeface="Hiragino Sans"/>
              </a:rPr>
              <a:t>予測を得る</a:t>
            </a:r>
          </a:p>
        </p:txBody>
      </p:sp>
      <p:sp>
        <p:nvSpPr>
          <p:cNvPr id="5" name="正方形/長方形 4">
            <a:extLst>
              <a:ext uri="{FF2B5EF4-FFF2-40B4-BE49-F238E27FC236}">
                <a16:creationId xmlns:a16="http://schemas.microsoft.com/office/drawing/2014/main" id="{0FA4F3AA-3AA9-666F-45C4-BDCCC478200C}"/>
              </a:ext>
            </a:extLst>
          </p:cNvPr>
          <p:cNvSpPr>
            <a:spLocks noGrp="1"/>
          </p:cNvSpPr>
          <p:nvPr/>
        </p:nvSpPr>
        <p:spPr>
          <a:xfrm>
            <a:off x="514350" y="419100"/>
            <a:ext cx="114300" cy="457200"/>
          </a:xfrm>
          <a:prstGeom prst="rect">
            <a:avLst/>
          </a:prstGeom>
          <a:solidFill>
            <a:srgbClr val="2F6BDE"/>
          </a:solidFill>
          <a:ln w="0">
            <a:solidFill>
              <a:srgbClr val="2F6BDE"/>
            </a:solidFill>
            <a:prstDash val="solid"/>
          </a:ln>
        </p:spPr>
        <p:txBody>
          <a:bodyPr/>
          <a:lstStyle/>
          <a:p>
            <a:endParaRPr lang="ja-JP" noProof="1"/>
          </a:p>
        </p:txBody>
      </p:sp>
      <p:sp>
        <p:nvSpPr>
          <p:cNvPr id="12" name="slide-4-title">
            <a:extLst>
              <a:ext uri="{FF2B5EF4-FFF2-40B4-BE49-F238E27FC236}">
                <a16:creationId xmlns:a16="http://schemas.microsoft.com/office/drawing/2014/main" id="{309ACB44-43FC-A70D-523B-35BAA3AFFC7A}"/>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buNone/>
              <a:defRPr sz="2850" b="1">
                <a:solidFill>
                  <a:srgbClr val="12233A"/>
                </a:solidFill>
                <a:latin typeface="Hiragino Sans"/>
                <a:ea typeface="Hiragino Sans"/>
                <a:cs typeface="Hiragino Sans"/>
              </a:defRPr>
            </a:pPr>
            <a:r>
              <a:rPr lang="ja-JP" sz="2850" b="1" noProof="1">
                <a:solidFill>
                  <a:srgbClr val="12233A"/>
                </a:solidFill>
                <a:latin typeface="Hiragino Sans"/>
                <a:ea typeface="Hiragino Sans"/>
                <a:cs typeface="Hiragino Sans"/>
              </a:rPr>
              <a:t>LIMEのアルゴリズム</a:t>
            </a:r>
          </a:p>
        </p:txBody>
      </p:sp>
      <p:pic>
        <p:nvPicPr>
          <p:cNvPr id="14" name="画面収録 2026-09-09 18.02.34 2">
            <a:hlinkClick r:id="" action="ppaction://media"/>
            <a:extLst>
              <a:ext uri="{FF2B5EF4-FFF2-40B4-BE49-F238E27FC236}">
                <a16:creationId xmlns:a16="http://schemas.microsoft.com/office/drawing/2014/main" id="{0C537316-77CD-5F58-F742-98E5BBF26B45}"/>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022027" y="2737596"/>
            <a:ext cx="6147945" cy="3960000"/>
          </a:xfrm>
          <a:prstGeom prst="rect">
            <a:avLst/>
          </a:prstGeom>
        </p:spPr>
      </p:pic>
    </p:spTree>
    <p:extLst>
      <p:ext uri="{BB962C8B-B14F-4D97-AF65-F5344CB8AC3E}">
        <p14:creationId xmlns:p14="http://schemas.microsoft.com/office/powerpoint/2010/main" val="27597290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520"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4"/>
                </p:tgtEl>
              </p:cMediaNode>
            </p:video>
            <p:seq concurrent="1" nextAc="seek">
              <p:cTn id="8" restart="whenNotActive" fill="hold" evtFilter="cancelBubble" nodeType="interactiveSeq">
                <p:stCondLst>
                  <p:cond evt="onClick" delay="0">
                    <p:tgtEl>
                      <p:spTgt spid="1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4"/>
                                        </p:tgtEl>
                                      </p:cBhvr>
                                    </p:cmd>
                                  </p:childTnLst>
                                </p:cTn>
                              </p:par>
                            </p:childTnLst>
                          </p:cTn>
                        </p:par>
                      </p:childTnLst>
                    </p:cTn>
                  </p:par>
                </p:childTnLst>
              </p:cTn>
              <p:nextCondLst>
                <p:cond evt="onClick" delay="0">
                  <p:tgtEl>
                    <p:spTgt spid="14"/>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B8B00-8BEC-F730-1625-1A742A0E4719}"/>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43EFFD5F-4B6D-7191-3F50-0B724B9E633F}"/>
              </a:ext>
            </a:extLst>
          </p:cNvPr>
          <p:cNvSpPr>
            <a:spLocks noGrp="1"/>
          </p:cNvSpPr>
          <p:nvPr/>
        </p:nvSpPr>
        <p:spPr>
          <a:xfrm>
            <a:off x="514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7" name="正方形/長方形 6">
            <a:extLst>
              <a:ext uri="{FF2B5EF4-FFF2-40B4-BE49-F238E27FC236}">
                <a16:creationId xmlns:a16="http://schemas.microsoft.com/office/drawing/2014/main" id="{C3941646-D2BA-45C5-D7C4-520FB381010E}"/>
              </a:ext>
            </a:extLst>
          </p:cNvPr>
          <p:cNvSpPr>
            <a:spLocks noGrp="1"/>
          </p:cNvSpPr>
          <p:nvPr/>
        </p:nvSpPr>
        <p:spPr>
          <a:xfrm>
            <a:off x="685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01</a:t>
            </a:r>
          </a:p>
        </p:txBody>
      </p:sp>
      <p:sp>
        <p:nvSpPr>
          <p:cNvPr id="8" name="正方形/長方形 7">
            <a:extLst>
              <a:ext uri="{FF2B5EF4-FFF2-40B4-BE49-F238E27FC236}">
                <a16:creationId xmlns:a16="http://schemas.microsoft.com/office/drawing/2014/main" id="{3DC9EB6C-E29C-6B4F-D204-F841189B38EA}"/>
              </a:ext>
            </a:extLst>
          </p:cNvPr>
          <p:cNvSpPr>
            <a:spLocks noGrp="1"/>
          </p:cNvSpPr>
          <p:nvPr/>
        </p:nvSpPr>
        <p:spPr>
          <a:xfrm>
            <a:off x="685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説明対象を</a:t>
            </a:r>
          </a:p>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1つ選ぶ</a:t>
            </a:r>
          </a:p>
        </p:txBody>
      </p:sp>
      <p:sp>
        <p:nvSpPr>
          <p:cNvPr id="9" name="正方形/長方形 8">
            <a:extLst>
              <a:ext uri="{FF2B5EF4-FFF2-40B4-BE49-F238E27FC236}">
                <a16:creationId xmlns:a16="http://schemas.microsoft.com/office/drawing/2014/main" id="{3FD7E6DA-1178-FCAF-3238-14CF21480142}"/>
              </a:ext>
            </a:extLst>
          </p:cNvPr>
          <p:cNvSpPr>
            <a:spLocks noGrp="1"/>
          </p:cNvSpPr>
          <p:nvPr/>
        </p:nvSpPr>
        <p:spPr>
          <a:xfrm>
            <a:off x="2800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0" name="正方形/長方形 9">
            <a:extLst>
              <a:ext uri="{FF2B5EF4-FFF2-40B4-BE49-F238E27FC236}">
                <a16:creationId xmlns:a16="http://schemas.microsoft.com/office/drawing/2014/main" id="{8C8CA965-F6E3-A4A5-60B6-5B6F8C6D464F}"/>
              </a:ext>
            </a:extLst>
          </p:cNvPr>
          <p:cNvSpPr>
            <a:spLocks noGrp="1"/>
          </p:cNvSpPr>
          <p:nvPr/>
        </p:nvSpPr>
        <p:spPr>
          <a:xfrm>
            <a:off x="2971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02</a:t>
            </a:r>
          </a:p>
        </p:txBody>
      </p:sp>
      <p:sp>
        <p:nvSpPr>
          <p:cNvPr id="11" name="正方形/長方形 10">
            <a:extLst>
              <a:ext uri="{FF2B5EF4-FFF2-40B4-BE49-F238E27FC236}">
                <a16:creationId xmlns:a16="http://schemas.microsoft.com/office/drawing/2014/main" id="{67B6094C-CDC7-1532-6586-9CE9CE437513}"/>
              </a:ext>
            </a:extLst>
          </p:cNvPr>
          <p:cNvSpPr>
            <a:spLocks noGrp="1"/>
          </p:cNvSpPr>
          <p:nvPr/>
        </p:nvSpPr>
        <p:spPr>
          <a:xfrm>
            <a:off x="2971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近傍サンプルを</a:t>
            </a:r>
          </a:p>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多数作る</a:t>
            </a:r>
          </a:p>
        </p:txBody>
      </p:sp>
      <p:sp>
        <p:nvSpPr>
          <p:cNvPr id="12" name="正方形/長方形 11">
            <a:extLst>
              <a:ext uri="{FF2B5EF4-FFF2-40B4-BE49-F238E27FC236}">
                <a16:creationId xmlns:a16="http://schemas.microsoft.com/office/drawing/2014/main" id="{EF9A0871-E3B6-BAE0-AE38-265F14EF4861}"/>
              </a:ext>
            </a:extLst>
          </p:cNvPr>
          <p:cNvSpPr>
            <a:spLocks noGrp="1"/>
          </p:cNvSpPr>
          <p:nvPr/>
        </p:nvSpPr>
        <p:spPr>
          <a:xfrm>
            <a:off x="5086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3" name="正方形/長方形 12">
            <a:extLst>
              <a:ext uri="{FF2B5EF4-FFF2-40B4-BE49-F238E27FC236}">
                <a16:creationId xmlns:a16="http://schemas.microsoft.com/office/drawing/2014/main" id="{45774B55-FF80-DE77-AB83-E89944027C31}"/>
              </a:ext>
            </a:extLst>
          </p:cNvPr>
          <p:cNvSpPr>
            <a:spLocks noGrp="1"/>
          </p:cNvSpPr>
          <p:nvPr/>
        </p:nvSpPr>
        <p:spPr>
          <a:xfrm>
            <a:off x="5257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03</a:t>
            </a:r>
          </a:p>
        </p:txBody>
      </p:sp>
      <p:sp>
        <p:nvSpPr>
          <p:cNvPr id="14" name="正方形/長方形 13">
            <a:extLst>
              <a:ext uri="{FF2B5EF4-FFF2-40B4-BE49-F238E27FC236}">
                <a16:creationId xmlns:a16="http://schemas.microsoft.com/office/drawing/2014/main" id="{2E1FCBC6-B496-0FAB-6F43-331BC2407496}"/>
              </a:ext>
            </a:extLst>
          </p:cNvPr>
          <p:cNvSpPr>
            <a:spLocks noGrp="1"/>
          </p:cNvSpPr>
          <p:nvPr/>
        </p:nvSpPr>
        <p:spPr>
          <a:xfrm>
            <a:off x="5172074" y="1614327"/>
            <a:ext cx="178117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ブラックボックスの</a:t>
            </a:r>
          </a:p>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予測を得る</a:t>
            </a:r>
          </a:p>
        </p:txBody>
      </p:sp>
      <p:sp>
        <p:nvSpPr>
          <p:cNvPr id="18" name="正方形/長方形 17">
            <a:extLst>
              <a:ext uri="{FF2B5EF4-FFF2-40B4-BE49-F238E27FC236}">
                <a16:creationId xmlns:a16="http://schemas.microsoft.com/office/drawing/2014/main" id="{B65D1F28-B2CB-996D-A371-C9F363921E9C}"/>
              </a:ext>
            </a:extLst>
          </p:cNvPr>
          <p:cNvSpPr>
            <a:spLocks noGrp="1"/>
          </p:cNvSpPr>
          <p:nvPr/>
        </p:nvSpPr>
        <p:spPr>
          <a:xfrm>
            <a:off x="9658350" y="1080246"/>
            <a:ext cx="1952625" cy="1381125"/>
          </a:xfrm>
          <a:prstGeom prst="rect">
            <a:avLst/>
          </a:prstGeom>
          <a:solidFill>
            <a:srgbClr val="D1FAE5">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9" name="正方形/長方形 18">
            <a:extLst>
              <a:ext uri="{FF2B5EF4-FFF2-40B4-BE49-F238E27FC236}">
                <a16:creationId xmlns:a16="http://schemas.microsoft.com/office/drawing/2014/main" id="{24D0DE74-B8B8-2A0C-4EF7-E1ECD971E9CB}"/>
              </a:ext>
            </a:extLst>
          </p:cNvPr>
          <p:cNvSpPr>
            <a:spLocks noGrp="1"/>
          </p:cNvSpPr>
          <p:nvPr/>
        </p:nvSpPr>
        <p:spPr>
          <a:xfrm>
            <a:off x="9829800" y="1232646"/>
            <a:ext cx="476250" cy="247650"/>
          </a:xfrm>
          <a:prstGeom prst="rect">
            <a:avLst/>
          </a:prstGeom>
          <a:noFill/>
          <a:ln w="0">
            <a:noFill/>
            <a:prstDash val="solid"/>
          </a:ln>
        </p:spPr>
        <p:txBody>
          <a:bodyPr lIns="0" tIns="0" rIns="0" bIns="0" anchor="t">
            <a:noAutofit/>
          </a:bodyPr>
          <a:lstStyle/>
          <a:p>
            <a:pPr algn="l">
              <a:buNone/>
              <a:defRPr sz="1275" b="1">
                <a:solidFill>
                  <a:srgbClr val="10B981"/>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05</a:t>
            </a:r>
          </a:p>
        </p:txBody>
      </p:sp>
      <p:sp>
        <p:nvSpPr>
          <p:cNvPr id="20" name="正方形/長方形 19">
            <a:extLst>
              <a:ext uri="{FF2B5EF4-FFF2-40B4-BE49-F238E27FC236}">
                <a16:creationId xmlns:a16="http://schemas.microsoft.com/office/drawing/2014/main" id="{DFBFE61B-48D2-78D4-8C15-47A51DC9BF7B}"/>
              </a:ext>
            </a:extLst>
          </p:cNvPr>
          <p:cNvSpPr>
            <a:spLocks noGrp="1"/>
          </p:cNvSpPr>
          <p:nvPr/>
        </p:nvSpPr>
        <p:spPr>
          <a:xfrm>
            <a:off x="9740154" y="1594596"/>
            <a:ext cx="178117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単純な局所モデルを</a:t>
            </a:r>
          </a:p>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学習する</a:t>
            </a:r>
          </a:p>
        </p:txBody>
      </p:sp>
      <p:sp>
        <p:nvSpPr>
          <p:cNvPr id="2" name="正方形/長方形 1">
            <a:extLst>
              <a:ext uri="{FF2B5EF4-FFF2-40B4-BE49-F238E27FC236}">
                <a16:creationId xmlns:a16="http://schemas.microsoft.com/office/drawing/2014/main" id="{9F866185-45FA-7C22-DDB8-F86F78303D5D}"/>
              </a:ext>
            </a:extLst>
          </p:cNvPr>
          <p:cNvSpPr>
            <a:spLocks noGrp="1"/>
          </p:cNvSpPr>
          <p:nvPr/>
        </p:nvSpPr>
        <p:spPr>
          <a:xfrm>
            <a:off x="7372350" y="1080246"/>
            <a:ext cx="1952625" cy="1381125"/>
          </a:xfrm>
          <a:prstGeom prst="rect">
            <a:avLst/>
          </a:prstGeom>
          <a:solidFill>
            <a:srgbClr val="F3F4F6"/>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p>
        </p:txBody>
      </p:sp>
      <p:sp>
        <p:nvSpPr>
          <p:cNvPr id="3" name="正方形/長方形 2">
            <a:extLst>
              <a:ext uri="{FF2B5EF4-FFF2-40B4-BE49-F238E27FC236}">
                <a16:creationId xmlns:a16="http://schemas.microsoft.com/office/drawing/2014/main" id="{928D2C8C-8AE4-B533-4108-AA6E270F2848}"/>
              </a:ext>
            </a:extLst>
          </p:cNvPr>
          <p:cNvSpPr>
            <a:spLocks noGrp="1"/>
          </p:cNvSpPr>
          <p:nvPr/>
        </p:nvSpPr>
        <p:spPr>
          <a:xfrm>
            <a:off x="7543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rgbClr val="2563EB"/>
                </a:solidFill>
                <a:latin typeface="Hiragino Sans"/>
                <a:ea typeface="Hiragino Sans"/>
                <a:cs typeface="Hiragino Sans"/>
              </a:rPr>
              <a:t>04</a:t>
            </a:r>
          </a:p>
        </p:txBody>
      </p:sp>
      <p:sp>
        <p:nvSpPr>
          <p:cNvPr id="4" name="正方形/長方形 3">
            <a:extLst>
              <a:ext uri="{FF2B5EF4-FFF2-40B4-BE49-F238E27FC236}">
                <a16:creationId xmlns:a16="http://schemas.microsoft.com/office/drawing/2014/main" id="{8F556982-4D99-979B-0980-44636202A65E}"/>
              </a:ext>
            </a:extLst>
          </p:cNvPr>
          <p:cNvSpPr>
            <a:spLocks noGrp="1"/>
          </p:cNvSpPr>
          <p:nvPr/>
        </p:nvSpPr>
        <p:spPr>
          <a:xfrm>
            <a:off x="7543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rgbClr val="111827"/>
                </a:solidFill>
                <a:latin typeface="Hiragino Sans"/>
                <a:ea typeface="Hiragino Sans"/>
                <a:cs typeface="Hiragino Sans"/>
              </a:rPr>
              <a:t>近いサンプルを</a:t>
            </a:r>
          </a:p>
          <a:p>
            <a:pPr algn="ctr">
              <a:buNone/>
              <a:defRPr sz="1500" b="1">
                <a:solidFill>
                  <a:srgbClr val="111827"/>
                </a:solidFill>
                <a:latin typeface="Hiragino Sans"/>
                <a:ea typeface="Hiragino Sans"/>
                <a:cs typeface="Hiragino Sans"/>
              </a:defRPr>
            </a:pPr>
            <a:r>
              <a:rPr lang="ja-JP" sz="1600" b="1" noProof="1">
                <a:solidFill>
                  <a:srgbClr val="111827"/>
                </a:solidFill>
                <a:latin typeface="Hiragino Sans"/>
                <a:ea typeface="Hiragino Sans"/>
                <a:cs typeface="Hiragino Sans"/>
              </a:rPr>
              <a:t>強く重み付け</a:t>
            </a:r>
          </a:p>
        </p:txBody>
      </p:sp>
      <p:sp>
        <p:nvSpPr>
          <p:cNvPr id="5" name="正方形/長方形 4">
            <a:extLst>
              <a:ext uri="{FF2B5EF4-FFF2-40B4-BE49-F238E27FC236}">
                <a16:creationId xmlns:a16="http://schemas.microsoft.com/office/drawing/2014/main" id="{B2B0DD3A-059B-3643-A753-0CC34E39479D}"/>
              </a:ext>
            </a:extLst>
          </p:cNvPr>
          <p:cNvSpPr>
            <a:spLocks noGrp="1"/>
          </p:cNvSpPr>
          <p:nvPr/>
        </p:nvSpPr>
        <p:spPr>
          <a:xfrm>
            <a:off x="514350" y="419100"/>
            <a:ext cx="114300" cy="457200"/>
          </a:xfrm>
          <a:prstGeom prst="rect">
            <a:avLst/>
          </a:prstGeom>
          <a:solidFill>
            <a:srgbClr val="2F6BDE"/>
          </a:solidFill>
          <a:ln w="0">
            <a:solidFill>
              <a:srgbClr val="2F6BDE"/>
            </a:solidFill>
            <a:prstDash val="solid"/>
          </a:ln>
        </p:spPr>
        <p:txBody>
          <a:bodyPr/>
          <a:lstStyle/>
          <a:p>
            <a:endParaRPr lang="ja-JP" noProof="1"/>
          </a:p>
        </p:txBody>
      </p:sp>
      <p:sp>
        <p:nvSpPr>
          <p:cNvPr id="15" name="slide-4-title">
            <a:extLst>
              <a:ext uri="{FF2B5EF4-FFF2-40B4-BE49-F238E27FC236}">
                <a16:creationId xmlns:a16="http://schemas.microsoft.com/office/drawing/2014/main" id="{AA16A8F2-3321-3F15-4C66-39799696C4C9}"/>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buNone/>
              <a:defRPr sz="2850" b="1">
                <a:solidFill>
                  <a:srgbClr val="12233A"/>
                </a:solidFill>
                <a:latin typeface="Hiragino Sans"/>
                <a:ea typeface="Hiragino Sans"/>
                <a:cs typeface="Hiragino Sans"/>
              </a:defRPr>
            </a:pPr>
            <a:r>
              <a:rPr lang="ja-JP" sz="2850" b="1" noProof="1">
                <a:solidFill>
                  <a:srgbClr val="12233A"/>
                </a:solidFill>
                <a:latin typeface="Hiragino Sans"/>
                <a:ea typeface="Hiragino Sans"/>
                <a:cs typeface="Hiragino Sans"/>
              </a:rPr>
              <a:t>LIMEのアルゴリズム</a:t>
            </a:r>
          </a:p>
        </p:txBody>
      </p:sp>
      <p:pic>
        <p:nvPicPr>
          <p:cNvPr id="17" name="画面収録 2026-09-09 18.02.34 5">
            <a:hlinkClick r:id="" action="ppaction://media"/>
            <a:extLst>
              <a:ext uri="{FF2B5EF4-FFF2-40B4-BE49-F238E27FC236}">
                <a16:creationId xmlns:a16="http://schemas.microsoft.com/office/drawing/2014/main" id="{C87B006C-44FA-D773-7104-FF52091E5271}"/>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022027" y="2737596"/>
            <a:ext cx="6147945" cy="3960000"/>
          </a:xfrm>
          <a:prstGeom prst="rect">
            <a:avLst/>
          </a:prstGeom>
        </p:spPr>
      </p:pic>
    </p:spTree>
    <p:extLst>
      <p:ext uri="{BB962C8B-B14F-4D97-AF65-F5344CB8AC3E}">
        <p14:creationId xmlns:p14="http://schemas.microsoft.com/office/powerpoint/2010/main" val="22183023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483"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7"/>
                </p:tgtEl>
              </p:cMediaNode>
            </p:video>
            <p:seq concurrent="1" nextAc="seek">
              <p:cTn id="8" restart="whenNotActive" fill="hold" evtFilter="cancelBubble" nodeType="interactiveSeq">
                <p:stCondLst>
                  <p:cond evt="onClick" delay="0">
                    <p:tgtEl>
                      <p:spTgt spid="1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7"/>
                                        </p:tgtEl>
                                      </p:cBhvr>
                                    </p:cmd>
                                  </p:childTnLst>
                                </p:cTn>
                              </p:par>
                            </p:childTnLst>
                          </p:cTn>
                        </p:par>
                      </p:childTnLst>
                    </p:cTn>
                  </p:par>
                </p:childTnLst>
              </p:cTn>
              <p:nextCondLst>
                <p:cond evt="onClick" delay="0">
                  <p:tgtEl>
                    <p:spTgt spid="17"/>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4B7F44-3B09-0537-786E-8621A381A310}"/>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EF5368AD-64BC-246E-EF82-77CBD2D5DA0C}"/>
              </a:ext>
            </a:extLst>
          </p:cNvPr>
          <p:cNvSpPr>
            <a:spLocks noGrp="1"/>
          </p:cNvSpPr>
          <p:nvPr/>
        </p:nvSpPr>
        <p:spPr>
          <a:xfrm>
            <a:off x="514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7" name="正方形/長方形 6">
            <a:extLst>
              <a:ext uri="{FF2B5EF4-FFF2-40B4-BE49-F238E27FC236}">
                <a16:creationId xmlns:a16="http://schemas.microsoft.com/office/drawing/2014/main" id="{E5717226-9A6C-88E2-9F0B-9F314D94C43B}"/>
              </a:ext>
            </a:extLst>
          </p:cNvPr>
          <p:cNvSpPr>
            <a:spLocks noGrp="1"/>
          </p:cNvSpPr>
          <p:nvPr/>
        </p:nvSpPr>
        <p:spPr>
          <a:xfrm>
            <a:off x="685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01</a:t>
            </a:r>
          </a:p>
        </p:txBody>
      </p:sp>
      <p:sp>
        <p:nvSpPr>
          <p:cNvPr id="8" name="正方形/長方形 7">
            <a:extLst>
              <a:ext uri="{FF2B5EF4-FFF2-40B4-BE49-F238E27FC236}">
                <a16:creationId xmlns:a16="http://schemas.microsoft.com/office/drawing/2014/main" id="{B3BF9A55-8BA8-016C-8679-317A4EC842EF}"/>
              </a:ext>
            </a:extLst>
          </p:cNvPr>
          <p:cNvSpPr>
            <a:spLocks noGrp="1"/>
          </p:cNvSpPr>
          <p:nvPr/>
        </p:nvSpPr>
        <p:spPr>
          <a:xfrm>
            <a:off x="685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説明対象を</a:t>
            </a:r>
          </a:p>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1つ選ぶ</a:t>
            </a:r>
          </a:p>
        </p:txBody>
      </p:sp>
      <p:sp>
        <p:nvSpPr>
          <p:cNvPr id="9" name="正方形/長方形 8">
            <a:extLst>
              <a:ext uri="{FF2B5EF4-FFF2-40B4-BE49-F238E27FC236}">
                <a16:creationId xmlns:a16="http://schemas.microsoft.com/office/drawing/2014/main" id="{D542EA79-9A93-1950-5B8E-6B457882F004}"/>
              </a:ext>
            </a:extLst>
          </p:cNvPr>
          <p:cNvSpPr>
            <a:spLocks noGrp="1"/>
          </p:cNvSpPr>
          <p:nvPr/>
        </p:nvSpPr>
        <p:spPr>
          <a:xfrm>
            <a:off x="2800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0" name="正方形/長方形 9">
            <a:extLst>
              <a:ext uri="{FF2B5EF4-FFF2-40B4-BE49-F238E27FC236}">
                <a16:creationId xmlns:a16="http://schemas.microsoft.com/office/drawing/2014/main" id="{BAB4ABE1-35BC-39A1-9C62-8C0B223EEB4E}"/>
              </a:ext>
            </a:extLst>
          </p:cNvPr>
          <p:cNvSpPr>
            <a:spLocks noGrp="1"/>
          </p:cNvSpPr>
          <p:nvPr/>
        </p:nvSpPr>
        <p:spPr>
          <a:xfrm>
            <a:off x="2971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02</a:t>
            </a:r>
          </a:p>
        </p:txBody>
      </p:sp>
      <p:sp>
        <p:nvSpPr>
          <p:cNvPr id="11" name="正方形/長方形 10">
            <a:extLst>
              <a:ext uri="{FF2B5EF4-FFF2-40B4-BE49-F238E27FC236}">
                <a16:creationId xmlns:a16="http://schemas.microsoft.com/office/drawing/2014/main" id="{EADD7E9A-B5E8-E0D9-46E5-C551676C5CE2}"/>
              </a:ext>
            </a:extLst>
          </p:cNvPr>
          <p:cNvSpPr>
            <a:spLocks noGrp="1"/>
          </p:cNvSpPr>
          <p:nvPr/>
        </p:nvSpPr>
        <p:spPr>
          <a:xfrm>
            <a:off x="2971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近傍サンプルを</a:t>
            </a:r>
          </a:p>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多数作る</a:t>
            </a:r>
          </a:p>
        </p:txBody>
      </p:sp>
      <p:sp>
        <p:nvSpPr>
          <p:cNvPr id="12" name="正方形/長方形 11">
            <a:extLst>
              <a:ext uri="{FF2B5EF4-FFF2-40B4-BE49-F238E27FC236}">
                <a16:creationId xmlns:a16="http://schemas.microsoft.com/office/drawing/2014/main" id="{610EB8F9-E635-B7CF-EA66-9BA500BEB301}"/>
              </a:ext>
            </a:extLst>
          </p:cNvPr>
          <p:cNvSpPr>
            <a:spLocks noGrp="1"/>
          </p:cNvSpPr>
          <p:nvPr/>
        </p:nvSpPr>
        <p:spPr>
          <a:xfrm>
            <a:off x="5086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3" name="正方形/長方形 12">
            <a:extLst>
              <a:ext uri="{FF2B5EF4-FFF2-40B4-BE49-F238E27FC236}">
                <a16:creationId xmlns:a16="http://schemas.microsoft.com/office/drawing/2014/main" id="{63EC6B09-93F7-CAFC-48DC-1D3A311A0104}"/>
              </a:ext>
            </a:extLst>
          </p:cNvPr>
          <p:cNvSpPr>
            <a:spLocks noGrp="1"/>
          </p:cNvSpPr>
          <p:nvPr/>
        </p:nvSpPr>
        <p:spPr>
          <a:xfrm>
            <a:off x="5257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03</a:t>
            </a:r>
          </a:p>
        </p:txBody>
      </p:sp>
      <p:sp>
        <p:nvSpPr>
          <p:cNvPr id="14" name="正方形/長方形 13">
            <a:extLst>
              <a:ext uri="{FF2B5EF4-FFF2-40B4-BE49-F238E27FC236}">
                <a16:creationId xmlns:a16="http://schemas.microsoft.com/office/drawing/2014/main" id="{24813A5C-11C8-DB02-EA5F-D411DC9BDFDC}"/>
              </a:ext>
            </a:extLst>
          </p:cNvPr>
          <p:cNvSpPr>
            <a:spLocks noGrp="1"/>
          </p:cNvSpPr>
          <p:nvPr/>
        </p:nvSpPr>
        <p:spPr>
          <a:xfrm>
            <a:off x="5172074" y="1614327"/>
            <a:ext cx="178117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ブラックボックスの</a:t>
            </a:r>
          </a:p>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予測を得る</a:t>
            </a:r>
          </a:p>
        </p:txBody>
      </p:sp>
      <p:sp>
        <p:nvSpPr>
          <p:cNvPr id="15" name="正方形/長方形 14">
            <a:extLst>
              <a:ext uri="{FF2B5EF4-FFF2-40B4-BE49-F238E27FC236}">
                <a16:creationId xmlns:a16="http://schemas.microsoft.com/office/drawing/2014/main" id="{FEF74BA2-7BDA-7FCA-E01F-F8840F5A2C47}"/>
              </a:ext>
            </a:extLst>
          </p:cNvPr>
          <p:cNvSpPr>
            <a:spLocks noGrp="1"/>
          </p:cNvSpPr>
          <p:nvPr/>
        </p:nvSpPr>
        <p:spPr>
          <a:xfrm>
            <a:off x="7372350" y="1080246"/>
            <a:ext cx="1952625" cy="1381125"/>
          </a:xfrm>
          <a:prstGeom prst="rect">
            <a:avLst/>
          </a:prstGeom>
          <a:solidFill>
            <a:srgbClr val="F3F4F6">
              <a:alpha val="56000"/>
            </a:srgbClr>
          </a:solidFill>
          <a:ln w="19050">
            <a:solidFill>
              <a:srgbClr val="CBD5E1"/>
            </a:solidFill>
            <a:prstDash val="solid"/>
          </a:ln>
          <a:effectLst>
            <a:outerShdw blurRad="50800" dist="38100" dir="2700000" algn="tl" rotWithShape="0">
              <a:prstClr val="black">
                <a:alpha val="40000"/>
              </a:prstClr>
            </a:outerShdw>
          </a:effectLst>
        </p:spPr>
        <p:txBody>
          <a:bodyPr/>
          <a:lstStyle/>
          <a:p>
            <a:endParaRPr lang="ja-JP" noProof="1">
              <a:solidFill>
                <a:schemeClr val="bg1">
                  <a:lumMod val="65000"/>
                </a:schemeClr>
              </a:solidFill>
            </a:endParaRPr>
          </a:p>
        </p:txBody>
      </p:sp>
      <p:sp>
        <p:nvSpPr>
          <p:cNvPr id="16" name="正方形/長方形 15">
            <a:extLst>
              <a:ext uri="{FF2B5EF4-FFF2-40B4-BE49-F238E27FC236}">
                <a16:creationId xmlns:a16="http://schemas.microsoft.com/office/drawing/2014/main" id="{CD51178C-D75C-5CF0-0F6B-E64283D88082}"/>
              </a:ext>
            </a:extLst>
          </p:cNvPr>
          <p:cNvSpPr>
            <a:spLocks noGrp="1"/>
          </p:cNvSpPr>
          <p:nvPr/>
        </p:nvSpPr>
        <p:spPr>
          <a:xfrm>
            <a:off x="7543800" y="1232646"/>
            <a:ext cx="476250" cy="247650"/>
          </a:xfrm>
          <a:prstGeom prst="rect">
            <a:avLst/>
          </a:prstGeom>
          <a:noFill/>
          <a:ln w="0">
            <a:noFill/>
            <a:prstDash val="solid"/>
          </a:ln>
        </p:spPr>
        <p:txBody>
          <a:bodyPr lIns="0" tIns="0" rIns="0" bIns="0" anchor="t">
            <a:noAutofit/>
          </a:bodyPr>
          <a:lstStyle/>
          <a:p>
            <a:pPr algn="l">
              <a:buNone/>
              <a:defRPr sz="1275" b="1">
                <a:solidFill>
                  <a:srgbClr val="2563EB"/>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04</a:t>
            </a:r>
          </a:p>
        </p:txBody>
      </p:sp>
      <p:sp>
        <p:nvSpPr>
          <p:cNvPr id="17" name="正方形/長方形 16">
            <a:extLst>
              <a:ext uri="{FF2B5EF4-FFF2-40B4-BE49-F238E27FC236}">
                <a16:creationId xmlns:a16="http://schemas.microsoft.com/office/drawing/2014/main" id="{6427D3AD-FEB3-6D9C-E607-2AD54EAD8F75}"/>
              </a:ext>
            </a:extLst>
          </p:cNvPr>
          <p:cNvSpPr>
            <a:spLocks noGrp="1"/>
          </p:cNvSpPr>
          <p:nvPr/>
        </p:nvSpPr>
        <p:spPr>
          <a:xfrm>
            <a:off x="7543800" y="1594596"/>
            <a:ext cx="160972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近いサンプルを</a:t>
            </a:r>
          </a:p>
          <a:p>
            <a:pPr algn="ctr">
              <a:buNone/>
              <a:defRPr sz="1500" b="1">
                <a:solidFill>
                  <a:srgbClr val="111827"/>
                </a:solidFill>
                <a:latin typeface="Hiragino Sans"/>
                <a:ea typeface="Hiragino Sans"/>
                <a:cs typeface="Hiragino Sans"/>
              </a:defRPr>
            </a:pPr>
            <a:r>
              <a:rPr lang="ja-JP" sz="1600" b="1" noProof="1">
                <a:solidFill>
                  <a:schemeClr val="bg1">
                    <a:lumMod val="65000"/>
                  </a:schemeClr>
                </a:solidFill>
                <a:latin typeface="Hiragino Sans"/>
                <a:ea typeface="Hiragino Sans"/>
                <a:cs typeface="Hiragino Sans"/>
              </a:rPr>
              <a:t>強く重み付け</a:t>
            </a:r>
          </a:p>
        </p:txBody>
      </p:sp>
      <p:sp>
        <p:nvSpPr>
          <p:cNvPr id="2" name="正方形/長方形 1">
            <a:extLst>
              <a:ext uri="{FF2B5EF4-FFF2-40B4-BE49-F238E27FC236}">
                <a16:creationId xmlns:a16="http://schemas.microsoft.com/office/drawing/2014/main" id="{8BB376D6-0E31-1C1A-4E24-FCB45B0EEE46}"/>
              </a:ext>
            </a:extLst>
          </p:cNvPr>
          <p:cNvSpPr>
            <a:spLocks noGrp="1"/>
          </p:cNvSpPr>
          <p:nvPr/>
        </p:nvSpPr>
        <p:spPr>
          <a:xfrm>
            <a:off x="9658350" y="1080246"/>
            <a:ext cx="1952625" cy="1381125"/>
          </a:xfrm>
          <a:prstGeom prst="rect">
            <a:avLst/>
          </a:prstGeom>
          <a:solidFill>
            <a:srgbClr val="D1FAE5"/>
          </a:solidFill>
          <a:ln w="19050">
            <a:solidFill>
              <a:srgbClr val="10B981"/>
            </a:solidFill>
            <a:prstDash val="solid"/>
          </a:ln>
          <a:effectLst>
            <a:outerShdw blurRad="50800" dist="38100" dir="2700000" algn="tl" rotWithShape="0">
              <a:prstClr val="black">
                <a:alpha val="40000"/>
              </a:prstClr>
            </a:outerShdw>
          </a:effectLst>
        </p:spPr>
        <p:txBody>
          <a:bodyPr/>
          <a:lstStyle/>
          <a:p>
            <a:endParaRPr lang="ja-JP" noProof="1"/>
          </a:p>
        </p:txBody>
      </p:sp>
      <p:sp>
        <p:nvSpPr>
          <p:cNvPr id="3" name="正方形/長方形 2">
            <a:extLst>
              <a:ext uri="{FF2B5EF4-FFF2-40B4-BE49-F238E27FC236}">
                <a16:creationId xmlns:a16="http://schemas.microsoft.com/office/drawing/2014/main" id="{03160ED9-62D9-3B0F-729D-BC69AFF46C96}"/>
              </a:ext>
            </a:extLst>
          </p:cNvPr>
          <p:cNvSpPr>
            <a:spLocks noGrp="1"/>
          </p:cNvSpPr>
          <p:nvPr/>
        </p:nvSpPr>
        <p:spPr>
          <a:xfrm>
            <a:off x="9829800" y="1232646"/>
            <a:ext cx="476250" cy="247650"/>
          </a:xfrm>
          <a:prstGeom prst="rect">
            <a:avLst/>
          </a:prstGeom>
          <a:noFill/>
          <a:ln w="0">
            <a:noFill/>
            <a:prstDash val="solid"/>
          </a:ln>
        </p:spPr>
        <p:txBody>
          <a:bodyPr lIns="0" tIns="0" rIns="0" bIns="0" anchor="t">
            <a:noAutofit/>
          </a:bodyPr>
          <a:lstStyle/>
          <a:p>
            <a:pPr algn="l">
              <a:buNone/>
              <a:defRPr sz="1275" b="1">
                <a:solidFill>
                  <a:srgbClr val="10B981"/>
                </a:solidFill>
                <a:latin typeface="Hiragino Sans"/>
                <a:ea typeface="Hiragino Sans"/>
                <a:cs typeface="Hiragino Sans"/>
              </a:defRPr>
            </a:pPr>
            <a:r>
              <a:rPr lang="ja-JP" sz="1600" b="1" noProof="1">
                <a:solidFill>
                  <a:srgbClr val="10B981"/>
                </a:solidFill>
                <a:latin typeface="Hiragino Sans"/>
                <a:ea typeface="Hiragino Sans"/>
                <a:cs typeface="Hiragino Sans"/>
              </a:rPr>
              <a:t>05</a:t>
            </a:r>
          </a:p>
        </p:txBody>
      </p:sp>
      <p:sp>
        <p:nvSpPr>
          <p:cNvPr id="4" name="正方形/長方形 3">
            <a:extLst>
              <a:ext uri="{FF2B5EF4-FFF2-40B4-BE49-F238E27FC236}">
                <a16:creationId xmlns:a16="http://schemas.microsoft.com/office/drawing/2014/main" id="{2AF270E5-F770-A111-3F16-59AB90B24098}"/>
              </a:ext>
            </a:extLst>
          </p:cNvPr>
          <p:cNvSpPr>
            <a:spLocks noGrp="1"/>
          </p:cNvSpPr>
          <p:nvPr/>
        </p:nvSpPr>
        <p:spPr>
          <a:xfrm>
            <a:off x="9740154" y="1594596"/>
            <a:ext cx="1781175" cy="628650"/>
          </a:xfrm>
          <a:prstGeom prst="rect">
            <a:avLst/>
          </a:prstGeom>
          <a:noFill/>
          <a:ln w="0">
            <a:noFill/>
            <a:prstDash val="solid"/>
          </a:ln>
        </p:spPr>
        <p:txBody>
          <a:bodyPr lIns="0" tIns="0" rIns="0" bIns="0" anchor="t">
            <a:noAutofit/>
          </a:bodyPr>
          <a:lstStyle/>
          <a:p>
            <a:pPr algn="ctr">
              <a:buNone/>
              <a:defRPr sz="1500" b="1">
                <a:solidFill>
                  <a:srgbClr val="111827"/>
                </a:solidFill>
                <a:latin typeface="Hiragino Sans"/>
                <a:ea typeface="Hiragino Sans"/>
                <a:cs typeface="Hiragino Sans"/>
              </a:defRPr>
            </a:pPr>
            <a:r>
              <a:rPr lang="ja-JP" sz="1600" b="1" noProof="1">
                <a:solidFill>
                  <a:srgbClr val="111827"/>
                </a:solidFill>
                <a:latin typeface="Hiragino Sans"/>
                <a:ea typeface="Hiragino Sans"/>
                <a:cs typeface="Hiragino Sans"/>
              </a:rPr>
              <a:t>単純な局所モデルを</a:t>
            </a:r>
          </a:p>
          <a:p>
            <a:pPr algn="ctr">
              <a:buNone/>
              <a:defRPr sz="1500" b="1">
                <a:solidFill>
                  <a:srgbClr val="111827"/>
                </a:solidFill>
                <a:latin typeface="Hiragino Sans"/>
                <a:ea typeface="Hiragino Sans"/>
                <a:cs typeface="Hiragino Sans"/>
              </a:defRPr>
            </a:pPr>
            <a:r>
              <a:rPr lang="ja-JP" sz="1600" b="1" noProof="1">
                <a:solidFill>
                  <a:srgbClr val="111827"/>
                </a:solidFill>
                <a:latin typeface="Hiragino Sans"/>
                <a:ea typeface="Hiragino Sans"/>
                <a:cs typeface="Hiragino Sans"/>
              </a:rPr>
              <a:t>学習する</a:t>
            </a:r>
          </a:p>
        </p:txBody>
      </p:sp>
      <p:sp>
        <p:nvSpPr>
          <p:cNvPr id="5" name="正方形/長方形 4">
            <a:extLst>
              <a:ext uri="{FF2B5EF4-FFF2-40B4-BE49-F238E27FC236}">
                <a16:creationId xmlns:a16="http://schemas.microsoft.com/office/drawing/2014/main" id="{7C9FDA28-445D-3D8B-6F06-085F9C1BA8E7}"/>
              </a:ext>
            </a:extLst>
          </p:cNvPr>
          <p:cNvSpPr>
            <a:spLocks noGrp="1"/>
          </p:cNvSpPr>
          <p:nvPr/>
        </p:nvSpPr>
        <p:spPr>
          <a:xfrm>
            <a:off x="514350" y="419100"/>
            <a:ext cx="114300" cy="457200"/>
          </a:xfrm>
          <a:prstGeom prst="rect">
            <a:avLst/>
          </a:prstGeom>
          <a:solidFill>
            <a:srgbClr val="2F6BDE"/>
          </a:solidFill>
          <a:ln w="0">
            <a:solidFill>
              <a:srgbClr val="2F6BDE"/>
            </a:solidFill>
            <a:prstDash val="solid"/>
          </a:ln>
        </p:spPr>
        <p:txBody>
          <a:bodyPr/>
          <a:lstStyle/>
          <a:p>
            <a:endParaRPr lang="ja-JP" noProof="1"/>
          </a:p>
        </p:txBody>
      </p:sp>
      <p:sp>
        <p:nvSpPr>
          <p:cNvPr id="18" name="slide-4-title">
            <a:extLst>
              <a:ext uri="{FF2B5EF4-FFF2-40B4-BE49-F238E27FC236}">
                <a16:creationId xmlns:a16="http://schemas.microsoft.com/office/drawing/2014/main" id="{D5B457B3-0683-CB63-247E-1F28015C5E46}"/>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buNone/>
              <a:defRPr sz="2850" b="1">
                <a:solidFill>
                  <a:srgbClr val="12233A"/>
                </a:solidFill>
                <a:latin typeface="Hiragino Sans"/>
                <a:ea typeface="Hiragino Sans"/>
                <a:cs typeface="Hiragino Sans"/>
              </a:defRPr>
            </a:pPr>
            <a:r>
              <a:rPr lang="ja-JP" sz="2850" b="1" noProof="1">
                <a:solidFill>
                  <a:srgbClr val="12233A"/>
                </a:solidFill>
                <a:latin typeface="Hiragino Sans"/>
                <a:ea typeface="Hiragino Sans"/>
                <a:cs typeface="Hiragino Sans"/>
              </a:rPr>
              <a:t>LIMEのアルゴリズム</a:t>
            </a:r>
          </a:p>
        </p:txBody>
      </p:sp>
      <p:pic>
        <p:nvPicPr>
          <p:cNvPr id="21" name="画面収録 2026-09-09 18.02.34 4">
            <a:hlinkClick r:id="" action="ppaction://media"/>
            <a:extLst>
              <a:ext uri="{FF2B5EF4-FFF2-40B4-BE49-F238E27FC236}">
                <a16:creationId xmlns:a16="http://schemas.microsoft.com/office/drawing/2014/main" id="{A71E4283-0CFC-0C34-F885-5605FC0AF483}"/>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022027" y="2737596"/>
            <a:ext cx="6147945" cy="3960000"/>
          </a:xfrm>
          <a:prstGeom prst="rect">
            <a:avLst/>
          </a:prstGeom>
        </p:spPr>
      </p:pic>
    </p:spTree>
    <p:extLst>
      <p:ext uri="{BB962C8B-B14F-4D97-AF65-F5344CB8AC3E}">
        <p14:creationId xmlns:p14="http://schemas.microsoft.com/office/powerpoint/2010/main" val="3789721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606"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1"/>
                </p:tgtEl>
              </p:cMediaNode>
            </p:video>
            <p:seq concurrent="1" nextAc="seek">
              <p:cTn id="8" restart="whenNotActive" fill="hold" evtFilter="cancelBubble" nodeType="interactiveSeq">
                <p:stCondLst>
                  <p:cond evt="onClick" delay="0">
                    <p:tgtEl>
                      <p:spTgt spid="21"/>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1"/>
                                        </p:tgtEl>
                                      </p:cBhvr>
                                    </p:cmd>
                                  </p:childTnLst>
                                </p:cTn>
                              </p:par>
                            </p:childTnLst>
                          </p:cTn>
                        </p:par>
                      </p:childTnLst>
                    </p:cTn>
                  </p:par>
                </p:childTnLst>
              </p:cTn>
              <p:nextCondLst>
                <p:cond evt="onClick" delay="0">
                  <p:tgtEl>
                    <p:spTgt spid="21"/>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accent-bar"/>
          <p:cNvSpPr>
            <a:spLocks noGrp="1"/>
          </p:cNvSpPr>
          <p:nvPr/>
        </p:nvSpPr>
        <p:spPr>
          <a:xfrm>
            <a:off x="514350" y="409575"/>
            <a:ext cx="114300" cy="476250"/>
          </a:xfrm>
          <a:prstGeom prst="rect">
            <a:avLst/>
          </a:prstGeom>
          <a:solidFill>
            <a:srgbClr val="156082"/>
          </a:solidFill>
          <a:ln w="0">
            <a:noFill/>
            <a:prstDash val="solid"/>
          </a:ln>
        </p:spPr>
        <p:txBody>
          <a:bodyPr/>
          <a:lstStyle/>
          <a:p>
            <a:endParaRPr lang="ja-JP" noProof="0"/>
          </a:p>
        </p:txBody>
      </p:sp>
      <p:sp>
        <p:nvSpPr>
          <p:cNvPr id="3" name="title"/>
          <p:cNvSpPr>
            <a:spLocks noGrp="1"/>
          </p:cNvSpPr>
          <p:nvPr/>
        </p:nvSpPr>
        <p:spPr>
          <a:xfrm>
            <a:off x="762000" y="342900"/>
            <a:ext cx="10668000" cy="476250"/>
          </a:xfrm>
          <a:prstGeom prst="rect">
            <a:avLst/>
          </a:prstGeom>
          <a:noFill/>
          <a:ln w="0">
            <a:noFill/>
            <a:prstDash val="solid"/>
          </a:ln>
        </p:spPr>
        <p:txBody>
          <a:bodyPr lIns="0" tIns="0" rIns="0" bIns="0" anchor="ctr">
            <a:noAutofit/>
          </a:bodyPr>
          <a:lstStyle/>
          <a:p>
            <a:pPr algn="l">
              <a:buNone/>
              <a:defRPr sz="2550" b="1">
                <a:solidFill>
                  <a:srgbClr val="17233D"/>
                </a:solidFill>
                <a:latin typeface="Hiragino Sans"/>
                <a:ea typeface="Hiragino Sans"/>
                <a:cs typeface="Hiragino Sans"/>
              </a:defRPr>
            </a:pPr>
            <a:r>
              <a:rPr lang="ja-JP" sz="2550" b="1" noProof="0">
                <a:solidFill>
                  <a:srgbClr val="17233D"/>
                </a:solidFill>
                <a:latin typeface="Hiragino Sans"/>
                <a:ea typeface="Hiragino Sans"/>
                <a:cs typeface="Hiragino Sans"/>
              </a:rPr>
              <a:t>目次</a:t>
            </a:r>
          </a:p>
        </p:txBody>
      </p:sp>
      <p:sp>
        <p:nvSpPr>
          <p:cNvPr id="6" name="toc-item-0"/>
          <p:cNvSpPr>
            <a:spLocks noGrp="1"/>
          </p:cNvSpPr>
          <p:nvPr/>
        </p:nvSpPr>
        <p:spPr>
          <a:xfrm>
            <a:off x="1200000" y="150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1. XAI（説明可能なAI）</a:t>
            </a:r>
          </a:p>
        </p:txBody>
      </p:sp>
      <p:sp>
        <p:nvSpPr>
          <p:cNvPr id="7" name="toc-item-1"/>
          <p:cNvSpPr>
            <a:spLocks noGrp="1"/>
          </p:cNvSpPr>
          <p:nvPr/>
        </p:nvSpPr>
        <p:spPr>
          <a:xfrm>
            <a:off x="1200000" y="212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2. LIME</a:t>
            </a:r>
          </a:p>
        </p:txBody>
      </p:sp>
      <p:sp>
        <p:nvSpPr>
          <p:cNvPr id="8" name="toc-item-2"/>
          <p:cNvSpPr>
            <a:spLocks noGrp="1"/>
          </p:cNvSpPr>
          <p:nvPr/>
        </p:nvSpPr>
        <p:spPr>
          <a:xfrm>
            <a:off x="1200000" y="2740000"/>
            <a:ext cx="9792000" cy="620000"/>
          </a:xfrm>
          <a:prstGeom prst="rect">
            <a:avLst/>
          </a:prstGeom>
          <a:noFill/>
          <a:ln w="0">
            <a:noFill/>
            <a:prstDash val="solid"/>
          </a:ln>
        </p:spPr>
        <p:txBody>
          <a:bodyPr lIns="0" tIns="0" rIns="0" bIns="0" anchor="ctr">
            <a:noAutofit/>
          </a:bodyPr>
          <a:lstStyle/>
          <a:p>
            <a:pPr algn="l">
              <a:buNone/>
              <a:defRPr sz="2200" b="1">
                <a:solidFill>
                  <a:srgbClr val="156082"/>
                </a:solidFill>
                <a:latin typeface="Hiragino Sans"/>
                <a:ea typeface="Hiragino Sans"/>
                <a:cs typeface="Hiragino Sans"/>
              </a:defRPr>
            </a:pPr>
            <a:r>
              <a:rPr lang="ja-JP" sz="2200" b="1" noProof="0">
                <a:solidFill>
                  <a:srgbClr val="156082"/>
                </a:solidFill>
                <a:latin typeface="Hiragino Sans"/>
                <a:ea typeface="Hiragino Sans"/>
                <a:cs typeface="Hiragino Sans"/>
              </a:rPr>
              <a:t>3. 多クラスに応用したLIME</a:t>
            </a:r>
          </a:p>
        </p:txBody>
      </p:sp>
      <p:sp>
        <p:nvSpPr>
          <p:cNvPr id="9" name="toc-item-3"/>
          <p:cNvSpPr>
            <a:spLocks noGrp="1"/>
          </p:cNvSpPr>
          <p:nvPr/>
        </p:nvSpPr>
        <p:spPr>
          <a:xfrm>
            <a:off x="1200000" y="336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4. 関連研究</a:t>
            </a:r>
          </a:p>
        </p:txBody>
      </p:sp>
      <p:sp>
        <p:nvSpPr>
          <p:cNvPr id="10" name="toc-item-4"/>
          <p:cNvSpPr>
            <a:spLocks noGrp="1"/>
          </p:cNvSpPr>
          <p:nvPr/>
        </p:nvSpPr>
        <p:spPr>
          <a:xfrm>
            <a:off x="1200000" y="398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5. 提案手法</a:t>
            </a:r>
          </a:p>
        </p:txBody>
      </p:sp>
      <p:sp>
        <p:nvSpPr>
          <p:cNvPr id="11" name="toc-item-5"/>
          <p:cNvSpPr>
            <a:spLocks noGrp="1"/>
          </p:cNvSpPr>
          <p:nvPr/>
        </p:nvSpPr>
        <p:spPr>
          <a:xfrm>
            <a:off x="1200000" y="460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6. 実験と考察</a:t>
            </a:r>
          </a:p>
        </p:txBody>
      </p:sp>
      <p:sp>
        <p:nvSpPr>
          <p:cNvPr id="12" name="toc-item-6"/>
          <p:cNvSpPr>
            <a:spLocks noGrp="1"/>
          </p:cNvSpPr>
          <p:nvPr/>
        </p:nvSpPr>
        <p:spPr>
          <a:xfrm>
            <a:off x="1200000" y="522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7. まとめと今後の展望</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CFCFD"/>
        </a:solidFill>
        <a:effectLst/>
      </p:bgPr>
    </p:bg>
    <p:spTree>
      <p:nvGrpSpPr>
        <p:cNvPr id="1" name=""/>
        <p:cNvGrpSpPr/>
        <p:nvPr/>
      </p:nvGrpSpPr>
      <p:grpSpPr>
        <a:xfrm>
          <a:off x="0" y="0"/>
          <a:ext cx="0" cy="0"/>
          <a:chOff x="0" y="0"/>
          <a:chExt cx="0" cy="0"/>
        </a:xfrm>
      </p:grpSpPr>
      <p:sp>
        <p:nvSpPr>
          <p:cNvPr id="43" name="正方形/長方形 42">
            <a:extLst>
              <a:ext uri="{FF2B5EF4-FFF2-40B4-BE49-F238E27FC236}">
                <a16:creationId xmlns:a16="http://schemas.microsoft.com/office/drawing/2014/main" id="{75B03E4F-669E-46AD-8995-B735FDE175D7}"/>
              </a:ext>
            </a:extLst>
          </p:cNvPr>
          <p:cNvSpPr>
            <a:spLocks noGrp="1"/>
          </p:cNvSpPr>
          <p:nvPr/>
        </p:nvSpPr>
        <p:spPr>
          <a:xfrm>
            <a:off x="514350" y="419100"/>
            <a:ext cx="114300" cy="457200"/>
          </a:xfrm>
          <a:prstGeom prst="rect">
            <a:avLst/>
          </a:prstGeom>
          <a:solidFill>
            <a:srgbClr val="2F6BDE"/>
          </a:solidFill>
          <a:ln w="0">
            <a:solidFill>
              <a:srgbClr val="2F6BDE"/>
            </a:solidFill>
            <a:prstDash val="solid"/>
          </a:ln>
        </p:spPr>
        <p:txBody>
          <a:bodyPr/>
          <a:lstStyle/>
          <a:p>
            <a:endParaRPr lang="ja-JP" noProof="1"/>
          </a:p>
        </p:txBody>
      </p:sp>
      <p:sp>
        <p:nvSpPr>
          <p:cNvPr id="2" name="slide-6-title">
            <a:extLst>
              <a:ext uri="{FF2B5EF4-FFF2-40B4-BE49-F238E27FC236}">
                <a16:creationId xmlns:a16="http://schemas.microsoft.com/office/drawing/2014/main" id="{EAE8545E-ADD6-41B6-B78C-F298C201E6FC}"/>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lgn="l">
              <a:buNone/>
              <a:defRPr sz="2850" b="1">
                <a:solidFill>
                  <a:srgbClr val="12233A"/>
                </a:solidFill>
                <a:latin typeface="Hiragino Sans"/>
                <a:ea typeface="Hiragino Sans"/>
                <a:cs typeface="Hiragino Sans"/>
              </a:defRPr>
            </a:pPr>
            <a:r>
              <a:rPr lang="ja-JP" sz="2850" b="1" noProof="1">
                <a:solidFill>
                  <a:srgbClr val="12233A"/>
                </a:solidFill>
                <a:latin typeface="Hiragino Sans"/>
                <a:ea typeface="Hiragino Sans"/>
                <a:cs typeface="Hiragino Sans"/>
              </a:rPr>
              <a:t>多クラスLIMEでは</a:t>
            </a:r>
          </a:p>
        </p:txBody>
      </p:sp>
      <p:sp>
        <p:nvSpPr>
          <p:cNvPr id="6" name="右矢印 5">
            <a:extLst>
              <a:ext uri="{FF2B5EF4-FFF2-40B4-BE49-F238E27FC236}">
                <a16:creationId xmlns:a16="http://schemas.microsoft.com/office/drawing/2014/main" id="{A392FB28-107F-4343-B6F4-C01FC65427E6}"/>
              </a:ext>
            </a:extLst>
          </p:cNvPr>
          <p:cNvSpPr>
            <a:spLocks noGrp="1"/>
          </p:cNvSpPr>
          <p:nvPr/>
        </p:nvSpPr>
        <p:spPr>
          <a:xfrm>
            <a:off x="6762750" y="1989832"/>
            <a:ext cx="781050" cy="228600"/>
          </a:xfrm>
          <a:prstGeom prst="rightArrow">
            <a:avLst/>
          </a:prstGeom>
          <a:solidFill>
            <a:srgbClr val="2563EB"/>
          </a:solidFill>
          <a:ln w="0">
            <a:solidFill>
              <a:srgbClr val="2563EB"/>
            </a:solidFill>
            <a:prstDash val="solid"/>
          </a:ln>
        </p:spPr>
        <p:txBody>
          <a:bodyPr/>
          <a:lstStyle/>
          <a:p>
            <a:endParaRPr lang="ja-JP" noProof="1"/>
          </a:p>
        </p:txBody>
      </p:sp>
      <p:sp>
        <p:nvSpPr>
          <p:cNvPr id="7" name="右矢印 6">
            <a:extLst>
              <a:ext uri="{FF2B5EF4-FFF2-40B4-BE49-F238E27FC236}">
                <a16:creationId xmlns:a16="http://schemas.microsoft.com/office/drawing/2014/main" id="{2C44CEEF-A69A-4B94-B7C1-F1084EEA7A7D}"/>
              </a:ext>
            </a:extLst>
          </p:cNvPr>
          <p:cNvSpPr>
            <a:spLocks noGrp="1"/>
          </p:cNvSpPr>
          <p:nvPr/>
        </p:nvSpPr>
        <p:spPr>
          <a:xfrm>
            <a:off x="6762750" y="3651944"/>
            <a:ext cx="781050" cy="228600"/>
          </a:xfrm>
          <a:prstGeom prst="rightArrow">
            <a:avLst/>
          </a:prstGeom>
          <a:solidFill>
            <a:srgbClr val="2563EB"/>
          </a:solidFill>
          <a:ln w="0">
            <a:solidFill>
              <a:srgbClr val="2563EB"/>
            </a:solidFill>
            <a:prstDash val="solid"/>
          </a:ln>
        </p:spPr>
        <p:txBody>
          <a:bodyPr/>
          <a:lstStyle/>
          <a:p>
            <a:endParaRPr lang="ja-JP" noProof="1"/>
          </a:p>
        </p:txBody>
      </p:sp>
      <p:sp>
        <p:nvSpPr>
          <p:cNvPr id="8" name="右矢印 7">
            <a:extLst>
              <a:ext uri="{FF2B5EF4-FFF2-40B4-BE49-F238E27FC236}">
                <a16:creationId xmlns:a16="http://schemas.microsoft.com/office/drawing/2014/main" id="{165C1FB6-07EB-4CB8-A00E-804DB69EC155}"/>
              </a:ext>
            </a:extLst>
          </p:cNvPr>
          <p:cNvSpPr>
            <a:spLocks noGrp="1"/>
          </p:cNvSpPr>
          <p:nvPr/>
        </p:nvSpPr>
        <p:spPr>
          <a:xfrm>
            <a:off x="6762750" y="5371207"/>
            <a:ext cx="781050" cy="228600"/>
          </a:xfrm>
          <a:prstGeom prst="rightArrow">
            <a:avLst/>
          </a:prstGeom>
          <a:solidFill>
            <a:srgbClr val="2563EB"/>
          </a:solidFill>
          <a:ln w="0">
            <a:solidFill>
              <a:srgbClr val="2563EB"/>
            </a:solidFill>
            <a:prstDash val="solid"/>
          </a:ln>
        </p:spPr>
        <p:txBody>
          <a:bodyPr/>
          <a:lstStyle/>
          <a:p>
            <a:endParaRPr lang="ja-JP" noProof="1"/>
          </a:p>
        </p:txBody>
      </p:sp>
      <p:sp>
        <p:nvSpPr>
          <p:cNvPr id="23" name="正方形/長方形 22">
            <a:extLst>
              <a:ext uri="{FF2B5EF4-FFF2-40B4-BE49-F238E27FC236}">
                <a16:creationId xmlns:a16="http://schemas.microsoft.com/office/drawing/2014/main" id="{1BA368D7-7D39-4F06-AD92-EA6E8938B8EF}"/>
              </a:ext>
            </a:extLst>
          </p:cNvPr>
          <p:cNvSpPr>
            <a:spLocks noGrp="1"/>
          </p:cNvSpPr>
          <p:nvPr/>
        </p:nvSpPr>
        <p:spPr>
          <a:xfrm>
            <a:off x="7753549" y="1561207"/>
            <a:ext cx="3040744" cy="952500"/>
          </a:xfrm>
          <a:prstGeom prst="rect">
            <a:avLst/>
          </a:prstGeom>
          <a:solidFill>
            <a:srgbClr val="FFFFFF"/>
          </a:solidFill>
          <a:ln w="19050">
            <a:solidFill>
              <a:srgbClr val="2563EB"/>
            </a:solidFill>
            <a:prstDash val="solid"/>
          </a:ln>
          <a:effectLst>
            <a:outerShdw blurRad="50800" dist="38100" dir="2700000" algn="tl" rotWithShape="0">
              <a:prstClr val="black">
                <a:alpha val="40000"/>
              </a:prstClr>
            </a:outerShdw>
          </a:effectLst>
        </p:spPr>
        <p:txBody>
          <a:bodyPr/>
          <a:lstStyle/>
          <a:p>
            <a:endParaRPr lang="ja-JP" noProof="1"/>
          </a:p>
        </p:txBody>
      </p:sp>
      <p:sp>
        <p:nvSpPr>
          <p:cNvPr id="24" name="正方形/長方形 23">
            <a:extLst>
              <a:ext uri="{FF2B5EF4-FFF2-40B4-BE49-F238E27FC236}">
                <a16:creationId xmlns:a16="http://schemas.microsoft.com/office/drawing/2014/main" id="{B9595C5D-93F3-4C71-8E12-DC56FE107BBF}"/>
              </a:ext>
            </a:extLst>
          </p:cNvPr>
          <p:cNvSpPr>
            <a:spLocks noGrp="1"/>
          </p:cNvSpPr>
          <p:nvPr/>
        </p:nvSpPr>
        <p:spPr>
          <a:xfrm>
            <a:off x="9798571" y="1961257"/>
            <a:ext cx="938750" cy="285750"/>
          </a:xfrm>
          <a:prstGeom prst="rect">
            <a:avLst/>
          </a:prstGeom>
          <a:noFill/>
          <a:ln w="0">
            <a:noFill/>
            <a:prstDash val="solid"/>
          </a:ln>
        </p:spPr>
        <p:txBody>
          <a:bodyPr lIns="0" tIns="0" rIns="0" bIns="0" anchor="t">
            <a:noAutofit/>
          </a:bodyPr>
          <a:lstStyle/>
          <a:p>
            <a:pPr algn="l">
              <a:buNone/>
              <a:defRPr sz="1725" b="1">
                <a:solidFill>
                  <a:srgbClr val="2563EB"/>
                </a:solidFill>
                <a:latin typeface="Hiragino Sans"/>
                <a:ea typeface="Hiragino Sans"/>
                <a:cs typeface="Hiragino Sans"/>
              </a:defRPr>
            </a:pPr>
            <a:r>
              <a:rPr lang="ja-JP" sz="1725" b="1" noProof="1">
                <a:solidFill>
                  <a:srgbClr val="2563EB"/>
                </a:solidFill>
                <a:latin typeface="Hiragino Sans"/>
                <a:ea typeface="Hiragino Sans"/>
                <a:cs typeface="Hiragino Sans"/>
              </a:rPr>
              <a:t>クラス A</a:t>
            </a:r>
          </a:p>
        </p:txBody>
      </p:sp>
      <p:sp>
        <p:nvSpPr>
          <p:cNvPr id="26" name="正方形/長方形 25">
            <a:extLst>
              <a:ext uri="{FF2B5EF4-FFF2-40B4-BE49-F238E27FC236}">
                <a16:creationId xmlns:a16="http://schemas.microsoft.com/office/drawing/2014/main" id="{869E9EB9-411B-4B32-91F9-88B41FF2A2B7}"/>
              </a:ext>
            </a:extLst>
          </p:cNvPr>
          <p:cNvSpPr>
            <a:spLocks noGrp="1"/>
          </p:cNvSpPr>
          <p:nvPr/>
        </p:nvSpPr>
        <p:spPr>
          <a:xfrm>
            <a:off x="9035308" y="1805143"/>
            <a:ext cx="166477" cy="123825"/>
          </a:xfrm>
          <a:prstGeom prst="rect">
            <a:avLst/>
          </a:prstGeom>
          <a:solidFill>
            <a:srgbClr val="2563EB"/>
          </a:solidFill>
          <a:ln w="0">
            <a:solidFill>
              <a:srgbClr val="2563EB"/>
            </a:solidFill>
            <a:prstDash val="solid"/>
          </a:ln>
        </p:spPr>
        <p:txBody>
          <a:bodyPr/>
          <a:lstStyle/>
          <a:p>
            <a:endParaRPr lang="ja-JP" noProof="1"/>
          </a:p>
        </p:txBody>
      </p:sp>
      <p:sp>
        <p:nvSpPr>
          <p:cNvPr id="27" name="正方形/長方形 26">
            <a:extLst>
              <a:ext uri="{FF2B5EF4-FFF2-40B4-BE49-F238E27FC236}">
                <a16:creationId xmlns:a16="http://schemas.microsoft.com/office/drawing/2014/main" id="{15BAD9F4-2728-4449-9113-6BB31670F490}"/>
              </a:ext>
            </a:extLst>
          </p:cNvPr>
          <p:cNvSpPr>
            <a:spLocks noGrp="1"/>
          </p:cNvSpPr>
          <p:nvPr/>
        </p:nvSpPr>
        <p:spPr>
          <a:xfrm>
            <a:off x="9201785" y="2024218"/>
            <a:ext cx="571500" cy="123825"/>
          </a:xfrm>
          <a:prstGeom prst="rect">
            <a:avLst/>
          </a:prstGeom>
          <a:solidFill>
            <a:srgbClr val="2563EB"/>
          </a:solidFill>
          <a:ln w="0">
            <a:solidFill>
              <a:srgbClr val="2563EB"/>
            </a:solidFill>
            <a:prstDash val="solid"/>
          </a:ln>
        </p:spPr>
        <p:txBody>
          <a:bodyPr/>
          <a:lstStyle/>
          <a:p>
            <a:endParaRPr lang="ja-JP" noProof="1"/>
          </a:p>
        </p:txBody>
      </p:sp>
      <p:sp>
        <p:nvSpPr>
          <p:cNvPr id="28" name="正方形/長方形 27">
            <a:extLst>
              <a:ext uri="{FF2B5EF4-FFF2-40B4-BE49-F238E27FC236}">
                <a16:creationId xmlns:a16="http://schemas.microsoft.com/office/drawing/2014/main" id="{BBDE719E-8423-4658-9822-7F007DB5C20A}"/>
              </a:ext>
            </a:extLst>
          </p:cNvPr>
          <p:cNvSpPr>
            <a:spLocks noGrp="1"/>
          </p:cNvSpPr>
          <p:nvPr/>
        </p:nvSpPr>
        <p:spPr>
          <a:xfrm>
            <a:off x="8744585" y="2243293"/>
            <a:ext cx="457200" cy="123825"/>
          </a:xfrm>
          <a:prstGeom prst="rect">
            <a:avLst/>
          </a:prstGeom>
          <a:solidFill>
            <a:srgbClr val="2563EB"/>
          </a:solidFill>
          <a:ln w="0">
            <a:solidFill>
              <a:srgbClr val="2563EB"/>
            </a:solidFill>
            <a:prstDash val="solid"/>
          </a:ln>
        </p:spPr>
        <p:txBody>
          <a:bodyPr/>
          <a:lstStyle/>
          <a:p>
            <a:endParaRPr lang="ja-JP" noProof="1"/>
          </a:p>
        </p:txBody>
      </p:sp>
      <p:sp>
        <p:nvSpPr>
          <p:cNvPr id="29" name="正方形/長方形 28">
            <a:extLst>
              <a:ext uri="{FF2B5EF4-FFF2-40B4-BE49-F238E27FC236}">
                <a16:creationId xmlns:a16="http://schemas.microsoft.com/office/drawing/2014/main" id="{F05E33A5-6337-46C8-A697-3CC64A56C71E}"/>
              </a:ext>
            </a:extLst>
          </p:cNvPr>
          <p:cNvSpPr>
            <a:spLocks noGrp="1"/>
          </p:cNvSpPr>
          <p:nvPr/>
        </p:nvSpPr>
        <p:spPr>
          <a:xfrm>
            <a:off x="7753549" y="3251894"/>
            <a:ext cx="3040744" cy="952500"/>
          </a:xfrm>
          <a:prstGeom prst="rect">
            <a:avLst/>
          </a:prstGeom>
          <a:solidFill>
            <a:srgbClr val="FFFFFF"/>
          </a:solidFill>
          <a:ln w="19050">
            <a:solidFill>
              <a:srgbClr val="FF0000"/>
            </a:solidFill>
            <a:prstDash val="solid"/>
          </a:ln>
          <a:effectLst>
            <a:outerShdw blurRad="50800" dist="38100" dir="2700000" algn="tl" rotWithShape="0">
              <a:prstClr val="black">
                <a:alpha val="40000"/>
              </a:prstClr>
            </a:outerShdw>
          </a:effectLst>
        </p:spPr>
        <p:txBody>
          <a:bodyPr/>
          <a:lstStyle/>
          <a:p>
            <a:endParaRPr lang="ja-JP" noProof="1"/>
          </a:p>
        </p:txBody>
      </p:sp>
      <p:sp>
        <p:nvSpPr>
          <p:cNvPr id="30" name="正方形/長方形 29">
            <a:extLst>
              <a:ext uri="{FF2B5EF4-FFF2-40B4-BE49-F238E27FC236}">
                <a16:creationId xmlns:a16="http://schemas.microsoft.com/office/drawing/2014/main" id="{0233DA84-5507-4676-9075-EC0D3D2A57B2}"/>
              </a:ext>
            </a:extLst>
          </p:cNvPr>
          <p:cNvSpPr>
            <a:spLocks noGrp="1"/>
          </p:cNvSpPr>
          <p:nvPr/>
        </p:nvSpPr>
        <p:spPr>
          <a:xfrm>
            <a:off x="9798571" y="3623369"/>
            <a:ext cx="938750" cy="285750"/>
          </a:xfrm>
          <a:prstGeom prst="rect">
            <a:avLst/>
          </a:prstGeom>
          <a:noFill/>
          <a:ln w="0">
            <a:noFill/>
            <a:prstDash val="solid"/>
          </a:ln>
        </p:spPr>
        <p:txBody>
          <a:bodyPr lIns="0" tIns="0" rIns="0" bIns="0" anchor="t">
            <a:noAutofit/>
          </a:bodyPr>
          <a:lstStyle/>
          <a:p>
            <a:pPr algn="l">
              <a:buNone/>
              <a:defRPr sz="1725" b="1">
                <a:solidFill>
                  <a:srgbClr val="F59E0B"/>
                </a:solidFill>
                <a:latin typeface="Hiragino Sans"/>
                <a:ea typeface="Hiragino Sans"/>
                <a:cs typeface="Hiragino Sans"/>
              </a:defRPr>
            </a:pPr>
            <a:r>
              <a:rPr lang="ja-JP" sz="1725" b="1" noProof="1">
                <a:solidFill>
                  <a:srgbClr val="FF0000"/>
                </a:solidFill>
                <a:latin typeface="Hiragino Sans"/>
                <a:ea typeface="Hiragino Sans"/>
                <a:cs typeface="Hiragino Sans"/>
              </a:rPr>
              <a:t>クラス B</a:t>
            </a:r>
          </a:p>
        </p:txBody>
      </p:sp>
      <p:sp>
        <p:nvSpPr>
          <p:cNvPr id="32" name="正方形/長方形 31">
            <a:extLst>
              <a:ext uri="{FF2B5EF4-FFF2-40B4-BE49-F238E27FC236}">
                <a16:creationId xmlns:a16="http://schemas.microsoft.com/office/drawing/2014/main" id="{65C0F17B-9EB7-443F-8448-75A8535C4BAC}"/>
              </a:ext>
            </a:extLst>
          </p:cNvPr>
          <p:cNvSpPr>
            <a:spLocks noGrp="1"/>
          </p:cNvSpPr>
          <p:nvPr/>
        </p:nvSpPr>
        <p:spPr>
          <a:xfrm>
            <a:off x="9258935" y="3467255"/>
            <a:ext cx="571500" cy="123825"/>
          </a:xfrm>
          <a:prstGeom prst="rect">
            <a:avLst/>
          </a:prstGeom>
          <a:solidFill>
            <a:srgbClr val="FF0000"/>
          </a:solidFill>
          <a:ln w="0">
            <a:solidFill>
              <a:srgbClr val="FF0000"/>
            </a:solidFill>
            <a:prstDash val="solid"/>
          </a:ln>
        </p:spPr>
        <p:txBody>
          <a:bodyPr/>
          <a:lstStyle/>
          <a:p>
            <a:endParaRPr lang="ja-JP" noProof="1"/>
          </a:p>
        </p:txBody>
      </p:sp>
      <p:sp>
        <p:nvSpPr>
          <p:cNvPr id="33" name="正方形/長方形 32">
            <a:extLst>
              <a:ext uri="{FF2B5EF4-FFF2-40B4-BE49-F238E27FC236}">
                <a16:creationId xmlns:a16="http://schemas.microsoft.com/office/drawing/2014/main" id="{9E523358-D415-4E7C-9C0D-60FB900D39EC}"/>
              </a:ext>
            </a:extLst>
          </p:cNvPr>
          <p:cNvSpPr>
            <a:spLocks noGrp="1"/>
          </p:cNvSpPr>
          <p:nvPr/>
        </p:nvSpPr>
        <p:spPr>
          <a:xfrm>
            <a:off x="8744585" y="3686330"/>
            <a:ext cx="514350" cy="123825"/>
          </a:xfrm>
          <a:prstGeom prst="rect">
            <a:avLst/>
          </a:prstGeom>
          <a:solidFill>
            <a:srgbClr val="FF0000"/>
          </a:solidFill>
          <a:ln w="0">
            <a:solidFill>
              <a:srgbClr val="FF0000"/>
            </a:solidFill>
            <a:prstDash val="solid"/>
          </a:ln>
        </p:spPr>
        <p:txBody>
          <a:bodyPr/>
          <a:lstStyle/>
          <a:p>
            <a:endParaRPr lang="ja-JP" noProof="1"/>
          </a:p>
        </p:txBody>
      </p:sp>
      <p:sp>
        <p:nvSpPr>
          <p:cNvPr id="34" name="正方形/長方形 33">
            <a:extLst>
              <a:ext uri="{FF2B5EF4-FFF2-40B4-BE49-F238E27FC236}">
                <a16:creationId xmlns:a16="http://schemas.microsoft.com/office/drawing/2014/main" id="{6EC4F42B-8CAB-48F0-81A3-7B57981EFB0B}"/>
              </a:ext>
            </a:extLst>
          </p:cNvPr>
          <p:cNvSpPr>
            <a:spLocks noGrp="1"/>
          </p:cNvSpPr>
          <p:nvPr/>
        </p:nvSpPr>
        <p:spPr>
          <a:xfrm>
            <a:off x="9258935" y="3905405"/>
            <a:ext cx="285750" cy="123825"/>
          </a:xfrm>
          <a:prstGeom prst="rect">
            <a:avLst/>
          </a:prstGeom>
          <a:solidFill>
            <a:srgbClr val="FF0000"/>
          </a:solidFill>
          <a:ln w="0">
            <a:solidFill>
              <a:srgbClr val="FF0000"/>
            </a:solidFill>
            <a:prstDash val="solid"/>
          </a:ln>
        </p:spPr>
        <p:txBody>
          <a:bodyPr/>
          <a:lstStyle/>
          <a:p>
            <a:endParaRPr lang="ja-JP" noProof="1"/>
          </a:p>
        </p:txBody>
      </p:sp>
      <p:sp>
        <p:nvSpPr>
          <p:cNvPr id="35" name="正方形/長方形 34">
            <a:extLst>
              <a:ext uri="{FF2B5EF4-FFF2-40B4-BE49-F238E27FC236}">
                <a16:creationId xmlns:a16="http://schemas.microsoft.com/office/drawing/2014/main" id="{61343C36-DD80-4A40-B644-C6A5D90368CA}"/>
              </a:ext>
            </a:extLst>
          </p:cNvPr>
          <p:cNvSpPr>
            <a:spLocks noGrp="1"/>
          </p:cNvSpPr>
          <p:nvPr/>
        </p:nvSpPr>
        <p:spPr>
          <a:xfrm>
            <a:off x="7753549" y="4942582"/>
            <a:ext cx="3040744" cy="952500"/>
          </a:xfrm>
          <a:prstGeom prst="rect">
            <a:avLst/>
          </a:prstGeom>
          <a:solidFill>
            <a:srgbClr val="FFFFFF"/>
          </a:solidFill>
          <a:ln w="19050">
            <a:solidFill>
              <a:srgbClr val="10B981"/>
            </a:solidFill>
            <a:prstDash val="solid"/>
          </a:ln>
          <a:effectLst>
            <a:outerShdw blurRad="50800" dist="38100" dir="2700000" algn="tl" rotWithShape="0">
              <a:prstClr val="black">
                <a:alpha val="40000"/>
              </a:prstClr>
            </a:outerShdw>
          </a:effectLst>
        </p:spPr>
        <p:txBody>
          <a:bodyPr/>
          <a:lstStyle/>
          <a:p>
            <a:endParaRPr lang="ja-JP" noProof="1"/>
          </a:p>
        </p:txBody>
      </p:sp>
      <p:sp>
        <p:nvSpPr>
          <p:cNvPr id="36" name="正方形/長方形 35">
            <a:extLst>
              <a:ext uri="{FF2B5EF4-FFF2-40B4-BE49-F238E27FC236}">
                <a16:creationId xmlns:a16="http://schemas.microsoft.com/office/drawing/2014/main" id="{876F2BB5-5140-4BEE-A399-C9C075340F18}"/>
              </a:ext>
            </a:extLst>
          </p:cNvPr>
          <p:cNvSpPr>
            <a:spLocks noGrp="1"/>
          </p:cNvSpPr>
          <p:nvPr/>
        </p:nvSpPr>
        <p:spPr>
          <a:xfrm>
            <a:off x="9798571" y="5342632"/>
            <a:ext cx="938750" cy="285750"/>
          </a:xfrm>
          <a:prstGeom prst="rect">
            <a:avLst/>
          </a:prstGeom>
          <a:noFill/>
          <a:ln w="0">
            <a:noFill/>
            <a:prstDash val="solid"/>
          </a:ln>
        </p:spPr>
        <p:txBody>
          <a:bodyPr lIns="0" tIns="0" rIns="0" bIns="0" anchor="t">
            <a:noAutofit/>
          </a:bodyPr>
          <a:lstStyle/>
          <a:p>
            <a:pPr algn="l">
              <a:buNone/>
              <a:defRPr sz="1725" b="1">
                <a:solidFill>
                  <a:srgbClr val="10B981"/>
                </a:solidFill>
                <a:latin typeface="Hiragino Sans"/>
                <a:ea typeface="Hiragino Sans"/>
                <a:cs typeface="Hiragino Sans"/>
              </a:defRPr>
            </a:pPr>
            <a:r>
              <a:rPr lang="ja-JP" sz="1725" b="1" noProof="1">
                <a:solidFill>
                  <a:srgbClr val="10B981"/>
                </a:solidFill>
                <a:latin typeface="Hiragino Sans"/>
                <a:ea typeface="Hiragino Sans"/>
                <a:cs typeface="Hiragino Sans"/>
              </a:rPr>
              <a:t>クラス C</a:t>
            </a:r>
          </a:p>
        </p:txBody>
      </p:sp>
      <p:sp>
        <p:nvSpPr>
          <p:cNvPr id="38" name="正方形/長方形 37">
            <a:extLst>
              <a:ext uri="{FF2B5EF4-FFF2-40B4-BE49-F238E27FC236}">
                <a16:creationId xmlns:a16="http://schemas.microsoft.com/office/drawing/2014/main" id="{8E6D069A-8B08-4A7F-B5BB-0EDCE823FEBD}"/>
              </a:ext>
            </a:extLst>
          </p:cNvPr>
          <p:cNvSpPr>
            <a:spLocks noGrp="1"/>
          </p:cNvSpPr>
          <p:nvPr/>
        </p:nvSpPr>
        <p:spPr>
          <a:xfrm>
            <a:off x="9264983" y="5186518"/>
            <a:ext cx="528369" cy="123825"/>
          </a:xfrm>
          <a:prstGeom prst="rect">
            <a:avLst/>
          </a:prstGeom>
          <a:solidFill>
            <a:srgbClr val="10B981"/>
          </a:solidFill>
          <a:ln w="0">
            <a:solidFill>
              <a:srgbClr val="10B981"/>
            </a:solidFill>
            <a:prstDash val="solid"/>
          </a:ln>
        </p:spPr>
        <p:txBody>
          <a:bodyPr/>
          <a:lstStyle/>
          <a:p>
            <a:endParaRPr lang="ja-JP" noProof="1"/>
          </a:p>
        </p:txBody>
      </p:sp>
      <p:sp>
        <p:nvSpPr>
          <p:cNvPr id="39" name="正方形/長方形 38">
            <a:extLst>
              <a:ext uri="{FF2B5EF4-FFF2-40B4-BE49-F238E27FC236}">
                <a16:creationId xmlns:a16="http://schemas.microsoft.com/office/drawing/2014/main" id="{4C76D4E7-6335-44B6-B375-06A055E1D4DD}"/>
              </a:ext>
            </a:extLst>
          </p:cNvPr>
          <p:cNvSpPr>
            <a:spLocks noGrp="1"/>
          </p:cNvSpPr>
          <p:nvPr/>
        </p:nvSpPr>
        <p:spPr>
          <a:xfrm>
            <a:off x="8848301" y="5405593"/>
            <a:ext cx="411480" cy="123825"/>
          </a:xfrm>
          <a:prstGeom prst="rect">
            <a:avLst/>
          </a:prstGeom>
          <a:solidFill>
            <a:srgbClr val="10B981"/>
          </a:solidFill>
          <a:ln w="0">
            <a:solidFill>
              <a:srgbClr val="10B981"/>
            </a:solidFill>
            <a:prstDash val="solid"/>
          </a:ln>
        </p:spPr>
        <p:txBody>
          <a:bodyPr/>
          <a:lstStyle/>
          <a:p>
            <a:endParaRPr lang="ja-JP" noProof="1"/>
          </a:p>
        </p:txBody>
      </p:sp>
      <p:sp>
        <p:nvSpPr>
          <p:cNvPr id="40" name="正方形/長方形 39">
            <a:extLst>
              <a:ext uri="{FF2B5EF4-FFF2-40B4-BE49-F238E27FC236}">
                <a16:creationId xmlns:a16="http://schemas.microsoft.com/office/drawing/2014/main" id="{AD140A8D-F1CB-49DA-94F1-6C5BE4CF732C}"/>
              </a:ext>
            </a:extLst>
          </p:cNvPr>
          <p:cNvSpPr>
            <a:spLocks noGrp="1"/>
          </p:cNvSpPr>
          <p:nvPr/>
        </p:nvSpPr>
        <p:spPr>
          <a:xfrm>
            <a:off x="9114655" y="5624668"/>
            <a:ext cx="144280" cy="123825"/>
          </a:xfrm>
          <a:prstGeom prst="rect">
            <a:avLst/>
          </a:prstGeom>
          <a:solidFill>
            <a:srgbClr val="10B981"/>
          </a:solidFill>
          <a:ln w="0">
            <a:solidFill>
              <a:srgbClr val="10B981"/>
            </a:solidFill>
            <a:prstDash val="solid"/>
          </a:ln>
        </p:spPr>
        <p:txBody>
          <a:bodyPr/>
          <a:lstStyle/>
          <a:p>
            <a:endParaRPr lang="ja-JP" noProof="1"/>
          </a:p>
        </p:txBody>
      </p:sp>
      <p:pic>
        <p:nvPicPr>
          <p:cNvPr id="45" name="図 44">
            <a:extLst>
              <a:ext uri="{FF2B5EF4-FFF2-40B4-BE49-F238E27FC236}">
                <a16:creationId xmlns:a16="http://schemas.microsoft.com/office/drawing/2014/main" id="{89C8D7B5-056A-5DE8-D7B3-B11C5B958B7D}"/>
              </a:ext>
            </a:extLst>
          </p:cNvPr>
          <p:cNvPicPr>
            <a:picLocks noChangeAspect="1"/>
          </p:cNvPicPr>
          <p:nvPr/>
        </p:nvPicPr>
        <p:blipFill>
          <a:blip r:embed="rId3"/>
          <a:stretch>
            <a:fillRect/>
          </a:stretch>
        </p:blipFill>
        <p:spPr>
          <a:xfrm>
            <a:off x="800100" y="2111180"/>
            <a:ext cx="3242463" cy="2981325"/>
          </a:xfrm>
          <a:prstGeom prst="rect">
            <a:avLst/>
          </a:prstGeom>
        </p:spPr>
      </p:pic>
      <p:pic>
        <p:nvPicPr>
          <p:cNvPr id="46" name="図 45">
            <a:extLst>
              <a:ext uri="{FF2B5EF4-FFF2-40B4-BE49-F238E27FC236}">
                <a16:creationId xmlns:a16="http://schemas.microsoft.com/office/drawing/2014/main" id="{64F84279-C8A5-B6FC-4890-3B30B9B7B7A0}"/>
              </a:ext>
            </a:extLst>
          </p:cNvPr>
          <p:cNvPicPr>
            <a:picLocks noChangeAspect="1"/>
          </p:cNvPicPr>
          <p:nvPr/>
        </p:nvPicPr>
        <p:blipFill>
          <a:blip r:embed="rId4"/>
          <a:stretch>
            <a:fillRect/>
          </a:stretch>
        </p:blipFill>
        <p:spPr>
          <a:xfrm>
            <a:off x="4733662" y="1306922"/>
            <a:ext cx="1734076" cy="1594419"/>
          </a:xfrm>
          <a:prstGeom prst="rect">
            <a:avLst/>
          </a:prstGeom>
        </p:spPr>
      </p:pic>
      <p:pic>
        <p:nvPicPr>
          <p:cNvPr id="48" name="図 47">
            <a:extLst>
              <a:ext uri="{FF2B5EF4-FFF2-40B4-BE49-F238E27FC236}">
                <a16:creationId xmlns:a16="http://schemas.microsoft.com/office/drawing/2014/main" id="{321F6AE2-C348-240A-98E1-BDB3A576066D}"/>
              </a:ext>
            </a:extLst>
          </p:cNvPr>
          <p:cNvPicPr>
            <a:picLocks noChangeAspect="1"/>
          </p:cNvPicPr>
          <p:nvPr/>
        </p:nvPicPr>
        <p:blipFill>
          <a:blip r:embed="rId5"/>
          <a:stretch>
            <a:fillRect/>
          </a:stretch>
        </p:blipFill>
        <p:spPr>
          <a:xfrm>
            <a:off x="4723874" y="4684686"/>
            <a:ext cx="1741930" cy="1601641"/>
          </a:xfrm>
          <a:prstGeom prst="rect">
            <a:avLst/>
          </a:prstGeom>
        </p:spPr>
      </p:pic>
      <p:pic>
        <p:nvPicPr>
          <p:cNvPr id="49" name="図 48">
            <a:extLst>
              <a:ext uri="{FF2B5EF4-FFF2-40B4-BE49-F238E27FC236}">
                <a16:creationId xmlns:a16="http://schemas.microsoft.com/office/drawing/2014/main" id="{C341F2FF-F360-1C4E-A8DE-FE5D71C7E44B}"/>
              </a:ext>
            </a:extLst>
          </p:cNvPr>
          <p:cNvPicPr>
            <a:picLocks noChangeAspect="1"/>
          </p:cNvPicPr>
          <p:nvPr/>
        </p:nvPicPr>
        <p:blipFill>
          <a:blip r:embed="rId6"/>
          <a:stretch>
            <a:fillRect/>
          </a:stretch>
        </p:blipFill>
        <p:spPr>
          <a:xfrm>
            <a:off x="4723874" y="2936849"/>
            <a:ext cx="1741930" cy="1601640"/>
          </a:xfrm>
          <a:prstGeom prst="rect">
            <a:avLst/>
          </a:prstGeom>
        </p:spPr>
      </p:pic>
      <p:sp>
        <p:nvSpPr>
          <p:cNvPr id="4" name="テキスト ボックス 3">
            <a:extLst>
              <a:ext uri="{FF2B5EF4-FFF2-40B4-BE49-F238E27FC236}">
                <a16:creationId xmlns:a16="http://schemas.microsoft.com/office/drawing/2014/main" id="{25639526-A04E-C596-E59B-63B202AE2899}"/>
              </a:ext>
            </a:extLst>
          </p:cNvPr>
          <p:cNvSpPr txBox="1"/>
          <p:nvPr/>
        </p:nvSpPr>
        <p:spPr>
          <a:xfrm>
            <a:off x="7772748" y="1737608"/>
            <a:ext cx="1010213" cy="646331"/>
          </a:xfrm>
          <a:prstGeom prst="rect">
            <a:avLst/>
          </a:prstGeom>
          <a:noFill/>
        </p:spPr>
        <p:txBody>
          <a:bodyPr wrap="none" rtlCol="0">
            <a:spAutoFit/>
          </a:bodyPr>
          <a:lstStyle/>
          <a:p>
            <a:pPr algn="ctr"/>
            <a:r>
              <a:rPr kumimoji="1" lang="ja-JP" altLang="en-US"/>
              <a:t>クラス</a:t>
            </a:r>
            <a:r>
              <a:rPr kumimoji="1" lang="en-US" altLang="ja-JP" dirty="0"/>
              <a:t>A</a:t>
            </a:r>
          </a:p>
          <a:p>
            <a:pPr algn="ctr"/>
            <a:r>
              <a:rPr kumimoji="1" lang="ja-JP" altLang="en-US"/>
              <a:t>以外</a:t>
            </a:r>
          </a:p>
        </p:txBody>
      </p:sp>
      <p:sp>
        <p:nvSpPr>
          <p:cNvPr id="5" name="テキスト ボックス 4">
            <a:extLst>
              <a:ext uri="{FF2B5EF4-FFF2-40B4-BE49-F238E27FC236}">
                <a16:creationId xmlns:a16="http://schemas.microsoft.com/office/drawing/2014/main" id="{C28DC61E-BAB7-A3D5-61CD-ECE6C061CE8B}"/>
              </a:ext>
            </a:extLst>
          </p:cNvPr>
          <p:cNvSpPr txBox="1"/>
          <p:nvPr/>
        </p:nvSpPr>
        <p:spPr>
          <a:xfrm>
            <a:off x="7823993" y="3434611"/>
            <a:ext cx="1010213" cy="646331"/>
          </a:xfrm>
          <a:prstGeom prst="rect">
            <a:avLst/>
          </a:prstGeom>
          <a:noFill/>
        </p:spPr>
        <p:txBody>
          <a:bodyPr wrap="none" rtlCol="0">
            <a:spAutoFit/>
          </a:bodyPr>
          <a:lstStyle/>
          <a:p>
            <a:pPr algn="ctr"/>
            <a:r>
              <a:rPr kumimoji="1" lang="ja-JP" altLang="en-US"/>
              <a:t>クラス</a:t>
            </a:r>
            <a:r>
              <a:rPr kumimoji="1" lang="en-US" altLang="ja-JP" dirty="0"/>
              <a:t>B</a:t>
            </a:r>
          </a:p>
          <a:p>
            <a:pPr algn="ctr"/>
            <a:r>
              <a:rPr kumimoji="1" lang="ja-JP" altLang="en-US"/>
              <a:t>以外</a:t>
            </a:r>
          </a:p>
        </p:txBody>
      </p:sp>
      <p:sp>
        <p:nvSpPr>
          <p:cNvPr id="9" name="テキスト ボックス 8">
            <a:extLst>
              <a:ext uri="{FF2B5EF4-FFF2-40B4-BE49-F238E27FC236}">
                <a16:creationId xmlns:a16="http://schemas.microsoft.com/office/drawing/2014/main" id="{DCEA3821-29C4-F1FD-FF07-15D6DAC06393}"/>
              </a:ext>
            </a:extLst>
          </p:cNvPr>
          <p:cNvSpPr txBox="1"/>
          <p:nvPr/>
        </p:nvSpPr>
        <p:spPr>
          <a:xfrm>
            <a:off x="7803926" y="5133400"/>
            <a:ext cx="1010213" cy="646331"/>
          </a:xfrm>
          <a:prstGeom prst="rect">
            <a:avLst/>
          </a:prstGeom>
          <a:noFill/>
        </p:spPr>
        <p:txBody>
          <a:bodyPr wrap="none" rtlCol="0">
            <a:spAutoFit/>
          </a:bodyPr>
          <a:lstStyle/>
          <a:p>
            <a:pPr algn="ctr"/>
            <a:r>
              <a:rPr kumimoji="1" lang="ja-JP" altLang="en-US"/>
              <a:t>クラス</a:t>
            </a:r>
            <a:r>
              <a:rPr kumimoji="1" lang="en-US" altLang="ja-JP" dirty="0"/>
              <a:t>C</a:t>
            </a:r>
          </a:p>
          <a:p>
            <a:pPr algn="ctr"/>
            <a:r>
              <a:rPr kumimoji="1" lang="ja-JP" altLang="en-US"/>
              <a:t>以外</a:t>
            </a:r>
          </a:p>
        </p:txBody>
      </p:sp>
      <p:cxnSp>
        <p:nvCxnSpPr>
          <p:cNvPr id="10" name="直線コネクタ 9">
            <a:extLst>
              <a:ext uri="{FF2B5EF4-FFF2-40B4-BE49-F238E27FC236}">
                <a16:creationId xmlns:a16="http://schemas.microsoft.com/office/drawing/2014/main" id="{333AC013-BAEF-EF21-AA0C-AA6210D9E123}"/>
              </a:ext>
            </a:extLst>
          </p:cNvPr>
          <p:cNvCxnSpPr>
            <a:cxnSpLocks/>
            <a:endCxn id="28" idx="3"/>
          </p:cNvCxnSpPr>
          <p:nvPr/>
        </p:nvCxnSpPr>
        <p:spPr>
          <a:xfrm>
            <a:off x="9201785" y="1843079"/>
            <a:ext cx="0" cy="462127"/>
          </a:xfrm>
          <a:prstGeom prst="line">
            <a:avLst/>
          </a:prstGeom>
          <a:ln>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3" name="直線コネクタ 12">
            <a:extLst>
              <a:ext uri="{FF2B5EF4-FFF2-40B4-BE49-F238E27FC236}">
                <a16:creationId xmlns:a16="http://schemas.microsoft.com/office/drawing/2014/main" id="{CDC1368C-45B7-5D8B-1314-21295CDBB8B6}"/>
              </a:ext>
            </a:extLst>
          </p:cNvPr>
          <p:cNvCxnSpPr>
            <a:cxnSpLocks/>
          </p:cNvCxnSpPr>
          <p:nvPr/>
        </p:nvCxnSpPr>
        <p:spPr>
          <a:xfrm>
            <a:off x="9255987" y="3516949"/>
            <a:ext cx="0" cy="462127"/>
          </a:xfrm>
          <a:prstGeom prst="line">
            <a:avLst/>
          </a:prstGeom>
          <a:ln>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14" name="直線コネクタ 13">
            <a:extLst>
              <a:ext uri="{FF2B5EF4-FFF2-40B4-BE49-F238E27FC236}">
                <a16:creationId xmlns:a16="http://schemas.microsoft.com/office/drawing/2014/main" id="{109C593D-5ADF-44A2-0608-CFEC6C3B42BD}"/>
              </a:ext>
            </a:extLst>
          </p:cNvPr>
          <p:cNvCxnSpPr>
            <a:cxnSpLocks/>
          </p:cNvCxnSpPr>
          <p:nvPr/>
        </p:nvCxnSpPr>
        <p:spPr>
          <a:xfrm>
            <a:off x="9266071" y="5244943"/>
            <a:ext cx="0" cy="462127"/>
          </a:xfrm>
          <a:prstGeom prst="line">
            <a:avLst/>
          </a:prstGeom>
          <a:ln>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11" name="テキスト ボックス 10">
            <a:extLst>
              <a:ext uri="{FF2B5EF4-FFF2-40B4-BE49-F238E27FC236}">
                <a16:creationId xmlns:a16="http://schemas.microsoft.com/office/drawing/2014/main" id="{ADEB4C1F-B0AB-687C-002D-6A4B90E22F23}"/>
              </a:ext>
            </a:extLst>
          </p:cNvPr>
          <p:cNvSpPr txBox="1"/>
          <p:nvPr/>
        </p:nvSpPr>
        <p:spPr>
          <a:xfrm>
            <a:off x="0" y="6487566"/>
            <a:ext cx="6686446" cy="415498"/>
          </a:xfrm>
          <a:prstGeom prst="rect">
            <a:avLst/>
          </a:prstGeom>
          <a:noFill/>
        </p:spPr>
        <p:txBody>
          <a:bodyPr wrap="none" rtlCol="0">
            <a:spAutoFit/>
          </a:bodyPr>
          <a:lstStyle/>
          <a:p>
            <a:r>
              <a:rPr lang="en-US" altLang="ja-JP" sz="1050" dirty="0"/>
              <a:t>[1]</a:t>
            </a:r>
            <a:r>
              <a:rPr lang="ja-JP" altLang="ja-JP" sz="1050"/>
              <a:t>Ribeiro, M. T., Singh, S., &amp; Guestrin, C. (2016). "Why should I trust you?": Explaining the predictions of any classifier. </a:t>
            </a:r>
            <a:br>
              <a:rPr lang="en-US" altLang="ja-JP" sz="1050" dirty="0"/>
            </a:br>
            <a:r>
              <a:rPr lang="ja-JP" altLang="ja-JP" sz="1050" i="1"/>
              <a:t>Proceedings of the 22nd ACM SIGKDD international conference on knowledge discovery and data mining</a:t>
            </a:r>
            <a:r>
              <a:rPr lang="ja-JP" altLang="ja-JP" sz="1050"/>
              <a:t>, 1135-1144.</a:t>
            </a:r>
            <a:endParaRPr kumimoji="1" lang="ja-JP" altLang="en-US" sz="1050"/>
          </a:p>
        </p:txBody>
      </p:sp>
    </p:spTree>
    <p:extLst>
      <p:ext uri="{BB962C8B-B14F-4D97-AF65-F5344CB8AC3E}">
        <p14:creationId xmlns:p14="http://schemas.microsoft.com/office/powerpoint/2010/main" val="7096461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CFCFD"/>
        </a:solidFill>
        <a:effectLst/>
      </p:bgPr>
    </p:bg>
    <p:spTree>
      <p:nvGrpSpPr>
        <p:cNvPr id="1" name=""/>
        <p:cNvGrpSpPr/>
        <p:nvPr/>
      </p:nvGrpSpPr>
      <p:grpSpPr>
        <a:xfrm>
          <a:off x="0" y="0"/>
          <a:ext cx="0" cy="0"/>
          <a:chOff x="0" y="0"/>
          <a:chExt cx="0" cy="0"/>
        </a:xfrm>
      </p:grpSpPr>
      <p:sp>
        <p:nvSpPr>
          <p:cNvPr id="22" name="角丸四角形 21">
            <a:extLst>
              <a:ext uri="{FF2B5EF4-FFF2-40B4-BE49-F238E27FC236}">
                <a16:creationId xmlns:a16="http://schemas.microsoft.com/office/drawing/2014/main" id="{E3494949-914F-870F-0A2E-B31C62B6B2BF}"/>
              </a:ext>
            </a:extLst>
          </p:cNvPr>
          <p:cNvSpPr/>
          <p:nvPr/>
        </p:nvSpPr>
        <p:spPr>
          <a:xfrm>
            <a:off x="353568" y="1991432"/>
            <a:ext cx="2408682" cy="463296"/>
          </a:xfrm>
          <a:prstGeom prst="roundRect">
            <a:avLst/>
          </a:prstGeom>
          <a:solidFill>
            <a:srgbClr val="0F9ED5">
              <a:alpha val="38431"/>
            </a:srgbClr>
          </a:solid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kumimoji="1" lang="ja-JP" altLang="en-US"/>
          </a:p>
        </p:txBody>
      </p:sp>
      <p:sp>
        <p:nvSpPr>
          <p:cNvPr id="29" name="角丸四角形 28">
            <a:extLst>
              <a:ext uri="{FF2B5EF4-FFF2-40B4-BE49-F238E27FC236}">
                <a16:creationId xmlns:a16="http://schemas.microsoft.com/office/drawing/2014/main" id="{A1518D49-782F-E320-1D1F-6BD44EB09677}"/>
              </a:ext>
            </a:extLst>
          </p:cNvPr>
          <p:cNvSpPr/>
          <p:nvPr/>
        </p:nvSpPr>
        <p:spPr>
          <a:xfrm>
            <a:off x="3067392" y="3585172"/>
            <a:ext cx="2408682" cy="463296"/>
          </a:xfrm>
          <a:prstGeom prst="roundRect">
            <a:avLst/>
          </a:prstGeom>
          <a:solidFill>
            <a:srgbClr val="0F9ED5">
              <a:alpha val="38431"/>
            </a:srgbClr>
          </a:solidFill>
          <a:ln w="9525" cap="flat" cmpd="sng" algn="ctr">
            <a:solidFill>
              <a:schemeClr val="accent4"/>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rtlCol="0" anchor="ctr"/>
          <a:lstStyle/>
          <a:p>
            <a:pPr algn="ctr"/>
            <a:endParaRPr kumimoji="1" lang="ja-JP" altLang="en-US"/>
          </a:p>
        </p:txBody>
      </p:sp>
      <p:sp>
        <p:nvSpPr>
          <p:cNvPr id="34" name="正方形/長方形 33">
            <a:extLst>
              <a:ext uri="{FF2B5EF4-FFF2-40B4-BE49-F238E27FC236}">
                <a16:creationId xmlns:a16="http://schemas.microsoft.com/office/drawing/2014/main" id="{F1AA4A81-65D9-4460-9C50-8B2A4FA09904}"/>
              </a:ext>
            </a:extLst>
          </p:cNvPr>
          <p:cNvSpPr>
            <a:spLocks noGrp="1"/>
          </p:cNvSpPr>
          <p:nvPr/>
        </p:nvSpPr>
        <p:spPr>
          <a:xfrm>
            <a:off x="514350" y="419100"/>
            <a:ext cx="114300" cy="457200"/>
          </a:xfrm>
          <a:prstGeom prst="rect">
            <a:avLst/>
          </a:prstGeom>
          <a:solidFill>
            <a:srgbClr val="2F6BDE"/>
          </a:solidFill>
          <a:ln w="0">
            <a:solidFill>
              <a:srgbClr val="2F6BDE"/>
            </a:solidFill>
            <a:prstDash val="solid"/>
          </a:ln>
        </p:spPr>
        <p:txBody>
          <a:bodyPr/>
          <a:lstStyle/>
          <a:p>
            <a:endParaRPr lang="ja-JP" noProof="1"/>
          </a:p>
        </p:txBody>
      </p:sp>
      <p:sp>
        <p:nvSpPr>
          <p:cNvPr id="2" name="slide-7-title">
            <a:extLst>
              <a:ext uri="{FF2B5EF4-FFF2-40B4-BE49-F238E27FC236}">
                <a16:creationId xmlns:a16="http://schemas.microsoft.com/office/drawing/2014/main" id="{EE8FC56C-8321-46EA-BF49-FD7A05980B28}"/>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pPr algn="l">
              <a:buNone/>
              <a:defRPr sz="2850" b="1">
                <a:solidFill>
                  <a:srgbClr val="12233A"/>
                </a:solidFill>
                <a:latin typeface="Hiragino Sans"/>
                <a:ea typeface="Hiragino Sans"/>
                <a:cs typeface="Hiragino Sans"/>
              </a:defRPr>
            </a:pPr>
            <a:r>
              <a:rPr lang="ja-JP" sz="2850" b="1" noProof="1">
                <a:solidFill>
                  <a:srgbClr val="12233A"/>
                </a:solidFill>
                <a:latin typeface="Hiragino Sans"/>
                <a:ea typeface="Hiragino Sans"/>
                <a:cs typeface="Hiragino Sans"/>
              </a:rPr>
              <a:t>クラス別説明を並べるだけでは、全体像を読み取りにくい</a:t>
            </a:r>
          </a:p>
        </p:txBody>
      </p:sp>
      <p:sp>
        <p:nvSpPr>
          <p:cNvPr id="5" name="正方形/長方形 4">
            <a:extLst>
              <a:ext uri="{FF2B5EF4-FFF2-40B4-BE49-F238E27FC236}">
                <a16:creationId xmlns:a16="http://schemas.microsoft.com/office/drawing/2014/main" id="{FC56ABC9-862C-4B19-95D1-AB0DB3DD6C8D}"/>
              </a:ext>
            </a:extLst>
          </p:cNvPr>
          <p:cNvSpPr>
            <a:spLocks noGrp="1"/>
          </p:cNvSpPr>
          <p:nvPr/>
        </p:nvSpPr>
        <p:spPr>
          <a:xfrm>
            <a:off x="523875" y="1410022"/>
            <a:ext cx="2238375" cy="323850"/>
          </a:xfrm>
          <a:prstGeom prst="rect">
            <a:avLst/>
          </a:prstGeom>
          <a:noFill/>
          <a:ln w="0">
            <a:noFill/>
            <a:prstDash val="solid"/>
          </a:ln>
        </p:spPr>
        <p:txBody>
          <a:bodyPr lIns="0" tIns="0" rIns="0" bIns="0" anchor="t">
            <a:noAutofit/>
          </a:bodyPr>
          <a:lstStyle/>
          <a:p>
            <a:pPr algn="l">
              <a:buNone/>
              <a:defRPr sz="1875" b="1">
                <a:solidFill>
                  <a:srgbClr val="2563EB"/>
                </a:solidFill>
                <a:latin typeface="Hiragino Sans"/>
                <a:ea typeface="Hiragino Sans"/>
                <a:cs typeface="Hiragino Sans"/>
              </a:defRPr>
            </a:pPr>
            <a:r>
              <a:rPr lang="ja-JP" sz="1875" b="1" noProof="1">
                <a:solidFill>
                  <a:srgbClr val="2563EB"/>
                </a:solidFill>
                <a:latin typeface="Hiragino Sans"/>
                <a:ea typeface="Hiragino Sans"/>
                <a:cs typeface="Hiragino Sans"/>
              </a:rPr>
              <a:t>クラス A</a:t>
            </a:r>
          </a:p>
        </p:txBody>
      </p:sp>
      <p:cxnSp>
        <p:nvCxnSpPr>
          <p:cNvPr id="97" name="直線矢印コネクタ 38"/>
          <p:cNvCxnSpPr/>
          <p:nvPr/>
        </p:nvCxnSpPr>
        <p:spPr>
          <a:xfrm>
            <a:off x="523875" y="1819597"/>
            <a:ext cx="2190750" cy="0"/>
          </a:xfrm>
          <a:prstGeom prst="straightConnector1">
            <a:avLst/>
          </a:prstGeom>
          <a:ln w="9525">
            <a:solidFill>
              <a:srgbClr val="CBD5E1"/>
            </a:solidFill>
            <a:prstDash val="solid"/>
          </a:ln>
        </p:spPr>
      </p:cxnSp>
      <p:sp>
        <p:nvSpPr>
          <p:cNvPr id="7" name="正方形/長方形 6">
            <a:extLst>
              <a:ext uri="{FF2B5EF4-FFF2-40B4-BE49-F238E27FC236}">
                <a16:creationId xmlns:a16="http://schemas.microsoft.com/office/drawing/2014/main" id="{ED5842F6-5493-49D7-941C-5E46F4D892A7}"/>
              </a:ext>
            </a:extLst>
          </p:cNvPr>
          <p:cNvSpPr>
            <a:spLocks noGrp="1"/>
          </p:cNvSpPr>
          <p:nvPr/>
        </p:nvSpPr>
        <p:spPr>
          <a:xfrm>
            <a:off x="523875" y="2124397"/>
            <a:ext cx="809625" cy="238125"/>
          </a:xfrm>
          <a:prstGeom prst="rect">
            <a:avLst/>
          </a:prstGeom>
          <a:noFill/>
          <a:ln w="0">
            <a:noFill/>
            <a:prstDash val="solid"/>
          </a:ln>
        </p:spPr>
        <p:txBody>
          <a:bodyPr lIns="0" tIns="0" rIns="0" bIns="0" anchor="t">
            <a:noAutofit/>
          </a:bodyPr>
          <a:lstStyle/>
          <a:p>
            <a:pPr algn="l">
              <a:buNone/>
              <a:defRPr sz="1350" b="1">
                <a:solidFill>
                  <a:srgbClr val="111827"/>
                </a:solidFill>
                <a:latin typeface="Hiragino Sans"/>
                <a:ea typeface="Hiragino Sans"/>
                <a:cs typeface="Hiragino Sans"/>
              </a:defRPr>
            </a:pPr>
            <a:r>
              <a:rPr lang="ja-JP" sz="1350" b="1" noProof="1">
                <a:solidFill>
                  <a:srgbClr val="111827"/>
                </a:solidFill>
                <a:latin typeface="Hiragino Sans"/>
                <a:ea typeface="Hiragino Sans"/>
                <a:cs typeface="Hiragino Sans"/>
              </a:rPr>
              <a:t>特徴1</a:t>
            </a:r>
          </a:p>
        </p:txBody>
      </p:sp>
      <p:sp>
        <p:nvSpPr>
          <p:cNvPr id="8" name="正方形/長方形 7">
            <a:extLst>
              <a:ext uri="{FF2B5EF4-FFF2-40B4-BE49-F238E27FC236}">
                <a16:creationId xmlns:a16="http://schemas.microsoft.com/office/drawing/2014/main" id="{F97AF587-3C0A-4485-B6F9-3B77943077DA}"/>
              </a:ext>
            </a:extLst>
          </p:cNvPr>
          <p:cNvSpPr>
            <a:spLocks noGrp="1"/>
          </p:cNvSpPr>
          <p:nvPr/>
        </p:nvSpPr>
        <p:spPr>
          <a:xfrm>
            <a:off x="2052636" y="2143447"/>
            <a:ext cx="671513" cy="180975"/>
          </a:xfrm>
          <a:prstGeom prst="rect">
            <a:avLst/>
          </a:prstGeom>
          <a:solidFill>
            <a:srgbClr val="2563EB"/>
          </a:solidFill>
          <a:ln w="0">
            <a:solidFill>
              <a:srgbClr val="2563EB"/>
            </a:solidFill>
            <a:prstDash val="solid"/>
          </a:ln>
        </p:spPr>
        <p:txBody>
          <a:bodyPr anchor="ctr" anchorCtr="1"/>
          <a:lstStyle/>
          <a:p>
            <a:r>
              <a:rPr lang="en-US" altLang="ja-JP" sz="1050" noProof="1">
                <a:solidFill>
                  <a:schemeClr val="bg1"/>
                </a:solidFill>
              </a:rPr>
              <a:t>+0.4</a:t>
            </a:r>
            <a:endParaRPr lang="ja-JP" sz="1050" noProof="1">
              <a:solidFill>
                <a:schemeClr val="bg1"/>
              </a:solidFill>
            </a:endParaRPr>
          </a:p>
        </p:txBody>
      </p:sp>
      <p:sp>
        <p:nvSpPr>
          <p:cNvPr id="9" name="正方形/長方形 8">
            <a:extLst>
              <a:ext uri="{FF2B5EF4-FFF2-40B4-BE49-F238E27FC236}">
                <a16:creationId xmlns:a16="http://schemas.microsoft.com/office/drawing/2014/main" id="{D810D807-BBBD-475D-B2D6-CE31F15E5E50}"/>
              </a:ext>
            </a:extLst>
          </p:cNvPr>
          <p:cNvSpPr>
            <a:spLocks noGrp="1"/>
          </p:cNvSpPr>
          <p:nvPr/>
        </p:nvSpPr>
        <p:spPr>
          <a:xfrm>
            <a:off x="523875" y="2934022"/>
            <a:ext cx="809625" cy="238125"/>
          </a:xfrm>
          <a:prstGeom prst="rect">
            <a:avLst/>
          </a:prstGeom>
          <a:noFill/>
          <a:ln w="0">
            <a:noFill/>
            <a:prstDash val="solid"/>
          </a:ln>
        </p:spPr>
        <p:txBody>
          <a:bodyPr lIns="0" tIns="0" rIns="0" bIns="0" anchor="t">
            <a:noAutofit/>
          </a:bodyPr>
          <a:lstStyle/>
          <a:p>
            <a:pPr algn="l">
              <a:buNone/>
              <a:defRPr sz="1350" b="1">
                <a:solidFill>
                  <a:srgbClr val="111827"/>
                </a:solidFill>
                <a:latin typeface="Hiragino Sans"/>
                <a:ea typeface="Hiragino Sans"/>
                <a:cs typeface="Hiragino Sans"/>
              </a:defRPr>
            </a:pPr>
            <a:r>
              <a:rPr lang="ja-JP" sz="1350" b="1" noProof="1">
                <a:solidFill>
                  <a:srgbClr val="111827"/>
                </a:solidFill>
                <a:latin typeface="Hiragino Sans"/>
                <a:ea typeface="Hiragino Sans"/>
                <a:cs typeface="Hiragino Sans"/>
              </a:rPr>
              <a:t>特徴2</a:t>
            </a:r>
          </a:p>
        </p:txBody>
      </p:sp>
      <p:sp>
        <p:nvSpPr>
          <p:cNvPr id="10" name="正方形/長方形 9">
            <a:extLst>
              <a:ext uri="{FF2B5EF4-FFF2-40B4-BE49-F238E27FC236}">
                <a16:creationId xmlns:a16="http://schemas.microsoft.com/office/drawing/2014/main" id="{7CB2A021-E301-40E1-932C-F2A563C6F7F3}"/>
              </a:ext>
            </a:extLst>
          </p:cNvPr>
          <p:cNvSpPr>
            <a:spLocks noGrp="1"/>
          </p:cNvSpPr>
          <p:nvPr/>
        </p:nvSpPr>
        <p:spPr>
          <a:xfrm>
            <a:off x="1243013" y="2953072"/>
            <a:ext cx="809625" cy="180975"/>
          </a:xfrm>
          <a:prstGeom prst="rect">
            <a:avLst/>
          </a:prstGeom>
          <a:solidFill>
            <a:srgbClr val="2563EB"/>
          </a:solidFill>
          <a:ln w="0">
            <a:solidFill>
              <a:srgbClr val="2563EB"/>
            </a:solidFill>
            <a:prstDash val="solid"/>
          </a:ln>
        </p:spPr>
        <p:txBody>
          <a:bodyPr anchor="ctr" anchorCtr="1"/>
          <a:lstStyle/>
          <a:p>
            <a:r>
              <a:rPr lang="en-US" altLang="ja-JP" sz="1050" noProof="1">
                <a:solidFill>
                  <a:schemeClr val="bg1"/>
                </a:solidFill>
              </a:rPr>
              <a:t>-0.6</a:t>
            </a:r>
            <a:endParaRPr lang="ja-JP" sz="1050" noProof="1">
              <a:solidFill>
                <a:schemeClr val="bg1"/>
              </a:solidFill>
            </a:endParaRPr>
          </a:p>
        </p:txBody>
      </p:sp>
      <p:sp>
        <p:nvSpPr>
          <p:cNvPr id="11" name="正方形/長方形 10">
            <a:extLst>
              <a:ext uri="{FF2B5EF4-FFF2-40B4-BE49-F238E27FC236}">
                <a16:creationId xmlns:a16="http://schemas.microsoft.com/office/drawing/2014/main" id="{84B6F764-0125-4677-B9FA-03472D8464F6}"/>
              </a:ext>
            </a:extLst>
          </p:cNvPr>
          <p:cNvSpPr>
            <a:spLocks noGrp="1"/>
          </p:cNvSpPr>
          <p:nvPr/>
        </p:nvSpPr>
        <p:spPr>
          <a:xfrm>
            <a:off x="523875" y="3743647"/>
            <a:ext cx="809625" cy="238125"/>
          </a:xfrm>
          <a:prstGeom prst="rect">
            <a:avLst/>
          </a:prstGeom>
          <a:noFill/>
          <a:ln w="0">
            <a:noFill/>
            <a:prstDash val="solid"/>
          </a:ln>
        </p:spPr>
        <p:txBody>
          <a:bodyPr lIns="0" tIns="0" rIns="0" bIns="0" anchor="t">
            <a:noAutofit/>
          </a:bodyPr>
          <a:lstStyle/>
          <a:p>
            <a:pPr algn="l">
              <a:buNone/>
              <a:defRPr sz="1350" b="1">
                <a:solidFill>
                  <a:srgbClr val="111827"/>
                </a:solidFill>
                <a:latin typeface="Hiragino Sans"/>
                <a:ea typeface="Hiragino Sans"/>
                <a:cs typeface="Hiragino Sans"/>
              </a:defRPr>
            </a:pPr>
            <a:r>
              <a:rPr lang="ja-JP" sz="1350" b="1" noProof="1">
                <a:solidFill>
                  <a:srgbClr val="111827"/>
                </a:solidFill>
                <a:latin typeface="Hiragino Sans"/>
                <a:ea typeface="Hiragino Sans"/>
                <a:cs typeface="Hiragino Sans"/>
              </a:rPr>
              <a:t>特徴5</a:t>
            </a:r>
          </a:p>
        </p:txBody>
      </p:sp>
      <p:sp>
        <p:nvSpPr>
          <p:cNvPr id="12" name="正方形/長方形 11">
            <a:extLst>
              <a:ext uri="{FF2B5EF4-FFF2-40B4-BE49-F238E27FC236}">
                <a16:creationId xmlns:a16="http://schemas.microsoft.com/office/drawing/2014/main" id="{57EC35DB-808D-42CC-B235-AD0C023ABEA4}"/>
              </a:ext>
            </a:extLst>
          </p:cNvPr>
          <p:cNvSpPr>
            <a:spLocks noGrp="1"/>
          </p:cNvSpPr>
          <p:nvPr/>
        </p:nvSpPr>
        <p:spPr>
          <a:xfrm>
            <a:off x="2052638" y="3762697"/>
            <a:ext cx="502614" cy="180975"/>
          </a:xfrm>
          <a:prstGeom prst="rect">
            <a:avLst/>
          </a:prstGeom>
          <a:solidFill>
            <a:srgbClr val="2563EB"/>
          </a:solidFill>
          <a:ln w="0">
            <a:solidFill>
              <a:srgbClr val="2563EB"/>
            </a:solidFill>
            <a:prstDash val="solid"/>
          </a:ln>
        </p:spPr>
        <p:txBody>
          <a:bodyPr anchor="ctr" anchorCtr="1"/>
          <a:lstStyle/>
          <a:p>
            <a:r>
              <a:rPr lang="en-US" altLang="ja-JP" sz="1050" noProof="1">
                <a:solidFill>
                  <a:schemeClr val="bg1"/>
                </a:solidFill>
              </a:rPr>
              <a:t>+0.3</a:t>
            </a:r>
            <a:endParaRPr lang="ja-JP" sz="1050" noProof="1">
              <a:solidFill>
                <a:schemeClr val="bg1"/>
              </a:solidFill>
            </a:endParaRPr>
          </a:p>
        </p:txBody>
      </p:sp>
      <p:sp>
        <p:nvSpPr>
          <p:cNvPr id="13" name="正方形/長方形 12">
            <a:extLst>
              <a:ext uri="{FF2B5EF4-FFF2-40B4-BE49-F238E27FC236}">
                <a16:creationId xmlns:a16="http://schemas.microsoft.com/office/drawing/2014/main" id="{963193BD-CCD1-4C01-AFAC-6D24CB059705}"/>
              </a:ext>
            </a:extLst>
          </p:cNvPr>
          <p:cNvSpPr>
            <a:spLocks noGrp="1"/>
          </p:cNvSpPr>
          <p:nvPr/>
        </p:nvSpPr>
        <p:spPr>
          <a:xfrm>
            <a:off x="3238500" y="1410022"/>
            <a:ext cx="2238375" cy="323850"/>
          </a:xfrm>
          <a:prstGeom prst="rect">
            <a:avLst/>
          </a:prstGeom>
          <a:noFill/>
          <a:ln w="0">
            <a:noFill/>
            <a:prstDash val="solid"/>
          </a:ln>
        </p:spPr>
        <p:txBody>
          <a:bodyPr lIns="0" tIns="0" rIns="0" bIns="0" anchor="t">
            <a:noAutofit/>
          </a:bodyPr>
          <a:lstStyle/>
          <a:p>
            <a:pPr algn="l">
              <a:buNone/>
              <a:defRPr sz="1875" b="1">
                <a:solidFill>
                  <a:srgbClr val="F59E0B"/>
                </a:solidFill>
                <a:latin typeface="Hiragino Sans"/>
                <a:ea typeface="Hiragino Sans"/>
                <a:cs typeface="Hiragino Sans"/>
              </a:defRPr>
            </a:pPr>
            <a:r>
              <a:rPr lang="ja-JP" sz="1875" b="1" noProof="1">
                <a:solidFill>
                  <a:srgbClr val="FF0000"/>
                </a:solidFill>
                <a:latin typeface="Hiragino Sans"/>
                <a:ea typeface="Hiragino Sans"/>
                <a:cs typeface="Hiragino Sans"/>
              </a:rPr>
              <a:t>クラス B</a:t>
            </a:r>
          </a:p>
        </p:txBody>
      </p:sp>
      <p:cxnSp>
        <p:nvCxnSpPr>
          <p:cNvPr id="105" name="直線矢印コネクタ 46"/>
          <p:cNvCxnSpPr/>
          <p:nvPr/>
        </p:nvCxnSpPr>
        <p:spPr>
          <a:xfrm>
            <a:off x="3238500" y="1819597"/>
            <a:ext cx="2190750" cy="0"/>
          </a:xfrm>
          <a:prstGeom prst="straightConnector1">
            <a:avLst/>
          </a:prstGeom>
          <a:ln w="9525">
            <a:solidFill>
              <a:srgbClr val="CBD5E1"/>
            </a:solidFill>
            <a:prstDash val="solid"/>
          </a:ln>
        </p:spPr>
      </p:cxnSp>
      <p:sp>
        <p:nvSpPr>
          <p:cNvPr id="15" name="正方形/長方形 14">
            <a:extLst>
              <a:ext uri="{FF2B5EF4-FFF2-40B4-BE49-F238E27FC236}">
                <a16:creationId xmlns:a16="http://schemas.microsoft.com/office/drawing/2014/main" id="{B653A798-C88C-4C36-97B5-105BC4AE163B}"/>
              </a:ext>
            </a:extLst>
          </p:cNvPr>
          <p:cNvSpPr>
            <a:spLocks noGrp="1"/>
          </p:cNvSpPr>
          <p:nvPr/>
        </p:nvSpPr>
        <p:spPr>
          <a:xfrm>
            <a:off x="3238500" y="2124397"/>
            <a:ext cx="809625" cy="238125"/>
          </a:xfrm>
          <a:prstGeom prst="rect">
            <a:avLst/>
          </a:prstGeom>
          <a:noFill/>
          <a:ln w="0">
            <a:noFill/>
            <a:prstDash val="solid"/>
          </a:ln>
        </p:spPr>
        <p:txBody>
          <a:bodyPr lIns="0" tIns="0" rIns="0" bIns="0" anchor="t">
            <a:noAutofit/>
          </a:bodyPr>
          <a:lstStyle/>
          <a:p>
            <a:pPr algn="l">
              <a:buNone/>
              <a:defRPr sz="1350" b="1">
                <a:solidFill>
                  <a:srgbClr val="111827"/>
                </a:solidFill>
                <a:latin typeface="Hiragino Sans"/>
                <a:ea typeface="Hiragino Sans"/>
                <a:cs typeface="Hiragino Sans"/>
              </a:defRPr>
            </a:pPr>
            <a:r>
              <a:rPr lang="ja-JP" sz="1350" b="1" noProof="1">
                <a:solidFill>
                  <a:srgbClr val="111827"/>
                </a:solidFill>
                <a:latin typeface="Hiragino Sans"/>
                <a:ea typeface="Hiragino Sans"/>
                <a:cs typeface="Hiragino Sans"/>
              </a:rPr>
              <a:t>特徴2</a:t>
            </a:r>
          </a:p>
        </p:txBody>
      </p:sp>
      <p:sp>
        <p:nvSpPr>
          <p:cNvPr id="16" name="正方形/長方形 15">
            <a:extLst>
              <a:ext uri="{FF2B5EF4-FFF2-40B4-BE49-F238E27FC236}">
                <a16:creationId xmlns:a16="http://schemas.microsoft.com/office/drawing/2014/main" id="{E3410C17-715A-4214-8732-67432B3875B8}"/>
              </a:ext>
            </a:extLst>
          </p:cNvPr>
          <p:cNvSpPr>
            <a:spLocks noGrp="1"/>
          </p:cNvSpPr>
          <p:nvPr/>
        </p:nvSpPr>
        <p:spPr>
          <a:xfrm>
            <a:off x="4773930" y="2143447"/>
            <a:ext cx="512134" cy="180975"/>
          </a:xfrm>
          <a:prstGeom prst="rect">
            <a:avLst/>
          </a:prstGeom>
          <a:solidFill>
            <a:srgbClr val="FF0000"/>
          </a:solidFill>
          <a:ln w="0">
            <a:solidFill>
              <a:srgbClr val="FF0000"/>
            </a:solidFill>
            <a:prstDash val="solid"/>
          </a:ln>
        </p:spPr>
        <p:txBody>
          <a:bodyPr anchor="ctr" anchorCtr="1"/>
          <a:lstStyle/>
          <a:p>
            <a:r>
              <a:rPr lang="en-US" altLang="ja-JP" sz="1050" noProof="1">
                <a:solidFill>
                  <a:schemeClr val="bg1"/>
                </a:solidFill>
              </a:rPr>
              <a:t>+0.3</a:t>
            </a:r>
            <a:endParaRPr lang="ja-JP" sz="1050" noProof="1">
              <a:solidFill>
                <a:schemeClr val="bg1"/>
              </a:solidFill>
            </a:endParaRPr>
          </a:p>
        </p:txBody>
      </p:sp>
      <p:sp>
        <p:nvSpPr>
          <p:cNvPr id="17" name="正方形/長方形 16">
            <a:extLst>
              <a:ext uri="{FF2B5EF4-FFF2-40B4-BE49-F238E27FC236}">
                <a16:creationId xmlns:a16="http://schemas.microsoft.com/office/drawing/2014/main" id="{DEE74ADC-DC9D-41F5-BD0B-5D0113AC2E11}"/>
              </a:ext>
            </a:extLst>
          </p:cNvPr>
          <p:cNvSpPr>
            <a:spLocks noGrp="1"/>
          </p:cNvSpPr>
          <p:nvPr/>
        </p:nvSpPr>
        <p:spPr>
          <a:xfrm>
            <a:off x="3238500" y="2934022"/>
            <a:ext cx="809625" cy="238125"/>
          </a:xfrm>
          <a:prstGeom prst="rect">
            <a:avLst/>
          </a:prstGeom>
          <a:noFill/>
          <a:ln w="0">
            <a:noFill/>
            <a:prstDash val="solid"/>
          </a:ln>
        </p:spPr>
        <p:txBody>
          <a:bodyPr lIns="0" tIns="0" rIns="0" bIns="0" anchor="t">
            <a:noAutofit/>
          </a:bodyPr>
          <a:lstStyle/>
          <a:p>
            <a:pPr algn="l">
              <a:buNone/>
              <a:defRPr sz="1350" b="1">
                <a:solidFill>
                  <a:srgbClr val="111827"/>
                </a:solidFill>
                <a:latin typeface="Hiragino Sans"/>
                <a:ea typeface="Hiragino Sans"/>
                <a:cs typeface="Hiragino Sans"/>
              </a:defRPr>
            </a:pPr>
            <a:r>
              <a:rPr lang="ja-JP" sz="1350" b="1" noProof="1">
                <a:solidFill>
                  <a:srgbClr val="111827"/>
                </a:solidFill>
                <a:latin typeface="Hiragino Sans"/>
                <a:ea typeface="Hiragino Sans"/>
                <a:cs typeface="Hiragino Sans"/>
              </a:rPr>
              <a:t>特徴4</a:t>
            </a:r>
          </a:p>
        </p:txBody>
      </p:sp>
      <p:sp>
        <p:nvSpPr>
          <p:cNvPr id="18" name="正方形/長方形 17">
            <a:extLst>
              <a:ext uri="{FF2B5EF4-FFF2-40B4-BE49-F238E27FC236}">
                <a16:creationId xmlns:a16="http://schemas.microsoft.com/office/drawing/2014/main" id="{7F6DB0B6-878A-480F-8D5F-AFD141AED6BD}"/>
              </a:ext>
            </a:extLst>
          </p:cNvPr>
          <p:cNvSpPr>
            <a:spLocks noGrp="1"/>
          </p:cNvSpPr>
          <p:nvPr/>
        </p:nvSpPr>
        <p:spPr>
          <a:xfrm>
            <a:off x="4095750" y="2953072"/>
            <a:ext cx="678180" cy="180975"/>
          </a:xfrm>
          <a:prstGeom prst="rect">
            <a:avLst/>
          </a:prstGeom>
          <a:solidFill>
            <a:srgbClr val="FF0000"/>
          </a:solidFill>
          <a:ln w="0">
            <a:solidFill>
              <a:srgbClr val="FF0000"/>
            </a:solidFill>
            <a:prstDash val="solid"/>
          </a:ln>
        </p:spPr>
        <p:txBody>
          <a:bodyPr anchor="ctr" anchorCtr="1"/>
          <a:lstStyle/>
          <a:p>
            <a:r>
              <a:rPr lang="en-US" altLang="ja-JP" sz="1050" noProof="1">
                <a:solidFill>
                  <a:schemeClr val="bg1"/>
                </a:solidFill>
              </a:rPr>
              <a:t>-0.5</a:t>
            </a:r>
            <a:endParaRPr lang="ja-JP" sz="1050" noProof="1">
              <a:solidFill>
                <a:schemeClr val="bg1"/>
              </a:solidFill>
            </a:endParaRPr>
          </a:p>
        </p:txBody>
      </p:sp>
      <p:sp>
        <p:nvSpPr>
          <p:cNvPr id="19" name="正方形/長方形 18">
            <a:extLst>
              <a:ext uri="{FF2B5EF4-FFF2-40B4-BE49-F238E27FC236}">
                <a16:creationId xmlns:a16="http://schemas.microsoft.com/office/drawing/2014/main" id="{0E8E1109-0AEF-4C79-B3CF-2C16FDFCA934}"/>
              </a:ext>
            </a:extLst>
          </p:cNvPr>
          <p:cNvSpPr>
            <a:spLocks noGrp="1"/>
          </p:cNvSpPr>
          <p:nvPr/>
        </p:nvSpPr>
        <p:spPr>
          <a:xfrm>
            <a:off x="3238500" y="3743647"/>
            <a:ext cx="809625" cy="238125"/>
          </a:xfrm>
          <a:prstGeom prst="rect">
            <a:avLst/>
          </a:prstGeom>
          <a:noFill/>
          <a:ln w="0">
            <a:noFill/>
            <a:prstDash val="solid"/>
          </a:ln>
        </p:spPr>
        <p:txBody>
          <a:bodyPr lIns="0" tIns="0" rIns="0" bIns="0" anchor="t">
            <a:noAutofit/>
          </a:bodyPr>
          <a:lstStyle/>
          <a:p>
            <a:pPr algn="l">
              <a:buNone/>
              <a:defRPr sz="1350" b="1">
                <a:solidFill>
                  <a:srgbClr val="111827"/>
                </a:solidFill>
                <a:latin typeface="Hiragino Sans"/>
                <a:ea typeface="Hiragino Sans"/>
                <a:cs typeface="Hiragino Sans"/>
              </a:defRPr>
            </a:pPr>
            <a:r>
              <a:rPr lang="ja-JP" sz="1350" b="1" noProof="1">
                <a:solidFill>
                  <a:srgbClr val="111827"/>
                </a:solidFill>
                <a:latin typeface="Hiragino Sans"/>
                <a:ea typeface="Hiragino Sans"/>
                <a:cs typeface="Hiragino Sans"/>
              </a:rPr>
              <a:t>特徴1</a:t>
            </a:r>
          </a:p>
        </p:txBody>
      </p:sp>
      <p:sp>
        <p:nvSpPr>
          <p:cNvPr id="20" name="正方形/長方形 19">
            <a:extLst>
              <a:ext uri="{FF2B5EF4-FFF2-40B4-BE49-F238E27FC236}">
                <a16:creationId xmlns:a16="http://schemas.microsoft.com/office/drawing/2014/main" id="{1EC67A9D-E3B4-49EC-97EA-F71D28646910}"/>
              </a:ext>
            </a:extLst>
          </p:cNvPr>
          <p:cNvSpPr>
            <a:spLocks noGrp="1"/>
          </p:cNvSpPr>
          <p:nvPr/>
        </p:nvSpPr>
        <p:spPr>
          <a:xfrm>
            <a:off x="4095750" y="3762697"/>
            <a:ext cx="678180" cy="180975"/>
          </a:xfrm>
          <a:prstGeom prst="rect">
            <a:avLst/>
          </a:prstGeom>
          <a:solidFill>
            <a:srgbClr val="FF0000"/>
          </a:solidFill>
          <a:ln w="0">
            <a:solidFill>
              <a:srgbClr val="FF0000"/>
            </a:solidFill>
            <a:prstDash val="solid"/>
          </a:ln>
        </p:spPr>
        <p:txBody>
          <a:bodyPr anchor="ctr" anchorCtr="1"/>
          <a:lstStyle/>
          <a:p>
            <a:r>
              <a:rPr lang="en-US" altLang="ja-JP" sz="1050" noProof="1">
                <a:solidFill>
                  <a:schemeClr val="bg1"/>
                </a:solidFill>
              </a:rPr>
              <a:t>-0.5</a:t>
            </a:r>
            <a:endParaRPr lang="ja-JP" sz="1050" noProof="1">
              <a:solidFill>
                <a:schemeClr val="bg1"/>
              </a:solidFill>
            </a:endParaRPr>
          </a:p>
        </p:txBody>
      </p:sp>
      <p:sp>
        <p:nvSpPr>
          <p:cNvPr id="21" name="正方形/長方形 20">
            <a:extLst>
              <a:ext uri="{FF2B5EF4-FFF2-40B4-BE49-F238E27FC236}">
                <a16:creationId xmlns:a16="http://schemas.microsoft.com/office/drawing/2014/main" id="{E9DCC125-2D2A-4ECB-8715-5A08507D6CCB}"/>
              </a:ext>
            </a:extLst>
          </p:cNvPr>
          <p:cNvSpPr>
            <a:spLocks noGrp="1"/>
          </p:cNvSpPr>
          <p:nvPr/>
        </p:nvSpPr>
        <p:spPr>
          <a:xfrm>
            <a:off x="5953125" y="1410022"/>
            <a:ext cx="2238375" cy="323850"/>
          </a:xfrm>
          <a:prstGeom prst="rect">
            <a:avLst/>
          </a:prstGeom>
          <a:noFill/>
          <a:ln w="0">
            <a:noFill/>
            <a:prstDash val="solid"/>
          </a:ln>
        </p:spPr>
        <p:txBody>
          <a:bodyPr lIns="0" tIns="0" rIns="0" bIns="0" anchor="t">
            <a:noAutofit/>
          </a:bodyPr>
          <a:lstStyle/>
          <a:p>
            <a:pPr algn="l">
              <a:buNone/>
              <a:defRPr sz="1875" b="1">
                <a:solidFill>
                  <a:srgbClr val="10B981"/>
                </a:solidFill>
                <a:latin typeface="Hiragino Sans"/>
                <a:ea typeface="Hiragino Sans"/>
                <a:cs typeface="Hiragino Sans"/>
              </a:defRPr>
            </a:pPr>
            <a:r>
              <a:rPr lang="ja-JP" sz="1875" b="1" noProof="1">
                <a:solidFill>
                  <a:srgbClr val="10B981"/>
                </a:solidFill>
                <a:latin typeface="Hiragino Sans"/>
                <a:ea typeface="Hiragino Sans"/>
                <a:cs typeface="Hiragino Sans"/>
              </a:rPr>
              <a:t>クラス C</a:t>
            </a:r>
          </a:p>
        </p:txBody>
      </p:sp>
      <p:cxnSp>
        <p:nvCxnSpPr>
          <p:cNvPr id="113" name="直線矢印コネクタ 54"/>
          <p:cNvCxnSpPr/>
          <p:nvPr/>
        </p:nvCxnSpPr>
        <p:spPr>
          <a:xfrm>
            <a:off x="5953125" y="1819597"/>
            <a:ext cx="2190750" cy="0"/>
          </a:xfrm>
          <a:prstGeom prst="straightConnector1">
            <a:avLst/>
          </a:prstGeom>
          <a:ln w="9525">
            <a:solidFill>
              <a:srgbClr val="CBD5E1"/>
            </a:solidFill>
            <a:prstDash val="solid"/>
          </a:ln>
        </p:spPr>
      </p:cxnSp>
      <p:sp>
        <p:nvSpPr>
          <p:cNvPr id="23" name="正方形/長方形 22">
            <a:extLst>
              <a:ext uri="{FF2B5EF4-FFF2-40B4-BE49-F238E27FC236}">
                <a16:creationId xmlns:a16="http://schemas.microsoft.com/office/drawing/2014/main" id="{3A099ABE-CC82-4F2F-B8F4-3425531D59E5}"/>
              </a:ext>
            </a:extLst>
          </p:cNvPr>
          <p:cNvSpPr>
            <a:spLocks noGrp="1"/>
          </p:cNvSpPr>
          <p:nvPr/>
        </p:nvSpPr>
        <p:spPr>
          <a:xfrm>
            <a:off x="5953125" y="2124397"/>
            <a:ext cx="809625" cy="238125"/>
          </a:xfrm>
          <a:prstGeom prst="rect">
            <a:avLst/>
          </a:prstGeom>
          <a:noFill/>
          <a:ln w="0">
            <a:noFill/>
            <a:prstDash val="solid"/>
          </a:ln>
        </p:spPr>
        <p:txBody>
          <a:bodyPr lIns="0" tIns="0" rIns="0" bIns="0" anchor="t">
            <a:noAutofit/>
          </a:bodyPr>
          <a:lstStyle/>
          <a:p>
            <a:pPr algn="l">
              <a:buNone/>
              <a:defRPr sz="1350" b="1">
                <a:solidFill>
                  <a:srgbClr val="111827"/>
                </a:solidFill>
                <a:latin typeface="Hiragino Sans"/>
                <a:ea typeface="Hiragino Sans"/>
                <a:cs typeface="Hiragino Sans"/>
              </a:defRPr>
            </a:pPr>
            <a:r>
              <a:rPr lang="ja-JP" sz="1350" b="1" noProof="1">
                <a:solidFill>
                  <a:srgbClr val="111827"/>
                </a:solidFill>
                <a:latin typeface="Hiragino Sans"/>
                <a:ea typeface="Hiragino Sans"/>
                <a:cs typeface="Hiragino Sans"/>
              </a:rPr>
              <a:t>特徴3</a:t>
            </a:r>
          </a:p>
        </p:txBody>
      </p:sp>
      <p:sp>
        <p:nvSpPr>
          <p:cNvPr id="24" name="正方形/長方形 23">
            <a:extLst>
              <a:ext uri="{FF2B5EF4-FFF2-40B4-BE49-F238E27FC236}">
                <a16:creationId xmlns:a16="http://schemas.microsoft.com/office/drawing/2014/main" id="{F412E6F8-0E49-4E21-A372-2DC40E5788FF}"/>
              </a:ext>
            </a:extLst>
          </p:cNvPr>
          <p:cNvSpPr>
            <a:spLocks noGrp="1"/>
          </p:cNvSpPr>
          <p:nvPr/>
        </p:nvSpPr>
        <p:spPr>
          <a:xfrm>
            <a:off x="6810375" y="2143447"/>
            <a:ext cx="714669" cy="180975"/>
          </a:xfrm>
          <a:prstGeom prst="rect">
            <a:avLst/>
          </a:prstGeom>
          <a:solidFill>
            <a:srgbClr val="10B981"/>
          </a:solidFill>
          <a:ln w="0">
            <a:solidFill>
              <a:srgbClr val="10B981"/>
            </a:solidFill>
            <a:prstDash val="solid"/>
          </a:ln>
        </p:spPr>
        <p:txBody>
          <a:bodyPr anchor="ctr" anchorCtr="1"/>
          <a:lstStyle/>
          <a:p>
            <a:r>
              <a:rPr lang="en-US" altLang="ja-JP" sz="1050" noProof="1">
                <a:solidFill>
                  <a:schemeClr val="bg1"/>
                </a:solidFill>
              </a:rPr>
              <a:t>-0.6</a:t>
            </a:r>
            <a:endParaRPr lang="ja-JP" sz="1050" noProof="1">
              <a:solidFill>
                <a:schemeClr val="bg1"/>
              </a:solidFill>
            </a:endParaRPr>
          </a:p>
        </p:txBody>
      </p:sp>
      <p:sp>
        <p:nvSpPr>
          <p:cNvPr id="25" name="正方形/長方形 24">
            <a:extLst>
              <a:ext uri="{FF2B5EF4-FFF2-40B4-BE49-F238E27FC236}">
                <a16:creationId xmlns:a16="http://schemas.microsoft.com/office/drawing/2014/main" id="{6AA202A1-C7AF-4C74-A8C1-E0A1B8170D90}"/>
              </a:ext>
            </a:extLst>
          </p:cNvPr>
          <p:cNvSpPr>
            <a:spLocks noGrp="1"/>
          </p:cNvSpPr>
          <p:nvPr/>
        </p:nvSpPr>
        <p:spPr>
          <a:xfrm>
            <a:off x="5953125" y="2934022"/>
            <a:ext cx="809625" cy="238125"/>
          </a:xfrm>
          <a:prstGeom prst="rect">
            <a:avLst/>
          </a:prstGeom>
          <a:noFill/>
          <a:ln w="0">
            <a:noFill/>
            <a:prstDash val="solid"/>
          </a:ln>
        </p:spPr>
        <p:txBody>
          <a:bodyPr lIns="0" tIns="0" rIns="0" bIns="0" anchor="t">
            <a:noAutofit/>
          </a:bodyPr>
          <a:lstStyle/>
          <a:p>
            <a:pPr algn="l">
              <a:buNone/>
              <a:defRPr sz="1350" b="1">
                <a:solidFill>
                  <a:srgbClr val="111827"/>
                </a:solidFill>
                <a:latin typeface="Hiragino Sans"/>
                <a:ea typeface="Hiragino Sans"/>
                <a:cs typeface="Hiragino Sans"/>
              </a:defRPr>
            </a:pPr>
            <a:r>
              <a:rPr lang="ja-JP" sz="1350" b="1" noProof="1">
                <a:solidFill>
                  <a:srgbClr val="111827"/>
                </a:solidFill>
                <a:latin typeface="Hiragino Sans"/>
                <a:ea typeface="Hiragino Sans"/>
                <a:cs typeface="Hiragino Sans"/>
              </a:rPr>
              <a:t>特徴5</a:t>
            </a:r>
          </a:p>
        </p:txBody>
      </p:sp>
      <p:sp>
        <p:nvSpPr>
          <p:cNvPr id="26" name="正方形/長方形 25">
            <a:extLst>
              <a:ext uri="{FF2B5EF4-FFF2-40B4-BE49-F238E27FC236}">
                <a16:creationId xmlns:a16="http://schemas.microsoft.com/office/drawing/2014/main" id="{174943F7-D308-4363-B917-01F17FD95837}"/>
              </a:ext>
            </a:extLst>
          </p:cNvPr>
          <p:cNvSpPr>
            <a:spLocks noGrp="1"/>
          </p:cNvSpPr>
          <p:nvPr/>
        </p:nvSpPr>
        <p:spPr>
          <a:xfrm>
            <a:off x="7525051" y="2953072"/>
            <a:ext cx="826770" cy="180975"/>
          </a:xfrm>
          <a:prstGeom prst="rect">
            <a:avLst/>
          </a:prstGeom>
          <a:solidFill>
            <a:srgbClr val="10B981"/>
          </a:solidFill>
          <a:ln w="0">
            <a:solidFill>
              <a:srgbClr val="10B981"/>
            </a:solidFill>
            <a:prstDash val="solid"/>
          </a:ln>
        </p:spPr>
        <p:txBody>
          <a:bodyPr anchor="ctr" anchorCtr="1"/>
          <a:lstStyle/>
          <a:p>
            <a:r>
              <a:rPr lang="en-US" altLang="ja-JP" sz="1050" noProof="1">
                <a:solidFill>
                  <a:schemeClr val="bg1"/>
                </a:solidFill>
              </a:rPr>
              <a:t>+0.7</a:t>
            </a:r>
            <a:endParaRPr lang="ja-JP" sz="1050" noProof="1">
              <a:solidFill>
                <a:schemeClr val="bg1"/>
              </a:solidFill>
            </a:endParaRPr>
          </a:p>
        </p:txBody>
      </p:sp>
      <p:sp>
        <p:nvSpPr>
          <p:cNvPr id="27" name="正方形/長方形 26">
            <a:extLst>
              <a:ext uri="{FF2B5EF4-FFF2-40B4-BE49-F238E27FC236}">
                <a16:creationId xmlns:a16="http://schemas.microsoft.com/office/drawing/2014/main" id="{A5138BC3-7C1A-42EE-9E64-69586F44F6E9}"/>
              </a:ext>
            </a:extLst>
          </p:cNvPr>
          <p:cNvSpPr>
            <a:spLocks noGrp="1"/>
          </p:cNvSpPr>
          <p:nvPr/>
        </p:nvSpPr>
        <p:spPr>
          <a:xfrm>
            <a:off x="5953125" y="3743647"/>
            <a:ext cx="809625" cy="238125"/>
          </a:xfrm>
          <a:prstGeom prst="rect">
            <a:avLst/>
          </a:prstGeom>
          <a:noFill/>
          <a:ln w="0">
            <a:noFill/>
            <a:prstDash val="solid"/>
          </a:ln>
        </p:spPr>
        <p:txBody>
          <a:bodyPr lIns="0" tIns="0" rIns="0" bIns="0" anchor="t">
            <a:noAutofit/>
          </a:bodyPr>
          <a:lstStyle/>
          <a:p>
            <a:pPr algn="l">
              <a:buNone/>
              <a:defRPr sz="1350" b="1">
                <a:solidFill>
                  <a:srgbClr val="111827"/>
                </a:solidFill>
                <a:latin typeface="Hiragino Sans"/>
                <a:ea typeface="Hiragino Sans"/>
                <a:cs typeface="Hiragino Sans"/>
              </a:defRPr>
            </a:pPr>
            <a:r>
              <a:rPr lang="ja-JP" sz="1350" b="1" noProof="1">
                <a:solidFill>
                  <a:srgbClr val="111827"/>
                </a:solidFill>
                <a:latin typeface="Hiragino Sans"/>
                <a:ea typeface="Hiragino Sans"/>
                <a:cs typeface="Hiragino Sans"/>
              </a:rPr>
              <a:t>特徴2</a:t>
            </a:r>
          </a:p>
        </p:txBody>
      </p:sp>
      <p:sp>
        <p:nvSpPr>
          <p:cNvPr id="28" name="正方形/長方形 27">
            <a:extLst>
              <a:ext uri="{FF2B5EF4-FFF2-40B4-BE49-F238E27FC236}">
                <a16:creationId xmlns:a16="http://schemas.microsoft.com/office/drawing/2014/main" id="{614BDDEF-52A9-4FE2-9F66-D5F7AA69E784}"/>
              </a:ext>
            </a:extLst>
          </p:cNvPr>
          <p:cNvSpPr>
            <a:spLocks noGrp="1"/>
          </p:cNvSpPr>
          <p:nvPr/>
        </p:nvSpPr>
        <p:spPr>
          <a:xfrm>
            <a:off x="6810374" y="3762697"/>
            <a:ext cx="714677" cy="180975"/>
          </a:xfrm>
          <a:prstGeom prst="rect">
            <a:avLst/>
          </a:prstGeom>
          <a:solidFill>
            <a:srgbClr val="10B981"/>
          </a:solidFill>
          <a:ln w="0">
            <a:solidFill>
              <a:srgbClr val="10B981"/>
            </a:solidFill>
            <a:prstDash val="solid"/>
          </a:ln>
        </p:spPr>
        <p:txBody>
          <a:bodyPr anchor="ctr" anchorCtr="1"/>
          <a:lstStyle/>
          <a:p>
            <a:r>
              <a:rPr lang="en-US" altLang="ja-JP" sz="1050" noProof="1">
                <a:solidFill>
                  <a:schemeClr val="bg1"/>
                </a:solidFill>
              </a:rPr>
              <a:t>-0.6</a:t>
            </a:r>
            <a:endParaRPr lang="ja-JP" sz="1050" noProof="1">
              <a:solidFill>
                <a:schemeClr val="bg1"/>
              </a:solidFill>
            </a:endParaRPr>
          </a:p>
        </p:txBody>
      </p:sp>
      <p:cxnSp>
        <p:nvCxnSpPr>
          <p:cNvPr id="120" name="直線矢印コネクタ 61"/>
          <p:cNvCxnSpPr>
            <a:cxnSpLocks/>
          </p:cNvCxnSpPr>
          <p:nvPr/>
        </p:nvCxnSpPr>
        <p:spPr>
          <a:xfrm>
            <a:off x="8763000" y="1314772"/>
            <a:ext cx="0" cy="3336502"/>
          </a:xfrm>
          <a:prstGeom prst="straightConnector1">
            <a:avLst/>
          </a:prstGeom>
          <a:ln w="19050">
            <a:solidFill>
              <a:srgbClr val="CBD5E1"/>
            </a:solidFill>
            <a:prstDash val="solid"/>
          </a:ln>
        </p:spPr>
      </p:cxnSp>
      <p:sp>
        <p:nvSpPr>
          <p:cNvPr id="30" name="正方形/長方形 29">
            <a:extLst>
              <a:ext uri="{FF2B5EF4-FFF2-40B4-BE49-F238E27FC236}">
                <a16:creationId xmlns:a16="http://schemas.microsoft.com/office/drawing/2014/main" id="{7232231D-4BA4-47E1-9658-6CC3BCF63FB7}"/>
              </a:ext>
            </a:extLst>
          </p:cNvPr>
          <p:cNvSpPr>
            <a:spLocks noGrp="1"/>
          </p:cNvSpPr>
          <p:nvPr/>
        </p:nvSpPr>
        <p:spPr>
          <a:xfrm>
            <a:off x="9191625" y="1457647"/>
            <a:ext cx="2286000" cy="323850"/>
          </a:xfrm>
          <a:prstGeom prst="rect">
            <a:avLst/>
          </a:prstGeom>
          <a:noFill/>
          <a:ln w="0">
            <a:noFill/>
            <a:prstDash val="solid"/>
          </a:ln>
        </p:spPr>
        <p:txBody>
          <a:bodyPr lIns="0" tIns="0" rIns="0" bIns="0" anchor="t">
            <a:noAutofit/>
          </a:bodyPr>
          <a:lstStyle/>
          <a:p>
            <a:pPr algn="l">
              <a:buNone/>
              <a:defRPr sz="1800" b="1">
                <a:solidFill>
                  <a:srgbClr val="111827"/>
                </a:solidFill>
                <a:latin typeface="Hiragino Sans"/>
                <a:ea typeface="Hiragino Sans"/>
                <a:cs typeface="Hiragino Sans"/>
              </a:defRPr>
            </a:pPr>
            <a:r>
              <a:rPr lang="ja-JP" altLang="en-US" sz="1800" b="1" noProof="1">
                <a:solidFill>
                  <a:srgbClr val="111827"/>
                </a:solidFill>
                <a:latin typeface="Hiragino Sans"/>
                <a:ea typeface="Hiragino Sans"/>
                <a:cs typeface="Hiragino Sans"/>
              </a:rPr>
              <a:t>解釈</a:t>
            </a:r>
            <a:endParaRPr lang="ja-JP" sz="1800" b="1" noProof="1">
              <a:solidFill>
                <a:srgbClr val="111827"/>
              </a:solidFill>
              <a:latin typeface="Hiragino Sans"/>
              <a:ea typeface="Hiragino Sans"/>
              <a:cs typeface="Hiragino Sans"/>
            </a:endParaRPr>
          </a:p>
        </p:txBody>
      </p:sp>
      <p:cxnSp>
        <p:nvCxnSpPr>
          <p:cNvPr id="6" name="直線コネクタ 5">
            <a:extLst>
              <a:ext uri="{FF2B5EF4-FFF2-40B4-BE49-F238E27FC236}">
                <a16:creationId xmlns:a16="http://schemas.microsoft.com/office/drawing/2014/main" id="{9DB67BC8-8E1A-8692-262B-EA9FFAAFFF52}"/>
              </a:ext>
            </a:extLst>
          </p:cNvPr>
          <p:cNvCxnSpPr>
            <a:cxnSpLocks/>
          </p:cNvCxnSpPr>
          <p:nvPr/>
        </p:nvCxnSpPr>
        <p:spPr>
          <a:xfrm>
            <a:off x="2052637" y="2324422"/>
            <a:ext cx="0" cy="1490663"/>
          </a:xfrm>
          <a:prstGeom prst="line">
            <a:avLst/>
          </a:prstGeom>
          <a:ln>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5" name="直線コネクタ 34">
            <a:extLst>
              <a:ext uri="{FF2B5EF4-FFF2-40B4-BE49-F238E27FC236}">
                <a16:creationId xmlns:a16="http://schemas.microsoft.com/office/drawing/2014/main" id="{94C876EE-8ED0-60CA-48D9-CE76963C478E}"/>
              </a:ext>
            </a:extLst>
          </p:cNvPr>
          <p:cNvCxnSpPr>
            <a:cxnSpLocks/>
          </p:cNvCxnSpPr>
          <p:nvPr/>
        </p:nvCxnSpPr>
        <p:spPr>
          <a:xfrm>
            <a:off x="4773930" y="2283448"/>
            <a:ext cx="0" cy="1490663"/>
          </a:xfrm>
          <a:prstGeom prst="line">
            <a:avLst/>
          </a:prstGeom>
          <a:ln>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a16:creationId xmlns:a16="http://schemas.microsoft.com/office/drawing/2014/main" id="{C41DA6F8-0494-80FA-D7BF-55787A592EA5}"/>
              </a:ext>
            </a:extLst>
          </p:cNvPr>
          <p:cNvCxnSpPr>
            <a:cxnSpLocks/>
          </p:cNvCxnSpPr>
          <p:nvPr/>
        </p:nvCxnSpPr>
        <p:spPr>
          <a:xfrm>
            <a:off x="7525044" y="2324422"/>
            <a:ext cx="0" cy="1490663"/>
          </a:xfrm>
          <a:prstGeom prst="line">
            <a:avLst/>
          </a:prstGeom>
          <a:ln>
            <a:solidFill>
              <a:schemeClr val="bg1">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081208A5-D2E6-04C7-262C-34826A068291}"/>
              </a:ext>
            </a:extLst>
          </p:cNvPr>
          <p:cNvSpPr txBox="1"/>
          <p:nvPr/>
        </p:nvSpPr>
        <p:spPr>
          <a:xfrm>
            <a:off x="9117496" y="2115286"/>
            <a:ext cx="2610010" cy="1200329"/>
          </a:xfrm>
          <a:prstGeom prst="rect">
            <a:avLst/>
          </a:prstGeom>
          <a:noFill/>
        </p:spPr>
        <p:txBody>
          <a:bodyPr wrap="none" rtlCol="0">
            <a:spAutoFit/>
          </a:bodyPr>
          <a:lstStyle/>
          <a:p>
            <a:r>
              <a:rPr kumimoji="1" lang="ja-JP" altLang="en-US"/>
              <a:t>特徴</a:t>
            </a:r>
            <a:r>
              <a:rPr kumimoji="1" lang="en-US" altLang="ja-JP" dirty="0"/>
              <a:t>1</a:t>
            </a:r>
            <a:r>
              <a:rPr kumimoji="1" lang="ja-JP" altLang="en-US"/>
              <a:t>を増加させると，</a:t>
            </a:r>
            <a:br>
              <a:rPr kumimoji="1" lang="en-US" altLang="ja-JP" dirty="0"/>
            </a:br>
            <a:r>
              <a:rPr kumimoji="1" lang="en-US" altLang="ja-JP" dirty="0"/>
              <a:t>A</a:t>
            </a:r>
            <a:r>
              <a:rPr kumimoji="1" lang="ja-JP" altLang="en-US"/>
              <a:t>である確率が高まり</a:t>
            </a:r>
            <a:br>
              <a:rPr kumimoji="1" lang="en-US" altLang="ja-JP" dirty="0"/>
            </a:br>
            <a:r>
              <a:rPr kumimoji="1" lang="en-US" altLang="ja-JP" dirty="0"/>
              <a:t>B</a:t>
            </a:r>
            <a:r>
              <a:rPr kumimoji="1" lang="ja-JP" altLang="en-US"/>
              <a:t>である確率が下がる</a:t>
            </a:r>
            <a:br>
              <a:rPr kumimoji="1" lang="en-US" altLang="ja-JP" dirty="0"/>
            </a:br>
            <a:r>
              <a:rPr kumimoji="1" lang="en-US" altLang="ja-JP" u="sng" dirty="0"/>
              <a:t>C</a:t>
            </a:r>
            <a:r>
              <a:rPr kumimoji="1" lang="ja-JP" altLang="en-US" u="sng"/>
              <a:t>は</a:t>
            </a:r>
            <a:r>
              <a:rPr lang="en-US" altLang="ja-JP" u="sng" dirty="0"/>
              <a:t>….</a:t>
            </a:r>
            <a:endParaRPr kumimoji="1" lang="ja-JP" altLang="en-US" u="sng"/>
          </a:p>
        </p:txBody>
      </p:sp>
      <p:sp>
        <p:nvSpPr>
          <p:cNvPr id="32" name="テキスト ボックス 31">
            <a:extLst>
              <a:ext uri="{FF2B5EF4-FFF2-40B4-BE49-F238E27FC236}">
                <a16:creationId xmlns:a16="http://schemas.microsoft.com/office/drawing/2014/main" id="{FCD7C562-296E-52BD-2D78-EEA01F241F90}"/>
              </a:ext>
            </a:extLst>
          </p:cNvPr>
          <p:cNvSpPr txBox="1"/>
          <p:nvPr/>
        </p:nvSpPr>
        <p:spPr>
          <a:xfrm>
            <a:off x="9117496" y="3450945"/>
            <a:ext cx="2610010" cy="1200329"/>
          </a:xfrm>
          <a:prstGeom prst="rect">
            <a:avLst/>
          </a:prstGeom>
          <a:noFill/>
        </p:spPr>
        <p:txBody>
          <a:bodyPr wrap="none" rtlCol="0">
            <a:spAutoFit/>
          </a:bodyPr>
          <a:lstStyle/>
          <a:p>
            <a:r>
              <a:rPr kumimoji="1" lang="ja-JP" altLang="en-US"/>
              <a:t>特徴</a:t>
            </a:r>
            <a:r>
              <a:rPr kumimoji="1" lang="en-US" altLang="ja-JP" dirty="0"/>
              <a:t>4</a:t>
            </a:r>
            <a:r>
              <a:rPr kumimoji="1" lang="ja-JP" altLang="en-US"/>
              <a:t>を増加させると，</a:t>
            </a:r>
            <a:br>
              <a:rPr kumimoji="1" lang="en-US" altLang="ja-JP" dirty="0"/>
            </a:br>
            <a:r>
              <a:rPr kumimoji="1" lang="en-US" altLang="ja-JP" dirty="0"/>
              <a:t>B</a:t>
            </a:r>
            <a:r>
              <a:rPr kumimoji="1" lang="ja-JP" altLang="en-US"/>
              <a:t>である確率が下がる</a:t>
            </a:r>
            <a:endParaRPr lang="en-US" altLang="ja-JP" dirty="0"/>
          </a:p>
          <a:p>
            <a:r>
              <a:rPr kumimoji="1" lang="en-US" altLang="ja-JP" u="sng" dirty="0"/>
              <a:t>A</a:t>
            </a:r>
            <a:r>
              <a:rPr kumimoji="1" lang="ja-JP" altLang="en-US" u="sng"/>
              <a:t>は</a:t>
            </a:r>
            <a:r>
              <a:rPr kumimoji="1" lang="en-US" altLang="ja-JP" u="sng" dirty="0"/>
              <a:t>…</a:t>
            </a:r>
            <a:br>
              <a:rPr kumimoji="1" lang="en-US" altLang="ja-JP" u="sng" dirty="0"/>
            </a:br>
            <a:r>
              <a:rPr kumimoji="1" lang="en-US" altLang="ja-JP" u="sng" dirty="0"/>
              <a:t>C</a:t>
            </a:r>
            <a:r>
              <a:rPr kumimoji="1" lang="ja-JP" altLang="en-US" u="sng"/>
              <a:t>は</a:t>
            </a:r>
            <a:r>
              <a:rPr kumimoji="1" lang="en-US" altLang="ja-JP" u="sng" dirty="0"/>
              <a:t>…</a:t>
            </a:r>
            <a:endParaRPr kumimoji="1" lang="ja-JP" altLang="en-US" u="sng"/>
          </a:p>
        </p:txBody>
      </p:sp>
      <p:sp>
        <p:nvSpPr>
          <p:cNvPr id="39" name="正方形/長方形 38">
            <a:extLst>
              <a:ext uri="{FF2B5EF4-FFF2-40B4-BE49-F238E27FC236}">
                <a16:creationId xmlns:a16="http://schemas.microsoft.com/office/drawing/2014/main" id="{B0C9D0E5-3977-D5AF-CF36-DADDB1752939}"/>
              </a:ext>
            </a:extLst>
          </p:cNvPr>
          <p:cNvSpPr>
            <a:spLocks noGrp="1"/>
          </p:cNvSpPr>
          <p:nvPr/>
        </p:nvSpPr>
        <p:spPr>
          <a:xfrm>
            <a:off x="2052636" y="5148714"/>
            <a:ext cx="3487271" cy="1236010"/>
          </a:xfrm>
          <a:prstGeom prst="rect">
            <a:avLst/>
          </a:prstGeom>
          <a:noFill/>
          <a:ln w="41275">
            <a:solidFill>
              <a:srgbClr val="10B981"/>
            </a:solidFill>
            <a:prstDash val="solid"/>
            <a:bevel/>
          </a:ln>
          <a:effectLst>
            <a:outerShdw blurRad="63500" sx="102000" sy="102000" algn="ctr" rotWithShape="0">
              <a:prstClr val="black">
                <a:alpha val="40000"/>
              </a:prstClr>
            </a:outerShdw>
          </a:effectLst>
        </p:spPr>
        <p:txBody>
          <a:bodyPr/>
          <a:lstStyle/>
          <a:p>
            <a:endParaRPr lang="ja-JP" noProof="1"/>
          </a:p>
        </p:txBody>
      </p:sp>
      <p:sp>
        <p:nvSpPr>
          <p:cNvPr id="40" name="正方形/長方形 39">
            <a:extLst>
              <a:ext uri="{FF2B5EF4-FFF2-40B4-BE49-F238E27FC236}">
                <a16:creationId xmlns:a16="http://schemas.microsoft.com/office/drawing/2014/main" id="{830D15C6-9A45-34D4-BFDB-EDD64456CE84}"/>
              </a:ext>
            </a:extLst>
          </p:cNvPr>
          <p:cNvSpPr>
            <a:spLocks noGrp="1"/>
          </p:cNvSpPr>
          <p:nvPr/>
        </p:nvSpPr>
        <p:spPr>
          <a:xfrm>
            <a:off x="2001093" y="5253489"/>
            <a:ext cx="3619500" cy="346074"/>
          </a:xfrm>
          <a:prstGeom prst="rect">
            <a:avLst/>
          </a:prstGeom>
          <a:noFill/>
          <a:ln w="0">
            <a:noFill/>
            <a:prstDash val="solid"/>
          </a:ln>
        </p:spPr>
        <p:txBody>
          <a:bodyPr lIns="0" tIns="0" rIns="0" bIns="0" anchor="t">
            <a:noAutofit/>
          </a:bodyPr>
          <a:lstStyle/>
          <a:p>
            <a:pPr algn="ctr">
              <a:buNone/>
              <a:defRPr sz="1575" b="1">
                <a:solidFill>
                  <a:srgbClr val="10B981"/>
                </a:solidFill>
                <a:latin typeface="Hiragino Sans"/>
                <a:ea typeface="Hiragino Sans"/>
                <a:cs typeface="Hiragino Sans"/>
              </a:defRPr>
            </a:pPr>
            <a:br>
              <a:rPr lang="ja-JP" sz="1575" b="1" noProof="1">
                <a:solidFill>
                  <a:srgbClr val="10B981"/>
                </a:solidFill>
                <a:latin typeface="Hiragino Sans"/>
                <a:ea typeface="Hiragino Sans"/>
                <a:cs typeface="Hiragino Sans"/>
              </a:rPr>
            </a:br>
            <a:br>
              <a:rPr lang="ja-JP" sz="1575" b="1" noProof="1">
                <a:solidFill>
                  <a:srgbClr val="10B981"/>
                </a:solidFill>
                <a:latin typeface="Hiragino Sans"/>
                <a:ea typeface="Hiragino Sans"/>
                <a:cs typeface="Hiragino Sans"/>
              </a:rPr>
            </a:br>
            <a:r>
              <a:rPr lang="ja-JP" sz="1575" b="1" noProof="1">
                <a:solidFill>
                  <a:srgbClr val="10B981"/>
                </a:solidFill>
                <a:latin typeface="Hiragino Sans"/>
                <a:ea typeface="Hiragino Sans"/>
                <a:cs typeface="Hiragino Sans"/>
              </a:rPr>
              <a:t>人が理解できる程度に単純</a:t>
            </a:r>
            <a:br>
              <a:rPr lang="ja-JP" sz="1575" b="1" noProof="1">
                <a:solidFill>
                  <a:srgbClr val="10B981"/>
                </a:solidFill>
                <a:latin typeface="Hiragino Sans"/>
                <a:ea typeface="Hiragino Sans"/>
                <a:cs typeface="Hiragino Sans"/>
              </a:rPr>
            </a:br>
            <a:r>
              <a:rPr lang="ja-JP" sz="1575" b="1" noProof="1">
                <a:solidFill>
                  <a:srgbClr val="10B981"/>
                </a:solidFill>
                <a:latin typeface="Hiragino Sans"/>
                <a:ea typeface="Hiragino Sans"/>
                <a:cs typeface="Hiragino Sans"/>
              </a:rPr>
              <a:t>（説明に使う特徴量の数を絞る罰則項）</a:t>
            </a:r>
          </a:p>
        </p:txBody>
      </p:sp>
      <p:pic>
        <p:nvPicPr>
          <p:cNvPr id="41" name="図 40">
            <a:extLst>
              <a:ext uri="{FF2B5EF4-FFF2-40B4-BE49-F238E27FC236}">
                <a16:creationId xmlns:a16="http://schemas.microsoft.com/office/drawing/2014/main" id="{DC07447C-6CBB-6B25-EB9E-C2100137E0AB}"/>
              </a:ext>
            </a:extLst>
          </p:cNvPr>
          <p:cNvPicPr>
            <a:picLocks noChangeAspect="1"/>
          </p:cNvPicPr>
          <p:nvPr/>
        </p:nvPicPr>
        <p:blipFill>
          <a:blip r:embed="rId3"/>
          <a:stretch>
            <a:fillRect/>
          </a:stretch>
        </p:blipFill>
        <p:spPr>
          <a:xfrm>
            <a:off x="3492829" y="5253489"/>
            <a:ext cx="636028" cy="346074"/>
          </a:xfrm>
          <a:prstGeom prst="rect">
            <a:avLst/>
          </a:prstGeom>
        </p:spPr>
      </p:pic>
      <p:sp>
        <p:nvSpPr>
          <p:cNvPr id="42" name="テキスト ボックス 41">
            <a:extLst>
              <a:ext uri="{FF2B5EF4-FFF2-40B4-BE49-F238E27FC236}">
                <a16:creationId xmlns:a16="http://schemas.microsoft.com/office/drawing/2014/main" id="{48BCD18D-1B4D-997D-B7B4-4F2B44C79273}"/>
              </a:ext>
            </a:extLst>
          </p:cNvPr>
          <p:cNvSpPr txBox="1"/>
          <p:nvPr/>
        </p:nvSpPr>
        <p:spPr>
          <a:xfrm>
            <a:off x="6021675" y="5195104"/>
            <a:ext cx="4339650" cy="1169551"/>
          </a:xfrm>
          <a:prstGeom prst="rect">
            <a:avLst/>
          </a:prstGeom>
          <a:noFill/>
        </p:spPr>
        <p:txBody>
          <a:bodyPr wrap="none" rtlCol="0">
            <a:spAutoFit/>
          </a:bodyPr>
          <a:lstStyle/>
          <a:p>
            <a:r>
              <a:rPr kumimoji="1" lang="ja-JP" altLang="en-US"/>
              <a:t>それぞれ説明に使う特徴量が異なるので</a:t>
            </a:r>
            <a:endParaRPr kumimoji="1" lang="en-US" altLang="ja-JP" dirty="0"/>
          </a:p>
          <a:p>
            <a:r>
              <a:rPr lang="ja-JP" altLang="en-US"/>
              <a:t>係数比較が困難</a:t>
            </a:r>
            <a:br>
              <a:rPr lang="en-US" altLang="ja-JP" dirty="0"/>
            </a:br>
            <a:r>
              <a:rPr lang="en-US" altLang="ja-JP" dirty="0"/>
              <a:t>  </a:t>
            </a:r>
            <a:r>
              <a:rPr lang="en-US" altLang="ja-JP" sz="1600" dirty="0"/>
              <a:t>A vs </a:t>
            </a:r>
            <a:r>
              <a:rPr lang="ja-JP" altLang="en-US" sz="1600"/>
              <a:t>その他で重要な特徴量と</a:t>
            </a:r>
            <a:br>
              <a:rPr lang="en-US" altLang="ja-JP" sz="1600" dirty="0"/>
            </a:br>
            <a:r>
              <a:rPr lang="en-US" altLang="ja-JP" sz="1600" dirty="0"/>
              <a:t>  B vs </a:t>
            </a:r>
            <a:r>
              <a:rPr lang="ja-JP" altLang="en-US" sz="1600"/>
              <a:t>その他で重要な特徴量は，一致しない</a:t>
            </a:r>
            <a:endParaRPr kumimoji="1" lang="ja-JP" altLang="en-US"/>
          </a:p>
        </p:txBody>
      </p:sp>
    </p:spTree>
    <p:extLst>
      <p:ext uri="{BB962C8B-B14F-4D97-AF65-F5344CB8AC3E}">
        <p14:creationId xmlns:p14="http://schemas.microsoft.com/office/powerpoint/2010/main" val="978290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accent-bar"/>
          <p:cNvSpPr>
            <a:spLocks noGrp="1"/>
          </p:cNvSpPr>
          <p:nvPr/>
        </p:nvSpPr>
        <p:spPr>
          <a:xfrm>
            <a:off x="514350" y="409575"/>
            <a:ext cx="114300" cy="476250"/>
          </a:xfrm>
          <a:prstGeom prst="rect">
            <a:avLst/>
          </a:prstGeom>
          <a:solidFill>
            <a:srgbClr val="156082"/>
          </a:solidFill>
          <a:ln w="0">
            <a:noFill/>
            <a:prstDash val="solid"/>
          </a:ln>
        </p:spPr>
        <p:txBody>
          <a:bodyPr/>
          <a:lstStyle/>
          <a:p>
            <a:endParaRPr lang="ja-JP" noProof="1"/>
          </a:p>
        </p:txBody>
      </p:sp>
      <p:sp>
        <p:nvSpPr>
          <p:cNvPr id="3" name="title"/>
          <p:cNvSpPr>
            <a:spLocks noGrp="1"/>
          </p:cNvSpPr>
          <p:nvPr/>
        </p:nvSpPr>
        <p:spPr>
          <a:xfrm>
            <a:off x="762000" y="342900"/>
            <a:ext cx="10668000" cy="476250"/>
          </a:xfrm>
          <a:prstGeom prst="rect">
            <a:avLst/>
          </a:prstGeom>
          <a:noFill/>
          <a:ln w="0">
            <a:noFill/>
            <a:prstDash val="solid"/>
          </a:ln>
        </p:spPr>
        <p:txBody>
          <a:bodyPr lIns="0" tIns="0" rIns="0" bIns="0" anchor="ctr">
            <a:noAutofit/>
          </a:bodyPr>
          <a:lstStyle/>
          <a:p>
            <a:pPr algn="l">
              <a:buNone/>
              <a:defRPr sz="2550" b="1">
                <a:solidFill>
                  <a:srgbClr val="17233D"/>
                </a:solidFill>
                <a:latin typeface="Hiragino Sans"/>
                <a:ea typeface="Hiragino Sans"/>
                <a:cs typeface="Hiragino Sans"/>
              </a:defRPr>
            </a:pPr>
            <a:r>
              <a:rPr lang="ja-JP" sz="2550" b="1" noProof="1">
                <a:solidFill>
                  <a:srgbClr val="17233D"/>
                </a:solidFill>
                <a:latin typeface="Hiragino Sans"/>
                <a:ea typeface="Hiragino Sans"/>
                <a:cs typeface="Hiragino Sans"/>
              </a:rPr>
              <a:t>目次</a:t>
            </a:r>
          </a:p>
        </p:txBody>
      </p:sp>
      <p:sp>
        <p:nvSpPr>
          <p:cNvPr id="6" name="toc-item-0"/>
          <p:cNvSpPr>
            <a:spLocks noGrp="1"/>
          </p:cNvSpPr>
          <p:nvPr/>
        </p:nvSpPr>
        <p:spPr>
          <a:xfrm>
            <a:off x="1200000" y="150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1">
                <a:solidFill>
                  <a:srgbClr val="B9BEC4"/>
                </a:solidFill>
                <a:latin typeface="Hiragino Sans"/>
                <a:ea typeface="Hiragino Sans"/>
                <a:cs typeface="Hiragino Sans"/>
              </a:rPr>
              <a:t>　　1. XAI（説明可能なAI）</a:t>
            </a:r>
          </a:p>
        </p:txBody>
      </p:sp>
      <p:sp>
        <p:nvSpPr>
          <p:cNvPr id="7" name="toc-item-1"/>
          <p:cNvSpPr>
            <a:spLocks noGrp="1"/>
          </p:cNvSpPr>
          <p:nvPr/>
        </p:nvSpPr>
        <p:spPr>
          <a:xfrm>
            <a:off x="1200000" y="212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1">
                <a:solidFill>
                  <a:srgbClr val="B9BEC4"/>
                </a:solidFill>
                <a:latin typeface="Hiragino Sans"/>
                <a:ea typeface="Hiragino Sans"/>
                <a:cs typeface="Hiragino Sans"/>
              </a:rPr>
              <a:t>　　2. LIME</a:t>
            </a:r>
          </a:p>
        </p:txBody>
      </p:sp>
      <p:sp>
        <p:nvSpPr>
          <p:cNvPr id="8" name="toc-item-2"/>
          <p:cNvSpPr>
            <a:spLocks noGrp="1"/>
          </p:cNvSpPr>
          <p:nvPr/>
        </p:nvSpPr>
        <p:spPr>
          <a:xfrm>
            <a:off x="1200000" y="274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1">
                <a:solidFill>
                  <a:srgbClr val="B9BEC4"/>
                </a:solidFill>
                <a:latin typeface="Hiragino Sans"/>
                <a:ea typeface="Hiragino Sans"/>
                <a:cs typeface="Hiragino Sans"/>
              </a:rPr>
              <a:t>　　3. 多クラスに応用したLIME</a:t>
            </a:r>
          </a:p>
        </p:txBody>
      </p:sp>
      <p:sp>
        <p:nvSpPr>
          <p:cNvPr id="9" name="toc-item-3"/>
          <p:cNvSpPr>
            <a:spLocks noGrp="1"/>
          </p:cNvSpPr>
          <p:nvPr/>
        </p:nvSpPr>
        <p:spPr>
          <a:xfrm>
            <a:off x="1200000" y="3360000"/>
            <a:ext cx="9792000" cy="620000"/>
          </a:xfrm>
          <a:prstGeom prst="rect">
            <a:avLst/>
          </a:prstGeom>
          <a:noFill/>
          <a:ln w="0">
            <a:noFill/>
            <a:prstDash val="solid"/>
          </a:ln>
        </p:spPr>
        <p:txBody>
          <a:bodyPr lIns="0" tIns="0" rIns="0" bIns="0" anchor="ctr">
            <a:noAutofit/>
          </a:bodyPr>
          <a:lstStyle/>
          <a:p>
            <a:pPr algn="l">
              <a:buNone/>
              <a:defRPr sz="2200" b="1">
                <a:solidFill>
                  <a:srgbClr val="156082"/>
                </a:solidFill>
                <a:latin typeface="Hiragino Sans"/>
                <a:ea typeface="Hiragino Sans"/>
                <a:cs typeface="Hiragino Sans"/>
              </a:defRPr>
            </a:pPr>
            <a:r>
              <a:rPr lang="ja-JP" sz="2200" b="1" noProof="1">
                <a:solidFill>
                  <a:srgbClr val="156082"/>
                </a:solidFill>
                <a:latin typeface="Hiragino Sans"/>
                <a:ea typeface="Hiragino Sans"/>
                <a:cs typeface="Hiragino Sans"/>
              </a:rPr>
              <a:t>4. 関連研究</a:t>
            </a:r>
          </a:p>
        </p:txBody>
      </p:sp>
      <p:sp>
        <p:nvSpPr>
          <p:cNvPr id="10" name="toc-item-4"/>
          <p:cNvSpPr>
            <a:spLocks noGrp="1"/>
          </p:cNvSpPr>
          <p:nvPr/>
        </p:nvSpPr>
        <p:spPr>
          <a:xfrm>
            <a:off x="1200000" y="398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1">
                <a:solidFill>
                  <a:srgbClr val="B9BEC4"/>
                </a:solidFill>
                <a:latin typeface="Hiragino Sans"/>
                <a:ea typeface="Hiragino Sans"/>
                <a:cs typeface="Hiragino Sans"/>
              </a:rPr>
              <a:t>　　5. 提案手法</a:t>
            </a:r>
          </a:p>
        </p:txBody>
      </p:sp>
      <p:sp>
        <p:nvSpPr>
          <p:cNvPr id="11" name="toc-item-5"/>
          <p:cNvSpPr>
            <a:spLocks noGrp="1"/>
          </p:cNvSpPr>
          <p:nvPr/>
        </p:nvSpPr>
        <p:spPr>
          <a:xfrm>
            <a:off x="1200000" y="460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1">
                <a:solidFill>
                  <a:srgbClr val="B9BEC4"/>
                </a:solidFill>
                <a:latin typeface="Hiragino Sans"/>
                <a:ea typeface="Hiragino Sans"/>
                <a:cs typeface="Hiragino Sans"/>
              </a:rPr>
              <a:t>　　6. 実験と考察</a:t>
            </a:r>
          </a:p>
        </p:txBody>
      </p:sp>
      <p:sp>
        <p:nvSpPr>
          <p:cNvPr id="12" name="toc-item-6"/>
          <p:cNvSpPr>
            <a:spLocks noGrp="1"/>
          </p:cNvSpPr>
          <p:nvPr/>
        </p:nvSpPr>
        <p:spPr>
          <a:xfrm>
            <a:off x="1200000" y="522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1">
                <a:solidFill>
                  <a:srgbClr val="B9BEC4"/>
                </a:solidFill>
                <a:latin typeface="Hiragino Sans"/>
                <a:ea typeface="Hiragino Sans"/>
                <a:cs typeface="Hiragino Sans"/>
              </a:rPr>
              <a:t>　　7. まとめと今後の展望</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テキスト ボックス 6">
            <a:extLst>
              <a:ext uri="{FF2B5EF4-FFF2-40B4-BE49-F238E27FC236}">
                <a16:creationId xmlns:a16="http://schemas.microsoft.com/office/drawing/2014/main" id="{C774CF58-B894-3797-ABAC-CED235C711A7}"/>
              </a:ext>
            </a:extLst>
          </p:cNvPr>
          <p:cNvSpPr txBox="1"/>
          <p:nvPr/>
        </p:nvSpPr>
        <p:spPr>
          <a:xfrm>
            <a:off x="800100" y="1852101"/>
            <a:ext cx="7551683" cy="1477328"/>
          </a:xfrm>
          <a:prstGeom prst="rect">
            <a:avLst/>
          </a:prstGeom>
          <a:noFill/>
        </p:spPr>
        <p:txBody>
          <a:bodyPr wrap="none" rtlCol="0">
            <a:spAutoFit/>
          </a:bodyPr>
          <a:lstStyle/>
          <a:p>
            <a:r>
              <a:rPr lang="ja-JP" altLang="ja-JP"/>
              <a:t>GANMEX</a:t>
            </a:r>
            <a:r>
              <a:rPr lang="en-US" altLang="ja-JP" baseline="30000" dirty="0"/>
              <a:t>[2]</a:t>
            </a:r>
            <a:endParaRPr lang="ja-JP" altLang="ja-JP" baseline="30000"/>
          </a:p>
          <a:p>
            <a:r>
              <a:rPr lang="ja-JP" altLang="ja-JP"/>
              <a:t>One-vs-One attributionを提案</a:t>
            </a:r>
            <a:endParaRPr lang="en-US" altLang="ja-JP" dirty="0"/>
          </a:p>
          <a:p>
            <a:r>
              <a:rPr lang="ja-JP" altLang="ja-JP"/>
              <a:t>特定の2クラスを比較することで</a:t>
            </a:r>
            <a:r>
              <a:rPr lang="ja-JP" altLang="en-US"/>
              <a:t>，</a:t>
            </a:r>
            <a:endParaRPr lang="en-US" altLang="ja-JP" dirty="0"/>
          </a:p>
          <a:p>
            <a:r>
              <a:rPr lang="ja-JP" altLang="ja-JP"/>
              <a:t>両クラスに共通する特徴よりも</a:t>
            </a:r>
            <a:r>
              <a:rPr lang="ja-JP" altLang="en-US"/>
              <a:t>，</a:t>
            </a:r>
            <a:r>
              <a:rPr lang="ja-JP" altLang="ja-JP" b="1"/>
              <a:t>2クラスを区別する特徴</a:t>
            </a:r>
            <a:r>
              <a:rPr lang="ja-JP" altLang="ja-JP"/>
              <a:t>へ注目できる</a:t>
            </a:r>
          </a:p>
          <a:p>
            <a:endParaRPr kumimoji="1" lang="ja-JP" altLang="en-US"/>
          </a:p>
        </p:txBody>
      </p:sp>
      <p:sp>
        <p:nvSpPr>
          <p:cNvPr id="9" name="テキスト ボックス 8">
            <a:extLst>
              <a:ext uri="{FF2B5EF4-FFF2-40B4-BE49-F238E27FC236}">
                <a16:creationId xmlns:a16="http://schemas.microsoft.com/office/drawing/2014/main" id="{DE6B293B-66F0-DA79-47F1-1D7250D55922}"/>
              </a:ext>
            </a:extLst>
          </p:cNvPr>
          <p:cNvSpPr txBox="1"/>
          <p:nvPr/>
        </p:nvSpPr>
        <p:spPr>
          <a:xfrm>
            <a:off x="0" y="6496050"/>
            <a:ext cx="7874271" cy="415498"/>
          </a:xfrm>
          <a:prstGeom prst="rect">
            <a:avLst/>
          </a:prstGeom>
          <a:noFill/>
        </p:spPr>
        <p:txBody>
          <a:bodyPr wrap="none" rtlCol="0">
            <a:spAutoFit/>
          </a:bodyPr>
          <a:lstStyle/>
          <a:p>
            <a:r>
              <a:rPr lang="en-US" altLang="ja-JP" sz="1050" dirty="0"/>
              <a:t>[2]</a:t>
            </a:r>
            <a:r>
              <a:rPr lang="ja-JP" altLang="ja-JP" sz="1050"/>
              <a:t>P. J. Shih, C. C. Chang, and Y. J. Lee, "GANMEX: One-vs-One Attributions using GAN-based Model Explainability," </a:t>
            </a:r>
            <a:br>
              <a:rPr lang="en-US" altLang="ja-JP" sz="1050" dirty="0"/>
            </a:br>
            <a:r>
              <a:rPr lang="ja-JP" altLang="ja-JP" sz="1050"/>
              <a:t>in </a:t>
            </a:r>
            <a:r>
              <a:rPr lang="ja-JP" altLang="ja-JP" sz="1050" i="1"/>
              <a:t>Proceedings of the 38th International Conference on Machine Learning</a:t>
            </a:r>
            <a:r>
              <a:rPr lang="ja-JP" altLang="ja-JP" sz="1050"/>
              <a:t>, 2021, pp. 9545–9555.</a:t>
            </a:r>
            <a:endParaRPr kumimoji="1" lang="ja-JP" altLang="en-US" sz="1050"/>
          </a:p>
        </p:txBody>
      </p:sp>
      <p:sp>
        <p:nvSpPr>
          <p:cNvPr id="11" name="テキスト ボックス 10">
            <a:extLst>
              <a:ext uri="{FF2B5EF4-FFF2-40B4-BE49-F238E27FC236}">
                <a16:creationId xmlns:a16="http://schemas.microsoft.com/office/drawing/2014/main" id="{CCD6DEA1-EAE7-43B1-3DCB-F71E13B46BAF}"/>
              </a:ext>
            </a:extLst>
          </p:cNvPr>
          <p:cNvSpPr txBox="1"/>
          <p:nvPr/>
        </p:nvSpPr>
        <p:spPr>
          <a:xfrm>
            <a:off x="819150" y="4040384"/>
            <a:ext cx="6201569" cy="1754326"/>
          </a:xfrm>
          <a:prstGeom prst="rect">
            <a:avLst/>
          </a:prstGeom>
          <a:noFill/>
        </p:spPr>
        <p:txBody>
          <a:bodyPr wrap="none" rtlCol="0">
            <a:spAutoFit/>
          </a:bodyPr>
          <a:lstStyle/>
          <a:p>
            <a:r>
              <a:rPr lang="ja-JP" altLang="ja-JP"/>
              <a:t>ただしGANMEXは、</a:t>
            </a:r>
            <a:endParaRPr lang="en-US" altLang="ja-JP" dirty="0"/>
          </a:p>
          <a:p>
            <a:r>
              <a:rPr lang="ja-JP" altLang="ja-JP"/>
              <a:t>主に画像説明を対象とする</a:t>
            </a:r>
          </a:p>
          <a:p>
            <a:pPr marL="285750" indent="-285750">
              <a:buFont typeface="Arial" panose="020B0604020202020204" pitchFamily="34" charset="0"/>
              <a:buChar char="•"/>
            </a:pPr>
            <a:r>
              <a:rPr lang="ja-JP" altLang="ja-JP"/>
              <a:t>GANで比較対象クラスの画像を生成する</a:t>
            </a:r>
          </a:p>
          <a:p>
            <a:pPr marL="285750" indent="-285750">
              <a:buFont typeface="Arial" panose="020B0604020202020204" pitchFamily="34" charset="0"/>
              <a:buChar char="•"/>
            </a:pPr>
            <a:r>
              <a:rPr lang="ja-JP" altLang="ja-JP"/>
              <a:t>生成画像をattributionのベースラインにする</a:t>
            </a:r>
          </a:p>
          <a:p>
            <a:endParaRPr lang="en-US" altLang="ja-JP" b="1" dirty="0"/>
          </a:p>
          <a:p>
            <a:r>
              <a:rPr lang="ja-JP" altLang="ja-JP" b="1"/>
              <a:t>LIMEの局所線形モデルによってOne-vs-One説明を作ること</a:t>
            </a:r>
            <a:endParaRPr lang="ja-JP" altLang="ja-JP"/>
          </a:p>
        </p:txBody>
      </p:sp>
      <p:sp>
        <p:nvSpPr>
          <p:cNvPr id="4" name="正方形/長方形 3">
            <a:extLst>
              <a:ext uri="{FF2B5EF4-FFF2-40B4-BE49-F238E27FC236}">
                <a16:creationId xmlns:a16="http://schemas.microsoft.com/office/drawing/2014/main" id="{70E46051-2633-6B39-D708-E34019BF612E}"/>
              </a:ext>
            </a:extLst>
          </p:cNvPr>
          <p:cNvSpPr>
            <a:spLocks noGrp="1"/>
          </p:cNvSpPr>
          <p:nvPr/>
        </p:nvSpPr>
        <p:spPr>
          <a:xfrm>
            <a:off x="514350" y="419100"/>
            <a:ext cx="114300" cy="457200"/>
          </a:xfrm>
          <a:prstGeom prst="rect">
            <a:avLst/>
          </a:prstGeom>
          <a:solidFill>
            <a:srgbClr val="2F6BDE"/>
          </a:solidFill>
          <a:ln w="0">
            <a:solidFill>
              <a:srgbClr val="2F6BDE"/>
            </a:solidFill>
            <a:prstDash val="solid"/>
          </a:ln>
        </p:spPr>
        <p:txBody>
          <a:bodyPr/>
          <a:lstStyle/>
          <a:p>
            <a:endParaRPr lang="ja-JP" noProof="1"/>
          </a:p>
        </p:txBody>
      </p:sp>
      <p:sp>
        <p:nvSpPr>
          <p:cNvPr id="5" name="slide-7-title">
            <a:extLst>
              <a:ext uri="{FF2B5EF4-FFF2-40B4-BE49-F238E27FC236}">
                <a16:creationId xmlns:a16="http://schemas.microsoft.com/office/drawing/2014/main" id="{A64B9567-53EC-E0FE-AD5D-FF6F8CA7813A}"/>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r>
              <a:rPr lang="ja-JP" altLang="en-US" sz="3200"/>
              <a:t>関連研究</a:t>
            </a:r>
            <a:r>
              <a:rPr lang="en-US" altLang="ja-JP" sz="3200" dirty="0"/>
              <a:t>① : </a:t>
            </a:r>
            <a:r>
              <a:rPr lang="ja-JP" altLang="ja-JP" sz="3200" b="1"/>
              <a:t>One-vs-One</a:t>
            </a:r>
            <a:endParaRPr lang="ja-JP" altLang="en-US" sz="3200"/>
          </a:p>
        </p:txBody>
      </p:sp>
      <p:pic>
        <p:nvPicPr>
          <p:cNvPr id="13" name="図 12">
            <a:extLst>
              <a:ext uri="{FF2B5EF4-FFF2-40B4-BE49-F238E27FC236}">
                <a16:creationId xmlns:a16="http://schemas.microsoft.com/office/drawing/2014/main" id="{33C2502B-C804-EEED-1631-316663FB0F8A}"/>
              </a:ext>
            </a:extLst>
          </p:cNvPr>
          <p:cNvPicPr>
            <a:picLocks noChangeAspect="1"/>
          </p:cNvPicPr>
          <p:nvPr/>
        </p:nvPicPr>
        <p:blipFill>
          <a:blip r:embed="rId3"/>
          <a:stretch>
            <a:fillRect/>
          </a:stretch>
        </p:blipFill>
        <p:spPr>
          <a:xfrm>
            <a:off x="8299557" y="2472903"/>
            <a:ext cx="3073293" cy="2825780"/>
          </a:xfrm>
          <a:prstGeom prst="rect">
            <a:avLst/>
          </a:prstGeom>
        </p:spPr>
      </p:pic>
    </p:spTree>
    <p:extLst>
      <p:ext uri="{BB962C8B-B14F-4D97-AF65-F5344CB8AC3E}">
        <p14:creationId xmlns:p14="http://schemas.microsoft.com/office/powerpoint/2010/main" val="38004025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860034D4-B03C-5F99-29ED-04D7CD8809B1}"/>
              </a:ext>
            </a:extLst>
          </p:cNvPr>
          <p:cNvSpPr txBox="1"/>
          <p:nvPr/>
        </p:nvSpPr>
        <p:spPr>
          <a:xfrm>
            <a:off x="0" y="6438900"/>
            <a:ext cx="7271542" cy="415498"/>
          </a:xfrm>
          <a:prstGeom prst="rect">
            <a:avLst/>
          </a:prstGeom>
          <a:noFill/>
        </p:spPr>
        <p:txBody>
          <a:bodyPr wrap="none" rtlCol="0">
            <a:spAutoFit/>
          </a:bodyPr>
          <a:lstStyle/>
          <a:p>
            <a:r>
              <a:rPr lang="en-US" altLang="ja-JP" sz="1050" dirty="0"/>
              <a:t>[3]</a:t>
            </a:r>
            <a:r>
              <a:rPr lang="ja-JP" altLang="ja-JP" sz="1050"/>
              <a:t>Nanavati, P., &amp; Prasad, R. (2023). CLIMAX: An exploration of Classifier-Based Contrastive Explanations. </a:t>
            </a:r>
            <a:endParaRPr lang="en-US" altLang="ja-JP" sz="1050" dirty="0"/>
          </a:p>
          <a:p>
            <a:r>
              <a:rPr lang="ja-JP" altLang="ja-JP" sz="1050"/>
              <a:t>In </a:t>
            </a:r>
            <a:r>
              <a:rPr lang="ja-JP" altLang="ja-JP" sz="1050" i="1"/>
              <a:t>2023 IEEE 5th International Conference on Cognitive Machine Intelligence (CogMI)</a:t>
            </a:r>
            <a:r>
              <a:rPr lang="ja-JP" altLang="ja-JP" sz="1050"/>
              <a:t>. IEEE.</a:t>
            </a:r>
            <a:endParaRPr kumimoji="1" lang="ja-JP" altLang="en-US" sz="1050"/>
          </a:p>
        </p:txBody>
      </p:sp>
      <p:sp>
        <p:nvSpPr>
          <p:cNvPr id="3" name="テキスト ボックス 2">
            <a:extLst>
              <a:ext uri="{FF2B5EF4-FFF2-40B4-BE49-F238E27FC236}">
                <a16:creationId xmlns:a16="http://schemas.microsoft.com/office/drawing/2014/main" id="{22C19D57-B849-A123-2F97-D665381C6579}"/>
              </a:ext>
            </a:extLst>
          </p:cNvPr>
          <p:cNvSpPr txBox="1"/>
          <p:nvPr/>
        </p:nvSpPr>
        <p:spPr>
          <a:xfrm>
            <a:off x="800100" y="1917034"/>
            <a:ext cx="9642383" cy="369332"/>
          </a:xfrm>
          <a:prstGeom prst="rect">
            <a:avLst/>
          </a:prstGeom>
          <a:noFill/>
        </p:spPr>
        <p:txBody>
          <a:bodyPr wrap="none" rtlCol="0">
            <a:spAutoFit/>
          </a:bodyPr>
          <a:lstStyle/>
          <a:p>
            <a:r>
              <a:rPr lang="ja-JP" altLang="ja-JP"/>
              <a:t>CLIMAX</a:t>
            </a:r>
            <a:r>
              <a:rPr lang="en-US" altLang="ja-JP" baseline="30000" dirty="0"/>
              <a:t>[3]</a:t>
            </a:r>
            <a:r>
              <a:rPr lang="ja-JP" altLang="ja-JP"/>
              <a:t>は、ブラックボックス分類器を局所的な分類モデルで説明する方法を提案している</a:t>
            </a:r>
          </a:p>
        </p:txBody>
      </p:sp>
      <p:pic>
        <p:nvPicPr>
          <p:cNvPr id="4" name="図 3">
            <a:extLst>
              <a:ext uri="{FF2B5EF4-FFF2-40B4-BE49-F238E27FC236}">
                <a16:creationId xmlns:a16="http://schemas.microsoft.com/office/drawing/2014/main" id="{5FD7DDE9-9424-21F5-CAEE-D80CD5A4A340}"/>
              </a:ext>
            </a:extLst>
          </p:cNvPr>
          <p:cNvPicPr>
            <a:picLocks noChangeAspect="1"/>
          </p:cNvPicPr>
          <p:nvPr/>
        </p:nvPicPr>
        <p:blipFill>
          <a:blip r:embed="rId2"/>
          <a:stretch>
            <a:fillRect/>
          </a:stretch>
        </p:blipFill>
        <p:spPr>
          <a:xfrm>
            <a:off x="3536950" y="2377245"/>
            <a:ext cx="4838700" cy="1092200"/>
          </a:xfrm>
          <a:prstGeom prst="rect">
            <a:avLst/>
          </a:prstGeom>
        </p:spPr>
      </p:pic>
      <p:pic>
        <p:nvPicPr>
          <p:cNvPr id="5" name="図 4">
            <a:extLst>
              <a:ext uri="{FF2B5EF4-FFF2-40B4-BE49-F238E27FC236}">
                <a16:creationId xmlns:a16="http://schemas.microsoft.com/office/drawing/2014/main" id="{A5D77F8D-6CC4-DF78-AE67-BC87D75D98BB}"/>
              </a:ext>
            </a:extLst>
          </p:cNvPr>
          <p:cNvPicPr>
            <a:picLocks noChangeAspect="1"/>
          </p:cNvPicPr>
          <p:nvPr/>
        </p:nvPicPr>
        <p:blipFill>
          <a:blip r:embed="rId3"/>
          <a:stretch>
            <a:fillRect/>
          </a:stretch>
        </p:blipFill>
        <p:spPr>
          <a:xfrm>
            <a:off x="4146550" y="3687539"/>
            <a:ext cx="3898900" cy="533400"/>
          </a:xfrm>
          <a:prstGeom prst="rect">
            <a:avLst/>
          </a:prstGeom>
        </p:spPr>
      </p:pic>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E7CC717D-3D8E-A9E2-6D2B-3E64075AB32B}"/>
                  </a:ext>
                </a:extLst>
              </p:cNvPr>
              <p:cNvSpPr txBox="1"/>
              <p:nvPr/>
            </p:nvSpPr>
            <p:spPr>
              <a:xfrm>
                <a:off x="818569" y="4800601"/>
                <a:ext cx="7316362" cy="957121"/>
              </a:xfrm>
              <a:prstGeom prst="rect">
                <a:avLst/>
              </a:prstGeom>
              <a:noFill/>
            </p:spPr>
            <p:txBody>
              <a:bodyPr wrap="none" rtlCol="0">
                <a:spAutoFit/>
              </a:bodyPr>
              <a:lstStyle/>
              <a:p>
                <a:r>
                  <a:rPr lang="ja-JP" altLang="ja-JP"/>
                  <a:t>CLIMAXの比較対象は、</a:t>
                </a:r>
              </a:p>
              <a:p>
                <a:pPr/>
                <a14:m>
                  <m:oMathPara xmlns:m="http://schemas.openxmlformats.org/officeDocument/2006/math">
                    <m:oMathParaPr>
                      <m:jc m:val="centerGroup"/>
                    </m:oMathParaPr>
                    <m:oMath xmlns:m="http://schemas.openxmlformats.org/officeDocument/2006/math">
                      <m:r>
                        <m:rPr>
                          <m:lit/>
                        </m:rPr>
                        <a:rPr lang="ja-JP" altLang="ja-JP" i="1" smtClean="0">
                          <a:latin typeface="Cambria Math" panose="02040503050406030204" pitchFamily="18" charset="0"/>
                        </a:rPr>
                        <m:t>[</m:t>
                      </m:r>
                      <m:r>
                        <a:rPr lang="ja-JP" altLang="ja-JP" i="1">
                          <a:latin typeface="Cambria Math" panose="02040503050406030204" pitchFamily="18" charset="0"/>
                        </a:rPr>
                        <m:t>𝐴</m:t>
                      </m:r>
                      <m:r>
                        <a:rPr lang="ja-JP" altLang="ja-JP" i="1">
                          <a:latin typeface="Cambria Math" panose="02040503050406030204" pitchFamily="18" charset="0"/>
                        </a:rPr>
                        <m:t> </m:t>
                      </m:r>
                      <m:r>
                        <m:rPr>
                          <m:nor/>
                        </m:rPr>
                        <a:rPr lang="ja-JP" altLang="ja-JP" i="0">
                          <a:latin typeface="Cambria Math" panose="02040503050406030204" pitchFamily="18" charset="0"/>
                        </a:rPr>
                        <m:t>対</m:t>
                      </m:r>
                      <m:r>
                        <a:rPr lang="ja-JP" altLang="ja-JP" i="1">
                          <a:latin typeface="Cambria Math" panose="02040503050406030204" pitchFamily="18" charset="0"/>
                        </a:rPr>
                        <m:t> </m:t>
                      </m:r>
                      <m:r>
                        <m:rPr>
                          <m:nor/>
                        </m:rPr>
                        <a:rPr lang="ja-JP" altLang="ja-JP" i="0">
                          <a:latin typeface="Cambria Math" panose="02040503050406030204" pitchFamily="18" charset="0"/>
                        </a:rPr>
                        <m:t>それ以外すべて</m:t>
                      </m:r>
                      <m:r>
                        <m:rPr>
                          <m:lit/>
                        </m:rPr>
                        <a:rPr lang="ja-JP" altLang="ja-JP" i="1" smtClean="0">
                          <a:latin typeface="Cambria Math" panose="02040503050406030204" pitchFamily="18" charset="0"/>
                        </a:rPr>
                        <m:t>]</m:t>
                      </m:r>
                      <m:r>
                        <m:rPr>
                          <m:lit/>
                        </m:rPr>
                        <a:rPr lang="en-US" altLang="ja-JP" b="0" i="0" smtClean="0">
                          <a:latin typeface="Cambria Math" panose="02040503050406030204" pitchFamily="18" charset="0"/>
                        </a:rPr>
                        <m:t> (</m:t>
                      </m:r>
                      <m:r>
                        <m:rPr>
                          <m:lit/>
                        </m:rPr>
                        <a:rPr lang="ja-JP" altLang="ja-JP" i="1" smtClean="0">
                          <a:latin typeface="Cambria Math" panose="02040503050406030204" pitchFamily="18" charset="0"/>
                        </a:rPr>
                        <m:t>[</m:t>
                      </m:r>
                      <m:r>
                        <a:rPr lang="ja-JP" altLang="ja-JP" i="1">
                          <a:latin typeface="Cambria Math" panose="02040503050406030204" pitchFamily="18" charset="0"/>
                        </a:rPr>
                        <m:t>1−</m:t>
                      </m:r>
                      <m:sSub>
                        <m:sSubPr>
                          <m:ctrlPr>
                            <a:rPr lang="ja-JP" altLang="ja-JP" i="1">
                              <a:latin typeface="Cambria Math" panose="02040503050406030204" pitchFamily="18" charset="0"/>
                            </a:rPr>
                          </m:ctrlPr>
                        </m:sSubPr>
                        <m:e>
                          <m:r>
                            <a:rPr lang="ja-JP" altLang="ja-JP" i="1">
                              <a:latin typeface="Cambria Math" panose="02040503050406030204" pitchFamily="18" charset="0"/>
                            </a:rPr>
                            <m:t>𝑝</m:t>
                          </m:r>
                        </m:e>
                        <m:sub>
                          <m:r>
                            <a:rPr lang="ja-JP" altLang="ja-JP" i="1">
                              <a:latin typeface="Cambria Math" panose="02040503050406030204" pitchFamily="18" charset="0"/>
                            </a:rPr>
                            <m:t>𝐴</m:t>
                          </m:r>
                        </m:sub>
                      </m:sSub>
                      <m:d>
                        <m:dPr>
                          <m:ctrlPr>
                            <a:rPr lang="ja-JP" altLang="ja-JP" i="1">
                              <a:latin typeface="Cambria Math" panose="02040503050406030204" pitchFamily="18" charset="0"/>
                            </a:rPr>
                          </m:ctrlPr>
                        </m:dPr>
                        <m:e>
                          <m:r>
                            <a:rPr lang="ja-JP" altLang="ja-JP" i="1">
                              <a:latin typeface="Cambria Math" panose="02040503050406030204" pitchFamily="18" charset="0"/>
                            </a:rPr>
                            <m:t>𝑧</m:t>
                          </m:r>
                        </m:e>
                      </m:d>
                      <m:r>
                        <a:rPr lang="ja-JP" altLang="ja-JP" i="1">
                          <a:latin typeface="Cambria Math" panose="02040503050406030204" pitchFamily="18" charset="0"/>
                        </a:rPr>
                        <m:t>=</m:t>
                      </m:r>
                      <m:sSub>
                        <m:sSubPr>
                          <m:ctrlPr>
                            <a:rPr lang="ja-JP" altLang="ja-JP" i="1">
                              <a:latin typeface="Cambria Math" panose="02040503050406030204" pitchFamily="18" charset="0"/>
                            </a:rPr>
                          </m:ctrlPr>
                        </m:sSubPr>
                        <m:e>
                          <m:r>
                            <a:rPr lang="ja-JP" altLang="ja-JP" i="1">
                              <a:latin typeface="Cambria Math" panose="02040503050406030204" pitchFamily="18" charset="0"/>
                            </a:rPr>
                            <m:t>𝑝</m:t>
                          </m:r>
                        </m:e>
                        <m:sub>
                          <m:r>
                            <a:rPr lang="ja-JP" altLang="ja-JP" i="1">
                              <a:latin typeface="Cambria Math" panose="02040503050406030204" pitchFamily="18" charset="0"/>
                            </a:rPr>
                            <m:t>𝐵</m:t>
                          </m:r>
                        </m:sub>
                      </m:sSub>
                      <m:d>
                        <m:dPr>
                          <m:ctrlPr>
                            <a:rPr lang="ja-JP" altLang="ja-JP" i="1">
                              <a:latin typeface="Cambria Math" panose="02040503050406030204" pitchFamily="18" charset="0"/>
                            </a:rPr>
                          </m:ctrlPr>
                        </m:dPr>
                        <m:e>
                          <m:r>
                            <a:rPr lang="ja-JP" altLang="ja-JP" i="1">
                              <a:latin typeface="Cambria Math" panose="02040503050406030204" pitchFamily="18" charset="0"/>
                            </a:rPr>
                            <m:t>𝑧</m:t>
                          </m:r>
                        </m:e>
                      </m:d>
                      <m:r>
                        <a:rPr lang="ja-JP" altLang="ja-JP" i="1">
                          <a:latin typeface="Cambria Math" panose="02040503050406030204" pitchFamily="18" charset="0"/>
                        </a:rPr>
                        <m:t>+</m:t>
                      </m:r>
                      <m:sSub>
                        <m:sSubPr>
                          <m:ctrlPr>
                            <a:rPr lang="ja-JP" altLang="ja-JP" i="1">
                              <a:latin typeface="Cambria Math" panose="02040503050406030204" pitchFamily="18" charset="0"/>
                            </a:rPr>
                          </m:ctrlPr>
                        </m:sSubPr>
                        <m:e>
                          <m:r>
                            <a:rPr lang="ja-JP" altLang="ja-JP" i="1">
                              <a:latin typeface="Cambria Math" panose="02040503050406030204" pitchFamily="18" charset="0"/>
                            </a:rPr>
                            <m:t>𝑝</m:t>
                          </m:r>
                        </m:e>
                        <m:sub>
                          <m:r>
                            <a:rPr lang="ja-JP" altLang="ja-JP" i="1">
                              <a:latin typeface="Cambria Math" panose="02040503050406030204" pitchFamily="18" charset="0"/>
                            </a:rPr>
                            <m:t>𝐶</m:t>
                          </m:r>
                        </m:sub>
                      </m:sSub>
                      <m:d>
                        <m:dPr>
                          <m:ctrlPr>
                            <a:rPr lang="ja-JP" altLang="ja-JP" i="1">
                              <a:latin typeface="Cambria Math" panose="02040503050406030204" pitchFamily="18" charset="0"/>
                            </a:rPr>
                          </m:ctrlPr>
                        </m:dPr>
                        <m:e>
                          <m:r>
                            <a:rPr lang="ja-JP" altLang="ja-JP" i="1">
                              <a:latin typeface="Cambria Math" panose="02040503050406030204" pitchFamily="18" charset="0"/>
                            </a:rPr>
                            <m:t>𝑧</m:t>
                          </m:r>
                        </m:e>
                      </m:d>
                      <m:r>
                        <a:rPr lang="ja-JP" altLang="ja-JP" i="1">
                          <a:latin typeface="Cambria Math" panose="02040503050406030204" pitchFamily="18" charset="0"/>
                        </a:rPr>
                        <m:t>+</m:t>
                      </m:r>
                      <m:sSub>
                        <m:sSubPr>
                          <m:ctrlPr>
                            <a:rPr lang="ja-JP" altLang="ja-JP" i="1">
                              <a:latin typeface="Cambria Math" panose="02040503050406030204" pitchFamily="18" charset="0"/>
                            </a:rPr>
                          </m:ctrlPr>
                        </m:sSubPr>
                        <m:e>
                          <m:r>
                            <a:rPr lang="ja-JP" altLang="ja-JP" i="1">
                              <a:latin typeface="Cambria Math" panose="02040503050406030204" pitchFamily="18" charset="0"/>
                            </a:rPr>
                            <m:t>𝑝</m:t>
                          </m:r>
                        </m:e>
                        <m:sub>
                          <m:r>
                            <a:rPr lang="ja-JP" altLang="ja-JP" i="1">
                              <a:latin typeface="Cambria Math" panose="02040503050406030204" pitchFamily="18" charset="0"/>
                            </a:rPr>
                            <m:t>𝐷</m:t>
                          </m:r>
                        </m:sub>
                      </m:sSub>
                      <m:d>
                        <m:dPr>
                          <m:ctrlPr>
                            <a:rPr lang="ja-JP" altLang="ja-JP" i="1">
                              <a:latin typeface="Cambria Math" panose="02040503050406030204" pitchFamily="18" charset="0"/>
                            </a:rPr>
                          </m:ctrlPr>
                        </m:dPr>
                        <m:e>
                          <m:r>
                            <a:rPr lang="ja-JP" altLang="ja-JP" i="1">
                              <a:latin typeface="Cambria Math" panose="02040503050406030204" pitchFamily="18" charset="0"/>
                            </a:rPr>
                            <m:t>𝑧</m:t>
                          </m:r>
                        </m:e>
                      </m:d>
                      <m:r>
                        <a:rPr lang="ja-JP" altLang="ja-JP" i="1">
                          <a:latin typeface="Cambria Math" panose="02040503050406030204" pitchFamily="18" charset="0"/>
                        </a:rPr>
                        <m:t>+⋯</m:t>
                      </m:r>
                      <m:r>
                        <m:rPr>
                          <m:lit/>
                        </m:rPr>
                        <a:rPr lang="ja-JP" altLang="ja-JP" i="1">
                          <a:latin typeface="Cambria Math" panose="02040503050406030204" pitchFamily="18" charset="0"/>
                        </a:rPr>
                        <m:t>]</m:t>
                      </m:r>
                      <m:r>
                        <m:rPr>
                          <m:lit/>
                        </m:rPr>
                        <a:rPr lang="en-US" altLang="ja-JP" b="0" i="1" smtClean="0">
                          <a:latin typeface="Cambria Math" panose="02040503050406030204" pitchFamily="18" charset="0"/>
                        </a:rPr>
                        <m:t>)</m:t>
                      </m:r>
                    </m:oMath>
                  </m:oMathPara>
                </a14:m>
                <a:endParaRPr lang="ja-JP" altLang="ja-JP"/>
              </a:p>
              <a:p>
                <a:endParaRPr kumimoji="1" lang="ja-JP" altLang="en-US"/>
              </a:p>
            </p:txBody>
          </p:sp>
        </mc:Choice>
        <mc:Fallback xmlns="">
          <p:sp>
            <p:nvSpPr>
              <p:cNvPr id="6" name="テキスト ボックス 5">
                <a:extLst>
                  <a:ext uri="{FF2B5EF4-FFF2-40B4-BE49-F238E27FC236}">
                    <a16:creationId xmlns:a16="http://schemas.microsoft.com/office/drawing/2014/main" id="{E7CC717D-3D8E-A9E2-6D2B-3E64075AB32B}"/>
                  </a:ext>
                </a:extLst>
              </p:cNvPr>
              <p:cNvSpPr txBox="1">
                <a:spLocks noRot="1" noChangeAspect="1" noMove="1" noResize="1" noEditPoints="1" noAdjustHandles="1" noChangeArrowheads="1" noChangeShapeType="1" noTextEdit="1"/>
              </p:cNvSpPr>
              <p:nvPr/>
            </p:nvSpPr>
            <p:spPr>
              <a:xfrm>
                <a:off x="818569" y="4800601"/>
                <a:ext cx="7316362" cy="957121"/>
              </a:xfrm>
              <a:prstGeom prst="rect">
                <a:avLst/>
              </a:prstGeom>
              <a:blipFill>
                <a:blip r:embed="rId4"/>
                <a:stretch>
                  <a:fillRect l="-693" t="-6579"/>
                </a:stretch>
              </a:blipFill>
            </p:spPr>
            <p:txBody>
              <a:bodyPr/>
              <a:lstStyle/>
              <a:p>
                <a:r>
                  <a:rPr lang="ja-JP" altLang="en-US">
                    <a:noFill/>
                  </a:rPr>
                  <a:t> </a:t>
                </a:r>
              </a:p>
            </p:txBody>
          </p:sp>
        </mc:Fallback>
      </mc:AlternateContent>
      <p:sp>
        <p:nvSpPr>
          <p:cNvPr id="9" name="正方形/長方形 8">
            <a:extLst>
              <a:ext uri="{FF2B5EF4-FFF2-40B4-BE49-F238E27FC236}">
                <a16:creationId xmlns:a16="http://schemas.microsoft.com/office/drawing/2014/main" id="{C8999B45-9B63-2892-3482-380DF6451A14}"/>
              </a:ext>
            </a:extLst>
          </p:cNvPr>
          <p:cNvSpPr>
            <a:spLocks noGrp="1"/>
          </p:cNvSpPr>
          <p:nvPr/>
        </p:nvSpPr>
        <p:spPr>
          <a:xfrm>
            <a:off x="514350" y="419100"/>
            <a:ext cx="114300" cy="457200"/>
          </a:xfrm>
          <a:prstGeom prst="rect">
            <a:avLst/>
          </a:prstGeom>
          <a:solidFill>
            <a:srgbClr val="2F6BDE"/>
          </a:solidFill>
          <a:ln w="0">
            <a:solidFill>
              <a:srgbClr val="2F6BDE"/>
            </a:solidFill>
            <a:prstDash val="solid"/>
          </a:ln>
        </p:spPr>
        <p:txBody>
          <a:bodyPr/>
          <a:lstStyle/>
          <a:p>
            <a:endParaRPr lang="ja-JP" noProof="1"/>
          </a:p>
        </p:txBody>
      </p:sp>
      <p:sp>
        <p:nvSpPr>
          <p:cNvPr id="10" name="slide-7-title">
            <a:extLst>
              <a:ext uri="{FF2B5EF4-FFF2-40B4-BE49-F238E27FC236}">
                <a16:creationId xmlns:a16="http://schemas.microsoft.com/office/drawing/2014/main" id="{375D0B0D-448A-CE05-B377-E9209D9E882E}"/>
              </a:ext>
            </a:extLst>
          </p:cNvPr>
          <p:cNvSpPr>
            <a:spLocks noGrp="1"/>
          </p:cNvSpPr>
          <p:nvPr/>
        </p:nvSpPr>
        <p:spPr>
          <a:xfrm>
            <a:off x="800100" y="361950"/>
            <a:ext cx="10572750" cy="590550"/>
          </a:xfrm>
          <a:prstGeom prst="rect">
            <a:avLst/>
          </a:prstGeom>
          <a:noFill/>
          <a:ln w="0">
            <a:noFill/>
            <a:prstDash val="solid"/>
          </a:ln>
        </p:spPr>
        <p:txBody>
          <a:bodyPr lIns="0" tIns="0" rIns="0" bIns="0" anchor="t">
            <a:noAutofit/>
          </a:bodyPr>
          <a:lstStyle/>
          <a:p>
            <a:r>
              <a:rPr lang="ja-JP" altLang="en-US" sz="3200"/>
              <a:t>関連研究</a:t>
            </a:r>
            <a:r>
              <a:rPr lang="en-US" altLang="ja-JP" sz="3200" dirty="0"/>
              <a:t>② : </a:t>
            </a:r>
            <a:r>
              <a:rPr lang="ja-JP" altLang="ja-JP" sz="3200" b="1"/>
              <a:t>log-oddsを局所的に説明する</a:t>
            </a:r>
          </a:p>
        </p:txBody>
      </p:sp>
    </p:spTree>
    <p:extLst>
      <p:ext uri="{BB962C8B-B14F-4D97-AF65-F5344CB8AC3E}">
        <p14:creationId xmlns:p14="http://schemas.microsoft.com/office/powerpoint/2010/main" val="39401332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accent-bar"/>
          <p:cNvSpPr>
            <a:spLocks noGrp="1"/>
          </p:cNvSpPr>
          <p:nvPr/>
        </p:nvSpPr>
        <p:spPr>
          <a:xfrm>
            <a:off x="514350" y="409575"/>
            <a:ext cx="114300" cy="476250"/>
          </a:xfrm>
          <a:prstGeom prst="rect">
            <a:avLst/>
          </a:prstGeom>
          <a:solidFill>
            <a:srgbClr val="156082"/>
          </a:solidFill>
          <a:ln w="0">
            <a:noFill/>
            <a:prstDash val="solid"/>
          </a:ln>
        </p:spPr>
        <p:txBody>
          <a:bodyPr/>
          <a:lstStyle/>
          <a:p>
            <a:endParaRPr lang="ja-JP" noProof="0"/>
          </a:p>
        </p:txBody>
      </p:sp>
      <p:sp>
        <p:nvSpPr>
          <p:cNvPr id="3" name="title"/>
          <p:cNvSpPr>
            <a:spLocks noGrp="1"/>
          </p:cNvSpPr>
          <p:nvPr/>
        </p:nvSpPr>
        <p:spPr>
          <a:xfrm>
            <a:off x="762000" y="342900"/>
            <a:ext cx="10668000" cy="476250"/>
          </a:xfrm>
          <a:prstGeom prst="rect">
            <a:avLst/>
          </a:prstGeom>
          <a:noFill/>
          <a:ln w="0">
            <a:noFill/>
            <a:prstDash val="solid"/>
          </a:ln>
        </p:spPr>
        <p:txBody>
          <a:bodyPr lIns="0" tIns="0" rIns="0" bIns="0" anchor="ctr">
            <a:noAutofit/>
          </a:bodyPr>
          <a:lstStyle/>
          <a:p>
            <a:pPr algn="l">
              <a:buNone/>
              <a:defRPr sz="2550" b="1">
                <a:solidFill>
                  <a:srgbClr val="17233D"/>
                </a:solidFill>
                <a:latin typeface="Hiragino Sans"/>
                <a:ea typeface="Hiragino Sans"/>
                <a:cs typeface="Hiragino Sans"/>
              </a:defRPr>
            </a:pPr>
            <a:r>
              <a:rPr lang="ja-JP" sz="2550" b="1" noProof="0">
                <a:solidFill>
                  <a:srgbClr val="17233D"/>
                </a:solidFill>
                <a:latin typeface="Hiragino Sans"/>
                <a:ea typeface="Hiragino Sans"/>
                <a:cs typeface="Hiragino Sans"/>
              </a:rPr>
              <a:t>目次</a:t>
            </a:r>
          </a:p>
        </p:txBody>
      </p:sp>
      <p:sp>
        <p:nvSpPr>
          <p:cNvPr id="6" name="toc-item-0"/>
          <p:cNvSpPr>
            <a:spLocks noGrp="1"/>
          </p:cNvSpPr>
          <p:nvPr/>
        </p:nvSpPr>
        <p:spPr>
          <a:xfrm>
            <a:off x="1200000" y="150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1. XAI（説明可能なAI）</a:t>
            </a:r>
          </a:p>
        </p:txBody>
      </p:sp>
      <p:sp>
        <p:nvSpPr>
          <p:cNvPr id="7" name="toc-item-1"/>
          <p:cNvSpPr>
            <a:spLocks noGrp="1"/>
          </p:cNvSpPr>
          <p:nvPr/>
        </p:nvSpPr>
        <p:spPr>
          <a:xfrm>
            <a:off x="1200000" y="212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2. LIME</a:t>
            </a:r>
          </a:p>
        </p:txBody>
      </p:sp>
      <p:sp>
        <p:nvSpPr>
          <p:cNvPr id="8" name="toc-item-2"/>
          <p:cNvSpPr>
            <a:spLocks noGrp="1"/>
          </p:cNvSpPr>
          <p:nvPr/>
        </p:nvSpPr>
        <p:spPr>
          <a:xfrm>
            <a:off x="1200000" y="274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3. 多クラスに応用したLIME</a:t>
            </a:r>
          </a:p>
        </p:txBody>
      </p:sp>
      <p:sp>
        <p:nvSpPr>
          <p:cNvPr id="9" name="toc-item-3"/>
          <p:cNvSpPr>
            <a:spLocks noGrp="1"/>
          </p:cNvSpPr>
          <p:nvPr/>
        </p:nvSpPr>
        <p:spPr>
          <a:xfrm>
            <a:off x="1200000" y="336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4. 関連研究</a:t>
            </a:r>
          </a:p>
        </p:txBody>
      </p:sp>
      <p:sp>
        <p:nvSpPr>
          <p:cNvPr id="10" name="toc-item-4"/>
          <p:cNvSpPr>
            <a:spLocks noGrp="1"/>
          </p:cNvSpPr>
          <p:nvPr/>
        </p:nvSpPr>
        <p:spPr>
          <a:xfrm>
            <a:off x="1200000" y="3980000"/>
            <a:ext cx="9792000" cy="620000"/>
          </a:xfrm>
          <a:prstGeom prst="rect">
            <a:avLst/>
          </a:prstGeom>
          <a:noFill/>
          <a:ln w="0">
            <a:noFill/>
            <a:prstDash val="solid"/>
          </a:ln>
        </p:spPr>
        <p:txBody>
          <a:bodyPr lIns="0" tIns="0" rIns="0" bIns="0" anchor="ctr">
            <a:noAutofit/>
          </a:bodyPr>
          <a:lstStyle/>
          <a:p>
            <a:pPr algn="l">
              <a:buNone/>
              <a:defRPr sz="2200" b="1">
                <a:solidFill>
                  <a:srgbClr val="156082"/>
                </a:solidFill>
                <a:latin typeface="Hiragino Sans"/>
                <a:ea typeface="Hiragino Sans"/>
                <a:cs typeface="Hiragino Sans"/>
              </a:defRPr>
            </a:pPr>
            <a:r>
              <a:rPr lang="ja-JP" sz="2200" b="1" noProof="0">
                <a:solidFill>
                  <a:srgbClr val="156082"/>
                </a:solidFill>
                <a:latin typeface="Hiragino Sans"/>
                <a:ea typeface="Hiragino Sans"/>
                <a:cs typeface="Hiragino Sans"/>
              </a:rPr>
              <a:t>5. 提案手法</a:t>
            </a:r>
          </a:p>
        </p:txBody>
      </p:sp>
      <p:sp>
        <p:nvSpPr>
          <p:cNvPr id="11" name="toc-item-5"/>
          <p:cNvSpPr>
            <a:spLocks noGrp="1"/>
          </p:cNvSpPr>
          <p:nvPr/>
        </p:nvSpPr>
        <p:spPr>
          <a:xfrm>
            <a:off x="1200000" y="460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6. 実験と考察</a:t>
            </a:r>
          </a:p>
        </p:txBody>
      </p:sp>
      <p:sp>
        <p:nvSpPr>
          <p:cNvPr id="12" name="toc-item-6"/>
          <p:cNvSpPr>
            <a:spLocks noGrp="1"/>
          </p:cNvSpPr>
          <p:nvPr/>
        </p:nvSpPr>
        <p:spPr>
          <a:xfrm>
            <a:off x="1200000" y="522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7. まとめと今後の展望</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akeaway-bg"/>
          <p:cNvSpPr>
            <a:spLocks noGrp="1"/>
          </p:cNvSpPr>
          <p:nvPr/>
        </p:nvSpPr>
        <p:spPr>
          <a:xfrm>
            <a:off x="762000" y="5810250"/>
            <a:ext cx="10668000" cy="409575"/>
          </a:xfrm>
          <a:prstGeom prst="roundRect">
            <a:avLst>
              <a:gd name="adj" fmla="val 18605"/>
            </a:avLst>
          </a:prstGeom>
          <a:solidFill>
            <a:srgbClr val="EAF4FB"/>
          </a:solidFill>
          <a:ln w="0">
            <a:noFill/>
          </a:ln>
        </p:spPr>
        <p:txBody>
          <a:bodyPr/>
          <a:lstStyle/>
          <a:p>
            <a:endParaRPr lang="ja-JP" noProof="0"/>
          </a:p>
        </p:txBody>
      </p:sp>
      <p:sp>
        <p:nvSpPr>
          <p:cNvPr id="9" name="takeaway-text"/>
          <p:cNvSpPr>
            <a:spLocks noGrp="1"/>
          </p:cNvSpPr>
          <p:nvPr/>
        </p:nvSpPr>
        <p:spPr>
          <a:xfrm>
            <a:off x="952500" y="5857875"/>
            <a:ext cx="10287000" cy="304800"/>
          </a:xfrm>
          <a:prstGeom prst="rect">
            <a:avLst/>
          </a:prstGeom>
          <a:noFill/>
          <a:ln w="0">
            <a:noFill/>
            <a:prstDash val="solid"/>
          </a:ln>
        </p:spPr>
        <p:txBody>
          <a:bodyPr lIns="0" tIns="0" rIns="0" bIns="0" anchor="ctr">
            <a:noAutofit/>
          </a:bodyPr>
          <a:lstStyle/>
          <a:p>
            <a:pPr algn="ctr">
              <a:buNone/>
              <a:defRPr sz="1350" b="1">
                <a:solidFill>
                  <a:srgbClr val="1479C9"/>
                </a:solidFill>
                <a:latin typeface="Hiragino Sans"/>
                <a:ea typeface="Hiragino Sans"/>
                <a:cs typeface="Hiragino Sans"/>
              </a:defRPr>
            </a:pPr>
            <a:r>
              <a:rPr lang="ja-JP" sz="1350" b="1" noProof="0">
                <a:solidFill>
                  <a:srgbClr val="1479C9"/>
                </a:solidFill>
                <a:latin typeface="Hiragino Sans"/>
                <a:ea typeface="Hiragino Sans"/>
                <a:cs typeface="Hiragino Sans"/>
              </a:rPr>
              <a:t>OVRはクラスの数だけ説明が増えるが、提案は常に1本の回帰で競合2クラスの違いを説明する</a:t>
            </a:r>
          </a:p>
        </p:txBody>
      </p:sp>
      <p:sp>
        <p:nvSpPr>
          <p:cNvPr id="59" name="accent-bar">
            <a:extLst>
              <a:ext uri="{FF2B5EF4-FFF2-40B4-BE49-F238E27FC236}">
                <a16:creationId xmlns:a16="http://schemas.microsoft.com/office/drawing/2014/main" id="{C03CBFCD-47EC-70F9-C97C-A19B2BA6771D}"/>
              </a:ext>
            </a:extLst>
          </p:cNvPr>
          <p:cNvSpPr>
            <a:spLocks noGrp="1"/>
          </p:cNvSpPr>
          <p:nvPr/>
        </p:nvSpPr>
        <p:spPr>
          <a:xfrm>
            <a:off x="514350" y="409575"/>
            <a:ext cx="114300" cy="476250"/>
          </a:xfrm>
          <a:prstGeom prst="rect">
            <a:avLst/>
          </a:prstGeom>
          <a:solidFill>
            <a:srgbClr val="1479C9"/>
          </a:solidFill>
          <a:ln w="0">
            <a:noFill/>
            <a:prstDash val="solid"/>
          </a:ln>
        </p:spPr>
        <p:txBody>
          <a:bodyPr/>
          <a:lstStyle/>
          <a:p>
            <a:endParaRPr lang="ja-JP" noProof="0"/>
          </a:p>
        </p:txBody>
      </p:sp>
      <p:sp>
        <p:nvSpPr>
          <p:cNvPr id="60" name="title">
            <a:extLst>
              <a:ext uri="{FF2B5EF4-FFF2-40B4-BE49-F238E27FC236}">
                <a16:creationId xmlns:a16="http://schemas.microsoft.com/office/drawing/2014/main" id="{640BFAC4-1BF2-D67C-D406-6C7BC71CEAB1}"/>
              </a:ext>
            </a:extLst>
          </p:cNvPr>
          <p:cNvSpPr>
            <a:spLocks noGrp="1"/>
          </p:cNvSpPr>
          <p:nvPr/>
        </p:nvSpPr>
        <p:spPr>
          <a:xfrm>
            <a:off x="762000" y="342900"/>
            <a:ext cx="10668000" cy="476250"/>
          </a:xfrm>
          <a:prstGeom prst="rect">
            <a:avLst/>
          </a:prstGeom>
          <a:noFill/>
          <a:ln w="0">
            <a:noFill/>
            <a:prstDash val="solid"/>
          </a:ln>
        </p:spPr>
        <p:txBody>
          <a:bodyPr lIns="0" tIns="0" rIns="0" bIns="0" anchor="ctr">
            <a:noAutofit/>
          </a:bodyPr>
          <a:lstStyle/>
          <a:p>
            <a:pPr algn="l">
              <a:buNone/>
              <a:defRPr sz="2550" b="1">
                <a:solidFill>
                  <a:srgbClr val="17233D"/>
                </a:solidFill>
                <a:latin typeface="Hiragino Sans"/>
                <a:ea typeface="Hiragino Sans"/>
                <a:cs typeface="Hiragino Sans"/>
              </a:defRPr>
            </a:pPr>
            <a:r>
              <a:rPr lang="ja-JP" sz="2550" b="1" noProof="0">
                <a:solidFill>
                  <a:srgbClr val="17233D"/>
                </a:solidFill>
                <a:latin typeface="Hiragino Sans"/>
                <a:ea typeface="Hiragino Sans"/>
                <a:cs typeface="Hiragino Sans"/>
              </a:rPr>
              <a:t>提案手法の全体像：OVRとの違い</a:t>
            </a:r>
          </a:p>
        </p:txBody>
      </p:sp>
      <p:sp>
        <p:nvSpPr>
          <p:cNvPr id="61" name="subtitle">
            <a:extLst>
              <a:ext uri="{FF2B5EF4-FFF2-40B4-BE49-F238E27FC236}">
                <a16:creationId xmlns:a16="http://schemas.microsoft.com/office/drawing/2014/main" id="{7527D648-273A-F891-484A-700A58EF4A9B}"/>
              </a:ext>
            </a:extLst>
          </p:cNvPr>
          <p:cNvSpPr>
            <a:spLocks noGrp="1"/>
          </p:cNvSpPr>
          <p:nvPr/>
        </p:nvSpPr>
        <p:spPr>
          <a:xfrm>
            <a:off x="762000" y="800100"/>
            <a:ext cx="10668000" cy="247650"/>
          </a:xfrm>
          <a:prstGeom prst="rect">
            <a:avLst/>
          </a:prstGeom>
          <a:noFill/>
          <a:ln w="0">
            <a:noFill/>
            <a:prstDash val="solid"/>
          </a:ln>
        </p:spPr>
        <p:txBody>
          <a:bodyPr lIns="0" tIns="0" rIns="0" bIns="0" anchor="ctr">
            <a:noAutofit/>
          </a:bodyPr>
          <a:lstStyle/>
          <a:p>
            <a:pPr algn="l">
              <a:buNone/>
              <a:defRPr sz="1200" b="0">
                <a:solidFill>
                  <a:srgbClr val="687386"/>
                </a:solidFill>
                <a:latin typeface="Hiragino Sans"/>
                <a:ea typeface="Hiragino Sans"/>
                <a:cs typeface="Hiragino Sans"/>
              </a:defRPr>
            </a:pPr>
            <a:r>
              <a:rPr lang="ja-JP" sz="1200" b="0" noProof="0">
                <a:solidFill>
                  <a:srgbClr val="687386"/>
                </a:solidFill>
                <a:latin typeface="Hiragino Sans"/>
                <a:ea typeface="Hiragino Sans"/>
                <a:cs typeface="Hiragino Sans"/>
              </a:rPr>
              <a:t>同じLIMEの枠組みで、回帰する対象と説明の数がどこで分かれるか</a:t>
            </a:r>
          </a:p>
        </p:txBody>
      </p:sp>
      <p:sp>
        <p:nvSpPr>
          <p:cNvPr id="62" name="ovr-label">
            <a:extLst>
              <a:ext uri="{FF2B5EF4-FFF2-40B4-BE49-F238E27FC236}">
                <a16:creationId xmlns:a16="http://schemas.microsoft.com/office/drawing/2014/main" id="{30BC29A6-F9EE-AB89-FA37-D48B1AB3A2A2}"/>
              </a:ext>
            </a:extLst>
          </p:cNvPr>
          <p:cNvSpPr>
            <a:spLocks noGrp="1"/>
          </p:cNvSpPr>
          <p:nvPr/>
        </p:nvSpPr>
        <p:spPr>
          <a:xfrm>
            <a:off x="514350" y="1150000"/>
            <a:ext cx="4000000" cy="300000"/>
          </a:xfrm>
          <a:prstGeom prst="rect">
            <a:avLst/>
          </a:prstGeom>
          <a:noFill/>
          <a:ln w="0">
            <a:noFill/>
            <a:prstDash val="solid"/>
          </a:ln>
        </p:spPr>
        <p:txBody>
          <a:bodyPr lIns="0" tIns="0" rIns="0" bIns="0" anchor="t">
            <a:noAutofit/>
          </a:bodyPr>
          <a:lstStyle/>
          <a:p>
            <a:pPr algn="l">
              <a:buNone/>
              <a:defRPr sz="1500" b="1">
                <a:solidFill>
                  <a:srgbClr val="64748B"/>
                </a:solidFill>
                <a:latin typeface="Hiragino Sans"/>
                <a:ea typeface="Hiragino Sans"/>
                <a:cs typeface="Hiragino Sans"/>
              </a:defRPr>
            </a:pPr>
            <a:r>
              <a:rPr lang="ja-JP" sz="1500" b="1" noProof="0">
                <a:solidFill>
                  <a:srgbClr val="64748B"/>
                </a:solidFill>
                <a:latin typeface="Hiragino Sans"/>
                <a:ea typeface="Hiragino Sans"/>
                <a:cs typeface="Hiragino Sans"/>
              </a:rPr>
              <a:t>One-vs-Rest（従来）</a:t>
            </a:r>
          </a:p>
        </p:txBody>
      </p:sp>
      <p:sp>
        <p:nvSpPr>
          <p:cNvPr id="63" name="step-box">
            <a:extLst>
              <a:ext uri="{FF2B5EF4-FFF2-40B4-BE49-F238E27FC236}">
                <a16:creationId xmlns:a16="http://schemas.microsoft.com/office/drawing/2014/main" id="{4280851E-3E14-18B2-76BF-66B7BE3BE50E}"/>
              </a:ext>
            </a:extLst>
          </p:cNvPr>
          <p:cNvSpPr>
            <a:spLocks noGrp="1"/>
          </p:cNvSpPr>
          <p:nvPr/>
        </p:nvSpPr>
        <p:spPr>
          <a:xfrm>
            <a:off x="514350" y="1500000"/>
            <a:ext cx="1952625" cy="1050000"/>
          </a:xfrm>
          <a:prstGeom prst="rect">
            <a:avLst/>
          </a:prstGeom>
          <a:solidFill>
            <a:srgbClr val="F3F4F6"/>
          </a:solidFill>
          <a:ln w="19050">
            <a:solidFill>
              <a:srgbClr val="CBD5E1"/>
            </a:solidFill>
            <a:prstDash val="solid"/>
          </a:ln>
        </p:spPr>
        <p:txBody>
          <a:bodyPr/>
          <a:lstStyle/>
          <a:p>
            <a:endParaRPr lang="ja-JP" noProof="0"/>
          </a:p>
        </p:txBody>
      </p:sp>
      <p:sp>
        <p:nvSpPr>
          <p:cNvPr id="64" name="step-num">
            <a:extLst>
              <a:ext uri="{FF2B5EF4-FFF2-40B4-BE49-F238E27FC236}">
                <a16:creationId xmlns:a16="http://schemas.microsoft.com/office/drawing/2014/main" id="{AC747E18-ED7D-83DA-D62B-DCC2D2E2199B}"/>
              </a:ext>
            </a:extLst>
          </p:cNvPr>
          <p:cNvSpPr>
            <a:spLocks noGrp="1"/>
          </p:cNvSpPr>
          <p:nvPr/>
        </p:nvSpPr>
        <p:spPr>
          <a:xfrm>
            <a:off x="685800" y="1600000"/>
            <a:ext cx="476250" cy="247650"/>
          </a:xfrm>
          <a:prstGeom prst="rect">
            <a:avLst/>
          </a:prstGeom>
          <a:noFill/>
          <a:ln w="0">
            <a:noFill/>
            <a:prstDash val="solid"/>
          </a:ln>
        </p:spPr>
        <p:txBody>
          <a:bodyPr lIns="0" tIns="0" rIns="0" bIns="0" anchor="t">
            <a:noAutofit/>
          </a:bodyPr>
          <a:lstStyle/>
          <a:p>
            <a:pPr algn="l">
              <a:buNone/>
              <a:defRPr sz="1150" b="1">
                <a:solidFill>
                  <a:srgbClr val="64748B"/>
                </a:solidFill>
                <a:latin typeface="Hiragino Sans"/>
                <a:ea typeface="Hiragino Sans"/>
                <a:cs typeface="Hiragino Sans"/>
              </a:defRPr>
            </a:pPr>
            <a:r>
              <a:rPr lang="ja-JP" sz="1150" b="1" noProof="0">
                <a:solidFill>
                  <a:srgbClr val="64748B"/>
                </a:solidFill>
                <a:latin typeface="Hiragino Sans"/>
                <a:ea typeface="Hiragino Sans"/>
                <a:cs typeface="Hiragino Sans"/>
              </a:rPr>
              <a:t>01</a:t>
            </a:r>
          </a:p>
        </p:txBody>
      </p:sp>
      <p:sp>
        <p:nvSpPr>
          <p:cNvPr id="65" name="step-label">
            <a:extLst>
              <a:ext uri="{FF2B5EF4-FFF2-40B4-BE49-F238E27FC236}">
                <a16:creationId xmlns:a16="http://schemas.microsoft.com/office/drawing/2014/main" id="{2A407C71-160C-1CB2-FADA-BD2516D7CEE5}"/>
              </a:ext>
            </a:extLst>
          </p:cNvPr>
          <p:cNvSpPr>
            <a:spLocks noGrp="1"/>
          </p:cNvSpPr>
          <p:nvPr/>
        </p:nvSpPr>
        <p:spPr>
          <a:xfrm>
            <a:off x="685800" y="1900000"/>
            <a:ext cx="1609725" cy="600000"/>
          </a:xfrm>
          <a:prstGeom prst="rect">
            <a:avLst/>
          </a:prstGeom>
          <a:noFill/>
          <a:ln w="0">
            <a:noFill/>
            <a:prstDash val="solid"/>
          </a:ln>
        </p:spPr>
        <p:txBody>
          <a:bodyPr lIns="0" tIns="0" rIns="0" bIns="0" anchor="t">
            <a:noAutofit/>
          </a:bodyPr>
          <a:lstStyle/>
          <a:p>
            <a:pPr algn="ctr">
              <a:buNone/>
              <a:defRPr sz="1250" b="1">
                <a:solidFill>
                  <a:srgbClr val="111827"/>
                </a:solidFill>
                <a:latin typeface="Hiragino Sans"/>
                <a:ea typeface="Hiragino Sans"/>
                <a:cs typeface="Hiragino Sans"/>
              </a:defRPr>
            </a:pPr>
            <a:r>
              <a:rPr lang="ja-JP" sz="1250" b="1" noProof="0">
                <a:solidFill>
                  <a:srgbClr val="111827"/>
                </a:solidFill>
                <a:latin typeface="Hiragino Sans"/>
                <a:ea typeface="Hiragino Sans"/>
                <a:cs typeface="Hiragino Sans"/>
              </a:rPr>
              <a:t>クラスを</a:t>
            </a:r>
          </a:p>
          <a:p>
            <a:pPr algn="ctr">
              <a:buNone/>
              <a:defRPr sz="1250" b="1">
                <a:solidFill>
                  <a:srgbClr val="111827"/>
                </a:solidFill>
                <a:latin typeface="Hiragino Sans"/>
                <a:ea typeface="Hiragino Sans"/>
                <a:cs typeface="Hiragino Sans"/>
              </a:defRPr>
            </a:pPr>
            <a:r>
              <a:rPr lang="ja-JP" sz="1250" b="1" noProof="0">
                <a:solidFill>
                  <a:srgbClr val="111827"/>
                </a:solidFill>
                <a:latin typeface="Hiragino Sans"/>
                <a:ea typeface="Hiragino Sans"/>
                <a:cs typeface="Hiragino Sans"/>
              </a:rPr>
              <a:t>1つ選ぶ</a:t>
            </a:r>
          </a:p>
        </p:txBody>
      </p:sp>
      <p:sp>
        <p:nvSpPr>
          <p:cNvPr id="66" name="step-box">
            <a:extLst>
              <a:ext uri="{FF2B5EF4-FFF2-40B4-BE49-F238E27FC236}">
                <a16:creationId xmlns:a16="http://schemas.microsoft.com/office/drawing/2014/main" id="{55162497-6050-FE57-CCA5-0FCA21296F47}"/>
              </a:ext>
            </a:extLst>
          </p:cNvPr>
          <p:cNvSpPr>
            <a:spLocks noGrp="1"/>
          </p:cNvSpPr>
          <p:nvPr/>
        </p:nvSpPr>
        <p:spPr>
          <a:xfrm>
            <a:off x="2800350" y="1500000"/>
            <a:ext cx="1952625" cy="1050000"/>
          </a:xfrm>
          <a:prstGeom prst="rect">
            <a:avLst/>
          </a:prstGeom>
          <a:solidFill>
            <a:srgbClr val="F3F4F6"/>
          </a:solidFill>
          <a:ln w="19050">
            <a:solidFill>
              <a:srgbClr val="CBD5E1"/>
            </a:solidFill>
            <a:prstDash val="solid"/>
          </a:ln>
        </p:spPr>
        <p:txBody>
          <a:bodyPr/>
          <a:lstStyle/>
          <a:p>
            <a:endParaRPr lang="ja-JP" noProof="0"/>
          </a:p>
        </p:txBody>
      </p:sp>
      <p:sp>
        <p:nvSpPr>
          <p:cNvPr id="67" name="step-num">
            <a:extLst>
              <a:ext uri="{FF2B5EF4-FFF2-40B4-BE49-F238E27FC236}">
                <a16:creationId xmlns:a16="http://schemas.microsoft.com/office/drawing/2014/main" id="{B2DBA621-41C2-D8CC-052B-04CD4E0AA840}"/>
              </a:ext>
            </a:extLst>
          </p:cNvPr>
          <p:cNvSpPr>
            <a:spLocks noGrp="1"/>
          </p:cNvSpPr>
          <p:nvPr/>
        </p:nvSpPr>
        <p:spPr>
          <a:xfrm>
            <a:off x="2971800" y="1600000"/>
            <a:ext cx="476250" cy="247650"/>
          </a:xfrm>
          <a:prstGeom prst="rect">
            <a:avLst/>
          </a:prstGeom>
          <a:noFill/>
          <a:ln w="0">
            <a:noFill/>
            <a:prstDash val="solid"/>
          </a:ln>
        </p:spPr>
        <p:txBody>
          <a:bodyPr lIns="0" tIns="0" rIns="0" bIns="0" anchor="t">
            <a:noAutofit/>
          </a:bodyPr>
          <a:lstStyle/>
          <a:p>
            <a:pPr algn="l">
              <a:buNone/>
              <a:defRPr sz="1150" b="1">
                <a:solidFill>
                  <a:srgbClr val="64748B"/>
                </a:solidFill>
                <a:latin typeface="Hiragino Sans"/>
                <a:ea typeface="Hiragino Sans"/>
                <a:cs typeface="Hiragino Sans"/>
              </a:defRPr>
            </a:pPr>
            <a:r>
              <a:rPr lang="ja-JP" sz="1150" b="1" noProof="0">
                <a:solidFill>
                  <a:srgbClr val="64748B"/>
                </a:solidFill>
                <a:latin typeface="Hiragino Sans"/>
                <a:ea typeface="Hiragino Sans"/>
                <a:cs typeface="Hiragino Sans"/>
              </a:rPr>
              <a:t>02</a:t>
            </a:r>
          </a:p>
        </p:txBody>
      </p:sp>
      <p:sp>
        <p:nvSpPr>
          <p:cNvPr id="68" name="step-label">
            <a:extLst>
              <a:ext uri="{FF2B5EF4-FFF2-40B4-BE49-F238E27FC236}">
                <a16:creationId xmlns:a16="http://schemas.microsoft.com/office/drawing/2014/main" id="{1F961A54-B088-013F-5971-A55DFBA13636}"/>
              </a:ext>
            </a:extLst>
          </p:cNvPr>
          <p:cNvSpPr>
            <a:spLocks noGrp="1"/>
          </p:cNvSpPr>
          <p:nvPr/>
        </p:nvSpPr>
        <p:spPr>
          <a:xfrm>
            <a:off x="2971800" y="1900000"/>
            <a:ext cx="1609725" cy="600000"/>
          </a:xfrm>
          <a:prstGeom prst="rect">
            <a:avLst/>
          </a:prstGeom>
          <a:noFill/>
          <a:ln w="0">
            <a:noFill/>
            <a:prstDash val="solid"/>
          </a:ln>
        </p:spPr>
        <p:txBody>
          <a:bodyPr lIns="0" tIns="0" rIns="0" bIns="0" anchor="t">
            <a:noAutofit/>
          </a:bodyPr>
          <a:lstStyle/>
          <a:p>
            <a:pPr algn="ctr">
              <a:buNone/>
              <a:defRPr sz="1250" b="1">
                <a:solidFill>
                  <a:srgbClr val="111827"/>
                </a:solidFill>
                <a:latin typeface="Hiragino Sans"/>
                <a:ea typeface="Hiragino Sans"/>
                <a:cs typeface="Hiragino Sans"/>
              </a:defRPr>
            </a:pPr>
            <a:r>
              <a:rPr lang="ja-JP" sz="1250" b="1" noProof="0">
                <a:solidFill>
                  <a:srgbClr val="111827"/>
                </a:solidFill>
                <a:latin typeface="Hiragino Sans"/>
                <a:ea typeface="Hiragino Sans"/>
                <a:cs typeface="Hiragino Sans"/>
              </a:rPr>
              <a:t>近傍サンプルを</a:t>
            </a:r>
          </a:p>
          <a:p>
            <a:pPr algn="ctr">
              <a:buNone/>
              <a:defRPr sz="1250" b="1">
                <a:solidFill>
                  <a:srgbClr val="111827"/>
                </a:solidFill>
                <a:latin typeface="Hiragino Sans"/>
                <a:ea typeface="Hiragino Sans"/>
                <a:cs typeface="Hiragino Sans"/>
              </a:defRPr>
            </a:pPr>
            <a:r>
              <a:rPr lang="ja-JP" sz="1250" b="1" noProof="0">
                <a:solidFill>
                  <a:srgbClr val="111827"/>
                </a:solidFill>
                <a:latin typeface="Hiragino Sans"/>
                <a:ea typeface="Hiragino Sans"/>
                <a:cs typeface="Hiragino Sans"/>
              </a:rPr>
              <a:t>生成する</a:t>
            </a:r>
          </a:p>
        </p:txBody>
      </p:sp>
      <p:sp>
        <p:nvSpPr>
          <p:cNvPr id="69" name="step-box">
            <a:extLst>
              <a:ext uri="{FF2B5EF4-FFF2-40B4-BE49-F238E27FC236}">
                <a16:creationId xmlns:a16="http://schemas.microsoft.com/office/drawing/2014/main" id="{839A0F61-956A-9C13-D09E-62F4086C8DB6}"/>
              </a:ext>
            </a:extLst>
          </p:cNvPr>
          <p:cNvSpPr>
            <a:spLocks noGrp="1"/>
          </p:cNvSpPr>
          <p:nvPr/>
        </p:nvSpPr>
        <p:spPr>
          <a:xfrm>
            <a:off x="5086350" y="1500000"/>
            <a:ext cx="1952625" cy="1050000"/>
          </a:xfrm>
          <a:prstGeom prst="rect">
            <a:avLst/>
          </a:prstGeom>
          <a:solidFill>
            <a:srgbClr val="F3F4F6"/>
          </a:solidFill>
          <a:ln w="19050">
            <a:solidFill>
              <a:srgbClr val="CBD5E1"/>
            </a:solidFill>
            <a:prstDash val="solid"/>
          </a:ln>
        </p:spPr>
        <p:txBody>
          <a:bodyPr/>
          <a:lstStyle/>
          <a:p>
            <a:endParaRPr lang="ja-JP" noProof="0"/>
          </a:p>
        </p:txBody>
      </p:sp>
      <p:sp>
        <p:nvSpPr>
          <p:cNvPr id="70" name="step-num">
            <a:extLst>
              <a:ext uri="{FF2B5EF4-FFF2-40B4-BE49-F238E27FC236}">
                <a16:creationId xmlns:a16="http://schemas.microsoft.com/office/drawing/2014/main" id="{879B69C4-D9A0-2A30-3A39-4C6D935B6DC8}"/>
              </a:ext>
            </a:extLst>
          </p:cNvPr>
          <p:cNvSpPr>
            <a:spLocks noGrp="1"/>
          </p:cNvSpPr>
          <p:nvPr/>
        </p:nvSpPr>
        <p:spPr>
          <a:xfrm>
            <a:off x="5257800" y="1600000"/>
            <a:ext cx="476250" cy="247650"/>
          </a:xfrm>
          <a:prstGeom prst="rect">
            <a:avLst/>
          </a:prstGeom>
          <a:noFill/>
          <a:ln w="0">
            <a:noFill/>
            <a:prstDash val="solid"/>
          </a:ln>
        </p:spPr>
        <p:txBody>
          <a:bodyPr lIns="0" tIns="0" rIns="0" bIns="0" anchor="t">
            <a:noAutofit/>
          </a:bodyPr>
          <a:lstStyle/>
          <a:p>
            <a:pPr algn="l">
              <a:buNone/>
              <a:defRPr sz="1150" b="1">
                <a:solidFill>
                  <a:srgbClr val="64748B"/>
                </a:solidFill>
                <a:latin typeface="Hiragino Sans"/>
                <a:ea typeface="Hiragino Sans"/>
                <a:cs typeface="Hiragino Sans"/>
              </a:defRPr>
            </a:pPr>
            <a:r>
              <a:rPr lang="ja-JP" sz="1150" b="1" noProof="0">
                <a:solidFill>
                  <a:srgbClr val="64748B"/>
                </a:solidFill>
                <a:latin typeface="Hiragino Sans"/>
                <a:ea typeface="Hiragino Sans"/>
                <a:cs typeface="Hiragino Sans"/>
              </a:rPr>
              <a:t>03</a:t>
            </a:r>
          </a:p>
        </p:txBody>
      </p:sp>
      <p:sp>
        <p:nvSpPr>
          <p:cNvPr id="71" name="step-label">
            <a:extLst>
              <a:ext uri="{FF2B5EF4-FFF2-40B4-BE49-F238E27FC236}">
                <a16:creationId xmlns:a16="http://schemas.microsoft.com/office/drawing/2014/main" id="{F8A5F855-B292-D599-8863-5246D624B1E8}"/>
              </a:ext>
            </a:extLst>
          </p:cNvPr>
          <p:cNvSpPr>
            <a:spLocks noGrp="1"/>
          </p:cNvSpPr>
          <p:nvPr/>
        </p:nvSpPr>
        <p:spPr>
          <a:xfrm>
            <a:off x="5257800" y="1900000"/>
            <a:ext cx="1609725" cy="600000"/>
          </a:xfrm>
          <a:prstGeom prst="rect">
            <a:avLst/>
          </a:prstGeom>
          <a:noFill/>
          <a:ln w="0">
            <a:noFill/>
            <a:prstDash val="solid"/>
          </a:ln>
        </p:spPr>
        <p:txBody>
          <a:bodyPr lIns="0" tIns="0" rIns="0" bIns="0" anchor="t">
            <a:noAutofit/>
          </a:bodyPr>
          <a:lstStyle/>
          <a:p>
            <a:pPr algn="ctr">
              <a:buNone/>
              <a:defRPr sz="1250" b="1">
                <a:solidFill>
                  <a:srgbClr val="111827"/>
                </a:solidFill>
                <a:latin typeface="Hiragino Sans"/>
                <a:ea typeface="Hiragino Sans"/>
                <a:cs typeface="Hiragino Sans"/>
              </a:defRPr>
            </a:pPr>
            <a:r>
              <a:rPr lang="ja-JP" sz="1250" b="1" noProof="0">
                <a:solidFill>
                  <a:srgbClr val="111827"/>
                </a:solidFill>
                <a:latin typeface="Hiragino Sans"/>
                <a:ea typeface="Hiragino Sans"/>
                <a:cs typeface="Hiragino Sans"/>
              </a:rPr>
              <a:t>各クラスの確率を</a:t>
            </a:r>
          </a:p>
          <a:p>
            <a:pPr algn="ctr">
              <a:buNone/>
              <a:defRPr sz="1250" b="1">
                <a:solidFill>
                  <a:srgbClr val="111827"/>
                </a:solidFill>
                <a:latin typeface="Hiragino Sans"/>
                <a:ea typeface="Hiragino Sans"/>
                <a:cs typeface="Hiragino Sans"/>
              </a:defRPr>
            </a:pPr>
            <a:r>
              <a:rPr lang="ja-JP" sz="1250" b="1" noProof="0">
                <a:solidFill>
                  <a:srgbClr val="111827"/>
                </a:solidFill>
                <a:latin typeface="Hiragino Sans"/>
                <a:ea typeface="Hiragino Sans"/>
                <a:cs typeface="Hiragino Sans"/>
              </a:rPr>
              <a:t>回帰(C回)</a:t>
            </a:r>
          </a:p>
        </p:txBody>
      </p:sp>
      <p:sp>
        <p:nvSpPr>
          <p:cNvPr id="72" name="step-box">
            <a:extLst>
              <a:ext uri="{FF2B5EF4-FFF2-40B4-BE49-F238E27FC236}">
                <a16:creationId xmlns:a16="http://schemas.microsoft.com/office/drawing/2014/main" id="{1E0CC0A4-119B-26D5-1AC3-FA84CCFC98AF}"/>
              </a:ext>
            </a:extLst>
          </p:cNvPr>
          <p:cNvSpPr>
            <a:spLocks noGrp="1"/>
          </p:cNvSpPr>
          <p:nvPr/>
        </p:nvSpPr>
        <p:spPr>
          <a:xfrm>
            <a:off x="7372350" y="1500000"/>
            <a:ext cx="1952625" cy="1050000"/>
          </a:xfrm>
          <a:prstGeom prst="rect">
            <a:avLst/>
          </a:prstGeom>
          <a:solidFill>
            <a:srgbClr val="F3F4F6"/>
          </a:solidFill>
          <a:ln w="19050">
            <a:solidFill>
              <a:srgbClr val="CBD5E1"/>
            </a:solidFill>
            <a:prstDash val="solid"/>
          </a:ln>
        </p:spPr>
        <p:txBody>
          <a:bodyPr/>
          <a:lstStyle/>
          <a:p>
            <a:endParaRPr lang="ja-JP" noProof="0"/>
          </a:p>
        </p:txBody>
      </p:sp>
      <p:sp>
        <p:nvSpPr>
          <p:cNvPr id="73" name="step-num">
            <a:extLst>
              <a:ext uri="{FF2B5EF4-FFF2-40B4-BE49-F238E27FC236}">
                <a16:creationId xmlns:a16="http://schemas.microsoft.com/office/drawing/2014/main" id="{D0D10E3F-2E92-6095-9969-EED3A304DD58}"/>
              </a:ext>
            </a:extLst>
          </p:cNvPr>
          <p:cNvSpPr>
            <a:spLocks noGrp="1"/>
          </p:cNvSpPr>
          <p:nvPr/>
        </p:nvSpPr>
        <p:spPr>
          <a:xfrm>
            <a:off x="7543800" y="1600000"/>
            <a:ext cx="476250" cy="247650"/>
          </a:xfrm>
          <a:prstGeom prst="rect">
            <a:avLst/>
          </a:prstGeom>
          <a:noFill/>
          <a:ln w="0">
            <a:noFill/>
            <a:prstDash val="solid"/>
          </a:ln>
        </p:spPr>
        <p:txBody>
          <a:bodyPr lIns="0" tIns="0" rIns="0" bIns="0" anchor="t">
            <a:noAutofit/>
          </a:bodyPr>
          <a:lstStyle/>
          <a:p>
            <a:pPr algn="l">
              <a:buNone/>
              <a:defRPr sz="1150" b="1">
                <a:solidFill>
                  <a:srgbClr val="64748B"/>
                </a:solidFill>
                <a:latin typeface="Hiragino Sans"/>
                <a:ea typeface="Hiragino Sans"/>
                <a:cs typeface="Hiragino Sans"/>
              </a:defRPr>
            </a:pPr>
            <a:r>
              <a:rPr lang="ja-JP" sz="1150" b="1" noProof="0">
                <a:solidFill>
                  <a:srgbClr val="64748B"/>
                </a:solidFill>
                <a:latin typeface="Hiragino Sans"/>
                <a:ea typeface="Hiragino Sans"/>
                <a:cs typeface="Hiragino Sans"/>
              </a:rPr>
              <a:t>04</a:t>
            </a:r>
          </a:p>
        </p:txBody>
      </p:sp>
      <p:sp>
        <p:nvSpPr>
          <p:cNvPr id="74" name="step-label">
            <a:extLst>
              <a:ext uri="{FF2B5EF4-FFF2-40B4-BE49-F238E27FC236}">
                <a16:creationId xmlns:a16="http://schemas.microsoft.com/office/drawing/2014/main" id="{CFF5E756-5B4F-6BA3-ABEE-F0F5D0306BFA}"/>
              </a:ext>
            </a:extLst>
          </p:cNvPr>
          <p:cNvSpPr>
            <a:spLocks noGrp="1"/>
          </p:cNvSpPr>
          <p:nvPr/>
        </p:nvSpPr>
        <p:spPr>
          <a:xfrm>
            <a:off x="7543800" y="1900000"/>
            <a:ext cx="1609725" cy="600000"/>
          </a:xfrm>
          <a:prstGeom prst="rect">
            <a:avLst/>
          </a:prstGeom>
          <a:noFill/>
          <a:ln w="0">
            <a:noFill/>
            <a:prstDash val="solid"/>
          </a:ln>
        </p:spPr>
        <p:txBody>
          <a:bodyPr lIns="0" tIns="0" rIns="0" bIns="0" anchor="t">
            <a:noAutofit/>
          </a:bodyPr>
          <a:lstStyle/>
          <a:p>
            <a:pPr algn="ctr">
              <a:buNone/>
              <a:defRPr sz="1250" b="1">
                <a:solidFill>
                  <a:srgbClr val="111827"/>
                </a:solidFill>
                <a:latin typeface="Hiragino Sans"/>
                <a:ea typeface="Hiragino Sans"/>
                <a:cs typeface="Hiragino Sans"/>
              </a:defRPr>
            </a:pPr>
            <a:r>
              <a:rPr lang="ja-JP" sz="1250" b="1" noProof="0">
                <a:solidFill>
                  <a:srgbClr val="111827"/>
                </a:solidFill>
                <a:latin typeface="Hiragino Sans"/>
                <a:ea typeface="Hiragino Sans"/>
                <a:cs typeface="Hiragino Sans"/>
              </a:rPr>
              <a:t>クラスごとに</a:t>
            </a:r>
          </a:p>
          <a:p>
            <a:pPr algn="ctr">
              <a:buNone/>
              <a:defRPr sz="1250" b="1">
                <a:solidFill>
                  <a:srgbClr val="111827"/>
                </a:solidFill>
                <a:latin typeface="Hiragino Sans"/>
                <a:ea typeface="Hiragino Sans"/>
                <a:cs typeface="Hiragino Sans"/>
              </a:defRPr>
            </a:pPr>
            <a:r>
              <a:rPr lang="ja-JP" sz="1250" b="1" noProof="0">
                <a:solidFill>
                  <a:srgbClr val="111827"/>
                </a:solidFill>
                <a:latin typeface="Hiragino Sans"/>
                <a:ea typeface="Hiragino Sans"/>
                <a:cs typeface="Hiragino Sans"/>
              </a:rPr>
              <a:t>特徴を選ぶ</a:t>
            </a:r>
          </a:p>
        </p:txBody>
      </p:sp>
      <p:sp>
        <p:nvSpPr>
          <p:cNvPr id="75" name="step-box">
            <a:extLst>
              <a:ext uri="{FF2B5EF4-FFF2-40B4-BE49-F238E27FC236}">
                <a16:creationId xmlns:a16="http://schemas.microsoft.com/office/drawing/2014/main" id="{07D1D40F-FE69-824E-09E7-2AD6D84201B0}"/>
              </a:ext>
            </a:extLst>
          </p:cNvPr>
          <p:cNvSpPr>
            <a:spLocks noGrp="1"/>
          </p:cNvSpPr>
          <p:nvPr/>
        </p:nvSpPr>
        <p:spPr>
          <a:xfrm>
            <a:off x="9658350" y="1500000"/>
            <a:ext cx="1952625" cy="1050000"/>
          </a:xfrm>
          <a:prstGeom prst="rect">
            <a:avLst/>
          </a:prstGeom>
          <a:solidFill>
            <a:srgbClr val="F3F4F6"/>
          </a:solidFill>
          <a:ln w="19050">
            <a:solidFill>
              <a:srgbClr val="CBD5E1"/>
            </a:solidFill>
            <a:prstDash val="solid"/>
          </a:ln>
        </p:spPr>
        <p:txBody>
          <a:bodyPr/>
          <a:lstStyle/>
          <a:p>
            <a:endParaRPr lang="ja-JP" noProof="0"/>
          </a:p>
        </p:txBody>
      </p:sp>
      <p:sp>
        <p:nvSpPr>
          <p:cNvPr id="76" name="step-num">
            <a:extLst>
              <a:ext uri="{FF2B5EF4-FFF2-40B4-BE49-F238E27FC236}">
                <a16:creationId xmlns:a16="http://schemas.microsoft.com/office/drawing/2014/main" id="{4897C0CC-4D58-E0EE-8274-8ABD0D8C5083}"/>
              </a:ext>
            </a:extLst>
          </p:cNvPr>
          <p:cNvSpPr>
            <a:spLocks noGrp="1"/>
          </p:cNvSpPr>
          <p:nvPr/>
        </p:nvSpPr>
        <p:spPr>
          <a:xfrm>
            <a:off x="9829800" y="1600000"/>
            <a:ext cx="476250" cy="247650"/>
          </a:xfrm>
          <a:prstGeom prst="rect">
            <a:avLst/>
          </a:prstGeom>
          <a:noFill/>
          <a:ln w="0">
            <a:noFill/>
            <a:prstDash val="solid"/>
          </a:ln>
        </p:spPr>
        <p:txBody>
          <a:bodyPr lIns="0" tIns="0" rIns="0" bIns="0" anchor="t">
            <a:noAutofit/>
          </a:bodyPr>
          <a:lstStyle/>
          <a:p>
            <a:pPr algn="l">
              <a:buNone/>
              <a:defRPr sz="1150" b="1">
                <a:solidFill>
                  <a:srgbClr val="64748B"/>
                </a:solidFill>
                <a:latin typeface="Hiragino Sans"/>
                <a:ea typeface="Hiragino Sans"/>
                <a:cs typeface="Hiragino Sans"/>
              </a:defRPr>
            </a:pPr>
            <a:r>
              <a:rPr lang="ja-JP" sz="1150" b="1" noProof="0">
                <a:solidFill>
                  <a:srgbClr val="64748B"/>
                </a:solidFill>
                <a:latin typeface="Hiragino Sans"/>
                <a:ea typeface="Hiragino Sans"/>
                <a:cs typeface="Hiragino Sans"/>
              </a:rPr>
              <a:t>05</a:t>
            </a:r>
          </a:p>
        </p:txBody>
      </p:sp>
      <p:sp>
        <p:nvSpPr>
          <p:cNvPr id="77" name="step-label">
            <a:extLst>
              <a:ext uri="{FF2B5EF4-FFF2-40B4-BE49-F238E27FC236}">
                <a16:creationId xmlns:a16="http://schemas.microsoft.com/office/drawing/2014/main" id="{BFD0BC23-67ED-1E1C-1A6A-A11005149FDD}"/>
              </a:ext>
            </a:extLst>
          </p:cNvPr>
          <p:cNvSpPr>
            <a:spLocks noGrp="1"/>
          </p:cNvSpPr>
          <p:nvPr/>
        </p:nvSpPr>
        <p:spPr>
          <a:xfrm>
            <a:off x="9829800" y="1900000"/>
            <a:ext cx="1609725" cy="600000"/>
          </a:xfrm>
          <a:prstGeom prst="rect">
            <a:avLst/>
          </a:prstGeom>
          <a:noFill/>
          <a:ln w="0">
            <a:noFill/>
            <a:prstDash val="solid"/>
          </a:ln>
        </p:spPr>
        <p:txBody>
          <a:bodyPr lIns="0" tIns="0" rIns="0" bIns="0" anchor="t">
            <a:noAutofit/>
          </a:bodyPr>
          <a:lstStyle/>
          <a:p>
            <a:pPr algn="ctr">
              <a:buNone/>
              <a:defRPr sz="1250" b="1">
                <a:solidFill>
                  <a:srgbClr val="111827"/>
                </a:solidFill>
                <a:latin typeface="Hiragino Sans"/>
                <a:ea typeface="Hiragino Sans"/>
                <a:cs typeface="Hiragino Sans"/>
              </a:defRPr>
            </a:pPr>
            <a:r>
              <a:rPr lang="ja-JP" sz="1250" b="1" noProof="0">
                <a:solidFill>
                  <a:srgbClr val="111827"/>
                </a:solidFill>
                <a:latin typeface="Hiragino Sans"/>
                <a:ea typeface="Hiragino Sans"/>
                <a:cs typeface="Hiragino Sans"/>
              </a:rPr>
              <a:t>クラス別の説明が</a:t>
            </a:r>
          </a:p>
          <a:p>
            <a:pPr algn="ctr">
              <a:buNone/>
              <a:defRPr sz="1250" b="1">
                <a:solidFill>
                  <a:srgbClr val="111827"/>
                </a:solidFill>
                <a:latin typeface="Hiragino Sans"/>
                <a:ea typeface="Hiragino Sans"/>
                <a:cs typeface="Hiragino Sans"/>
              </a:defRPr>
            </a:pPr>
            <a:r>
              <a:rPr lang="ja-JP" sz="1250" b="1" noProof="0">
                <a:solidFill>
                  <a:srgbClr val="111827"/>
                </a:solidFill>
                <a:latin typeface="Hiragino Sans"/>
                <a:ea typeface="Hiragino Sans"/>
                <a:cs typeface="Hiragino Sans"/>
              </a:rPr>
              <a:t>C個できる</a:t>
            </a:r>
          </a:p>
        </p:txBody>
      </p:sp>
      <p:sp>
        <p:nvSpPr>
          <p:cNvPr id="82" name="shared-note">
            <a:extLst>
              <a:ext uri="{FF2B5EF4-FFF2-40B4-BE49-F238E27FC236}">
                <a16:creationId xmlns:a16="http://schemas.microsoft.com/office/drawing/2014/main" id="{23975B64-1F38-0473-792E-0F4656A7C194}"/>
              </a:ext>
            </a:extLst>
          </p:cNvPr>
          <p:cNvSpPr>
            <a:spLocks noGrp="1"/>
          </p:cNvSpPr>
          <p:nvPr/>
        </p:nvSpPr>
        <p:spPr>
          <a:xfrm>
            <a:off x="514350" y="2610000"/>
            <a:ext cx="11049000" cy="260000"/>
          </a:xfrm>
          <a:prstGeom prst="rect">
            <a:avLst/>
          </a:prstGeom>
          <a:noFill/>
          <a:ln w="0">
            <a:noFill/>
            <a:prstDash val="solid"/>
          </a:ln>
        </p:spPr>
        <p:txBody>
          <a:bodyPr lIns="0" tIns="0" rIns="0" bIns="0" anchor="ctr">
            <a:noAutofit/>
          </a:bodyPr>
          <a:lstStyle/>
          <a:p>
            <a:pPr algn="ctr">
              <a:buNone/>
              <a:defRPr sz="1100" b="0">
                <a:solidFill>
                  <a:srgbClr val="64748B"/>
                </a:solidFill>
                <a:latin typeface="Hiragino Sans"/>
                <a:ea typeface="Hiragino Sans"/>
                <a:cs typeface="Hiragino Sans"/>
              </a:defRPr>
            </a:pPr>
            <a:r>
              <a:rPr lang="ja-JP" sz="1100" b="0" noProof="0">
                <a:solidFill>
                  <a:srgbClr val="64748B"/>
                </a:solidFill>
                <a:latin typeface="Hiragino Sans"/>
                <a:ea typeface="Hiragino Sans"/>
                <a:cs typeface="Hiragino Sans"/>
              </a:rPr>
              <a:t>①②の近傍生成・重み付けは、提案手法と共通のLIME機構を使う</a:t>
            </a:r>
          </a:p>
        </p:txBody>
      </p:sp>
      <p:sp>
        <p:nvSpPr>
          <p:cNvPr id="83" name="prop-label">
            <a:extLst>
              <a:ext uri="{FF2B5EF4-FFF2-40B4-BE49-F238E27FC236}">
                <a16:creationId xmlns:a16="http://schemas.microsoft.com/office/drawing/2014/main" id="{6C7109AD-B9D6-8CFF-77D3-1A37BDFCE56A}"/>
              </a:ext>
            </a:extLst>
          </p:cNvPr>
          <p:cNvSpPr>
            <a:spLocks noGrp="1"/>
          </p:cNvSpPr>
          <p:nvPr/>
        </p:nvSpPr>
        <p:spPr>
          <a:xfrm>
            <a:off x="514350" y="2930000"/>
            <a:ext cx="6000000" cy="300000"/>
          </a:xfrm>
          <a:prstGeom prst="rect">
            <a:avLst/>
          </a:prstGeom>
          <a:noFill/>
          <a:ln w="0">
            <a:noFill/>
            <a:prstDash val="solid"/>
          </a:ln>
        </p:spPr>
        <p:txBody>
          <a:bodyPr lIns="0" tIns="0" rIns="0" bIns="0" anchor="t">
            <a:noAutofit/>
          </a:bodyPr>
          <a:lstStyle/>
          <a:p>
            <a:pPr algn="l">
              <a:buNone/>
              <a:defRPr sz="1500" b="1">
                <a:solidFill>
                  <a:srgbClr val="10B981"/>
                </a:solidFill>
                <a:latin typeface="Hiragino Sans"/>
                <a:ea typeface="Hiragino Sans"/>
                <a:cs typeface="Hiragino Sans"/>
              </a:defRPr>
            </a:pPr>
            <a:r>
              <a:rPr lang="ja-JP" sz="1500" b="1" noProof="0">
                <a:solidFill>
                  <a:srgbClr val="10B981"/>
                </a:solidFill>
                <a:latin typeface="Hiragino Sans"/>
                <a:ea typeface="Hiragino Sans"/>
                <a:cs typeface="Hiragino Sans"/>
              </a:rPr>
              <a:t>提案：予測 Top-1 / Top-2 に絞る</a:t>
            </a:r>
          </a:p>
        </p:txBody>
      </p:sp>
      <p:sp>
        <p:nvSpPr>
          <p:cNvPr id="84" name="step-box">
            <a:extLst>
              <a:ext uri="{FF2B5EF4-FFF2-40B4-BE49-F238E27FC236}">
                <a16:creationId xmlns:a16="http://schemas.microsoft.com/office/drawing/2014/main" id="{9F4127C3-45C5-A9AD-FA3A-84FD5C8F52F0}"/>
              </a:ext>
            </a:extLst>
          </p:cNvPr>
          <p:cNvSpPr>
            <a:spLocks noGrp="1"/>
          </p:cNvSpPr>
          <p:nvPr/>
        </p:nvSpPr>
        <p:spPr>
          <a:xfrm>
            <a:off x="514350" y="3300000"/>
            <a:ext cx="1952625" cy="1050000"/>
          </a:xfrm>
          <a:prstGeom prst="rect">
            <a:avLst/>
          </a:prstGeom>
          <a:solidFill>
            <a:srgbClr val="D1FAE5"/>
          </a:solidFill>
          <a:ln w="19050">
            <a:solidFill>
              <a:srgbClr val="10B981"/>
            </a:solidFill>
            <a:prstDash val="solid"/>
          </a:ln>
        </p:spPr>
        <p:txBody>
          <a:bodyPr/>
          <a:lstStyle/>
          <a:p>
            <a:endParaRPr lang="ja-JP" noProof="0"/>
          </a:p>
        </p:txBody>
      </p:sp>
      <p:sp>
        <p:nvSpPr>
          <p:cNvPr id="85" name="step-num">
            <a:extLst>
              <a:ext uri="{FF2B5EF4-FFF2-40B4-BE49-F238E27FC236}">
                <a16:creationId xmlns:a16="http://schemas.microsoft.com/office/drawing/2014/main" id="{E9E8DA75-FD44-CE82-B39E-FA1EE72F622D}"/>
              </a:ext>
            </a:extLst>
          </p:cNvPr>
          <p:cNvSpPr>
            <a:spLocks noGrp="1"/>
          </p:cNvSpPr>
          <p:nvPr/>
        </p:nvSpPr>
        <p:spPr>
          <a:xfrm>
            <a:off x="685800" y="3400000"/>
            <a:ext cx="476250" cy="247650"/>
          </a:xfrm>
          <a:prstGeom prst="rect">
            <a:avLst/>
          </a:prstGeom>
          <a:noFill/>
          <a:ln w="0">
            <a:noFill/>
            <a:prstDash val="solid"/>
          </a:ln>
        </p:spPr>
        <p:txBody>
          <a:bodyPr lIns="0" tIns="0" rIns="0" bIns="0" anchor="t">
            <a:noAutofit/>
          </a:bodyPr>
          <a:lstStyle/>
          <a:p>
            <a:pPr algn="l">
              <a:buNone/>
              <a:defRPr sz="1150" b="1">
                <a:solidFill>
                  <a:srgbClr val="10B981"/>
                </a:solidFill>
                <a:latin typeface="Hiragino Sans"/>
                <a:ea typeface="Hiragino Sans"/>
                <a:cs typeface="Hiragino Sans"/>
              </a:defRPr>
            </a:pPr>
            <a:r>
              <a:rPr lang="ja-JP" sz="1150" b="1" noProof="0">
                <a:solidFill>
                  <a:srgbClr val="10B981"/>
                </a:solidFill>
                <a:latin typeface="Hiragino Sans"/>
                <a:ea typeface="Hiragino Sans"/>
                <a:cs typeface="Hiragino Sans"/>
              </a:rPr>
              <a:t>01</a:t>
            </a:r>
          </a:p>
        </p:txBody>
      </p:sp>
      <p:sp>
        <p:nvSpPr>
          <p:cNvPr id="86" name="step-label">
            <a:extLst>
              <a:ext uri="{FF2B5EF4-FFF2-40B4-BE49-F238E27FC236}">
                <a16:creationId xmlns:a16="http://schemas.microsoft.com/office/drawing/2014/main" id="{CB83A605-7D82-3B23-4322-DDF10B0D6005}"/>
              </a:ext>
            </a:extLst>
          </p:cNvPr>
          <p:cNvSpPr>
            <a:spLocks noGrp="1"/>
          </p:cNvSpPr>
          <p:nvPr/>
        </p:nvSpPr>
        <p:spPr>
          <a:xfrm>
            <a:off x="685800" y="3700000"/>
            <a:ext cx="1609725" cy="600000"/>
          </a:xfrm>
          <a:prstGeom prst="rect">
            <a:avLst/>
          </a:prstGeom>
          <a:noFill/>
          <a:ln w="0">
            <a:noFill/>
            <a:prstDash val="solid"/>
          </a:ln>
        </p:spPr>
        <p:txBody>
          <a:bodyPr lIns="0" tIns="0" rIns="0" bIns="0" anchor="t">
            <a:noAutofit/>
          </a:bodyPr>
          <a:lstStyle/>
          <a:p>
            <a:pPr algn="ctr">
              <a:buNone/>
              <a:defRPr sz="1250" b="1">
                <a:solidFill>
                  <a:srgbClr val="111827"/>
                </a:solidFill>
                <a:latin typeface="Hiragino Sans"/>
                <a:ea typeface="Hiragino Sans"/>
                <a:cs typeface="Hiragino Sans"/>
              </a:defRPr>
            </a:pPr>
            <a:r>
              <a:rPr lang="ja-JP" sz="1250" b="1" noProof="0">
                <a:solidFill>
                  <a:srgbClr val="111827"/>
                </a:solidFill>
                <a:latin typeface="Hiragino Sans"/>
                <a:ea typeface="Hiragino Sans"/>
                <a:cs typeface="Hiragino Sans"/>
              </a:rPr>
              <a:t>予測1位・2位を</a:t>
            </a:r>
          </a:p>
          <a:p>
            <a:pPr algn="ctr">
              <a:buNone/>
              <a:defRPr sz="1250" b="1">
                <a:solidFill>
                  <a:srgbClr val="111827"/>
                </a:solidFill>
                <a:latin typeface="Hiragino Sans"/>
                <a:ea typeface="Hiragino Sans"/>
                <a:cs typeface="Hiragino Sans"/>
              </a:defRPr>
            </a:pPr>
            <a:r>
              <a:rPr lang="ja-JP" sz="1250" b="1" noProof="0">
                <a:solidFill>
                  <a:srgbClr val="111827"/>
                </a:solidFill>
                <a:latin typeface="Hiragino Sans"/>
                <a:ea typeface="Hiragino Sans"/>
                <a:cs typeface="Hiragino Sans"/>
              </a:rPr>
              <a:t>選ぶ</a:t>
            </a:r>
          </a:p>
        </p:txBody>
      </p:sp>
      <p:sp>
        <p:nvSpPr>
          <p:cNvPr id="87" name="step-box">
            <a:extLst>
              <a:ext uri="{FF2B5EF4-FFF2-40B4-BE49-F238E27FC236}">
                <a16:creationId xmlns:a16="http://schemas.microsoft.com/office/drawing/2014/main" id="{9CEF9780-9B14-09AB-FC0A-2A38C0C2BB42}"/>
              </a:ext>
            </a:extLst>
          </p:cNvPr>
          <p:cNvSpPr>
            <a:spLocks noGrp="1"/>
          </p:cNvSpPr>
          <p:nvPr/>
        </p:nvSpPr>
        <p:spPr>
          <a:xfrm>
            <a:off x="2800350" y="3300000"/>
            <a:ext cx="1952625" cy="1050000"/>
          </a:xfrm>
          <a:prstGeom prst="rect">
            <a:avLst/>
          </a:prstGeom>
          <a:solidFill>
            <a:srgbClr val="D1FAE5"/>
          </a:solidFill>
          <a:ln w="19050">
            <a:solidFill>
              <a:srgbClr val="10B981"/>
            </a:solidFill>
            <a:prstDash val="solid"/>
          </a:ln>
        </p:spPr>
        <p:txBody>
          <a:bodyPr/>
          <a:lstStyle/>
          <a:p>
            <a:endParaRPr lang="ja-JP" noProof="0"/>
          </a:p>
        </p:txBody>
      </p:sp>
      <p:sp>
        <p:nvSpPr>
          <p:cNvPr id="88" name="step-num">
            <a:extLst>
              <a:ext uri="{FF2B5EF4-FFF2-40B4-BE49-F238E27FC236}">
                <a16:creationId xmlns:a16="http://schemas.microsoft.com/office/drawing/2014/main" id="{74E53596-FB3A-CF60-1DDA-48B80F37D4BF}"/>
              </a:ext>
            </a:extLst>
          </p:cNvPr>
          <p:cNvSpPr>
            <a:spLocks noGrp="1"/>
          </p:cNvSpPr>
          <p:nvPr/>
        </p:nvSpPr>
        <p:spPr>
          <a:xfrm>
            <a:off x="2971800" y="3400000"/>
            <a:ext cx="476250" cy="247650"/>
          </a:xfrm>
          <a:prstGeom prst="rect">
            <a:avLst/>
          </a:prstGeom>
          <a:noFill/>
          <a:ln w="0">
            <a:noFill/>
            <a:prstDash val="solid"/>
          </a:ln>
        </p:spPr>
        <p:txBody>
          <a:bodyPr lIns="0" tIns="0" rIns="0" bIns="0" anchor="t">
            <a:noAutofit/>
          </a:bodyPr>
          <a:lstStyle/>
          <a:p>
            <a:pPr algn="l">
              <a:buNone/>
              <a:defRPr sz="1150" b="1">
                <a:solidFill>
                  <a:srgbClr val="10B981"/>
                </a:solidFill>
                <a:latin typeface="Hiragino Sans"/>
                <a:ea typeface="Hiragino Sans"/>
                <a:cs typeface="Hiragino Sans"/>
              </a:defRPr>
            </a:pPr>
            <a:r>
              <a:rPr lang="ja-JP" sz="1150" b="1" noProof="0">
                <a:solidFill>
                  <a:srgbClr val="10B981"/>
                </a:solidFill>
                <a:latin typeface="Hiragino Sans"/>
                <a:ea typeface="Hiragino Sans"/>
                <a:cs typeface="Hiragino Sans"/>
              </a:rPr>
              <a:t>02</a:t>
            </a:r>
          </a:p>
        </p:txBody>
      </p:sp>
      <p:sp>
        <p:nvSpPr>
          <p:cNvPr id="89" name="step-label">
            <a:extLst>
              <a:ext uri="{FF2B5EF4-FFF2-40B4-BE49-F238E27FC236}">
                <a16:creationId xmlns:a16="http://schemas.microsoft.com/office/drawing/2014/main" id="{FB65E177-1EBB-42EE-EB71-268753355E73}"/>
              </a:ext>
            </a:extLst>
          </p:cNvPr>
          <p:cNvSpPr>
            <a:spLocks noGrp="1"/>
          </p:cNvSpPr>
          <p:nvPr/>
        </p:nvSpPr>
        <p:spPr>
          <a:xfrm>
            <a:off x="2971800" y="3700000"/>
            <a:ext cx="1609725" cy="600000"/>
          </a:xfrm>
          <a:prstGeom prst="rect">
            <a:avLst/>
          </a:prstGeom>
          <a:noFill/>
          <a:ln w="0">
            <a:noFill/>
            <a:prstDash val="solid"/>
          </a:ln>
        </p:spPr>
        <p:txBody>
          <a:bodyPr lIns="0" tIns="0" rIns="0" bIns="0" anchor="t">
            <a:noAutofit/>
          </a:bodyPr>
          <a:lstStyle/>
          <a:p>
            <a:pPr algn="ctr">
              <a:buNone/>
              <a:defRPr sz="1250" b="1">
                <a:solidFill>
                  <a:srgbClr val="111827"/>
                </a:solidFill>
                <a:latin typeface="Hiragino Sans"/>
                <a:ea typeface="Hiragino Sans"/>
                <a:cs typeface="Hiragino Sans"/>
              </a:defRPr>
            </a:pPr>
            <a:r>
              <a:rPr lang="ja-JP" sz="1250" b="1" noProof="0">
                <a:solidFill>
                  <a:srgbClr val="111827"/>
                </a:solidFill>
                <a:latin typeface="Hiragino Sans"/>
                <a:ea typeface="Hiragino Sans"/>
                <a:cs typeface="Hiragino Sans"/>
              </a:rPr>
              <a:t>近傍サンプルを</a:t>
            </a:r>
          </a:p>
          <a:p>
            <a:pPr algn="ctr">
              <a:buNone/>
              <a:defRPr sz="1250" b="1">
                <a:solidFill>
                  <a:srgbClr val="111827"/>
                </a:solidFill>
                <a:latin typeface="Hiragino Sans"/>
                <a:ea typeface="Hiragino Sans"/>
                <a:cs typeface="Hiragino Sans"/>
              </a:defRPr>
            </a:pPr>
            <a:r>
              <a:rPr lang="ja-JP" sz="1250" b="1" noProof="0">
                <a:solidFill>
                  <a:srgbClr val="111827"/>
                </a:solidFill>
                <a:latin typeface="Hiragino Sans"/>
                <a:ea typeface="Hiragino Sans"/>
                <a:cs typeface="Hiragino Sans"/>
              </a:rPr>
              <a:t>生成する</a:t>
            </a:r>
          </a:p>
        </p:txBody>
      </p:sp>
      <p:sp>
        <p:nvSpPr>
          <p:cNvPr id="90" name="step-box">
            <a:extLst>
              <a:ext uri="{FF2B5EF4-FFF2-40B4-BE49-F238E27FC236}">
                <a16:creationId xmlns:a16="http://schemas.microsoft.com/office/drawing/2014/main" id="{6C90425F-CDFF-43B5-6D53-5D138814CC42}"/>
              </a:ext>
            </a:extLst>
          </p:cNvPr>
          <p:cNvSpPr>
            <a:spLocks noGrp="1"/>
          </p:cNvSpPr>
          <p:nvPr/>
        </p:nvSpPr>
        <p:spPr>
          <a:xfrm>
            <a:off x="5086350" y="3300000"/>
            <a:ext cx="1952625" cy="1050000"/>
          </a:xfrm>
          <a:prstGeom prst="rect">
            <a:avLst/>
          </a:prstGeom>
          <a:solidFill>
            <a:srgbClr val="D1FAE5"/>
          </a:solidFill>
          <a:ln w="19050">
            <a:solidFill>
              <a:srgbClr val="10B981"/>
            </a:solidFill>
            <a:prstDash val="solid"/>
          </a:ln>
        </p:spPr>
        <p:txBody>
          <a:bodyPr/>
          <a:lstStyle/>
          <a:p>
            <a:endParaRPr lang="ja-JP" noProof="0"/>
          </a:p>
        </p:txBody>
      </p:sp>
      <p:sp>
        <p:nvSpPr>
          <p:cNvPr id="91" name="step-num">
            <a:extLst>
              <a:ext uri="{FF2B5EF4-FFF2-40B4-BE49-F238E27FC236}">
                <a16:creationId xmlns:a16="http://schemas.microsoft.com/office/drawing/2014/main" id="{F5DF4A1A-CFF9-5AFF-1A93-D5A5234D46C0}"/>
              </a:ext>
            </a:extLst>
          </p:cNvPr>
          <p:cNvSpPr>
            <a:spLocks noGrp="1"/>
          </p:cNvSpPr>
          <p:nvPr/>
        </p:nvSpPr>
        <p:spPr>
          <a:xfrm>
            <a:off x="5257800" y="3400000"/>
            <a:ext cx="476250" cy="247650"/>
          </a:xfrm>
          <a:prstGeom prst="rect">
            <a:avLst/>
          </a:prstGeom>
          <a:noFill/>
          <a:ln w="0">
            <a:noFill/>
            <a:prstDash val="solid"/>
          </a:ln>
        </p:spPr>
        <p:txBody>
          <a:bodyPr lIns="0" tIns="0" rIns="0" bIns="0" anchor="t">
            <a:noAutofit/>
          </a:bodyPr>
          <a:lstStyle/>
          <a:p>
            <a:pPr algn="l">
              <a:buNone/>
              <a:defRPr sz="1150" b="1">
                <a:solidFill>
                  <a:srgbClr val="10B981"/>
                </a:solidFill>
                <a:latin typeface="Hiragino Sans"/>
                <a:ea typeface="Hiragino Sans"/>
                <a:cs typeface="Hiragino Sans"/>
              </a:defRPr>
            </a:pPr>
            <a:r>
              <a:rPr lang="ja-JP" sz="1150" b="1" noProof="0">
                <a:solidFill>
                  <a:srgbClr val="10B981"/>
                </a:solidFill>
                <a:latin typeface="Hiragino Sans"/>
                <a:ea typeface="Hiragino Sans"/>
                <a:cs typeface="Hiragino Sans"/>
              </a:rPr>
              <a:t>03</a:t>
            </a:r>
          </a:p>
        </p:txBody>
      </p:sp>
      <p:sp>
        <p:nvSpPr>
          <p:cNvPr id="92" name="step-label">
            <a:extLst>
              <a:ext uri="{FF2B5EF4-FFF2-40B4-BE49-F238E27FC236}">
                <a16:creationId xmlns:a16="http://schemas.microsoft.com/office/drawing/2014/main" id="{8ED1349A-53EA-E30B-9034-E3B1F175AE4C}"/>
              </a:ext>
            </a:extLst>
          </p:cNvPr>
          <p:cNvSpPr>
            <a:spLocks noGrp="1"/>
          </p:cNvSpPr>
          <p:nvPr/>
        </p:nvSpPr>
        <p:spPr>
          <a:xfrm>
            <a:off x="5257800" y="3700000"/>
            <a:ext cx="1609725" cy="600000"/>
          </a:xfrm>
          <a:prstGeom prst="rect">
            <a:avLst/>
          </a:prstGeom>
          <a:noFill/>
          <a:ln w="0">
            <a:noFill/>
            <a:prstDash val="solid"/>
          </a:ln>
        </p:spPr>
        <p:txBody>
          <a:bodyPr lIns="0" tIns="0" rIns="0" bIns="0" anchor="t">
            <a:noAutofit/>
          </a:bodyPr>
          <a:lstStyle/>
          <a:p>
            <a:pPr algn="ctr">
              <a:buNone/>
              <a:defRPr sz="1250" b="1">
                <a:solidFill>
                  <a:srgbClr val="111827"/>
                </a:solidFill>
                <a:latin typeface="Hiragino Sans"/>
                <a:ea typeface="Hiragino Sans"/>
                <a:cs typeface="Hiragino Sans"/>
              </a:defRPr>
            </a:pPr>
            <a:r>
              <a:rPr lang="ja-JP" sz="1250" b="1" noProof="0">
                <a:solidFill>
                  <a:srgbClr val="111827"/>
                </a:solidFill>
                <a:latin typeface="Hiragino Sans"/>
                <a:ea typeface="Hiragino Sans"/>
                <a:cs typeface="Hiragino Sans"/>
              </a:rPr>
              <a:t>q(対数比など)を</a:t>
            </a:r>
          </a:p>
          <a:p>
            <a:pPr algn="ctr">
              <a:buNone/>
              <a:defRPr sz="1250" b="1">
                <a:solidFill>
                  <a:srgbClr val="111827"/>
                </a:solidFill>
                <a:latin typeface="Hiragino Sans"/>
                <a:ea typeface="Hiragino Sans"/>
                <a:cs typeface="Hiragino Sans"/>
              </a:defRPr>
            </a:pPr>
            <a:r>
              <a:rPr lang="ja-JP" sz="1250" b="1" noProof="0">
                <a:solidFill>
                  <a:srgbClr val="111827"/>
                </a:solidFill>
                <a:latin typeface="Hiragino Sans"/>
                <a:ea typeface="Hiragino Sans"/>
                <a:cs typeface="Hiragino Sans"/>
              </a:rPr>
              <a:t>1回だけ回帰</a:t>
            </a:r>
          </a:p>
        </p:txBody>
      </p:sp>
      <p:sp>
        <p:nvSpPr>
          <p:cNvPr id="93" name="step-box">
            <a:extLst>
              <a:ext uri="{FF2B5EF4-FFF2-40B4-BE49-F238E27FC236}">
                <a16:creationId xmlns:a16="http://schemas.microsoft.com/office/drawing/2014/main" id="{3006F25E-6210-7FF0-D75B-2DC18270AF63}"/>
              </a:ext>
            </a:extLst>
          </p:cNvPr>
          <p:cNvSpPr>
            <a:spLocks noGrp="1"/>
          </p:cNvSpPr>
          <p:nvPr/>
        </p:nvSpPr>
        <p:spPr>
          <a:xfrm>
            <a:off x="7372350" y="3300000"/>
            <a:ext cx="1952625" cy="1050000"/>
          </a:xfrm>
          <a:prstGeom prst="rect">
            <a:avLst/>
          </a:prstGeom>
          <a:solidFill>
            <a:srgbClr val="D1FAE5"/>
          </a:solidFill>
          <a:ln w="19050">
            <a:solidFill>
              <a:srgbClr val="10B981"/>
            </a:solidFill>
            <a:prstDash val="solid"/>
          </a:ln>
        </p:spPr>
        <p:txBody>
          <a:bodyPr/>
          <a:lstStyle/>
          <a:p>
            <a:endParaRPr lang="ja-JP" noProof="0"/>
          </a:p>
        </p:txBody>
      </p:sp>
      <p:sp>
        <p:nvSpPr>
          <p:cNvPr id="94" name="step-num">
            <a:extLst>
              <a:ext uri="{FF2B5EF4-FFF2-40B4-BE49-F238E27FC236}">
                <a16:creationId xmlns:a16="http://schemas.microsoft.com/office/drawing/2014/main" id="{C4A88176-8399-331A-F925-3D44B634DDCA}"/>
              </a:ext>
            </a:extLst>
          </p:cNvPr>
          <p:cNvSpPr>
            <a:spLocks noGrp="1"/>
          </p:cNvSpPr>
          <p:nvPr/>
        </p:nvSpPr>
        <p:spPr>
          <a:xfrm>
            <a:off x="7543800" y="3400000"/>
            <a:ext cx="476250" cy="247650"/>
          </a:xfrm>
          <a:prstGeom prst="rect">
            <a:avLst/>
          </a:prstGeom>
          <a:noFill/>
          <a:ln w="0">
            <a:noFill/>
            <a:prstDash val="solid"/>
          </a:ln>
        </p:spPr>
        <p:txBody>
          <a:bodyPr lIns="0" tIns="0" rIns="0" bIns="0" anchor="t">
            <a:noAutofit/>
          </a:bodyPr>
          <a:lstStyle/>
          <a:p>
            <a:pPr algn="l">
              <a:buNone/>
              <a:defRPr sz="1150" b="1">
                <a:solidFill>
                  <a:srgbClr val="10B981"/>
                </a:solidFill>
                <a:latin typeface="Hiragino Sans"/>
                <a:ea typeface="Hiragino Sans"/>
                <a:cs typeface="Hiragino Sans"/>
              </a:defRPr>
            </a:pPr>
            <a:r>
              <a:rPr lang="ja-JP" sz="1150" b="1" noProof="0">
                <a:solidFill>
                  <a:srgbClr val="10B981"/>
                </a:solidFill>
                <a:latin typeface="Hiragino Sans"/>
                <a:ea typeface="Hiragino Sans"/>
                <a:cs typeface="Hiragino Sans"/>
              </a:rPr>
              <a:t>04</a:t>
            </a:r>
          </a:p>
        </p:txBody>
      </p:sp>
      <p:sp>
        <p:nvSpPr>
          <p:cNvPr id="95" name="step-label">
            <a:extLst>
              <a:ext uri="{FF2B5EF4-FFF2-40B4-BE49-F238E27FC236}">
                <a16:creationId xmlns:a16="http://schemas.microsoft.com/office/drawing/2014/main" id="{0A9C6FE7-42D0-1FC1-F2B8-387C05482D4E}"/>
              </a:ext>
            </a:extLst>
          </p:cNvPr>
          <p:cNvSpPr>
            <a:spLocks noGrp="1"/>
          </p:cNvSpPr>
          <p:nvPr/>
        </p:nvSpPr>
        <p:spPr>
          <a:xfrm>
            <a:off x="7543800" y="3700000"/>
            <a:ext cx="1609725" cy="600000"/>
          </a:xfrm>
          <a:prstGeom prst="rect">
            <a:avLst/>
          </a:prstGeom>
          <a:noFill/>
          <a:ln w="0">
            <a:noFill/>
            <a:prstDash val="solid"/>
          </a:ln>
        </p:spPr>
        <p:txBody>
          <a:bodyPr lIns="0" tIns="0" rIns="0" bIns="0" anchor="t">
            <a:noAutofit/>
          </a:bodyPr>
          <a:lstStyle/>
          <a:p>
            <a:pPr algn="ctr">
              <a:buNone/>
              <a:defRPr sz="1250" b="1">
                <a:solidFill>
                  <a:srgbClr val="111827"/>
                </a:solidFill>
                <a:latin typeface="Hiragino Sans"/>
                <a:ea typeface="Hiragino Sans"/>
                <a:cs typeface="Hiragino Sans"/>
              </a:defRPr>
            </a:pPr>
            <a:r>
              <a:rPr lang="ja-JP" sz="1250" b="1" noProof="0">
                <a:solidFill>
                  <a:srgbClr val="111827"/>
                </a:solidFill>
                <a:latin typeface="Hiragino Sans"/>
                <a:ea typeface="Hiragino Sans"/>
                <a:cs typeface="Hiragino Sans"/>
              </a:rPr>
              <a:t>特徴を1回だけ</a:t>
            </a:r>
          </a:p>
          <a:p>
            <a:pPr algn="ctr">
              <a:buNone/>
              <a:defRPr sz="1250" b="1">
                <a:solidFill>
                  <a:srgbClr val="111827"/>
                </a:solidFill>
                <a:latin typeface="Hiragino Sans"/>
                <a:ea typeface="Hiragino Sans"/>
                <a:cs typeface="Hiragino Sans"/>
              </a:defRPr>
            </a:pPr>
            <a:r>
              <a:rPr lang="ja-JP" sz="1250" b="1" noProof="0">
                <a:solidFill>
                  <a:srgbClr val="111827"/>
                </a:solidFill>
                <a:latin typeface="Hiragino Sans"/>
                <a:ea typeface="Hiragino Sans"/>
                <a:cs typeface="Hiragino Sans"/>
              </a:rPr>
              <a:t>K個選ぶ</a:t>
            </a:r>
          </a:p>
        </p:txBody>
      </p:sp>
      <p:sp>
        <p:nvSpPr>
          <p:cNvPr id="96" name="step-box">
            <a:extLst>
              <a:ext uri="{FF2B5EF4-FFF2-40B4-BE49-F238E27FC236}">
                <a16:creationId xmlns:a16="http://schemas.microsoft.com/office/drawing/2014/main" id="{4F12206D-F8F7-05B1-9F64-4642C05F1D67}"/>
              </a:ext>
            </a:extLst>
          </p:cNvPr>
          <p:cNvSpPr>
            <a:spLocks noGrp="1"/>
          </p:cNvSpPr>
          <p:nvPr/>
        </p:nvSpPr>
        <p:spPr>
          <a:xfrm>
            <a:off x="9658350" y="3300000"/>
            <a:ext cx="1952625" cy="1050000"/>
          </a:xfrm>
          <a:prstGeom prst="rect">
            <a:avLst/>
          </a:prstGeom>
          <a:solidFill>
            <a:srgbClr val="D1FAE5"/>
          </a:solidFill>
          <a:ln w="19050">
            <a:solidFill>
              <a:srgbClr val="10B981"/>
            </a:solidFill>
            <a:prstDash val="solid"/>
          </a:ln>
        </p:spPr>
        <p:txBody>
          <a:bodyPr/>
          <a:lstStyle/>
          <a:p>
            <a:endParaRPr lang="ja-JP" noProof="0"/>
          </a:p>
        </p:txBody>
      </p:sp>
      <p:sp>
        <p:nvSpPr>
          <p:cNvPr id="97" name="step-num">
            <a:extLst>
              <a:ext uri="{FF2B5EF4-FFF2-40B4-BE49-F238E27FC236}">
                <a16:creationId xmlns:a16="http://schemas.microsoft.com/office/drawing/2014/main" id="{3455EB09-7C39-F91A-4D8E-469F18B15BC0}"/>
              </a:ext>
            </a:extLst>
          </p:cNvPr>
          <p:cNvSpPr>
            <a:spLocks noGrp="1"/>
          </p:cNvSpPr>
          <p:nvPr/>
        </p:nvSpPr>
        <p:spPr>
          <a:xfrm>
            <a:off x="9829800" y="3400000"/>
            <a:ext cx="476250" cy="247650"/>
          </a:xfrm>
          <a:prstGeom prst="rect">
            <a:avLst/>
          </a:prstGeom>
          <a:noFill/>
          <a:ln w="0">
            <a:noFill/>
            <a:prstDash val="solid"/>
          </a:ln>
        </p:spPr>
        <p:txBody>
          <a:bodyPr lIns="0" tIns="0" rIns="0" bIns="0" anchor="t">
            <a:noAutofit/>
          </a:bodyPr>
          <a:lstStyle/>
          <a:p>
            <a:pPr algn="l">
              <a:buNone/>
              <a:defRPr sz="1150" b="1">
                <a:solidFill>
                  <a:srgbClr val="10B981"/>
                </a:solidFill>
                <a:latin typeface="Hiragino Sans"/>
                <a:ea typeface="Hiragino Sans"/>
                <a:cs typeface="Hiragino Sans"/>
              </a:defRPr>
            </a:pPr>
            <a:r>
              <a:rPr lang="ja-JP" sz="1150" b="1" noProof="0">
                <a:solidFill>
                  <a:srgbClr val="10B981"/>
                </a:solidFill>
                <a:latin typeface="Hiragino Sans"/>
                <a:ea typeface="Hiragino Sans"/>
                <a:cs typeface="Hiragino Sans"/>
              </a:rPr>
              <a:t>05</a:t>
            </a:r>
          </a:p>
        </p:txBody>
      </p:sp>
      <p:sp>
        <p:nvSpPr>
          <p:cNvPr id="98" name="step-label">
            <a:extLst>
              <a:ext uri="{FF2B5EF4-FFF2-40B4-BE49-F238E27FC236}">
                <a16:creationId xmlns:a16="http://schemas.microsoft.com/office/drawing/2014/main" id="{A60FF866-27C3-FF70-FA8D-7E4967B8E6F7}"/>
              </a:ext>
            </a:extLst>
          </p:cNvPr>
          <p:cNvSpPr>
            <a:spLocks noGrp="1"/>
          </p:cNvSpPr>
          <p:nvPr/>
        </p:nvSpPr>
        <p:spPr>
          <a:xfrm>
            <a:off x="9829800" y="3700000"/>
            <a:ext cx="1609725" cy="600000"/>
          </a:xfrm>
          <a:prstGeom prst="rect">
            <a:avLst/>
          </a:prstGeom>
          <a:noFill/>
          <a:ln w="0">
            <a:noFill/>
            <a:prstDash val="solid"/>
          </a:ln>
        </p:spPr>
        <p:txBody>
          <a:bodyPr lIns="0" tIns="0" rIns="0" bIns="0" anchor="t">
            <a:noAutofit/>
          </a:bodyPr>
          <a:lstStyle/>
          <a:p>
            <a:pPr algn="ctr">
              <a:buNone/>
              <a:defRPr sz="1250" b="1">
                <a:solidFill>
                  <a:srgbClr val="111827"/>
                </a:solidFill>
                <a:latin typeface="Hiragino Sans"/>
                <a:ea typeface="Hiragino Sans"/>
                <a:cs typeface="Hiragino Sans"/>
              </a:defRPr>
            </a:pPr>
            <a:r>
              <a:rPr lang="ja-JP" sz="1250" b="1" noProof="0">
                <a:solidFill>
                  <a:srgbClr val="111827"/>
                </a:solidFill>
                <a:latin typeface="Hiragino Sans"/>
                <a:ea typeface="Hiragino Sans"/>
                <a:cs typeface="Hiragino Sans"/>
              </a:rPr>
              <a:t>AとBを分ける</a:t>
            </a:r>
          </a:p>
          <a:p>
            <a:pPr algn="ctr">
              <a:buNone/>
              <a:defRPr sz="1250" b="1">
                <a:solidFill>
                  <a:srgbClr val="111827"/>
                </a:solidFill>
                <a:latin typeface="Hiragino Sans"/>
                <a:ea typeface="Hiragino Sans"/>
                <a:cs typeface="Hiragino Sans"/>
              </a:defRPr>
            </a:pPr>
            <a:r>
              <a:rPr lang="ja-JP" sz="1250" b="1" noProof="0">
                <a:solidFill>
                  <a:srgbClr val="111827"/>
                </a:solidFill>
                <a:latin typeface="Hiragino Sans"/>
                <a:ea typeface="Hiragino Sans"/>
                <a:cs typeface="Hiragino Sans"/>
              </a:rPr>
              <a:t>説明が1つ</a:t>
            </a:r>
          </a:p>
        </p:txBody>
      </p:sp>
      <p:cxnSp>
        <p:nvCxnSpPr>
          <p:cNvPr id="103" name="divider">
            <a:extLst>
              <a:ext uri="{FF2B5EF4-FFF2-40B4-BE49-F238E27FC236}">
                <a16:creationId xmlns:a16="http://schemas.microsoft.com/office/drawing/2014/main" id="{8F2B9C08-9602-FD88-3D6A-D97E194A8D83}"/>
              </a:ext>
            </a:extLst>
          </p:cNvPr>
          <p:cNvCxnSpPr/>
          <p:nvPr/>
        </p:nvCxnSpPr>
        <p:spPr>
          <a:xfrm>
            <a:off x="514350" y="4500000"/>
            <a:ext cx="11049000" cy="0"/>
          </a:xfrm>
          <a:prstGeom prst="straightConnector1">
            <a:avLst/>
          </a:prstGeom>
          <a:ln w="19050">
            <a:solidFill>
              <a:srgbClr val="CBD5E1"/>
            </a:solidFill>
            <a:prstDash val="solid"/>
          </a:ln>
        </p:spPr>
      </p:cxnSp>
      <p:sp>
        <p:nvSpPr>
          <p:cNvPr id="104" name="diff1-title">
            <a:extLst>
              <a:ext uri="{FF2B5EF4-FFF2-40B4-BE49-F238E27FC236}">
                <a16:creationId xmlns:a16="http://schemas.microsoft.com/office/drawing/2014/main" id="{5B8051EC-AE21-11BF-BEF9-5B416611EA61}"/>
              </a:ext>
            </a:extLst>
          </p:cNvPr>
          <p:cNvSpPr>
            <a:spLocks noGrp="1"/>
          </p:cNvSpPr>
          <p:nvPr/>
        </p:nvSpPr>
        <p:spPr>
          <a:xfrm>
            <a:off x="762000" y="4650000"/>
            <a:ext cx="5000000" cy="300000"/>
          </a:xfrm>
          <a:prstGeom prst="rect">
            <a:avLst/>
          </a:prstGeom>
          <a:noFill/>
          <a:ln w="0">
            <a:noFill/>
            <a:prstDash val="solid"/>
          </a:ln>
        </p:spPr>
        <p:txBody>
          <a:bodyPr lIns="0" tIns="0" rIns="0" bIns="0" anchor="t">
            <a:noAutofit/>
          </a:bodyPr>
          <a:lstStyle/>
          <a:p>
            <a:pPr algn="l">
              <a:buNone/>
              <a:defRPr sz="1350" b="1">
                <a:solidFill>
                  <a:srgbClr val="17233D"/>
                </a:solidFill>
                <a:latin typeface="Hiragino Sans"/>
                <a:ea typeface="Hiragino Sans"/>
                <a:cs typeface="Hiragino Sans"/>
              </a:defRPr>
            </a:pPr>
            <a:r>
              <a:rPr lang="ja-JP" sz="1350" b="1" noProof="0">
                <a:solidFill>
                  <a:srgbClr val="17233D"/>
                </a:solidFill>
                <a:latin typeface="Hiragino Sans"/>
                <a:ea typeface="Hiragino Sans"/>
                <a:cs typeface="Hiragino Sans"/>
              </a:rPr>
              <a:t>① 回帰する対象が違う</a:t>
            </a:r>
          </a:p>
        </p:txBody>
      </p:sp>
      <p:sp>
        <p:nvSpPr>
          <p:cNvPr id="105" name="diff1-desc">
            <a:extLst>
              <a:ext uri="{FF2B5EF4-FFF2-40B4-BE49-F238E27FC236}">
                <a16:creationId xmlns:a16="http://schemas.microsoft.com/office/drawing/2014/main" id="{F15A8B95-68CB-5EC3-04F8-8FD6886D8C49}"/>
              </a:ext>
            </a:extLst>
          </p:cNvPr>
          <p:cNvSpPr>
            <a:spLocks noGrp="1"/>
          </p:cNvSpPr>
          <p:nvPr/>
        </p:nvSpPr>
        <p:spPr>
          <a:xfrm>
            <a:off x="762000" y="4990000"/>
            <a:ext cx="5000000" cy="600000"/>
          </a:xfrm>
          <a:prstGeom prst="rect">
            <a:avLst/>
          </a:prstGeom>
          <a:noFill/>
          <a:ln w="0">
            <a:noFill/>
            <a:prstDash val="solid"/>
          </a:ln>
        </p:spPr>
        <p:txBody>
          <a:bodyPr lIns="0" tIns="0" rIns="0" bIns="0" anchor="t">
            <a:noAutofit/>
          </a:bodyPr>
          <a:lstStyle/>
          <a:p>
            <a:pPr algn="l">
              <a:buNone/>
              <a:defRPr sz="1150" b="0">
                <a:solidFill>
                  <a:srgbClr val="64748B"/>
                </a:solidFill>
                <a:latin typeface="Hiragino Sans"/>
                <a:ea typeface="Hiragino Sans"/>
                <a:cs typeface="Hiragino Sans"/>
              </a:defRPr>
            </a:pPr>
            <a:r>
              <a:rPr lang="ja-JP" sz="1150" b="0" noProof="0">
                <a:solidFill>
                  <a:srgbClr val="64748B"/>
                </a:solidFill>
                <a:latin typeface="Hiragino Sans"/>
                <a:ea typeface="Hiragino Sans"/>
                <a:cs typeface="Hiragino Sans"/>
              </a:rPr>
              <a:t>OVR：各クラスの確率をそれぞれ回帰</a:t>
            </a:r>
          </a:p>
          <a:p>
            <a:pPr algn="l">
              <a:buNone/>
              <a:defRPr sz="1150" b="0">
                <a:solidFill>
                  <a:srgbClr val="64748B"/>
                </a:solidFill>
                <a:latin typeface="Hiragino Sans"/>
                <a:ea typeface="Hiragino Sans"/>
                <a:cs typeface="Hiragino Sans"/>
              </a:defRPr>
            </a:pPr>
            <a:r>
              <a:rPr lang="ja-JP" sz="1150" b="0" noProof="0">
                <a:solidFill>
                  <a:srgbClr val="64748B"/>
                </a:solidFill>
                <a:latin typeface="Hiragino Sans"/>
                <a:ea typeface="Hiragino Sans"/>
                <a:cs typeface="Hiragino Sans"/>
              </a:rPr>
              <a:t>提案：2クラスの確率比 q（または対数比）を回帰</a:t>
            </a:r>
          </a:p>
        </p:txBody>
      </p:sp>
      <p:sp>
        <p:nvSpPr>
          <p:cNvPr id="106" name="diff2-title">
            <a:extLst>
              <a:ext uri="{FF2B5EF4-FFF2-40B4-BE49-F238E27FC236}">
                <a16:creationId xmlns:a16="http://schemas.microsoft.com/office/drawing/2014/main" id="{A1E2E2E4-F630-5C06-165F-64642B86D613}"/>
              </a:ext>
            </a:extLst>
          </p:cNvPr>
          <p:cNvSpPr>
            <a:spLocks noGrp="1"/>
          </p:cNvSpPr>
          <p:nvPr/>
        </p:nvSpPr>
        <p:spPr>
          <a:xfrm>
            <a:off x="6200000" y="4650000"/>
            <a:ext cx="5000000" cy="300000"/>
          </a:xfrm>
          <a:prstGeom prst="rect">
            <a:avLst/>
          </a:prstGeom>
          <a:noFill/>
          <a:ln w="0">
            <a:noFill/>
            <a:prstDash val="solid"/>
          </a:ln>
        </p:spPr>
        <p:txBody>
          <a:bodyPr lIns="0" tIns="0" rIns="0" bIns="0" anchor="t">
            <a:noAutofit/>
          </a:bodyPr>
          <a:lstStyle/>
          <a:p>
            <a:pPr algn="l">
              <a:buNone/>
              <a:defRPr sz="1350" b="1">
                <a:solidFill>
                  <a:srgbClr val="17233D"/>
                </a:solidFill>
                <a:latin typeface="Hiragino Sans"/>
                <a:ea typeface="Hiragino Sans"/>
                <a:cs typeface="Hiragino Sans"/>
              </a:defRPr>
            </a:pPr>
            <a:r>
              <a:rPr lang="ja-JP" sz="1350" b="1" noProof="0">
                <a:solidFill>
                  <a:srgbClr val="17233D"/>
                </a:solidFill>
                <a:latin typeface="Hiragino Sans"/>
                <a:ea typeface="Hiragino Sans"/>
                <a:cs typeface="Hiragino Sans"/>
              </a:rPr>
              <a:t>② できる説明の数が違う</a:t>
            </a:r>
          </a:p>
        </p:txBody>
      </p:sp>
      <p:sp>
        <p:nvSpPr>
          <p:cNvPr id="107" name="diff2-desc">
            <a:extLst>
              <a:ext uri="{FF2B5EF4-FFF2-40B4-BE49-F238E27FC236}">
                <a16:creationId xmlns:a16="http://schemas.microsoft.com/office/drawing/2014/main" id="{AB6B1FE5-9207-E84C-F246-10758C4C042D}"/>
              </a:ext>
            </a:extLst>
          </p:cNvPr>
          <p:cNvSpPr>
            <a:spLocks noGrp="1"/>
          </p:cNvSpPr>
          <p:nvPr/>
        </p:nvSpPr>
        <p:spPr>
          <a:xfrm>
            <a:off x="6200000" y="4990000"/>
            <a:ext cx="5000000" cy="600000"/>
          </a:xfrm>
          <a:prstGeom prst="rect">
            <a:avLst/>
          </a:prstGeom>
          <a:noFill/>
          <a:ln w="0">
            <a:noFill/>
            <a:prstDash val="solid"/>
          </a:ln>
        </p:spPr>
        <p:txBody>
          <a:bodyPr lIns="0" tIns="0" rIns="0" bIns="0" anchor="t">
            <a:noAutofit/>
          </a:bodyPr>
          <a:lstStyle/>
          <a:p>
            <a:pPr algn="l">
              <a:buNone/>
              <a:defRPr sz="1150" b="0">
                <a:solidFill>
                  <a:srgbClr val="64748B"/>
                </a:solidFill>
                <a:latin typeface="Hiragino Sans"/>
                <a:ea typeface="Hiragino Sans"/>
                <a:cs typeface="Hiragino Sans"/>
              </a:defRPr>
            </a:pPr>
            <a:r>
              <a:rPr lang="ja-JP" sz="1150" b="0" noProof="0">
                <a:solidFill>
                  <a:srgbClr val="64748B"/>
                </a:solidFill>
                <a:latin typeface="Hiragino Sans"/>
                <a:ea typeface="Hiragino Sans"/>
                <a:cs typeface="Hiragino Sans"/>
              </a:rPr>
              <a:t>OVR：クラスの数だけ（C個）の説明ができる</a:t>
            </a:r>
          </a:p>
          <a:p>
            <a:pPr algn="l">
              <a:buNone/>
              <a:defRPr sz="1150" b="0">
                <a:solidFill>
                  <a:srgbClr val="64748B"/>
                </a:solidFill>
                <a:latin typeface="Hiragino Sans"/>
                <a:ea typeface="Hiragino Sans"/>
                <a:cs typeface="Hiragino Sans"/>
              </a:defRPr>
            </a:pPr>
            <a:r>
              <a:rPr lang="ja-JP" sz="1150" b="0" noProof="0">
                <a:solidFill>
                  <a:srgbClr val="64748B"/>
                </a:solidFill>
                <a:latin typeface="Hiragino Sans"/>
                <a:ea typeface="Hiragino Sans"/>
                <a:cs typeface="Hiragino Sans"/>
              </a:rPr>
              <a:t>提案：AとBを区別する説明が常に1つ</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937429-54F9-064E-F0CB-79A3FFC9E199}"/>
            </a:ext>
          </a:extLst>
        </p:cNvPr>
        <p:cNvGrpSpPr/>
        <p:nvPr/>
      </p:nvGrpSpPr>
      <p:grpSpPr>
        <a:xfrm>
          <a:off x="0" y="0"/>
          <a:ext cx="0" cy="0"/>
          <a:chOff x="0" y="0"/>
          <a:chExt cx="0" cy="0"/>
        </a:xfrm>
      </p:grpSpPr>
      <p:sp>
        <p:nvSpPr>
          <p:cNvPr id="2" name="accent-bar">
            <a:extLst>
              <a:ext uri="{FF2B5EF4-FFF2-40B4-BE49-F238E27FC236}">
                <a16:creationId xmlns:a16="http://schemas.microsoft.com/office/drawing/2014/main" id="{AAA851A5-44E8-1BBB-AF2B-9212309EEFD3}"/>
              </a:ext>
            </a:extLst>
          </p:cNvPr>
          <p:cNvSpPr>
            <a:spLocks noGrp="1"/>
          </p:cNvSpPr>
          <p:nvPr/>
        </p:nvSpPr>
        <p:spPr>
          <a:xfrm>
            <a:off x="514350" y="409575"/>
            <a:ext cx="114300" cy="476250"/>
          </a:xfrm>
          <a:prstGeom prst="rect">
            <a:avLst/>
          </a:prstGeom>
          <a:solidFill>
            <a:srgbClr val="1479C9"/>
          </a:solidFill>
          <a:ln w="0">
            <a:noFill/>
            <a:prstDash val="solid"/>
          </a:ln>
        </p:spPr>
        <p:txBody>
          <a:bodyPr/>
          <a:lstStyle/>
          <a:p>
            <a:endParaRPr/>
          </a:p>
        </p:txBody>
      </p:sp>
      <p:sp>
        <p:nvSpPr>
          <p:cNvPr id="3" name="title">
            <a:extLst>
              <a:ext uri="{FF2B5EF4-FFF2-40B4-BE49-F238E27FC236}">
                <a16:creationId xmlns:a16="http://schemas.microsoft.com/office/drawing/2014/main" id="{B377DD97-5DE6-ADDB-0B78-66A6CC488E6B}"/>
              </a:ext>
            </a:extLst>
          </p:cNvPr>
          <p:cNvSpPr>
            <a:spLocks noGrp="1"/>
          </p:cNvSpPr>
          <p:nvPr/>
        </p:nvSpPr>
        <p:spPr>
          <a:xfrm>
            <a:off x="762000" y="342900"/>
            <a:ext cx="10668000" cy="476250"/>
          </a:xfrm>
          <a:prstGeom prst="rect">
            <a:avLst/>
          </a:prstGeom>
          <a:noFill/>
          <a:ln w="0">
            <a:noFill/>
            <a:prstDash val="solid"/>
          </a:ln>
        </p:spPr>
        <p:txBody>
          <a:bodyPr lIns="0" tIns="0" rIns="0" bIns="0" anchor="ctr">
            <a:noAutofit/>
          </a:bodyPr>
          <a:lstStyle/>
          <a:p>
            <a:pPr algn="l">
              <a:buNone/>
              <a:defRPr sz="2550" b="1">
                <a:solidFill>
                  <a:srgbClr val="17233D"/>
                </a:solidFill>
                <a:latin typeface="Hiragino Sans"/>
                <a:ea typeface="Hiragino Sans"/>
                <a:cs typeface="Hiragino Sans"/>
              </a:defRPr>
            </a:pPr>
            <a:r>
              <a:rPr sz="2550" b="1">
                <a:solidFill>
                  <a:srgbClr val="17233D"/>
                </a:solidFill>
                <a:latin typeface="Hiragino Sans"/>
                <a:ea typeface="Hiragino Sans"/>
                <a:cs typeface="Hiragino Sans"/>
              </a:rPr>
              <a:t>提案手法の全体像：OVRとの違い</a:t>
            </a:r>
          </a:p>
        </p:txBody>
      </p:sp>
      <p:sp>
        <p:nvSpPr>
          <p:cNvPr id="27" name="prop-label">
            <a:extLst>
              <a:ext uri="{FF2B5EF4-FFF2-40B4-BE49-F238E27FC236}">
                <a16:creationId xmlns:a16="http://schemas.microsoft.com/office/drawing/2014/main" id="{65FA73CB-AD93-0113-A910-0CB73CF27289}"/>
              </a:ext>
            </a:extLst>
          </p:cNvPr>
          <p:cNvSpPr>
            <a:spLocks noGrp="1"/>
          </p:cNvSpPr>
          <p:nvPr/>
        </p:nvSpPr>
        <p:spPr>
          <a:xfrm>
            <a:off x="514350" y="1122051"/>
            <a:ext cx="6000000" cy="300000"/>
          </a:xfrm>
          <a:prstGeom prst="rect">
            <a:avLst/>
          </a:prstGeom>
          <a:noFill/>
          <a:ln w="0">
            <a:noFill/>
            <a:prstDash val="solid"/>
          </a:ln>
        </p:spPr>
        <p:txBody>
          <a:bodyPr lIns="0" tIns="0" rIns="0" bIns="0" anchor="t">
            <a:noAutofit/>
          </a:bodyPr>
          <a:lstStyle/>
          <a:p>
            <a:pPr algn="l">
              <a:buNone/>
              <a:defRPr sz="1500" b="1">
                <a:solidFill>
                  <a:srgbClr val="10B981"/>
                </a:solidFill>
                <a:latin typeface="Hiragino Sans"/>
                <a:ea typeface="Hiragino Sans"/>
                <a:cs typeface="Hiragino Sans"/>
              </a:defRPr>
            </a:pPr>
            <a:r>
              <a:rPr sz="1500" b="1">
                <a:solidFill>
                  <a:srgbClr val="10B981"/>
                </a:solidFill>
                <a:latin typeface="Hiragino Sans"/>
                <a:ea typeface="Hiragino Sans"/>
                <a:cs typeface="Hiragino Sans"/>
              </a:rPr>
              <a:t>提案：予測 Top-1 / Top-2 に絞る</a:t>
            </a:r>
          </a:p>
        </p:txBody>
      </p:sp>
      <p:sp>
        <p:nvSpPr>
          <p:cNvPr id="28" name="step-box">
            <a:extLst>
              <a:ext uri="{FF2B5EF4-FFF2-40B4-BE49-F238E27FC236}">
                <a16:creationId xmlns:a16="http://schemas.microsoft.com/office/drawing/2014/main" id="{74544560-BACD-12D9-BA7A-3BCD816F18D3}"/>
              </a:ext>
            </a:extLst>
          </p:cNvPr>
          <p:cNvSpPr>
            <a:spLocks noGrp="1"/>
          </p:cNvSpPr>
          <p:nvPr/>
        </p:nvSpPr>
        <p:spPr>
          <a:xfrm>
            <a:off x="514350" y="1492051"/>
            <a:ext cx="1952625" cy="1050000"/>
          </a:xfrm>
          <a:prstGeom prst="rect">
            <a:avLst/>
          </a:prstGeom>
          <a:solidFill>
            <a:srgbClr val="D1FAE5">
              <a:alpha val="34260"/>
            </a:srgbClr>
          </a:solidFill>
          <a:ln w="19050">
            <a:solidFill>
              <a:srgbClr val="10B981">
                <a:alpha val="49000"/>
              </a:srgbClr>
            </a:solidFill>
            <a:prstDash val="solid"/>
          </a:ln>
        </p:spPr>
        <p:txBody>
          <a:bodyPr/>
          <a:lstStyle/>
          <a:p>
            <a:endParaRPr/>
          </a:p>
        </p:txBody>
      </p:sp>
      <p:sp>
        <p:nvSpPr>
          <p:cNvPr id="29" name="step-num">
            <a:extLst>
              <a:ext uri="{FF2B5EF4-FFF2-40B4-BE49-F238E27FC236}">
                <a16:creationId xmlns:a16="http://schemas.microsoft.com/office/drawing/2014/main" id="{3AD8E69F-2402-6DE0-5316-8C8946BEC6F7}"/>
              </a:ext>
            </a:extLst>
          </p:cNvPr>
          <p:cNvSpPr>
            <a:spLocks noGrp="1"/>
          </p:cNvSpPr>
          <p:nvPr/>
        </p:nvSpPr>
        <p:spPr>
          <a:xfrm>
            <a:off x="685800" y="1592051"/>
            <a:ext cx="476250" cy="247650"/>
          </a:xfrm>
          <a:prstGeom prst="rect">
            <a:avLst/>
          </a:prstGeom>
          <a:noFill/>
          <a:ln w="0">
            <a:noFill/>
            <a:prstDash val="solid"/>
          </a:ln>
        </p:spPr>
        <p:txBody>
          <a:bodyPr lIns="0" tIns="0" rIns="0" bIns="0" anchor="t">
            <a:noAutofit/>
          </a:bodyPr>
          <a:lstStyle/>
          <a:p>
            <a:pPr algn="l">
              <a:buNone/>
              <a:defRPr sz="1150" b="1">
                <a:solidFill>
                  <a:srgbClr val="10B981"/>
                </a:solidFill>
                <a:latin typeface="Hiragino Sans"/>
                <a:ea typeface="Hiragino Sans"/>
                <a:cs typeface="Hiragino Sans"/>
              </a:defRPr>
            </a:pPr>
            <a:r>
              <a:rPr sz="1150" b="1">
                <a:solidFill>
                  <a:schemeClr val="bg1">
                    <a:lumMod val="85000"/>
                  </a:schemeClr>
                </a:solidFill>
                <a:latin typeface="Hiragino Sans"/>
                <a:ea typeface="Hiragino Sans"/>
                <a:cs typeface="Hiragino Sans"/>
              </a:rPr>
              <a:t>01</a:t>
            </a:r>
          </a:p>
        </p:txBody>
      </p:sp>
      <p:sp>
        <p:nvSpPr>
          <p:cNvPr id="30" name="step-label">
            <a:extLst>
              <a:ext uri="{FF2B5EF4-FFF2-40B4-BE49-F238E27FC236}">
                <a16:creationId xmlns:a16="http://schemas.microsoft.com/office/drawing/2014/main" id="{B2CA8C73-5B68-3C88-D245-F1954D55505A}"/>
              </a:ext>
            </a:extLst>
          </p:cNvPr>
          <p:cNvSpPr>
            <a:spLocks noGrp="1"/>
          </p:cNvSpPr>
          <p:nvPr/>
        </p:nvSpPr>
        <p:spPr>
          <a:xfrm>
            <a:off x="685800" y="1892051"/>
            <a:ext cx="1609725" cy="600000"/>
          </a:xfrm>
          <a:prstGeom prst="rect">
            <a:avLst/>
          </a:prstGeom>
          <a:noFill/>
          <a:ln w="0">
            <a:noFill/>
            <a:prstDash val="solid"/>
          </a:ln>
        </p:spPr>
        <p:txBody>
          <a:bodyPr lIns="0" tIns="0" rIns="0" bIns="0" anchor="t">
            <a:noAutofit/>
          </a:bodyPr>
          <a:lstStyle/>
          <a:p>
            <a:pPr algn="ctr">
              <a:buNone/>
              <a:defRPr sz="1250" b="1">
                <a:solidFill>
                  <a:srgbClr val="111827"/>
                </a:solidFill>
                <a:latin typeface="Hiragino Sans"/>
                <a:ea typeface="Hiragino Sans"/>
                <a:cs typeface="Hiragino Sans"/>
              </a:defRPr>
            </a:pPr>
            <a:r>
              <a:rPr sz="1250" b="1">
                <a:solidFill>
                  <a:schemeClr val="bg1">
                    <a:lumMod val="85000"/>
                  </a:schemeClr>
                </a:solidFill>
                <a:latin typeface="Hiragino Sans"/>
                <a:ea typeface="Hiragino Sans"/>
                <a:cs typeface="Hiragino Sans"/>
              </a:rPr>
              <a:t>予測1位・2位を</a:t>
            </a:r>
          </a:p>
          <a:p>
            <a:pPr algn="ctr">
              <a:buNone/>
              <a:defRPr sz="1250" b="1">
                <a:solidFill>
                  <a:srgbClr val="111827"/>
                </a:solidFill>
                <a:latin typeface="Hiragino Sans"/>
                <a:ea typeface="Hiragino Sans"/>
                <a:cs typeface="Hiragino Sans"/>
              </a:defRPr>
            </a:pPr>
            <a:r>
              <a:rPr sz="1250" b="1">
                <a:solidFill>
                  <a:schemeClr val="bg1">
                    <a:lumMod val="85000"/>
                  </a:schemeClr>
                </a:solidFill>
                <a:latin typeface="Hiragino Sans"/>
                <a:ea typeface="Hiragino Sans"/>
                <a:cs typeface="Hiragino Sans"/>
              </a:rPr>
              <a:t>選ぶ</a:t>
            </a:r>
          </a:p>
        </p:txBody>
      </p:sp>
      <p:sp>
        <p:nvSpPr>
          <p:cNvPr id="31" name="step-box">
            <a:extLst>
              <a:ext uri="{FF2B5EF4-FFF2-40B4-BE49-F238E27FC236}">
                <a16:creationId xmlns:a16="http://schemas.microsoft.com/office/drawing/2014/main" id="{D8F7DF40-EE57-0524-BD18-85A9CF24506D}"/>
              </a:ext>
            </a:extLst>
          </p:cNvPr>
          <p:cNvSpPr>
            <a:spLocks noGrp="1"/>
          </p:cNvSpPr>
          <p:nvPr/>
        </p:nvSpPr>
        <p:spPr>
          <a:xfrm>
            <a:off x="2800350" y="1492051"/>
            <a:ext cx="1952625" cy="1050000"/>
          </a:xfrm>
          <a:prstGeom prst="rect">
            <a:avLst/>
          </a:prstGeom>
          <a:solidFill>
            <a:srgbClr val="D1FAE5">
              <a:alpha val="34260"/>
            </a:srgbClr>
          </a:solidFill>
          <a:ln w="19050">
            <a:solidFill>
              <a:srgbClr val="10B981">
                <a:alpha val="49000"/>
              </a:srgbClr>
            </a:solidFill>
            <a:prstDash val="solid"/>
          </a:ln>
        </p:spPr>
        <p:txBody>
          <a:bodyPr/>
          <a:lstStyle/>
          <a:p>
            <a:endParaRPr/>
          </a:p>
        </p:txBody>
      </p:sp>
      <p:sp>
        <p:nvSpPr>
          <p:cNvPr id="32" name="step-num">
            <a:extLst>
              <a:ext uri="{FF2B5EF4-FFF2-40B4-BE49-F238E27FC236}">
                <a16:creationId xmlns:a16="http://schemas.microsoft.com/office/drawing/2014/main" id="{2BE54151-6799-2D23-8354-ABBF5DCA05C7}"/>
              </a:ext>
            </a:extLst>
          </p:cNvPr>
          <p:cNvSpPr>
            <a:spLocks noGrp="1"/>
          </p:cNvSpPr>
          <p:nvPr/>
        </p:nvSpPr>
        <p:spPr>
          <a:xfrm>
            <a:off x="2971800" y="1592051"/>
            <a:ext cx="476250" cy="247650"/>
          </a:xfrm>
          <a:prstGeom prst="rect">
            <a:avLst/>
          </a:prstGeom>
          <a:noFill/>
          <a:ln w="0">
            <a:noFill/>
            <a:prstDash val="solid"/>
          </a:ln>
        </p:spPr>
        <p:txBody>
          <a:bodyPr lIns="0" tIns="0" rIns="0" bIns="0" anchor="t">
            <a:noAutofit/>
          </a:bodyPr>
          <a:lstStyle/>
          <a:p>
            <a:pPr algn="l">
              <a:buNone/>
              <a:defRPr sz="1150" b="1">
                <a:solidFill>
                  <a:srgbClr val="10B981"/>
                </a:solidFill>
                <a:latin typeface="Hiragino Sans"/>
                <a:ea typeface="Hiragino Sans"/>
                <a:cs typeface="Hiragino Sans"/>
              </a:defRPr>
            </a:pPr>
            <a:r>
              <a:rPr sz="1150" b="1">
                <a:solidFill>
                  <a:schemeClr val="bg1">
                    <a:lumMod val="85000"/>
                  </a:schemeClr>
                </a:solidFill>
                <a:latin typeface="Hiragino Sans"/>
                <a:ea typeface="Hiragino Sans"/>
                <a:cs typeface="Hiragino Sans"/>
              </a:rPr>
              <a:t>02</a:t>
            </a:r>
          </a:p>
        </p:txBody>
      </p:sp>
      <p:sp>
        <p:nvSpPr>
          <p:cNvPr id="33" name="step-label">
            <a:extLst>
              <a:ext uri="{FF2B5EF4-FFF2-40B4-BE49-F238E27FC236}">
                <a16:creationId xmlns:a16="http://schemas.microsoft.com/office/drawing/2014/main" id="{E2606E6C-9BF8-9671-D608-BBB341465601}"/>
              </a:ext>
            </a:extLst>
          </p:cNvPr>
          <p:cNvSpPr>
            <a:spLocks noGrp="1"/>
          </p:cNvSpPr>
          <p:nvPr/>
        </p:nvSpPr>
        <p:spPr>
          <a:xfrm>
            <a:off x="2971800" y="1892051"/>
            <a:ext cx="1609725" cy="600000"/>
          </a:xfrm>
          <a:prstGeom prst="rect">
            <a:avLst/>
          </a:prstGeom>
          <a:noFill/>
          <a:ln w="0">
            <a:noFill/>
            <a:prstDash val="solid"/>
          </a:ln>
        </p:spPr>
        <p:txBody>
          <a:bodyPr lIns="0" tIns="0" rIns="0" bIns="0" anchor="t">
            <a:noAutofit/>
          </a:bodyPr>
          <a:lstStyle/>
          <a:p>
            <a:pPr algn="ctr">
              <a:buNone/>
              <a:defRPr sz="1250" b="1">
                <a:solidFill>
                  <a:srgbClr val="111827"/>
                </a:solidFill>
                <a:latin typeface="Hiragino Sans"/>
                <a:ea typeface="Hiragino Sans"/>
                <a:cs typeface="Hiragino Sans"/>
              </a:defRPr>
            </a:pPr>
            <a:r>
              <a:rPr sz="1250" b="1">
                <a:solidFill>
                  <a:schemeClr val="bg1">
                    <a:lumMod val="85000"/>
                  </a:schemeClr>
                </a:solidFill>
                <a:latin typeface="Hiragino Sans"/>
                <a:ea typeface="Hiragino Sans"/>
                <a:cs typeface="Hiragino Sans"/>
              </a:rPr>
              <a:t>近傍サンプルを</a:t>
            </a:r>
          </a:p>
          <a:p>
            <a:pPr algn="ctr">
              <a:buNone/>
              <a:defRPr sz="1250" b="1">
                <a:solidFill>
                  <a:srgbClr val="111827"/>
                </a:solidFill>
                <a:latin typeface="Hiragino Sans"/>
                <a:ea typeface="Hiragino Sans"/>
                <a:cs typeface="Hiragino Sans"/>
              </a:defRPr>
            </a:pPr>
            <a:r>
              <a:rPr sz="1250" b="1">
                <a:solidFill>
                  <a:schemeClr val="bg1">
                    <a:lumMod val="85000"/>
                  </a:schemeClr>
                </a:solidFill>
                <a:latin typeface="Hiragino Sans"/>
                <a:ea typeface="Hiragino Sans"/>
                <a:cs typeface="Hiragino Sans"/>
              </a:rPr>
              <a:t>生成する</a:t>
            </a:r>
          </a:p>
        </p:txBody>
      </p:sp>
      <p:sp>
        <p:nvSpPr>
          <p:cNvPr id="34" name="step-box">
            <a:extLst>
              <a:ext uri="{FF2B5EF4-FFF2-40B4-BE49-F238E27FC236}">
                <a16:creationId xmlns:a16="http://schemas.microsoft.com/office/drawing/2014/main" id="{870DCECC-80D8-4901-05E2-1BFC5E4B48C5}"/>
              </a:ext>
            </a:extLst>
          </p:cNvPr>
          <p:cNvSpPr>
            <a:spLocks noGrp="1"/>
          </p:cNvSpPr>
          <p:nvPr/>
        </p:nvSpPr>
        <p:spPr>
          <a:xfrm>
            <a:off x="5086350" y="1492051"/>
            <a:ext cx="1952625" cy="1050000"/>
          </a:xfrm>
          <a:prstGeom prst="rect">
            <a:avLst/>
          </a:prstGeom>
          <a:solidFill>
            <a:srgbClr val="D1FAE5">
              <a:alpha val="34260"/>
            </a:srgbClr>
          </a:solidFill>
          <a:ln w="19050">
            <a:solidFill>
              <a:srgbClr val="10B981"/>
            </a:solidFill>
            <a:prstDash val="solid"/>
          </a:ln>
        </p:spPr>
        <p:txBody>
          <a:bodyPr/>
          <a:lstStyle/>
          <a:p>
            <a:endParaRPr/>
          </a:p>
        </p:txBody>
      </p:sp>
      <p:sp>
        <p:nvSpPr>
          <p:cNvPr id="35" name="step-num">
            <a:extLst>
              <a:ext uri="{FF2B5EF4-FFF2-40B4-BE49-F238E27FC236}">
                <a16:creationId xmlns:a16="http://schemas.microsoft.com/office/drawing/2014/main" id="{C26B3756-536E-A98A-54E1-AFC6040E5AA1}"/>
              </a:ext>
            </a:extLst>
          </p:cNvPr>
          <p:cNvSpPr>
            <a:spLocks noGrp="1"/>
          </p:cNvSpPr>
          <p:nvPr/>
        </p:nvSpPr>
        <p:spPr>
          <a:xfrm>
            <a:off x="5257800" y="1592051"/>
            <a:ext cx="476250" cy="247650"/>
          </a:xfrm>
          <a:prstGeom prst="rect">
            <a:avLst/>
          </a:prstGeom>
          <a:noFill/>
          <a:ln w="0">
            <a:noFill/>
            <a:prstDash val="solid"/>
          </a:ln>
        </p:spPr>
        <p:txBody>
          <a:bodyPr lIns="0" tIns="0" rIns="0" bIns="0" anchor="t">
            <a:noAutofit/>
          </a:bodyPr>
          <a:lstStyle/>
          <a:p>
            <a:pPr algn="l">
              <a:buNone/>
              <a:defRPr sz="1150" b="1">
                <a:solidFill>
                  <a:srgbClr val="10B981"/>
                </a:solidFill>
                <a:latin typeface="Hiragino Sans"/>
                <a:ea typeface="Hiragino Sans"/>
                <a:cs typeface="Hiragino Sans"/>
              </a:defRPr>
            </a:pPr>
            <a:r>
              <a:rPr sz="1150" b="1">
                <a:solidFill>
                  <a:srgbClr val="10B981"/>
                </a:solidFill>
                <a:latin typeface="Hiragino Sans"/>
                <a:ea typeface="Hiragino Sans"/>
                <a:cs typeface="Hiragino Sans"/>
              </a:rPr>
              <a:t>03</a:t>
            </a:r>
          </a:p>
        </p:txBody>
      </p:sp>
      <p:sp>
        <p:nvSpPr>
          <p:cNvPr id="36" name="step-label">
            <a:extLst>
              <a:ext uri="{FF2B5EF4-FFF2-40B4-BE49-F238E27FC236}">
                <a16:creationId xmlns:a16="http://schemas.microsoft.com/office/drawing/2014/main" id="{586FC3A9-75D6-B78D-CFF1-A84AE733ABF0}"/>
              </a:ext>
            </a:extLst>
          </p:cNvPr>
          <p:cNvSpPr>
            <a:spLocks noGrp="1"/>
          </p:cNvSpPr>
          <p:nvPr/>
        </p:nvSpPr>
        <p:spPr>
          <a:xfrm>
            <a:off x="5257800" y="1892051"/>
            <a:ext cx="1609725" cy="600000"/>
          </a:xfrm>
          <a:prstGeom prst="rect">
            <a:avLst/>
          </a:prstGeom>
          <a:noFill/>
          <a:ln w="0">
            <a:noFill/>
            <a:prstDash val="solid"/>
          </a:ln>
        </p:spPr>
        <p:txBody>
          <a:bodyPr lIns="0" tIns="0" rIns="0" bIns="0" anchor="t">
            <a:noAutofit/>
          </a:bodyPr>
          <a:lstStyle/>
          <a:p>
            <a:pPr algn="ctr">
              <a:buNone/>
              <a:defRPr sz="1250" b="1">
                <a:solidFill>
                  <a:srgbClr val="111827"/>
                </a:solidFill>
                <a:latin typeface="Hiragino Sans"/>
                <a:ea typeface="Hiragino Sans"/>
                <a:cs typeface="Hiragino Sans"/>
              </a:defRPr>
            </a:pPr>
            <a:r>
              <a:rPr sz="1250" b="1">
                <a:solidFill>
                  <a:srgbClr val="111827"/>
                </a:solidFill>
                <a:latin typeface="Hiragino Sans"/>
                <a:ea typeface="Hiragino Sans"/>
                <a:cs typeface="Hiragino Sans"/>
              </a:rPr>
              <a:t>q(対数比など)を</a:t>
            </a:r>
          </a:p>
          <a:p>
            <a:pPr algn="ctr">
              <a:buNone/>
              <a:defRPr sz="1250" b="1">
                <a:solidFill>
                  <a:srgbClr val="111827"/>
                </a:solidFill>
                <a:latin typeface="Hiragino Sans"/>
                <a:ea typeface="Hiragino Sans"/>
                <a:cs typeface="Hiragino Sans"/>
              </a:defRPr>
            </a:pPr>
            <a:r>
              <a:rPr sz="1250" b="1">
                <a:solidFill>
                  <a:srgbClr val="111827"/>
                </a:solidFill>
                <a:latin typeface="Hiragino Sans"/>
                <a:ea typeface="Hiragino Sans"/>
                <a:cs typeface="Hiragino Sans"/>
              </a:rPr>
              <a:t>1回だけ回帰</a:t>
            </a:r>
          </a:p>
        </p:txBody>
      </p:sp>
      <p:sp>
        <p:nvSpPr>
          <p:cNvPr id="37" name="step-box">
            <a:extLst>
              <a:ext uri="{FF2B5EF4-FFF2-40B4-BE49-F238E27FC236}">
                <a16:creationId xmlns:a16="http://schemas.microsoft.com/office/drawing/2014/main" id="{8E2111DA-59F1-9E43-8460-715F9108AC27}"/>
              </a:ext>
            </a:extLst>
          </p:cNvPr>
          <p:cNvSpPr>
            <a:spLocks noGrp="1"/>
          </p:cNvSpPr>
          <p:nvPr/>
        </p:nvSpPr>
        <p:spPr>
          <a:xfrm>
            <a:off x="7372350" y="1492051"/>
            <a:ext cx="1952625" cy="1050000"/>
          </a:xfrm>
          <a:prstGeom prst="rect">
            <a:avLst/>
          </a:prstGeom>
          <a:solidFill>
            <a:srgbClr val="D1FAE5">
              <a:alpha val="34260"/>
            </a:srgbClr>
          </a:solidFill>
          <a:ln w="19050">
            <a:solidFill>
              <a:srgbClr val="10B981">
                <a:alpha val="49000"/>
              </a:srgbClr>
            </a:solidFill>
            <a:prstDash val="solid"/>
          </a:ln>
        </p:spPr>
        <p:txBody>
          <a:bodyPr/>
          <a:lstStyle/>
          <a:p>
            <a:endParaRPr/>
          </a:p>
        </p:txBody>
      </p:sp>
      <p:sp>
        <p:nvSpPr>
          <p:cNvPr id="38" name="step-num">
            <a:extLst>
              <a:ext uri="{FF2B5EF4-FFF2-40B4-BE49-F238E27FC236}">
                <a16:creationId xmlns:a16="http://schemas.microsoft.com/office/drawing/2014/main" id="{9A8BB996-7EAC-B2B1-715B-0D8F487715C5}"/>
              </a:ext>
            </a:extLst>
          </p:cNvPr>
          <p:cNvSpPr>
            <a:spLocks noGrp="1"/>
          </p:cNvSpPr>
          <p:nvPr/>
        </p:nvSpPr>
        <p:spPr>
          <a:xfrm>
            <a:off x="7543800" y="1592051"/>
            <a:ext cx="476250" cy="247650"/>
          </a:xfrm>
          <a:prstGeom prst="rect">
            <a:avLst/>
          </a:prstGeom>
          <a:noFill/>
          <a:ln w="0">
            <a:noFill/>
            <a:prstDash val="solid"/>
          </a:ln>
        </p:spPr>
        <p:txBody>
          <a:bodyPr lIns="0" tIns="0" rIns="0" bIns="0" anchor="t">
            <a:noAutofit/>
          </a:bodyPr>
          <a:lstStyle/>
          <a:p>
            <a:pPr algn="l">
              <a:buNone/>
              <a:defRPr sz="1150" b="1">
                <a:solidFill>
                  <a:srgbClr val="10B981"/>
                </a:solidFill>
                <a:latin typeface="Hiragino Sans"/>
                <a:ea typeface="Hiragino Sans"/>
                <a:cs typeface="Hiragino Sans"/>
              </a:defRPr>
            </a:pPr>
            <a:r>
              <a:rPr sz="1150" b="1">
                <a:solidFill>
                  <a:schemeClr val="bg1">
                    <a:lumMod val="85000"/>
                  </a:schemeClr>
                </a:solidFill>
                <a:latin typeface="Hiragino Sans"/>
                <a:ea typeface="Hiragino Sans"/>
                <a:cs typeface="Hiragino Sans"/>
              </a:rPr>
              <a:t>04</a:t>
            </a:r>
          </a:p>
        </p:txBody>
      </p:sp>
      <p:sp>
        <p:nvSpPr>
          <p:cNvPr id="39" name="step-label">
            <a:extLst>
              <a:ext uri="{FF2B5EF4-FFF2-40B4-BE49-F238E27FC236}">
                <a16:creationId xmlns:a16="http://schemas.microsoft.com/office/drawing/2014/main" id="{C7CB0132-3299-BCFE-2F5B-670F0D595B30}"/>
              </a:ext>
            </a:extLst>
          </p:cNvPr>
          <p:cNvSpPr>
            <a:spLocks noGrp="1"/>
          </p:cNvSpPr>
          <p:nvPr/>
        </p:nvSpPr>
        <p:spPr>
          <a:xfrm>
            <a:off x="7543800" y="1892051"/>
            <a:ext cx="1609725" cy="600000"/>
          </a:xfrm>
          <a:prstGeom prst="rect">
            <a:avLst/>
          </a:prstGeom>
          <a:noFill/>
          <a:ln w="0">
            <a:noFill/>
            <a:prstDash val="solid"/>
          </a:ln>
        </p:spPr>
        <p:txBody>
          <a:bodyPr lIns="0" tIns="0" rIns="0" bIns="0" anchor="t">
            <a:noAutofit/>
          </a:bodyPr>
          <a:lstStyle/>
          <a:p>
            <a:pPr algn="ctr">
              <a:buNone/>
              <a:defRPr sz="1250" b="1">
                <a:solidFill>
                  <a:srgbClr val="111827"/>
                </a:solidFill>
                <a:latin typeface="Hiragino Sans"/>
                <a:ea typeface="Hiragino Sans"/>
                <a:cs typeface="Hiragino Sans"/>
              </a:defRPr>
            </a:pPr>
            <a:r>
              <a:rPr sz="1250" b="1" dirty="0">
                <a:solidFill>
                  <a:schemeClr val="bg1">
                    <a:lumMod val="85000"/>
                  </a:schemeClr>
                </a:solidFill>
                <a:latin typeface="Hiragino Sans"/>
                <a:ea typeface="Hiragino Sans"/>
                <a:cs typeface="Hiragino Sans"/>
              </a:rPr>
              <a:t>特徴を1回だけ</a:t>
            </a:r>
          </a:p>
          <a:p>
            <a:pPr algn="ctr">
              <a:buNone/>
              <a:defRPr sz="1250" b="1">
                <a:solidFill>
                  <a:srgbClr val="111827"/>
                </a:solidFill>
                <a:latin typeface="Hiragino Sans"/>
                <a:ea typeface="Hiragino Sans"/>
                <a:cs typeface="Hiragino Sans"/>
              </a:defRPr>
            </a:pPr>
            <a:r>
              <a:rPr sz="1250" b="1" dirty="0" err="1">
                <a:solidFill>
                  <a:schemeClr val="bg1">
                    <a:lumMod val="85000"/>
                  </a:schemeClr>
                </a:solidFill>
                <a:latin typeface="Hiragino Sans"/>
                <a:ea typeface="Hiragino Sans"/>
                <a:cs typeface="Hiragino Sans"/>
              </a:rPr>
              <a:t>K個選ぶ</a:t>
            </a:r>
            <a:endParaRPr sz="1250" b="1" dirty="0">
              <a:solidFill>
                <a:schemeClr val="bg1">
                  <a:lumMod val="85000"/>
                </a:schemeClr>
              </a:solidFill>
              <a:latin typeface="Hiragino Sans"/>
              <a:ea typeface="Hiragino Sans"/>
              <a:cs typeface="Hiragino Sans"/>
            </a:endParaRPr>
          </a:p>
        </p:txBody>
      </p:sp>
      <p:sp>
        <p:nvSpPr>
          <p:cNvPr id="40" name="step-box">
            <a:extLst>
              <a:ext uri="{FF2B5EF4-FFF2-40B4-BE49-F238E27FC236}">
                <a16:creationId xmlns:a16="http://schemas.microsoft.com/office/drawing/2014/main" id="{AD04C27C-2E4E-7E13-37D8-EEFA1ACAD162}"/>
              </a:ext>
            </a:extLst>
          </p:cNvPr>
          <p:cNvSpPr>
            <a:spLocks noGrp="1"/>
          </p:cNvSpPr>
          <p:nvPr/>
        </p:nvSpPr>
        <p:spPr>
          <a:xfrm>
            <a:off x="9658350" y="1492051"/>
            <a:ext cx="1952625" cy="1050000"/>
          </a:xfrm>
          <a:prstGeom prst="rect">
            <a:avLst/>
          </a:prstGeom>
          <a:solidFill>
            <a:srgbClr val="D1FAE5">
              <a:alpha val="34260"/>
            </a:srgbClr>
          </a:solidFill>
          <a:ln w="19050">
            <a:solidFill>
              <a:srgbClr val="10B981">
                <a:alpha val="49000"/>
              </a:srgbClr>
            </a:solidFill>
            <a:prstDash val="solid"/>
          </a:ln>
        </p:spPr>
        <p:txBody>
          <a:bodyPr/>
          <a:lstStyle/>
          <a:p>
            <a:endParaRPr/>
          </a:p>
        </p:txBody>
      </p:sp>
      <p:sp>
        <p:nvSpPr>
          <p:cNvPr id="41" name="step-num">
            <a:extLst>
              <a:ext uri="{FF2B5EF4-FFF2-40B4-BE49-F238E27FC236}">
                <a16:creationId xmlns:a16="http://schemas.microsoft.com/office/drawing/2014/main" id="{551B9969-D3AB-EDA8-7B3C-69E7A6968EBB}"/>
              </a:ext>
            </a:extLst>
          </p:cNvPr>
          <p:cNvSpPr>
            <a:spLocks noGrp="1"/>
          </p:cNvSpPr>
          <p:nvPr/>
        </p:nvSpPr>
        <p:spPr>
          <a:xfrm>
            <a:off x="9829800" y="1592051"/>
            <a:ext cx="476250" cy="247650"/>
          </a:xfrm>
          <a:prstGeom prst="rect">
            <a:avLst/>
          </a:prstGeom>
          <a:noFill/>
          <a:ln w="0">
            <a:noFill/>
            <a:prstDash val="solid"/>
          </a:ln>
        </p:spPr>
        <p:txBody>
          <a:bodyPr lIns="0" tIns="0" rIns="0" bIns="0" anchor="t">
            <a:noAutofit/>
          </a:bodyPr>
          <a:lstStyle/>
          <a:p>
            <a:pPr algn="l">
              <a:buNone/>
              <a:defRPr sz="1150" b="1">
                <a:solidFill>
                  <a:srgbClr val="10B981"/>
                </a:solidFill>
                <a:latin typeface="Hiragino Sans"/>
                <a:ea typeface="Hiragino Sans"/>
                <a:cs typeface="Hiragino Sans"/>
              </a:defRPr>
            </a:pPr>
            <a:r>
              <a:rPr sz="1150" b="1">
                <a:solidFill>
                  <a:schemeClr val="bg1">
                    <a:lumMod val="85000"/>
                  </a:schemeClr>
                </a:solidFill>
                <a:latin typeface="Hiragino Sans"/>
                <a:ea typeface="Hiragino Sans"/>
                <a:cs typeface="Hiragino Sans"/>
              </a:rPr>
              <a:t>05</a:t>
            </a:r>
          </a:p>
        </p:txBody>
      </p:sp>
      <p:sp>
        <p:nvSpPr>
          <p:cNvPr id="42" name="step-label">
            <a:extLst>
              <a:ext uri="{FF2B5EF4-FFF2-40B4-BE49-F238E27FC236}">
                <a16:creationId xmlns:a16="http://schemas.microsoft.com/office/drawing/2014/main" id="{92DB3BB9-1E54-0C0E-E400-4B7AE20F364F}"/>
              </a:ext>
            </a:extLst>
          </p:cNvPr>
          <p:cNvSpPr>
            <a:spLocks noGrp="1"/>
          </p:cNvSpPr>
          <p:nvPr/>
        </p:nvSpPr>
        <p:spPr>
          <a:xfrm>
            <a:off x="9829800" y="1892051"/>
            <a:ext cx="1609725" cy="600000"/>
          </a:xfrm>
          <a:prstGeom prst="rect">
            <a:avLst/>
          </a:prstGeom>
          <a:noFill/>
          <a:ln w="0">
            <a:noFill/>
            <a:prstDash val="solid"/>
          </a:ln>
        </p:spPr>
        <p:txBody>
          <a:bodyPr lIns="0" tIns="0" rIns="0" bIns="0" anchor="t">
            <a:noAutofit/>
          </a:bodyPr>
          <a:lstStyle/>
          <a:p>
            <a:pPr algn="ctr">
              <a:buNone/>
              <a:defRPr sz="1250" b="1">
                <a:solidFill>
                  <a:srgbClr val="111827"/>
                </a:solidFill>
                <a:latin typeface="Hiragino Sans"/>
                <a:ea typeface="Hiragino Sans"/>
                <a:cs typeface="Hiragino Sans"/>
              </a:defRPr>
            </a:pPr>
            <a:r>
              <a:rPr sz="1250" b="1">
                <a:solidFill>
                  <a:schemeClr val="bg1">
                    <a:lumMod val="85000"/>
                  </a:schemeClr>
                </a:solidFill>
                <a:latin typeface="Hiragino Sans"/>
                <a:ea typeface="Hiragino Sans"/>
                <a:cs typeface="Hiragino Sans"/>
              </a:rPr>
              <a:t>AとBを分ける</a:t>
            </a:r>
          </a:p>
          <a:p>
            <a:pPr algn="ctr">
              <a:buNone/>
              <a:defRPr sz="1250" b="1">
                <a:solidFill>
                  <a:srgbClr val="111827"/>
                </a:solidFill>
                <a:latin typeface="Hiragino Sans"/>
                <a:ea typeface="Hiragino Sans"/>
                <a:cs typeface="Hiragino Sans"/>
              </a:defRPr>
            </a:pPr>
            <a:r>
              <a:rPr sz="1250" b="1">
                <a:solidFill>
                  <a:schemeClr val="bg1">
                    <a:lumMod val="85000"/>
                  </a:schemeClr>
                </a:solidFill>
                <a:latin typeface="Hiragino Sans"/>
                <a:ea typeface="Hiragino Sans"/>
                <a:cs typeface="Hiragino Sans"/>
              </a:rPr>
              <a:t>説明が1つ</a:t>
            </a:r>
          </a:p>
        </p:txBody>
      </p:sp>
      <p:sp>
        <p:nvSpPr>
          <p:cNvPr id="47" name="card-bg">
            <a:extLst>
              <a:ext uri="{FF2B5EF4-FFF2-40B4-BE49-F238E27FC236}">
                <a16:creationId xmlns:a16="http://schemas.microsoft.com/office/drawing/2014/main" id="{AE1922E0-6FC6-7F8B-858B-FE59F6A22329}"/>
              </a:ext>
            </a:extLst>
          </p:cNvPr>
          <p:cNvSpPr>
            <a:spLocks noGrp="1"/>
          </p:cNvSpPr>
          <p:nvPr/>
        </p:nvSpPr>
        <p:spPr>
          <a:xfrm>
            <a:off x="762000" y="3065949"/>
            <a:ext cx="3356000" cy="2200000"/>
          </a:xfrm>
          <a:prstGeom prst="rect">
            <a:avLst/>
          </a:prstGeom>
          <a:solidFill>
            <a:srgbClr val="F3F4F6"/>
          </a:solidFill>
          <a:ln w="19050">
            <a:solidFill>
              <a:srgbClr val="2AA876"/>
            </a:solidFill>
            <a:prstDash val="solid"/>
          </a:ln>
        </p:spPr>
        <p:txBody>
          <a:bodyPr/>
          <a:lstStyle/>
          <a:p>
            <a:endParaRPr/>
          </a:p>
        </p:txBody>
      </p:sp>
      <p:sp>
        <p:nvSpPr>
          <p:cNvPr id="54" name="card-name">
            <a:extLst>
              <a:ext uri="{FF2B5EF4-FFF2-40B4-BE49-F238E27FC236}">
                <a16:creationId xmlns:a16="http://schemas.microsoft.com/office/drawing/2014/main" id="{264837C7-8927-5001-CB94-B1D9A010E390}"/>
              </a:ext>
            </a:extLst>
          </p:cNvPr>
          <p:cNvSpPr>
            <a:spLocks noGrp="1"/>
          </p:cNvSpPr>
          <p:nvPr/>
        </p:nvSpPr>
        <p:spPr>
          <a:xfrm>
            <a:off x="962000" y="3215949"/>
            <a:ext cx="2956000" cy="350000"/>
          </a:xfrm>
          <a:prstGeom prst="rect">
            <a:avLst/>
          </a:prstGeom>
          <a:noFill/>
          <a:ln w="0">
            <a:noFill/>
            <a:prstDash val="solid"/>
          </a:ln>
        </p:spPr>
        <p:txBody>
          <a:bodyPr lIns="0" tIns="0" rIns="0" bIns="0" anchor="t">
            <a:noAutofit/>
          </a:bodyPr>
          <a:lstStyle/>
          <a:p>
            <a:pPr algn="l">
              <a:buNone/>
              <a:defRPr sz="1700" b="1">
                <a:solidFill>
                  <a:srgbClr val="2AA876"/>
                </a:solidFill>
                <a:latin typeface="Hiragino Sans"/>
                <a:ea typeface="Hiragino Sans"/>
                <a:cs typeface="Hiragino Sans"/>
              </a:defRPr>
            </a:pPr>
            <a:r>
              <a:rPr sz="1700" b="1">
                <a:solidFill>
                  <a:srgbClr val="2AA876"/>
                </a:solidFill>
                <a:latin typeface="Hiragino Sans"/>
                <a:ea typeface="Hiragino Sans"/>
                <a:cs typeface="Hiragino Sans"/>
              </a:rPr>
              <a:t>2クラスLIME（基準）</a:t>
            </a:r>
          </a:p>
        </p:txBody>
      </p:sp>
      <p:sp>
        <p:nvSpPr>
          <p:cNvPr id="55" name="card-target">
            <a:extLst>
              <a:ext uri="{FF2B5EF4-FFF2-40B4-BE49-F238E27FC236}">
                <a16:creationId xmlns:a16="http://schemas.microsoft.com/office/drawing/2014/main" id="{766A6ED1-2931-98C6-2962-D4DBF17F801A}"/>
              </a:ext>
            </a:extLst>
          </p:cNvPr>
          <p:cNvSpPr>
            <a:spLocks noGrp="1"/>
          </p:cNvSpPr>
          <p:nvPr/>
        </p:nvSpPr>
        <p:spPr>
          <a:xfrm>
            <a:off x="962000" y="3685949"/>
            <a:ext cx="2956000" cy="350000"/>
          </a:xfrm>
          <a:prstGeom prst="rect">
            <a:avLst/>
          </a:prstGeom>
          <a:noFill/>
          <a:ln w="0">
            <a:noFill/>
            <a:prstDash val="solid"/>
          </a:ln>
        </p:spPr>
        <p:txBody>
          <a:bodyPr lIns="0" tIns="0" rIns="0" bIns="0" anchor="t">
            <a:noAutofit/>
          </a:bodyPr>
          <a:lstStyle/>
          <a:p>
            <a:pPr algn="l">
              <a:buNone/>
              <a:defRPr sz="1300" b="1">
                <a:solidFill>
                  <a:srgbClr val="111827"/>
                </a:solidFill>
                <a:latin typeface="Hiragino Sans"/>
                <a:ea typeface="Hiragino Sans"/>
                <a:cs typeface="Hiragino Sans"/>
              </a:defRPr>
            </a:pPr>
            <a:r>
              <a:rPr sz="1300" b="1">
                <a:solidFill>
                  <a:srgbClr val="111827"/>
                </a:solidFill>
                <a:latin typeface="Hiragino Sans"/>
                <a:ea typeface="Hiragino Sans"/>
                <a:cs typeface="Hiragino Sans"/>
              </a:rPr>
              <a:t>q を Ridge回帰</a:t>
            </a:r>
          </a:p>
        </p:txBody>
      </p:sp>
      <p:sp>
        <p:nvSpPr>
          <p:cNvPr id="56" name="card-note">
            <a:extLst>
              <a:ext uri="{FF2B5EF4-FFF2-40B4-BE49-F238E27FC236}">
                <a16:creationId xmlns:a16="http://schemas.microsoft.com/office/drawing/2014/main" id="{2A3DFA19-8DFE-FD02-2E4F-AFA7469EBF58}"/>
              </a:ext>
            </a:extLst>
          </p:cNvPr>
          <p:cNvSpPr>
            <a:spLocks noGrp="1"/>
          </p:cNvSpPr>
          <p:nvPr/>
        </p:nvSpPr>
        <p:spPr>
          <a:xfrm>
            <a:off x="962000" y="4145949"/>
            <a:ext cx="2956000" cy="1000000"/>
          </a:xfrm>
          <a:prstGeom prst="rect">
            <a:avLst/>
          </a:prstGeom>
          <a:noFill/>
          <a:ln w="0">
            <a:noFill/>
            <a:prstDash val="solid"/>
          </a:ln>
        </p:spPr>
        <p:txBody>
          <a:bodyPr lIns="0" tIns="0" rIns="0" bIns="0" anchor="t">
            <a:noAutofit/>
          </a:bodyPr>
          <a:lstStyle/>
          <a:p>
            <a:pPr algn="l">
              <a:buNone/>
              <a:defRPr sz="1150" b="0">
                <a:solidFill>
                  <a:srgbClr val="64748B"/>
                </a:solidFill>
                <a:latin typeface="Hiragino Sans"/>
                <a:ea typeface="Hiragino Sans"/>
                <a:cs typeface="Hiragino Sans"/>
              </a:defRPr>
            </a:pPr>
            <a:r>
              <a:rPr sz="1150" b="0">
                <a:solidFill>
                  <a:srgbClr val="64748B"/>
                </a:solidFill>
                <a:latin typeface="Hiragino Sans"/>
                <a:ea typeface="Hiragino Sans"/>
                <a:cs typeface="Hiragino Sans"/>
              </a:rPr>
              <a:t>2クラスへ絞ってから</a:t>
            </a:r>
          </a:p>
          <a:p>
            <a:pPr algn="l">
              <a:buNone/>
              <a:defRPr sz="1150" b="0">
                <a:solidFill>
                  <a:srgbClr val="64748B"/>
                </a:solidFill>
                <a:latin typeface="Hiragino Sans"/>
                <a:ea typeface="Hiragino Sans"/>
                <a:cs typeface="Hiragino Sans"/>
              </a:defRPr>
            </a:pPr>
            <a:r>
              <a:rPr sz="1150" b="0">
                <a:solidFill>
                  <a:srgbClr val="64748B"/>
                </a:solidFill>
                <a:latin typeface="Hiragino Sans"/>
                <a:ea typeface="Hiragino Sans"/>
                <a:cs typeface="Hiragino Sans"/>
              </a:rPr>
              <a:t>通常のLIMEを当てはめる基準</a:t>
            </a:r>
          </a:p>
        </p:txBody>
      </p:sp>
      <p:sp>
        <p:nvSpPr>
          <p:cNvPr id="57" name="card-bg">
            <a:extLst>
              <a:ext uri="{FF2B5EF4-FFF2-40B4-BE49-F238E27FC236}">
                <a16:creationId xmlns:a16="http://schemas.microsoft.com/office/drawing/2014/main" id="{241173B4-A376-684D-D47B-DE5845F5A991}"/>
              </a:ext>
            </a:extLst>
          </p:cNvPr>
          <p:cNvSpPr>
            <a:spLocks noGrp="1"/>
          </p:cNvSpPr>
          <p:nvPr/>
        </p:nvSpPr>
        <p:spPr>
          <a:xfrm>
            <a:off x="4418000" y="3065949"/>
            <a:ext cx="3356000" cy="2200000"/>
          </a:xfrm>
          <a:prstGeom prst="rect">
            <a:avLst/>
          </a:prstGeom>
          <a:solidFill>
            <a:srgbClr val="F3F4F6"/>
          </a:solidFill>
          <a:ln w="19050">
            <a:solidFill>
              <a:srgbClr val="F28C28"/>
            </a:solidFill>
            <a:prstDash val="solid"/>
          </a:ln>
        </p:spPr>
        <p:txBody>
          <a:bodyPr/>
          <a:lstStyle/>
          <a:p>
            <a:endParaRPr/>
          </a:p>
        </p:txBody>
      </p:sp>
      <p:sp>
        <p:nvSpPr>
          <p:cNvPr id="58" name="card-name">
            <a:extLst>
              <a:ext uri="{FF2B5EF4-FFF2-40B4-BE49-F238E27FC236}">
                <a16:creationId xmlns:a16="http://schemas.microsoft.com/office/drawing/2014/main" id="{C44A5280-7B31-078D-C7CF-E9AD26F8F989}"/>
              </a:ext>
            </a:extLst>
          </p:cNvPr>
          <p:cNvSpPr>
            <a:spLocks noGrp="1"/>
          </p:cNvSpPr>
          <p:nvPr/>
        </p:nvSpPr>
        <p:spPr>
          <a:xfrm>
            <a:off x="4618000" y="3215949"/>
            <a:ext cx="2956000" cy="350000"/>
          </a:xfrm>
          <a:prstGeom prst="rect">
            <a:avLst/>
          </a:prstGeom>
          <a:noFill/>
          <a:ln w="0">
            <a:noFill/>
            <a:prstDash val="solid"/>
          </a:ln>
        </p:spPr>
        <p:txBody>
          <a:bodyPr lIns="0" tIns="0" rIns="0" bIns="0" anchor="t">
            <a:noAutofit/>
          </a:bodyPr>
          <a:lstStyle/>
          <a:p>
            <a:pPr algn="l">
              <a:buNone/>
              <a:defRPr sz="1700" b="1">
                <a:solidFill>
                  <a:srgbClr val="F28C28"/>
                </a:solidFill>
                <a:latin typeface="Hiragino Sans"/>
                <a:ea typeface="Hiragino Sans"/>
                <a:cs typeface="Hiragino Sans"/>
              </a:defRPr>
            </a:pPr>
            <a:r>
              <a:rPr sz="1700" b="1">
                <a:solidFill>
                  <a:srgbClr val="F28C28"/>
                </a:solidFill>
                <a:latin typeface="Hiragino Sans"/>
                <a:ea typeface="Hiragino Sans"/>
                <a:cs typeface="Hiragino Sans"/>
              </a:rPr>
              <a:t>Contrastive</a:t>
            </a:r>
          </a:p>
        </p:txBody>
      </p:sp>
      <p:sp>
        <p:nvSpPr>
          <p:cNvPr id="59" name="card-target">
            <a:extLst>
              <a:ext uri="{FF2B5EF4-FFF2-40B4-BE49-F238E27FC236}">
                <a16:creationId xmlns:a16="http://schemas.microsoft.com/office/drawing/2014/main" id="{9A36E38A-22CF-28C3-FE7F-108CCAAC306A}"/>
              </a:ext>
            </a:extLst>
          </p:cNvPr>
          <p:cNvSpPr>
            <a:spLocks noGrp="1"/>
          </p:cNvSpPr>
          <p:nvPr/>
        </p:nvSpPr>
        <p:spPr>
          <a:xfrm>
            <a:off x="4618000" y="3685949"/>
            <a:ext cx="2956000" cy="350000"/>
          </a:xfrm>
          <a:prstGeom prst="rect">
            <a:avLst/>
          </a:prstGeom>
          <a:noFill/>
          <a:ln w="0">
            <a:noFill/>
            <a:prstDash val="solid"/>
          </a:ln>
        </p:spPr>
        <p:txBody>
          <a:bodyPr lIns="0" tIns="0" rIns="0" bIns="0" anchor="t">
            <a:noAutofit/>
          </a:bodyPr>
          <a:lstStyle/>
          <a:p>
            <a:pPr algn="l">
              <a:buNone/>
              <a:defRPr sz="1300" b="1">
                <a:solidFill>
                  <a:srgbClr val="111827"/>
                </a:solidFill>
                <a:latin typeface="Hiragino Sans"/>
                <a:ea typeface="Hiragino Sans"/>
                <a:cs typeface="Hiragino Sans"/>
              </a:defRPr>
            </a:pPr>
            <a:r>
              <a:rPr sz="1300" b="1">
                <a:solidFill>
                  <a:srgbClr val="111827"/>
                </a:solidFill>
                <a:latin typeface="Hiragino Sans"/>
                <a:ea typeface="Hiragino Sans"/>
                <a:cs typeface="Hiragino Sans"/>
              </a:rPr>
              <a:t>log(p1/p2) を Ridge回帰</a:t>
            </a:r>
          </a:p>
        </p:txBody>
      </p:sp>
      <p:sp>
        <p:nvSpPr>
          <p:cNvPr id="60" name="card-note">
            <a:extLst>
              <a:ext uri="{FF2B5EF4-FFF2-40B4-BE49-F238E27FC236}">
                <a16:creationId xmlns:a16="http://schemas.microsoft.com/office/drawing/2014/main" id="{FACFBE45-7347-99CC-D179-916B8EE37CAA}"/>
              </a:ext>
            </a:extLst>
          </p:cNvPr>
          <p:cNvSpPr>
            <a:spLocks noGrp="1"/>
          </p:cNvSpPr>
          <p:nvPr/>
        </p:nvSpPr>
        <p:spPr>
          <a:xfrm>
            <a:off x="4618000" y="4145949"/>
            <a:ext cx="2956000" cy="1000000"/>
          </a:xfrm>
          <a:prstGeom prst="rect">
            <a:avLst/>
          </a:prstGeom>
          <a:noFill/>
          <a:ln w="0">
            <a:noFill/>
            <a:prstDash val="solid"/>
          </a:ln>
        </p:spPr>
        <p:txBody>
          <a:bodyPr lIns="0" tIns="0" rIns="0" bIns="0" anchor="t">
            <a:noAutofit/>
          </a:bodyPr>
          <a:lstStyle/>
          <a:p>
            <a:pPr algn="l">
              <a:buNone/>
              <a:defRPr sz="1150" b="0">
                <a:solidFill>
                  <a:srgbClr val="64748B"/>
                </a:solidFill>
                <a:latin typeface="Hiragino Sans"/>
                <a:ea typeface="Hiragino Sans"/>
                <a:cs typeface="Hiragino Sans"/>
              </a:defRPr>
            </a:pPr>
            <a:r>
              <a:rPr sz="1150" b="0">
                <a:solidFill>
                  <a:srgbClr val="64748B"/>
                </a:solidFill>
                <a:latin typeface="Hiragino Sans"/>
                <a:ea typeface="Hiragino Sans"/>
                <a:cs typeface="Hiragino Sans"/>
              </a:rPr>
              <a:t>比を対数比に変えて</a:t>
            </a:r>
          </a:p>
          <a:p>
            <a:pPr algn="l">
              <a:buNone/>
              <a:defRPr sz="1150" b="0">
                <a:solidFill>
                  <a:srgbClr val="64748B"/>
                </a:solidFill>
                <a:latin typeface="Hiragino Sans"/>
                <a:ea typeface="Hiragino Sans"/>
                <a:cs typeface="Hiragino Sans"/>
              </a:defRPr>
            </a:pPr>
            <a:r>
              <a:rPr sz="1150" b="0">
                <a:solidFill>
                  <a:srgbClr val="64748B"/>
                </a:solidFill>
                <a:latin typeface="Hiragino Sans"/>
                <a:ea typeface="Hiragino Sans"/>
                <a:cs typeface="Hiragino Sans"/>
              </a:rPr>
              <a:t>線形なlogit差に強くする</a:t>
            </a:r>
          </a:p>
        </p:txBody>
      </p:sp>
      <p:sp>
        <p:nvSpPr>
          <p:cNvPr id="61" name="card-bg">
            <a:extLst>
              <a:ext uri="{FF2B5EF4-FFF2-40B4-BE49-F238E27FC236}">
                <a16:creationId xmlns:a16="http://schemas.microsoft.com/office/drawing/2014/main" id="{DBE01649-DDCE-9B93-EFC3-3D08D6ED3D47}"/>
              </a:ext>
            </a:extLst>
          </p:cNvPr>
          <p:cNvSpPr>
            <a:spLocks noGrp="1"/>
          </p:cNvSpPr>
          <p:nvPr/>
        </p:nvSpPr>
        <p:spPr>
          <a:xfrm>
            <a:off x="8074000" y="3065949"/>
            <a:ext cx="3356000" cy="2200000"/>
          </a:xfrm>
          <a:prstGeom prst="rect">
            <a:avLst/>
          </a:prstGeom>
          <a:solidFill>
            <a:srgbClr val="F3F4F6"/>
          </a:solidFill>
          <a:ln w="19050">
            <a:solidFill>
              <a:srgbClr val="7B61A8"/>
            </a:solidFill>
            <a:prstDash val="solid"/>
          </a:ln>
        </p:spPr>
        <p:txBody>
          <a:bodyPr/>
          <a:lstStyle/>
          <a:p>
            <a:endParaRPr/>
          </a:p>
        </p:txBody>
      </p:sp>
      <p:sp>
        <p:nvSpPr>
          <p:cNvPr id="62" name="card-name">
            <a:extLst>
              <a:ext uri="{FF2B5EF4-FFF2-40B4-BE49-F238E27FC236}">
                <a16:creationId xmlns:a16="http://schemas.microsoft.com/office/drawing/2014/main" id="{C0052F7C-87D2-AC9B-D426-CD87EF598EF6}"/>
              </a:ext>
            </a:extLst>
          </p:cNvPr>
          <p:cNvSpPr>
            <a:spLocks noGrp="1"/>
          </p:cNvSpPr>
          <p:nvPr/>
        </p:nvSpPr>
        <p:spPr>
          <a:xfrm>
            <a:off x="8274000" y="3215949"/>
            <a:ext cx="2956000" cy="350000"/>
          </a:xfrm>
          <a:prstGeom prst="rect">
            <a:avLst/>
          </a:prstGeom>
          <a:noFill/>
          <a:ln w="0">
            <a:noFill/>
            <a:prstDash val="solid"/>
          </a:ln>
        </p:spPr>
        <p:txBody>
          <a:bodyPr lIns="0" tIns="0" rIns="0" bIns="0" anchor="t">
            <a:noAutofit/>
          </a:bodyPr>
          <a:lstStyle/>
          <a:p>
            <a:pPr algn="l">
              <a:buNone/>
              <a:defRPr sz="1700" b="1">
                <a:solidFill>
                  <a:srgbClr val="7B61A8"/>
                </a:solidFill>
                <a:latin typeface="Hiragino Sans"/>
                <a:ea typeface="Hiragino Sans"/>
                <a:cs typeface="Hiragino Sans"/>
              </a:defRPr>
            </a:pPr>
            <a:r>
              <a:rPr sz="1700" b="1">
                <a:solidFill>
                  <a:srgbClr val="7B61A8"/>
                </a:solidFill>
                <a:latin typeface="Hiragino Sans"/>
                <a:ea typeface="Hiragino Sans"/>
                <a:cs typeface="Hiragino Sans"/>
              </a:rPr>
              <a:t>OVO Logistic</a:t>
            </a:r>
          </a:p>
        </p:txBody>
      </p:sp>
      <p:sp>
        <p:nvSpPr>
          <p:cNvPr id="63" name="card-target">
            <a:extLst>
              <a:ext uri="{FF2B5EF4-FFF2-40B4-BE49-F238E27FC236}">
                <a16:creationId xmlns:a16="http://schemas.microsoft.com/office/drawing/2014/main" id="{3C6CCB5C-0C44-F8F1-F7AE-8E023E139AB7}"/>
              </a:ext>
            </a:extLst>
          </p:cNvPr>
          <p:cNvSpPr>
            <a:spLocks noGrp="1"/>
          </p:cNvSpPr>
          <p:nvPr/>
        </p:nvSpPr>
        <p:spPr>
          <a:xfrm>
            <a:off x="8274000" y="3685949"/>
            <a:ext cx="2956000" cy="350000"/>
          </a:xfrm>
          <a:prstGeom prst="rect">
            <a:avLst/>
          </a:prstGeom>
          <a:noFill/>
          <a:ln w="0">
            <a:noFill/>
            <a:prstDash val="solid"/>
          </a:ln>
        </p:spPr>
        <p:txBody>
          <a:bodyPr lIns="0" tIns="0" rIns="0" bIns="0" anchor="t">
            <a:noAutofit/>
          </a:bodyPr>
          <a:lstStyle/>
          <a:p>
            <a:pPr algn="l">
              <a:buNone/>
              <a:defRPr sz="1300" b="1">
                <a:solidFill>
                  <a:srgbClr val="111827"/>
                </a:solidFill>
                <a:latin typeface="Hiragino Sans"/>
                <a:ea typeface="Hiragino Sans"/>
                <a:cs typeface="Hiragino Sans"/>
              </a:defRPr>
            </a:pPr>
            <a:r>
              <a:rPr sz="1300" b="1">
                <a:solidFill>
                  <a:srgbClr val="111827"/>
                </a:solidFill>
                <a:latin typeface="Hiragino Sans"/>
                <a:ea typeface="Hiragino Sans"/>
                <a:cs typeface="Hiragino Sans"/>
              </a:rPr>
              <a:t>q を交差エントロピーで回帰</a:t>
            </a:r>
          </a:p>
        </p:txBody>
      </p:sp>
      <p:sp>
        <p:nvSpPr>
          <p:cNvPr id="64" name="card-note">
            <a:extLst>
              <a:ext uri="{FF2B5EF4-FFF2-40B4-BE49-F238E27FC236}">
                <a16:creationId xmlns:a16="http://schemas.microsoft.com/office/drawing/2014/main" id="{4D9B2E99-1E5D-40F4-855C-3B5D5542B3DF}"/>
              </a:ext>
            </a:extLst>
          </p:cNvPr>
          <p:cNvSpPr>
            <a:spLocks noGrp="1"/>
          </p:cNvSpPr>
          <p:nvPr/>
        </p:nvSpPr>
        <p:spPr>
          <a:xfrm>
            <a:off x="8274000" y="4145949"/>
            <a:ext cx="2956000" cy="1000000"/>
          </a:xfrm>
          <a:prstGeom prst="rect">
            <a:avLst/>
          </a:prstGeom>
          <a:noFill/>
          <a:ln w="0">
            <a:noFill/>
            <a:prstDash val="solid"/>
          </a:ln>
        </p:spPr>
        <p:txBody>
          <a:bodyPr lIns="0" tIns="0" rIns="0" bIns="0" anchor="t">
            <a:noAutofit/>
          </a:bodyPr>
          <a:lstStyle/>
          <a:p>
            <a:pPr algn="l">
              <a:buNone/>
              <a:defRPr sz="1150" b="0">
                <a:solidFill>
                  <a:srgbClr val="64748B"/>
                </a:solidFill>
                <a:latin typeface="Hiragino Sans"/>
                <a:ea typeface="Hiragino Sans"/>
                <a:cs typeface="Hiragino Sans"/>
              </a:defRPr>
            </a:pPr>
            <a:r>
              <a:rPr sz="1150" b="0">
                <a:solidFill>
                  <a:srgbClr val="64748B"/>
                </a:solidFill>
                <a:latin typeface="Hiragino Sans"/>
                <a:ea typeface="Hiragino Sans"/>
                <a:cs typeface="Hiragino Sans"/>
              </a:rPr>
              <a:t>二乗誤差を交差エントロピーに</a:t>
            </a:r>
          </a:p>
          <a:p>
            <a:pPr algn="l">
              <a:buNone/>
              <a:defRPr sz="1150" b="0">
                <a:solidFill>
                  <a:srgbClr val="64748B"/>
                </a:solidFill>
                <a:latin typeface="Hiragino Sans"/>
                <a:ea typeface="Hiragino Sans"/>
                <a:cs typeface="Hiragino Sans"/>
              </a:defRPr>
            </a:pPr>
            <a:r>
              <a:rPr sz="1150" b="0">
                <a:solidFill>
                  <a:srgbClr val="64748B"/>
                </a:solidFill>
                <a:latin typeface="Hiragino Sans"/>
                <a:ea typeface="Hiragino Sans"/>
                <a:cs typeface="Hiragino Sans"/>
              </a:rPr>
              <a:t>変え、極端な確率でも安定させる</a:t>
            </a:r>
          </a:p>
        </p:txBody>
      </p:sp>
      <p:sp>
        <p:nvSpPr>
          <p:cNvPr id="65" name="why-bg">
            <a:extLst>
              <a:ext uri="{FF2B5EF4-FFF2-40B4-BE49-F238E27FC236}">
                <a16:creationId xmlns:a16="http://schemas.microsoft.com/office/drawing/2014/main" id="{BEDBE3D1-8D20-FB86-018D-0386E074C6C1}"/>
              </a:ext>
            </a:extLst>
          </p:cNvPr>
          <p:cNvSpPr>
            <a:spLocks noGrp="1"/>
          </p:cNvSpPr>
          <p:nvPr/>
        </p:nvSpPr>
        <p:spPr>
          <a:xfrm>
            <a:off x="762000" y="5465949"/>
            <a:ext cx="10668000" cy="900000"/>
          </a:xfrm>
          <a:prstGeom prst="roundRect">
            <a:avLst>
              <a:gd name="adj" fmla="val 6000"/>
            </a:avLst>
          </a:prstGeom>
          <a:solidFill>
            <a:srgbClr val="FFF4D6"/>
          </a:solidFill>
          <a:ln w="0">
            <a:noFill/>
          </a:ln>
        </p:spPr>
        <p:txBody>
          <a:bodyPr/>
          <a:lstStyle/>
          <a:p>
            <a:endParaRPr/>
          </a:p>
        </p:txBody>
      </p:sp>
      <p:sp>
        <p:nvSpPr>
          <p:cNvPr id="66" name="why-label">
            <a:extLst>
              <a:ext uri="{FF2B5EF4-FFF2-40B4-BE49-F238E27FC236}">
                <a16:creationId xmlns:a16="http://schemas.microsoft.com/office/drawing/2014/main" id="{88CEB7C8-E95A-E3C1-7681-7699B6F78299}"/>
              </a:ext>
            </a:extLst>
          </p:cNvPr>
          <p:cNvSpPr>
            <a:spLocks noGrp="1"/>
          </p:cNvSpPr>
          <p:nvPr/>
        </p:nvSpPr>
        <p:spPr>
          <a:xfrm>
            <a:off x="962000" y="5585949"/>
            <a:ext cx="3000000" cy="300000"/>
          </a:xfrm>
          <a:prstGeom prst="rect">
            <a:avLst/>
          </a:prstGeom>
          <a:noFill/>
          <a:ln w="0">
            <a:noFill/>
            <a:prstDash val="solid"/>
          </a:ln>
        </p:spPr>
        <p:txBody>
          <a:bodyPr lIns="0" tIns="0" rIns="0" bIns="0" anchor="t">
            <a:noAutofit/>
          </a:bodyPr>
          <a:lstStyle/>
          <a:p>
            <a:pPr algn="l">
              <a:buNone/>
              <a:defRPr sz="1300" b="1">
                <a:solidFill>
                  <a:srgbClr val="F59E0B"/>
                </a:solidFill>
                <a:latin typeface="Hiragino Sans"/>
                <a:ea typeface="Hiragino Sans"/>
                <a:cs typeface="Hiragino Sans"/>
              </a:defRPr>
            </a:pPr>
            <a:r>
              <a:rPr sz="1300" b="1">
                <a:solidFill>
                  <a:srgbClr val="F59E0B"/>
                </a:solidFill>
                <a:latin typeface="Hiragino Sans"/>
                <a:ea typeface="Hiragino Sans"/>
                <a:cs typeface="Hiragino Sans"/>
              </a:rPr>
              <a:t>なぜ2つ追加したのか</a:t>
            </a:r>
          </a:p>
        </p:txBody>
      </p:sp>
      <p:sp>
        <p:nvSpPr>
          <p:cNvPr id="67" name="why-desc">
            <a:extLst>
              <a:ext uri="{FF2B5EF4-FFF2-40B4-BE49-F238E27FC236}">
                <a16:creationId xmlns:a16="http://schemas.microsoft.com/office/drawing/2014/main" id="{CDC7B485-FBD3-D05A-69FF-9F013B4EC64E}"/>
              </a:ext>
            </a:extLst>
          </p:cNvPr>
          <p:cNvSpPr>
            <a:spLocks noGrp="1"/>
          </p:cNvSpPr>
          <p:nvPr/>
        </p:nvSpPr>
        <p:spPr>
          <a:xfrm>
            <a:off x="962000" y="5895949"/>
            <a:ext cx="10268000" cy="460000"/>
          </a:xfrm>
          <a:prstGeom prst="rect">
            <a:avLst/>
          </a:prstGeom>
          <a:noFill/>
          <a:ln w="0">
            <a:noFill/>
            <a:prstDash val="solid"/>
          </a:ln>
        </p:spPr>
        <p:txBody>
          <a:bodyPr lIns="0" tIns="0" rIns="0" bIns="0" anchor="t">
            <a:noAutofit/>
          </a:bodyPr>
          <a:lstStyle/>
          <a:p>
            <a:pPr algn="l">
              <a:buNone/>
              <a:defRPr sz="1150" b="0">
                <a:solidFill>
                  <a:srgbClr val="111827"/>
                </a:solidFill>
                <a:latin typeface="Hiragino Sans"/>
                <a:ea typeface="Hiragino Sans"/>
                <a:cs typeface="Hiragino Sans"/>
              </a:defRPr>
            </a:pPr>
            <a:r>
              <a:rPr sz="1150" b="0">
                <a:solidFill>
                  <a:srgbClr val="111827"/>
                </a:solidFill>
                <a:latin typeface="Hiragino Sans"/>
                <a:ea typeface="Hiragino Sans"/>
                <a:cs typeface="Hiragino Sans"/>
              </a:rPr>
              <a:t>2クラスLIMEを基準に、Contrastiveは回帰対象（比→対数比）を変えて比較する</a:t>
            </a:r>
          </a:p>
          <a:p>
            <a:pPr algn="l">
              <a:buNone/>
              <a:defRPr sz="1150" b="0">
                <a:solidFill>
                  <a:srgbClr val="111827"/>
                </a:solidFill>
                <a:latin typeface="Hiragino Sans"/>
                <a:ea typeface="Hiragino Sans"/>
                <a:cs typeface="Hiragino Sans"/>
              </a:defRPr>
            </a:pPr>
            <a:r>
              <a:rPr sz="1150" b="0">
                <a:solidFill>
                  <a:srgbClr val="111827"/>
                </a:solidFill>
                <a:latin typeface="Hiragino Sans"/>
                <a:ea typeface="Hiragino Sans"/>
                <a:cs typeface="Hiragino Sans"/>
              </a:rPr>
              <a:t>OVO Logisticは損失（二乗誤差→交差エントロピー）を変えて比較する</a:t>
            </a:r>
          </a:p>
        </p:txBody>
      </p:sp>
    </p:spTree>
    <p:extLst>
      <p:ext uri="{BB962C8B-B14F-4D97-AF65-F5344CB8AC3E}">
        <p14:creationId xmlns:p14="http://schemas.microsoft.com/office/powerpoint/2010/main" val="225087521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accent-bar"/>
          <p:cNvSpPr>
            <a:spLocks noGrp="1"/>
          </p:cNvSpPr>
          <p:nvPr/>
        </p:nvSpPr>
        <p:spPr>
          <a:xfrm>
            <a:off x="514350" y="409575"/>
            <a:ext cx="114300" cy="476250"/>
          </a:xfrm>
          <a:prstGeom prst="rect">
            <a:avLst/>
          </a:prstGeom>
          <a:solidFill>
            <a:srgbClr val="156082"/>
          </a:solidFill>
          <a:ln w="0">
            <a:noFill/>
            <a:prstDash val="solid"/>
          </a:ln>
        </p:spPr>
        <p:txBody>
          <a:bodyPr/>
          <a:lstStyle/>
          <a:p>
            <a:endParaRPr lang="ja-JP" noProof="0"/>
          </a:p>
        </p:txBody>
      </p:sp>
      <p:sp>
        <p:nvSpPr>
          <p:cNvPr id="3" name="title"/>
          <p:cNvSpPr>
            <a:spLocks noGrp="1"/>
          </p:cNvSpPr>
          <p:nvPr/>
        </p:nvSpPr>
        <p:spPr>
          <a:xfrm>
            <a:off x="762000" y="342900"/>
            <a:ext cx="10668000" cy="476250"/>
          </a:xfrm>
          <a:prstGeom prst="rect">
            <a:avLst/>
          </a:prstGeom>
          <a:noFill/>
          <a:ln w="0">
            <a:noFill/>
            <a:prstDash val="solid"/>
          </a:ln>
        </p:spPr>
        <p:txBody>
          <a:bodyPr lIns="0" tIns="0" rIns="0" bIns="0" anchor="ctr">
            <a:noAutofit/>
          </a:bodyPr>
          <a:lstStyle/>
          <a:p>
            <a:pPr algn="l">
              <a:buNone/>
              <a:defRPr sz="2550" b="1">
                <a:solidFill>
                  <a:srgbClr val="17233D"/>
                </a:solidFill>
                <a:latin typeface="Hiragino Sans"/>
                <a:ea typeface="Hiragino Sans"/>
                <a:cs typeface="Hiragino Sans"/>
              </a:defRPr>
            </a:pPr>
            <a:r>
              <a:rPr lang="ja-JP" sz="2550" b="1" noProof="0">
                <a:solidFill>
                  <a:srgbClr val="17233D"/>
                </a:solidFill>
                <a:latin typeface="Hiragino Sans"/>
                <a:ea typeface="Hiragino Sans"/>
                <a:cs typeface="Hiragino Sans"/>
              </a:rPr>
              <a:t>目次</a:t>
            </a:r>
          </a:p>
        </p:txBody>
      </p:sp>
      <p:sp>
        <p:nvSpPr>
          <p:cNvPr id="6" name="toc-item-0"/>
          <p:cNvSpPr>
            <a:spLocks noGrp="1"/>
          </p:cNvSpPr>
          <p:nvPr/>
        </p:nvSpPr>
        <p:spPr>
          <a:xfrm>
            <a:off x="1200000" y="150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1. XAI（説明可能なAI）</a:t>
            </a:r>
          </a:p>
        </p:txBody>
      </p:sp>
      <p:sp>
        <p:nvSpPr>
          <p:cNvPr id="7" name="toc-item-1"/>
          <p:cNvSpPr>
            <a:spLocks noGrp="1"/>
          </p:cNvSpPr>
          <p:nvPr/>
        </p:nvSpPr>
        <p:spPr>
          <a:xfrm>
            <a:off x="1200000" y="212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2. LIME</a:t>
            </a:r>
          </a:p>
        </p:txBody>
      </p:sp>
      <p:sp>
        <p:nvSpPr>
          <p:cNvPr id="8" name="toc-item-2"/>
          <p:cNvSpPr>
            <a:spLocks noGrp="1"/>
          </p:cNvSpPr>
          <p:nvPr/>
        </p:nvSpPr>
        <p:spPr>
          <a:xfrm>
            <a:off x="1200000" y="274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3. 多クラスに応用したLIME</a:t>
            </a:r>
          </a:p>
        </p:txBody>
      </p:sp>
      <p:sp>
        <p:nvSpPr>
          <p:cNvPr id="9" name="toc-item-3"/>
          <p:cNvSpPr>
            <a:spLocks noGrp="1"/>
          </p:cNvSpPr>
          <p:nvPr/>
        </p:nvSpPr>
        <p:spPr>
          <a:xfrm>
            <a:off x="1200000" y="336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4. 関連研究</a:t>
            </a:r>
          </a:p>
        </p:txBody>
      </p:sp>
      <p:sp>
        <p:nvSpPr>
          <p:cNvPr id="10" name="toc-item-4"/>
          <p:cNvSpPr>
            <a:spLocks noGrp="1"/>
          </p:cNvSpPr>
          <p:nvPr/>
        </p:nvSpPr>
        <p:spPr>
          <a:xfrm>
            <a:off x="1200000" y="398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5. 提案手法</a:t>
            </a:r>
          </a:p>
        </p:txBody>
      </p:sp>
      <p:sp>
        <p:nvSpPr>
          <p:cNvPr id="11" name="toc-item-5"/>
          <p:cNvSpPr>
            <a:spLocks noGrp="1"/>
          </p:cNvSpPr>
          <p:nvPr/>
        </p:nvSpPr>
        <p:spPr>
          <a:xfrm>
            <a:off x="1200000" y="4600000"/>
            <a:ext cx="9792000" cy="620000"/>
          </a:xfrm>
          <a:prstGeom prst="rect">
            <a:avLst/>
          </a:prstGeom>
          <a:noFill/>
          <a:ln w="0">
            <a:noFill/>
            <a:prstDash val="solid"/>
          </a:ln>
        </p:spPr>
        <p:txBody>
          <a:bodyPr lIns="0" tIns="0" rIns="0" bIns="0" anchor="ctr">
            <a:noAutofit/>
          </a:bodyPr>
          <a:lstStyle/>
          <a:p>
            <a:pPr algn="l">
              <a:buNone/>
              <a:defRPr sz="2200" b="1">
                <a:solidFill>
                  <a:srgbClr val="156082"/>
                </a:solidFill>
                <a:latin typeface="Hiragino Sans"/>
                <a:ea typeface="Hiragino Sans"/>
                <a:cs typeface="Hiragino Sans"/>
              </a:defRPr>
            </a:pPr>
            <a:r>
              <a:rPr lang="ja-JP" sz="2200" b="1" noProof="0">
                <a:solidFill>
                  <a:srgbClr val="156082"/>
                </a:solidFill>
                <a:latin typeface="Hiragino Sans"/>
                <a:ea typeface="Hiragino Sans"/>
                <a:cs typeface="Hiragino Sans"/>
              </a:rPr>
              <a:t>6. 実験と考察</a:t>
            </a:r>
          </a:p>
        </p:txBody>
      </p:sp>
      <p:sp>
        <p:nvSpPr>
          <p:cNvPr id="12" name="toc-item-6"/>
          <p:cNvSpPr>
            <a:spLocks noGrp="1"/>
          </p:cNvSpPr>
          <p:nvPr/>
        </p:nvSpPr>
        <p:spPr>
          <a:xfrm>
            <a:off x="1200000" y="522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7. まとめと今後の展望</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4ADE5C19-DBDE-48F8-AE96-283A50BC174E}"/>
              </a:ext>
            </a:extLst>
          </p:cNvPr>
          <p:cNvSpPr>
            <a:spLocks noGrp="1"/>
          </p:cNvSpPr>
          <p:nvPr/>
        </p:nvSpPr>
        <p:spPr>
          <a:xfrm>
            <a:off x="514350" y="409575"/>
            <a:ext cx="114300" cy="476250"/>
          </a:xfrm>
          <a:prstGeom prst="rect">
            <a:avLst/>
          </a:prstGeom>
          <a:solidFill>
            <a:srgbClr val="1479C9"/>
          </a:solidFill>
          <a:ln w="0">
            <a:noFill/>
          </a:ln>
        </p:spPr>
        <p:txBody>
          <a:bodyPr/>
          <a:lstStyle/>
          <a:p>
            <a:endParaRPr/>
          </a:p>
        </p:txBody>
      </p:sp>
      <p:sp>
        <p:nvSpPr>
          <p:cNvPr id="2" name="正方形/長方形 1">
            <a:extLst>
              <a:ext uri="{FF2B5EF4-FFF2-40B4-BE49-F238E27FC236}">
                <a16:creationId xmlns:a16="http://schemas.microsoft.com/office/drawing/2014/main" id="{7BD5797D-F1EE-4DE8-9C9D-8C140102DEE8}"/>
              </a:ext>
            </a:extLst>
          </p:cNvPr>
          <p:cNvSpPr>
            <a:spLocks noGrp="1"/>
          </p:cNvSpPr>
          <p:nvPr/>
        </p:nvSpPr>
        <p:spPr>
          <a:xfrm>
            <a:off x="762000" y="342900"/>
            <a:ext cx="10668000" cy="476250"/>
          </a:xfrm>
          <a:prstGeom prst="rect">
            <a:avLst/>
          </a:prstGeom>
          <a:noFill/>
          <a:ln w="0">
            <a:noFill/>
          </a:ln>
        </p:spPr>
        <p:txBody>
          <a:bodyPr anchor="ctr">
            <a:normAutofit fontScale="99020"/>
          </a:bodyPr>
          <a:lstStyle/>
          <a:p>
            <a:pPr algn="l">
              <a:buNone/>
              <a:defRPr sz="2550" b="1">
                <a:solidFill>
                  <a:srgbClr val="17233D"/>
                </a:solidFill>
                <a:latin typeface="Hiragino Sans"/>
                <a:ea typeface="Hiragino Sans"/>
                <a:cs typeface="Hiragino Sans"/>
              </a:defRPr>
            </a:pPr>
            <a:r>
              <a:rPr sz="2550" b="1">
                <a:solidFill>
                  <a:srgbClr val="17233D"/>
                </a:solidFill>
                <a:latin typeface="Hiragino Sans"/>
                <a:ea typeface="Hiragino Sans"/>
                <a:cs typeface="Hiragino Sans"/>
              </a:rPr>
              <a:t>実験設定</a:t>
            </a:r>
          </a:p>
        </p:txBody>
      </p:sp>
      <p:sp>
        <p:nvSpPr>
          <p:cNvPr id="3" name="正方形/長方形 2">
            <a:extLst>
              <a:ext uri="{FF2B5EF4-FFF2-40B4-BE49-F238E27FC236}">
                <a16:creationId xmlns:a16="http://schemas.microsoft.com/office/drawing/2014/main" id="{D0C92C36-03F2-4A52-BF76-D12016ED49A3}"/>
              </a:ext>
            </a:extLst>
          </p:cNvPr>
          <p:cNvSpPr>
            <a:spLocks noGrp="1"/>
          </p:cNvSpPr>
          <p:nvPr/>
        </p:nvSpPr>
        <p:spPr>
          <a:xfrm>
            <a:off x="762000" y="800100"/>
            <a:ext cx="10668000" cy="247650"/>
          </a:xfrm>
          <a:prstGeom prst="rect">
            <a:avLst/>
          </a:prstGeom>
          <a:noFill/>
          <a:ln w="0">
            <a:noFill/>
          </a:ln>
        </p:spPr>
        <p:txBody>
          <a:bodyPr anchor="ctr">
            <a:normAutofit fontScale="92917" lnSpcReduction="10000"/>
          </a:bodyPr>
          <a:lstStyle/>
          <a:p>
            <a:pPr algn="l">
              <a:buNone/>
              <a:defRPr sz="1200" b="0">
                <a:solidFill>
                  <a:srgbClr val="687386"/>
                </a:solidFill>
                <a:latin typeface="Hiragino Sans"/>
                <a:ea typeface="Hiragino Sans"/>
                <a:cs typeface="Hiragino Sans"/>
              </a:defRPr>
            </a:pPr>
            <a:r>
              <a:rPr sz="1200" b="0">
                <a:solidFill>
                  <a:srgbClr val="687386"/>
                </a:solidFill>
                <a:latin typeface="Hiragino Sans"/>
                <a:ea typeface="Hiragino Sans"/>
                <a:cs typeface="Hiragino Sans"/>
              </a:rPr>
              <a:t>すべての手法で摂動点・近接度重み・説明対象を共有</a:t>
            </a:r>
          </a:p>
        </p:txBody>
      </p:sp>
      <p:graphicFrame>
        <p:nvGraphicFramePr>
          <p:cNvPr id="13" name="表 10"/>
          <p:cNvGraphicFramePr/>
          <p:nvPr/>
        </p:nvGraphicFramePr>
        <p:xfrm>
          <a:off x="762000" y="1295400"/>
          <a:ext cx="10668000" cy="4629150"/>
        </p:xfrm>
        <a:graphic>
          <a:graphicData uri="http://schemas.openxmlformats.org/drawingml/2006/table">
            <a:tbl>
              <a:tblPr/>
              <a:tblGrid>
                <a:gridCol w="2333625">
                  <a:extLst>
                    <a:ext uri="{9D8B030D-6E8A-4147-A177-3AD203B41FA5}">
                      <a16:colId xmlns:a16="http://schemas.microsoft.com/office/drawing/2014/main" val="20000"/>
                    </a:ext>
                  </a:extLst>
                </a:gridCol>
                <a:gridCol w="8334375">
                  <a:extLst>
                    <a:ext uri="{9D8B030D-6E8A-4147-A177-3AD203B41FA5}">
                      <a16:colId xmlns:a16="http://schemas.microsoft.com/office/drawing/2014/main" val="20001"/>
                    </a:ext>
                  </a:extLst>
                </a:gridCol>
              </a:tblGrid>
              <a:tr h="514350">
                <a:tc>
                  <a:txBody>
                    <a:bodyPr/>
                    <a:lstStyle/>
                    <a:p>
                      <a:r>
                        <a:rPr sz="1275" b="1">
                          <a:solidFill>
                            <a:srgbClr val="FFFFFF"/>
                          </a:solidFill>
                          <a:latin typeface="Hiragino Sans"/>
                          <a:ea typeface="Hiragino Sans"/>
                          <a:cs typeface="Hiragino Sans"/>
                        </a:rPr>
                        <a:t>項目</a:t>
                      </a:r>
                    </a:p>
                  </a:txBody>
                  <a:tcPr marL="114300" marR="114300" marT="76200" marB="76200" anchor="ctr">
                    <a:solidFill>
                      <a:srgbClr val="1479C9"/>
                    </a:solidFill>
                  </a:tcPr>
                </a:tc>
                <a:tc>
                  <a:txBody>
                    <a:bodyPr/>
                    <a:lstStyle/>
                    <a:p>
                      <a:r>
                        <a:rPr sz="1275" b="1">
                          <a:solidFill>
                            <a:srgbClr val="FFFFFF"/>
                          </a:solidFill>
                          <a:latin typeface="Hiragino Sans"/>
                          <a:ea typeface="Hiragino Sans"/>
                          <a:cs typeface="Hiragino Sans"/>
                        </a:rPr>
                        <a:t>設定</a:t>
                      </a:r>
                    </a:p>
                  </a:txBody>
                  <a:tcPr marL="114300" marR="114300" marT="76200" marB="76200" anchor="ctr">
                    <a:solidFill>
                      <a:srgbClr val="1479C9"/>
                    </a:solidFill>
                  </a:tcPr>
                </a:tc>
                <a:extLst>
                  <a:ext uri="{0D108BD9-81ED-4DB2-BD59-A6C34878D82A}">
                    <a16:rowId xmlns:a16="http://schemas.microsoft.com/office/drawing/2014/main" val="10000"/>
                  </a:ext>
                </a:extLst>
              </a:tr>
              <a:tr h="514350">
                <a:tc>
                  <a:txBody>
                    <a:bodyPr/>
                    <a:lstStyle/>
                    <a:p>
                      <a:r>
                        <a:rPr sz="1125" b="1">
                          <a:solidFill>
                            <a:srgbClr val="1479C9"/>
                          </a:solidFill>
                          <a:latin typeface="Hiragino Sans"/>
                          <a:ea typeface="Hiragino Sans"/>
                          <a:cs typeface="Hiragino Sans"/>
                        </a:rPr>
                        <a:t>データ</a:t>
                      </a:r>
                    </a:p>
                  </a:txBody>
                  <a:tcPr marL="114300" marR="114300" marT="57150" marB="57150" anchor="ctr">
                    <a:solidFill>
                      <a:srgbClr val="EAF4FB"/>
                    </a:solidFill>
                  </a:tcPr>
                </a:tc>
                <a:tc>
                  <a:txBody>
                    <a:bodyPr/>
                    <a:lstStyle/>
                    <a:p>
                      <a:r>
                        <a:rPr sz="1125">
                          <a:solidFill>
                            <a:srgbClr val="17233D"/>
                          </a:solidFill>
                          <a:latin typeface="Hiragino Sans"/>
                          <a:ea typeface="Hiragino Sans"/>
                          <a:cs typeface="Hiragino Sans"/>
                        </a:rPr>
                        <a:t>make_classification、2,000件、学習70%／評価30%</a:t>
                      </a:r>
                    </a:p>
                  </a:txBody>
                  <a:tcPr marL="114300" marR="114300" marT="57150" marB="57150" anchor="ctr">
                    <a:solidFill>
                      <a:srgbClr val="FBFCFE"/>
                    </a:solidFill>
                  </a:tcPr>
                </a:tc>
                <a:extLst>
                  <a:ext uri="{0D108BD9-81ED-4DB2-BD59-A6C34878D82A}">
                    <a16:rowId xmlns:a16="http://schemas.microsoft.com/office/drawing/2014/main" val="10001"/>
                  </a:ext>
                </a:extLst>
              </a:tr>
              <a:tr h="514350">
                <a:tc>
                  <a:txBody>
                    <a:bodyPr/>
                    <a:lstStyle/>
                    <a:p>
                      <a:r>
                        <a:rPr sz="1125" b="1">
                          <a:solidFill>
                            <a:srgbClr val="1479C9"/>
                          </a:solidFill>
                          <a:latin typeface="Hiragino Sans"/>
                          <a:ea typeface="Hiragino Sans"/>
                          <a:cs typeface="Hiragino Sans"/>
                        </a:rPr>
                        <a:t>局所真値実験</a:t>
                      </a:r>
                    </a:p>
                  </a:txBody>
                  <a:tcPr marL="114300" marR="114300" marT="57150" marB="57150" anchor="ctr">
                    <a:solidFill>
                      <a:srgbClr val="EAF4FB"/>
                    </a:solidFill>
                  </a:tcPr>
                </a:tc>
                <a:tc>
                  <a:txBody>
                    <a:bodyPr/>
                    <a:lstStyle/>
                    <a:p>
                      <a:r>
                        <a:rPr sz="1125">
                          <a:solidFill>
                            <a:srgbClr val="17233D"/>
                          </a:solidFill>
                          <a:latin typeface="Hiragino Sans"/>
                          <a:ea typeface="Hiragino Sans"/>
                          <a:cs typeface="Hiragino Sans"/>
                        </a:rPr>
                        <a:t>非線形softmax、相関入力、弱い密ノイズ、d=30, C={3,5,8}, K=5、曲率={0.35,0.80}</a:t>
                      </a:r>
                    </a:p>
                  </a:txBody>
                  <a:tcPr marL="114300" marR="114300" marT="57150" marB="57150" anchor="ctr"/>
                </a:tc>
                <a:extLst>
                  <a:ext uri="{0D108BD9-81ED-4DB2-BD59-A6C34878D82A}">
                    <a16:rowId xmlns:a16="http://schemas.microsoft.com/office/drawing/2014/main" val="10002"/>
                  </a:ext>
                </a:extLst>
              </a:tr>
              <a:tr h="514350">
                <a:tc>
                  <a:txBody>
                    <a:bodyPr/>
                    <a:lstStyle/>
                    <a:p>
                      <a:r>
                        <a:rPr sz="1125" b="1">
                          <a:solidFill>
                            <a:srgbClr val="1479C9"/>
                          </a:solidFill>
                          <a:latin typeface="Hiragino Sans"/>
                          <a:ea typeface="Hiragino Sans"/>
                          <a:cs typeface="Hiragino Sans"/>
                        </a:rPr>
                        <a:t>反復と評価</a:t>
                      </a:r>
                    </a:p>
                  </a:txBody>
                  <a:tcPr marL="114300" marR="114300" marT="57150" marB="57150" anchor="ctr">
                    <a:solidFill>
                      <a:srgbClr val="EAF4FB"/>
                    </a:solidFill>
                  </a:tcPr>
                </a:tc>
                <a:tc>
                  <a:txBody>
                    <a:bodyPr/>
                    <a:lstStyle/>
                    <a:p>
                      <a:r>
                        <a:rPr sz="1125">
                          <a:solidFill>
                            <a:srgbClr val="17233D"/>
                          </a:solidFill>
                          <a:latin typeface="Hiragino Sans"/>
                          <a:ea typeface="Hiragino Sans"/>
                          <a:cs typeface="Hiragino Sans"/>
                        </a:rPr>
                        <a:t>各条件20独立BB、各6説明点。真の局所勾配Top-5再現率＋未使用摂動での符号忠実度</a:t>
                      </a:r>
                    </a:p>
                  </a:txBody>
                  <a:tcPr marL="114300" marR="114300" marT="57150" marB="57150" anchor="ctr">
                    <a:solidFill>
                      <a:srgbClr val="FBFCFE"/>
                    </a:solidFill>
                  </a:tcPr>
                </a:tc>
                <a:extLst>
                  <a:ext uri="{0D108BD9-81ED-4DB2-BD59-A6C34878D82A}">
                    <a16:rowId xmlns:a16="http://schemas.microsoft.com/office/drawing/2014/main" val="10003"/>
                  </a:ext>
                </a:extLst>
              </a:tr>
              <a:tr h="514350">
                <a:tc>
                  <a:txBody>
                    <a:bodyPr/>
                    <a:lstStyle/>
                    <a:p>
                      <a:r>
                        <a:rPr sz="1125" b="1">
                          <a:solidFill>
                            <a:srgbClr val="1479C9"/>
                          </a:solidFill>
                          <a:latin typeface="Hiragino Sans"/>
                          <a:ea typeface="Hiragino Sans"/>
                          <a:cs typeface="Hiragino Sans"/>
                        </a:rPr>
                        <a:t>計算時間</a:t>
                      </a:r>
                    </a:p>
                  </a:txBody>
                  <a:tcPr marL="114300" marR="114300" marT="57150" marB="57150" anchor="ctr">
                    <a:solidFill>
                      <a:srgbClr val="EAF4FB"/>
                    </a:solidFill>
                  </a:tcPr>
                </a:tc>
                <a:tc>
                  <a:txBody>
                    <a:bodyPr/>
                    <a:lstStyle/>
                    <a:p>
                      <a:r>
                        <a:rPr sz="1125">
                          <a:solidFill>
                            <a:srgbClr val="17233D"/>
                          </a:solidFill>
                          <a:latin typeface="Hiragino Sans"/>
                          <a:ea typeface="Hiragino Sans"/>
                          <a:cs typeface="Hiragino Sans"/>
                        </a:rPr>
                        <a:t>Random Forest 200本、d={8,14,20}, C=3〜10、各条件10 seeds、説明点4件</a:t>
                      </a:r>
                    </a:p>
                  </a:txBody>
                  <a:tcPr marL="114300" marR="114300" marT="57150" marB="57150" anchor="ctr"/>
                </a:tc>
                <a:extLst>
                  <a:ext uri="{0D108BD9-81ED-4DB2-BD59-A6C34878D82A}">
                    <a16:rowId xmlns:a16="http://schemas.microsoft.com/office/drawing/2014/main" val="10004"/>
                  </a:ext>
                </a:extLst>
              </a:tr>
              <a:tr h="514350">
                <a:tc>
                  <a:txBody>
                    <a:bodyPr/>
                    <a:lstStyle/>
                    <a:p>
                      <a:r>
                        <a:rPr sz="1125" b="1">
                          <a:solidFill>
                            <a:srgbClr val="1479C9"/>
                          </a:solidFill>
                          <a:latin typeface="Hiragino Sans"/>
                          <a:ea typeface="Hiragino Sans"/>
                          <a:cs typeface="Hiragino Sans"/>
                        </a:rPr>
                        <a:t>説明対象</a:t>
                      </a:r>
                    </a:p>
                  </a:txBody>
                  <a:tcPr marL="114300" marR="114300" marT="57150" marB="57150" anchor="ctr">
                    <a:solidFill>
                      <a:srgbClr val="EAF4FB"/>
                    </a:solidFill>
                  </a:tcPr>
                </a:tc>
                <a:tc>
                  <a:txBody>
                    <a:bodyPr/>
                    <a:lstStyle/>
                    <a:p>
                      <a:r>
                        <a:rPr sz="1125">
                          <a:solidFill>
                            <a:srgbClr val="17233D"/>
                          </a:solidFill>
                          <a:latin typeface="Hiragino Sans"/>
                          <a:ea typeface="Hiragino Sans"/>
                          <a:cs typeface="Hiragino Sans"/>
                        </a:rPr>
                        <a:t>各入力における予測確率Top-1とTop-2。確率差が小さい点を優先</a:t>
                      </a:r>
                    </a:p>
                  </a:txBody>
                  <a:tcPr marL="114300" marR="114300" marT="57150" marB="57150" anchor="ctr">
                    <a:solidFill>
                      <a:srgbClr val="FBFCFE"/>
                    </a:solidFill>
                  </a:tcPr>
                </a:tc>
                <a:extLst>
                  <a:ext uri="{0D108BD9-81ED-4DB2-BD59-A6C34878D82A}">
                    <a16:rowId xmlns:a16="http://schemas.microsoft.com/office/drawing/2014/main" val="10005"/>
                  </a:ext>
                </a:extLst>
              </a:tr>
              <a:tr h="514350">
                <a:tc>
                  <a:txBody>
                    <a:bodyPr/>
                    <a:lstStyle/>
                    <a:p>
                      <a:r>
                        <a:rPr sz="1125" b="1">
                          <a:solidFill>
                            <a:srgbClr val="1479C9"/>
                          </a:solidFill>
                          <a:latin typeface="Hiragino Sans"/>
                          <a:ea typeface="Hiragino Sans"/>
                          <a:cs typeface="Hiragino Sans"/>
                        </a:rPr>
                        <a:t>摂動と局所重み</a:t>
                      </a:r>
                    </a:p>
                  </a:txBody>
                  <a:tcPr marL="114300" marR="114300" marT="57150" marB="57150" anchor="ctr">
                    <a:solidFill>
                      <a:srgbClr val="EAF4FB"/>
                    </a:solidFill>
                  </a:tcPr>
                </a:tc>
                <a:tc>
                  <a:txBody>
                    <a:bodyPr/>
                    <a:lstStyle/>
                    <a:p>
                      <a:r>
                        <a:rPr sz="1125">
                          <a:solidFill>
                            <a:srgbClr val="17233D"/>
                          </a:solidFill>
                          <a:latin typeface="Hiragino Sans"/>
                          <a:ea typeface="Hiragino Sans"/>
                          <a:cs typeface="Hiragino Sans"/>
                        </a:rPr>
                        <a:t>各説明点でGaussian摂動300点。特徴標準偏差と指数カーネルを全手法で共有</a:t>
                      </a:r>
                    </a:p>
                  </a:txBody>
                  <a:tcPr marL="114300" marR="114300" marT="57150" marB="57150" anchor="ctr"/>
                </a:tc>
                <a:extLst>
                  <a:ext uri="{0D108BD9-81ED-4DB2-BD59-A6C34878D82A}">
                    <a16:rowId xmlns:a16="http://schemas.microsoft.com/office/drawing/2014/main" val="10006"/>
                  </a:ext>
                </a:extLst>
              </a:tr>
              <a:tr h="514350">
                <a:tc>
                  <a:txBody>
                    <a:bodyPr/>
                    <a:lstStyle/>
                    <a:p>
                      <a:r>
                        <a:rPr sz="1125" b="1">
                          <a:solidFill>
                            <a:srgbClr val="1479C9"/>
                          </a:solidFill>
                          <a:latin typeface="Hiragino Sans"/>
                          <a:ea typeface="Hiragino Sans"/>
                          <a:cs typeface="Hiragino Sans"/>
                        </a:rPr>
                        <a:t>特徴選択</a:t>
                      </a:r>
                    </a:p>
                  </a:txBody>
                  <a:tcPr marL="114300" marR="114300" marT="57150" marB="57150" anchor="ctr">
                    <a:solidFill>
                      <a:srgbClr val="EAF4FB"/>
                    </a:solidFill>
                  </a:tcPr>
                </a:tc>
                <a:tc>
                  <a:txBody>
                    <a:bodyPr/>
                    <a:lstStyle/>
                    <a:p>
                      <a:r>
                        <a:rPr sz="1125">
                          <a:solidFill>
                            <a:srgbClr val="17233D"/>
                          </a:solidFill>
                          <a:latin typeface="Hiragino Sans"/>
                          <a:ea typeface="Hiragino Sans"/>
                          <a:cs typeface="Hiragino Sans"/>
                        </a:rPr>
                        <a:t>関連性・時間実験では同じK。Lasso pathで選択後、選択特徴だけで最終再fit</a:t>
                      </a:r>
                    </a:p>
                  </a:txBody>
                  <a:tcPr marL="114300" marR="114300" marT="57150" marB="57150" anchor="ctr">
                    <a:solidFill>
                      <a:srgbClr val="FBFCFE"/>
                    </a:solidFill>
                  </a:tcPr>
                </a:tc>
                <a:extLst>
                  <a:ext uri="{0D108BD9-81ED-4DB2-BD59-A6C34878D82A}">
                    <a16:rowId xmlns:a16="http://schemas.microsoft.com/office/drawing/2014/main" val="10007"/>
                  </a:ext>
                </a:extLst>
              </a:tr>
              <a:tr h="514350">
                <a:tc>
                  <a:txBody>
                    <a:bodyPr/>
                    <a:lstStyle/>
                    <a:p>
                      <a:r>
                        <a:rPr sz="1125" b="1">
                          <a:solidFill>
                            <a:srgbClr val="1479C9"/>
                          </a:solidFill>
                          <a:latin typeface="Hiragino Sans"/>
                          <a:ea typeface="Hiragino Sans"/>
                          <a:cs typeface="Hiragino Sans"/>
                        </a:rPr>
                        <a:t>サロゲート</a:t>
                      </a:r>
                    </a:p>
                  </a:txBody>
                  <a:tcPr marL="114300" marR="114300" marT="57150" marB="57150" anchor="ctr">
                    <a:solidFill>
                      <a:srgbClr val="EAF4FB"/>
                    </a:solidFill>
                  </a:tcPr>
                </a:tc>
                <a:tc>
                  <a:txBody>
                    <a:bodyPr/>
                    <a:lstStyle/>
                    <a:p>
                      <a:r>
                        <a:rPr sz="1125">
                          <a:solidFill>
                            <a:srgbClr val="17233D"/>
                          </a:solidFill>
                          <a:latin typeface="Hiragino Sans"/>
                          <a:ea typeface="Hiragino Sans"/>
                          <a:cs typeface="Hiragino Sans"/>
                        </a:rPr>
                        <a:t>Ridge α=1.0、Logistic C=1.0。乱数も各条件内で手法間共有</a:t>
                      </a:r>
                    </a:p>
                  </a:txBody>
                  <a:tcPr marL="114300" marR="114300" marT="57150" marB="57150"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5102269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正方形/長方形 15">
            <a:extLst>
              <a:ext uri="{FF2B5EF4-FFF2-40B4-BE49-F238E27FC236}">
                <a16:creationId xmlns:a16="http://schemas.microsoft.com/office/drawing/2014/main" id="{2F6021A5-FB3E-4B79-A6F8-B7DCE6EB2CCC}"/>
              </a:ext>
            </a:extLst>
          </p:cNvPr>
          <p:cNvSpPr>
            <a:spLocks noGrp="1"/>
          </p:cNvSpPr>
          <p:nvPr/>
        </p:nvSpPr>
        <p:spPr>
          <a:xfrm>
            <a:off x="514350" y="409575"/>
            <a:ext cx="114300" cy="476250"/>
          </a:xfrm>
          <a:prstGeom prst="rect">
            <a:avLst/>
          </a:prstGeom>
          <a:solidFill>
            <a:srgbClr val="1479C9"/>
          </a:solidFill>
          <a:ln w="0">
            <a:noFill/>
          </a:ln>
        </p:spPr>
        <p:txBody>
          <a:bodyPr/>
          <a:lstStyle/>
          <a:p>
            <a:endParaRPr lang="ja-JP" altLang="en-US"/>
          </a:p>
        </p:txBody>
      </p:sp>
      <p:sp>
        <p:nvSpPr>
          <p:cNvPr id="2" name="正方形/長方形 1">
            <a:extLst>
              <a:ext uri="{FF2B5EF4-FFF2-40B4-BE49-F238E27FC236}">
                <a16:creationId xmlns:a16="http://schemas.microsoft.com/office/drawing/2014/main" id="{2BAF003A-2CC4-4ABE-91AE-27EE07AEF5D2}"/>
              </a:ext>
            </a:extLst>
          </p:cNvPr>
          <p:cNvSpPr>
            <a:spLocks noGrp="1"/>
          </p:cNvSpPr>
          <p:nvPr/>
        </p:nvSpPr>
        <p:spPr>
          <a:xfrm>
            <a:off x="762000" y="342900"/>
            <a:ext cx="10668000" cy="476250"/>
          </a:xfrm>
          <a:prstGeom prst="rect">
            <a:avLst/>
          </a:prstGeom>
          <a:noFill/>
          <a:ln w="0">
            <a:noFill/>
          </a:ln>
        </p:spPr>
        <p:txBody>
          <a:bodyPr anchor="ctr">
            <a:normAutofit fontScale="99020"/>
          </a:bodyPr>
          <a:lstStyle/>
          <a:p>
            <a:pPr algn="l">
              <a:defRPr sz="2550" b="1">
                <a:solidFill>
                  <a:srgbClr val="17233D"/>
                </a:solidFill>
                <a:latin typeface="Hiragino Sans"/>
                <a:ea typeface="Hiragino Sans"/>
                <a:cs typeface="Hiragino Sans"/>
              </a:defRPr>
            </a:pPr>
            <a:r>
              <a:rPr sz="2550" b="1">
                <a:solidFill>
                  <a:srgbClr val="17233D"/>
                </a:solidFill>
                <a:latin typeface="Hiragino Sans"/>
                <a:ea typeface="Hiragino Sans"/>
                <a:cs typeface="Hiragino Sans"/>
              </a:rPr>
              <a:t>結果1：真の局所特徴を選べるか</a:t>
            </a:r>
          </a:p>
        </p:txBody>
      </p:sp>
      <p:sp>
        <p:nvSpPr>
          <p:cNvPr id="3" name="正方形/長方形 2">
            <a:extLst>
              <a:ext uri="{FF2B5EF4-FFF2-40B4-BE49-F238E27FC236}">
                <a16:creationId xmlns:a16="http://schemas.microsoft.com/office/drawing/2014/main" id="{9034DE62-E9A9-447A-9459-919E802B499D}"/>
              </a:ext>
            </a:extLst>
          </p:cNvPr>
          <p:cNvSpPr>
            <a:spLocks noGrp="1"/>
          </p:cNvSpPr>
          <p:nvPr/>
        </p:nvSpPr>
        <p:spPr>
          <a:xfrm>
            <a:off x="762000" y="800100"/>
            <a:ext cx="10668000" cy="247650"/>
          </a:xfrm>
          <a:prstGeom prst="rect">
            <a:avLst/>
          </a:prstGeom>
          <a:noFill/>
          <a:ln w="0">
            <a:noFill/>
          </a:ln>
        </p:spPr>
        <p:txBody>
          <a:bodyPr anchor="ctr">
            <a:normAutofit fontScale="92917" lnSpcReduction="10000"/>
          </a:bodyPr>
          <a:lstStyle/>
          <a:p>
            <a:pPr algn="l">
              <a:defRPr sz="1200" b="0">
                <a:solidFill>
                  <a:srgbClr val="687386"/>
                </a:solidFill>
                <a:latin typeface="Hiragino Sans"/>
                <a:ea typeface="Hiragino Sans"/>
                <a:cs typeface="Hiragino Sans"/>
              </a:defRPr>
            </a:pPr>
            <a:r>
              <a:rPr sz="1200" b="0">
                <a:solidFill>
                  <a:srgbClr val="687386"/>
                </a:solidFill>
                <a:latin typeface="Hiragino Sans"/>
                <a:ea typeface="Hiragino Sans"/>
                <a:cs typeface="Hiragino Sans"/>
              </a:rPr>
              <a:t>非線形・相関・ノイズを含む30次元BB。各点の真のA/B勾配Top-5を数値計算</a:t>
            </a:r>
          </a:p>
        </p:txBody>
      </p:sp>
      <p:pic>
        <p:nvPicPr>
          <p:cNvPr id="20" name="図 19"/>
          <p:cNvPicPr>
            <a:picLocks noChangeAspect="1"/>
          </p:cNvPicPr>
          <p:nvPr/>
        </p:nvPicPr>
        <p:blipFill>
          <a:blip r:embed="rId3"/>
          <a:stretch/>
        </p:blipFill>
        <p:spPr>
          <a:xfrm>
            <a:off x="523875" y="2614166"/>
            <a:ext cx="8524875" cy="3572767"/>
          </a:xfrm>
          <a:prstGeom prst="rect">
            <a:avLst/>
          </a:prstGeom>
        </p:spPr>
      </p:pic>
      <p:sp>
        <p:nvSpPr>
          <p:cNvPr id="6" name="角丸四角形 5">
            <a:extLst>
              <a:ext uri="{FF2B5EF4-FFF2-40B4-BE49-F238E27FC236}">
                <a16:creationId xmlns:a16="http://schemas.microsoft.com/office/drawing/2014/main" id="{320073FC-A068-493B-9184-36B6599D264B}"/>
              </a:ext>
            </a:extLst>
          </p:cNvPr>
          <p:cNvSpPr>
            <a:spLocks noGrp="1"/>
          </p:cNvSpPr>
          <p:nvPr/>
        </p:nvSpPr>
        <p:spPr>
          <a:xfrm>
            <a:off x="9220200" y="2428875"/>
            <a:ext cx="2305050" cy="1162050"/>
          </a:xfrm>
          <a:prstGeom prst="roundRect">
            <a:avLst>
              <a:gd name="adj" fmla="val 6557"/>
            </a:avLst>
          </a:prstGeom>
          <a:solidFill>
            <a:srgbClr val="F7F9FC"/>
          </a:solidFill>
          <a:ln w="9525">
            <a:solidFill>
              <a:srgbClr val="E7EBF0"/>
            </a:solidFill>
          </a:ln>
        </p:spPr>
        <p:txBody>
          <a:bodyPr/>
          <a:lstStyle/>
          <a:p>
            <a:endParaRPr lang="ja-JP" altLang="en-US"/>
          </a:p>
        </p:txBody>
      </p:sp>
      <p:sp>
        <p:nvSpPr>
          <p:cNvPr id="7" name="正方形/長方形 6">
            <a:extLst>
              <a:ext uri="{FF2B5EF4-FFF2-40B4-BE49-F238E27FC236}">
                <a16:creationId xmlns:a16="http://schemas.microsoft.com/office/drawing/2014/main" id="{AA5A21CE-4DAF-4C05-9568-C0E74A110E0E}"/>
              </a:ext>
            </a:extLst>
          </p:cNvPr>
          <p:cNvSpPr>
            <a:spLocks noGrp="1"/>
          </p:cNvSpPr>
          <p:nvPr/>
        </p:nvSpPr>
        <p:spPr>
          <a:xfrm>
            <a:off x="9391650" y="2543175"/>
            <a:ext cx="1962150" cy="266700"/>
          </a:xfrm>
          <a:prstGeom prst="rect">
            <a:avLst/>
          </a:prstGeom>
          <a:noFill/>
          <a:ln w="0">
            <a:noFill/>
          </a:ln>
        </p:spPr>
        <p:txBody>
          <a:bodyPr anchor="ctr">
            <a:normAutofit fontScale="85185"/>
          </a:bodyPr>
          <a:lstStyle/>
          <a:p>
            <a:pPr algn="ctr">
              <a:defRPr sz="1350" b="1">
                <a:solidFill>
                  <a:srgbClr val="687386"/>
                </a:solidFill>
                <a:latin typeface="Hiragino Sans"/>
                <a:ea typeface="Hiragino Sans"/>
                <a:cs typeface="Hiragino Sans"/>
              </a:defRPr>
            </a:pPr>
            <a:r>
              <a:rPr sz="1350" b="1">
                <a:solidFill>
                  <a:srgbClr val="687386"/>
                </a:solidFill>
                <a:latin typeface="Hiragino Sans"/>
                <a:ea typeface="Hiragino Sans"/>
                <a:cs typeface="Hiragino Sans"/>
              </a:rPr>
              <a:t>全条件平均</a:t>
            </a:r>
          </a:p>
        </p:txBody>
      </p:sp>
      <p:sp>
        <p:nvSpPr>
          <p:cNvPr id="8" name="正方形/長方形 7">
            <a:extLst>
              <a:ext uri="{FF2B5EF4-FFF2-40B4-BE49-F238E27FC236}">
                <a16:creationId xmlns:a16="http://schemas.microsoft.com/office/drawing/2014/main" id="{42195F54-3AAC-4555-A421-85573DDFDB0A}"/>
              </a:ext>
            </a:extLst>
          </p:cNvPr>
          <p:cNvSpPr>
            <a:spLocks noGrp="1"/>
          </p:cNvSpPr>
          <p:nvPr/>
        </p:nvSpPr>
        <p:spPr>
          <a:xfrm>
            <a:off x="9391650" y="2886075"/>
            <a:ext cx="1962150" cy="533400"/>
          </a:xfrm>
          <a:prstGeom prst="rect">
            <a:avLst/>
          </a:prstGeom>
          <a:noFill/>
          <a:ln w="0">
            <a:noFill/>
          </a:ln>
        </p:spPr>
        <p:txBody>
          <a:bodyPr anchor="ctr">
            <a:normAutofit/>
          </a:bodyPr>
          <a:lstStyle/>
          <a:p>
            <a:pPr algn="ctr">
              <a:defRPr sz="2025" b="1">
                <a:solidFill>
                  <a:srgbClr val="687386"/>
                </a:solidFill>
                <a:latin typeface="Hiragino Sans"/>
                <a:ea typeface="Hiragino Sans"/>
                <a:cs typeface="Hiragino Sans"/>
              </a:defRPr>
            </a:pPr>
            <a:r>
              <a:rPr sz="2025" b="1">
                <a:solidFill>
                  <a:srgbClr val="687386"/>
                </a:solidFill>
                <a:latin typeface="Hiragino Sans"/>
                <a:ea typeface="Hiragino Sans"/>
                <a:cs typeface="Hiragino Sans"/>
              </a:rPr>
              <a:t>OVR  0.820</a:t>
            </a:r>
          </a:p>
        </p:txBody>
      </p:sp>
      <p:sp>
        <p:nvSpPr>
          <p:cNvPr id="9" name="角丸四角形 8">
            <a:extLst>
              <a:ext uri="{FF2B5EF4-FFF2-40B4-BE49-F238E27FC236}">
                <a16:creationId xmlns:a16="http://schemas.microsoft.com/office/drawing/2014/main" id="{4D28DE9F-8CA4-4F70-AAD2-3106582FD7A9}"/>
              </a:ext>
            </a:extLst>
          </p:cNvPr>
          <p:cNvSpPr>
            <a:spLocks noGrp="1"/>
          </p:cNvSpPr>
          <p:nvPr/>
        </p:nvSpPr>
        <p:spPr>
          <a:xfrm>
            <a:off x="9220200" y="3781425"/>
            <a:ext cx="2305050" cy="1219200"/>
          </a:xfrm>
          <a:prstGeom prst="roundRect">
            <a:avLst>
              <a:gd name="adj" fmla="val 6250"/>
            </a:avLst>
          </a:prstGeom>
          <a:solidFill>
            <a:srgbClr val="EAF4FB"/>
          </a:solidFill>
          <a:ln w="0">
            <a:noFill/>
          </a:ln>
        </p:spPr>
        <p:txBody>
          <a:bodyPr/>
          <a:lstStyle/>
          <a:p>
            <a:endParaRPr lang="ja-JP" altLang="en-US"/>
          </a:p>
        </p:txBody>
      </p:sp>
      <p:sp>
        <p:nvSpPr>
          <p:cNvPr id="10" name="正方形/長方形 9">
            <a:extLst>
              <a:ext uri="{FF2B5EF4-FFF2-40B4-BE49-F238E27FC236}">
                <a16:creationId xmlns:a16="http://schemas.microsoft.com/office/drawing/2014/main" id="{9582CB9E-AC87-4447-9DEE-52219695FAB9}"/>
              </a:ext>
            </a:extLst>
          </p:cNvPr>
          <p:cNvSpPr>
            <a:spLocks noGrp="1"/>
          </p:cNvSpPr>
          <p:nvPr/>
        </p:nvSpPr>
        <p:spPr>
          <a:xfrm>
            <a:off x="9391650" y="3952875"/>
            <a:ext cx="1962150" cy="838200"/>
          </a:xfrm>
          <a:prstGeom prst="rect">
            <a:avLst/>
          </a:prstGeom>
          <a:noFill/>
          <a:ln w="0">
            <a:noFill/>
          </a:ln>
        </p:spPr>
        <p:txBody>
          <a:bodyPr anchor="ctr">
            <a:normAutofit fontScale="85542"/>
          </a:bodyPr>
          <a:lstStyle/>
          <a:p>
            <a:pPr algn="ctr">
              <a:defRPr sz="1500" b="1">
                <a:solidFill>
                  <a:srgbClr val="F28C28"/>
                </a:solidFill>
                <a:latin typeface="Hiragino Sans"/>
                <a:ea typeface="Hiragino Sans"/>
                <a:cs typeface="Hiragino Sans"/>
              </a:defRPr>
            </a:pPr>
            <a:r>
              <a:rPr sz="1500" b="1">
                <a:solidFill>
                  <a:srgbClr val="F28C28"/>
                </a:solidFill>
                <a:latin typeface="Hiragino Sans"/>
                <a:ea typeface="Hiragino Sans"/>
                <a:cs typeface="Hiragino Sans"/>
              </a:rPr>
              <a:t>2クラス通常LIME  0.913</a:t>
            </a:r>
          </a:p>
          <a:p>
            <a:pPr algn="ctr">
              <a:defRPr sz="1500" b="1">
                <a:solidFill>
                  <a:srgbClr val="F28C28"/>
                </a:solidFill>
                <a:latin typeface="Hiragino Sans"/>
                <a:ea typeface="Hiragino Sans"/>
                <a:cs typeface="Hiragino Sans"/>
              </a:defRPr>
            </a:pPr>
            <a:r>
              <a:rPr sz="1500" b="1">
                <a:solidFill>
                  <a:srgbClr val="F28C28"/>
                </a:solidFill>
                <a:latin typeface="Hiragino Sans"/>
                <a:ea typeface="Hiragino Sans"/>
                <a:cs typeface="Hiragino Sans"/>
              </a:rPr>
              <a:t>Contrastive  0.926</a:t>
            </a:r>
          </a:p>
        </p:txBody>
      </p:sp>
      <p:sp>
        <p:nvSpPr>
          <p:cNvPr id="11" name="角丸四角形 10">
            <a:extLst>
              <a:ext uri="{FF2B5EF4-FFF2-40B4-BE49-F238E27FC236}">
                <a16:creationId xmlns:a16="http://schemas.microsoft.com/office/drawing/2014/main" id="{E5FFD85C-C62F-4D75-9A3D-748A7CB033A2}"/>
              </a:ext>
            </a:extLst>
          </p:cNvPr>
          <p:cNvSpPr>
            <a:spLocks noGrp="1"/>
          </p:cNvSpPr>
          <p:nvPr/>
        </p:nvSpPr>
        <p:spPr>
          <a:xfrm>
            <a:off x="9220200" y="5191125"/>
            <a:ext cx="2305050" cy="1266825"/>
          </a:xfrm>
          <a:prstGeom prst="roundRect">
            <a:avLst>
              <a:gd name="adj" fmla="val 6015"/>
            </a:avLst>
          </a:prstGeom>
          <a:solidFill>
            <a:srgbClr val="FFF4D6"/>
          </a:solidFill>
          <a:ln w="0">
            <a:noFill/>
          </a:ln>
        </p:spPr>
        <p:txBody>
          <a:bodyPr/>
          <a:lstStyle/>
          <a:p>
            <a:endParaRPr lang="ja-JP" altLang="en-US"/>
          </a:p>
        </p:txBody>
      </p:sp>
      <p:sp>
        <p:nvSpPr>
          <p:cNvPr id="12" name="正方形/長方形 11">
            <a:extLst>
              <a:ext uri="{FF2B5EF4-FFF2-40B4-BE49-F238E27FC236}">
                <a16:creationId xmlns:a16="http://schemas.microsoft.com/office/drawing/2014/main" id="{160B63F0-6EB7-4201-8645-0857765B54AF}"/>
              </a:ext>
            </a:extLst>
          </p:cNvPr>
          <p:cNvSpPr>
            <a:spLocks noGrp="1"/>
          </p:cNvSpPr>
          <p:nvPr/>
        </p:nvSpPr>
        <p:spPr>
          <a:xfrm>
            <a:off x="9391650" y="5381625"/>
            <a:ext cx="1962150" cy="685800"/>
          </a:xfrm>
          <a:prstGeom prst="rect">
            <a:avLst/>
          </a:prstGeom>
          <a:noFill/>
          <a:ln w="0">
            <a:noFill/>
          </a:ln>
        </p:spPr>
        <p:txBody>
          <a:bodyPr anchor="ctr">
            <a:normAutofit fontScale="98728" lnSpcReduction="10000"/>
          </a:bodyPr>
          <a:lstStyle/>
          <a:p>
            <a:pPr algn="ctr">
              <a:defRPr sz="1425" b="1">
                <a:solidFill>
                  <a:srgbClr val="2AA876"/>
                </a:solidFill>
                <a:latin typeface="Hiragino Sans"/>
                <a:ea typeface="Hiragino Sans"/>
                <a:cs typeface="Hiragino Sans"/>
              </a:defRPr>
            </a:pPr>
            <a:r>
              <a:rPr sz="1425" b="1">
                <a:solidFill>
                  <a:srgbClr val="2AA876"/>
                </a:solidFill>
                <a:latin typeface="Hiragino Sans"/>
                <a:ea typeface="Hiragino Sans"/>
                <a:cs typeface="Hiragino Sans"/>
              </a:rPr>
              <a:t>両方式とも</a:t>
            </a:r>
          </a:p>
          <a:p>
            <a:pPr algn="ctr">
              <a:defRPr sz="1425" b="1">
                <a:solidFill>
                  <a:srgbClr val="2AA876"/>
                </a:solidFill>
                <a:latin typeface="Hiragino Sans"/>
                <a:ea typeface="Hiragino Sans"/>
                <a:cs typeface="Hiragino Sans"/>
              </a:defRPr>
            </a:pPr>
            <a:r>
              <a:rPr sz="1425" b="1">
                <a:solidFill>
                  <a:srgbClr val="2AA876"/>
                </a:solidFill>
                <a:latin typeface="Hiragino Sans"/>
                <a:ea typeface="Hiragino Sans"/>
                <a:cs typeface="Hiragino Sans"/>
              </a:rPr>
              <a:t>OVRより全6条件で有意</a:t>
            </a:r>
          </a:p>
        </p:txBody>
      </p:sp>
      <p:sp>
        <p:nvSpPr>
          <p:cNvPr id="13" name="正方形/長方形 12">
            <a:extLst>
              <a:ext uri="{FF2B5EF4-FFF2-40B4-BE49-F238E27FC236}">
                <a16:creationId xmlns:a16="http://schemas.microsoft.com/office/drawing/2014/main" id="{E4BF0BB5-2941-4149-965F-BCAE15CECAFC}"/>
              </a:ext>
            </a:extLst>
          </p:cNvPr>
          <p:cNvSpPr>
            <a:spLocks noGrp="1"/>
          </p:cNvSpPr>
          <p:nvPr/>
        </p:nvSpPr>
        <p:spPr>
          <a:xfrm>
            <a:off x="9391650" y="6105525"/>
            <a:ext cx="1962150" cy="219075"/>
          </a:xfrm>
          <a:prstGeom prst="rect">
            <a:avLst/>
          </a:prstGeom>
          <a:noFill/>
          <a:ln w="0">
            <a:noFill/>
          </a:ln>
        </p:spPr>
        <p:txBody>
          <a:bodyPr anchor="ctr">
            <a:normAutofit fontScale="87262" lnSpcReduction="10000"/>
          </a:bodyPr>
          <a:lstStyle/>
          <a:p>
            <a:pPr algn="ctr">
              <a:defRPr sz="1050" b="0">
                <a:solidFill>
                  <a:srgbClr val="687386"/>
                </a:solidFill>
                <a:latin typeface="Hiragino Sans"/>
                <a:ea typeface="Hiragino Sans"/>
                <a:cs typeface="Hiragino Sans"/>
              </a:defRPr>
            </a:pPr>
            <a:r>
              <a:rPr sz="1050" b="0">
                <a:solidFill>
                  <a:srgbClr val="687386"/>
                </a:solidFill>
                <a:latin typeface="Hiragino Sans"/>
                <a:ea typeface="Hiragino Sans"/>
                <a:cs typeface="Hiragino Sans"/>
              </a:rPr>
              <a:t>Holm補正後</a:t>
            </a:r>
          </a:p>
        </p:txBody>
      </p:sp>
    </p:spTree>
    <p:extLst>
      <p:ext uri="{BB962C8B-B14F-4D97-AF65-F5344CB8AC3E}">
        <p14:creationId xmlns:p14="http://schemas.microsoft.com/office/powerpoint/2010/main" val="17912972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正方形/長方形 15">
            <a:extLst>
              <a:ext uri="{FF2B5EF4-FFF2-40B4-BE49-F238E27FC236}">
                <a16:creationId xmlns:a16="http://schemas.microsoft.com/office/drawing/2014/main" id="{4DCB69D2-1432-4371-8A1C-1D15C4DD8890}"/>
              </a:ext>
            </a:extLst>
          </p:cNvPr>
          <p:cNvSpPr>
            <a:spLocks noGrp="1"/>
          </p:cNvSpPr>
          <p:nvPr/>
        </p:nvSpPr>
        <p:spPr>
          <a:xfrm>
            <a:off x="514350" y="409575"/>
            <a:ext cx="114300" cy="476250"/>
          </a:xfrm>
          <a:prstGeom prst="rect">
            <a:avLst/>
          </a:prstGeom>
          <a:solidFill>
            <a:srgbClr val="1479C9"/>
          </a:solidFill>
          <a:ln w="0">
            <a:noFill/>
          </a:ln>
        </p:spPr>
        <p:txBody>
          <a:bodyPr/>
          <a:lstStyle/>
          <a:p>
            <a:endParaRPr lang="ja-JP" altLang="en-US"/>
          </a:p>
        </p:txBody>
      </p:sp>
      <p:sp>
        <p:nvSpPr>
          <p:cNvPr id="2" name="正方形/長方形 1">
            <a:extLst>
              <a:ext uri="{FF2B5EF4-FFF2-40B4-BE49-F238E27FC236}">
                <a16:creationId xmlns:a16="http://schemas.microsoft.com/office/drawing/2014/main" id="{24C63779-04D4-425B-BE8D-9448B5D50E4A}"/>
              </a:ext>
            </a:extLst>
          </p:cNvPr>
          <p:cNvSpPr>
            <a:spLocks noGrp="1"/>
          </p:cNvSpPr>
          <p:nvPr/>
        </p:nvSpPr>
        <p:spPr>
          <a:xfrm>
            <a:off x="762000" y="342900"/>
            <a:ext cx="10668000" cy="476250"/>
          </a:xfrm>
          <a:prstGeom prst="rect">
            <a:avLst/>
          </a:prstGeom>
          <a:noFill/>
          <a:ln w="0">
            <a:noFill/>
          </a:ln>
        </p:spPr>
        <p:txBody>
          <a:bodyPr anchor="ctr">
            <a:normAutofit fontScale="99020"/>
          </a:bodyPr>
          <a:lstStyle/>
          <a:p>
            <a:pPr algn="l">
              <a:defRPr sz="2550" b="1">
                <a:solidFill>
                  <a:srgbClr val="17233D"/>
                </a:solidFill>
                <a:latin typeface="Hiragino Sans"/>
                <a:ea typeface="Hiragino Sans"/>
                <a:cs typeface="Hiragino Sans"/>
              </a:defRPr>
            </a:pPr>
            <a:r>
              <a:rPr sz="2550" b="1">
                <a:solidFill>
                  <a:srgbClr val="17233D"/>
                </a:solidFill>
                <a:latin typeface="Hiragino Sans"/>
                <a:ea typeface="Hiragino Sans"/>
                <a:cs typeface="Hiragino Sans"/>
              </a:rPr>
              <a:t>結果2：未知の近傍でも判定を再現できるか</a:t>
            </a:r>
          </a:p>
        </p:txBody>
      </p:sp>
      <p:sp>
        <p:nvSpPr>
          <p:cNvPr id="3" name="正方形/長方形 2">
            <a:extLst>
              <a:ext uri="{FF2B5EF4-FFF2-40B4-BE49-F238E27FC236}">
                <a16:creationId xmlns:a16="http://schemas.microsoft.com/office/drawing/2014/main" id="{B0B9591A-3D81-403E-A9FC-B7A0A65CF007}"/>
              </a:ext>
            </a:extLst>
          </p:cNvPr>
          <p:cNvSpPr>
            <a:spLocks noGrp="1"/>
          </p:cNvSpPr>
          <p:nvPr/>
        </p:nvSpPr>
        <p:spPr>
          <a:xfrm>
            <a:off x="762000" y="800100"/>
            <a:ext cx="10668000" cy="247650"/>
          </a:xfrm>
          <a:prstGeom prst="rect">
            <a:avLst/>
          </a:prstGeom>
          <a:noFill/>
          <a:ln w="0">
            <a:noFill/>
          </a:ln>
        </p:spPr>
        <p:txBody>
          <a:bodyPr anchor="ctr">
            <a:normAutofit fontScale="92917" lnSpcReduction="10000"/>
          </a:bodyPr>
          <a:lstStyle/>
          <a:p>
            <a:pPr algn="l">
              <a:defRPr sz="1200" b="0">
                <a:solidFill>
                  <a:srgbClr val="687386"/>
                </a:solidFill>
                <a:latin typeface="Hiragino Sans"/>
                <a:ea typeface="Hiragino Sans"/>
                <a:cs typeface="Hiragino Sans"/>
              </a:defRPr>
            </a:pPr>
            <a:r>
              <a:rPr sz="1200" b="0">
                <a:solidFill>
                  <a:srgbClr val="687386"/>
                </a:solidFill>
                <a:latin typeface="Hiragino Sans"/>
                <a:ea typeface="Hiragino Sans"/>
                <a:cs typeface="Hiragino Sans"/>
              </a:rPr>
              <a:t>結果1と同じ非線形BBで、学習に使っていない400摂動上のA/B判定を評価</a:t>
            </a:r>
          </a:p>
        </p:txBody>
      </p:sp>
      <p:pic>
        <p:nvPicPr>
          <p:cNvPr id="20" name="図 19"/>
          <p:cNvPicPr>
            <a:picLocks noChangeAspect="1"/>
          </p:cNvPicPr>
          <p:nvPr/>
        </p:nvPicPr>
        <p:blipFill>
          <a:blip r:embed="rId3"/>
          <a:stretch/>
        </p:blipFill>
        <p:spPr>
          <a:xfrm>
            <a:off x="514350" y="2604641"/>
            <a:ext cx="8524875" cy="3572767"/>
          </a:xfrm>
          <a:prstGeom prst="rect">
            <a:avLst/>
          </a:prstGeom>
        </p:spPr>
      </p:pic>
      <p:sp>
        <p:nvSpPr>
          <p:cNvPr id="6" name="角丸四角形 5">
            <a:extLst>
              <a:ext uri="{FF2B5EF4-FFF2-40B4-BE49-F238E27FC236}">
                <a16:creationId xmlns:a16="http://schemas.microsoft.com/office/drawing/2014/main" id="{A1680A8C-917F-49BA-9194-1A2AF8480FF1}"/>
              </a:ext>
            </a:extLst>
          </p:cNvPr>
          <p:cNvSpPr>
            <a:spLocks noGrp="1"/>
          </p:cNvSpPr>
          <p:nvPr/>
        </p:nvSpPr>
        <p:spPr>
          <a:xfrm>
            <a:off x="9210675" y="2419350"/>
            <a:ext cx="2305050" cy="1162050"/>
          </a:xfrm>
          <a:prstGeom prst="roundRect">
            <a:avLst>
              <a:gd name="adj" fmla="val 6557"/>
            </a:avLst>
          </a:prstGeom>
          <a:solidFill>
            <a:srgbClr val="F7F9FC"/>
          </a:solidFill>
          <a:ln w="9525">
            <a:solidFill>
              <a:srgbClr val="E7EBF0"/>
            </a:solidFill>
          </a:ln>
        </p:spPr>
        <p:txBody>
          <a:bodyPr/>
          <a:lstStyle/>
          <a:p>
            <a:endParaRPr lang="ja-JP" altLang="en-US"/>
          </a:p>
        </p:txBody>
      </p:sp>
      <p:sp>
        <p:nvSpPr>
          <p:cNvPr id="7" name="正方形/長方形 6">
            <a:extLst>
              <a:ext uri="{FF2B5EF4-FFF2-40B4-BE49-F238E27FC236}">
                <a16:creationId xmlns:a16="http://schemas.microsoft.com/office/drawing/2014/main" id="{A32D2F38-BC99-464A-8C1E-2E45CA143A3C}"/>
              </a:ext>
            </a:extLst>
          </p:cNvPr>
          <p:cNvSpPr>
            <a:spLocks noGrp="1"/>
          </p:cNvSpPr>
          <p:nvPr/>
        </p:nvSpPr>
        <p:spPr>
          <a:xfrm>
            <a:off x="9382125" y="2533650"/>
            <a:ext cx="1962150" cy="266700"/>
          </a:xfrm>
          <a:prstGeom prst="rect">
            <a:avLst/>
          </a:prstGeom>
          <a:noFill/>
          <a:ln w="0">
            <a:noFill/>
          </a:ln>
        </p:spPr>
        <p:txBody>
          <a:bodyPr anchor="ctr">
            <a:normAutofit fontScale="85185"/>
          </a:bodyPr>
          <a:lstStyle/>
          <a:p>
            <a:pPr algn="ctr">
              <a:defRPr sz="1350" b="1">
                <a:solidFill>
                  <a:srgbClr val="687386"/>
                </a:solidFill>
                <a:latin typeface="Hiragino Sans"/>
                <a:ea typeface="Hiragino Sans"/>
                <a:cs typeface="Hiragino Sans"/>
              </a:defRPr>
            </a:pPr>
            <a:r>
              <a:rPr sz="1350" b="1">
                <a:solidFill>
                  <a:srgbClr val="687386"/>
                </a:solidFill>
                <a:latin typeface="Hiragino Sans"/>
                <a:ea typeface="Hiragino Sans"/>
                <a:cs typeface="Hiragino Sans"/>
              </a:rPr>
              <a:t>全条件平均</a:t>
            </a:r>
          </a:p>
        </p:txBody>
      </p:sp>
      <p:sp>
        <p:nvSpPr>
          <p:cNvPr id="8" name="正方形/長方形 7">
            <a:extLst>
              <a:ext uri="{FF2B5EF4-FFF2-40B4-BE49-F238E27FC236}">
                <a16:creationId xmlns:a16="http://schemas.microsoft.com/office/drawing/2014/main" id="{DCCC3293-52D1-49FF-B093-0C4DE2F11D96}"/>
              </a:ext>
            </a:extLst>
          </p:cNvPr>
          <p:cNvSpPr>
            <a:spLocks noGrp="1"/>
          </p:cNvSpPr>
          <p:nvPr/>
        </p:nvSpPr>
        <p:spPr>
          <a:xfrm>
            <a:off x="9382125" y="2876550"/>
            <a:ext cx="1962150" cy="533400"/>
          </a:xfrm>
          <a:prstGeom prst="rect">
            <a:avLst/>
          </a:prstGeom>
          <a:noFill/>
          <a:ln w="0">
            <a:noFill/>
          </a:ln>
        </p:spPr>
        <p:txBody>
          <a:bodyPr anchor="ctr">
            <a:normAutofit/>
          </a:bodyPr>
          <a:lstStyle/>
          <a:p>
            <a:pPr algn="ctr">
              <a:defRPr sz="2025" b="1">
                <a:solidFill>
                  <a:srgbClr val="687386"/>
                </a:solidFill>
                <a:latin typeface="Hiragino Sans"/>
                <a:ea typeface="Hiragino Sans"/>
                <a:cs typeface="Hiragino Sans"/>
              </a:defRPr>
            </a:pPr>
            <a:r>
              <a:rPr sz="2025" b="1">
                <a:solidFill>
                  <a:srgbClr val="687386"/>
                </a:solidFill>
                <a:latin typeface="Hiragino Sans"/>
                <a:ea typeface="Hiragino Sans"/>
                <a:cs typeface="Hiragino Sans"/>
              </a:rPr>
              <a:t>OVR  0.887</a:t>
            </a:r>
          </a:p>
        </p:txBody>
      </p:sp>
      <p:sp>
        <p:nvSpPr>
          <p:cNvPr id="9" name="角丸四角形 8">
            <a:extLst>
              <a:ext uri="{FF2B5EF4-FFF2-40B4-BE49-F238E27FC236}">
                <a16:creationId xmlns:a16="http://schemas.microsoft.com/office/drawing/2014/main" id="{1384D89E-BA46-4CB5-B3F4-EF5BB3B0490E}"/>
              </a:ext>
            </a:extLst>
          </p:cNvPr>
          <p:cNvSpPr>
            <a:spLocks noGrp="1"/>
          </p:cNvSpPr>
          <p:nvPr/>
        </p:nvSpPr>
        <p:spPr>
          <a:xfrm>
            <a:off x="9210675" y="3771900"/>
            <a:ext cx="2305050" cy="1219200"/>
          </a:xfrm>
          <a:prstGeom prst="roundRect">
            <a:avLst>
              <a:gd name="adj" fmla="val 6250"/>
            </a:avLst>
          </a:prstGeom>
          <a:solidFill>
            <a:srgbClr val="EAF4FB"/>
          </a:solidFill>
          <a:ln w="0">
            <a:noFill/>
          </a:ln>
        </p:spPr>
        <p:txBody>
          <a:bodyPr/>
          <a:lstStyle/>
          <a:p>
            <a:endParaRPr lang="ja-JP" altLang="en-US"/>
          </a:p>
        </p:txBody>
      </p:sp>
      <p:sp>
        <p:nvSpPr>
          <p:cNvPr id="10" name="正方形/長方形 9">
            <a:extLst>
              <a:ext uri="{FF2B5EF4-FFF2-40B4-BE49-F238E27FC236}">
                <a16:creationId xmlns:a16="http://schemas.microsoft.com/office/drawing/2014/main" id="{0769DAC5-5E57-43A6-A795-EC7D92312F33}"/>
              </a:ext>
            </a:extLst>
          </p:cNvPr>
          <p:cNvSpPr>
            <a:spLocks noGrp="1"/>
          </p:cNvSpPr>
          <p:nvPr/>
        </p:nvSpPr>
        <p:spPr>
          <a:xfrm>
            <a:off x="9382125" y="3943350"/>
            <a:ext cx="1962150" cy="838200"/>
          </a:xfrm>
          <a:prstGeom prst="rect">
            <a:avLst/>
          </a:prstGeom>
          <a:noFill/>
          <a:ln w="0">
            <a:noFill/>
          </a:ln>
        </p:spPr>
        <p:txBody>
          <a:bodyPr anchor="ctr">
            <a:normAutofit fontScale="85542"/>
          </a:bodyPr>
          <a:lstStyle/>
          <a:p>
            <a:pPr algn="ctr">
              <a:defRPr sz="1500" b="1">
                <a:solidFill>
                  <a:srgbClr val="F28C28"/>
                </a:solidFill>
                <a:latin typeface="Hiragino Sans"/>
                <a:ea typeface="Hiragino Sans"/>
                <a:cs typeface="Hiragino Sans"/>
              </a:defRPr>
            </a:pPr>
            <a:r>
              <a:rPr sz="1500" b="1">
                <a:solidFill>
                  <a:srgbClr val="F28C28"/>
                </a:solidFill>
                <a:latin typeface="Hiragino Sans"/>
                <a:ea typeface="Hiragino Sans"/>
                <a:cs typeface="Hiragino Sans"/>
              </a:rPr>
              <a:t>2クラス通常LIME  0.898</a:t>
            </a:r>
          </a:p>
          <a:p>
            <a:pPr algn="ctr">
              <a:defRPr sz="1500" b="1">
                <a:solidFill>
                  <a:srgbClr val="F28C28"/>
                </a:solidFill>
                <a:latin typeface="Hiragino Sans"/>
                <a:ea typeface="Hiragino Sans"/>
                <a:cs typeface="Hiragino Sans"/>
              </a:defRPr>
            </a:pPr>
            <a:r>
              <a:rPr sz="1500" b="1">
                <a:solidFill>
                  <a:srgbClr val="F28C28"/>
                </a:solidFill>
                <a:latin typeface="Hiragino Sans"/>
                <a:ea typeface="Hiragino Sans"/>
                <a:cs typeface="Hiragino Sans"/>
              </a:rPr>
              <a:t>Contrastive  0.901</a:t>
            </a:r>
          </a:p>
        </p:txBody>
      </p:sp>
      <p:sp>
        <p:nvSpPr>
          <p:cNvPr id="11" name="角丸四角形 10">
            <a:extLst>
              <a:ext uri="{FF2B5EF4-FFF2-40B4-BE49-F238E27FC236}">
                <a16:creationId xmlns:a16="http://schemas.microsoft.com/office/drawing/2014/main" id="{2D37DFB8-5DCB-40A9-BEAD-598D75295A61}"/>
              </a:ext>
            </a:extLst>
          </p:cNvPr>
          <p:cNvSpPr>
            <a:spLocks noGrp="1"/>
          </p:cNvSpPr>
          <p:nvPr/>
        </p:nvSpPr>
        <p:spPr>
          <a:xfrm>
            <a:off x="9210675" y="5181600"/>
            <a:ext cx="2305050" cy="1266825"/>
          </a:xfrm>
          <a:prstGeom prst="roundRect">
            <a:avLst>
              <a:gd name="adj" fmla="val 6015"/>
            </a:avLst>
          </a:prstGeom>
          <a:solidFill>
            <a:srgbClr val="FFF4D6"/>
          </a:solidFill>
          <a:ln w="0">
            <a:noFill/>
          </a:ln>
        </p:spPr>
        <p:txBody>
          <a:bodyPr/>
          <a:lstStyle/>
          <a:p>
            <a:endParaRPr lang="ja-JP" altLang="en-US"/>
          </a:p>
        </p:txBody>
      </p:sp>
      <p:sp>
        <p:nvSpPr>
          <p:cNvPr id="12" name="正方形/長方形 11">
            <a:extLst>
              <a:ext uri="{FF2B5EF4-FFF2-40B4-BE49-F238E27FC236}">
                <a16:creationId xmlns:a16="http://schemas.microsoft.com/office/drawing/2014/main" id="{BBFB2DF5-FE5E-4201-B094-28585033CA2E}"/>
              </a:ext>
            </a:extLst>
          </p:cNvPr>
          <p:cNvSpPr>
            <a:spLocks noGrp="1"/>
          </p:cNvSpPr>
          <p:nvPr/>
        </p:nvSpPr>
        <p:spPr>
          <a:xfrm>
            <a:off x="9382125" y="5372100"/>
            <a:ext cx="1962150" cy="685800"/>
          </a:xfrm>
          <a:prstGeom prst="rect">
            <a:avLst/>
          </a:prstGeom>
          <a:noFill/>
          <a:ln w="0">
            <a:noFill/>
          </a:ln>
        </p:spPr>
        <p:txBody>
          <a:bodyPr anchor="ctr">
            <a:normAutofit/>
          </a:bodyPr>
          <a:lstStyle/>
          <a:p>
            <a:pPr algn="ctr">
              <a:defRPr sz="1575" b="1">
                <a:solidFill>
                  <a:srgbClr val="F28C28"/>
                </a:solidFill>
                <a:latin typeface="Hiragino Sans"/>
                <a:ea typeface="Hiragino Sans"/>
                <a:cs typeface="Hiragino Sans"/>
              </a:defRPr>
            </a:pPr>
            <a:r>
              <a:rPr sz="1575" b="1" dirty="0">
                <a:solidFill>
                  <a:srgbClr val="F28C28"/>
                </a:solidFill>
                <a:latin typeface="Hiragino Sans"/>
                <a:ea typeface="Hiragino Sans"/>
                <a:cs typeface="Hiragino Sans"/>
              </a:rPr>
              <a:t>改善は約1ポイント</a:t>
            </a:r>
          </a:p>
          <a:p>
            <a:pPr algn="ctr">
              <a:defRPr sz="1575" b="1">
                <a:solidFill>
                  <a:srgbClr val="F28C28"/>
                </a:solidFill>
                <a:latin typeface="Hiragino Sans"/>
                <a:ea typeface="Hiragino Sans"/>
                <a:cs typeface="Hiragino Sans"/>
              </a:defRPr>
            </a:pPr>
            <a:r>
              <a:rPr sz="1575" b="1" dirty="0" err="1">
                <a:solidFill>
                  <a:srgbClr val="F28C28"/>
                </a:solidFill>
                <a:latin typeface="Hiragino Sans"/>
                <a:ea typeface="Hiragino Sans"/>
                <a:cs typeface="Hiragino Sans"/>
              </a:rPr>
              <a:t>大差ではない</a:t>
            </a:r>
            <a:endParaRPr sz="1575" b="1" dirty="0">
              <a:solidFill>
                <a:srgbClr val="F28C28"/>
              </a:solidFill>
              <a:latin typeface="Hiragino Sans"/>
              <a:ea typeface="Hiragino Sans"/>
              <a:cs typeface="Hiragino Sans"/>
            </a:endParaRPr>
          </a:p>
        </p:txBody>
      </p:sp>
      <p:sp>
        <p:nvSpPr>
          <p:cNvPr id="13" name="正方形/長方形 12">
            <a:extLst>
              <a:ext uri="{FF2B5EF4-FFF2-40B4-BE49-F238E27FC236}">
                <a16:creationId xmlns:a16="http://schemas.microsoft.com/office/drawing/2014/main" id="{86D4E878-E694-41BD-83C9-0A7DBCAABC34}"/>
              </a:ext>
            </a:extLst>
          </p:cNvPr>
          <p:cNvSpPr>
            <a:spLocks noGrp="1"/>
          </p:cNvSpPr>
          <p:nvPr/>
        </p:nvSpPr>
        <p:spPr>
          <a:xfrm>
            <a:off x="9382125" y="6096000"/>
            <a:ext cx="1962150" cy="219075"/>
          </a:xfrm>
          <a:prstGeom prst="rect">
            <a:avLst/>
          </a:prstGeom>
          <a:noFill/>
          <a:ln w="0">
            <a:noFill/>
          </a:ln>
        </p:spPr>
        <p:txBody>
          <a:bodyPr anchor="ctr">
            <a:normAutofit fontScale="87262" lnSpcReduction="10000"/>
          </a:bodyPr>
          <a:lstStyle/>
          <a:p>
            <a:pPr algn="ctr">
              <a:defRPr sz="1050" b="0">
                <a:solidFill>
                  <a:srgbClr val="2AA876"/>
                </a:solidFill>
                <a:latin typeface="Hiragino Sans"/>
                <a:ea typeface="Hiragino Sans"/>
                <a:cs typeface="Hiragino Sans"/>
              </a:defRPr>
            </a:pPr>
            <a:r>
              <a:rPr sz="1050" b="0">
                <a:solidFill>
                  <a:srgbClr val="2AA876"/>
                </a:solidFill>
                <a:latin typeface="Hiragino Sans"/>
                <a:ea typeface="Hiragino Sans"/>
                <a:cs typeface="Hiragino Sans"/>
              </a:rPr>
              <a:t>両方式とも6/6条件で有意</a:t>
            </a:r>
          </a:p>
        </p:txBody>
      </p:sp>
    </p:spTree>
    <p:extLst>
      <p:ext uri="{BB962C8B-B14F-4D97-AF65-F5344CB8AC3E}">
        <p14:creationId xmlns:p14="http://schemas.microsoft.com/office/powerpoint/2010/main" val="126185222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65BE9303-D8C0-47EF-8220-BB81C6525F78}"/>
              </a:ext>
            </a:extLst>
          </p:cNvPr>
          <p:cNvSpPr>
            <a:spLocks noGrp="1"/>
          </p:cNvSpPr>
          <p:nvPr/>
        </p:nvSpPr>
        <p:spPr>
          <a:xfrm>
            <a:off x="514350" y="409575"/>
            <a:ext cx="114300" cy="476250"/>
          </a:xfrm>
          <a:prstGeom prst="rect">
            <a:avLst/>
          </a:prstGeom>
          <a:solidFill>
            <a:srgbClr val="1479C9"/>
          </a:solidFill>
          <a:ln w="0">
            <a:noFill/>
          </a:ln>
        </p:spPr>
        <p:txBody>
          <a:bodyPr/>
          <a:lstStyle/>
          <a:p>
            <a:endParaRPr lang="ja-JP" altLang="en-US"/>
          </a:p>
        </p:txBody>
      </p:sp>
      <p:sp>
        <p:nvSpPr>
          <p:cNvPr id="2" name="正方形/長方形 1">
            <a:extLst>
              <a:ext uri="{FF2B5EF4-FFF2-40B4-BE49-F238E27FC236}">
                <a16:creationId xmlns:a16="http://schemas.microsoft.com/office/drawing/2014/main" id="{183513A9-4CCA-42B4-81F9-D50ACA303BF9}"/>
              </a:ext>
            </a:extLst>
          </p:cNvPr>
          <p:cNvSpPr>
            <a:spLocks noGrp="1"/>
          </p:cNvSpPr>
          <p:nvPr/>
        </p:nvSpPr>
        <p:spPr>
          <a:xfrm>
            <a:off x="762000" y="342900"/>
            <a:ext cx="10668000" cy="476250"/>
          </a:xfrm>
          <a:prstGeom prst="rect">
            <a:avLst/>
          </a:prstGeom>
          <a:noFill/>
          <a:ln w="0">
            <a:noFill/>
          </a:ln>
        </p:spPr>
        <p:txBody>
          <a:bodyPr anchor="ctr">
            <a:normAutofit fontScale="99020"/>
          </a:bodyPr>
          <a:lstStyle/>
          <a:p>
            <a:pPr algn="l">
              <a:defRPr sz="2550" b="1">
                <a:solidFill>
                  <a:srgbClr val="17233D"/>
                </a:solidFill>
                <a:latin typeface="Hiragino Sans"/>
                <a:ea typeface="Hiragino Sans"/>
                <a:cs typeface="Hiragino Sans"/>
              </a:defRPr>
            </a:pPr>
            <a:r>
              <a:rPr sz="2550" b="1">
                <a:solidFill>
                  <a:srgbClr val="17233D"/>
                </a:solidFill>
                <a:latin typeface="Hiragino Sans"/>
                <a:ea typeface="Hiragino Sans"/>
                <a:cs typeface="Hiragino Sans"/>
              </a:rPr>
              <a:t>結果3：クラス数が増えたときの計算時間</a:t>
            </a:r>
          </a:p>
        </p:txBody>
      </p:sp>
      <p:sp>
        <p:nvSpPr>
          <p:cNvPr id="3" name="正方形/長方形 2">
            <a:extLst>
              <a:ext uri="{FF2B5EF4-FFF2-40B4-BE49-F238E27FC236}">
                <a16:creationId xmlns:a16="http://schemas.microsoft.com/office/drawing/2014/main" id="{43CCC51C-F78F-402A-A953-87432076637A}"/>
              </a:ext>
            </a:extLst>
          </p:cNvPr>
          <p:cNvSpPr>
            <a:spLocks noGrp="1"/>
          </p:cNvSpPr>
          <p:nvPr/>
        </p:nvSpPr>
        <p:spPr>
          <a:xfrm>
            <a:off x="762000" y="800100"/>
            <a:ext cx="10668000" cy="247650"/>
          </a:xfrm>
          <a:prstGeom prst="rect">
            <a:avLst/>
          </a:prstGeom>
          <a:noFill/>
          <a:ln w="0">
            <a:noFill/>
          </a:ln>
        </p:spPr>
        <p:txBody>
          <a:bodyPr anchor="ctr">
            <a:normAutofit fontScale="92917" lnSpcReduction="10000"/>
          </a:bodyPr>
          <a:lstStyle/>
          <a:p>
            <a:pPr algn="l">
              <a:defRPr sz="1200" b="0">
                <a:solidFill>
                  <a:srgbClr val="687386"/>
                </a:solidFill>
                <a:latin typeface="Hiragino Sans"/>
                <a:ea typeface="Hiragino Sans"/>
                <a:cs typeface="Hiragino Sans"/>
              </a:defRPr>
            </a:pPr>
            <a:r>
              <a:rPr sz="1200" b="0">
                <a:solidFill>
                  <a:srgbClr val="687386"/>
                </a:solidFill>
                <a:latin typeface="Hiragino Sans"/>
                <a:ea typeface="Hiragino Sans"/>
                <a:cs typeface="Hiragino Sans"/>
              </a:rPr>
              <a:t>Top-1対Top-2の1ペアだけを説明。特徴選択＋選択後の最終再学習を測定</a:t>
            </a:r>
          </a:p>
        </p:txBody>
      </p:sp>
      <p:pic>
        <p:nvPicPr>
          <p:cNvPr id="12" name="図 11"/>
          <p:cNvPicPr>
            <a:picLocks noChangeAspect="1"/>
          </p:cNvPicPr>
          <p:nvPr/>
        </p:nvPicPr>
        <p:blipFill>
          <a:blip r:embed="rId3"/>
          <a:stretch/>
        </p:blipFill>
        <p:spPr>
          <a:xfrm>
            <a:off x="656947" y="1123950"/>
            <a:ext cx="10878106" cy="4552950"/>
          </a:xfrm>
          <a:prstGeom prst="rect">
            <a:avLst/>
          </a:prstGeom>
        </p:spPr>
      </p:pic>
      <p:sp>
        <p:nvSpPr>
          <p:cNvPr id="6" name="角丸四角形 5">
            <a:extLst>
              <a:ext uri="{FF2B5EF4-FFF2-40B4-BE49-F238E27FC236}">
                <a16:creationId xmlns:a16="http://schemas.microsoft.com/office/drawing/2014/main" id="{7947CD97-3DE1-41FF-8046-11678AA24782}"/>
              </a:ext>
            </a:extLst>
          </p:cNvPr>
          <p:cNvSpPr>
            <a:spLocks noGrp="1"/>
          </p:cNvSpPr>
          <p:nvPr/>
        </p:nvSpPr>
        <p:spPr>
          <a:xfrm>
            <a:off x="762000" y="5848350"/>
            <a:ext cx="10668000" cy="409575"/>
          </a:xfrm>
          <a:prstGeom prst="roundRect">
            <a:avLst>
              <a:gd name="adj" fmla="val 18605"/>
            </a:avLst>
          </a:prstGeom>
          <a:solidFill>
            <a:srgbClr val="EAF4FB"/>
          </a:solidFill>
          <a:ln w="0">
            <a:noFill/>
          </a:ln>
        </p:spPr>
        <p:txBody>
          <a:bodyPr/>
          <a:lstStyle/>
          <a:p>
            <a:endParaRPr lang="ja-JP" altLang="en-US"/>
          </a:p>
        </p:txBody>
      </p:sp>
      <p:sp>
        <p:nvSpPr>
          <p:cNvPr id="7" name="正方形/長方形 6">
            <a:extLst>
              <a:ext uri="{FF2B5EF4-FFF2-40B4-BE49-F238E27FC236}">
                <a16:creationId xmlns:a16="http://schemas.microsoft.com/office/drawing/2014/main" id="{13DC71E6-B70C-48C1-B4E1-AA6DA63574C9}"/>
              </a:ext>
            </a:extLst>
          </p:cNvPr>
          <p:cNvSpPr>
            <a:spLocks noGrp="1"/>
          </p:cNvSpPr>
          <p:nvPr/>
        </p:nvSpPr>
        <p:spPr>
          <a:xfrm>
            <a:off x="952500" y="5895975"/>
            <a:ext cx="10287000" cy="304800"/>
          </a:xfrm>
          <a:prstGeom prst="rect">
            <a:avLst/>
          </a:prstGeom>
          <a:noFill/>
          <a:ln w="0">
            <a:noFill/>
          </a:ln>
        </p:spPr>
        <p:txBody>
          <a:bodyPr anchor="ctr">
            <a:normAutofit/>
          </a:bodyPr>
          <a:lstStyle/>
          <a:p>
            <a:pPr algn="ctr">
              <a:defRPr sz="1350" b="1">
                <a:solidFill>
                  <a:srgbClr val="1479C9"/>
                </a:solidFill>
                <a:latin typeface="Hiragino Sans"/>
                <a:ea typeface="Hiragino Sans"/>
                <a:cs typeface="Hiragino Sans"/>
              </a:defRPr>
            </a:pPr>
            <a:r>
              <a:rPr sz="1350" b="1" dirty="0">
                <a:solidFill>
                  <a:srgbClr val="1479C9"/>
                </a:solidFill>
                <a:latin typeface="Hiragino Sans"/>
                <a:ea typeface="Hiragino Sans"/>
                <a:cs typeface="Hiragino Sans"/>
              </a:rPr>
              <a:t>C=10ではOVR 63.46msに対し、2クラスLIME 6.48ms・Contrastive 6.51msで約10分の1</a:t>
            </a:r>
          </a:p>
        </p:txBody>
      </p:sp>
    </p:spTree>
    <p:extLst>
      <p:ext uri="{BB962C8B-B14F-4D97-AF65-F5344CB8AC3E}">
        <p14:creationId xmlns:p14="http://schemas.microsoft.com/office/powerpoint/2010/main" val="60221670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98023B-1113-20DC-9629-DA8A1A9E75EF}"/>
            </a:ext>
          </a:extLst>
        </p:cNvPr>
        <p:cNvGrpSpPr/>
        <p:nvPr/>
      </p:nvGrpSpPr>
      <p:grpSpPr>
        <a:xfrm>
          <a:off x="0" y="0"/>
          <a:ext cx="0" cy="0"/>
          <a:chOff x="0" y="0"/>
          <a:chExt cx="0" cy="0"/>
        </a:xfrm>
      </p:grpSpPr>
      <p:sp>
        <p:nvSpPr>
          <p:cNvPr id="2" name="accent-bar">
            <a:extLst>
              <a:ext uri="{FF2B5EF4-FFF2-40B4-BE49-F238E27FC236}">
                <a16:creationId xmlns:a16="http://schemas.microsoft.com/office/drawing/2014/main" id="{D2D53574-14F8-2805-EC19-0AACFF8EC7F9}"/>
              </a:ext>
            </a:extLst>
          </p:cNvPr>
          <p:cNvSpPr>
            <a:spLocks noGrp="1"/>
          </p:cNvSpPr>
          <p:nvPr/>
        </p:nvSpPr>
        <p:spPr>
          <a:xfrm>
            <a:off x="514350" y="409575"/>
            <a:ext cx="114300" cy="476250"/>
          </a:xfrm>
          <a:prstGeom prst="rect">
            <a:avLst/>
          </a:prstGeom>
          <a:solidFill>
            <a:srgbClr val="156082"/>
          </a:solidFill>
          <a:ln w="0">
            <a:noFill/>
            <a:prstDash val="solid"/>
          </a:ln>
        </p:spPr>
        <p:txBody>
          <a:bodyPr/>
          <a:lstStyle/>
          <a:p>
            <a:endParaRPr lang="ja-JP" noProof="0"/>
          </a:p>
        </p:txBody>
      </p:sp>
      <p:sp>
        <p:nvSpPr>
          <p:cNvPr id="3" name="title">
            <a:extLst>
              <a:ext uri="{FF2B5EF4-FFF2-40B4-BE49-F238E27FC236}">
                <a16:creationId xmlns:a16="http://schemas.microsoft.com/office/drawing/2014/main" id="{883FBF8A-9D91-8D7A-E616-3C0B713F16F5}"/>
              </a:ext>
            </a:extLst>
          </p:cNvPr>
          <p:cNvSpPr>
            <a:spLocks noGrp="1"/>
          </p:cNvSpPr>
          <p:nvPr/>
        </p:nvSpPr>
        <p:spPr>
          <a:xfrm>
            <a:off x="762000" y="342900"/>
            <a:ext cx="10668000" cy="476250"/>
          </a:xfrm>
          <a:prstGeom prst="rect">
            <a:avLst/>
          </a:prstGeom>
          <a:noFill/>
          <a:ln w="0">
            <a:noFill/>
            <a:prstDash val="solid"/>
          </a:ln>
        </p:spPr>
        <p:txBody>
          <a:bodyPr lIns="0" tIns="0" rIns="0" bIns="0" anchor="ctr">
            <a:noAutofit/>
          </a:bodyPr>
          <a:lstStyle/>
          <a:p>
            <a:pPr algn="l">
              <a:buNone/>
              <a:defRPr sz="2550" b="1">
                <a:solidFill>
                  <a:srgbClr val="17233D"/>
                </a:solidFill>
                <a:latin typeface="Hiragino Sans"/>
                <a:ea typeface="Hiragino Sans"/>
                <a:cs typeface="Hiragino Sans"/>
              </a:defRPr>
            </a:pPr>
            <a:r>
              <a:rPr lang="ja-JP" sz="2550" b="1" noProof="0">
                <a:solidFill>
                  <a:srgbClr val="17233D"/>
                </a:solidFill>
                <a:latin typeface="Hiragino Sans"/>
                <a:ea typeface="Hiragino Sans"/>
                <a:cs typeface="Hiragino Sans"/>
              </a:rPr>
              <a:t>目次</a:t>
            </a:r>
          </a:p>
        </p:txBody>
      </p:sp>
      <p:sp>
        <p:nvSpPr>
          <p:cNvPr id="6" name="toc-item-0">
            <a:extLst>
              <a:ext uri="{FF2B5EF4-FFF2-40B4-BE49-F238E27FC236}">
                <a16:creationId xmlns:a16="http://schemas.microsoft.com/office/drawing/2014/main" id="{553640C9-401A-855C-62FE-3D023B0CE46F}"/>
              </a:ext>
            </a:extLst>
          </p:cNvPr>
          <p:cNvSpPr>
            <a:spLocks noGrp="1"/>
          </p:cNvSpPr>
          <p:nvPr/>
        </p:nvSpPr>
        <p:spPr>
          <a:xfrm>
            <a:off x="1200000" y="150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1. XAI（説明可能なAI）</a:t>
            </a:r>
          </a:p>
        </p:txBody>
      </p:sp>
      <p:sp>
        <p:nvSpPr>
          <p:cNvPr id="7" name="toc-item-1">
            <a:extLst>
              <a:ext uri="{FF2B5EF4-FFF2-40B4-BE49-F238E27FC236}">
                <a16:creationId xmlns:a16="http://schemas.microsoft.com/office/drawing/2014/main" id="{1D029715-49A4-DFA5-93A5-5AB51BE94352}"/>
              </a:ext>
            </a:extLst>
          </p:cNvPr>
          <p:cNvSpPr>
            <a:spLocks noGrp="1"/>
          </p:cNvSpPr>
          <p:nvPr/>
        </p:nvSpPr>
        <p:spPr>
          <a:xfrm>
            <a:off x="1200000" y="212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2. LIME</a:t>
            </a:r>
          </a:p>
        </p:txBody>
      </p:sp>
      <p:sp>
        <p:nvSpPr>
          <p:cNvPr id="8" name="toc-item-2">
            <a:extLst>
              <a:ext uri="{FF2B5EF4-FFF2-40B4-BE49-F238E27FC236}">
                <a16:creationId xmlns:a16="http://schemas.microsoft.com/office/drawing/2014/main" id="{FF43227E-CA78-D86B-836E-3CE4EA10C533}"/>
              </a:ext>
            </a:extLst>
          </p:cNvPr>
          <p:cNvSpPr>
            <a:spLocks noGrp="1"/>
          </p:cNvSpPr>
          <p:nvPr/>
        </p:nvSpPr>
        <p:spPr>
          <a:xfrm>
            <a:off x="1200000" y="274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3. 多クラスに応用したLIME</a:t>
            </a:r>
          </a:p>
        </p:txBody>
      </p:sp>
      <p:sp>
        <p:nvSpPr>
          <p:cNvPr id="9" name="toc-item-3">
            <a:extLst>
              <a:ext uri="{FF2B5EF4-FFF2-40B4-BE49-F238E27FC236}">
                <a16:creationId xmlns:a16="http://schemas.microsoft.com/office/drawing/2014/main" id="{B8688290-D6BA-EE27-7BE3-1AFBE49F8F2E}"/>
              </a:ext>
            </a:extLst>
          </p:cNvPr>
          <p:cNvSpPr>
            <a:spLocks noGrp="1"/>
          </p:cNvSpPr>
          <p:nvPr/>
        </p:nvSpPr>
        <p:spPr>
          <a:xfrm>
            <a:off x="1200000" y="336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4. 関連研究</a:t>
            </a:r>
          </a:p>
        </p:txBody>
      </p:sp>
      <p:sp>
        <p:nvSpPr>
          <p:cNvPr id="10" name="toc-item-4">
            <a:extLst>
              <a:ext uri="{FF2B5EF4-FFF2-40B4-BE49-F238E27FC236}">
                <a16:creationId xmlns:a16="http://schemas.microsoft.com/office/drawing/2014/main" id="{A9986BF8-3857-FF53-45DE-3181DBD11449}"/>
              </a:ext>
            </a:extLst>
          </p:cNvPr>
          <p:cNvSpPr>
            <a:spLocks noGrp="1"/>
          </p:cNvSpPr>
          <p:nvPr/>
        </p:nvSpPr>
        <p:spPr>
          <a:xfrm>
            <a:off x="1200000" y="398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5. 提案手法</a:t>
            </a:r>
          </a:p>
        </p:txBody>
      </p:sp>
      <p:sp>
        <p:nvSpPr>
          <p:cNvPr id="11" name="toc-item-5">
            <a:extLst>
              <a:ext uri="{FF2B5EF4-FFF2-40B4-BE49-F238E27FC236}">
                <a16:creationId xmlns:a16="http://schemas.microsoft.com/office/drawing/2014/main" id="{E24911AD-1199-ED71-8818-ECD6276ABF23}"/>
              </a:ext>
            </a:extLst>
          </p:cNvPr>
          <p:cNvSpPr>
            <a:spLocks noGrp="1"/>
          </p:cNvSpPr>
          <p:nvPr/>
        </p:nvSpPr>
        <p:spPr>
          <a:xfrm>
            <a:off x="1200000" y="4600000"/>
            <a:ext cx="9792000" cy="620000"/>
          </a:xfrm>
          <a:prstGeom prst="rect">
            <a:avLst/>
          </a:prstGeom>
          <a:noFill/>
          <a:ln w="0">
            <a:noFill/>
            <a:prstDash val="solid"/>
          </a:ln>
        </p:spPr>
        <p:txBody>
          <a:bodyPr lIns="0" tIns="0" rIns="0" bIns="0" anchor="ctr">
            <a:noAutofit/>
          </a:bodyPr>
          <a:lstStyle/>
          <a:p>
            <a:pPr>
              <a:defRPr sz="1600" b="0">
                <a:solidFill>
                  <a:srgbClr val="B9BEC4"/>
                </a:solidFill>
                <a:latin typeface="Hiragino Sans"/>
                <a:ea typeface="Hiragino Sans"/>
                <a:cs typeface="Hiragino Sans"/>
              </a:defRPr>
            </a:pPr>
            <a:r>
              <a:rPr lang="ja-JP" sz="1600" noProof="0">
                <a:solidFill>
                  <a:srgbClr val="B9BEC4"/>
                </a:solidFill>
                <a:latin typeface="Hiragino Sans"/>
                <a:ea typeface="Hiragino Sans"/>
              </a:rPr>
              <a:t>　　6. 実験と考察</a:t>
            </a:r>
          </a:p>
        </p:txBody>
      </p:sp>
      <p:sp>
        <p:nvSpPr>
          <p:cNvPr id="12" name="toc-item-6">
            <a:extLst>
              <a:ext uri="{FF2B5EF4-FFF2-40B4-BE49-F238E27FC236}">
                <a16:creationId xmlns:a16="http://schemas.microsoft.com/office/drawing/2014/main" id="{5B372183-15FD-0FBB-A864-7764C0B2A563}"/>
              </a:ext>
            </a:extLst>
          </p:cNvPr>
          <p:cNvSpPr>
            <a:spLocks noGrp="1"/>
          </p:cNvSpPr>
          <p:nvPr/>
        </p:nvSpPr>
        <p:spPr>
          <a:xfrm>
            <a:off x="1200000" y="5220000"/>
            <a:ext cx="9792000" cy="620000"/>
          </a:xfrm>
          <a:prstGeom prst="rect">
            <a:avLst/>
          </a:prstGeom>
          <a:noFill/>
          <a:ln w="0">
            <a:noFill/>
            <a:prstDash val="solid"/>
          </a:ln>
        </p:spPr>
        <p:txBody>
          <a:bodyPr lIns="0" tIns="0" rIns="0" bIns="0" anchor="ctr">
            <a:noAutofit/>
          </a:bodyPr>
          <a:lstStyle/>
          <a:p>
            <a:pPr algn="l">
              <a:buNone/>
              <a:defRPr sz="1600" b="0">
                <a:solidFill>
                  <a:srgbClr val="B9BEC4"/>
                </a:solidFill>
                <a:latin typeface="Hiragino Sans"/>
                <a:ea typeface="Hiragino Sans"/>
                <a:cs typeface="Hiragino Sans"/>
              </a:defRPr>
            </a:pPr>
            <a:r>
              <a:rPr lang="ja-JP" sz="1600" b="0" noProof="0">
                <a:solidFill>
                  <a:srgbClr val="B9BEC4"/>
                </a:solidFill>
                <a:latin typeface="Hiragino Sans"/>
                <a:ea typeface="Hiragino Sans"/>
                <a:cs typeface="Hiragino Sans"/>
              </a:rPr>
              <a:t>　　</a:t>
            </a:r>
            <a:r>
              <a:rPr lang="ja-JP" sz="2200" b="1" noProof="0">
                <a:solidFill>
                  <a:srgbClr val="156082"/>
                </a:solidFill>
                <a:latin typeface="Hiragino Sans"/>
                <a:ea typeface="Hiragino Sans"/>
              </a:rPr>
              <a:t>7. まとめと今後の展望</a:t>
            </a:r>
          </a:p>
        </p:txBody>
      </p:sp>
    </p:spTree>
    <p:extLst>
      <p:ext uri="{BB962C8B-B14F-4D97-AF65-F5344CB8AC3E}">
        <p14:creationId xmlns:p14="http://schemas.microsoft.com/office/powerpoint/2010/main" val="389399156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正方形/長方形 23">
            <a:extLst>
              <a:ext uri="{FF2B5EF4-FFF2-40B4-BE49-F238E27FC236}">
                <a16:creationId xmlns:a16="http://schemas.microsoft.com/office/drawing/2014/main" id="{EA20911D-D3CA-4A33-B664-B37E759B3C48}"/>
              </a:ext>
            </a:extLst>
          </p:cNvPr>
          <p:cNvSpPr>
            <a:spLocks noGrp="1"/>
          </p:cNvSpPr>
          <p:nvPr/>
        </p:nvSpPr>
        <p:spPr>
          <a:xfrm>
            <a:off x="514350" y="409575"/>
            <a:ext cx="114300" cy="476250"/>
          </a:xfrm>
          <a:prstGeom prst="rect">
            <a:avLst/>
          </a:prstGeom>
          <a:solidFill>
            <a:srgbClr val="1479C9"/>
          </a:solidFill>
          <a:ln w="0">
            <a:noFill/>
          </a:ln>
        </p:spPr>
        <p:txBody>
          <a:bodyPr/>
          <a:lstStyle/>
          <a:p>
            <a:endParaRPr lang="ja-JP" altLang="en-US"/>
          </a:p>
        </p:txBody>
      </p:sp>
      <p:sp>
        <p:nvSpPr>
          <p:cNvPr id="2" name="正方形/長方形 1">
            <a:extLst>
              <a:ext uri="{FF2B5EF4-FFF2-40B4-BE49-F238E27FC236}">
                <a16:creationId xmlns:a16="http://schemas.microsoft.com/office/drawing/2014/main" id="{BFD1BF9D-F02A-4F30-BA9B-0D165B31B334}"/>
              </a:ext>
            </a:extLst>
          </p:cNvPr>
          <p:cNvSpPr>
            <a:spLocks noGrp="1"/>
          </p:cNvSpPr>
          <p:nvPr/>
        </p:nvSpPr>
        <p:spPr>
          <a:xfrm>
            <a:off x="762000" y="342900"/>
            <a:ext cx="10668000" cy="476250"/>
          </a:xfrm>
          <a:prstGeom prst="rect">
            <a:avLst/>
          </a:prstGeom>
          <a:noFill/>
          <a:ln w="0">
            <a:noFill/>
          </a:ln>
        </p:spPr>
        <p:txBody>
          <a:bodyPr anchor="ctr">
            <a:normAutofit fontScale="99020"/>
          </a:bodyPr>
          <a:lstStyle/>
          <a:p>
            <a:pPr algn="l">
              <a:defRPr sz="2550" b="1">
                <a:solidFill>
                  <a:srgbClr val="17233D"/>
                </a:solidFill>
                <a:latin typeface="Hiragino Sans"/>
                <a:ea typeface="Hiragino Sans"/>
                <a:cs typeface="Hiragino Sans"/>
              </a:defRPr>
            </a:pPr>
            <a:r>
              <a:rPr sz="2550" b="1">
                <a:solidFill>
                  <a:srgbClr val="17233D"/>
                </a:solidFill>
                <a:latin typeface="Hiragino Sans"/>
                <a:ea typeface="Hiragino Sans"/>
                <a:cs typeface="Hiragino Sans"/>
              </a:rPr>
              <a:t>結果のまとめ</a:t>
            </a:r>
          </a:p>
        </p:txBody>
      </p:sp>
      <p:sp>
        <p:nvSpPr>
          <p:cNvPr id="3" name="正方形/長方形 2">
            <a:extLst>
              <a:ext uri="{FF2B5EF4-FFF2-40B4-BE49-F238E27FC236}">
                <a16:creationId xmlns:a16="http://schemas.microsoft.com/office/drawing/2014/main" id="{C31C39FF-F03C-4C6E-A6DB-B3C57A11011D}"/>
              </a:ext>
            </a:extLst>
          </p:cNvPr>
          <p:cNvSpPr>
            <a:spLocks noGrp="1"/>
          </p:cNvSpPr>
          <p:nvPr/>
        </p:nvSpPr>
        <p:spPr>
          <a:xfrm>
            <a:off x="762000" y="800100"/>
            <a:ext cx="10668000" cy="247650"/>
          </a:xfrm>
          <a:prstGeom prst="rect">
            <a:avLst/>
          </a:prstGeom>
          <a:noFill/>
          <a:ln w="0">
            <a:noFill/>
          </a:ln>
        </p:spPr>
        <p:txBody>
          <a:bodyPr anchor="ctr">
            <a:normAutofit fontScale="92917" lnSpcReduction="10000"/>
          </a:bodyPr>
          <a:lstStyle/>
          <a:p>
            <a:pPr algn="l">
              <a:defRPr sz="1200" b="0">
                <a:solidFill>
                  <a:srgbClr val="687386"/>
                </a:solidFill>
                <a:latin typeface="Hiragino Sans"/>
                <a:ea typeface="Hiragino Sans"/>
                <a:cs typeface="Hiragino Sans"/>
              </a:defRPr>
            </a:pPr>
            <a:r>
              <a:rPr sz="1200" b="0">
                <a:solidFill>
                  <a:srgbClr val="687386"/>
                </a:solidFill>
                <a:latin typeface="Hiragino Sans"/>
                <a:ea typeface="Hiragino Sans"/>
                <a:cs typeface="Hiragino Sans"/>
              </a:rPr>
              <a:t>本編では、提案の価値を最も明確に示す3つの結果に絞る</a:t>
            </a:r>
          </a:p>
        </p:txBody>
      </p:sp>
      <p:sp>
        <p:nvSpPr>
          <p:cNvPr id="5" name="角丸四角形 4">
            <a:extLst>
              <a:ext uri="{FF2B5EF4-FFF2-40B4-BE49-F238E27FC236}">
                <a16:creationId xmlns:a16="http://schemas.microsoft.com/office/drawing/2014/main" id="{E5A47D8C-147F-4979-B4E5-F120F9D7FAE1}"/>
              </a:ext>
            </a:extLst>
          </p:cNvPr>
          <p:cNvSpPr>
            <a:spLocks noGrp="1"/>
          </p:cNvSpPr>
          <p:nvPr/>
        </p:nvSpPr>
        <p:spPr>
          <a:xfrm>
            <a:off x="781050" y="2128837"/>
            <a:ext cx="1466850" cy="323850"/>
          </a:xfrm>
          <a:prstGeom prst="roundRect">
            <a:avLst>
              <a:gd name="adj" fmla="val 23529"/>
            </a:avLst>
          </a:prstGeom>
          <a:solidFill>
            <a:srgbClr val="F28C28"/>
          </a:solidFill>
          <a:ln w="0">
            <a:noFill/>
          </a:ln>
        </p:spPr>
        <p:txBody>
          <a:bodyPr/>
          <a:lstStyle/>
          <a:p>
            <a:endParaRPr lang="ja-JP" altLang="en-US"/>
          </a:p>
        </p:txBody>
      </p:sp>
      <p:sp>
        <p:nvSpPr>
          <p:cNvPr id="6" name="正方形/長方形 5">
            <a:extLst>
              <a:ext uri="{FF2B5EF4-FFF2-40B4-BE49-F238E27FC236}">
                <a16:creationId xmlns:a16="http://schemas.microsoft.com/office/drawing/2014/main" id="{C8EDD95D-772A-438C-89F9-1CEC69D3470C}"/>
              </a:ext>
            </a:extLst>
          </p:cNvPr>
          <p:cNvSpPr>
            <a:spLocks noGrp="1"/>
          </p:cNvSpPr>
          <p:nvPr/>
        </p:nvSpPr>
        <p:spPr>
          <a:xfrm>
            <a:off x="876300" y="2147887"/>
            <a:ext cx="1276350" cy="276225"/>
          </a:xfrm>
          <a:prstGeom prst="rect">
            <a:avLst/>
          </a:prstGeom>
          <a:noFill/>
          <a:ln w="0">
            <a:noFill/>
          </a:ln>
        </p:spPr>
        <p:txBody>
          <a:bodyPr anchor="ctr">
            <a:normAutofit fontScale="95098"/>
          </a:bodyPr>
          <a:lstStyle/>
          <a:p>
            <a:pPr algn="ctr">
              <a:defRPr sz="1275" b="1">
                <a:solidFill>
                  <a:srgbClr val="FFFFFF"/>
                </a:solidFill>
                <a:latin typeface="Hiragino Sans"/>
                <a:ea typeface="Hiragino Sans"/>
                <a:cs typeface="Hiragino Sans"/>
              </a:defRPr>
            </a:pPr>
            <a:r>
              <a:rPr sz="1275" b="1">
                <a:solidFill>
                  <a:srgbClr val="FFFFFF"/>
                </a:solidFill>
                <a:latin typeface="Hiragino Sans"/>
                <a:ea typeface="Hiragino Sans"/>
                <a:cs typeface="Hiragino Sans"/>
              </a:rPr>
              <a:t>関連性</a:t>
            </a:r>
          </a:p>
        </p:txBody>
      </p:sp>
      <p:sp>
        <p:nvSpPr>
          <p:cNvPr id="7" name="正方形/長方形 6">
            <a:extLst>
              <a:ext uri="{FF2B5EF4-FFF2-40B4-BE49-F238E27FC236}">
                <a16:creationId xmlns:a16="http://schemas.microsoft.com/office/drawing/2014/main" id="{C96C96F1-2684-4185-96ED-A0050F92A558}"/>
              </a:ext>
            </a:extLst>
          </p:cNvPr>
          <p:cNvSpPr>
            <a:spLocks noGrp="1"/>
          </p:cNvSpPr>
          <p:nvPr/>
        </p:nvSpPr>
        <p:spPr>
          <a:xfrm>
            <a:off x="2571750" y="1985962"/>
            <a:ext cx="2952750" cy="438150"/>
          </a:xfrm>
          <a:prstGeom prst="rect">
            <a:avLst/>
          </a:prstGeom>
          <a:noFill/>
          <a:ln w="0">
            <a:noFill/>
          </a:ln>
        </p:spPr>
        <p:txBody>
          <a:bodyPr anchor="ctr">
            <a:normAutofit fontScale="84859" lnSpcReduction="10000"/>
          </a:bodyPr>
          <a:lstStyle/>
          <a:p>
            <a:pPr algn="l">
              <a:defRPr sz="1725" b="1">
                <a:solidFill>
                  <a:srgbClr val="F28C28"/>
                </a:solidFill>
                <a:latin typeface="Hiragino Sans"/>
                <a:ea typeface="Hiragino Sans"/>
                <a:cs typeface="Hiragino Sans"/>
              </a:defRPr>
            </a:pPr>
            <a:r>
              <a:rPr sz="1725" b="1">
                <a:solidFill>
                  <a:srgbClr val="F28C28"/>
                </a:solidFill>
                <a:latin typeface="Hiragino Sans"/>
                <a:ea typeface="Hiragino Sans"/>
                <a:cs typeface="Hiragino Sans"/>
              </a:rPr>
              <a:t>真のTop-5を約10pt多く回収</a:t>
            </a:r>
          </a:p>
        </p:txBody>
      </p:sp>
      <p:sp>
        <p:nvSpPr>
          <p:cNvPr id="10" name="角丸四角形 9">
            <a:extLst>
              <a:ext uri="{FF2B5EF4-FFF2-40B4-BE49-F238E27FC236}">
                <a16:creationId xmlns:a16="http://schemas.microsoft.com/office/drawing/2014/main" id="{6D198832-69E6-42AB-A63C-17095B71A1FF}"/>
              </a:ext>
            </a:extLst>
          </p:cNvPr>
          <p:cNvSpPr>
            <a:spLocks noGrp="1"/>
          </p:cNvSpPr>
          <p:nvPr/>
        </p:nvSpPr>
        <p:spPr>
          <a:xfrm>
            <a:off x="781050" y="3433762"/>
            <a:ext cx="1466850" cy="323850"/>
          </a:xfrm>
          <a:prstGeom prst="roundRect">
            <a:avLst>
              <a:gd name="adj" fmla="val 23529"/>
            </a:avLst>
          </a:prstGeom>
          <a:solidFill>
            <a:srgbClr val="2AA876"/>
          </a:solidFill>
          <a:ln w="0">
            <a:noFill/>
          </a:ln>
        </p:spPr>
        <p:txBody>
          <a:bodyPr/>
          <a:lstStyle/>
          <a:p>
            <a:endParaRPr lang="ja-JP" altLang="en-US"/>
          </a:p>
        </p:txBody>
      </p:sp>
      <p:sp>
        <p:nvSpPr>
          <p:cNvPr id="11" name="正方形/長方形 10">
            <a:extLst>
              <a:ext uri="{FF2B5EF4-FFF2-40B4-BE49-F238E27FC236}">
                <a16:creationId xmlns:a16="http://schemas.microsoft.com/office/drawing/2014/main" id="{0D21862D-B94D-4D2E-931B-AADDBCF13ECD}"/>
              </a:ext>
            </a:extLst>
          </p:cNvPr>
          <p:cNvSpPr>
            <a:spLocks noGrp="1"/>
          </p:cNvSpPr>
          <p:nvPr/>
        </p:nvSpPr>
        <p:spPr>
          <a:xfrm>
            <a:off x="876300" y="3452812"/>
            <a:ext cx="1276350" cy="276225"/>
          </a:xfrm>
          <a:prstGeom prst="rect">
            <a:avLst/>
          </a:prstGeom>
          <a:noFill/>
          <a:ln w="0">
            <a:noFill/>
          </a:ln>
        </p:spPr>
        <p:txBody>
          <a:bodyPr anchor="ctr">
            <a:normAutofit fontScale="95098"/>
          </a:bodyPr>
          <a:lstStyle/>
          <a:p>
            <a:pPr algn="ctr">
              <a:defRPr sz="1275" b="1">
                <a:solidFill>
                  <a:srgbClr val="FFFFFF"/>
                </a:solidFill>
                <a:latin typeface="Hiragino Sans"/>
                <a:ea typeface="Hiragino Sans"/>
                <a:cs typeface="Hiragino Sans"/>
              </a:defRPr>
            </a:pPr>
            <a:r>
              <a:rPr sz="1275" b="1">
                <a:solidFill>
                  <a:srgbClr val="FFFFFF"/>
                </a:solidFill>
                <a:latin typeface="Hiragino Sans"/>
                <a:ea typeface="Hiragino Sans"/>
                <a:cs typeface="Hiragino Sans"/>
              </a:rPr>
              <a:t>忠実度</a:t>
            </a:r>
          </a:p>
        </p:txBody>
      </p:sp>
      <p:sp>
        <p:nvSpPr>
          <p:cNvPr id="12" name="正方形/長方形 11">
            <a:extLst>
              <a:ext uri="{FF2B5EF4-FFF2-40B4-BE49-F238E27FC236}">
                <a16:creationId xmlns:a16="http://schemas.microsoft.com/office/drawing/2014/main" id="{7E4B10A2-9317-4CB9-A19A-C651FA916EA3}"/>
              </a:ext>
            </a:extLst>
          </p:cNvPr>
          <p:cNvSpPr>
            <a:spLocks noGrp="1"/>
          </p:cNvSpPr>
          <p:nvPr/>
        </p:nvSpPr>
        <p:spPr>
          <a:xfrm>
            <a:off x="2571750" y="3290887"/>
            <a:ext cx="2952750" cy="438150"/>
          </a:xfrm>
          <a:prstGeom prst="rect">
            <a:avLst/>
          </a:prstGeom>
          <a:noFill/>
          <a:ln w="0">
            <a:noFill/>
          </a:ln>
        </p:spPr>
        <p:txBody>
          <a:bodyPr anchor="ctr">
            <a:normAutofit/>
          </a:bodyPr>
          <a:lstStyle/>
          <a:p>
            <a:pPr algn="l">
              <a:defRPr sz="1725" b="1">
                <a:solidFill>
                  <a:srgbClr val="2AA876"/>
                </a:solidFill>
                <a:latin typeface="Hiragino Sans"/>
                <a:ea typeface="Hiragino Sans"/>
                <a:cs typeface="Hiragino Sans"/>
              </a:defRPr>
            </a:pPr>
            <a:r>
              <a:rPr sz="1725" b="1">
                <a:solidFill>
                  <a:srgbClr val="2AA876"/>
                </a:solidFill>
                <a:latin typeface="Hiragino Sans"/>
                <a:ea typeface="Hiragino Sans"/>
                <a:cs typeface="Hiragino Sans"/>
              </a:rPr>
              <a:t>改善は約1ポイント</a:t>
            </a:r>
          </a:p>
        </p:txBody>
      </p:sp>
      <p:sp>
        <p:nvSpPr>
          <p:cNvPr id="15" name="角丸四角形 14">
            <a:extLst>
              <a:ext uri="{FF2B5EF4-FFF2-40B4-BE49-F238E27FC236}">
                <a16:creationId xmlns:a16="http://schemas.microsoft.com/office/drawing/2014/main" id="{F856F5A7-5A7C-4575-8D82-060A3CF681F0}"/>
              </a:ext>
            </a:extLst>
          </p:cNvPr>
          <p:cNvSpPr>
            <a:spLocks noGrp="1"/>
          </p:cNvSpPr>
          <p:nvPr/>
        </p:nvSpPr>
        <p:spPr>
          <a:xfrm>
            <a:off x="781050" y="4738687"/>
            <a:ext cx="1466850" cy="323850"/>
          </a:xfrm>
          <a:prstGeom prst="roundRect">
            <a:avLst>
              <a:gd name="adj" fmla="val 23529"/>
            </a:avLst>
          </a:prstGeom>
          <a:solidFill>
            <a:srgbClr val="1479C9"/>
          </a:solidFill>
          <a:ln w="0">
            <a:noFill/>
          </a:ln>
        </p:spPr>
        <p:txBody>
          <a:bodyPr/>
          <a:lstStyle/>
          <a:p>
            <a:endParaRPr lang="ja-JP" altLang="en-US"/>
          </a:p>
        </p:txBody>
      </p:sp>
      <p:sp>
        <p:nvSpPr>
          <p:cNvPr id="16" name="正方形/長方形 15">
            <a:extLst>
              <a:ext uri="{FF2B5EF4-FFF2-40B4-BE49-F238E27FC236}">
                <a16:creationId xmlns:a16="http://schemas.microsoft.com/office/drawing/2014/main" id="{86DE01E8-AC26-4810-9B26-CF20ECB41AF2}"/>
              </a:ext>
            </a:extLst>
          </p:cNvPr>
          <p:cNvSpPr>
            <a:spLocks noGrp="1"/>
          </p:cNvSpPr>
          <p:nvPr/>
        </p:nvSpPr>
        <p:spPr>
          <a:xfrm>
            <a:off x="876300" y="4757737"/>
            <a:ext cx="1276350" cy="276225"/>
          </a:xfrm>
          <a:prstGeom prst="rect">
            <a:avLst/>
          </a:prstGeom>
          <a:noFill/>
          <a:ln w="0">
            <a:noFill/>
          </a:ln>
        </p:spPr>
        <p:txBody>
          <a:bodyPr anchor="ctr">
            <a:normAutofit fontScale="95098"/>
          </a:bodyPr>
          <a:lstStyle/>
          <a:p>
            <a:pPr algn="ctr">
              <a:defRPr sz="1275" b="1">
                <a:solidFill>
                  <a:srgbClr val="FFFFFF"/>
                </a:solidFill>
                <a:latin typeface="Hiragino Sans"/>
                <a:ea typeface="Hiragino Sans"/>
                <a:cs typeface="Hiragino Sans"/>
              </a:defRPr>
            </a:pPr>
            <a:r>
              <a:rPr sz="1275" b="1">
                <a:solidFill>
                  <a:srgbClr val="FFFFFF"/>
                </a:solidFill>
                <a:latin typeface="Hiragino Sans"/>
                <a:ea typeface="Hiragino Sans"/>
                <a:cs typeface="Hiragino Sans"/>
              </a:rPr>
              <a:t>効率</a:t>
            </a:r>
          </a:p>
        </p:txBody>
      </p:sp>
      <p:sp>
        <p:nvSpPr>
          <p:cNvPr id="17" name="正方形/長方形 16">
            <a:extLst>
              <a:ext uri="{FF2B5EF4-FFF2-40B4-BE49-F238E27FC236}">
                <a16:creationId xmlns:a16="http://schemas.microsoft.com/office/drawing/2014/main" id="{3561187F-EDCE-4655-9C1C-8C9ACDF80D15}"/>
              </a:ext>
            </a:extLst>
          </p:cNvPr>
          <p:cNvSpPr>
            <a:spLocks noGrp="1"/>
          </p:cNvSpPr>
          <p:nvPr/>
        </p:nvSpPr>
        <p:spPr>
          <a:xfrm>
            <a:off x="2571750" y="4595812"/>
            <a:ext cx="2952750" cy="438150"/>
          </a:xfrm>
          <a:prstGeom prst="rect">
            <a:avLst/>
          </a:prstGeom>
          <a:noFill/>
          <a:ln w="0">
            <a:noFill/>
          </a:ln>
        </p:spPr>
        <p:txBody>
          <a:bodyPr anchor="ctr">
            <a:normAutofit/>
          </a:bodyPr>
          <a:lstStyle/>
          <a:p>
            <a:pPr algn="l">
              <a:defRPr sz="1725" b="1">
                <a:solidFill>
                  <a:srgbClr val="1479C9"/>
                </a:solidFill>
                <a:latin typeface="Hiragino Sans"/>
                <a:ea typeface="Hiragino Sans"/>
                <a:cs typeface="Hiragino Sans"/>
              </a:defRPr>
            </a:pPr>
            <a:r>
              <a:rPr sz="1725" b="1">
                <a:solidFill>
                  <a:srgbClr val="1479C9"/>
                </a:solidFill>
                <a:latin typeface="Hiragino Sans"/>
                <a:ea typeface="Hiragino Sans"/>
                <a:cs typeface="Hiragino Sans"/>
              </a:rPr>
              <a:t>クラス数に対してほぼ一定</a:t>
            </a:r>
          </a:p>
        </p:txBody>
      </p:sp>
    </p:spTree>
    <p:extLst>
      <p:ext uri="{BB962C8B-B14F-4D97-AF65-F5344CB8AC3E}">
        <p14:creationId xmlns:p14="http://schemas.microsoft.com/office/powerpoint/2010/main" val="108905428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1" name="正方形/長方形 20">
            <a:extLst>
              <a:ext uri="{FF2B5EF4-FFF2-40B4-BE49-F238E27FC236}">
                <a16:creationId xmlns:a16="http://schemas.microsoft.com/office/drawing/2014/main" id="{77124F7A-27DA-4E92-8915-145E679EDDEE}"/>
              </a:ext>
            </a:extLst>
          </p:cNvPr>
          <p:cNvSpPr>
            <a:spLocks noGrp="1"/>
          </p:cNvSpPr>
          <p:nvPr/>
        </p:nvSpPr>
        <p:spPr>
          <a:xfrm>
            <a:off x="514350" y="409575"/>
            <a:ext cx="114300" cy="476250"/>
          </a:xfrm>
          <a:prstGeom prst="rect">
            <a:avLst/>
          </a:prstGeom>
          <a:solidFill>
            <a:srgbClr val="1479C9"/>
          </a:solidFill>
          <a:ln w="0">
            <a:noFill/>
          </a:ln>
        </p:spPr>
        <p:txBody>
          <a:bodyPr/>
          <a:lstStyle/>
          <a:p>
            <a:endParaRPr lang="ja-JP" altLang="en-US"/>
          </a:p>
        </p:txBody>
      </p:sp>
      <p:sp>
        <p:nvSpPr>
          <p:cNvPr id="2" name="正方形/長方形 1">
            <a:extLst>
              <a:ext uri="{FF2B5EF4-FFF2-40B4-BE49-F238E27FC236}">
                <a16:creationId xmlns:a16="http://schemas.microsoft.com/office/drawing/2014/main" id="{AD131223-4895-499C-9636-6FA2A33264C1}"/>
              </a:ext>
            </a:extLst>
          </p:cNvPr>
          <p:cNvSpPr>
            <a:spLocks noGrp="1"/>
          </p:cNvSpPr>
          <p:nvPr/>
        </p:nvSpPr>
        <p:spPr>
          <a:xfrm>
            <a:off x="762000" y="342900"/>
            <a:ext cx="10668000" cy="476250"/>
          </a:xfrm>
          <a:prstGeom prst="rect">
            <a:avLst/>
          </a:prstGeom>
          <a:noFill/>
          <a:ln w="0">
            <a:noFill/>
          </a:ln>
        </p:spPr>
        <p:txBody>
          <a:bodyPr anchor="ctr">
            <a:normAutofit fontScale="99020"/>
          </a:bodyPr>
          <a:lstStyle/>
          <a:p>
            <a:pPr algn="l">
              <a:defRPr sz="2550" b="1">
                <a:solidFill>
                  <a:srgbClr val="17233D"/>
                </a:solidFill>
                <a:latin typeface="Hiragino Sans"/>
                <a:ea typeface="Hiragino Sans"/>
                <a:cs typeface="Hiragino Sans"/>
              </a:defRPr>
            </a:pPr>
            <a:r>
              <a:rPr sz="2550" b="1">
                <a:solidFill>
                  <a:srgbClr val="17233D"/>
                </a:solidFill>
                <a:latin typeface="Hiragino Sans"/>
                <a:ea typeface="Hiragino Sans"/>
                <a:cs typeface="Hiragino Sans"/>
              </a:rPr>
              <a:t>考察1：2クラスに絞ると何が変わるか</a:t>
            </a:r>
          </a:p>
        </p:txBody>
      </p:sp>
      <p:sp>
        <p:nvSpPr>
          <p:cNvPr id="3" name="正方形/長方形 2">
            <a:extLst>
              <a:ext uri="{FF2B5EF4-FFF2-40B4-BE49-F238E27FC236}">
                <a16:creationId xmlns:a16="http://schemas.microsoft.com/office/drawing/2014/main" id="{7BA98B94-5BE9-4978-8470-8C6C143F3667}"/>
              </a:ext>
            </a:extLst>
          </p:cNvPr>
          <p:cNvSpPr>
            <a:spLocks noGrp="1"/>
          </p:cNvSpPr>
          <p:nvPr/>
        </p:nvSpPr>
        <p:spPr>
          <a:xfrm>
            <a:off x="762000" y="800100"/>
            <a:ext cx="10668000" cy="247650"/>
          </a:xfrm>
          <a:prstGeom prst="rect">
            <a:avLst/>
          </a:prstGeom>
          <a:noFill/>
          <a:ln w="0">
            <a:noFill/>
          </a:ln>
        </p:spPr>
        <p:txBody>
          <a:bodyPr anchor="ctr">
            <a:normAutofit fontScale="92917" lnSpcReduction="10000"/>
          </a:bodyPr>
          <a:lstStyle/>
          <a:p>
            <a:pPr algn="l">
              <a:defRPr sz="1200" b="0">
                <a:solidFill>
                  <a:srgbClr val="687386"/>
                </a:solidFill>
                <a:latin typeface="Hiragino Sans"/>
                <a:ea typeface="Hiragino Sans"/>
                <a:cs typeface="Hiragino Sans"/>
              </a:defRPr>
            </a:pPr>
            <a:r>
              <a:rPr sz="1200" b="0">
                <a:solidFill>
                  <a:srgbClr val="687386"/>
                </a:solidFill>
                <a:latin typeface="Hiragino Sans"/>
                <a:ea typeface="Hiragino Sans"/>
                <a:cs typeface="Hiragino Sans"/>
              </a:rPr>
              <a:t>OVRとpairwise説明は、そもそも答えている質問が異なる</a:t>
            </a:r>
          </a:p>
        </p:txBody>
      </p:sp>
      <p:sp>
        <p:nvSpPr>
          <p:cNvPr id="5" name="角丸四角形 4">
            <a:extLst>
              <a:ext uri="{FF2B5EF4-FFF2-40B4-BE49-F238E27FC236}">
                <a16:creationId xmlns:a16="http://schemas.microsoft.com/office/drawing/2014/main" id="{ACDE1BBE-F6CE-4A5D-8A87-AE4BCA14DBD0}"/>
              </a:ext>
            </a:extLst>
          </p:cNvPr>
          <p:cNvSpPr>
            <a:spLocks noGrp="1"/>
          </p:cNvSpPr>
          <p:nvPr/>
        </p:nvSpPr>
        <p:spPr>
          <a:xfrm>
            <a:off x="762000" y="1219200"/>
            <a:ext cx="10668000" cy="781050"/>
          </a:xfrm>
          <a:prstGeom prst="roundRect">
            <a:avLst>
              <a:gd name="adj" fmla="val 9756"/>
            </a:avLst>
          </a:prstGeom>
          <a:solidFill>
            <a:srgbClr val="EAF4FB"/>
          </a:solidFill>
          <a:ln w="0">
            <a:noFill/>
          </a:ln>
        </p:spPr>
        <p:txBody>
          <a:bodyPr/>
          <a:lstStyle/>
          <a:p>
            <a:endParaRPr lang="ja-JP" altLang="en-US"/>
          </a:p>
        </p:txBody>
      </p:sp>
      <p:sp>
        <p:nvSpPr>
          <p:cNvPr id="6" name="正方形/長方形 5">
            <a:extLst>
              <a:ext uri="{FF2B5EF4-FFF2-40B4-BE49-F238E27FC236}">
                <a16:creationId xmlns:a16="http://schemas.microsoft.com/office/drawing/2014/main" id="{1DCF3F60-242F-49C4-93CA-E8549FF262B9}"/>
              </a:ext>
            </a:extLst>
          </p:cNvPr>
          <p:cNvSpPr>
            <a:spLocks noGrp="1"/>
          </p:cNvSpPr>
          <p:nvPr/>
        </p:nvSpPr>
        <p:spPr>
          <a:xfrm>
            <a:off x="1000125" y="1381125"/>
            <a:ext cx="10191750" cy="438150"/>
          </a:xfrm>
          <a:prstGeom prst="rect">
            <a:avLst/>
          </a:prstGeom>
          <a:noFill/>
          <a:ln w="0">
            <a:noFill/>
          </a:ln>
        </p:spPr>
        <p:txBody>
          <a:bodyPr anchor="ctr">
            <a:normAutofit/>
          </a:bodyPr>
          <a:lstStyle/>
          <a:p>
            <a:pPr algn="ctr">
              <a:defRPr sz="1800" b="1">
                <a:solidFill>
                  <a:srgbClr val="1479C9"/>
                </a:solidFill>
                <a:latin typeface="Hiragino Sans"/>
                <a:ea typeface="Hiragino Sans"/>
                <a:cs typeface="Hiragino Sans"/>
              </a:defRPr>
            </a:pPr>
            <a:r>
              <a:rPr sz="1800" b="1">
                <a:solidFill>
                  <a:srgbClr val="1479C9"/>
                </a:solidFill>
                <a:latin typeface="Hiragino Sans"/>
                <a:ea typeface="Hiragino Sans"/>
                <a:cs typeface="Hiragino Sans"/>
              </a:rPr>
              <a:t>OVRは『なぜクラスAらしいか』、2クラス説明は『なぜAがBより選ばれたか』に答える</a:t>
            </a:r>
          </a:p>
        </p:txBody>
      </p:sp>
      <p:sp>
        <p:nvSpPr>
          <p:cNvPr id="7" name="角丸四角形 6">
            <a:extLst>
              <a:ext uri="{FF2B5EF4-FFF2-40B4-BE49-F238E27FC236}">
                <a16:creationId xmlns:a16="http://schemas.microsoft.com/office/drawing/2014/main" id="{F06556CE-8855-4901-85DD-41FA203280CC}"/>
              </a:ext>
            </a:extLst>
          </p:cNvPr>
          <p:cNvSpPr>
            <a:spLocks noGrp="1"/>
          </p:cNvSpPr>
          <p:nvPr/>
        </p:nvSpPr>
        <p:spPr>
          <a:xfrm>
            <a:off x="838200" y="2400300"/>
            <a:ext cx="2076450" cy="304800"/>
          </a:xfrm>
          <a:prstGeom prst="roundRect">
            <a:avLst>
              <a:gd name="adj" fmla="val 25000"/>
            </a:avLst>
          </a:prstGeom>
          <a:solidFill>
            <a:srgbClr val="2AA876"/>
          </a:solidFill>
          <a:ln w="0">
            <a:noFill/>
          </a:ln>
        </p:spPr>
        <p:txBody>
          <a:bodyPr/>
          <a:lstStyle/>
          <a:p>
            <a:endParaRPr lang="ja-JP" altLang="en-US"/>
          </a:p>
        </p:txBody>
      </p:sp>
      <p:sp>
        <p:nvSpPr>
          <p:cNvPr id="8" name="正方形/長方形 7">
            <a:extLst>
              <a:ext uri="{FF2B5EF4-FFF2-40B4-BE49-F238E27FC236}">
                <a16:creationId xmlns:a16="http://schemas.microsoft.com/office/drawing/2014/main" id="{9D88ADB7-A78E-4A0C-9573-73760900F3B4}"/>
              </a:ext>
            </a:extLst>
          </p:cNvPr>
          <p:cNvSpPr>
            <a:spLocks noGrp="1"/>
          </p:cNvSpPr>
          <p:nvPr/>
        </p:nvSpPr>
        <p:spPr>
          <a:xfrm>
            <a:off x="933450" y="2409825"/>
            <a:ext cx="1885950" cy="276225"/>
          </a:xfrm>
          <a:prstGeom prst="rect">
            <a:avLst/>
          </a:prstGeom>
          <a:noFill/>
          <a:ln w="0">
            <a:noFill/>
          </a:ln>
        </p:spPr>
        <p:txBody>
          <a:bodyPr anchor="ctr">
            <a:normAutofit/>
          </a:bodyPr>
          <a:lstStyle/>
          <a:p>
            <a:pPr algn="ctr">
              <a:defRPr sz="1200" b="1">
                <a:solidFill>
                  <a:srgbClr val="FFFFFF"/>
                </a:solidFill>
                <a:latin typeface="Hiragino Sans"/>
                <a:ea typeface="Hiragino Sans"/>
                <a:cs typeface="Hiragino Sans"/>
              </a:defRPr>
            </a:pPr>
            <a:r>
              <a:rPr sz="1200" b="1">
                <a:solidFill>
                  <a:srgbClr val="FFFFFF"/>
                </a:solidFill>
                <a:latin typeface="Hiragino Sans"/>
                <a:ea typeface="Hiragino Sans"/>
                <a:cs typeface="Hiragino Sans"/>
              </a:rPr>
              <a:t>① 共通証拠を相殺</a:t>
            </a:r>
          </a:p>
        </p:txBody>
      </p:sp>
      <p:sp>
        <p:nvSpPr>
          <p:cNvPr id="9" name="角丸四角形 8">
            <a:extLst>
              <a:ext uri="{FF2B5EF4-FFF2-40B4-BE49-F238E27FC236}">
                <a16:creationId xmlns:a16="http://schemas.microsoft.com/office/drawing/2014/main" id="{D6961BEB-026C-487E-91BA-822D1EFEB4EE}"/>
              </a:ext>
            </a:extLst>
          </p:cNvPr>
          <p:cNvSpPr>
            <a:spLocks noGrp="1"/>
          </p:cNvSpPr>
          <p:nvPr/>
        </p:nvSpPr>
        <p:spPr>
          <a:xfrm>
            <a:off x="3105150" y="2266950"/>
            <a:ext cx="8248650" cy="800100"/>
          </a:xfrm>
          <a:prstGeom prst="roundRect">
            <a:avLst>
              <a:gd name="adj" fmla="val 9524"/>
            </a:avLst>
          </a:prstGeom>
          <a:solidFill>
            <a:srgbClr val="F7F9FC"/>
          </a:solidFill>
          <a:ln w="9525">
            <a:solidFill>
              <a:srgbClr val="E7EBF0"/>
            </a:solidFill>
          </a:ln>
        </p:spPr>
        <p:txBody>
          <a:bodyPr/>
          <a:lstStyle/>
          <a:p>
            <a:endParaRPr lang="ja-JP" altLang="en-US"/>
          </a:p>
        </p:txBody>
      </p:sp>
      <p:sp>
        <p:nvSpPr>
          <p:cNvPr id="10" name="正方形/長方形 9">
            <a:extLst>
              <a:ext uri="{FF2B5EF4-FFF2-40B4-BE49-F238E27FC236}">
                <a16:creationId xmlns:a16="http://schemas.microsoft.com/office/drawing/2014/main" id="{C3F861FB-BAC7-4550-A0BE-294C73B0C11C}"/>
              </a:ext>
            </a:extLst>
          </p:cNvPr>
          <p:cNvSpPr>
            <a:spLocks noGrp="1"/>
          </p:cNvSpPr>
          <p:nvPr/>
        </p:nvSpPr>
        <p:spPr>
          <a:xfrm>
            <a:off x="3314700" y="2343150"/>
            <a:ext cx="7829550" cy="647700"/>
          </a:xfrm>
          <a:prstGeom prst="rect">
            <a:avLst/>
          </a:prstGeom>
          <a:noFill/>
          <a:ln w="0">
            <a:noFill/>
          </a:ln>
        </p:spPr>
        <p:txBody>
          <a:bodyPr anchor="ctr">
            <a:normAutofit/>
          </a:bodyPr>
          <a:lstStyle/>
          <a:p>
            <a:pPr algn="l">
              <a:defRPr sz="1350" b="0">
                <a:solidFill>
                  <a:srgbClr val="17233D"/>
                </a:solidFill>
                <a:latin typeface="Hiragino Sans"/>
                <a:ea typeface="Hiragino Sans"/>
                <a:cs typeface="Hiragino Sans"/>
              </a:defRPr>
            </a:pPr>
            <a:r>
              <a:rPr sz="1350" b="0">
                <a:solidFill>
                  <a:srgbClr val="17233D"/>
                </a:solidFill>
                <a:latin typeface="Hiragino Sans"/>
                <a:ea typeface="Hiragino Sans"/>
                <a:cs typeface="Hiragino Sans"/>
              </a:rPr>
              <a:t>AとBを同じ方向に押し上げる特徴は、A単独では重要でもA対Bの勝敗には効かない。qやlog(pA/pB)を説明すると、その共通成分が表示上位から外れやすい。</a:t>
            </a:r>
          </a:p>
        </p:txBody>
      </p:sp>
      <p:sp>
        <p:nvSpPr>
          <p:cNvPr id="11" name="角丸四角形 10">
            <a:extLst>
              <a:ext uri="{FF2B5EF4-FFF2-40B4-BE49-F238E27FC236}">
                <a16:creationId xmlns:a16="http://schemas.microsoft.com/office/drawing/2014/main" id="{C1F7E951-B5AF-4287-B28B-8B5476604A93}"/>
              </a:ext>
            </a:extLst>
          </p:cNvPr>
          <p:cNvSpPr>
            <a:spLocks noGrp="1"/>
          </p:cNvSpPr>
          <p:nvPr/>
        </p:nvSpPr>
        <p:spPr>
          <a:xfrm>
            <a:off x="838200" y="3467100"/>
            <a:ext cx="2076450" cy="304800"/>
          </a:xfrm>
          <a:prstGeom prst="roundRect">
            <a:avLst>
              <a:gd name="adj" fmla="val 25000"/>
            </a:avLst>
          </a:prstGeom>
          <a:solidFill>
            <a:srgbClr val="F28C28"/>
          </a:solidFill>
          <a:ln w="0">
            <a:noFill/>
          </a:ln>
        </p:spPr>
        <p:txBody>
          <a:bodyPr/>
          <a:lstStyle/>
          <a:p>
            <a:endParaRPr lang="ja-JP" altLang="en-US"/>
          </a:p>
        </p:txBody>
      </p:sp>
      <p:sp>
        <p:nvSpPr>
          <p:cNvPr id="12" name="正方形/長方形 11">
            <a:extLst>
              <a:ext uri="{FF2B5EF4-FFF2-40B4-BE49-F238E27FC236}">
                <a16:creationId xmlns:a16="http://schemas.microsoft.com/office/drawing/2014/main" id="{F08715F1-8CF4-4651-AB83-BD93B8337223}"/>
              </a:ext>
            </a:extLst>
          </p:cNvPr>
          <p:cNvSpPr>
            <a:spLocks noGrp="1"/>
          </p:cNvSpPr>
          <p:nvPr/>
        </p:nvSpPr>
        <p:spPr>
          <a:xfrm>
            <a:off x="933450" y="3476625"/>
            <a:ext cx="1885950" cy="276225"/>
          </a:xfrm>
          <a:prstGeom prst="rect">
            <a:avLst/>
          </a:prstGeom>
          <a:noFill/>
          <a:ln w="0">
            <a:noFill/>
          </a:ln>
        </p:spPr>
        <p:txBody>
          <a:bodyPr anchor="ctr">
            <a:normAutofit/>
          </a:bodyPr>
          <a:lstStyle/>
          <a:p>
            <a:pPr algn="ctr">
              <a:defRPr sz="1200" b="1">
                <a:solidFill>
                  <a:srgbClr val="FFFFFF"/>
                </a:solidFill>
                <a:latin typeface="Hiragino Sans"/>
                <a:ea typeface="Hiragino Sans"/>
                <a:cs typeface="Hiragino Sans"/>
              </a:defRPr>
            </a:pPr>
            <a:r>
              <a:rPr sz="1200" b="1">
                <a:solidFill>
                  <a:srgbClr val="FFFFFF"/>
                </a:solidFill>
                <a:latin typeface="Hiragino Sans"/>
                <a:ea typeface="Hiragino Sans"/>
                <a:cs typeface="Hiragino Sans"/>
              </a:rPr>
              <a:t>② 表示予算を集中</a:t>
            </a:r>
          </a:p>
        </p:txBody>
      </p:sp>
      <p:sp>
        <p:nvSpPr>
          <p:cNvPr id="13" name="角丸四角形 12">
            <a:extLst>
              <a:ext uri="{FF2B5EF4-FFF2-40B4-BE49-F238E27FC236}">
                <a16:creationId xmlns:a16="http://schemas.microsoft.com/office/drawing/2014/main" id="{774F9717-E53D-4097-8009-349E69F64690}"/>
              </a:ext>
            </a:extLst>
          </p:cNvPr>
          <p:cNvSpPr>
            <a:spLocks noGrp="1"/>
          </p:cNvSpPr>
          <p:nvPr/>
        </p:nvSpPr>
        <p:spPr>
          <a:xfrm>
            <a:off x="3105150" y="3333750"/>
            <a:ext cx="8248650" cy="800100"/>
          </a:xfrm>
          <a:prstGeom prst="roundRect">
            <a:avLst>
              <a:gd name="adj" fmla="val 9524"/>
            </a:avLst>
          </a:prstGeom>
          <a:solidFill>
            <a:srgbClr val="F7F9FC"/>
          </a:solidFill>
          <a:ln w="9525">
            <a:solidFill>
              <a:srgbClr val="E7EBF0"/>
            </a:solidFill>
          </a:ln>
        </p:spPr>
        <p:txBody>
          <a:bodyPr/>
          <a:lstStyle/>
          <a:p>
            <a:endParaRPr lang="ja-JP" altLang="en-US"/>
          </a:p>
        </p:txBody>
      </p:sp>
      <p:sp>
        <p:nvSpPr>
          <p:cNvPr id="14" name="正方形/長方形 13">
            <a:extLst>
              <a:ext uri="{FF2B5EF4-FFF2-40B4-BE49-F238E27FC236}">
                <a16:creationId xmlns:a16="http://schemas.microsoft.com/office/drawing/2014/main" id="{1B8BDDE1-4937-4322-B272-92F1B644E661}"/>
              </a:ext>
            </a:extLst>
          </p:cNvPr>
          <p:cNvSpPr>
            <a:spLocks noGrp="1"/>
          </p:cNvSpPr>
          <p:nvPr/>
        </p:nvSpPr>
        <p:spPr>
          <a:xfrm>
            <a:off x="3314700" y="3409950"/>
            <a:ext cx="7829550" cy="647700"/>
          </a:xfrm>
          <a:prstGeom prst="rect">
            <a:avLst/>
          </a:prstGeom>
          <a:noFill/>
          <a:ln w="0">
            <a:noFill/>
          </a:ln>
        </p:spPr>
        <p:txBody>
          <a:bodyPr anchor="ctr">
            <a:normAutofit/>
          </a:bodyPr>
          <a:lstStyle/>
          <a:p>
            <a:pPr algn="l">
              <a:defRPr sz="1350" b="0">
                <a:solidFill>
                  <a:srgbClr val="17233D"/>
                </a:solidFill>
                <a:latin typeface="Hiragino Sans"/>
                <a:ea typeface="Hiragino Sans"/>
                <a:cs typeface="Hiragino Sans"/>
              </a:defRPr>
            </a:pPr>
            <a:r>
              <a:rPr sz="1350" b="0">
                <a:solidFill>
                  <a:srgbClr val="17233D"/>
                </a:solidFill>
                <a:latin typeface="Hiragino Sans"/>
                <a:ea typeface="Hiragino Sans"/>
                <a:cs typeface="Hiragino Sans"/>
              </a:rPr>
              <a:t>説明特徴数Kが小さいほど、関係のない共通特徴が1個入る損失は大きい。pairwise方式は限られた枠を『どちらを支持するか』へ集中できる。</a:t>
            </a:r>
          </a:p>
        </p:txBody>
      </p:sp>
      <p:sp>
        <p:nvSpPr>
          <p:cNvPr id="15" name="角丸四角形 14">
            <a:extLst>
              <a:ext uri="{FF2B5EF4-FFF2-40B4-BE49-F238E27FC236}">
                <a16:creationId xmlns:a16="http://schemas.microsoft.com/office/drawing/2014/main" id="{4F770AEE-0980-414C-BAB3-B9782933B146}"/>
              </a:ext>
            </a:extLst>
          </p:cNvPr>
          <p:cNvSpPr>
            <a:spLocks noGrp="1"/>
          </p:cNvSpPr>
          <p:nvPr/>
        </p:nvSpPr>
        <p:spPr>
          <a:xfrm>
            <a:off x="838200" y="4533900"/>
            <a:ext cx="2076450" cy="304800"/>
          </a:xfrm>
          <a:prstGeom prst="roundRect">
            <a:avLst>
              <a:gd name="adj" fmla="val 25000"/>
            </a:avLst>
          </a:prstGeom>
          <a:solidFill>
            <a:srgbClr val="7B61A8"/>
          </a:solidFill>
          <a:ln w="0">
            <a:noFill/>
          </a:ln>
        </p:spPr>
        <p:txBody>
          <a:bodyPr/>
          <a:lstStyle/>
          <a:p>
            <a:endParaRPr lang="ja-JP" altLang="en-US"/>
          </a:p>
        </p:txBody>
      </p:sp>
      <p:sp>
        <p:nvSpPr>
          <p:cNvPr id="16" name="正方形/長方形 15">
            <a:extLst>
              <a:ext uri="{FF2B5EF4-FFF2-40B4-BE49-F238E27FC236}">
                <a16:creationId xmlns:a16="http://schemas.microsoft.com/office/drawing/2014/main" id="{F7F234A3-88E6-42DD-A4CB-83093EC39213}"/>
              </a:ext>
            </a:extLst>
          </p:cNvPr>
          <p:cNvSpPr>
            <a:spLocks noGrp="1"/>
          </p:cNvSpPr>
          <p:nvPr/>
        </p:nvSpPr>
        <p:spPr>
          <a:xfrm>
            <a:off x="933450" y="4543425"/>
            <a:ext cx="1885950" cy="276225"/>
          </a:xfrm>
          <a:prstGeom prst="rect">
            <a:avLst/>
          </a:prstGeom>
          <a:noFill/>
          <a:ln w="0">
            <a:noFill/>
          </a:ln>
        </p:spPr>
        <p:txBody>
          <a:bodyPr anchor="ctr">
            <a:normAutofit/>
          </a:bodyPr>
          <a:lstStyle/>
          <a:p>
            <a:pPr algn="ctr">
              <a:defRPr sz="1200" b="1">
                <a:solidFill>
                  <a:srgbClr val="FFFFFF"/>
                </a:solidFill>
                <a:latin typeface="Hiragino Sans"/>
                <a:ea typeface="Hiragino Sans"/>
                <a:cs typeface="Hiragino Sans"/>
              </a:defRPr>
            </a:pPr>
            <a:r>
              <a:rPr sz="1200" b="1">
                <a:solidFill>
                  <a:srgbClr val="FFFFFF"/>
                </a:solidFill>
                <a:latin typeface="Hiragino Sans"/>
                <a:ea typeface="Hiragino Sans"/>
                <a:cs typeface="Hiragino Sans"/>
              </a:rPr>
              <a:t>③ 忠実度は維持</a:t>
            </a:r>
          </a:p>
        </p:txBody>
      </p:sp>
      <p:sp>
        <p:nvSpPr>
          <p:cNvPr id="17" name="角丸四角形 16">
            <a:extLst>
              <a:ext uri="{FF2B5EF4-FFF2-40B4-BE49-F238E27FC236}">
                <a16:creationId xmlns:a16="http://schemas.microsoft.com/office/drawing/2014/main" id="{EF4D6B40-1911-4C59-A2AC-B331CE6A27BB}"/>
              </a:ext>
            </a:extLst>
          </p:cNvPr>
          <p:cNvSpPr>
            <a:spLocks noGrp="1"/>
          </p:cNvSpPr>
          <p:nvPr/>
        </p:nvSpPr>
        <p:spPr>
          <a:xfrm>
            <a:off x="3105150" y="4400550"/>
            <a:ext cx="8248650" cy="800100"/>
          </a:xfrm>
          <a:prstGeom prst="roundRect">
            <a:avLst>
              <a:gd name="adj" fmla="val 9524"/>
            </a:avLst>
          </a:prstGeom>
          <a:solidFill>
            <a:srgbClr val="F7F9FC"/>
          </a:solidFill>
          <a:ln w="9525">
            <a:solidFill>
              <a:srgbClr val="E7EBF0"/>
            </a:solidFill>
          </a:ln>
        </p:spPr>
        <p:txBody>
          <a:bodyPr/>
          <a:lstStyle/>
          <a:p>
            <a:endParaRPr lang="ja-JP" altLang="en-US"/>
          </a:p>
        </p:txBody>
      </p:sp>
      <p:sp>
        <p:nvSpPr>
          <p:cNvPr id="18" name="正方形/長方形 17">
            <a:extLst>
              <a:ext uri="{FF2B5EF4-FFF2-40B4-BE49-F238E27FC236}">
                <a16:creationId xmlns:a16="http://schemas.microsoft.com/office/drawing/2014/main" id="{E0B400B1-328C-4544-96F5-58384419DA28}"/>
              </a:ext>
            </a:extLst>
          </p:cNvPr>
          <p:cNvSpPr>
            <a:spLocks noGrp="1"/>
          </p:cNvSpPr>
          <p:nvPr/>
        </p:nvSpPr>
        <p:spPr>
          <a:xfrm>
            <a:off x="3314700" y="4476750"/>
            <a:ext cx="7829550" cy="647700"/>
          </a:xfrm>
          <a:prstGeom prst="rect">
            <a:avLst/>
          </a:prstGeom>
          <a:noFill/>
          <a:ln w="0">
            <a:noFill/>
          </a:ln>
        </p:spPr>
        <p:txBody>
          <a:bodyPr anchor="ctr">
            <a:normAutofit/>
          </a:bodyPr>
          <a:lstStyle/>
          <a:p>
            <a:pPr algn="l">
              <a:defRPr sz="1350" b="0">
                <a:solidFill>
                  <a:srgbClr val="17233D"/>
                </a:solidFill>
                <a:latin typeface="Hiragino Sans"/>
                <a:ea typeface="Hiragino Sans"/>
                <a:cs typeface="Hiragino Sans"/>
              </a:defRPr>
            </a:pPr>
            <a:r>
              <a:rPr sz="1350" b="0">
                <a:solidFill>
                  <a:srgbClr val="17233D"/>
                </a:solidFill>
                <a:latin typeface="Hiragino Sans"/>
                <a:ea typeface="Hiragino Sans"/>
                <a:cs typeface="Hiragino Sans"/>
              </a:rPr>
              <a:t>RF主実験の改善は+0.0041と小さいが、同じKでも悪化せず、特徴関連性と計算時間は明確に改善した。価値は3指標を合わせて判断する。</a:t>
            </a:r>
          </a:p>
        </p:txBody>
      </p:sp>
      <p:sp>
        <p:nvSpPr>
          <p:cNvPr id="19" name="角丸四角形 18">
            <a:extLst>
              <a:ext uri="{FF2B5EF4-FFF2-40B4-BE49-F238E27FC236}">
                <a16:creationId xmlns:a16="http://schemas.microsoft.com/office/drawing/2014/main" id="{9A6A73C0-FE58-494E-9009-5B6BE6B70DD3}"/>
              </a:ext>
            </a:extLst>
          </p:cNvPr>
          <p:cNvSpPr>
            <a:spLocks noGrp="1"/>
          </p:cNvSpPr>
          <p:nvPr/>
        </p:nvSpPr>
        <p:spPr>
          <a:xfrm>
            <a:off x="762000" y="5810250"/>
            <a:ext cx="10668000" cy="409575"/>
          </a:xfrm>
          <a:prstGeom prst="roundRect">
            <a:avLst>
              <a:gd name="adj" fmla="val 18605"/>
            </a:avLst>
          </a:prstGeom>
          <a:solidFill>
            <a:srgbClr val="EAF4FB"/>
          </a:solidFill>
          <a:ln w="0">
            <a:noFill/>
          </a:ln>
        </p:spPr>
        <p:txBody>
          <a:bodyPr/>
          <a:lstStyle/>
          <a:p>
            <a:endParaRPr lang="ja-JP" altLang="en-US"/>
          </a:p>
        </p:txBody>
      </p:sp>
      <p:sp>
        <p:nvSpPr>
          <p:cNvPr id="20" name="正方形/長方形 19">
            <a:extLst>
              <a:ext uri="{FF2B5EF4-FFF2-40B4-BE49-F238E27FC236}">
                <a16:creationId xmlns:a16="http://schemas.microsoft.com/office/drawing/2014/main" id="{D5DE864F-5F2E-4FD9-AEAC-A5733F056978}"/>
              </a:ext>
            </a:extLst>
          </p:cNvPr>
          <p:cNvSpPr>
            <a:spLocks noGrp="1"/>
          </p:cNvSpPr>
          <p:nvPr/>
        </p:nvSpPr>
        <p:spPr>
          <a:xfrm>
            <a:off x="952500" y="5857875"/>
            <a:ext cx="10287000" cy="304800"/>
          </a:xfrm>
          <a:prstGeom prst="rect">
            <a:avLst/>
          </a:prstGeom>
          <a:noFill/>
          <a:ln w="0">
            <a:noFill/>
          </a:ln>
        </p:spPr>
        <p:txBody>
          <a:bodyPr anchor="ctr">
            <a:normAutofit/>
          </a:bodyPr>
          <a:lstStyle/>
          <a:p>
            <a:pPr algn="ctr">
              <a:defRPr sz="1350" b="1">
                <a:solidFill>
                  <a:srgbClr val="1479C9"/>
                </a:solidFill>
                <a:latin typeface="Hiragino Sans"/>
                <a:ea typeface="Hiragino Sans"/>
                <a:cs typeface="Hiragino Sans"/>
              </a:defRPr>
            </a:pPr>
            <a:r>
              <a:rPr sz="1350" b="1">
                <a:solidFill>
                  <a:srgbClr val="1479C9"/>
                </a:solidFill>
                <a:latin typeface="Hiragino Sans"/>
                <a:ea typeface="Hiragino Sans"/>
                <a:cs typeface="Hiragino Sans"/>
              </a:rPr>
              <a:t>このスライドの主張：精度向上だけでなく、『質問に合う特徴を出す』ことが2クラス化の主要な意義</a:t>
            </a:r>
          </a:p>
        </p:txBody>
      </p:sp>
    </p:spTree>
    <p:extLst>
      <p:ext uri="{BB962C8B-B14F-4D97-AF65-F5344CB8AC3E}">
        <p14:creationId xmlns:p14="http://schemas.microsoft.com/office/powerpoint/2010/main" val="31120969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7" name="正方形/長方形 26">
            <a:extLst>
              <a:ext uri="{FF2B5EF4-FFF2-40B4-BE49-F238E27FC236}">
                <a16:creationId xmlns:a16="http://schemas.microsoft.com/office/drawing/2014/main" id="{80DB455E-8A96-49E1-B31B-1C180752B632}"/>
              </a:ext>
            </a:extLst>
          </p:cNvPr>
          <p:cNvSpPr>
            <a:spLocks noGrp="1"/>
          </p:cNvSpPr>
          <p:nvPr/>
        </p:nvSpPr>
        <p:spPr>
          <a:xfrm>
            <a:off x="514350" y="409575"/>
            <a:ext cx="114300" cy="476250"/>
          </a:xfrm>
          <a:prstGeom prst="rect">
            <a:avLst/>
          </a:prstGeom>
          <a:solidFill>
            <a:srgbClr val="1479C9"/>
          </a:solidFill>
          <a:ln w="0">
            <a:noFill/>
          </a:ln>
        </p:spPr>
        <p:txBody>
          <a:bodyPr/>
          <a:lstStyle/>
          <a:p>
            <a:endParaRPr lang="ja-JP" altLang="en-US"/>
          </a:p>
        </p:txBody>
      </p:sp>
      <p:sp>
        <p:nvSpPr>
          <p:cNvPr id="2" name="正方形/長方形 1">
            <a:extLst>
              <a:ext uri="{FF2B5EF4-FFF2-40B4-BE49-F238E27FC236}">
                <a16:creationId xmlns:a16="http://schemas.microsoft.com/office/drawing/2014/main" id="{F5F208D7-0D70-407C-B2E4-236342F1125E}"/>
              </a:ext>
            </a:extLst>
          </p:cNvPr>
          <p:cNvSpPr>
            <a:spLocks noGrp="1"/>
          </p:cNvSpPr>
          <p:nvPr/>
        </p:nvSpPr>
        <p:spPr>
          <a:xfrm>
            <a:off x="762000" y="342900"/>
            <a:ext cx="10668000" cy="476250"/>
          </a:xfrm>
          <a:prstGeom prst="rect">
            <a:avLst/>
          </a:prstGeom>
          <a:noFill/>
          <a:ln w="0">
            <a:noFill/>
          </a:ln>
        </p:spPr>
        <p:txBody>
          <a:bodyPr anchor="ctr">
            <a:normAutofit fontScale="99020"/>
          </a:bodyPr>
          <a:lstStyle/>
          <a:p>
            <a:pPr algn="l">
              <a:defRPr sz="2550" b="1">
                <a:solidFill>
                  <a:srgbClr val="17233D"/>
                </a:solidFill>
                <a:latin typeface="Hiragino Sans"/>
                <a:ea typeface="Hiragino Sans"/>
                <a:cs typeface="Hiragino Sans"/>
              </a:defRPr>
            </a:pPr>
            <a:r>
              <a:rPr sz="2550" b="1">
                <a:solidFill>
                  <a:srgbClr val="17233D"/>
                </a:solidFill>
                <a:latin typeface="Hiragino Sans"/>
                <a:ea typeface="Hiragino Sans"/>
                <a:cs typeface="Hiragino Sans"/>
              </a:rPr>
              <a:t>考察2：3つの2クラス方式をどう使い分けるか</a:t>
            </a:r>
          </a:p>
        </p:txBody>
      </p:sp>
      <p:sp>
        <p:nvSpPr>
          <p:cNvPr id="3" name="正方形/長方形 2">
            <a:extLst>
              <a:ext uri="{FF2B5EF4-FFF2-40B4-BE49-F238E27FC236}">
                <a16:creationId xmlns:a16="http://schemas.microsoft.com/office/drawing/2014/main" id="{109FA467-DB4C-4F7B-9F58-CD3DFDCAC26A}"/>
              </a:ext>
            </a:extLst>
          </p:cNvPr>
          <p:cNvSpPr>
            <a:spLocks noGrp="1"/>
          </p:cNvSpPr>
          <p:nvPr/>
        </p:nvSpPr>
        <p:spPr>
          <a:xfrm>
            <a:off x="762000" y="800100"/>
            <a:ext cx="10668000" cy="247650"/>
          </a:xfrm>
          <a:prstGeom prst="rect">
            <a:avLst/>
          </a:prstGeom>
          <a:noFill/>
          <a:ln w="0">
            <a:noFill/>
          </a:ln>
        </p:spPr>
        <p:txBody>
          <a:bodyPr anchor="ctr">
            <a:normAutofit fontScale="92917" lnSpcReduction="10000"/>
          </a:bodyPr>
          <a:lstStyle/>
          <a:p>
            <a:pPr algn="l">
              <a:defRPr sz="1200" b="0">
                <a:solidFill>
                  <a:srgbClr val="687386"/>
                </a:solidFill>
                <a:latin typeface="Hiragino Sans"/>
                <a:ea typeface="Hiragino Sans"/>
                <a:cs typeface="Hiragino Sans"/>
              </a:defRPr>
            </a:pPr>
            <a:r>
              <a:rPr sz="1200" b="0">
                <a:solidFill>
                  <a:srgbClr val="687386"/>
                </a:solidFill>
                <a:latin typeface="Hiragino Sans"/>
                <a:ea typeface="Hiragino Sans"/>
                <a:cs typeface="Hiragino Sans"/>
              </a:rPr>
              <a:t>2クラスの選択と、その後のリンク関数・損失の選択を分けて考える</a:t>
            </a:r>
          </a:p>
        </p:txBody>
      </p:sp>
      <p:sp>
        <p:nvSpPr>
          <p:cNvPr id="5" name="角丸四角形 4">
            <a:extLst>
              <a:ext uri="{FF2B5EF4-FFF2-40B4-BE49-F238E27FC236}">
                <a16:creationId xmlns:a16="http://schemas.microsoft.com/office/drawing/2014/main" id="{3534BEAD-C324-44E9-8E28-F62E595F6CAA}"/>
              </a:ext>
            </a:extLst>
          </p:cNvPr>
          <p:cNvSpPr>
            <a:spLocks noGrp="1"/>
          </p:cNvSpPr>
          <p:nvPr/>
        </p:nvSpPr>
        <p:spPr>
          <a:xfrm>
            <a:off x="685800" y="1352550"/>
            <a:ext cx="3486150" cy="3390900"/>
          </a:xfrm>
          <a:prstGeom prst="roundRect">
            <a:avLst>
              <a:gd name="adj" fmla="val 2247"/>
            </a:avLst>
          </a:prstGeom>
          <a:solidFill>
            <a:srgbClr val="FFFFFF"/>
          </a:solidFill>
          <a:ln w="9525">
            <a:solidFill>
              <a:srgbClr val="2AA876"/>
            </a:solidFill>
          </a:ln>
        </p:spPr>
        <p:txBody>
          <a:bodyPr/>
          <a:lstStyle/>
          <a:p>
            <a:endParaRPr lang="ja-JP" altLang="en-US"/>
          </a:p>
        </p:txBody>
      </p:sp>
      <p:sp>
        <p:nvSpPr>
          <p:cNvPr id="6" name="角丸四角形 5">
            <a:extLst>
              <a:ext uri="{FF2B5EF4-FFF2-40B4-BE49-F238E27FC236}">
                <a16:creationId xmlns:a16="http://schemas.microsoft.com/office/drawing/2014/main" id="{6D0E0B8A-83E9-4419-9AC1-566C5228CD95}"/>
              </a:ext>
            </a:extLst>
          </p:cNvPr>
          <p:cNvSpPr>
            <a:spLocks noGrp="1"/>
          </p:cNvSpPr>
          <p:nvPr/>
        </p:nvSpPr>
        <p:spPr>
          <a:xfrm>
            <a:off x="685800" y="1352550"/>
            <a:ext cx="3486150" cy="571500"/>
          </a:xfrm>
          <a:prstGeom prst="roundRect">
            <a:avLst>
              <a:gd name="adj" fmla="val 13333"/>
            </a:avLst>
          </a:prstGeom>
          <a:solidFill>
            <a:srgbClr val="2AA876"/>
          </a:solidFill>
          <a:ln w="0">
            <a:noFill/>
          </a:ln>
        </p:spPr>
        <p:txBody>
          <a:bodyPr/>
          <a:lstStyle/>
          <a:p>
            <a:endParaRPr lang="ja-JP" altLang="en-US"/>
          </a:p>
        </p:txBody>
      </p:sp>
      <p:sp>
        <p:nvSpPr>
          <p:cNvPr id="7" name="正方形/長方形 6">
            <a:extLst>
              <a:ext uri="{FF2B5EF4-FFF2-40B4-BE49-F238E27FC236}">
                <a16:creationId xmlns:a16="http://schemas.microsoft.com/office/drawing/2014/main" id="{BD9CFCE2-1E53-455D-A217-C17DB4921F4A}"/>
              </a:ext>
            </a:extLst>
          </p:cNvPr>
          <p:cNvSpPr>
            <a:spLocks noGrp="1"/>
          </p:cNvSpPr>
          <p:nvPr/>
        </p:nvSpPr>
        <p:spPr>
          <a:xfrm>
            <a:off x="857250" y="1447800"/>
            <a:ext cx="3143250" cy="381000"/>
          </a:xfrm>
          <a:prstGeom prst="rect">
            <a:avLst/>
          </a:prstGeom>
          <a:noFill/>
          <a:ln w="0">
            <a:noFill/>
          </a:ln>
        </p:spPr>
        <p:txBody>
          <a:bodyPr anchor="ctr">
            <a:normAutofit/>
          </a:bodyPr>
          <a:lstStyle/>
          <a:p>
            <a:pPr algn="ctr">
              <a:defRPr sz="1725" b="1">
                <a:solidFill>
                  <a:srgbClr val="FFFFFF"/>
                </a:solidFill>
                <a:latin typeface="Hiragino Sans"/>
                <a:ea typeface="Hiragino Sans"/>
                <a:cs typeface="Hiragino Sans"/>
              </a:defRPr>
            </a:pPr>
            <a:r>
              <a:rPr sz="1725" b="1">
                <a:solidFill>
                  <a:srgbClr val="FFFFFF"/>
                </a:solidFill>
                <a:latin typeface="Hiragino Sans"/>
                <a:ea typeface="Hiragino Sans"/>
                <a:cs typeface="Hiragino Sans"/>
              </a:rPr>
              <a:t>2クラスLIME</a:t>
            </a:r>
          </a:p>
        </p:txBody>
      </p:sp>
      <p:sp>
        <p:nvSpPr>
          <p:cNvPr id="8" name="正方形/長方形 7">
            <a:extLst>
              <a:ext uri="{FF2B5EF4-FFF2-40B4-BE49-F238E27FC236}">
                <a16:creationId xmlns:a16="http://schemas.microsoft.com/office/drawing/2014/main" id="{413AC622-052D-4716-9D19-79292FE2A4FA}"/>
              </a:ext>
            </a:extLst>
          </p:cNvPr>
          <p:cNvSpPr>
            <a:spLocks noGrp="1"/>
          </p:cNvSpPr>
          <p:nvPr/>
        </p:nvSpPr>
        <p:spPr>
          <a:xfrm>
            <a:off x="914400" y="2114550"/>
            <a:ext cx="3028950" cy="457200"/>
          </a:xfrm>
          <a:prstGeom prst="rect">
            <a:avLst/>
          </a:prstGeom>
          <a:noFill/>
          <a:ln w="0">
            <a:noFill/>
          </a:ln>
        </p:spPr>
        <p:txBody>
          <a:bodyPr anchor="ctr">
            <a:normAutofit/>
          </a:bodyPr>
          <a:lstStyle/>
          <a:p>
            <a:pPr algn="ctr">
              <a:defRPr sz="1500" b="1">
                <a:solidFill>
                  <a:srgbClr val="2AA876"/>
                </a:solidFill>
                <a:latin typeface="Hiragino Sans"/>
                <a:ea typeface="Hiragino Sans"/>
                <a:cs typeface="Hiragino Sans"/>
              </a:defRPr>
            </a:pPr>
            <a:r>
              <a:rPr sz="1500" b="1">
                <a:solidFill>
                  <a:srgbClr val="2AA876"/>
                </a:solidFill>
                <a:latin typeface="Hiragino Sans"/>
                <a:ea typeface="Hiragino Sans"/>
                <a:cs typeface="Hiragino Sans"/>
              </a:rPr>
              <a:t>qをRidge回帰</a:t>
            </a:r>
          </a:p>
        </p:txBody>
      </p:sp>
      <p:sp>
        <p:nvSpPr>
          <p:cNvPr id="9" name="正方形/長方形 8">
            <a:extLst>
              <a:ext uri="{FF2B5EF4-FFF2-40B4-BE49-F238E27FC236}">
                <a16:creationId xmlns:a16="http://schemas.microsoft.com/office/drawing/2014/main" id="{AB1D49E2-9307-464C-8D18-8041000B3685}"/>
              </a:ext>
            </a:extLst>
          </p:cNvPr>
          <p:cNvSpPr>
            <a:spLocks noGrp="1"/>
          </p:cNvSpPr>
          <p:nvPr/>
        </p:nvSpPr>
        <p:spPr>
          <a:xfrm>
            <a:off x="923925" y="2705100"/>
            <a:ext cx="3009900" cy="9525"/>
          </a:xfrm>
          <a:prstGeom prst="rect">
            <a:avLst/>
          </a:prstGeom>
          <a:solidFill>
            <a:srgbClr val="E7EBF0"/>
          </a:solidFill>
          <a:ln w="0">
            <a:noFill/>
          </a:ln>
        </p:spPr>
        <p:txBody>
          <a:bodyPr/>
          <a:lstStyle/>
          <a:p>
            <a:endParaRPr lang="ja-JP" altLang="en-US"/>
          </a:p>
        </p:txBody>
      </p:sp>
      <p:sp>
        <p:nvSpPr>
          <p:cNvPr id="10" name="正方形/長方形 9">
            <a:extLst>
              <a:ext uri="{FF2B5EF4-FFF2-40B4-BE49-F238E27FC236}">
                <a16:creationId xmlns:a16="http://schemas.microsoft.com/office/drawing/2014/main" id="{E0DB002D-D0DF-43EA-ABD5-3557FD75FB6B}"/>
              </a:ext>
            </a:extLst>
          </p:cNvPr>
          <p:cNvSpPr>
            <a:spLocks noGrp="1"/>
          </p:cNvSpPr>
          <p:nvPr/>
        </p:nvSpPr>
        <p:spPr>
          <a:xfrm>
            <a:off x="971550" y="2895600"/>
            <a:ext cx="2914650" cy="1524000"/>
          </a:xfrm>
          <a:prstGeom prst="rect">
            <a:avLst/>
          </a:prstGeom>
          <a:noFill/>
          <a:ln w="0">
            <a:noFill/>
          </a:ln>
        </p:spPr>
        <p:txBody>
          <a:bodyPr anchor="ctr">
            <a:normAutofit/>
          </a:bodyPr>
          <a:lstStyle/>
          <a:p>
            <a:pPr algn="l">
              <a:defRPr sz="1350" b="0">
                <a:solidFill>
                  <a:srgbClr val="17233D"/>
                </a:solidFill>
                <a:latin typeface="Hiragino Sans"/>
                <a:ea typeface="Hiragino Sans"/>
                <a:cs typeface="Hiragino Sans"/>
              </a:defRPr>
            </a:pPr>
            <a:r>
              <a:rPr sz="1350" b="0">
                <a:solidFill>
                  <a:srgbClr val="17233D"/>
                </a:solidFill>
                <a:latin typeface="Hiragino Sans"/>
                <a:ea typeface="Hiragino Sans"/>
                <a:cs typeface="Hiragino Sans"/>
              </a:rPr>
              <a:t>3種類のBBで安定し、実装も最も単純。非線形NNとRFで最高忠実度。まず置くべき汎用ベースライン。</a:t>
            </a:r>
          </a:p>
        </p:txBody>
      </p:sp>
      <p:sp>
        <p:nvSpPr>
          <p:cNvPr id="11" name="角丸四角形 10">
            <a:extLst>
              <a:ext uri="{FF2B5EF4-FFF2-40B4-BE49-F238E27FC236}">
                <a16:creationId xmlns:a16="http://schemas.microsoft.com/office/drawing/2014/main" id="{1981E8FB-6923-40FA-8F45-63F34C59E794}"/>
              </a:ext>
            </a:extLst>
          </p:cNvPr>
          <p:cNvSpPr>
            <a:spLocks noGrp="1"/>
          </p:cNvSpPr>
          <p:nvPr/>
        </p:nvSpPr>
        <p:spPr>
          <a:xfrm>
            <a:off x="4438650" y="1352550"/>
            <a:ext cx="3486150" cy="3390900"/>
          </a:xfrm>
          <a:prstGeom prst="roundRect">
            <a:avLst>
              <a:gd name="adj" fmla="val 2247"/>
            </a:avLst>
          </a:prstGeom>
          <a:solidFill>
            <a:srgbClr val="FFFFFF"/>
          </a:solidFill>
          <a:ln w="9525">
            <a:solidFill>
              <a:srgbClr val="F28C28"/>
            </a:solidFill>
          </a:ln>
        </p:spPr>
        <p:txBody>
          <a:bodyPr/>
          <a:lstStyle/>
          <a:p>
            <a:endParaRPr lang="ja-JP" altLang="en-US"/>
          </a:p>
        </p:txBody>
      </p:sp>
      <p:sp>
        <p:nvSpPr>
          <p:cNvPr id="12" name="角丸四角形 11">
            <a:extLst>
              <a:ext uri="{FF2B5EF4-FFF2-40B4-BE49-F238E27FC236}">
                <a16:creationId xmlns:a16="http://schemas.microsoft.com/office/drawing/2014/main" id="{0F438F6A-BFB4-44F3-8D9C-6D9F4A8EFE3C}"/>
              </a:ext>
            </a:extLst>
          </p:cNvPr>
          <p:cNvSpPr>
            <a:spLocks noGrp="1"/>
          </p:cNvSpPr>
          <p:nvPr/>
        </p:nvSpPr>
        <p:spPr>
          <a:xfrm>
            <a:off x="4438650" y="1352550"/>
            <a:ext cx="3486150" cy="571500"/>
          </a:xfrm>
          <a:prstGeom prst="roundRect">
            <a:avLst>
              <a:gd name="adj" fmla="val 13333"/>
            </a:avLst>
          </a:prstGeom>
          <a:solidFill>
            <a:srgbClr val="F28C28"/>
          </a:solidFill>
          <a:ln w="0">
            <a:noFill/>
          </a:ln>
        </p:spPr>
        <p:txBody>
          <a:bodyPr/>
          <a:lstStyle/>
          <a:p>
            <a:endParaRPr lang="ja-JP" altLang="en-US"/>
          </a:p>
        </p:txBody>
      </p:sp>
      <p:sp>
        <p:nvSpPr>
          <p:cNvPr id="13" name="正方形/長方形 12">
            <a:extLst>
              <a:ext uri="{FF2B5EF4-FFF2-40B4-BE49-F238E27FC236}">
                <a16:creationId xmlns:a16="http://schemas.microsoft.com/office/drawing/2014/main" id="{ABB6D458-0A61-48B3-9D6C-EE1D4982AA84}"/>
              </a:ext>
            </a:extLst>
          </p:cNvPr>
          <p:cNvSpPr>
            <a:spLocks noGrp="1"/>
          </p:cNvSpPr>
          <p:nvPr/>
        </p:nvSpPr>
        <p:spPr>
          <a:xfrm>
            <a:off x="4610100" y="1447800"/>
            <a:ext cx="3143250" cy="381000"/>
          </a:xfrm>
          <a:prstGeom prst="rect">
            <a:avLst/>
          </a:prstGeom>
          <a:noFill/>
          <a:ln w="0">
            <a:noFill/>
          </a:ln>
        </p:spPr>
        <p:txBody>
          <a:bodyPr anchor="ctr">
            <a:normAutofit/>
          </a:bodyPr>
          <a:lstStyle/>
          <a:p>
            <a:pPr algn="ctr">
              <a:defRPr sz="1725" b="1">
                <a:solidFill>
                  <a:srgbClr val="FFFFFF"/>
                </a:solidFill>
                <a:latin typeface="Hiragino Sans"/>
                <a:ea typeface="Hiragino Sans"/>
                <a:cs typeface="Hiragino Sans"/>
              </a:defRPr>
            </a:pPr>
            <a:r>
              <a:rPr sz="1725" b="1">
                <a:solidFill>
                  <a:srgbClr val="FFFFFF"/>
                </a:solidFill>
                <a:latin typeface="Hiragino Sans"/>
                <a:ea typeface="Hiragino Sans"/>
                <a:cs typeface="Hiragino Sans"/>
              </a:rPr>
              <a:t>Contrastive</a:t>
            </a:r>
          </a:p>
        </p:txBody>
      </p:sp>
      <p:sp>
        <p:nvSpPr>
          <p:cNvPr id="14" name="正方形/長方形 13">
            <a:extLst>
              <a:ext uri="{FF2B5EF4-FFF2-40B4-BE49-F238E27FC236}">
                <a16:creationId xmlns:a16="http://schemas.microsoft.com/office/drawing/2014/main" id="{1CB32110-729B-4AE0-9FB4-B883450A46EE}"/>
              </a:ext>
            </a:extLst>
          </p:cNvPr>
          <p:cNvSpPr>
            <a:spLocks noGrp="1"/>
          </p:cNvSpPr>
          <p:nvPr/>
        </p:nvSpPr>
        <p:spPr>
          <a:xfrm>
            <a:off x="4667250" y="2114550"/>
            <a:ext cx="3028950" cy="457200"/>
          </a:xfrm>
          <a:prstGeom prst="rect">
            <a:avLst/>
          </a:prstGeom>
          <a:noFill/>
          <a:ln w="0">
            <a:noFill/>
          </a:ln>
        </p:spPr>
        <p:txBody>
          <a:bodyPr anchor="ctr">
            <a:normAutofit/>
          </a:bodyPr>
          <a:lstStyle/>
          <a:p>
            <a:pPr algn="ctr">
              <a:defRPr sz="1500" b="1">
                <a:solidFill>
                  <a:srgbClr val="F28C28"/>
                </a:solidFill>
                <a:latin typeface="Hiragino Sans"/>
                <a:ea typeface="Hiragino Sans"/>
                <a:cs typeface="Hiragino Sans"/>
              </a:defRPr>
            </a:pPr>
            <a:r>
              <a:rPr sz="1500" b="1">
                <a:solidFill>
                  <a:srgbClr val="F28C28"/>
                </a:solidFill>
                <a:latin typeface="Hiragino Sans"/>
                <a:ea typeface="Hiragino Sans"/>
                <a:cs typeface="Hiragino Sans"/>
              </a:rPr>
              <a:t>log(p₁/p₂)をRidge回帰</a:t>
            </a:r>
          </a:p>
        </p:txBody>
      </p:sp>
      <p:sp>
        <p:nvSpPr>
          <p:cNvPr id="15" name="正方形/長方形 14">
            <a:extLst>
              <a:ext uri="{FF2B5EF4-FFF2-40B4-BE49-F238E27FC236}">
                <a16:creationId xmlns:a16="http://schemas.microsoft.com/office/drawing/2014/main" id="{400DD01E-6381-404B-A301-2F9CBE2D2D73}"/>
              </a:ext>
            </a:extLst>
          </p:cNvPr>
          <p:cNvSpPr>
            <a:spLocks noGrp="1"/>
          </p:cNvSpPr>
          <p:nvPr/>
        </p:nvSpPr>
        <p:spPr>
          <a:xfrm>
            <a:off x="4676775" y="2705100"/>
            <a:ext cx="3009900" cy="9525"/>
          </a:xfrm>
          <a:prstGeom prst="rect">
            <a:avLst/>
          </a:prstGeom>
          <a:solidFill>
            <a:srgbClr val="E7EBF0"/>
          </a:solidFill>
          <a:ln w="0">
            <a:noFill/>
          </a:ln>
        </p:spPr>
        <p:txBody>
          <a:bodyPr/>
          <a:lstStyle/>
          <a:p>
            <a:endParaRPr lang="ja-JP" altLang="en-US"/>
          </a:p>
        </p:txBody>
      </p:sp>
      <p:sp>
        <p:nvSpPr>
          <p:cNvPr id="16" name="正方形/長方形 15">
            <a:extLst>
              <a:ext uri="{FF2B5EF4-FFF2-40B4-BE49-F238E27FC236}">
                <a16:creationId xmlns:a16="http://schemas.microsoft.com/office/drawing/2014/main" id="{AAD4D557-DA42-4AEE-B421-DAD2C561C8DF}"/>
              </a:ext>
            </a:extLst>
          </p:cNvPr>
          <p:cNvSpPr>
            <a:spLocks noGrp="1"/>
          </p:cNvSpPr>
          <p:nvPr/>
        </p:nvSpPr>
        <p:spPr>
          <a:xfrm>
            <a:off x="4724400" y="2895600"/>
            <a:ext cx="2914650" cy="1524000"/>
          </a:xfrm>
          <a:prstGeom prst="rect">
            <a:avLst/>
          </a:prstGeom>
          <a:noFill/>
          <a:ln w="0">
            <a:noFill/>
          </a:ln>
        </p:spPr>
        <p:txBody>
          <a:bodyPr anchor="ctr">
            <a:normAutofit/>
          </a:bodyPr>
          <a:lstStyle/>
          <a:p>
            <a:pPr algn="l">
              <a:defRPr sz="1350" b="0">
                <a:solidFill>
                  <a:srgbClr val="17233D"/>
                </a:solidFill>
                <a:latin typeface="Hiragino Sans"/>
                <a:ea typeface="Hiragino Sans"/>
                <a:cs typeface="Hiragino Sans"/>
              </a:defRPr>
            </a:pPr>
            <a:r>
              <a:rPr sz="1350" b="0">
                <a:solidFill>
                  <a:srgbClr val="17233D"/>
                </a:solidFill>
                <a:latin typeface="Hiragino Sans"/>
                <a:ea typeface="Hiragino Sans"/>
                <a:cs typeface="Hiragino Sans"/>
              </a:rPr>
              <a:t>線形softmaxで忠実度・Brier・真係数復元が最良。局所logit差が線形に近い場合に理論と結果が一致。</a:t>
            </a:r>
          </a:p>
        </p:txBody>
      </p:sp>
      <p:sp>
        <p:nvSpPr>
          <p:cNvPr id="17" name="角丸四角形 16">
            <a:extLst>
              <a:ext uri="{FF2B5EF4-FFF2-40B4-BE49-F238E27FC236}">
                <a16:creationId xmlns:a16="http://schemas.microsoft.com/office/drawing/2014/main" id="{D99EB17D-CC9D-4567-BB9E-BDD5B96ACADF}"/>
              </a:ext>
            </a:extLst>
          </p:cNvPr>
          <p:cNvSpPr>
            <a:spLocks noGrp="1"/>
          </p:cNvSpPr>
          <p:nvPr/>
        </p:nvSpPr>
        <p:spPr>
          <a:xfrm>
            <a:off x="8191500" y="1352550"/>
            <a:ext cx="3486150" cy="3390900"/>
          </a:xfrm>
          <a:prstGeom prst="roundRect">
            <a:avLst>
              <a:gd name="adj" fmla="val 2247"/>
            </a:avLst>
          </a:prstGeom>
          <a:solidFill>
            <a:srgbClr val="FFFFFF"/>
          </a:solidFill>
          <a:ln w="9525">
            <a:solidFill>
              <a:srgbClr val="7B61A8"/>
            </a:solidFill>
          </a:ln>
        </p:spPr>
        <p:txBody>
          <a:bodyPr/>
          <a:lstStyle/>
          <a:p>
            <a:endParaRPr lang="ja-JP" altLang="en-US"/>
          </a:p>
        </p:txBody>
      </p:sp>
      <p:sp>
        <p:nvSpPr>
          <p:cNvPr id="18" name="角丸四角形 17">
            <a:extLst>
              <a:ext uri="{FF2B5EF4-FFF2-40B4-BE49-F238E27FC236}">
                <a16:creationId xmlns:a16="http://schemas.microsoft.com/office/drawing/2014/main" id="{B25BB86D-96D1-4A20-A2D0-3F99E98CF027}"/>
              </a:ext>
            </a:extLst>
          </p:cNvPr>
          <p:cNvSpPr>
            <a:spLocks noGrp="1"/>
          </p:cNvSpPr>
          <p:nvPr/>
        </p:nvSpPr>
        <p:spPr>
          <a:xfrm>
            <a:off x="8191500" y="1352550"/>
            <a:ext cx="3486150" cy="571500"/>
          </a:xfrm>
          <a:prstGeom prst="roundRect">
            <a:avLst>
              <a:gd name="adj" fmla="val 13333"/>
            </a:avLst>
          </a:prstGeom>
          <a:solidFill>
            <a:srgbClr val="7B61A8"/>
          </a:solidFill>
          <a:ln w="0">
            <a:noFill/>
          </a:ln>
        </p:spPr>
        <p:txBody>
          <a:bodyPr/>
          <a:lstStyle/>
          <a:p>
            <a:endParaRPr lang="ja-JP" altLang="en-US"/>
          </a:p>
        </p:txBody>
      </p:sp>
      <p:sp>
        <p:nvSpPr>
          <p:cNvPr id="19" name="正方形/長方形 18">
            <a:extLst>
              <a:ext uri="{FF2B5EF4-FFF2-40B4-BE49-F238E27FC236}">
                <a16:creationId xmlns:a16="http://schemas.microsoft.com/office/drawing/2014/main" id="{5FEBD468-9E95-4D56-AE6D-3FD6CE37B90E}"/>
              </a:ext>
            </a:extLst>
          </p:cNvPr>
          <p:cNvSpPr>
            <a:spLocks noGrp="1"/>
          </p:cNvSpPr>
          <p:nvPr/>
        </p:nvSpPr>
        <p:spPr>
          <a:xfrm>
            <a:off x="8362950" y="1447800"/>
            <a:ext cx="3143250" cy="381000"/>
          </a:xfrm>
          <a:prstGeom prst="rect">
            <a:avLst/>
          </a:prstGeom>
          <a:noFill/>
          <a:ln w="0">
            <a:noFill/>
          </a:ln>
        </p:spPr>
        <p:txBody>
          <a:bodyPr anchor="ctr">
            <a:normAutofit/>
          </a:bodyPr>
          <a:lstStyle/>
          <a:p>
            <a:pPr algn="ctr">
              <a:defRPr sz="1725" b="1">
                <a:solidFill>
                  <a:srgbClr val="FFFFFF"/>
                </a:solidFill>
                <a:latin typeface="Hiragino Sans"/>
                <a:ea typeface="Hiragino Sans"/>
                <a:cs typeface="Hiragino Sans"/>
              </a:defRPr>
            </a:pPr>
            <a:r>
              <a:rPr sz="1725" b="1">
                <a:solidFill>
                  <a:srgbClr val="FFFFFF"/>
                </a:solidFill>
                <a:latin typeface="Hiragino Sans"/>
                <a:ea typeface="Hiragino Sans"/>
                <a:cs typeface="Hiragino Sans"/>
              </a:rPr>
              <a:t>OVO Logistic</a:t>
            </a:r>
          </a:p>
        </p:txBody>
      </p:sp>
      <p:sp>
        <p:nvSpPr>
          <p:cNvPr id="20" name="正方形/長方形 19">
            <a:extLst>
              <a:ext uri="{FF2B5EF4-FFF2-40B4-BE49-F238E27FC236}">
                <a16:creationId xmlns:a16="http://schemas.microsoft.com/office/drawing/2014/main" id="{6B1B0C5C-A8FC-45F0-80B3-865CC809FD59}"/>
              </a:ext>
            </a:extLst>
          </p:cNvPr>
          <p:cNvSpPr>
            <a:spLocks noGrp="1"/>
          </p:cNvSpPr>
          <p:nvPr/>
        </p:nvSpPr>
        <p:spPr>
          <a:xfrm>
            <a:off x="8420100" y="2114550"/>
            <a:ext cx="3028950" cy="457200"/>
          </a:xfrm>
          <a:prstGeom prst="rect">
            <a:avLst/>
          </a:prstGeom>
          <a:noFill/>
          <a:ln w="0">
            <a:noFill/>
          </a:ln>
        </p:spPr>
        <p:txBody>
          <a:bodyPr anchor="ctr">
            <a:normAutofit/>
          </a:bodyPr>
          <a:lstStyle/>
          <a:p>
            <a:pPr algn="ctr">
              <a:defRPr sz="1500" b="1">
                <a:solidFill>
                  <a:srgbClr val="7B61A8"/>
                </a:solidFill>
                <a:latin typeface="Hiragino Sans"/>
                <a:ea typeface="Hiragino Sans"/>
                <a:cs typeface="Hiragino Sans"/>
              </a:defRPr>
            </a:pPr>
            <a:r>
              <a:rPr sz="1500" b="1">
                <a:solidFill>
                  <a:srgbClr val="7B61A8"/>
                </a:solidFill>
                <a:latin typeface="Hiragino Sans"/>
                <a:ea typeface="Hiragino Sans"/>
                <a:cs typeface="Hiragino Sans"/>
              </a:rPr>
              <a:t>qを交差エントロピーで回帰</a:t>
            </a:r>
          </a:p>
        </p:txBody>
      </p:sp>
      <p:sp>
        <p:nvSpPr>
          <p:cNvPr id="21" name="正方形/長方形 20">
            <a:extLst>
              <a:ext uri="{FF2B5EF4-FFF2-40B4-BE49-F238E27FC236}">
                <a16:creationId xmlns:a16="http://schemas.microsoft.com/office/drawing/2014/main" id="{5F84DFF3-F8E0-497C-81D6-C2156F56CB38}"/>
              </a:ext>
            </a:extLst>
          </p:cNvPr>
          <p:cNvSpPr>
            <a:spLocks noGrp="1"/>
          </p:cNvSpPr>
          <p:nvPr/>
        </p:nvSpPr>
        <p:spPr>
          <a:xfrm>
            <a:off x="8429625" y="2705100"/>
            <a:ext cx="3009900" cy="9525"/>
          </a:xfrm>
          <a:prstGeom prst="rect">
            <a:avLst/>
          </a:prstGeom>
          <a:solidFill>
            <a:srgbClr val="E7EBF0"/>
          </a:solidFill>
          <a:ln w="0">
            <a:noFill/>
          </a:ln>
        </p:spPr>
        <p:txBody>
          <a:bodyPr/>
          <a:lstStyle/>
          <a:p>
            <a:endParaRPr lang="ja-JP" altLang="en-US"/>
          </a:p>
        </p:txBody>
      </p:sp>
      <p:sp>
        <p:nvSpPr>
          <p:cNvPr id="22" name="正方形/長方形 21">
            <a:extLst>
              <a:ext uri="{FF2B5EF4-FFF2-40B4-BE49-F238E27FC236}">
                <a16:creationId xmlns:a16="http://schemas.microsoft.com/office/drawing/2014/main" id="{967DFAAF-3432-402D-B19E-284586C76187}"/>
              </a:ext>
            </a:extLst>
          </p:cNvPr>
          <p:cNvSpPr>
            <a:spLocks noGrp="1"/>
          </p:cNvSpPr>
          <p:nvPr/>
        </p:nvSpPr>
        <p:spPr>
          <a:xfrm>
            <a:off x="8477250" y="2895600"/>
            <a:ext cx="2914650" cy="1524000"/>
          </a:xfrm>
          <a:prstGeom prst="rect">
            <a:avLst/>
          </a:prstGeom>
          <a:noFill/>
          <a:ln w="0">
            <a:noFill/>
          </a:ln>
        </p:spPr>
        <p:txBody>
          <a:bodyPr anchor="ctr">
            <a:normAutofit/>
          </a:bodyPr>
          <a:lstStyle/>
          <a:p>
            <a:pPr algn="l">
              <a:defRPr sz="1350" b="0">
                <a:solidFill>
                  <a:srgbClr val="17233D"/>
                </a:solidFill>
                <a:latin typeface="Hiragino Sans"/>
                <a:ea typeface="Hiragino Sans"/>
                <a:cs typeface="Hiragino Sans"/>
              </a:defRPr>
            </a:pPr>
            <a:r>
              <a:rPr sz="1350" b="0">
                <a:solidFill>
                  <a:srgbClr val="17233D"/>
                </a:solidFill>
                <a:latin typeface="Hiragino Sans"/>
                <a:ea typeface="Hiragino Sans"/>
                <a:cs typeface="Hiragino Sans"/>
              </a:rPr>
              <a:t>極端確率でも目的変数が発散しない利点はあるが、今回の疎な設定では忠実度が低く、次元増加で遅くなった。</a:t>
            </a:r>
          </a:p>
        </p:txBody>
      </p:sp>
      <p:sp>
        <p:nvSpPr>
          <p:cNvPr id="23" name="角丸四角形 22">
            <a:extLst>
              <a:ext uri="{FF2B5EF4-FFF2-40B4-BE49-F238E27FC236}">
                <a16:creationId xmlns:a16="http://schemas.microsoft.com/office/drawing/2014/main" id="{8BADF2B1-3344-4E82-967E-3477B5767639}"/>
              </a:ext>
            </a:extLst>
          </p:cNvPr>
          <p:cNvSpPr>
            <a:spLocks noGrp="1"/>
          </p:cNvSpPr>
          <p:nvPr/>
        </p:nvSpPr>
        <p:spPr>
          <a:xfrm>
            <a:off x="971550" y="5010150"/>
            <a:ext cx="10248900" cy="647700"/>
          </a:xfrm>
          <a:prstGeom prst="roundRect">
            <a:avLst>
              <a:gd name="adj" fmla="val 11765"/>
            </a:avLst>
          </a:prstGeom>
          <a:solidFill>
            <a:srgbClr val="FFF4D6"/>
          </a:solidFill>
          <a:ln w="0">
            <a:noFill/>
          </a:ln>
        </p:spPr>
        <p:txBody>
          <a:bodyPr/>
          <a:lstStyle/>
          <a:p>
            <a:endParaRPr lang="ja-JP" altLang="en-US"/>
          </a:p>
        </p:txBody>
      </p:sp>
      <p:sp>
        <p:nvSpPr>
          <p:cNvPr id="24" name="正方形/長方形 23">
            <a:extLst>
              <a:ext uri="{FF2B5EF4-FFF2-40B4-BE49-F238E27FC236}">
                <a16:creationId xmlns:a16="http://schemas.microsoft.com/office/drawing/2014/main" id="{EB657E7C-C124-4244-9DF0-709099EB037D}"/>
              </a:ext>
            </a:extLst>
          </p:cNvPr>
          <p:cNvSpPr>
            <a:spLocks noGrp="1"/>
          </p:cNvSpPr>
          <p:nvPr/>
        </p:nvSpPr>
        <p:spPr>
          <a:xfrm>
            <a:off x="1219200" y="5143500"/>
            <a:ext cx="9753600" cy="381000"/>
          </a:xfrm>
          <a:prstGeom prst="rect">
            <a:avLst/>
          </a:prstGeom>
          <a:noFill/>
          <a:ln w="0">
            <a:noFill/>
          </a:ln>
        </p:spPr>
        <p:txBody>
          <a:bodyPr anchor="ctr">
            <a:normAutofit/>
          </a:bodyPr>
          <a:lstStyle/>
          <a:p>
            <a:pPr algn="ctr">
              <a:defRPr sz="1500" b="1">
                <a:solidFill>
                  <a:srgbClr val="F28C28"/>
                </a:solidFill>
                <a:latin typeface="Hiragino Sans"/>
                <a:ea typeface="Hiragino Sans"/>
                <a:cs typeface="Hiragino Sans"/>
              </a:defRPr>
            </a:pPr>
            <a:r>
              <a:rPr sz="1500" b="1">
                <a:solidFill>
                  <a:srgbClr val="F28C28"/>
                </a:solidFill>
                <a:latin typeface="Hiragino Sans"/>
                <a:ea typeface="Hiragino Sans"/>
                <a:cs typeface="Hiragino Sans"/>
              </a:rPr>
              <a:t>研究としての主張は『対数比が常に最良』ではなく、2クラス化の効果と回帰方法の条件依存性を分離したこと</a:t>
            </a:r>
          </a:p>
        </p:txBody>
      </p:sp>
      <p:sp>
        <p:nvSpPr>
          <p:cNvPr id="25" name="角丸四角形 24">
            <a:extLst>
              <a:ext uri="{FF2B5EF4-FFF2-40B4-BE49-F238E27FC236}">
                <a16:creationId xmlns:a16="http://schemas.microsoft.com/office/drawing/2014/main" id="{B0D8874F-FFF9-4534-A705-A810A04B51D7}"/>
              </a:ext>
            </a:extLst>
          </p:cNvPr>
          <p:cNvSpPr>
            <a:spLocks noGrp="1"/>
          </p:cNvSpPr>
          <p:nvPr/>
        </p:nvSpPr>
        <p:spPr>
          <a:xfrm>
            <a:off x="762000" y="5848350"/>
            <a:ext cx="10668000" cy="409575"/>
          </a:xfrm>
          <a:prstGeom prst="roundRect">
            <a:avLst>
              <a:gd name="adj" fmla="val 18605"/>
            </a:avLst>
          </a:prstGeom>
          <a:solidFill>
            <a:srgbClr val="EAF4FB"/>
          </a:solidFill>
          <a:ln w="0">
            <a:noFill/>
          </a:ln>
        </p:spPr>
        <p:txBody>
          <a:bodyPr/>
          <a:lstStyle/>
          <a:p>
            <a:endParaRPr lang="ja-JP" altLang="en-US"/>
          </a:p>
        </p:txBody>
      </p:sp>
      <p:sp>
        <p:nvSpPr>
          <p:cNvPr id="26" name="正方形/長方形 25">
            <a:extLst>
              <a:ext uri="{FF2B5EF4-FFF2-40B4-BE49-F238E27FC236}">
                <a16:creationId xmlns:a16="http://schemas.microsoft.com/office/drawing/2014/main" id="{25CF4CD7-3B64-4215-A404-1C8218AD69BC}"/>
              </a:ext>
            </a:extLst>
          </p:cNvPr>
          <p:cNvSpPr>
            <a:spLocks noGrp="1"/>
          </p:cNvSpPr>
          <p:nvPr/>
        </p:nvSpPr>
        <p:spPr>
          <a:xfrm>
            <a:off x="952500" y="5895975"/>
            <a:ext cx="10287000" cy="304800"/>
          </a:xfrm>
          <a:prstGeom prst="rect">
            <a:avLst/>
          </a:prstGeom>
          <a:noFill/>
          <a:ln w="0">
            <a:noFill/>
          </a:ln>
        </p:spPr>
        <p:txBody>
          <a:bodyPr anchor="ctr">
            <a:normAutofit/>
          </a:bodyPr>
          <a:lstStyle/>
          <a:p>
            <a:pPr algn="ctr">
              <a:defRPr sz="1350" b="1">
                <a:solidFill>
                  <a:srgbClr val="1479C9"/>
                </a:solidFill>
                <a:latin typeface="Hiragino Sans"/>
                <a:ea typeface="Hiragino Sans"/>
                <a:cs typeface="Hiragino Sans"/>
              </a:defRPr>
            </a:pPr>
            <a:r>
              <a:rPr sz="1350" b="1">
                <a:solidFill>
                  <a:srgbClr val="1479C9"/>
                </a:solidFill>
                <a:latin typeface="Hiragino Sans"/>
                <a:ea typeface="Hiragino Sans"/>
                <a:cs typeface="Hiragino Sans"/>
              </a:rPr>
              <a:t>このスライドの主張：現時点の汎用候補は2クラスLIME、線形logit構造が期待できる場合はContrastive</a:t>
            </a:r>
          </a:p>
        </p:txBody>
      </p:sp>
    </p:spTree>
    <p:extLst>
      <p:ext uri="{BB962C8B-B14F-4D97-AF65-F5344CB8AC3E}">
        <p14:creationId xmlns:p14="http://schemas.microsoft.com/office/powerpoint/2010/main" val="2127652952"/>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Hiragino Sans"/>
        <a:ea typeface="Hiragino Sans"/>
        <a:cs typeface="Hiragino Sans"/>
      </a:majorFont>
      <a:minorFont>
        <a:latin typeface="Hiragino Sans"/>
        <a:ea typeface="Hiragino Sans"/>
        <a:cs typeface="Hiragino Sans"/>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Hiragino Sans"/>
        <a:ea typeface="Hiragino Sans"/>
        <a:cs typeface="Hiragino Sans"/>
      </a:majorFont>
      <a:minorFont>
        <a:latin typeface="Hiragino Sans"/>
        <a:ea typeface="Hiragino Sans"/>
        <a:cs typeface="Hiragino Sans"/>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3950</TotalTime>
  <Words>2681</Words>
  <Application>Microsoft Macintosh PowerPoint</Application>
  <DocSecurity>0</DocSecurity>
  <PresentationFormat>ワイド画面</PresentationFormat>
  <Paragraphs>466</Paragraphs>
  <Slides>30</Slides>
  <Notes>16</Notes>
  <HiddenSlides>2</HiddenSlides>
  <MMClips>5</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30</vt:i4>
      </vt:variant>
    </vt:vector>
  </HeadingPairs>
  <TitlesOfParts>
    <vt:vector size="34" baseType="lpstr">
      <vt:lpstr>Hiragino Sans</vt:lpstr>
      <vt:lpstr>Arial</vt:lpstr>
      <vt:lpstr>Cambria Math</vt:lpstr>
      <vt:lpstr>ChatGPT</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池亀　颯太</cp:lastModifiedBy>
  <cp:revision>17</cp:revision>
  <dcterms:created xsi:type="dcterms:W3CDTF">2026-09-02T04:12:37Z</dcterms:created>
  <dcterms:modified xsi:type="dcterms:W3CDTF">2026-09-10T07:57:55Z</dcterms:modified>
</cp:coreProperties>
</file>