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242a5be7324a9a" /><Relationship Type="http://schemas.openxmlformats.org/officeDocument/2006/relationships/extended-properties" Target="/docProps/app.xml" Id="Rce72ef985d0b4949" /><Relationship Type="http://schemas.openxmlformats.org/officeDocument/2006/relationships/officeDocument" Target="/ppt/presentation.xml" Id="R8e0dd5b457d040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af1477b9434d09"/>
  </p:sldMasterIdLst>
  <p:notesMasterIdLst>
    <p:notesMasterId xmlns:r="http://schemas.openxmlformats.org/officeDocument/2006/relationships" r:id="Rac6fa07ac40a40e8"/>
  </p:notesMasterIdLst>
  <p:sldIdLst>
    <p:sldId xmlns:r="http://schemas.openxmlformats.org/officeDocument/2006/relationships" id="256" r:id="Rb3ee369655cc496e"/>
    <p:sldId xmlns:r="http://schemas.openxmlformats.org/officeDocument/2006/relationships" id="257" r:id="Rbfe1fcba08044a39"/>
    <p:sldId xmlns:r="http://schemas.openxmlformats.org/officeDocument/2006/relationships" id="258" r:id="Rcb258d8ad5344799"/>
    <p:sldId xmlns:r="http://schemas.openxmlformats.org/officeDocument/2006/relationships" id="259" r:id="Raceb8d63cd604b4c"/>
    <p:sldId xmlns:r="http://schemas.openxmlformats.org/officeDocument/2006/relationships" id="260" r:id="R64c3eef66f7848e0"/>
    <p:sldId xmlns:r="http://schemas.openxmlformats.org/officeDocument/2006/relationships" id="261" r:id="Rd041122cc2c64d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ce55bbaa6542a6" /><Relationship Type="http://schemas.openxmlformats.org/officeDocument/2006/relationships/slideMaster" Target="/ppt/slideMasters/slideMaster1.xml" Id="R85af1477b9434d09" /><Relationship Type="http://schemas.openxmlformats.org/officeDocument/2006/relationships/notesMaster" Target="/ppt/notesMasters/notesMaster1.xml" Id="Rac6fa07ac40a40e8" /><Relationship Type="http://schemas.openxmlformats.org/officeDocument/2006/relationships/presProps" Target="/ppt/presProps.xml" Id="R3031e99cb989480e" /><Relationship Type="http://schemas.openxmlformats.org/officeDocument/2006/relationships/tableStyles" Target="/ppt/tableStyles.xml" Id="R90296a5912d848b8" /><Relationship Type="http://schemas.openxmlformats.org/officeDocument/2006/relationships/slide" Target="/ppt/slides/slide1.xml" Id="Rb3ee369655cc496e" /><Relationship Type="http://schemas.openxmlformats.org/officeDocument/2006/relationships/slide" Target="/ppt/slides/slide2.xml" Id="Rbfe1fcba08044a39" /><Relationship Type="http://schemas.openxmlformats.org/officeDocument/2006/relationships/slide" Target="/ppt/slides/slide3.xml" Id="Rcb258d8ad5344799" /><Relationship Type="http://schemas.openxmlformats.org/officeDocument/2006/relationships/slide" Target="/ppt/slides/slide4.xml" Id="Raceb8d63cd604b4c" /><Relationship Type="http://schemas.openxmlformats.org/officeDocument/2006/relationships/slide" Target="/ppt/slides/slide5.xml" Id="R64c3eef66f7848e0" /><Relationship Type="http://schemas.openxmlformats.org/officeDocument/2006/relationships/slide" Target="/ppt/slides/slide6.xml" Id="Rd041122cc2c64d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c1b9a1568140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cc78726f804fb0" /><Relationship Type="http://schemas.openxmlformats.org/officeDocument/2006/relationships/notesMaster" Target="/ppt/notesMasters/notesMaster1.xml" Id="Ra75a16acee0f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b63b5dd0bb4e54" /><Relationship Type="http://schemas.openxmlformats.org/officeDocument/2006/relationships/notesMaster" Target="/ppt/notesMasters/notesMaster1.xml" Id="R4d69c8b95e5e4b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e67db273104069" /><Relationship Type="http://schemas.openxmlformats.org/officeDocument/2006/relationships/notesMaster" Target="/ppt/notesMasters/notesMaster1.xml" Id="R80471a0a20a445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fcb207aa5843b9" /><Relationship Type="http://schemas.openxmlformats.org/officeDocument/2006/relationships/notesMaster" Target="/ppt/notesMasters/notesMaster1.xml" Id="R790064b8f85c49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bc092dc79c45d2" /><Relationship Type="http://schemas.openxmlformats.org/officeDocument/2006/relationships/notesMaster" Target="/ppt/notesMasters/notesMaster1.xml" Id="Rcbbd0ccf48f148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426da70a0a42f4" /><Relationship Type="http://schemas.openxmlformats.org/officeDocument/2006/relationships/notesMaster" Target="/ppt/notesMasters/notesMaster1.xml" Id="Rc5064bcaef08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本デッキは docs/OVO_VS_OVR_EXPERIMENT_SUMMARY.md と results/ovo_vs_ovr_stats.csv に基づく。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OVRの係数差と確率差の直接Ridgeは、同一設計なら数学的に一致する。OVOの本質的な変更は目的変数と特徴予算。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評価は学習に使っていないheld-out摂動上で実施。各seed内の8インスタンスを平均して擬似反復を避けた。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数値は results/ovo_vs_ovr_results.csv の全行平均。統計的なセル比較は results/ovo_vs_ovr_stats.csv。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左はクラス数推移、右は次元数推移。測定は同じZとBB出力を使ったフィット部分のみ。10 dataset seeds、4 instances、K=0.25d/0.5d。全ペアOVOではC(C-1)/2回になるため別の計算量になる。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『解釈性が定量的に証明された』とは言わず、問いへの適合性・簡潔さという設計上の利点として提示する。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231f5069a4a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9f2f600e1454d" /><Relationship Type="http://schemas.openxmlformats.org/officeDocument/2006/relationships/slideLayout" Target="/ppt/slideLayouts/slideLayout1.xml" Id="Rb36b672fa11041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b672fa11041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3dd2902b4447a" /><Relationship Type="http://schemas.openxmlformats.org/officeDocument/2006/relationships/notesSlide" Target="/ppt/notesSlides/notesSlide1.xml" Id="R99fd8aaa0bdd46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c6492bffc4a75" /><Relationship Type="http://schemas.openxmlformats.org/officeDocument/2006/relationships/notesSlide" Target="/ppt/notesSlides/notesSlide2.xml" Id="Rfef62c4564f744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ed92f540b4597" /><Relationship Type="http://schemas.openxmlformats.org/officeDocument/2006/relationships/notesSlide" Target="/ppt/notesSlides/notesSlide3.xml" Id="R2113ff3f0344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798ba1f234526" /><Relationship Type="http://schemas.openxmlformats.org/officeDocument/2006/relationships/chart" Target="/ppt/slides/charts/chart1.xml" Id="R94ae6f814a084ed4" /><Relationship Type="http://schemas.openxmlformats.org/officeDocument/2006/relationships/notesSlide" Target="/ppt/notesSlides/notesSlide4.xml" Id="R7c406179dcfc43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b5095f1d1491d" /><Relationship Type="http://schemas.openxmlformats.org/officeDocument/2006/relationships/chart" Target="/ppt/slides/charts/chart2.xml" Id="R33d4fb0222d24209" /><Relationship Type="http://schemas.openxmlformats.org/officeDocument/2006/relationships/chart" Target="/ppt/slides/charts/chart3.xml" Id="R3bc66d7d0b134831" /><Relationship Type="http://schemas.openxmlformats.org/officeDocument/2006/relationships/notesSlide" Target="/ppt/notesSlides/notesSlide5.xml" Id="R9351d71046954e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c31e4d6e849a6" /><Relationship Type="http://schemas.openxmlformats.org/officeDocument/2006/relationships/notesSlide" Target="/ppt/notesSlides/notesSlide6.xml" Id="Ra738fb2324a84fe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一致率</c:v>
          </c:tx>
          <c:spPr>
            <a:solidFill xmlns:a="http://schemas.openxmlformats.org/drawingml/2006/main">
              <a:srgbClr val="2F6B8A"/>
            </a:solidFill>
          </c:spPr>
          <c:cat>
            <c:strRef>
              <c:f>'Chart Data'!$A$2:$A$5</c:f>
              <c:strCache>
                <c:ptCount val="4"/>
                <c:pt idx="0">
                  <c:v>OVR-union-half</c:v>
                </c:pt>
                <c:pt idx="1">
                  <c:v>OVR-union</c:v>
                </c:pt>
                <c:pt idx="2">
                  <c:v>Contrastive</c:v>
                </c:pt>
                <c:pt idx="3">
                  <c:v>OVO Logistic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0.7086</c:v>
                </c:pt>
                <c:pt idx="1">
                  <c:v>0.7546</c:v>
                </c:pt>
                <c:pt idx="2">
                  <c:v>0.7539</c:v>
                </c:pt>
                <c:pt idx="3">
                  <c:v>0.7491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OVR-union</c:v>
          </c:tx>
          <c:spPr>
            <a:solidFill xmlns:a="http://schemas.openxmlformats.org/drawingml/2006/main">
              <a:srgbClr val="D77A35"/>
            </a:solidFill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21.44</c:v>
                </c:pt>
                <c:pt idx="1">
                  <c:v>28.11</c:v>
                </c:pt>
                <c:pt idx="2">
                  <c:v>35.36</c:v>
                </c:pt>
                <c:pt idx="3">
                  <c:v>41.96</c:v>
                </c:pt>
                <c:pt idx="4">
                  <c:v>48.15</c:v>
                </c:pt>
                <c:pt idx="5">
                  <c:v>51.97</c:v>
                </c:pt>
                <c:pt idx="6">
                  <c:v>59.67</c:v>
                </c:pt>
                <c:pt idx="7">
                  <c:v>65.56</c:v>
                </c:pt>
              </c:numCache>
            </c:numRef>
          </c:val>
        </c:ser>
        <c:ser>
          <c:idx val="1"/>
          <c:order val="1"/>
          <c:tx>
            <c:v>Contrastive</c:v>
          </c:tx>
          <c:spPr>
            <a:solidFill xmlns:a="http://schemas.openxmlformats.org/drawingml/2006/main">
              <a:srgbClr val="2B8C8C"/>
            </a:solidFill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</c:numCache>
            </c:num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7.07</c:v>
                </c:pt>
                <c:pt idx="1">
                  <c:v>7</c:v>
                </c:pt>
                <c:pt idx="2">
                  <c:v>6.97</c:v>
                </c:pt>
                <c:pt idx="3">
                  <c:v>6.94</c:v>
                </c:pt>
                <c:pt idx="4">
                  <c:v>6.9</c:v>
                </c:pt>
                <c:pt idx="5">
                  <c:v>6.47</c:v>
                </c:pt>
                <c:pt idx="6">
                  <c:v>6.59</c:v>
                </c:pt>
                <c:pt idx="7">
                  <c:v>6.46</c:v>
                </c:pt>
              </c:numCache>
            </c:numRef>
          </c:val>
        </c:ser>
        <c:ser>
          <c:idx val="2"/>
          <c:order val="2"/>
          <c:tx>
            <c:v>OVO Logistic</c:v>
          </c:tx>
          <c:spPr>
            <a:solidFill xmlns:a="http://schemas.openxmlformats.org/drawingml/2006/main">
              <a:srgbClr val="2F6B8A"/>
            </a:solidFill>
          </c:spPr>
          <c:marker>
            <c:symbol val="none"/>
          </c:marker>
          <c:cat>
            <c:numRef>
              <c:f>'Chart Data'!$E$2:$E$9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</c:numCache>
            </c:numRef>
          </c:cat>
          <c:val>
            <c:numRef>
              <c:f>'Chart Data'!$F$2:$F$9</c:f>
              <c:numCache>
                <c:formatCode>General</c:formatCode>
                <c:ptCount val="8"/>
                <c:pt idx="0">
                  <c:v>17.25</c:v>
                </c:pt>
                <c:pt idx="1">
                  <c:v>16.22</c:v>
                </c:pt>
                <c:pt idx="2">
                  <c:v>16.14</c:v>
                </c:pt>
                <c:pt idx="3">
                  <c:v>16.05</c:v>
                </c:pt>
                <c:pt idx="4">
                  <c:v>14.89</c:v>
                </c:pt>
                <c:pt idx="5">
                  <c:v>14.49</c:v>
                </c:pt>
                <c:pt idx="6">
                  <c:v>14.78</c:v>
                </c:pt>
                <c:pt idx="7">
                  <c:v>14.4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OVR-union</c:v>
          </c:tx>
          <c:spPr>
            <a:solidFill xmlns:a="http://schemas.openxmlformats.org/drawingml/2006/main">
              <a:srgbClr val="D77A35"/>
            </a:solidFill>
          </c:spPr>
          <c:marker>
            <c:symbol val="none"/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8</c:v>
                </c:pt>
                <c:pt idx="1">
                  <c:v>14</c:v>
                </c:pt>
                <c:pt idx="2">
                  <c:v>20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43.53</c:v>
                </c:pt>
                <c:pt idx="1">
                  <c:v>45.77</c:v>
                </c:pt>
                <c:pt idx="2">
                  <c:v>42.78</c:v>
                </c:pt>
              </c:numCache>
            </c:numRef>
          </c:val>
        </c:ser>
        <c:ser>
          <c:idx val="1"/>
          <c:order val="1"/>
          <c:tx>
            <c:v>Contrastive</c:v>
          </c:tx>
          <c:spPr>
            <a:solidFill xmlns:a="http://schemas.openxmlformats.org/drawingml/2006/main">
              <a:srgbClr val="2B8C8C"/>
            </a:solidFill>
          </c:spPr>
          <c:marker>
            <c:symbol val="none"/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8</c:v>
                </c:pt>
                <c:pt idx="1">
                  <c:v>14</c:v>
                </c:pt>
                <c:pt idx="2">
                  <c:v>20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6.64</c:v>
                </c:pt>
                <c:pt idx="1">
                  <c:v>6.98</c:v>
                </c:pt>
                <c:pt idx="2">
                  <c:v>6.78</c:v>
                </c:pt>
              </c:numCache>
            </c:numRef>
          </c:val>
        </c:ser>
        <c:ser>
          <c:idx val="2"/>
          <c:order val="2"/>
          <c:tx>
            <c:v>OVO Logistic</c:v>
          </c:tx>
          <c:spPr>
            <a:solidFill xmlns:a="http://schemas.openxmlformats.org/drawingml/2006/main">
              <a:srgbClr val="2F6B8A"/>
            </a:solidFill>
          </c:spPr>
          <c:marker>
            <c:symbol val="none"/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8</c:v>
                </c:pt>
                <c:pt idx="1">
                  <c:v>14</c:v>
                </c:pt>
                <c:pt idx="2">
                  <c:v>20</c:v>
                </c:pt>
              </c:numCache>
            </c:num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11.83</c:v>
                </c:pt>
                <c:pt idx="1">
                  <c:v>15.92</c:v>
                </c:pt>
                <c:pt idx="2">
                  <c:v>18.84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8B860-3554-4C26-80FA-8F512129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14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多クラスLIMEにおける</a:t>
            </a:r>
          </a:p>
          <a:p xmlns:a="http://schemas.openxmlformats.org/drawingml/2006/main">
            <a:pPr>
              <a:defRPr sz="37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One-vs-One説明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DB45C-7ECB-4E37-926D-1802FBD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OVRとの違い、評価設計、追加実験の結果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8F394-0647-4499-9FFC-7E96DB98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B8C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6F7C1-9253-4853-9870-8B0EC465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研究メモ / 2026-09-06</a:t>
            </a:r>
          </a:p>
        </p:txBody>
      </p:sp>
    </p:spTree>
    <p:extLst>
      <p:ext uri="{BB962C8B-B14F-4D97-AF65-F5344CB8AC3E}">
        <p14:creationId xmlns:p14="http://schemas.microsoft.com/office/powerpoint/2010/main" val="2596349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6E2D8-8B54-420F-AC10-A58AB8DA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説明対象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7B5C7-51A2-432A-A6DA-2598224F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OVRとOVOは、説明する問いが違う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CCE64-AFE2-4DB7-AA60-980D2099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CE6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426CA-502F-4BCD-B4F4-53CF9DAE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solidFill>
              <a:srgbClr val="B7D9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98415-1DB2-48BE-8CB8-0EB844EE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F6B8A"/>
                </a:solidFill>
                <a:latin typeface="Helvetica Neue"/>
                <a:ea typeface="Helvetica Neue"/>
                <a:cs typeface="Helvetica Neue"/>
              </a:rPr>
              <a:t>OVR（従来のLIME）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54014-F794-4245-AE97-19266D70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クラス c ごとに独立に</a:t>
            </a:r>
          </a:p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p_c(z) を近似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5EE71-8DDD-473D-9BC6-0CCF3B1C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問い：</a:t>
            </a:r>
          </a:p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「なぜ c らしいのか」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C7CEA-BDBF-4613-A263-4B1AEBDA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ペア差は後から係数を引いて作る</a:t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特徴集合は2クラス分の和集合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FD693-1F3C-47D7-9C10-1FADEC4E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OVO（ペア直接説明）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85F17-BCE4-4F99-87B2-C27007BF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クラス対 (c, d) の</a:t>
            </a:r>
          </a:p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log(p_c / p_d) または q_cd を近似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ECAB6-B8F6-4865-BC6F-D0731992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問い：</a:t>
            </a:r>
          </a:p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「なぜ d ではなく c なのか」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37D36-9DB6-4989-88ED-6B5B79CF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ペア全体でK個を選択</a:t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係数の符号を相対的な支持として読む</a:t>
            </a:r>
          </a:p>
        </p:txBody>
      </p:sp>
    </p:spTree>
    <p:extLst>
      <p:ext uri="{BB962C8B-B14F-4D97-AF65-F5344CB8AC3E}">
        <p14:creationId xmlns:p14="http://schemas.microsoft.com/office/powerpoint/2010/main" val="1824823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C7E6D-F2C6-4284-B9FD-15F36A8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評価設計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80EB8-795F-4F99-AF4D-DA8B4D1D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評価はペア判断の忠実性を主指標にする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C9997-1EEC-44CF-8024-DC21232E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主指標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E85AE-3688-4D88-828B-3488CBB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BBの sign(p_c − p_d) と</a:t>
            </a:r>
          </a:p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サロゲートの符号が一致する重み付き割合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49B35-27DF-4974-BE94-163B2403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補助指標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3C410-EFFB-4088-BFCA-DAC3028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552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実効特徴数 / 係数方向の安定性 /</a:t>
            </a:r>
          </a:p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top-K再現率・Spearman / 領域別忠実性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36703-45A6-44D8-AB75-4B677A75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000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CE6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D6531-0C22-447C-8BFB-844B8C38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B8A"/>
                </a:solidFill>
                <a:latin typeface="Helvetica Neue"/>
                <a:ea typeface="Helvetica Neue"/>
                <a:cs typeface="Helvetica Neue"/>
              </a:rPr>
              <a:t>実験条件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D5A44-3972-460D-A0B6-3501D361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合成データ</a:t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8・14・20特徴、3・4・5クラス</a:t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RandomForest（200 trees）</a:t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300摂動 / 20 dataset seeds</a:t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8個の競合インスタンス</a:t>
            </a:r>
          </a:p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学習用と評価用は独立摂動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A0B32-355D-4043-91AE-0136273D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統計：seed内で平均 → 対応ありWilcoxon</a:t>
            </a:r>
          </a:p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Holm-Bonferroni補正</a:t>
            </a:r>
          </a:p>
        </p:txBody>
      </p:sp>
    </p:spTree>
    <p:extLst>
      <p:ext uri="{BB962C8B-B14F-4D97-AF65-F5344CB8AC3E}">
        <p14:creationId xmlns:p14="http://schemas.microsoft.com/office/powerpoint/2010/main" val="1310753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89F64-1489-4774-9F7D-5D28F71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75F69-584D-41FD-B2E6-4B4BAD8B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OVOは、特徴予算を抑えたOVRを上回った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BFB07-CBEC-4B27-82EC-94895993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held-out pairwise sign accuracy の全条件平均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57250" y="190500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ae6f814a084ed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BCA09-F8BC-44F5-B390-759B4C96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solidFill>
              <a:srgbClr val="B7D9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EC71A-25B9-4FF7-AE2A-E195DD6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9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主要な差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E4FAC-14FC-4E71-899D-58AAC338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OVO Logistic</a:t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74.9%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OVR-union-half</a:t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70.9%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差：+4.1ポイント</a:t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相対：約+5.7%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B317F-56D5-4518-855D-958413BB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Contrastive − OVR-half：+4.53ポイント</a:t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18/18セルで有意</a:t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Logistic − OVR-half：+4.05ポイント</a:t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14/18セルで有意</a:t>
            </a:r>
          </a:p>
        </p:txBody>
      </p:sp>
    </p:spTree>
    <p:extLst>
      <p:ext uri="{BB962C8B-B14F-4D97-AF65-F5344CB8AC3E}">
        <p14:creationId xmlns:p14="http://schemas.microsoft.com/office/powerpoint/2010/main" val="1811554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999BE-3665-4148-8FE9-8ED1BB71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計算時間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B7537-142B-44DE-9977-20A63016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計算時間の推移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F9496-13C2-4C0C-ABB7-3BDC28C5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1インスタンスあたりのサロゲートフィット時間（ms）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52863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d4fb0222d2420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52819-3513-45AA-8B0A-B379E174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クラス数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334125" y="1762125"/>
          <a:ext xmlns:a="http://schemas.openxmlformats.org/drawingml/2006/main" cx="5095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c66d7d0b13483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C13D0-1E29-46F3-B1EB-1EFAD147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次元数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1F0F6-53AC-4B23-B8FC-5D663F7A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クラス数3→10：OVRは21.4→65.6 ms、Contrastiveは7.1→6.5 ms。</a:t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平均フィット時間：OVRはContrastiveの約6.5倍。</a:t>
            </a:r>
          </a:p>
        </p:txBody>
      </p:sp>
    </p:spTree>
    <p:extLst>
      <p:ext uri="{BB962C8B-B14F-4D97-AF65-F5344CB8AC3E}">
        <p14:creationId xmlns:p14="http://schemas.microsoft.com/office/powerpoint/2010/main" val="1793576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AA984-7995-4688-BB2E-853EA893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解釈性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F245E-05E4-45D6-8747-89EDBC16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OVOは、競合クラスを指定した説明に向いている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01A8D-6204-47F2-8362-3B44D288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解釈性の質的な利点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8C8FC-B0D4-4C46-BC1E-3165306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・問いが明確：『BではなくAなのはなぜか』</a:t>
            </a:r>
          </a:p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・ペア全体で表示特徴数を固定できる</a:t>
            </a:r>
          </a:p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・共通成分を相対比較で打ち消せる可能性</a:t>
            </a:r>
          </a:p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・係数の符号を『BよりAを支持』と読める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49479-47B7-450B-BF39-5D728589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85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今回言えること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284B8-29F4-4D46-9798-14D31924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8120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OVOは、少ない特徴で</a:t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ペア判断の忠実性を保ちやすい</a:t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可能性がある。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ただし、OVR側の実効特徴数を</a:t>
            </a:r>
          </a:p>
          <a:p xmlns:a="http://schemas.openxmlformats.org/drawingml/2006/main">
            <a:pPr>
              <a:def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厳密にKへ揃えた比較は未実施。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1C0C4-AFB0-4A9E-AABD-F54855DE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CE6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C9DE5-FB36-4E41-B266-2722BACF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B8C8C"/>
                </a:solidFill>
                <a:latin typeface="Helvetica Neue"/>
                <a:ea typeface="Helvetica Neue"/>
                <a:cs typeface="Helvetica Neue"/>
              </a:rPr>
              <a:t>次の検証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AF227-544D-4B0A-971B-D43F4EB7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OVRの和集合を厳密にK個へ一致させる。</a:t>
            </a:r>
          </a:p>
          <a:p xmlns:a="http://schemas.openxmlformats.org/drawingml/2006/main">
            <a:pPr>
              <a:defRPr sz="165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そのうえで、実データ・別のBB・人間評価で解釈性を補強する。</a:t>
            </a:r>
          </a:p>
        </p:txBody>
      </p:sp>
    </p:spTree>
    <p:extLst>
      <p:ext uri="{BB962C8B-B14F-4D97-AF65-F5344CB8AC3E}">
        <p14:creationId xmlns:p14="http://schemas.microsoft.com/office/powerpoint/2010/main" val="366929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2026-09-05T09:57:48.5230000Z</dcterms:created>
  <dcterms:modified xsi:type="dcterms:W3CDTF">2026-09-05T09:57:48.5230000Z</dcterms:modified>
</coreProperties>
</file>