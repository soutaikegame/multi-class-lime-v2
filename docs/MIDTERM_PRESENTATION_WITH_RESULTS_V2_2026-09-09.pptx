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LIMEの基本的な仕組みを二値分類の例から説明し、Slide 6以降で多クラス分類へ話を広げる。今回はFisherの提案手法や実験結果には踏み込まず、研究の出発点を整理する。</a:t>
            </a:r>
          </a:p>
          <a:p>
            <a:endParaRPr/>
          </a:p>
          <a:p>
            <a:r>
              <a:t>[Sources]</a:t>
            </a:r>
          </a:p>
          <a:p>
            <a:r>
              <a:t>- https://arxiv.org/abs/1602.04938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XAIはExplainable Artificial Intelligenceの略。予測値だけでは分からない判断根拠を示し、予測の確認だけでなく、モデルが本質的でない特徴を学んでいないかを調べるデバッグにも役立つ。図の値は実験結果ではなく模式例。</a:t>
            </a:r>
          </a:p>
          <a:p>
            <a:endParaRPr/>
          </a:p>
          <a:p>
            <a:r>
              <a:t>[Sources]</a:t>
            </a:r>
          </a:p>
          <a:p>
            <a:r>
              <a:t>- https://arxiv.org/abs/1602.04938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はブラックボックス全体を一本の単純なモデルに置き換えるのではない。説明対象の入力周辺だけに重みを置き、その狭い範囲で元モデルと似た出力を返す解釈可能なモデルを学習する。したがって説明は局所的であり、別の入力では別の説明になりうる。</a:t>
            </a:r>
          </a:p>
          <a:p>
            <a:endParaRPr/>
          </a:p>
          <a:p>
            <a:r>
              <a:t>[Sources]</a:t>
            </a:r>
          </a:p>
          <a:p>
            <a:r>
              <a:t>- https://arxiv.org/abs/1602.04938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件の入力を選び、周辺に人工サンプルを生成し、ブラックボックスの予測を取得する。元の入力に近いサンプルほど強く重み付けし、少数の特徴を使う局所モデルを学習する。目的関数の第1項は局所的な予測のずれ、第2項は説明モデルの複雑さを表す。</a:t>
            </a:r>
          </a:p>
          <a:p>
            <a:endParaRPr/>
          </a:p>
          <a:p>
            <a:r>
              <a:t>[Sources]</a:t>
            </a:r>
          </a:p>
          <a:p>
            <a:r>
              <a:t>- https://arxiv.org/abs/1602.04938</a:t>
            </a:r>
          </a:p>
          <a:p>
            <a:r>
              <a:t>- https://github.com/marcotcr/lime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は指定した1クラスの予測確率を1本の局所モデルで近似する。2値分類では生存対非生存として直感的に読める。LIME自体は2値分類専用ではないが、公式実装では指定ラベルの確率列ごとに局所回帰を学習するため、基本の説明単位は対象クラス対その他に近い。</a:t>
            </a:r>
          </a:p>
          <a:p>
            <a:endParaRPr/>
          </a:p>
          <a:p>
            <a:r>
              <a:t>[Sources]</a:t>
            </a:r>
          </a:p>
          <a:p>
            <a:r>
              <a:t>- https://arxiv.org/abs/1602.04938</a:t>
            </a:r>
          </a:p>
          <a:p>
            <a:r>
              <a:t>- https://github.com/marcotcr/lime/blob/master/lime/lime_base.py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で初めて多クラス分類へ広げる。one-vs-restは各クラスについて、そのクラス対その他という二値問題を作る代表的な多クラス化戦略。LIMEも多クラス分類器へ適用できるが、指定したラベルの確率列をクラスごとに別々に近似する。近傍は共有できても、局所モデルと特徴選択は別々になる。</a:t>
            </a:r>
          </a:p>
          <a:p>
            <a:endParaRPr/>
          </a:p>
          <a:p>
            <a:r>
              <a:t>[Sources]</a:t>
            </a:r>
          </a:p>
          <a:p>
            <a:r>
              <a:t>- https://arxiv.org/abs/1602.04938</a:t>
            </a:r>
          </a:p>
          <a:p>
            <a:r>
              <a:t>- https://github.com/marcotcr/lime/blob/master/lime/lime_base.py</a:t>
            </a:r>
          </a:p>
          <a:p>
            <a:r>
              <a:t>- https://scikit-learn.org/stable/modules/generated/sklearn.multiclass.OneVsRestClassifier.html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クラス別の説明それぞれには意味がある。しかし、クラスごとに選ばれる特徴、順位、符号が異なると、利用者は複数の説明を横断してAとBの違いを組み立てなければならない。ここで問題にしているのは数理的な矛盾ではなく、多クラス全体を読む負担である。</a:t>
            </a:r>
          </a:p>
          <a:p>
            <a:endParaRPr/>
          </a:p>
          <a:p>
            <a:r>
              <a:t>[Sources]</a:t>
            </a:r>
          </a:p>
          <a:p>
            <a:r>
              <a:t>- https://arxiv.org/abs/2005.01427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treeは局所サロゲートとして多出力回帰木を用い、一つの木で全クラスの予測確率を同時に近似する。分岐条件を共有するため、同じ論理構造からクラス間を比較できる。出力形式はLIMEの特徴重みではなく、ルールや対比・反実仮想説明へ展開される。</a:t>
            </a:r>
          </a:p>
          <a:p>
            <a:endParaRPr/>
          </a:p>
          <a:p>
            <a:r>
              <a:t>[Sources]</a:t>
            </a:r>
          </a:p>
          <a:p>
            <a:r>
              <a:t>- https://arxiv.org/abs/2005.01427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LIMEはクラス別、LIMEtreeは共通構造、LIPExは確率分布全体という異なる設計を取る。LIPExはHellinger距離に基づく回帰で特徴と各クラスの関係を行列として表すが、OpenReview上ではICLR 2024のWithdrawn Submissionである。bLIMEyは直接の多クラス解法ではなく、LIME型説明器を部品へ分解する設計枠組み。</a:t>
            </a:r>
          </a:p>
          <a:p>
            <a:endParaRPr/>
          </a:p>
          <a:p>
            <a:r>
              <a:t>[Sources]</a:t>
            </a:r>
          </a:p>
          <a:p>
            <a:r>
              <a:t>- https://arxiv.org/abs/1602.04938</a:t>
            </a:r>
          </a:p>
          <a:p>
            <a:r>
              <a:t>- https://arxiv.org/abs/2005.01427</a:t>
            </a:r>
          </a:p>
          <a:p>
            <a:r>
              <a:t>- https://openreview.net/forum?id=R7946uagL2</a:t>
            </a:r>
          </a:p>
          <a:p>
            <a:r>
              <a:t>- https://arxiv.org/abs/1910.13016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研究目的は一つの指標を上げることではなく、多クラス説明のどの性質を改善するかを定義すること。予測再現なら忠実性、説明の一貫性なら共有構造や安定性、対比の理解なら人を含む評価が必要になる。次の段階では同じ入力に対する複数手法の出力を比較し、主対象を決める。</a:t>
            </a:r>
          </a:p>
          <a:p>
            <a:endParaRPr/>
          </a:p>
          <a:p>
            <a:r>
              <a:t>[Sources]</a:t>
            </a:r>
          </a:p>
          <a:p>
            <a:r>
              <a:t>- https://arxiv.org/abs/1602.04938</a:t>
            </a:r>
          </a:p>
          <a:p>
            <a:r>
              <a:t>- https://arxiv.org/abs/2005.01427</a:t>
            </a:r>
          </a:p>
          <a:p>
            <a:r>
              <a:t>- https://openreview.net/forum?id=R7946uagL2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評価設計の出典: docs/OVO_VS_OVR_EXPERIMENT_SUMMARY.md, src/fidelity.py, src/metrics.py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実験設定の出典: src/run_ovo_vs_ovr_experiment.py, src/run_blackbox_comparison_experiment.py, src/run_feature_role_experiment.py, src/run_timing_experiment.py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 results/pairwise_lime_baseline_comparison.png。説明: +0.0041は0.41ポイントであり、実用上大きいとは断言しない。5/18条件でHolm補正後も有意だが、主張は同じ特徴予算でも忠実度を保ったこと。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 results/blackbox_comparison.png。線形softmaxではlog(p1/p2)が線形スコア差と一致するためContrastiveが有利。非線形NNではsoftmaxでもlogit差が入力に対して非線形なので、その利点は弱まる。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 results/feature_role_comparison.png。共通特徴はAとBの確率を同方向に動かすため、各クラス単独の説明では重要でもA対Bの差には寄与しない。解釈性の直接的な人間評価ではなく、質問関連性を測る代理指標である。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 results/timing_scaling.png。C=10ではOVR 63.46ms、2クラスLIME 6.48ms、Contrastive 6.51ms。全クラス対を説明するOVOではなく、説明点のTop-1/Top-2の1ペアだけを作る場合の測定。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説明時は、OVRとpairwiseが異なる問いへ答える点を明示する。解釈性を断定せず、既知の真値に対する特徴関連性が改善したと述べる。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OVO Logisticは失敗扱いではなく、正則化C、サンプル数、局所幅との相互作用を今後調べる。今回の結論は合成データとTop-1/Top-2に限定。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最終結論。新規性は既存のpairwise説明やlog-oddsそのものではなく、Top-1/Top-2への適用と、OVR・通常LIME・log-odds Ridge・local logisticを同一条件で分解比較した実証設計に置く。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17A78FFF-9B69-4A91-AA42-579F155BBCE4}"/>
              </a:ext>
            </a:extLst>
          </p:cNvPr>
          <p:cNvSpPr>
            <a:spLocks noGrp="1"/>
          </p:cNvSpPr>
          <p:nvPr/>
        </p:nvSpPr>
        <p:spPr>
          <a:xfrm>
            <a:off x="0" y="0"/>
            <a:ext cx="171450" cy="6858000"/>
          </a:xfrm>
          <a:prstGeom prst="rect">
            <a:avLst/>
          </a:prstGeom>
          <a:solidFill>
            <a:srgbClr val="2563EB"/>
          </a:solidFill>
          <a:ln w="0">
            <a:solidFill>
              <a:srgbClr val="2563EB"/>
            </a:solidFill>
            <a:prstDash val="solid"/>
          </a:ln>
        </p:spPr>
        <p:txBody>
          <a:bodyPr/>
          <a:lstStyle/>
          <a:p>
            <a:endParaRPr/>
          </a:p>
        </p:txBody>
      </p:sp>
      <p:sp>
        <p:nvSpPr>
          <p:cNvPr id="2" name="正方形/長方形 1">
            <a:extLst>
              <a:ext uri="{FF2B5EF4-FFF2-40B4-BE49-F238E27FC236}">
                <a16:creationId xmlns:a16="http://schemas.microsoft.com/office/drawing/2014/main" id="{F84B2074-DAA8-4AAB-BEB3-2641FD2B8DD5}"/>
              </a:ext>
            </a:extLst>
          </p:cNvPr>
          <p:cNvSpPr>
            <a:spLocks noGrp="1"/>
          </p:cNvSpPr>
          <p:nvPr/>
        </p:nvSpPr>
        <p:spPr>
          <a:xfrm>
            <a:off x="666750" y="609600"/>
            <a:ext cx="2857500" cy="323850"/>
          </a:xfrm>
          <a:prstGeom prst="rect">
            <a:avLst/>
          </a:prstGeom>
          <a:noFill/>
          <a:ln w="0">
            <a:noFill/>
            <a:prstDash val="solid"/>
          </a:ln>
        </p:spPr>
        <p:txBody>
          <a:bodyPr lIns="0" tIns="0" rIns="0" bIns="0" anchor="t">
            <a:noAutofit/>
          </a:bodyPr>
          <a:lstStyle/>
          <a:p>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ゼミ中間発表</a:t>
            </a:r>
          </a:p>
        </p:txBody>
      </p:sp>
      <p:sp>
        <p:nvSpPr>
          <p:cNvPr id="3" name="cover-title">
            <a:extLst>
              <a:ext uri="{FF2B5EF4-FFF2-40B4-BE49-F238E27FC236}">
                <a16:creationId xmlns:a16="http://schemas.microsoft.com/office/drawing/2014/main" id="{2E43AB2B-2427-4746-ABA1-9F8EF1095148}"/>
              </a:ext>
            </a:extLst>
          </p:cNvPr>
          <p:cNvSpPr>
            <a:spLocks noGrp="1"/>
          </p:cNvSpPr>
          <p:nvPr/>
        </p:nvSpPr>
        <p:spPr>
          <a:xfrm>
            <a:off x="666750" y="1619250"/>
            <a:ext cx="7239000" cy="1714500"/>
          </a:xfrm>
          <a:prstGeom prst="rect">
            <a:avLst/>
          </a:prstGeom>
          <a:noFill/>
          <a:ln w="0">
            <a:noFill/>
            <a:prstDash val="solid"/>
          </a:ln>
        </p:spPr>
        <p:txBody>
          <a:bodyPr lIns="0" tIns="0" rIns="0" bIns="0" anchor="t">
            <a:noAutofit/>
          </a:bodyPr>
          <a:lstStyle/>
          <a:p>
            <a:pPr algn="l">
              <a:buNone/>
              <a:defRPr sz="4050" b="1">
                <a:solidFill>
                  <a:srgbClr val="111827"/>
                </a:solidFill>
                <a:latin typeface="Yu Gothic"/>
                <a:ea typeface="Yu Gothic"/>
                <a:cs typeface="Yu Gothic"/>
              </a:defRPr>
            </a:pPr>
            <a:r>
              <a:rPr sz="4050" b="1">
                <a:solidFill>
                  <a:srgbClr val="111827"/>
                </a:solidFill>
                <a:latin typeface="Yu Gothic"/>
                <a:ea typeface="Yu Gothic"/>
                <a:cs typeface="Yu Gothic"/>
              </a:rPr>
              <a:t>多クラス分類における</a:t>
            </a:r>
          </a:p>
          <a:p>
            <a:pPr algn="l">
              <a:buNone/>
              <a:defRPr sz="4050" b="1">
                <a:solidFill>
                  <a:srgbClr val="111827"/>
                </a:solidFill>
                <a:latin typeface="Yu Gothic"/>
                <a:ea typeface="Yu Gothic"/>
                <a:cs typeface="Yu Gothic"/>
              </a:defRPr>
            </a:pPr>
            <a:r>
              <a:rPr sz="4050" b="1">
                <a:solidFill>
                  <a:srgbClr val="111827"/>
                </a:solidFill>
                <a:latin typeface="Yu Gothic"/>
                <a:ea typeface="Yu Gothic"/>
                <a:cs typeface="Yu Gothic"/>
              </a:rPr>
              <a:t>LIMEの説明方法と課題</a:t>
            </a:r>
          </a:p>
        </p:txBody>
      </p:sp>
      <p:sp>
        <p:nvSpPr>
          <p:cNvPr id="4" name="正方形/長方形 3">
            <a:extLst>
              <a:ext uri="{FF2B5EF4-FFF2-40B4-BE49-F238E27FC236}">
                <a16:creationId xmlns:a16="http://schemas.microsoft.com/office/drawing/2014/main" id="{DD823584-A1A7-42B0-BE35-733F5A94DD18}"/>
              </a:ext>
            </a:extLst>
          </p:cNvPr>
          <p:cNvSpPr>
            <a:spLocks noGrp="1"/>
          </p:cNvSpPr>
          <p:nvPr/>
        </p:nvSpPr>
        <p:spPr>
          <a:xfrm>
            <a:off x="685800" y="3562350"/>
            <a:ext cx="6667500" cy="419100"/>
          </a:xfrm>
          <a:prstGeom prst="rect">
            <a:avLst/>
          </a:prstGeom>
          <a:noFill/>
          <a:ln w="0">
            <a:noFill/>
            <a:prstDash val="solid"/>
          </a:ln>
        </p:spPr>
        <p:txBody>
          <a:bodyPr lIns="0" tIns="0" rIns="0" bIns="0" anchor="t">
            <a:noAutofit/>
          </a:bodyPr>
          <a:lstStyle/>
          <a:p>
            <a:pPr algn="l">
              <a:buNone/>
              <a:defRPr sz="1950" b="0">
                <a:solidFill>
                  <a:srgbClr val="64748B"/>
                </a:solidFill>
                <a:latin typeface="Yu Gothic"/>
                <a:ea typeface="Yu Gothic"/>
                <a:cs typeface="Yu Gothic"/>
              </a:defRPr>
            </a:pPr>
            <a:r>
              <a:rPr sz="1950" b="0">
                <a:solidFill>
                  <a:srgbClr val="64748B"/>
                </a:solidFill>
                <a:latin typeface="Yu Gothic"/>
                <a:ea typeface="Yu Gothic"/>
                <a:cs typeface="Yu Gothic"/>
              </a:rPr>
              <a:t>局所説明の基本から、説明方法の拡張へ</a:t>
            </a:r>
          </a:p>
        </p:txBody>
      </p:sp>
      <p:cxnSp>
        <p:nvCxnSpPr>
          <p:cNvPr id="28" name="直線矢印コネクタ 16"/>
          <p:cNvCxnSpPr/>
          <p:nvPr/>
        </p:nvCxnSpPr>
        <p:spPr>
          <a:xfrm>
            <a:off x="685800" y="4476750"/>
            <a:ext cx="4572000" cy="0"/>
          </a:xfrm>
          <a:prstGeom prst="straightConnector1">
            <a:avLst/>
          </a:prstGeom>
          <a:ln w="19050">
            <a:solidFill>
              <a:srgbClr val="CBD5E1"/>
            </a:solidFill>
            <a:prstDash val="solid"/>
          </a:ln>
        </p:spPr>
      </p:cxnSp>
      <p:sp>
        <p:nvSpPr>
          <p:cNvPr id="6" name="正方形/長方形 5">
            <a:extLst>
              <a:ext uri="{FF2B5EF4-FFF2-40B4-BE49-F238E27FC236}">
                <a16:creationId xmlns:a16="http://schemas.microsoft.com/office/drawing/2014/main" id="{E06F0708-AD48-42F5-B4AE-2EE952E453FE}"/>
              </a:ext>
            </a:extLst>
          </p:cNvPr>
          <p:cNvSpPr>
            <a:spLocks noGrp="1"/>
          </p:cNvSpPr>
          <p:nvPr/>
        </p:nvSpPr>
        <p:spPr>
          <a:xfrm>
            <a:off x="685800" y="4762500"/>
            <a:ext cx="3810000" cy="38100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池亀 颯太　M1</a:t>
            </a:r>
          </a:p>
        </p:txBody>
      </p:sp>
      <p:sp>
        <p:nvSpPr>
          <p:cNvPr id="7" name="正方形/長方形 6">
            <a:extLst>
              <a:ext uri="{FF2B5EF4-FFF2-40B4-BE49-F238E27FC236}">
                <a16:creationId xmlns:a16="http://schemas.microsoft.com/office/drawing/2014/main" id="{5448BD7F-E594-4D25-AD2B-BAB2BB4E626A}"/>
              </a:ext>
            </a:extLst>
          </p:cNvPr>
          <p:cNvSpPr>
            <a:spLocks noGrp="1"/>
          </p:cNvSpPr>
          <p:nvPr/>
        </p:nvSpPr>
        <p:spPr>
          <a:xfrm>
            <a:off x="685800" y="5219700"/>
            <a:ext cx="3810000" cy="30480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2026年9月12日（土）</a:t>
            </a:r>
          </a:p>
        </p:txBody>
      </p:sp>
      <p:sp>
        <p:nvSpPr>
          <p:cNvPr id="8" name="正方形/長方形 7">
            <a:extLst>
              <a:ext uri="{FF2B5EF4-FFF2-40B4-BE49-F238E27FC236}">
                <a16:creationId xmlns:a16="http://schemas.microsoft.com/office/drawing/2014/main" id="{C62058CD-3479-417F-9BC1-D611641D5421}"/>
              </a:ext>
            </a:extLst>
          </p:cNvPr>
          <p:cNvSpPr>
            <a:spLocks noGrp="1"/>
          </p:cNvSpPr>
          <p:nvPr/>
        </p:nvSpPr>
        <p:spPr>
          <a:xfrm>
            <a:off x="8572500" y="952500"/>
            <a:ext cx="2190750" cy="2190750"/>
          </a:xfrm>
          <a:prstGeom prst="rect">
            <a:avLst/>
          </a:prstGeom>
          <a:solidFill>
            <a:srgbClr val="DBEAFE"/>
          </a:solidFill>
          <a:ln w="0">
            <a:solidFill>
              <a:srgbClr val="DBEAFE"/>
            </a:solidFill>
            <a:prstDash val="solid"/>
          </a:ln>
        </p:spPr>
        <p:txBody>
          <a:bodyPr/>
          <a:lstStyle/>
          <a:p>
            <a:endParaRPr/>
          </a:p>
        </p:txBody>
      </p:sp>
      <p:sp>
        <p:nvSpPr>
          <p:cNvPr id="9" name="正方形/長方形 8">
            <a:extLst>
              <a:ext uri="{FF2B5EF4-FFF2-40B4-BE49-F238E27FC236}">
                <a16:creationId xmlns:a16="http://schemas.microsoft.com/office/drawing/2014/main" id="{96A1A3B2-198D-4521-AA9C-0FFF75F503BF}"/>
              </a:ext>
            </a:extLst>
          </p:cNvPr>
          <p:cNvSpPr>
            <a:spLocks noGrp="1"/>
          </p:cNvSpPr>
          <p:nvPr/>
        </p:nvSpPr>
        <p:spPr>
          <a:xfrm>
            <a:off x="9667875" y="2047875"/>
            <a:ext cx="1619250" cy="1619250"/>
          </a:xfrm>
          <a:prstGeom prst="rect">
            <a:avLst/>
          </a:prstGeom>
          <a:solidFill>
            <a:srgbClr val="2563EB"/>
          </a:solidFill>
          <a:ln w="0">
            <a:solidFill>
              <a:srgbClr val="2563EB"/>
            </a:solidFill>
            <a:prstDash val="solid"/>
          </a:ln>
        </p:spPr>
        <p:txBody>
          <a:bodyPr/>
          <a:lstStyle/>
          <a:p>
            <a:endParaRPr/>
          </a:p>
        </p:txBody>
      </p:sp>
      <p:sp>
        <p:nvSpPr>
          <p:cNvPr id="10" name="円/楕円 9">
            <a:extLst>
              <a:ext uri="{FF2B5EF4-FFF2-40B4-BE49-F238E27FC236}">
                <a16:creationId xmlns:a16="http://schemas.microsoft.com/office/drawing/2014/main" id="{4B530DD3-9326-4695-8040-633CCEAF4595}"/>
              </a:ext>
            </a:extLst>
          </p:cNvPr>
          <p:cNvSpPr>
            <a:spLocks noGrp="1"/>
          </p:cNvSpPr>
          <p:nvPr/>
        </p:nvSpPr>
        <p:spPr>
          <a:xfrm>
            <a:off x="8096250" y="3381375"/>
            <a:ext cx="1714500" cy="1714500"/>
          </a:xfrm>
          <a:prstGeom prst="ellipse">
            <a:avLst/>
          </a:prstGeom>
          <a:solidFill>
            <a:srgbClr val="FEF3C7"/>
          </a:solidFill>
          <a:ln w="28575">
            <a:solidFill>
              <a:srgbClr val="F59E0B"/>
            </a:solidFill>
            <a:prstDash val="solid"/>
          </a:ln>
        </p:spPr>
        <p:txBody>
          <a:bodyPr/>
          <a:lstStyle/>
          <a:p>
            <a:endParaRPr/>
          </a:p>
        </p:txBody>
      </p:sp>
      <p:cxnSp>
        <p:nvCxnSpPr>
          <p:cNvPr id="34" name="直線矢印コネクタ 22"/>
          <p:cNvCxnSpPr/>
          <p:nvPr/>
        </p:nvCxnSpPr>
        <p:spPr>
          <a:xfrm>
            <a:off x="7810500" y="5524500"/>
            <a:ext cx="3238500" cy="0"/>
          </a:xfrm>
          <a:prstGeom prst="straightConnector1">
            <a:avLst/>
          </a:prstGeom>
          <a:ln w="38100">
            <a:solidFill>
              <a:srgbClr val="111827"/>
            </a:solidFill>
            <a:prstDash val="solid"/>
          </a:ln>
        </p:spPr>
      </p:cxnSp>
      <p:sp>
        <p:nvSpPr>
          <p:cNvPr id="12" name="正方形/長方形 11">
            <a:extLst>
              <a:ext uri="{FF2B5EF4-FFF2-40B4-BE49-F238E27FC236}">
                <a16:creationId xmlns:a16="http://schemas.microsoft.com/office/drawing/2014/main" id="{E437CF62-177A-4A4E-A45F-47597A0C13FA}"/>
              </a:ext>
            </a:extLst>
          </p:cNvPr>
          <p:cNvSpPr>
            <a:spLocks noGrp="1"/>
          </p:cNvSpPr>
          <p:nvPr/>
        </p:nvSpPr>
        <p:spPr>
          <a:xfrm>
            <a:off x="7953375" y="5715000"/>
            <a:ext cx="3143250" cy="285750"/>
          </a:xfrm>
          <a:prstGeom prst="rect">
            <a:avLst/>
          </a:prstGeom>
          <a:noFill/>
          <a:ln w="0">
            <a:noFill/>
            <a:prstDash val="solid"/>
          </a:ln>
        </p:spPr>
        <p:txBody>
          <a:bodyPr lIns="0" tIns="0" rIns="0" bIns="0" anchor="t">
            <a:noAutofit/>
          </a:bodyPr>
          <a:lstStyle/>
          <a:p>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LOCAL  →  MULTI-CLASS</a:t>
            </a:r>
          </a:p>
        </p:txBody>
      </p:sp>
    </p:spTree>
    <p:extLst>
      <p:ext uri="{BB962C8B-B14F-4D97-AF65-F5344CB8AC3E}">
        <p14:creationId xmlns:p14="http://schemas.microsoft.com/office/powerpoint/2010/main" val="544476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2EC6FA3A-EF6E-4DD5-9F3D-8DE9357801F0}"/>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2-title">
            <a:extLst>
              <a:ext uri="{FF2B5EF4-FFF2-40B4-BE49-F238E27FC236}">
                <a16:creationId xmlns:a16="http://schemas.microsoft.com/office/drawing/2014/main" id="{C7DA64B8-E76C-44F5-86D4-3ED7FAD1A7A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XAIは予測理由を見える形にする</a:t>
            </a:r>
          </a:p>
        </p:txBody>
      </p:sp>
      <p:sp>
        <p:nvSpPr>
          <p:cNvPr id="3" name="slide-2-subtitle">
            <a:extLst>
              <a:ext uri="{FF2B5EF4-FFF2-40B4-BE49-F238E27FC236}">
                <a16:creationId xmlns:a16="http://schemas.microsoft.com/office/drawing/2014/main" id="{B92EE467-49A5-4CC4-9081-5A2A737A860D}"/>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モデルを理解するだけでなく、誤学習を見つけるデバッグにも使える</a:t>
            </a:r>
          </a:p>
        </p:txBody>
      </p:sp>
      <p:sp>
        <p:nvSpPr>
          <p:cNvPr id="4" name="正方形/長方形 3">
            <a:extLst>
              <a:ext uri="{FF2B5EF4-FFF2-40B4-BE49-F238E27FC236}">
                <a16:creationId xmlns:a16="http://schemas.microsoft.com/office/drawing/2014/main" id="{5D6EAD04-DBFB-4E59-A369-82788477E7BE}"/>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02</a:t>
            </a:r>
          </a:p>
        </p:txBody>
      </p:sp>
      <p:sp>
        <p:nvSpPr>
          <p:cNvPr id="5" name="右矢印 4">
            <a:extLst>
              <a:ext uri="{FF2B5EF4-FFF2-40B4-BE49-F238E27FC236}">
                <a16:creationId xmlns:a16="http://schemas.microsoft.com/office/drawing/2014/main" id="{CF7D41FF-F54C-48C5-8774-3500F56DD139}"/>
              </a:ext>
            </a:extLst>
          </p:cNvPr>
          <p:cNvSpPr>
            <a:spLocks noGrp="1"/>
          </p:cNvSpPr>
          <p:nvPr/>
        </p:nvSpPr>
        <p:spPr>
          <a:xfrm>
            <a:off x="3048000" y="2647950"/>
            <a:ext cx="647700" cy="323850"/>
          </a:xfrm>
          <a:prstGeom prst="rightArrow">
            <a:avLst/>
          </a:prstGeom>
          <a:solidFill>
            <a:srgbClr val="2563EB"/>
          </a:solidFill>
          <a:ln w="0">
            <a:solidFill>
              <a:srgbClr val="2563EB"/>
            </a:solidFill>
            <a:prstDash val="solid"/>
          </a:ln>
        </p:spPr>
        <p:txBody>
          <a:bodyPr/>
          <a:lstStyle/>
          <a:p>
            <a:endParaRPr/>
          </a:p>
        </p:txBody>
      </p:sp>
      <p:sp>
        <p:nvSpPr>
          <p:cNvPr id="6" name="右矢印 5">
            <a:extLst>
              <a:ext uri="{FF2B5EF4-FFF2-40B4-BE49-F238E27FC236}">
                <a16:creationId xmlns:a16="http://schemas.microsoft.com/office/drawing/2014/main" id="{AE686193-47DB-4E76-AAF1-B08B45F64CF7}"/>
              </a:ext>
            </a:extLst>
          </p:cNvPr>
          <p:cNvSpPr>
            <a:spLocks noGrp="1"/>
          </p:cNvSpPr>
          <p:nvPr/>
        </p:nvSpPr>
        <p:spPr>
          <a:xfrm>
            <a:off x="5810250" y="2647950"/>
            <a:ext cx="647700" cy="323850"/>
          </a:xfrm>
          <a:prstGeom prst="rightArrow">
            <a:avLst/>
          </a:prstGeom>
          <a:solidFill>
            <a:srgbClr val="2563EB"/>
          </a:solidFill>
          <a:ln w="0">
            <a:solidFill>
              <a:srgbClr val="2563EB"/>
            </a:solidFill>
            <a:prstDash val="solid"/>
          </a:ln>
        </p:spPr>
        <p:txBody>
          <a:bodyPr/>
          <a:lstStyle/>
          <a:p>
            <a:endParaRPr/>
          </a:p>
        </p:txBody>
      </p:sp>
      <p:sp>
        <p:nvSpPr>
          <p:cNvPr id="7" name="右矢印 6">
            <a:extLst>
              <a:ext uri="{FF2B5EF4-FFF2-40B4-BE49-F238E27FC236}">
                <a16:creationId xmlns:a16="http://schemas.microsoft.com/office/drawing/2014/main" id="{05D53959-0A81-4317-BE94-1983CE1DBD8B}"/>
              </a:ext>
            </a:extLst>
          </p:cNvPr>
          <p:cNvSpPr>
            <a:spLocks noGrp="1"/>
          </p:cNvSpPr>
          <p:nvPr/>
        </p:nvSpPr>
        <p:spPr>
          <a:xfrm>
            <a:off x="8239125" y="2647950"/>
            <a:ext cx="647700" cy="323850"/>
          </a:xfrm>
          <a:prstGeom prst="rightArrow">
            <a:avLst/>
          </a:prstGeom>
          <a:solidFill>
            <a:srgbClr val="10B981"/>
          </a:solidFill>
          <a:ln w="0">
            <a:solidFill>
              <a:srgbClr val="10B981"/>
            </a:solidFill>
            <a:prstDash val="solid"/>
          </a:ln>
        </p:spPr>
        <p:txBody>
          <a:bodyPr/>
          <a:lstStyle/>
          <a:p>
            <a:endParaRPr/>
          </a:p>
        </p:txBody>
      </p:sp>
      <p:sp>
        <p:nvSpPr>
          <p:cNvPr id="8" name="正方形/長方形 7">
            <a:extLst>
              <a:ext uri="{FF2B5EF4-FFF2-40B4-BE49-F238E27FC236}">
                <a16:creationId xmlns:a16="http://schemas.microsoft.com/office/drawing/2014/main" id="{8931164E-CF90-4AF3-9564-5B9A9BED57A7}"/>
              </a:ext>
            </a:extLst>
          </p:cNvPr>
          <p:cNvSpPr>
            <a:spLocks noGrp="1"/>
          </p:cNvSpPr>
          <p:nvPr/>
        </p:nvSpPr>
        <p:spPr>
          <a:xfrm>
            <a:off x="571500" y="1571625"/>
            <a:ext cx="2381250" cy="3333750"/>
          </a:xfrm>
          <a:prstGeom prst="rect">
            <a:avLst/>
          </a:prstGeom>
          <a:solidFill>
            <a:srgbClr val="F3F4F6"/>
          </a:solidFill>
          <a:ln w="9525">
            <a:solidFill>
              <a:srgbClr val="CBD5E1"/>
            </a:solidFill>
            <a:prstDash val="solid"/>
          </a:ln>
        </p:spPr>
        <p:txBody>
          <a:bodyPr/>
          <a:lstStyle/>
          <a:p>
            <a:endParaRPr/>
          </a:p>
        </p:txBody>
      </p:sp>
      <p:sp>
        <p:nvSpPr>
          <p:cNvPr id="9" name="正方形/長方形 8">
            <a:extLst>
              <a:ext uri="{FF2B5EF4-FFF2-40B4-BE49-F238E27FC236}">
                <a16:creationId xmlns:a16="http://schemas.microsoft.com/office/drawing/2014/main" id="{B497D0B8-981D-4543-BB62-3F998F6DBDE6}"/>
              </a:ext>
            </a:extLst>
          </p:cNvPr>
          <p:cNvSpPr>
            <a:spLocks noGrp="1"/>
          </p:cNvSpPr>
          <p:nvPr/>
        </p:nvSpPr>
        <p:spPr>
          <a:xfrm>
            <a:off x="800100" y="1790700"/>
            <a:ext cx="180975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乗客データ</a:t>
            </a:r>
          </a:p>
        </p:txBody>
      </p:sp>
      <p:cxnSp>
        <p:nvCxnSpPr>
          <p:cNvPr id="54" name="直線矢印コネクタ 43"/>
          <p:cNvCxnSpPr/>
          <p:nvPr/>
        </p:nvCxnSpPr>
        <p:spPr>
          <a:xfrm>
            <a:off x="800100" y="2209800"/>
            <a:ext cx="1714500" cy="0"/>
          </a:xfrm>
          <a:prstGeom prst="straightConnector1">
            <a:avLst/>
          </a:prstGeom>
          <a:ln w="9525">
            <a:solidFill>
              <a:srgbClr val="CBD5E1"/>
            </a:solidFill>
            <a:prstDash val="solid"/>
          </a:ln>
        </p:spPr>
      </p:cxnSp>
      <p:sp>
        <p:nvSpPr>
          <p:cNvPr id="11" name="正方形/長方形 10">
            <a:extLst>
              <a:ext uri="{FF2B5EF4-FFF2-40B4-BE49-F238E27FC236}">
                <a16:creationId xmlns:a16="http://schemas.microsoft.com/office/drawing/2014/main" id="{44B44796-4A5A-41BF-88C4-D8E9392134C4}"/>
              </a:ext>
            </a:extLst>
          </p:cNvPr>
          <p:cNvSpPr>
            <a:spLocks noGrp="1"/>
          </p:cNvSpPr>
          <p:nvPr/>
        </p:nvSpPr>
        <p:spPr>
          <a:xfrm>
            <a:off x="800100" y="2428875"/>
            <a:ext cx="1809750" cy="1809750"/>
          </a:xfrm>
          <a:prstGeom prst="rect">
            <a:avLst/>
          </a:prstGeom>
          <a:noFill/>
          <a:ln w="0">
            <a:noFill/>
            <a:prstDash val="solid"/>
          </a:ln>
        </p:spPr>
        <p:txBody>
          <a:bodyPr lIns="0" tIns="0" rIns="0" bIns="0" anchor="t">
            <a:noAutofit/>
          </a:bodyPr>
          <a:lstStyle/>
          <a:p>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年齢　　　 22歳</a:t>
            </a:r>
          </a:p>
          <a:p>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性別　　　 女性</a:t>
            </a:r>
          </a:p>
          <a:p>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客室等級　 1等</a:t>
            </a:r>
          </a:p>
          <a:p>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運賃　　　 71</a:t>
            </a:r>
          </a:p>
          <a:p>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同乗家族　 1人</a:t>
            </a:r>
          </a:p>
        </p:txBody>
      </p:sp>
      <p:sp>
        <p:nvSpPr>
          <p:cNvPr id="12" name="正方形/長方形 11">
            <a:extLst>
              <a:ext uri="{FF2B5EF4-FFF2-40B4-BE49-F238E27FC236}">
                <a16:creationId xmlns:a16="http://schemas.microsoft.com/office/drawing/2014/main" id="{A768E5A7-47A4-4A91-9213-ADCE22691679}"/>
              </a:ext>
            </a:extLst>
          </p:cNvPr>
          <p:cNvSpPr>
            <a:spLocks noGrp="1"/>
          </p:cNvSpPr>
          <p:nvPr/>
        </p:nvSpPr>
        <p:spPr>
          <a:xfrm>
            <a:off x="800100" y="4438650"/>
            <a:ext cx="1714500" cy="238125"/>
          </a:xfrm>
          <a:prstGeom prst="rect">
            <a:avLst/>
          </a:prstGeom>
          <a:noFill/>
          <a:ln w="0">
            <a:noFill/>
            <a:prstDash val="solid"/>
          </a:ln>
        </p:spPr>
        <p:txBody>
          <a:bodyPr lIns="0" tIns="0" rIns="0" bIns="0" anchor="t">
            <a:noAutofit/>
          </a:bodyPr>
          <a:lstStyle/>
          <a:p>
            <a:pPr algn="l">
              <a:buNone/>
              <a:defRPr sz="1125" b="0">
                <a:solidFill>
                  <a:srgbClr val="64748B"/>
                </a:solidFill>
                <a:latin typeface="Yu Gothic"/>
                <a:ea typeface="Yu Gothic"/>
                <a:cs typeface="Yu Gothic"/>
              </a:defRPr>
            </a:pPr>
            <a:r>
              <a:rPr sz="1125" b="0">
                <a:solidFill>
                  <a:srgbClr val="64748B"/>
                </a:solidFill>
                <a:latin typeface="Yu Gothic"/>
                <a:ea typeface="Yu Gothic"/>
                <a:cs typeface="Yu Gothic"/>
              </a:rPr>
              <a:t>Titanic：模式例</a:t>
            </a:r>
          </a:p>
        </p:txBody>
      </p:sp>
      <p:sp>
        <p:nvSpPr>
          <p:cNvPr id="13" name="正方形/長方形 12">
            <a:extLst>
              <a:ext uri="{FF2B5EF4-FFF2-40B4-BE49-F238E27FC236}">
                <a16:creationId xmlns:a16="http://schemas.microsoft.com/office/drawing/2014/main" id="{86FE31E9-A27A-4303-A695-EBD1BE89B854}"/>
              </a:ext>
            </a:extLst>
          </p:cNvPr>
          <p:cNvSpPr>
            <a:spLocks noGrp="1"/>
          </p:cNvSpPr>
          <p:nvPr/>
        </p:nvSpPr>
        <p:spPr>
          <a:xfrm>
            <a:off x="3714750" y="2143125"/>
            <a:ext cx="2000250" cy="1333500"/>
          </a:xfrm>
          <a:prstGeom prst="rect">
            <a:avLst/>
          </a:prstGeom>
          <a:solidFill>
            <a:srgbClr val="111827"/>
          </a:solidFill>
          <a:ln w="0">
            <a:solidFill>
              <a:srgbClr val="111827"/>
            </a:solidFill>
            <a:prstDash val="solid"/>
          </a:ln>
        </p:spPr>
        <p:txBody>
          <a:bodyPr/>
          <a:lstStyle/>
          <a:p>
            <a:endParaRPr/>
          </a:p>
        </p:txBody>
      </p:sp>
      <p:sp>
        <p:nvSpPr>
          <p:cNvPr id="14" name="正方形/長方形 13">
            <a:extLst>
              <a:ext uri="{FF2B5EF4-FFF2-40B4-BE49-F238E27FC236}">
                <a16:creationId xmlns:a16="http://schemas.microsoft.com/office/drawing/2014/main" id="{5AC9DA3E-7593-4816-9049-050F7332A8C4}"/>
              </a:ext>
            </a:extLst>
          </p:cNvPr>
          <p:cNvSpPr>
            <a:spLocks noGrp="1"/>
          </p:cNvSpPr>
          <p:nvPr/>
        </p:nvSpPr>
        <p:spPr>
          <a:xfrm>
            <a:off x="3714750" y="2400300"/>
            <a:ext cx="2000250" cy="838200"/>
          </a:xfrm>
          <a:prstGeom prst="rect">
            <a:avLst/>
          </a:prstGeom>
          <a:noFill/>
          <a:ln w="0">
            <a:noFill/>
            <a:prstDash val="solid"/>
          </a:ln>
        </p:spPr>
        <p:txBody>
          <a:bodyPr lIns="0" tIns="0" rIns="0" bIns="0" anchor="ctr">
            <a:noAutofit/>
          </a:bodyPr>
          <a:lstStyle/>
          <a:p>
            <a:pPr algn="ct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BLACK</a:t>
            </a:r>
          </a:p>
          <a:p>
            <a:pPr algn="ct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BOX</a:t>
            </a:r>
          </a:p>
        </p:txBody>
      </p:sp>
      <p:sp>
        <p:nvSpPr>
          <p:cNvPr id="15" name="正方形/長方形 14">
            <a:extLst>
              <a:ext uri="{FF2B5EF4-FFF2-40B4-BE49-F238E27FC236}">
                <a16:creationId xmlns:a16="http://schemas.microsoft.com/office/drawing/2014/main" id="{8BFB6DB6-9605-4D71-A280-1CBC05DB5B75}"/>
              </a:ext>
            </a:extLst>
          </p:cNvPr>
          <p:cNvSpPr>
            <a:spLocks noGrp="1"/>
          </p:cNvSpPr>
          <p:nvPr/>
        </p:nvSpPr>
        <p:spPr>
          <a:xfrm>
            <a:off x="6477000" y="1952625"/>
            <a:ext cx="1666875" cy="1714500"/>
          </a:xfrm>
          <a:prstGeom prst="rect">
            <a:avLst/>
          </a:prstGeom>
          <a:solidFill>
            <a:srgbClr val="DBEAFE"/>
          </a:solidFill>
          <a:ln w="19050">
            <a:solidFill>
              <a:srgbClr val="2563EB"/>
            </a:solidFill>
            <a:prstDash val="solid"/>
          </a:ln>
        </p:spPr>
        <p:txBody>
          <a:bodyPr/>
          <a:lstStyle/>
          <a:p>
            <a:endParaRPr/>
          </a:p>
        </p:txBody>
      </p:sp>
      <p:sp>
        <p:nvSpPr>
          <p:cNvPr id="16" name="正方形/長方形 15">
            <a:extLst>
              <a:ext uri="{FF2B5EF4-FFF2-40B4-BE49-F238E27FC236}">
                <a16:creationId xmlns:a16="http://schemas.microsoft.com/office/drawing/2014/main" id="{3049682F-0280-4316-BDBB-8BDF1272EFE5}"/>
              </a:ext>
            </a:extLst>
          </p:cNvPr>
          <p:cNvSpPr>
            <a:spLocks noGrp="1"/>
          </p:cNvSpPr>
          <p:nvPr/>
        </p:nvSpPr>
        <p:spPr>
          <a:xfrm>
            <a:off x="6705600" y="2171700"/>
            <a:ext cx="1238250" cy="285750"/>
          </a:xfrm>
          <a:prstGeom prst="rect">
            <a:avLst/>
          </a:prstGeom>
          <a:noFill/>
          <a:ln w="0">
            <a:noFill/>
            <a:prstDash val="solid"/>
          </a:ln>
        </p:spPr>
        <p:txBody>
          <a:bodyPr lIns="0" tIns="0" rIns="0" bIns="0" anchor="t">
            <a:noAutofit/>
          </a:bodyPr>
          <a:lstStyle/>
          <a:p>
            <a:pPr algn="ctr">
              <a:buNone/>
              <a:defRPr sz="1650" b="1">
                <a:solidFill>
                  <a:srgbClr val="2563EB"/>
                </a:solidFill>
                <a:latin typeface="Yu Gothic"/>
                <a:ea typeface="Yu Gothic"/>
                <a:cs typeface="Yu Gothic"/>
              </a:defRPr>
            </a:pPr>
            <a:r>
              <a:rPr sz="1650" b="1">
                <a:solidFill>
                  <a:srgbClr val="2563EB"/>
                </a:solidFill>
                <a:latin typeface="Yu Gothic"/>
                <a:ea typeface="Yu Gothic"/>
                <a:cs typeface="Yu Gothic"/>
              </a:rPr>
              <a:t>予測</a:t>
            </a:r>
          </a:p>
        </p:txBody>
      </p:sp>
      <p:sp>
        <p:nvSpPr>
          <p:cNvPr id="17" name="正方形/長方形 16">
            <a:extLst>
              <a:ext uri="{FF2B5EF4-FFF2-40B4-BE49-F238E27FC236}">
                <a16:creationId xmlns:a16="http://schemas.microsoft.com/office/drawing/2014/main" id="{D8C1BE27-8892-4CD9-8EFA-DFB9BB0FD15F}"/>
              </a:ext>
            </a:extLst>
          </p:cNvPr>
          <p:cNvSpPr>
            <a:spLocks noGrp="1"/>
          </p:cNvSpPr>
          <p:nvPr/>
        </p:nvSpPr>
        <p:spPr>
          <a:xfrm>
            <a:off x="6705600" y="2609850"/>
            <a:ext cx="1238250" cy="266700"/>
          </a:xfrm>
          <a:prstGeom prst="rect">
            <a:avLst/>
          </a:prstGeom>
          <a:noFill/>
          <a:ln w="0">
            <a:noFill/>
            <a:prstDash val="solid"/>
          </a:ln>
        </p:spPr>
        <p:txBody>
          <a:bodyPr lIns="0" tIns="0" rIns="0" bIns="0" anchor="t">
            <a:noAutofit/>
          </a:bodyPr>
          <a:lstStyle/>
          <a:p>
            <a:pPr algn="ctr">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a:t>
            </a:r>
          </a:p>
        </p:txBody>
      </p:sp>
      <p:sp>
        <p:nvSpPr>
          <p:cNvPr id="18" name="正方形/長方形 17">
            <a:extLst>
              <a:ext uri="{FF2B5EF4-FFF2-40B4-BE49-F238E27FC236}">
                <a16:creationId xmlns:a16="http://schemas.microsoft.com/office/drawing/2014/main" id="{46A41101-F07F-4960-89B3-8AF86D00DFB1}"/>
              </a:ext>
            </a:extLst>
          </p:cNvPr>
          <p:cNvSpPr>
            <a:spLocks noGrp="1"/>
          </p:cNvSpPr>
          <p:nvPr/>
        </p:nvSpPr>
        <p:spPr>
          <a:xfrm>
            <a:off x="6705600" y="2905125"/>
            <a:ext cx="1238250" cy="457200"/>
          </a:xfrm>
          <a:prstGeom prst="rect">
            <a:avLst/>
          </a:prstGeom>
          <a:noFill/>
          <a:ln w="0">
            <a:noFill/>
            <a:prstDash val="solid"/>
          </a:ln>
        </p:spPr>
        <p:txBody>
          <a:bodyPr lIns="0" tIns="0" rIns="0" bIns="0" anchor="t">
            <a:noAutofit/>
          </a:bodyPr>
          <a:lstStyle/>
          <a:p>
            <a:pPr algn="ctr">
              <a:buNone/>
              <a:defRPr sz="2850" b="1">
                <a:solidFill>
                  <a:srgbClr val="2563EB"/>
                </a:solidFill>
                <a:latin typeface="Yu Gothic"/>
                <a:ea typeface="Yu Gothic"/>
                <a:cs typeface="Yu Gothic"/>
              </a:defRPr>
            </a:pPr>
            <a:r>
              <a:rPr sz="2850" b="1">
                <a:solidFill>
                  <a:srgbClr val="2563EB"/>
                </a:solidFill>
                <a:latin typeface="Yu Gothic"/>
                <a:ea typeface="Yu Gothic"/>
                <a:cs typeface="Yu Gothic"/>
              </a:rPr>
              <a:t>0.78</a:t>
            </a:r>
          </a:p>
        </p:txBody>
      </p:sp>
      <p:sp>
        <p:nvSpPr>
          <p:cNvPr id="19" name="正方形/長方形 18">
            <a:extLst>
              <a:ext uri="{FF2B5EF4-FFF2-40B4-BE49-F238E27FC236}">
                <a16:creationId xmlns:a16="http://schemas.microsoft.com/office/drawing/2014/main" id="{F5C34359-50FF-461B-9A77-DFC05B55AC31}"/>
              </a:ext>
            </a:extLst>
          </p:cNvPr>
          <p:cNvSpPr>
            <a:spLocks noGrp="1"/>
          </p:cNvSpPr>
          <p:nvPr/>
        </p:nvSpPr>
        <p:spPr>
          <a:xfrm>
            <a:off x="9096375" y="1592226"/>
            <a:ext cx="2667000" cy="3333750"/>
          </a:xfrm>
          <a:prstGeom prst="rect">
            <a:avLst/>
          </a:prstGeom>
          <a:solidFill>
            <a:srgbClr val="D1FAE5"/>
          </a:solidFill>
          <a:ln w="19050">
            <a:solidFill>
              <a:srgbClr val="10B981"/>
            </a:solidFill>
            <a:prstDash val="solid"/>
          </a:ln>
        </p:spPr>
        <p:txBody>
          <a:bodyPr/>
          <a:lstStyle/>
          <a:p>
            <a:endParaRPr/>
          </a:p>
        </p:txBody>
      </p:sp>
      <p:sp>
        <p:nvSpPr>
          <p:cNvPr id="20" name="正方形/長方形 19">
            <a:extLst>
              <a:ext uri="{FF2B5EF4-FFF2-40B4-BE49-F238E27FC236}">
                <a16:creationId xmlns:a16="http://schemas.microsoft.com/office/drawing/2014/main" id="{3D791531-0807-49A4-AD7B-AF6394293BA8}"/>
              </a:ext>
            </a:extLst>
          </p:cNvPr>
          <p:cNvSpPr>
            <a:spLocks noGrp="1"/>
          </p:cNvSpPr>
          <p:nvPr/>
        </p:nvSpPr>
        <p:spPr>
          <a:xfrm>
            <a:off x="9201150" y="1790700"/>
            <a:ext cx="2171700" cy="323850"/>
          </a:xfrm>
          <a:prstGeom prst="rect">
            <a:avLst/>
          </a:prstGeom>
          <a:noFill/>
          <a:ln w="0">
            <a:noFill/>
            <a:prstDash val="solid"/>
          </a:ln>
        </p:spPr>
        <p:txBody>
          <a:bodyPr lIns="0" tIns="0" rIns="0" bIns="0" anchor="t">
            <a:noAutofit/>
          </a:bodyPr>
          <a:lstStyle/>
          <a:p>
            <a:pPr algn="l">
              <a:buNone/>
              <a:defRPr sz="1800" b="1">
                <a:solidFill>
                  <a:srgbClr val="10B981"/>
                </a:solidFill>
                <a:latin typeface="Yu Gothic"/>
                <a:ea typeface="Yu Gothic"/>
                <a:cs typeface="Yu Gothic"/>
              </a:defRPr>
            </a:pPr>
            <a:r>
              <a:rPr sz="1800" b="1">
                <a:solidFill>
                  <a:srgbClr val="10B981"/>
                </a:solidFill>
                <a:latin typeface="Yu Gothic"/>
                <a:ea typeface="Yu Gothic"/>
                <a:cs typeface="Yu Gothic"/>
              </a:rPr>
              <a:t>XAIによる説明</a:t>
            </a:r>
          </a:p>
        </p:txBody>
      </p:sp>
      <p:sp>
        <p:nvSpPr>
          <p:cNvPr id="21" name="正方形/長方形 20">
            <a:extLst>
              <a:ext uri="{FF2B5EF4-FFF2-40B4-BE49-F238E27FC236}">
                <a16:creationId xmlns:a16="http://schemas.microsoft.com/office/drawing/2014/main" id="{B2CDACAB-B32A-48B2-B151-45CF7238AAFB}"/>
              </a:ext>
            </a:extLst>
          </p:cNvPr>
          <p:cNvSpPr>
            <a:spLocks noGrp="1"/>
          </p:cNvSpPr>
          <p:nvPr/>
        </p:nvSpPr>
        <p:spPr>
          <a:xfrm>
            <a:off x="9201150" y="2381250"/>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運賃</a:t>
            </a:r>
          </a:p>
        </p:txBody>
      </p:sp>
      <p:sp>
        <p:nvSpPr>
          <p:cNvPr id="22" name="正方形/長方形 21">
            <a:extLst>
              <a:ext uri="{FF2B5EF4-FFF2-40B4-BE49-F238E27FC236}">
                <a16:creationId xmlns:a16="http://schemas.microsoft.com/office/drawing/2014/main" id="{F97DFCA5-FDF9-4F44-8E7D-2216B29BCB65}"/>
              </a:ext>
            </a:extLst>
          </p:cNvPr>
          <p:cNvSpPr>
            <a:spLocks noGrp="1"/>
          </p:cNvSpPr>
          <p:nvPr/>
        </p:nvSpPr>
        <p:spPr>
          <a:xfrm>
            <a:off x="10001250" y="2400300"/>
            <a:ext cx="1095375" cy="190500"/>
          </a:xfrm>
          <a:prstGeom prst="rect">
            <a:avLst/>
          </a:prstGeom>
          <a:solidFill>
            <a:srgbClr val="10B981"/>
          </a:solidFill>
          <a:ln w="0">
            <a:solidFill>
              <a:srgbClr val="10B981"/>
            </a:solidFill>
            <a:prstDash val="solid"/>
          </a:ln>
        </p:spPr>
        <p:txBody>
          <a:bodyPr/>
          <a:lstStyle/>
          <a:p>
            <a:endParaRPr/>
          </a:p>
        </p:txBody>
      </p:sp>
      <p:sp>
        <p:nvSpPr>
          <p:cNvPr id="23" name="正方形/長方形 22">
            <a:extLst>
              <a:ext uri="{FF2B5EF4-FFF2-40B4-BE49-F238E27FC236}">
                <a16:creationId xmlns:a16="http://schemas.microsoft.com/office/drawing/2014/main" id="{E70AD3E5-E73D-443A-822E-19D877E007F7}"/>
              </a:ext>
            </a:extLst>
          </p:cNvPr>
          <p:cNvSpPr>
            <a:spLocks noGrp="1"/>
          </p:cNvSpPr>
          <p:nvPr/>
        </p:nvSpPr>
        <p:spPr>
          <a:xfrm>
            <a:off x="11049000" y="2352675"/>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+0.50</a:t>
            </a:r>
          </a:p>
        </p:txBody>
      </p:sp>
      <p:sp>
        <p:nvSpPr>
          <p:cNvPr id="24" name="正方形/長方形 23">
            <a:extLst>
              <a:ext uri="{FF2B5EF4-FFF2-40B4-BE49-F238E27FC236}">
                <a16:creationId xmlns:a16="http://schemas.microsoft.com/office/drawing/2014/main" id="{40B6ED12-1C8F-4CBA-8199-C5EC46BA698C}"/>
              </a:ext>
            </a:extLst>
          </p:cNvPr>
          <p:cNvSpPr>
            <a:spLocks noGrp="1"/>
          </p:cNvSpPr>
          <p:nvPr/>
        </p:nvSpPr>
        <p:spPr>
          <a:xfrm>
            <a:off x="9201150" y="2876550"/>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年齢</a:t>
            </a:r>
          </a:p>
        </p:txBody>
      </p:sp>
      <p:sp>
        <p:nvSpPr>
          <p:cNvPr id="25" name="正方形/長方形 24">
            <a:extLst>
              <a:ext uri="{FF2B5EF4-FFF2-40B4-BE49-F238E27FC236}">
                <a16:creationId xmlns:a16="http://schemas.microsoft.com/office/drawing/2014/main" id="{D45AEC52-0ABD-4519-86DA-4DC459446CC6}"/>
              </a:ext>
            </a:extLst>
          </p:cNvPr>
          <p:cNvSpPr>
            <a:spLocks noGrp="1"/>
          </p:cNvSpPr>
          <p:nvPr/>
        </p:nvSpPr>
        <p:spPr>
          <a:xfrm>
            <a:off x="10001250" y="2895600"/>
            <a:ext cx="428625" cy="190500"/>
          </a:xfrm>
          <a:prstGeom prst="rect">
            <a:avLst/>
          </a:prstGeom>
          <a:solidFill>
            <a:srgbClr val="EF4444"/>
          </a:solidFill>
          <a:ln w="0">
            <a:solidFill>
              <a:srgbClr val="EF4444"/>
            </a:solidFill>
            <a:prstDash val="solid"/>
          </a:ln>
        </p:spPr>
        <p:txBody>
          <a:bodyPr/>
          <a:lstStyle/>
          <a:p>
            <a:endParaRPr/>
          </a:p>
        </p:txBody>
      </p:sp>
      <p:sp>
        <p:nvSpPr>
          <p:cNvPr id="26" name="正方形/長方形 25">
            <a:extLst>
              <a:ext uri="{FF2B5EF4-FFF2-40B4-BE49-F238E27FC236}">
                <a16:creationId xmlns:a16="http://schemas.microsoft.com/office/drawing/2014/main" id="{ED9954F1-D07B-40B3-B38A-262D2E4FBC7B}"/>
              </a:ext>
            </a:extLst>
          </p:cNvPr>
          <p:cNvSpPr>
            <a:spLocks noGrp="1"/>
          </p:cNvSpPr>
          <p:nvPr/>
        </p:nvSpPr>
        <p:spPr>
          <a:xfrm>
            <a:off x="11049000" y="2847975"/>
            <a:ext cx="571500" cy="266700"/>
          </a:xfrm>
          <a:prstGeom prst="rect">
            <a:avLst/>
          </a:prstGeom>
          <a:noFill/>
          <a:ln w="0">
            <a:noFill/>
            <a:prstDash val="solid"/>
          </a:ln>
        </p:spPr>
        <p:txBody>
          <a:bodyPr lIns="0" tIns="0" rIns="0" bIns="0" anchor="t">
            <a:noAutofit/>
          </a:bodyPr>
          <a:lstStyle/>
          <a:p>
            <a:pPr algn="r">
              <a:buNone/>
              <a:defRPr sz="1275" b="1">
                <a:solidFill>
                  <a:srgbClr val="EF4444"/>
                </a:solidFill>
                <a:latin typeface="Yu Gothic"/>
                <a:ea typeface="Yu Gothic"/>
                <a:cs typeface="Yu Gothic"/>
              </a:defRPr>
            </a:pPr>
            <a:r>
              <a:rPr sz="1275" b="1">
                <a:solidFill>
                  <a:srgbClr val="EF4444"/>
                </a:solidFill>
                <a:latin typeface="Yu Gothic"/>
                <a:ea typeface="Yu Gothic"/>
                <a:cs typeface="Yu Gothic"/>
              </a:rPr>
              <a:t>−0.20</a:t>
            </a:r>
          </a:p>
        </p:txBody>
      </p:sp>
      <p:sp>
        <p:nvSpPr>
          <p:cNvPr id="27" name="正方形/長方形 26">
            <a:extLst>
              <a:ext uri="{FF2B5EF4-FFF2-40B4-BE49-F238E27FC236}">
                <a16:creationId xmlns:a16="http://schemas.microsoft.com/office/drawing/2014/main" id="{A5E6283C-2E00-489B-ABF3-5A35906836CD}"/>
              </a:ext>
            </a:extLst>
          </p:cNvPr>
          <p:cNvSpPr>
            <a:spLocks noGrp="1"/>
          </p:cNvSpPr>
          <p:nvPr/>
        </p:nvSpPr>
        <p:spPr>
          <a:xfrm>
            <a:off x="9201150" y="3371850"/>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客室等級</a:t>
            </a:r>
          </a:p>
        </p:txBody>
      </p:sp>
      <p:sp>
        <p:nvSpPr>
          <p:cNvPr id="28" name="正方形/長方形 27">
            <a:extLst>
              <a:ext uri="{FF2B5EF4-FFF2-40B4-BE49-F238E27FC236}">
                <a16:creationId xmlns:a16="http://schemas.microsoft.com/office/drawing/2014/main" id="{D34BE9C8-4D23-410F-B238-3B064869BB24}"/>
              </a:ext>
            </a:extLst>
          </p:cNvPr>
          <p:cNvSpPr>
            <a:spLocks noGrp="1"/>
          </p:cNvSpPr>
          <p:nvPr/>
        </p:nvSpPr>
        <p:spPr>
          <a:xfrm>
            <a:off x="10001250" y="3390900"/>
            <a:ext cx="666750" cy="190500"/>
          </a:xfrm>
          <a:prstGeom prst="rect">
            <a:avLst/>
          </a:prstGeom>
          <a:solidFill>
            <a:srgbClr val="10B981"/>
          </a:solidFill>
          <a:ln w="0">
            <a:solidFill>
              <a:srgbClr val="10B981"/>
            </a:solidFill>
            <a:prstDash val="solid"/>
          </a:ln>
        </p:spPr>
        <p:txBody>
          <a:bodyPr/>
          <a:lstStyle/>
          <a:p>
            <a:endParaRPr/>
          </a:p>
        </p:txBody>
      </p:sp>
      <p:sp>
        <p:nvSpPr>
          <p:cNvPr id="29" name="正方形/長方形 28">
            <a:extLst>
              <a:ext uri="{FF2B5EF4-FFF2-40B4-BE49-F238E27FC236}">
                <a16:creationId xmlns:a16="http://schemas.microsoft.com/office/drawing/2014/main" id="{3F26D98E-9165-4B33-AAD0-E42B6CE4B5A8}"/>
              </a:ext>
            </a:extLst>
          </p:cNvPr>
          <p:cNvSpPr>
            <a:spLocks noGrp="1"/>
          </p:cNvSpPr>
          <p:nvPr/>
        </p:nvSpPr>
        <p:spPr>
          <a:xfrm>
            <a:off x="11049000" y="3343275"/>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+0.15</a:t>
            </a:r>
          </a:p>
        </p:txBody>
      </p:sp>
      <p:sp>
        <p:nvSpPr>
          <p:cNvPr id="30" name="正方形/長方形 29">
            <a:extLst>
              <a:ext uri="{FF2B5EF4-FFF2-40B4-BE49-F238E27FC236}">
                <a16:creationId xmlns:a16="http://schemas.microsoft.com/office/drawing/2014/main" id="{9BB0A2F1-247F-49FA-AF82-3E41CB5F342A}"/>
              </a:ext>
            </a:extLst>
          </p:cNvPr>
          <p:cNvSpPr>
            <a:spLocks noGrp="1"/>
          </p:cNvSpPr>
          <p:nvPr/>
        </p:nvSpPr>
        <p:spPr>
          <a:xfrm>
            <a:off x="9201150" y="4171950"/>
            <a:ext cx="2171700" cy="323850"/>
          </a:xfrm>
          <a:prstGeom prst="rect">
            <a:avLst/>
          </a:prstGeom>
          <a:noFill/>
          <a:ln w="0">
            <a:noFill/>
            <a:prstDash val="solid"/>
          </a:ln>
        </p:spPr>
        <p:txBody>
          <a:bodyPr lIns="0" tIns="0" rIns="0" bIns="0" anchor="t">
            <a:noAutofit/>
          </a:bodyPr>
          <a:lstStyle/>
          <a:p>
            <a:pPr algn="ctr">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理由を検査できる</a:t>
            </a:r>
          </a:p>
        </p:txBody>
      </p:sp>
      <p:sp>
        <p:nvSpPr>
          <p:cNvPr id="31" name="正方形/長方形 30">
            <a:extLst>
              <a:ext uri="{FF2B5EF4-FFF2-40B4-BE49-F238E27FC236}">
                <a16:creationId xmlns:a16="http://schemas.microsoft.com/office/drawing/2014/main" id="{CA1414C5-B0B9-4050-AC86-9658D8697E9E}"/>
              </a:ext>
            </a:extLst>
          </p:cNvPr>
          <p:cNvSpPr>
            <a:spLocks noGrp="1"/>
          </p:cNvSpPr>
          <p:nvPr/>
        </p:nvSpPr>
        <p:spPr>
          <a:xfrm>
            <a:off x="571500" y="5286375"/>
            <a:ext cx="11049000" cy="876300"/>
          </a:xfrm>
          <a:prstGeom prst="rect">
            <a:avLst/>
          </a:prstGeom>
          <a:solidFill>
            <a:srgbClr val="FEF3C7"/>
          </a:solidFill>
          <a:ln w="19050">
            <a:solidFill>
              <a:srgbClr val="F59E0B"/>
            </a:solidFill>
            <a:prstDash val="solid"/>
          </a:ln>
        </p:spPr>
        <p:txBody>
          <a:bodyPr/>
          <a:lstStyle/>
          <a:p>
            <a:endParaRPr/>
          </a:p>
        </p:txBody>
      </p:sp>
      <p:sp>
        <p:nvSpPr>
          <p:cNvPr id="32" name="正方形/長方形 31">
            <a:extLst>
              <a:ext uri="{FF2B5EF4-FFF2-40B4-BE49-F238E27FC236}">
                <a16:creationId xmlns:a16="http://schemas.microsoft.com/office/drawing/2014/main" id="{9063D5BB-7A88-41D7-9D51-F2AED88E2C24}"/>
              </a:ext>
            </a:extLst>
          </p:cNvPr>
          <p:cNvSpPr>
            <a:spLocks noGrp="1"/>
          </p:cNvSpPr>
          <p:nvPr/>
        </p:nvSpPr>
        <p:spPr>
          <a:xfrm>
            <a:off x="800100" y="5524500"/>
            <a:ext cx="1095375" cy="323850"/>
          </a:xfrm>
          <a:prstGeom prst="rect">
            <a:avLst/>
          </a:prstGeom>
          <a:noFill/>
          <a:ln w="0">
            <a:noFill/>
            <a:prstDash val="solid"/>
          </a:ln>
        </p:spPr>
        <p:txBody>
          <a:bodyPr lIns="0" tIns="0" rIns="0" bIns="0" anchor="t">
            <a:noAutofit/>
          </a:bodyPr>
          <a:lstStyle/>
          <a:p>
            <a:pPr algn="l">
              <a:buNone/>
              <a:defRPr sz="1650" b="1">
                <a:solidFill>
                  <a:srgbClr val="F59E0B"/>
                </a:solidFill>
                <a:latin typeface="Yu Gothic"/>
                <a:ea typeface="Yu Gothic"/>
                <a:cs typeface="Yu Gothic"/>
              </a:defRPr>
            </a:pPr>
            <a:r>
              <a:rPr sz="1650" b="1">
                <a:solidFill>
                  <a:srgbClr val="F59E0B"/>
                </a:solidFill>
                <a:latin typeface="Yu Gothic"/>
                <a:ea typeface="Yu Gothic"/>
                <a:cs typeface="Yu Gothic"/>
              </a:rPr>
              <a:t>DEBUG</a:t>
            </a:r>
          </a:p>
        </p:txBody>
      </p:sp>
      <p:sp>
        <p:nvSpPr>
          <p:cNvPr id="33" name="正方形/長方形 32">
            <a:extLst>
              <a:ext uri="{FF2B5EF4-FFF2-40B4-BE49-F238E27FC236}">
                <a16:creationId xmlns:a16="http://schemas.microsoft.com/office/drawing/2014/main" id="{9D98D46C-BD72-4EEC-B32D-66DE409B6D0D}"/>
              </a:ext>
            </a:extLst>
          </p:cNvPr>
          <p:cNvSpPr>
            <a:spLocks noGrp="1"/>
          </p:cNvSpPr>
          <p:nvPr/>
        </p:nvSpPr>
        <p:spPr>
          <a:xfrm>
            <a:off x="2000250" y="5467350"/>
            <a:ext cx="9191625" cy="476250"/>
          </a:xfrm>
          <a:prstGeom prst="rect">
            <a:avLst/>
          </a:prstGeom>
          <a:noFill/>
          <a:ln w="0">
            <a:noFill/>
            <a:prstDash val="solid"/>
          </a:ln>
        </p:spPr>
        <p:txBody>
          <a:bodyPr lIns="0" tIns="0" rIns="0" bIns="0" anchor="ctr">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説明に「乗客ID」など本質的でない特徴が大きく現れたら、モデルの誤学習を疑う</a:t>
            </a:r>
          </a:p>
        </p:txBody>
      </p:sp>
      <p:sp>
        <p:nvSpPr>
          <p:cNvPr id="34" name="正方形/長方形 33">
            <a:extLst>
              <a:ext uri="{FF2B5EF4-FFF2-40B4-BE49-F238E27FC236}">
                <a16:creationId xmlns:a16="http://schemas.microsoft.com/office/drawing/2014/main" id="{97DD4A5F-769E-452E-9F41-363E0F8CEAEA}"/>
              </a:ext>
            </a:extLst>
          </p:cNvPr>
          <p:cNvSpPr>
            <a:spLocks noGrp="1"/>
          </p:cNvSpPr>
          <p:nvPr/>
        </p:nvSpPr>
        <p:spPr>
          <a:xfrm>
            <a:off x="7953375" y="6191250"/>
            <a:ext cx="3238500" cy="19050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 確率と特徴量の重みは説明用の模式値</a:t>
            </a:r>
          </a:p>
        </p:txBody>
      </p:sp>
    </p:spTree>
    <p:extLst>
      <p:ext uri="{BB962C8B-B14F-4D97-AF65-F5344CB8AC3E}">
        <p14:creationId xmlns:p14="http://schemas.microsoft.com/office/powerpoint/2010/main" val="1565908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正方形/長方形 37">
            <a:extLst>
              <a:ext uri="{FF2B5EF4-FFF2-40B4-BE49-F238E27FC236}">
                <a16:creationId xmlns:a16="http://schemas.microsoft.com/office/drawing/2014/main" id="{A5CABAE7-EE96-43F6-8798-508681155297}"/>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3-title">
            <a:extLst>
              <a:ext uri="{FF2B5EF4-FFF2-40B4-BE49-F238E27FC236}">
                <a16:creationId xmlns:a16="http://schemas.microsoft.com/office/drawing/2014/main" id="{F2977694-D0B3-41BB-BD59-7C652764FDBD}"/>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LIMEは予測点の周辺だけを単純化する</a:t>
            </a:r>
          </a:p>
        </p:txBody>
      </p:sp>
      <p:sp>
        <p:nvSpPr>
          <p:cNvPr id="3" name="slide-3-subtitle">
            <a:extLst>
              <a:ext uri="{FF2B5EF4-FFF2-40B4-BE49-F238E27FC236}">
                <a16:creationId xmlns:a16="http://schemas.microsoft.com/office/drawing/2014/main" id="{6B6655B7-CD93-4875-A1A0-9D941BBD9EA5}"/>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複雑なモデル全体ではなく、説明したい入力の近くを近似する</a:t>
            </a:r>
          </a:p>
        </p:txBody>
      </p:sp>
      <p:sp>
        <p:nvSpPr>
          <p:cNvPr id="4" name="正方形/長方形 3">
            <a:extLst>
              <a:ext uri="{FF2B5EF4-FFF2-40B4-BE49-F238E27FC236}">
                <a16:creationId xmlns:a16="http://schemas.microsoft.com/office/drawing/2014/main" id="{E1E3F606-8356-4F3F-B718-A0BD268112BC}"/>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03</a:t>
            </a:r>
          </a:p>
        </p:txBody>
      </p:sp>
      <p:sp>
        <p:nvSpPr>
          <p:cNvPr id="5" name="正方形/長方形 4">
            <a:extLst>
              <a:ext uri="{FF2B5EF4-FFF2-40B4-BE49-F238E27FC236}">
                <a16:creationId xmlns:a16="http://schemas.microsoft.com/office/drawing/2014/main" id="{74BDF188-2E3E-46A9-8518-B56A08BC8684}"/>
              </a:ext>
            </a:extLst>
          </p:cNvPr>
          <p:cNvSpPr>
            <a:spLocks noGrp="1"/>
          </p:cNvSpPr>
          <p:nvPr/>
        </p:nvSpPr>
        <p:spPr>
          <a:xfrm>
            <a:off x="590550" y="1657350"/>
            <a:ext cx="2857500" cy="457200"/>
          </a:xfrm>
          <a:prstGeom prst="rect">
            <a:avLst/>
          </a:prstGeom>
          <a:noFill/>
          <a:ln w="0">
            <a:noFill/>
            <a:prstDash val="solid"/>
          </a:ln>
        </p:spPr>
        <p:txBody>
          <a:bodyPr lIns="0" tIns="0" rIns="0" bIns="0" anchor="t">
            <a:noAutofit/>
          </a:bodyPr>
          <a:lstStyle/>
          <a:p>
            <a:pPr algn="l">
              <a:buNone/>
              <a:defRPr sz="2550" b="1">
                <a:solidFill>
                  <a:srgbClr val="2563EB"/>
                </a:solidFill>
                <a:latin typeface="Yu Gothic"/>
                <a:ea typeface="Yu Gothic"/>
                <a:cs typeface="Yu Gothic"/>
              </a:defRPr>
            </a:pPr>
            <a:r>
              <a:rPr sz="2550" b="1">
                <a:solidFill>
                  <a:srgbClr val="2563EB"/>
                </a:solidFill>
                <a:latin typeface="Yu Gothic"/>
                <a:ea typeface="Yu Gothic"/>
                <a:cs typeface="Yu Gothic"/>
              </a:rPr>
              <a:t>LIME</a:t>
            </a:r>
          </a:p>
        </p:txBody>
      </p:sp>
      <p:sp>
        <p:nvSpPr>
          <p:cNvPr id="6" name="正方形/長方形 5">
            <a:extLst>
              <a:ext uri="{FF2B5EF4-FFF2-40B4-BE49-F238E27FC236}">
                <a16:creationId xmlns:a16="http://schemas.microsoft.com/office/drawing/2014/main" id="{25BC8E6A-AD03-4BC1-8F71-70EF8E678E5D}"/>
              </a:ext>
            </a:extLst>
          </p:cNvPr>
          <p:cNvSpPr>
            <a:spLocks noGrp="1"/>
          </p:cNvSpPr>
          <p:nvPr/>
        </p:nvSpPr>
        <p:spPr>
          <a:xfrm>
            <a:off x="590550" y="2238375"/>
            <a:ext cx="3238500" cy="171450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Local</a:t>
            </a:r>
          </a:p>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Interpretable</a:t>
            </a:r>
          </a:p>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Model-agnostic</a:t>
            </a:r>
          </a:p>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Explanations</a:t>
            </a:r>
          </a:p>
        </p:txBody>
      </p:sp>
      <p:sp>
        <p:nvSpPr>
          <p:cNvPr id="7" name="正方形/長方形 6">
            <a:extLst>
              <a:ext uri="{FF2B5EF4-FFF2-40B4-BE49-F238E27FC236}">
                <a16:creationId xmlns:a16="http://schemas.microsoft.com/office/drawing/2014/main" id="{2A29B0FF-82CB-4F7C-913D-7E72B0F562E5}"/>
              </a:ext>
            </a:extLst>
          </p:cNvPr>
          <p:cNvSpPr>
            <a:spLocks noGrp="1"/>
          </p:cNvSpPr>
          <p:nvPr/>
        </p:nvSpPr>
        <p:spPr>
          <a:xfrm>
            <a:off x="590550" y="4286250"/>
            <a:ext cx="3238500" cy="552450"/>
          </a:xfrm>
          <a:prstGeom prst="rect">
            <a:avLst/>
          </a:prstGeom>
          <a:noFill/>
          <a:ln w="0">
            <a:noFill/>
            <a:prstDash val="solid"/>
          </a:ln>
        </p:spPr>
        <p:txBody>
          <a:bodyPr lIns="0" tIns="0" rIns="0" bIns="0" anchor="t">
            <a:noAutofit/>
          </a:bodyPr>
          <a:lstStyle/>
          <a:p>
            <a:pPr algn="l">
              <a:buNone/>
              <a:defRPr sz="1575" b="0">
                <a:solidFill>
                  <a:srgbClr val="64748B"/>
                </a:solidFill>
                <a:latin typeface="Yu Gothic"/>
                <a:ea typeface="Yu Gothic"/>
                <a:cs typeface="Yu Gothic"/>
              </a:defRPr>
            </a:pPr>
            <a:r>
              <a:rPr sz="1575" b="0">
                <a:solidFill>
                  <a:srgbClr val="64748B"/>
                </a:solidFill>
                <a:latin typeface="Yu Gothic"/>
                <a:ea typeface="Yu Gothic"/>
                <a:cs typeface="Yu Gothic"/>
              </a:rPr>
              <a:t>モデル内部を見ず、入力と予測だけを使う</a:t>
            </a:r>
          </a:p>
        </p:txBody>
      </p:sp>
      <p:sp>
        <p:nvSpPr>
          <p:cNvPr id="8" name="正方形/長方形 7">
            <a:extLst>
              <a:ext uri="{FF2B5EF4-FFF2-40B4-BE49-F238E27FC236}">
                <a16:creationId xmlns:a16="http://schemas.microsoft.com/office/drawing/2014/main" id="{3FA594C4-CFE0-46A6-8F9C-D5C892E743A1}"/>
              </a:ext>
            </a:extLst>
          </p:cNvPr>
          <p:cNvSpPr>
            <a:spLocks noGrp="1"/>
          </p:cNvSpPr>
          <p:nvPr/>
        </p:nvSpPr>
        <p:spPr>
          <a:xfrm>
            <a:off x="590550" y="5257800"/>
            <a:ext cx="3238500" cy="704850"/>
          </a:xfrm>
          <a:prstGeom prst="rect">
            <a:avLst/>
          </a:prstGeom>
          <a:solidFill>
            <a:srgbClr val="DBEAFE"/>
          </a:solidFill>
          <a:ln w="0">
            <a:solidFill>
              <a:srgbClr val="2563EB"/>
            </a:solidFill>
            <a:prstDash val="solid"/>
          </a:ln>
        </p:spPr>
        <p:txBody>
          <a:bodyPr/>
          <a:lstStyle/>
          <a:p>
            <a:endParaRPr/>
          </a:p>
        </p:txBody>
      </p:sp>
      <p:sp>
        <p:nvSpPr>
          <p:cNvPr id="9" name="正方形/長方形 8">
            <a:extLst>
              <a:ext uri="{FF2B5EF4-FFF2-40B4-BE49-F238E27FC236}">
                <a16:creationId xmlns:a16="http://schemas.microsoft.com/office/drawing/2014/main" id="{973EB8BF-E788-4D82-9F27-54B8EA346B29}"/>
              </a:ext>
            </a:extLst>
          </p:cNvPr>
          <p:cNvSpPr>
            <a:spLocks noGrp="1"/>
          </p:cNvSpPr>
          <p:nvPr/>
        </p:nvSpPr>
        <p:spPr>
          <a:xfrm>
            <a:off x="781050" y="5381625"/>
            <a:ext cx="2857500" cy="457200"/>
          </a:xfrm>
          <a:prstGeom prst="rect">
            <a:avLst/>
          </a:prstGeom>
          <a:noFill/>
          <a:ln w="0">
            <a:noFill/>
            <a:prstDash val="solid"/>
          </a:ln>
        </p:spPr>
        <p:txBody>
          <a:bodyPr lIns="0" tIns="0" rIns="0" bIns="0" anchor="t">
            <a:noAutofit/>
          </a:bodyPr>
          <a:lstStyle/>
          <a:p>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全体は複雑でも、</a:t>
            </a:r>
          </a:p>
          <a:p>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狭い範囲なら単純化できる</a:t>
            </a:r>
          </a:p>
        </p:txBody>
      </p:sp>
      <p:sp>
        <p:nvSpPr>
          <p:cNvPr id="10" name="正方形/長方形 9">
            <a:extLst>
              <a:ext uri="{FF2B5EF4-FFF2-40B4-BE49-F238E27FC236}">
                <a16:creationId xmlns:a16="http://schemas.microsoft.com/office/drawing/2014/main" id="{0D408E5D-3E87-4D65-B788-D73044DD9B08}"/>
              </a:ext>
            </a:extLst>
          </p:cNvPr>
          <p:cNvSpPr>
            <a:spLocks noGrp="1"/>
          </p:cNvSpPr>
          <p:nvPr/>
        </p:nvSpPr>
        <p:spPr>
          <a:xfrm>
            <a:off x="4333875" y="1524000"/>
            <a:ext cx="7239000" cy="4572000"/>
          </a:xfrm>
          <a:prstGeom prst="rect">
            <a:avLst/>
          </a:prstGeom>
          <a:solidFill>
            <a:srgbClr val="FAFAFA"/>
          </a:solidFill>
          <a:ln w="9525">
            <a:solidFill>
              <a:srgbClr val="CBD5E1"/>
            </a:solidFill>
            <a:prstDash val="solid"/>
          </a:ln>
        </p:spPr>
        <p:txBody>
          <a:bodyPr/>
          <a:lstStyle/>
          <a:p>
            <a:endParaRPr/>
          </a:p>
        </p:txBody>
      </p:sp>
      <p:cxnSp>
        <p:nvCxnSpPr>
          <p:cNvPr id="83" name="直線矢印コネクタ 47"/>
          <p:cNvCxnSpPr/>
          <p:nvPr/>
        </p:nvCxnSpPr>
        <p:spPr>
          <a:xfrm>
            <a:off x="4953000" y="4476750"/>
            <a:ext cx="1143000" cy="666750"/>
          </a:xfrm>
          <a:prstGeom prst="straightConnector1">
            <a:avLst/>
          </a:prstGeom>
          <a:ln w="38100">
            <a:solidFill>
              <a:srgbClr val="111827"/>
            </a:solidFill>
            <a:prstDash val="solid"/>
          </a:ln>
        </p:spPr>
      </p:cxnSp>
      <p:cxnSp>
        <p:nvCxnSpPr>
          <p:cNvPr id="84" name="直線矢印コネクタ 48"/>
          <p:cNvCxnSpPr/>
          <p:nvPr/>
        </p:nvCxnSpPr>
        <p:spPr>
          <a:xfrm>
            <a:off x="6096000" y="3143250"/>
            <a:ext cx="857250" cy="1333500"/>
          </a:xfrm>
          <a:prstGeom prst="straightConnector1">
            <a:avLst/>
          </a:prstGeom>
          <a:ln w="38100">
            <a:solidFill>
              <a:srgbClr val="111827"/>
            </a:solidFill>
            <a:prstDash val="solid"/>
          </a:ln>
        </p:spPr>
      </p:cxnSp>
      <p:cxnSp>
        <p:nvCxnSpPr>
          <p:cNvPr id="85" name="直線矢印コネクタ 49"/>
          <p:cNvCxnSpPr/>
          <p:nvPr/>
        </p:nvCxnSpPr>
        <p:spPr>
          <a:xfrm>
            <a:off x="6953250" y="3143250"/>
            <a:ext cx="1000125" cy="523875"/>
          </a:xfrm>
          <a:prstGeom prst="straightConnector1">
            <a:avLst/>
          </a:prstGeom>
          <a:ln w="38100">
            <a:solidFill>
              <a:srgbClr val="111827"/>
            </a:solidFill>
            <a:prstDash val="solid"/>
          </a:ln>
        </p:spPr>
      </p:cxnSp>
      <p:cxnSp>
        <p:nvCxnSpPr>
          <p:cNvPr id="86" name="直線矢印コネクタ 50"/>
          <p:cNvCxnSpPr/>
          <p:nvPr/>
        </p:nvCxnSpPr>
        <p:spPr>
          <a:xfrm>
            <a:off x="7953375" y="2809875"/>
            <a:ext cx="1047750" cy="857250"/>
          </a:xfrm>
          <a:prstGeom prst="straightConnector1">
            <a:avLst/>
          </a:prstGeom>
          <a:ln w="38100">
            <a:solidFill>
              <a:srgbClr val="111827"/>
            </a:solidFill>
            <a:prstDash val="solid"/>
          </a:ln>
        </p:spPr>
      </p:cxnSp>
      <p:cxnSp>
        <p:nvCxnSpPr>
          <p:cNvPr id="87" name="直線矢印コネクタ 51"/>
          <p:cNvCxnSpPr/>
          <p:nvPr/>
        </p:nvCxnSpPr>
        <p:spPr>
          <a:xfrm>
            <a:off x="9001125" y="2809875"/>
            <a:ext cx="1428750" cy="1381125"/>
          </a:xfrm>
          <a:prstGeom prst="straightConnector1">
            <a:avLst/>
          </a:prstGeom>
          <a:ln w="38100">
            <a:solidFill>
              <a:srgbClr val="111827"/>
            </a:solidFill>
            <a:prstDash val="solid"/>
          </a:ln>
        </p:spPr>
      </p:cxnSp>
      <p:sp>
        <p:nvSpPr>
          <p:cNvPr id="16" name="正方形/長方形 15">
            <a:extLst>
              <a:ext uri="{FF2B5EF4-FFF2-40B4-BE49-F238E27FC236}">
                <a16:creationId xmlns:a16="http://schemas.microsoft.com/office/drawing/2014/main" id="{51BD7BE0-EDA5-450D-A538-7F046DD9212E}"/>
              </a:ext>
            </a:extLst>
          </p:cNvPr>
          <p:cNvSpPr>
            <a:spLocks noGrp="1"/>
          </p:cNvSpPr>
          <p:nvPr/>
        </p:nvSpPr>
        <p:spPr>
          <a:xfrm>
            <a:off x="8048625" y="1771650"/>
            <a:ext cx="2857500" cy="266700"/>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ブラックボックスの複雑な境界</a:t>
            </a:r>
          </a:p>
        </p:txBody>
      </p:sp>
      <p:sp>
        <p:nvSpPr>
          <p:cNvPr id="17" name="円/楕円 16">
            <a:extLst>
              <a:ext uri="{FF2B5EF4-FFF2-40B4-BE49-F238E27FC236}">
                <a16:creationId xmlns:a16="http://schemas.microsoft.com/office/drawing/2014/main" id="{959B9725-2B54-4860-BF59-A0AB259A1B73}"/>
              </a:ext>
            </a:extLst>
          </p:cNvPr>
          <p:cNvSpPr>
            <a:spLocks noGrp="1"/>
          </p:cNvSpPr>
          <p:nvPr/>
        </p:nvSpPr>
        <p:spPr>
          <a:xfrm>
            <a:off x="4857750" y="2095500"/>
            <a:ext cx="152400" cy="152400"/>
          </a:xfrm>
          <a:prstGeom prst="ellipse">
            <a:avLst/>
          </a:prstGeom>
          <a:solidFill>
            <a:srgbClr val="2563EB"/>
          </a:solidFill>
          <a:ln w="0">
            <a:solidFill>
              <a:srgbClr val="2563EB"/>
            </a:solidFill>
            <a:prstDash val="solid"/>
          </a:ln>
        </p:spPr>
        <p:txBody>
          <a:bodyPr/>
          <a:lstStyle/>
          <a:p>
            <a:endParaRPr/>
          </a:p>
        </p:txBody>
      </p:sp>
      <p:sp>
        <p:nvSpPr>
          <p:cNvPr id="18" name="円/楕円 17">
            <a:extLst>
              <a:ext uri="{FF2B5EF4-FFF2-40B4-BE49-F238E27FC236}">
                <a16:creationId xmlns:a16="http://schemas.microsoft.com/office/drawing/2014/main" id="{6EDE501B-E40D-42B8-9331-E3DB0366D1A6}"/>
              </a:ext>
            </a:extLst>
          </p:cNvPr>
          <p:cNvSpPr>
            <a:spLocks noGrp="1"/>
          </p:cNvSpPr>
          <p:nvPr/>
        </p:nvSpPr>
        <p:spPr>
          <a:xfrm>
            <a:off x="5476875" y="2476500"/>
            <a:ext cx="152400" cy="152400"/>
          </a:xfrm>
          <a:prstGeom prst="ellipse">
            <a:avLst/>
          </a:prstGeom>
          <a:solidFill>
            <a:srgbClr val="2563EB"/>
          </a:solidFill>
          <a:ln w="0">
            <a:solidFill>
              <a:srgbClr val="2563EB"/>
            </a:solidFill>
            <a:prstDash val="solid"/>
          </a:ln>
        </p:spPr>
        <p:txBody>
          <a:bodyPr/>
          <a:lstStyle/>
          <a:p>
            <a:endParaRPr/>
          </a:p>
        </p:txBody>
      </p:sp>
      <p:sp>
        <p:nvSpPr>
          <p:cNvPr id="19" name="円/楕円 18">
            <a:extLst>
              <a:ext uri="{FF2B5EF4-FFF2-40B4-BE49-F238E27FC236}">
                <a16:creationId xmlns:a16="http://schemas.microsoft.com/office/drawing/2014/main" id="{BDA72FE6-6BAA-4F3F-9AF6-60191DDF9586}"/>
              </a:ext>
            </a:extLst>
          </p:cNvPr>
          <p:cNvSpPr>
            <a:spLocks noGrp="1"/>
          </p:cNvSpPr>
          <p:nvPr/>
        </p:nvSpPr>
        <p:spPr>
          <a:xfrm>
            <a:off x="5953125" y="1952625"/>
            <a:ext cx="152400" cy="152400"/>
          </a:xfrm>
          <a:prstGeom prst="ellipse">
            <a:avLst/>
          </a:prstGeom>
          <a:solidFill>
            <a:srgbClr val="2563EB"/>
          </a:solidFill>
          <a:ln w="0">
            <a:solidFill>
              <a:srgbClr val="2563EB"/>
            </a:solidFill>
            <a:prstDash val="solid"/>
          </a:ln>
        </p:spPr>
        <p:txBody>
          <a:bodyPr/>
          <a:lstStyle/>
          <a:p>
            <a:endParaRPr/>
          </a:p>
        </p:txBody>
      </p:sp>
      <p:sp>
        <p:nvSpPr>
          <p:cNvPr id="20" name="円/楕円 19">
            <a:extLst>
              <a:ext uri="{FF2B5EF4-FFF2-40B4-BE49-F238E27FC236}">
                <a16:creationId xmlns:a16="http://schemas.microsoft.com/office/drawing/2014/main" id="{ECB20593-CA60-435D-9D74-5FE2FF56E77D}"/>
              </a:ext>
            </a:extLst>
          </p:cNvPr>
          <p:cNvSpPr>
            <a:spLocks noGrp="1"/>
          </p:cNvSpPr>
          <p:nvPr/>
        </p:nvSpPr>
        <p:spPr>
          <a:xfrm>
            <a:off x="6429375" y="2714625"/>
            <a:ext cx="152400" cy="152400"/>
          </a:xfrm>
          <a:prstGeom prst="ellipse">
            <a:avLst/>
          </a:prstGeom>
          <a:solidFill>
            <a:srgbClr val="2563EB"/>
          </a:solidFill>
          <a:ln w="0">
            <a:solidFill>
              <a:srgbClr val="2563EB"/>
            </a:solidFill>
            <a:prstDash val="solid"/>
          </a:ln>
        </p:spPr>
        <p:txBody>
          <a:bodyPr/>
          <a:lstStyle/>
          <a:p>
            <a:endParaRPr/>
          </a:p>
        </p:txBody>
      </p:sp>
      <p:sp>
        <p:nvSpPr>
          <p:cNvPr id="21" name="円/楕円 20">
            <a:extLst>
              <a:ext uri="{FF2B5EF4-FFF2-40B4-BE49-F238E27FC236}">
                <a16:creationId xmlns:a16="http://schemas.microsoft.com/office/drawing/2014/main" id="{262887E8-5B4E-4A38-BFF2-4CA177F02170}"/>
              </a:ext>
            </a:extLst>
          </p:cNvPr>
          <p:cNvSpPr>
            <a:spLocks noGrp="1"/>
          </p:cNvSpPr>
          <p:nvPr/>
        </p:nvSpPr>
        <p:spPr>
          <a:xfrm>
            <a:off x="5381625" y="3571875"/>
            <a:ext cx="152400" cy="152400"/>
          </a:xfrm>
          <a:prstGeom prst="ellipse">
            <a:avLst/>
          </a:prstGeom>
          <a:solidFill>
            <a:srgbClr val="2563EB"/>
          </a:solidFill>
          <a:ln w="0">
            <a:solidFill>
              <a:srgbClr val="2563EB"/>
            </a:solidFill>
            <a:prstDash val="solid"/>
          </a:ln>
        </p:spPr>
        <p:txBody>
          <a:bodyPr/>
          <a:lstStyle/>
          <a:p>
            <a:endParaRPr/>
          </a:p>
        </p:txBody>
      </p:sp>
      <p:sp>
        <p:nvSpPr>
          <p:cNvPr id="22" name="円/楕円 21">
            <a:extLst>
              <a:ext uri="{FF2B5EF4-FFF2-40B4-BE49-F238E27FC236}">
                <a16:creationId xmlns:a16="http://schemas.microsoft.com/office/drawing/2014/main" id="{B8D01379-98FA-4F2F-A7F9-8A572BA50F95}"/>
              </a:ext>
            </a:extLst>
          </p:cNvPr>
          <p:cNvSpPr>
            <a:spLocks noGrp="1"/>
          </p:cNvSpPr>
          <p:nvPr/>
        </p:nvSpPr>
        <p:spPr>
          <a:xfrm>
            <a:off x="6191250" y="3905250"/>
            <a:ext cx="152400" cy="152400"/>
          </a:xfrm>
          <a:prstGeom prst="ellipse">
            <a:avLst/>
          </a:prstGeom>
          <a:solidFill>
            <a:srgbClr val="2563EB"/>
          </a:solidFill>
          <a:ln w="0">
            <a:solidFill>
              <a:srgbClr val="2563EB"/>
            </a:solidFill>
            <a:prstDash val="solid"/>
          </a:ln>
        </p:spPr>
        <p:txBody>
          <a:bodyPr/>
          <a:lstStyle/>
          <a:p>
            <a:endParaRPr/>
          </a:p>
        </p:txBody>
      </p:sp>
      <p:sp>
        <p:nvSpPr>
          <p:cNvPr id="23" name="円/楕円 22">
            <a:extLst>
              <a:ext uri="{FF2B5EF4-FFF2-40B4-BE49-F238E27FC236}">
                <a16:creationId xmlns:a16="http://schemas.microsoft.com/office/drawing/2014/main" id="{1C3E0228-A1B8-4C12-81E1-AA472EC4B893}"/>
              </a:ext>
            </a:extLst>
          </p:cNvPr>
          <p:cNvSpPr>
            <a:spLocks noGrp="1"/>
          </p:cNvSpPr>
          <p:nvPr/>
        </p:nvSpPr>
        <p:spPr>
          <a:xfrm>
            <a:off x="7239000" y="2095500"/>
            <a:ext cx="152400" cy="152400"/>
          </a:xfrm>
          <a:prstGeom prst="ellipse">
            <a:avLst/>
          </a:prstGeom>
          <a:solidFill>
            <a:srgbClr val="2563EB"/>
          </a:solidFill>
          <a:ln w="0">
            <a:solidFill>
              <a:srgbClr val="2563EB"/>
            </a:solidFill>
            <a:prstDash val="solid"/>
          </a:ln>
        </p:spPr>
        <p:txBody>
          <a:bodyPr/>
          <a:lstStyle/>
          <a:p>
            <a:endParaRPr/>
          </a:p>
        </p:txBody>
      </p:sp>
      <p:sp>
        <p:nvSpPr>
          <p:cNvPr id="24" name="円/楕円 23">
            <a:extLst>
              <a:ext uri="{FF2B5EF4-FFF2-40B4-BE49-F238E27FC236}">
                <a16:creationId xmlns:a16="http://schemas.microsoft.com/office/drawing/2014/main" id="{4CDC1679-DE97-4B13-A85A-4B3F8AED8C59}"/>
              </a:ext>
            </a:extLst>
          </p:cNvPr>
          <p:cNvSpPr>
            <a:spLocks noGrp="1"/>
          </p:cNvSpPr>
          <p:nvPr/>
        </p:nvSpPr>
        <p:spPr>
          <a:xfrm>
            <a:off x="7667625" y="2619375"/>
            <a:ext cx="152400" cy="152400"/>
          </a:xfrm>
          <a:prstGeom prst="ellipse">
            <a:avLst/>
          </a:prstGeom>
          <a:solidFill>
            <a:srgbClr val="2563EB"/>
          </a:solidFill>
          <a:ln w="0">
            <a:solidFill>
              <a:srgbClr val="2563EB"/>
            </a:solidFill>
            <a:prstDash val="solid"/>
          </a:ln>
        </p:spPr>
        <p:txBody>
          <a:bodyPr/>
          <a:lstStyle/>
          <a:p>
            <a:endParaRPr/>
          </a:p>
        </p:txBody>
      </p:sp>
      <p:sp>
        <p:nvSpPr>
          <p:cNvPr id="25" name="円/楕円 24">
            <a:extLst>
              <a:ext uri="{FF2B5EF4-FFF2-40B4-BE49-F238E27FC236}">
                <a16:creationId xmlns:a16="http://schemas.microsoft.com/office/drawing/2014/main" id="{F9047993-DE26-4FF0-ADD4-4730F68C277D}"/>
              </a:ext>
            </a:extLst>
          </p:cNvPr>
          <p:cNvSpPr>
            <a:spLocks noGrp="1"/>
          </p:cNvSpPr>
          <p:nvPr/>
        </p:nvSpPr>
        <p:spPr>
          <a:xfrm>
            <a:off x="8763000" y="4810125"/>
            <a:ext cx="152400" cy="152400"/>
          </a:xfrm>
          <a:prstGeom prst="ellipse">
            <a:avLst/>
          </a:prstGeom>
          <a:solidFill>
            <a:srgbClr val="94A3B8"/>
          </a:solidFill>
          <a:ln w="0">
            <a:solidFill>
              <a:srgbClr val="94A3B8"/>
            </a:solidFill>
            <a:prstDash val="solid"/>
          </a:ln>
        </p:spPr>
        <p:txBody>
          <a:bodyPr/>
          <a:lstStyle/>
          <a:p>
            <a:endParaRPr/>
          </a:p>
        </p:txBody>
      </p:sp>
      <p:sp>
        <p:nvSpPr>
          <p:cNvPr id="26" name="円/楕円 25">
            <a:extLst>
              <a:ext uri="{FF2B5EF4-FFF2-40B4-BE49-F238E27FC236}">
                <a16:creationId xmlns:a16="http://schemas.microsoft.com/office/drawing/2014/main" id="{60495F0E-05D8-47E4-90F0-39D2CFF09C6E}"/>
              </a:ext>
            </a:extLst>
          </p:cNvPr>
          <p:cNvSpPr>
            <a:spLocks noGrp="1"/>
          </p:cNvSpPr>
          <p:nvPr/>
        </p:nvSpPr>
        <p:spPr>
          <a:xfrm>
            <a:off x="9525000" y="4381500"/>
            <a:ext cx="152400" cy="152400"/>
          </a:xfrm>
          <a:prstGeom prst="ellipse">
            <a:avLst/>
          </a:prstGeom>
          <a:solidFill>
            <a:srgbClr val="94A3B8"/>
          </a:solidFill>
          <a:ln w="0">
            <a:solidFill>
              <a:srgbClr val="94A3B8"/>
            </a:solidFill>
            <a:prstDash val="solid"/>
          </a:ln>
        </p:spPr>
        <p:txBody>
          <a:bodyPr/>
          <a:lstStyle/>
          <a:p>
            <a:endParaRPr/>
          </a:p>
        </p:txBody>
      </p:sp>
      <p:sp>
        <p:nvSpPr>
          <p:cNvPr id="27" name="円/楕円 26">
            <a:extLst>
              <a:ext uri="{FF2B5EF4-FFF2-40B4-BE49-F238E27FC236}">
                <a16:creationId xmlns:a16="http://schemas.microsoft.com/office/drawing/2014/main" id="{FBB3C434-0248-418E-8A1C-1545FB2ED517}"/>
              </a:ext>
            </a:extLst>
          </p:cNvPr>
          <p:cNvSpPr>
            <a:spLocks noGrp="1"/>
          </p:cNvSpPr>
          <p:nvPr/>
        </p:nvSpPr>
        <p:spPr>
          <a:xfrm>
            <a:off x="10287000" y="4953000"/>
            <a:ext cx="152400" cy="152400"/>
          </a:xfrm>
          <a:prstGeom prst="ellipse">
            <a:avLst/>
          </a:prstGeom>
          <a:solidFill>
            <a:srgbClr val="94A3B8"/>
          </a:solidFill>
          <a:ln w="0">
            <a:solidFill>
              <a:srgbClr val="94A3B8"/>
            </a:solidFill>
            <a:prstDash val="solid"/>
          </a:ln>
        </p:spPr>
        <p:txBody>
          <a:bodyPr/>
          <a:lstStyle/>
          <a:p>
            <a:endParaRPr/>
          </a:p>
        </p:txBody>
      </p:sp>
      <p:sp>
        <p:nvSpPr>
          <p:cNvPr id="28" name="円/楕円 27">
            <a:extLst>
              <a:ext uri="{FF2B5EF4-FFF2-40B4-BE49-F238E27FC236}">
                <a16:creationId xmlns:a16="http://schemas.microsoft.com/office/drawing/2014/main" id="{F327EDAF-4261-48B9-9F5A-6241D492AB02}"/>
              </a:ext>
            </a:extLst>
          </p:cNvPr>
          <p:cNvSpPr>
            <a:spLocks noGrp="1"/>
          </p:cNvSpPr>
          <p:nvPr/>
        </p:nvSpPr>
        <p:spPr>
          <a:xfrm>
            <a:off x="10668000" y="3857625"/>
            <a:ext cx="152400" cy="152400"/>
          </a:xfrm>
          <a:prstGeom prst="ellipse">
            <a:avLst/>
          </a:prstGeom>
          <a:solidFill>
            <a:srgbClr val="94A3B8"/>
          </a:solidFill>
          <a:ln w="0">
            <a:solidFill>
              <a:srgbClr val="94A3B8"/>
            </a:solidFill>
            <a:prstDash val="solid"/>
          </a:ln>
        </p:spPr>
        <p:txBody>
          <a:bodyPr/>
          <a:lstStyle/>
          <a:p>
            <a:endParaRPr/>
          </a:p>
        </p:txBody>
      </p:sp>
      <p:sp>
        <p:nvSpPr>
          <p:cNvPr id="29" name="円/楕円 28">
            <a:extLst>
              <a:ext uri="{FF2B5EF4-FFF2-40B4-BE49-F238E27FC236}">
                <a16:creationId xmlns:a16="http://schemas.microsoft.com/office/drawing/2014/main" id="{E60295FE-AE74-479C-B25C-6DF6C0AA109E}"/>
              </a:ext>
            </a:extLst>
          </p:cNvPr>
          <p:cNvSpPr>
            <a:spLocks noGrp="1"/>
          </p:cNvSpPr>
          <p:nvPr/>
        </p:nvSpPr>
        <p:spPr>
          <a:xfrm>
            <a:off x="9334500" y="3476625"/>
            <a:ext cx="152400" cy="152400"/>
          </a:xfrm>
          <a:prstGeom prst="ellipse">
            <a:avLst/>
          </a:prstGeom>
          <a:solidFill>
            <a:srgbClr val="94A3B8"/>
          </a:solidFill>
          <a:ln w="0">
            <a:solidFill>
              <a:srgbClr val="94A3B8"/>
            </a:solidFill>
            <a:prstDash val="solid"/>
          </a:ln>
        </p:spPr>
        <p:txBody>
          <a:bodyPr/>
          <a:lstStyle/>
          <a:p>
            <a:endParaRPr/>
          </a:p>
        </p:txBody>
      </p:sp>
      <p:sp>
        <p:nvSpPr>
          <p:cNvPr id="30" name="円/楕円 29">
            <a:extLst>
              <a:ext uri="{FF2B5EF4-FFF2-40B4-BE49-F238E27FC236}">
                <a16:creationId xmlns:a16="http://schemas.microsoft.com/office/drawing/2014/main" id="{83305B92-F4FA-48F9-B457-AB71F8F39CBB}"/>
              </a:ext>
            </a:extLst>
          </p:cNvPr>
          <p:cNvSpPr>
            <a:spLocks noGrp="1"/>
          </p:cNvSpPr>
          <p:nvPr/>
        </p:nvSpPr>
        <p:spPr>
          <a:xfrm>
            <a:off x="8286750" y="4476750"/>
            <a:ext cx="152400" cy="152400"/>
          </a:xfrm>
          <a:prstGeom prst="ellipse">
            <a:avLst/>
          </a:prstGeom>
          <a:solidFill>
            <a:srgbClr val="94A3B8"/>
          </a:solidFill>
          <a:ln w="0">
            <a:solidFill>
              <a:srgbClr val="94A3B8"/>
            </a:solidFill>
            <a:prstDash val="solid"/>
          </a:ln>
        </p:spPr>
        <p:txBody>
          <a:bodyPr/>
          <a:lstStyle/>
          <a:p>
            <a:endParaRPr/>
          </a:p>
        </p:txBody>
      </p:sp>
      <p:sp>
        <p:nvSpPr>
          <p:cNvPr id="31" name="円/楕円 30">
            <a:extLst>
              <a:ext uri="{FF2B5EF4-FFF2-40B4-BE49-F238E27FC236}">
                <a16:creationId xmlns:a16="http://schemas.microsoft.com/office/drawing/2014/main" id="{A3B35A44-407C-45B1-95B8-585D6C11D531}"/>
              </a:ext>
            </a:extLst>
          </p:cNvPr>
          <p:cNvSpPr>
            <a:spLocks noGrp="1"/>
          </p:cNvSpPr>
          <p:nvPr/>
        </p:nvSpPr>
        <p:spPr>
          <a:xfrm>
            <a:off x="7143750" y="5143500"/>
            <a:ext cx="152400" cy="152400"/>
          </a:xfrm>
          <a:prstGeom prst="ellipse">
            <a:avLst/>
          </a:prstGeom>
          <a:solidFill>
            <a:srgbClr val="94A3B8"/>
          </a:solidFill>
          <a:ln w="0">
            <a:solidFill>
              <a:srgbClr val="94A3B8"/>
            </a:solidFill>
            <a:prstDash val="solid"/>
          </a:ln>
        </p:spPr>
        <p:txBody>
          <a:bodyPr/>
          <a:lstStyle/>
          <a:p>
            <a:endParaRPr/>
          </a:p>
        </p:txBody>
      </p:sp>
      <p:sp>
        <p:nvSpPr>
          <p:cNvPr id="32" name="円/楕円 31">
            <a:extLst>
              <a:ext uri="{FF2B5EF4-FFF2-40B4-BE49-F238E27FC236}">
                <a16:creationId xmlns:a16="http://schemas.microsoft.com/office/drawing/2014/main" id="{AF558A9B-1DC5-40ED-AA92-02A818F2C3FF}"/>
              </a:ext>
            </a:extLst>
          </p:cNvPr>
          <p:cNvSpPr>
            <a:spLocks noGrp="1"/>
          </p:cNvSpPr>
          <p:nvPr/>
        </p:nvSpPr>
        <p:spPr>
          <a:xfrm>
            <a:off x="6667500" y="3000375"/>
            <a:ext cx="2381250" cy="2095500"/>
          </a:xfrm>
          <a:prstGeom prst="ellipse">
            <a:avLst/>
          </a:prstGeom>
          <a:noFill/>
          <a:ln w="38100">
            <a:solidFill>
              <a:srgbClr val="F59E0B"/>
            </a:solidFill>
            <a:prstDash val="solid"/>
          </a:ln>
        </p:spPr>
        <p:txBody>
          <a:bodyPr/>
          <a:lstStyle/>
          <a:p>
            <a:endParaRPr/>
          </a:p>
        </p:txBody>
      </p:sp>
      <p:sp>
        <p:nvSpPr>
          <p:cNvPr id="33" name="円/楕円 32">
            <a:extLst>
              <a:ext uri="{FF2B5EF4-FFF2-40B4-BE49-F238E27FC236}">
                <a16:creationId xmlns:a16="http://schemas.microsoft.com/office/drawing/2014/main" id="{AF3663B5-E0B0-4E17-854B-8BA44B415779}"/>
              </a:ext>
            </a:extLst>
          </p:cNvPr>
          <p:cNvSpPr>
            <a:spLocks noGrp="1"/>
          </p:cNvSpPr>
          <p:nvPr/>
        </p:nvSpPr>
        <p:spPr>
          <a:xfrm>
            <a:off x="7734300" y="3905250"/>
            <a:ext cx="228600" cy="228600"/>
          </a:xfrm>
          <a:prstGeom prst="ellipse">
            <a:avLst/>
          </a:prstGeom>
          <a:solidFill>
            <a:srgbClr val="F59E0B"/>
          </a:solidFill>
          <a:ln w="0">
            <a:solidFill>
              <a:srgbClr val="F59E0B"/>
            </a:solidFill>
            <a:prstDash val="solid"/>
          </a:ln>
        </p:spPr>
        <p:txBody>
          <a:bodyPr/>
          <a:lstStyle/>
          <a:p>
            <a:endParaRPr/>
          </a:p>
        </p:txBody>
      </p:sp>
      <p:sp>
        <p:nvSpPr>
          <p:cNvPr id="34" name="正方形/長方形 33">
            <a:extLst>
              <a:ext uri="{FF2B5EF4-FFF2-40B4-BE49-F238E27FC236}">
                <a16:creationId xmlns:a16="http://schemas.microsoft.com/office/drawing/2014/main" id="{24B9E606-BFA3-41AE-82E9-9A30F7ECEB1F}"/>
              </a:ext>
            </a:extLst>
          </p:cNvPr>
          <p:cNvSpPr>
            <a:spLocks noGrp="1"/>
          </p:cNvSpPr>
          <p:nvPr/>
        </p:nvSpPr>
        <p:spPr>
          <a:xfrm>
            <a:off x="8001000" y="3905250"/>
            <a:ext cx="1238250" cy="266700"/>
          </a:xfrm>
          <a:prstGeom prst="rect">
            <a:avLst/>
          </a:prstGeom>
          <a:noFill/>
          <a:ln w="0">
            <a:noFill/>
            <a:prstDash val="solid"/>
          </a:ln>
        </p:spPr>
        <p:txBody>
          <a:bodyPr lIns="0" tIns="0" rIns="0" bIns="0" anchor="t">
            <a:noAutofit/>
          </a:bodyPr>
          <a:lstStyle/>
          <a:p>
            <a:pPr algn="l">
              <a:buNone/>
              <a:defRPr sz="1350" b="1">
                <a:solidFill>
                  <a:srgbClr val="F59E0B"/>
                </a:solidFill>
                <a:latin typeface="Yu Gothic"/>
                <a:ea typeface="Yu Gothic"/>
                <a:cs typeface="Yu Gothic"/>
              </a:defRPr>
            </a:pPr>
            <a:r>
              <a:rPr sz="1350" b="1">
                <a:solidFill>
                  <a:srgbClr val="F59E0B"/>
                </a:solidFill>
                <a:latin typeface="Yu Gothic"/>
                <a:ea typeface="Yu Gothic"/>
                <a:cs typeface="Yu Gothic"/>
              </a:rPr>
              <a:t>説明対象 x</a:t>
            </a:r>
          </a:p>
        </p:txBody>
      </p:sp>
      <p:cxnSp>
        <p:nvCxnSpPr>
          <p:cNvPr id="107" name="直線矢印コネクタ 71"/>
          <p:cNvCxnSpPr/>
          <p:nvPr/>
        </p:nvCxnSpPr>
        <p:spPr>
          <a:xfrm>
            <a:off x="7000875" y="3571875"/>
            <a:ext cx="1762125" cy="1000125"/>
          </a:xfrm>
          <a:prstGeom prst="straightConnector1">
            <a:avLst/>
          </a:prstGeom>
          <a:ln w="57150">
            <a:solidFill>
              <a:srgbClr val="10B981"/>
            </a:solidFill>
            <a:prstDash val="solid"/>
          </a:ln>
        </p:spPr>
      </p:cxnSp>
      <p:sp>
        <p:nvSpPr>
          <p:cNvPr id="36" name="正方形/長方形 35">
            <a:extLst>
              <a:ext uri="{FF2B5EF4-FFF2-40B4-BE49-F238E27FC236}">
                <a16:creationId xmlns:a16="http://schemas.microsoft.com/office/drawing/2014/main" id="{A5740B5C-ED12-4E43-B827-B09C808C38BB}"/>
              </a:ext>
            </a:extLst>
          </p:cNvPr>
          <p:cNvSpPr>
            <a:spLocks noGrp="1"/>
          </p:cNvSpPr>
          <p:nvPr/>
        </p:nvSpPr>
        <p:spPr>
          <a:xfrm>
            <a:off x="6715125" y="5219700"/>
            <a:ext cx="2000250" cy="266700"/>
          </a:xfrm>
          <a:prstGeom prst="rect">
            <a:avLst/>
          </a:prstGeom>
          <a:noFill/>
          <a:ln w="0">
            <a:noFill/>
            <a:prstDash val="solid"/>
          </a:ln>
        </p:spPr>
        <p:txBody>
          <a:bodyPr lIns="0" tIns="0" rIns="0" bIns="0" anchor="t">
            <a:noAutofit/>
          </a:bodyPr>
          <a:lstStyle/>
          <a:p>
            <a:pPr algn="l">
              <a:buNone/>
              <a:defRPr sz="1425" b="1">
                <a:solidFill>
                  <a:srgbClr val="10B981"/>
                </a:solidFill>
                <a:latin typeface="Yu Gothic"/>
                <a:ea typeface="Yu Gothic"/>
                <a:cs typeface="Yu Gothic"/>
              </a:defRPr>
            </a:pPr>
            <a:r>
              <a:rPr sz="1425" b="1">
                <a:solidFill>
                  <a:srgbClr val="10B981"/>
                </a:solidFill>
                <a:latin typeface="Yu Gothic"/>
                <a:ea typeface="Yu Gothic"/>
                <a:cs typeface="Yu Gothic"/>
              </a:rPr>
              <a:t>局所サロゲート</a:t>
            </a:r>
          </a:p>
        </p:txBody>
      </p:sp>
      <p:sp>
        <p:nvSpPr>
          <p:cNvPr id="37" name="正方形/長方形 36">
            <a:extLst>
              <a:ext uri="{FF2B5EF4-FFF2-40B4-BE49-F238E27FC236}">
                <a16:creationId xmlns:a16="http://schemas.microsoft.com/office/drawing/2014/main" id="{F282E9F2-A0B3-40E7-AB33-F83BA5CFF58D}"/>
              </a:ext>
            </a:extLst>
          </p:cNvPr>
          <p:cNvSpPr>
            <a:spLocks noGrp="1"/>
          </p:cNvSpPr>
          <p:nvPr/>
        </p:nvSpPr>
        <p:spPr>
          <a:xfrm>
            <a:off x="8229600" y="5524500"/>
            <a:ext cx="2857500" cy="266700"/>
          </a:xfrm>
          <a:prstGeom prst="rect">
            <a:avLst/>
          </a:prstGeom>
          <a:noFill/>
          <a:ln w="0">
            <a:noFill/>
            <a:prstDash val="solid"/>
          </a:ln>
        </p:spPr>
        <p:txBody>
          <a:bodyPr lIns="0" tIns="0" rIns="0" bIns="0" anchor="t">
            <a:noAutofit/>
          </a:bodyPr>
          <a:lstStyle/>
          <a:p>
            <a:pPr algn="r">
              <a:buNone/>
              <a:defRPr sz="1425" b="0">
                <a:solidFill>
                  <a:srgbClr val="64748B"/>
                </a:solidFill>
                <a:latin typeface="Yu Gothic"/>
                <a:ea typeface="Yu Gothic"/>
                <a:cs typeface="Yu Gothic"/>
              </a:defRPr>
            </a:pPr>
            <a:r>
              <a:rPr sz="1425" b="0">
                <a:solidFill>
                  <a:srgbClr val="64748B"/>
                </a:solidFill>
                <a:latin typeface="Yu Gothic"/>
                <a:ea typeface="Yu Gothic"/>
                <a:cs typeface="Yu Gothic"/>
              </a:rPr>
              <a:t>この円の中で元モデルをまねる</a:t>
            </a:r>
          </a:p>
        </p:txBody>
      </p:sp>
    </p:spTree>
    <p:extLst>
      <p:ext uri="{BB962C8B-B14F-4D97-AF65-F5344CB8AC3E}">
        <p14:creationId xmlns:p14="http://schemas.microsoft.com/office/powerpoint/2010/main" val="1985531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E9A51388-D423-448C-A9E4-BF0E5CC22FD1}"/>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4-title">
            <a:extLst>
              <a:ext uri="{FF2B5EF4-FFF2-40B4-BE49-F238E27FC236}">
                <a16:creationId xmlns:a16="http://schemas.microsoft.com/office/drawing/2014/main" id="{B88F81F8-218A-4596-BD6E-9744D41A4A2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LIMEは5段階で局所説明を作る</a:t>
            </a:r>
          </a:p>
        </p:txBody>
      </p:sp>
      <p:sp>
        <p:nvSpPr>
          <p:cNvPr id="3" name="slide-4-subtitle">
            <a:extLst>
              <a:ext uri="{FF2B5EF4-FFF2-40B4-BE49-F238E27FC236}">
                <a16:creationId xmlns:a16="http://schemas.microsoft.com/office/drawing/2014/main" id="{7F011AFF-F82E-4056-8755-E60B9484F856}"/>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処理の流れと目的関数は「忠実性」と「単純さ」でつながる</a:t>
            </a:r>
          </a:p>
        </p:txBody>
      </p:sp>
      <p:sp>
        <p:nvSpPr>
          <p:cNvPr id="4" name="正方形/長方形 3">
            <a:extLst>
              <a:ext uri="{FF2B5EF4-FFF2-40B4-BE49-F238E27FC236}">
                <a16:creationId xmlns:a16="http://schemas.microsoft.com/office/drawing/2014/main" id="{C47FC940-5C55-479C-A6B6-34DB59601FC4}"/>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04</a:t>
            </a:r>
          </a:p>
        </p:txBody>
      </p:sp>
      <p:sp>
        <p:nvSpPr>
          <p:cNvPr id="5" name="右矢印 4">
            <a:extLst>
              <a:ext uri="{FF2B5EF4-FFF2-40B4-BE49-F238E27FC236}">
                <a16:creationId xmlns:a16="http://schemas.microsoft.com/office/drawing/2014/main" id="{6B8844ED-9B4C-4FD8-B3C7-0C35C419C242}"/>
              </a:ext>
            </a:extLst>
          </p:cNvPr>
          <p:cNvSpPr>
            <a:spLocks noGrp="1"/>
          </p:cNvSpPr>
          <p:nvPr/>
        </p:nvSpPr>
        <p:spPr>
          <a:xfrm>
            <a:off x="2466975" y="2143125"/>
            <a:ext cx="666750" cy="266700"/>
          </a:xfrm>
          <a:prstGeom prst="rightArrow">
            <a:avLst/>
          </a:prstGeom>
          <a:solidFill>
            <a:srgbClr val="2563EB"/>
          </a:solidFill>
          <a:ln w="0">
            <a:solidFill>
              <a:srgbClr val="2563EB"/>
            </a:solidFill>
            <a:prstDash val="solid"/>
          </a:ln>
        </p:spPr>
        <p:txBody>
          <a:bodyPr/>
          <a:lstStyle/>
          <a:p>
            <a:endParaRPr/>
          </a:p>
        </p:txBody>
      </p:sp>
      <p:sp>
        <p:nvSpPr>
          <p:cNvPr id="6" name="右矢印 5">
            <a:extLst>
              <a:ext uri="{FF2B5EF4-FFF2-40B4-BE49-F238E27FC236}">
                <a16:creationId xmlns:a16="http://schemas.microsoft.com/office/drawing/2014/main" id="{67C2B32D-8EF8-4A7C-8154-1888A139DE4C}"/>
              </a:ext>
            </a:extLst>
          </p:cNvPr>
          <p:cNvSpPr>
            <a:spLocks noGrp="1"/>
          </p:cNvSpPr>
          <p:nvPr/>
        </p:nvSpPr>
        <p:spPr>
          <a:xfrm>
            <a:off x="4752975" y="2143125"/>
            <a:ext cx="666750" cy="266700"/>
          </a:xfrm>
          <a:prstGeom prst="rightArrow">
            <a:avLst/>
          </a:prstGeom>
          <a:solidFill>
            <a:srgbClr val="2563EB"/>
          </a:solidFill>
          <a:ln w="0">
            <a:solidFill>
              <a:srgbClr val="2563EB"/>
            </a:solidFill>
            <a:prstDash val="solid"/>
          </a:ln>
        </p:spPr>
        <p:txBody>
          <a:bodyPr/>
          <a:lstStyle/>
          <a:p>
            <a:endParaRPr/>
          </a:p>
        </p:txBody>
      </p:sp>
      <p:sp>
        <p:nvSpPr>
          <p:cNvPr id="7" name="右矢印 6">
            <a:extLst>
              <a:ext uri="{FF2B5EF4-FFF2-40B4-BE49-F238E27FC236}">
                <a16:creationId xmlns:a16="http://schemas.microsoft.com/office/drawing/2014/main" id="{BBE321E7-6135-48F1-9E66-4280517DA3C0}"/>
              </a:ext>
            </a:extLst>
          </p:cNvPr>
          <p:cNvSpPr>
            <a:spLocks noGrp="1"/>
          </p:cNvSpPr>
          <p:nvPr/>
        </p:nvSpPr>
        <p:spPr>
          <a:xfrm>
            <a:off x="7038975" y="2143125"/>
            <a:ext cx="666750" cy="266700"/>
          </a:xfrm>
          <a:prstGeom prst="rightArrow">
            <a:avLst/>
          </a:prstGeom>
          <a:solidFill>
            <a:srgbClr val="2563EB"/>
          </a:solidFill>
          <a:ln w="0">
            <a:solidFill>
              <a:srgbClr val="2563EB"/>
            </a:solidFill>
            <a:prstDash val="solid"/>
          </a:ln>
        </p:spPr>
        <p:txBody>
          <a:bodyPr/>
          <a:lstStyle/>
          <a:p>
            <a:endParaRPr/>
          </a:p>
        </p:txBody>
      </p:sp>
      <p:sp>
        <p:nvSpPr>
          <p:cNvPr id="8" name="右矢印 7">
            <a:extLst>
              <a:ext uri="{FF2B5EF4-FFF2-40B4-BE49-F238E27FC236}">
                <a16:creationId xmlns:a16="http://schemas.microsoft.com/office/drawing/2014/main" id="{E4BF2AAE-ABE2-4360-99D9-6B9B2A8A3003}"/>
              </a:ext>
            </a:extLst>
          </p:cNvPr>
          <p:cNvSpPr>
            <a:spLocks noGrp="1"/>
          </p:cNvSpPr>
          <p:nvPr/>
        </p:nvSpPr>
        <p:spPr>
          <a:xfrm>
            <a:off x="9324975" y="2143125"/>
            <a:ext cx="666750" cy="266700"/>
          </a:xfrm>
          <a:prstGeom prst="rightArrow">
            <a:avLst/>
          </a:prstGeom>
          <a:solidFill>
            <a:srgbClr val="2563EB"/>
          </a:solidFill>
          <a:ln w="0">
            <a:solidFill>
              <a:srgbClr val="2563EB"/>
            </a:solidFill>
            <a:prstDash val="solid"/>
          </a:ln>
        </p:spPr>
        <p:txBody>
          <a:bodyPr/>
          <a:lstStyle/>
          <a:p>
            <a:endParaRPr/>
          </a:p>
        </p:txBody>
      </p:sp>
      <p:sp>
        <p:nvSpPr>
          <p:cNvPr id="9" name="正方形/長方形 8">
            <a:extLst>
              <a:ext uri="{FF2B5EF4-FFF2-40B4-BE49-F238E27FC236}">
                <a16:creationId xmlns:a16="http://schemas.microsoft.com/office/drawing/2014/main" id="{803CF79B-E99E-4B55-AE67-BA4C56704DB4}"/>
              </a:ext>
            </a:extLst>
          </p:cNvPr>
          <p:cNvSpPr>
            <a:spLocks noGrp="1"/>
          </p:cNvSpPr>
          <p:nvPr/>
        </p:nvSpPr>
        <p:spPr>
          <a:xfrm>
            <a:off x="514350" y="1600200"/>
            <a:ext cx="1952625" cy="1381125"/>
          </a:xfrm>
          <a:prstGeom prst="rect">
            <a:avLst/>
          </a:prstGeom>
          <a:solidFill>
            <a:srgbClr val="F3F4F6"/>
          </a:solidFill>
          <a:ln w="19050">
            <a:solidFill>
              <a:srgbClr val="CBD5E1"/>
            </a:solidFill>
            <a:prstDash val="solid"/>
          </a:ln>
        </p:spPr>
        <p:txBody>
          <a:bodyPr/>
          <a:lstStyle/>
          <a:p>
            <a:endParaRPr/>
          </a:p>
        </p:txBody>
      </p:sp>
      <p:sp>
        <p:nvSpPr>
          <p:cNvPr id="10" name="正方形/長方形 9">
            <a:extLst>
              <a:ext uri="{FF2B5EF4-FFF2-40B4-BE49-F238E27FC236}">
                <a16:creationId xmlns:a16="http://schemas.microsoft.com/office/drawing/2014/main" id="{3C100994-F9AB-40C7-899C-AACB47AB9CCC}"/>
              </a:ext>
            </a:extLst>
          </p:cNvPr>
          <p:cNvSpPr>
            <a:spLocks noGrp="1"/>
          </p:cNvSpPr>
          <p:nvPr/>
        </p:nvSpPr>
        <p:spPr>
          <a:xfrm>
            <a:off x="685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01</a:t>
            </a:r>
          </a:p>
        </p:txBody>
      </p:sp>
      <p:sp>
        <p:nvSpPr>
          <p:cNvPr id="11" name="正方形/長方形 10">
            <a:extLst>
              <a:ext uri="{FF2B5EF4-FFF2-40B4-BE49-F238E27FC236}">
                <a16:creationId xmlns:a16="http://schemas.microsoft.com/office/drawing/2014/main" id="{36A6719D-46B1-4863-B69E-E4D5F12A458D}"/>
              </a:ext>
            </a:extLst>
          </p:cNvPr>
          <p:cNvSpPr>
            <a:spLocks noGrp="1"/>
          </p:cNvSpPr>
          <p:nvPr/>
        </p:nvSpPr>
        <p:spPr>
          <a:xfrm>
            <a:off x="685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説明対象を</a:t>
            </a:r>
          </a:p>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1つ選ぶ</a:t>
            </a:r>
          </a:p>
        </p:txBody>
      </p:sp>
      <p:sp>
        <p:nvSpPr>
          <p:cNvPr id="12" name="正方形/長方形 11">
            <a:extLst>
              <a:ext uri="{FF2B5EF4-FFF2-40B4-BE49-F238E27FC236}">
                <a16:creationId xmlns:a16="http://schemas.microsoft.com/office/drawing/2014/main" id="{C839CFBB-15B4-41BC-9B25-7A14C64A2BEC}"/>
              </a:ext>
            </a:extLst>
          </p:cNvPr>
          <p:cNvSpPr>
            <a:spLocks noGrp="1"/>
          </p:cNvSpPr>
          <p:nvPr/>
        </p:nvSpPr>
        <p:spPr>
          <a:xfrm>
            <a:off x="2800350" y="1600200"/>
            <a:ext cx="1952625" cy="1381125"/>
          </a:xfrm>
          <a:prstGeom prst="rect">
            <a:avLst/>
          </a:prstGeom>
          <a:solidFill>
            <a:srgbClr val="F3F4F6"/>
          </a:solidFill>
          <a:ln w="19050">
            <a:solidFill>
              <a:srgbClr val="CBD5E1"/>
            </a:solidFill>
            <a:prstDash val="solid"/>
          </a:ln>
        </p:spPr>
        <p:txBody>
          <a:bodyPr/>
          <a:lstStyle/>
          <a:p>
            <a:endParaRPr/>
          </a:p>
        </p:txBody>
      </p:sp>
      <p:sp>
        <p:nvSpPr>
          <p:cNvPr id="13" name="正方形/長方形 12">
            <a:extLst>
              <a:ext uri="{FF2B5EF4-FFF2-40B4-BE49-F238E27FC236}">
                <a16:creationId xmlns:a16="http://schemas.microsoft.com/office/drawing/2014/main" id="{0E56D9E4-5496-473E-BB29-D0567A20BC36}"/>
              </a:ext>
            </a:extLst>
          </p:cNvPr>
          <p:cNvSpPr>
            <a:spLocks noGrp="1"/>
          </p:cNvSpPr>
          <p:nvPr/>
        </p:nvSpPr>
        <p:spPr>
          <a:xfrm>
            <a:off x="2971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02</a:t>
            </a:r>
          </a:p>
        </p:txBody>
      </p:sp>
      <p:sp>
        <p:nvSpPr>
          <p:cNvPr id="14" name="正方形/長方形 13">
            <a:extLst>
              <a:ext uri="{FF2B5EF4-FFF2-40B4-BE49-F238E27FC236}">
                <a16:creationId xmlns:a16="http://schemas.microsoft.com/office/drawing/2014/main" id="{79C05803-1C44-4C10-AB37-D683DA88F741}"/>
              </a:ext>
            </a:extLst>
          </p:cNvPr>
          <p:cNvSpPr>
            <a:spLocks noGrp="1"/>
          </p:cNvSpPr>
          <p:nvPr/>
        </p:nvSpPr>
        <p:spPr>
          <a:xfrm>
            <a:off x="2971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近傍サンプルを</a:t>
            </a:r>
          </a:p>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多数作る</a:t>
            </a:r>
          </a:p>
        </p:txBody>
      </p:sp>
      <p:sp>
        <p:nvSpPr>
          <p:cNvPr id="15" name="正方形/長方形 14">
            <a:extLst>
              <a:ext uri="{FF2B5EF4-FFF2-40B4-BE49-F238E27FC236}">
                <a16:creationId xmlns:a16="http://schemas.microsoft.com/office/drawing/2014/main" id="{1A9597DE-D3C9-49E6-B9E8-9CF1432A6438}"/>
              </a:ext>
            </a:extLst>
          </p:cNvPr>
          <p:cNvSpPr>
            <a:spLocks noGrp="1"/>
          </p:cNvSpPr>
          <p:nvPr/>
        </p:nvSpPr>
        <p:spPr>
          <a:xfrm>
            <a:off x="5086350" y="1600200"/>
            <a:ext cx="1952625" cy="1381125"/>
          </a:xfrm>
          <a:prstGeom prst="rect">
            <a:avLst/>
          </a:prstGeom>
          <a:solidFill>
            <a:srgbClr val="F3F4F6"/>
          </a:solidFill>
          <a:ln w="19050">
            <a:solidFill>
              <a:srgbClr val="CBD5E1"/>
            </a:solidFill>
            <a:prstDash val="solid"/>
          </a:ln>
        </p:spPr>
        <p:txBody>
          <a:bodyPr/>
          <a:lstStyle/>
          <a:p>
            <a:endParaRPr/>
          </a:p>
        </p:txBody>
      </p:sp>
      <p:sp>
        <p:nvSpPr>
          <p:cNvPr id="16" name="正方形/長方形 15">
            <a:extLst>
              <a:ext uri="{FF2B5EF4-FFF2-40B4-BE49-F238E27FC236}">
                <a16:creationId xmlns:a16="http://schemas.microsoft.com/office/drawing/2014/main" id="{707F0283-81BB-4D64-837A-AE24550C7FDC}"/>
              </a:ext>
            </a:extLst>
          </p:cNvPr>
          <p:cNvSpPr>
            <a:spLocks noGrp="1"/>
          </p:cNvSpPr>
          <p:nvPr/>
        </p:nvSpPr>
        <p:spPr>
          <a:xfrm>
            <a:off x="5257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03</a:t>
            </a:r>
          </a:p>
        </p:txBody>
      </p:sp>
      <p:sp>
        <p:nvSpPr>
          <p:cNvPr id="17" name="正方形/長方形 16">
            <a:extLst>
              <a:ext uri="{FF2B5EF4-FFF2-40B4-BE49-F238E27FC236}">
                <a16:creationId xmlns:a16="http://schemas.microsoft.com/office/drawing/2014/main" id="{0BE24583-8266-43EE-9569-8E14A7E8F2DE}"/>
              </a:ext>
            </a:extLst>
          </p:cNvPr>
          <p:cNvSpPr>
            <a:spLocks noGrp="1"/>
          </p:cNvSpPr>
          <p:nvPr/>
        </p:nvSpPr>
        <p:spPr>
          <a:xfrm>
            <a:off x="5257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ブラックボックスの</a:t>
            </a:r>
          </a:p>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予測を得る</a:t>
            </a:r>
          </a:p>
        </p:txBody>
      </p:sp>
      <p:sp>
        <p:nvSpPr>
          <p:cNvPr id="18" name="正方形/長方形 17">
            <a:extLst>
              <a:ext uri="{FF2B5EF4-FFF2-40B4-BE49-F238E27FC236}">
                <a16:creationId xmlns:a16="http://schemas.microsoft.com/office/drawing/2014/main" id="{B87BCA31-032B-40B5-B864-3F5D99033DC7}"/>
              </a:ext>
            </a:extLst>
          </p:cNvPr>
          <p:cNvSpPr>
            <a:spLocks noGrp="1"/>
          </p:cNvSpPr>
          <p:nvPr/>
        </p:nvSpPr>
        <p:spPr>
          <a:xfrm>
            <a:off x="7372350" y="1600200"/>
            <a:ext cx="1952625" cy="1381125"/>
          </a:xfrm>
          <a:prstGeom prst="rect">
            <a:avLst/>
          </a:prstGeom>
          <a:solidFill>
            <a:srgbClr val="F3F4F6"/>
          </a:solidFill>
          <a:ln w="19050">
            <a:solidFill>
              <a:srgbClr val="CBD5E1"/>
            </a:solidFill>
            <a:prstDash val="solid"/>
          </a:ln>
        </p:spPr>
        <p:txBody>
          <a:bodyPr/>
          <a:lstStyle/>
          <a:p>
            <a:endParaRPr/>
          </a:p>
        </p:txBody>
      </p:sp>
      <p:sp>
        <p:nvSpPr>
          <p:cNvPr id="19" name="正方形/長方形 18">
            <a:extLst>
              <a:ext uri="{FF2B5EF4-FFF2-40B4-BE49-F238E27FC236}">
                <a16:creationId xmlns:a16="http://schemas.microsoft.com/office/drawing/2014/main" id="{0E68EC00-BE7D-427A-AECF-BDECEA00EA02}"/>
              </a:ext>
            </a:extLst>
          </p:cNvPr>
          <p:cNvSpPr>
            <a:spLocks noGrp="1"/>
          </p:cNvSpPr>
          <p:nvPr/>
        </p:nvSpPr>
        <p:spPr>
          <a:xfrm>
            <a:off x="7543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04</a:t>
            </a:r>
          </a:p>
        </p:txBody>
      </p:sp>
      <p:sp>
        <p:nvSpPr>
          <p:cNvPr id="20" name="正方形/長方形 19">
            <a:extLst>
              <a:ext uri="{FF2B5EF4-FFF2-40B4-BE49-F238E27FC236}">
                <a16:creationId xmlns:a16="http://schemas.microsoft.com/office/drawing/2014/main" id="{99234844-DF1C-46D6-B875-BEDA4551C528}"/>
              </a:ext>
            </a:extLst>
          </p:cNvPr>
          <p:cNvSpPr>
            <a:spLocks noGrp="1"/>
          </p:cNvSpPr>
          <p:nvPr/>
        </p:nvSpPr>
        <p:spPr>
          <a:xfrm>
            <a:off x="7543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近いサンプルを</a:t>
            </a:r>
          </a:p>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強く重み付け</a:t>
            </a:r>
          </a:p>
        </p:txBody>
      </p:sp>
      <p:sp>
        <p:nvSpPr>
          <p:cNvPr id="21" name="正方形/長方形 20">
            <a:extLst>
              <a:ext uri="{FF2B5EF4-FFF2-40B4-BE49-F238E27FC236}">
                <a16:creationId xmlns:a16="http://schemas.microsoft.com/office/drawing/2014/main" id="{1D073FBD-B191-4B1C-A83B-0FF5ED0650F7}"/>
              </a:ext>
            </a:extLst>
          </p:cNvPr>
          <p:cNvSpPr>
            <a:spLocks noGrp="1"/>
          </p:cNvSpPr>
          <p:nvPr/>
        </p:nvSpPr>
        <p:spPr>
          <a:xfrm>
            <a:off x="9658350" y="1600200"/>
            <a:ext cx="1952625" cy="1381125"/>
          </a:xfrm>
          <a:prstGeom prst="rect">
            <a:avLst/>
          </a:prstGeom>
          <a:solidFill>
            <a:srgbClr val="D1FAE5"/>
          </a:solidFill>
          <a:ln w="19050">
            <a:solidFill>
              <a:srgbClr val="10B981"/>
            </a:solidFill>
            <a:prstDash val="solid"/>
          </a:ln>
        </p:spPr>
        <p:txBody>
          <a:bodyPr/>
          <a:lstStyle/>
          <a:p>
            <a:endParaRPr/>
          </a:p>
        </p:txBody>
      </p:sp>
      <p:sp>
        <p:nvSpPr>
          <p:cNvPr id="22" name="正方形/長方形 21">
            <a:extLst>
              <a:ext uri="{FF2B5EF4-FFF2-40B4-BE49-F238E27FC236}">
                <a16:creationId xmlns:a16="http://schemas.microsoft.com/office/drawing/2014/main" id="{96538127-B9A1-44C0-B12F-9AB935469740}"/>
              </a:ext>
            </a:extLst>
          </p:cNvPr>
          <p:cNvSpPr>
            <a:spLocks noGrp="1"/>
          </p:cNvSpPr>
          <p:nvPr/>
        </p:nvSpPr>
        <p:spPr>
          <a:xfrm>
            <a:off x="9829800" y="1752600"/>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05</a:t>
            </a:r>
          </a:p>
        </p:txBody>
      </p:sp>
      <p:sp>
        <p:nvSpPr>
          <p:cNvPr id="23" name="正方形/長方形 22">
            <a:extLst>
              <a:ext uri="{FF2B5EF4-FFF2-40B4-BE49-F238E27FC236}">
                <a16:creationId xmlns:a16="http://schemas.microsoft.com/office/drawing/2014/main" id="{5C38DA0D-55F7-486D-823A-59D68EB35847}"/>
              </a:ext>
            </a:extLst>
          </p:cNvPr>
          <p:cNvSpPr>
            <a:spLocks noGrp="1"/>
          </p:cNvSpPr>
          <p:nvPr/>
        </p:nvSpPr>
        <p:spPr>
          <a:xfrm>
            <a:off x="9829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単純な局所モデルを</a:t>
            </a:r>
          </a:p>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学習する</a:t>
            </a:r>
          </a:p>
        </p:txBody>
      </p:sp>
      <p:cxnSp>
        <p:nvCxnSpPr>
          <p:cNvPr id="83" name="直線矢印コネクタ 58"/>
          <p:cNvCxnSpPr/>
          <p:nvPr/>
        </p:nvCxnSpPr>
        <p:spPr>
          <a:xfrm>
            <a:off x="523875" y="3362325"/>
            <a:ext cx="11049000" cy="0"/>
          </a:xfrm>
          <a:prstGeom prst="straightConnector1">
            <a:avLst/>
          </a:prstGeom>
          <a:ln w="19050">
            <a:solidFill>
              <a:srgbClr val="CBD5E1"/>
            </a:solidFill>
            <a:prstDash val="solid"/>
          </a:ln>
        </p:spPr>
      </p:cxnSp>
      <p:sp>
        <p:nvSpPr>
          <p:cNvPr id="25" name="正方形/長方形 24">
            <a:extLst>
              <a:ext uri="{FF2B5EF4-FFF2-40B4-BE49-F238E27FC236}">
                <a16:creationId xmlns:a16="http://schemas.microsoft.com/office/drawing/2014/main" id="{F978DE0E-8795-4644-A05E-64B77F5DF41C}"/>
              </a:ext>
            </a:extLst>
          </p:cNvPr>
          <p:cNvSpPr>
            <a:spLocks noGrp="1"/>
          </p:cNvSpPr>
          <p:nvPr/>
        </p:nvSpPr>
        <p:spPr>
          <a:xfrm>
            <a:off x="666750" y="3667125"/>
            <a:ext cx="2476500" cy="342900"/>
          </a:xfrm>
          <a:prstGeom prst="rect">
            <a:avLst/>
          </a:prstGeom>
          <a:noFill/>
          <a:ln w="0">
            <a:noFill/>
            <a:prstDash val="solid"/>
          </a:ln>
        </p:spPr>
        <p:txBody>
          <a:bodyPr lIns="0" tIns="0" rIns="0" bIns="0" anchor="t">
            <a:noAutofit/>
          </a:bodyPr>
          <a:lstStyle/>
          <a:p>
            <a:pPr algn="l">
              <a:buNone/>
              <a:defRPr sz="1800" b="1">
                <a:solidFill>
                  <a:srgbClr val="2563EB"/>
                </a:solidFill>
                <a:latin typeface="Yu Gothic"/>
                <a:ea typeface="Yu Gothic"/>
                <a:cs typeface="Yu Gothic"/>
              </a:defRPr>
            </a:pPr>
            <a:r>
              <a:rPr sz="1800" b="1">
                <a:solidFill>
                  <a:srgbClr val="2563EB"/>
                </a:solidFill>
                <a:latin typeface="Yu Gothic"/>
                <a:ea typeface="Yu Gothic"/>
                <a:cs typeface="Yu Gothic"/>
              </a:rPr>
              <a:t>LIMEの目的関数</a:t>
            </a:r>
          </a:p>
        </p:txBody>
      </p:sp>
      <p:sp>
        <p:nvSpPr>
          <p:cNvPr id="26" name="正方形/長方形 25">
            <a:extLst>
              <a:ext uri="{FF2B5EF4-FFF2-40B4-BE49-F238E27FC236}">
                <a16:creationId xmlns:a16="http://schemas.microsoft.com/office/drawing/2014/main" id="{F09652C9-8153-4244-83C0-D400D15A0ADE}"/>
              </a:ext>
            </a:extLst>
          </p:cNvPr>
          <p:cNvSpPr>
            <a:spLocks noGrp="1"/>
          </p:cNvSpPr>
          <p:nvPr/>
        </p:nvSpPr>
        <p:spPr>
          <a:xfrm>
            <a:off x="2476500" y="4238625"/>
            <a:ext cx="1428750" cy="476250"/>
          </a:xfrm>
          <a:prstGeom prst="rect">
            <a:avLst/>
          </a:prstGeom>
          <a:noFill/>
          <a:ln w="0">
            <a:noFill/>
            <a:prstDash val="solid"/>
          </a:ln>
        </p:spPr>
        <p:txBody>
          <a:bodyPr lIns="0" tIns="0" rIns="0" bIns="0" anchor="t">
            <a:noAutofit/>
          </a:bodyPr>
          <a:lstStyle/>
          <a:p>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ξ(x) =</a:t>
            </a:r>
          </a:p>
        </p:txBody>
      </p:sp>
      <p:sp>
        <p:nvSpPr>
          <p:cNvPr id="27" name="正方形/長方形 26">
            <a:extLst>
              <a:ext uri="{FF2B5EF4-FFF2-40B4-BE49-F238E27FC236}">
                <a16:creationId xmlns:a16="http://schemas.microsoft.com/office/drawing/2014/main" id="{DD816D76-BD5E-4936-8F81-8DE16ECCD1CB}"/>
              </a:ext>
            </a:extLst>
          </p:cNvPr>
          <p:cNvSpPr>
            <a:spLocks noGrp="1"/>
          </p:cNvSpPr>
          <p:nvPr/>
        </p:nvSpPr>
        <p:spPr>
          <a:xfrm>
            <a:off x="3905250" y="4133850"/>
            <a:ext cx="1524000" cy="438150"/>
          </a:xfrm>
          <a:prstGeom prst="rect">
            <a:avLst/>
          </a:prstGeom>
          <a:noFill/>
          <a:ln w="0">
            <a:noFill/>
            <a:prstDash val="solid"/>
          </a:ln>
        </p:spPr>
        <p:txBody>
          <a:bodyPr lIns="0" tIns="0" rIns="0" bIns="0" anchor="t">
            <a:noAutofit/>
          </a:bodyPr>
          <a:lstStyle/>
          <a:p>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arg min</a:t>
            </a:r>
          </a:p>
        </p:txBody>
      </p:sp>
      <p:sp>
        <p:nvSpPr>
          <p:cNvPr id="28" name="正方形/長方形 27">
            <a:extLst>
              <a:ext uri="{FF2B5EF4-FFF2-40B4-BE49-F238E27FC236}">
                <a16:creationId xmlns:a16="http://schemas.microsoft.com/office/drawing/2014/main" id="{2287E875-21D8-45D1-8938-217819775223}"/>
              </a:ext>
            </a:extLst>
          </p:cNvPr>
          <p:cNvSpPr>
            <a:spLocks noGrp="1"/>
          </p:cNvSpPr>
          <p:nvPr/>
        </p:nvSpPr>
        <p:spPr>
          <a:xfrm>
            <a:off x="4143375" y="4552950"/>
            <a:ext cx="1047750" cy="228600"/>
          </a:xfrm>
          <a:prstGeom prst="rect">
            <a:avLst/>
          </a:prstGeom>
          <a:noFill/>
          <a:ln w="0">
            <a:noFill/>
            <a:prstDash val="solid"/>
          </a:ln>
        </p:spPr>
        <p:txBody>
          <a:bodyPr lIns="0" tIns="0" rIns="0" bIns="0" anchor="t">
            <a:noAutofit/>
          </a:bodyPr>
          <a:lstStyle/>
          <a:p>
            <a:pPr algn="ctr">
              <a:buNone/>
              <a:defRPr sz="1350" b="0">
                <a:solidFill>
                  <a:srgbClr val="111827"/>
                </a:solidFill>
                <a:latin typeface="Cambria Math"/>
                <a:ea typeface="Cambria Math"/>
                <a:cs typeface="Cambria Math"/>
              </a:defRPr>
            </a:pPr>
            <a:r>
              <a:rPr sz="1350" b="0">
                <a:solidFill>
                  <a:srgbClr val="111827"/>
                </a:solidFill>
                <a:latin typeface="Cambria Math"/>
                <a:ea typeface="Cambria Math"/>
                <a:cs typeface="Cambria Math"/>
              </a:rPr>
              <a:t>g ∈ G</a:t>
            </a:r>
          </a:p>
        </p:txBody>
      </p:sp>
      <p:sp>
        <p:nvSpPr>
          <p:cNvPr id="29" name="正方形/長方形 28">
            <a:extLst>
              <a:ext uri="{FF2B5EF4-FFF2-40B4-BE49-F238E27FC236}">
                <a16:creationId xmlns:a16="http://schemas.microsoft.com/office/drawing/2014/main" id="{D5B2C96D-C8AF-4E11-9BD9-FE8F82D3D24E}"/>
              </a:ext>
            </a:extLst>
          </p:cNvPr>
          <p:cNvSpPr>
            <a:spLocks noGrp="1"/>
          </p:cNvSpPr>
          <p:nvPr/>
        </p:nvSpPr>
        <p:spPr>
          <a:xfrm>
            <a:off x="5429250" y="4238625"/>
            <a:ext cx="4476750" cy="476250"/>
          </a:xfrm>
          <a:prstGeom prst="rect">
            <a:avLst/>
          </a:prstGeom>
          <a:noFill/>
          <a:ln w="0">
            <a:noFill/>
            <a:prstDash val="solid"/>
          </a:ln>
        </p:spPr>
        <p:txBody>
          <a:bodyPr lIns="0" tIns="0" rIns="0" bIns="0" anchor="t">
            <a:noAutofit/>
          </a:bodyPr>
          <a:lstStyle/>
          <a:p>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 L(f, g, πₓ) + Ω(g) }</a:t>
            </a:r>
          </a:p>
        </p:txBody>
      </p:sp>
      <p:sp>
        <p:nvSpPr>
          <p:cNvPr id="30" name="正方形/長方形 29">
            <a:extLst>
              <a:ext uri="{FF2B5EF4-FFF2-40B4-BE49-F238E27FC236}">
                <a16:creationId xmlns:a16="http://schemas.microsoft.com/office/drawing/2014/main" id="{ADC570E3-8068-49BC-8287-8DBD23FB616F}"/>
              </a:ext>
            </a:extLst>
          </p:cNvPr>
          <p:cNvSpPr>
            <a:spLocks noGrp="1"/>
          </p:cNvSpPr>
          <p:nvPr/>
        </p:nvSpPr>
        <p:spPr>
          <a:xfrm>
            <a:off x="1524000" y="5048250"/>
            <a:ext cx="4000500" cy="742950"/>
          </a:xfrm>
          <a:prstGeom prst="rect">
            <a:avLst/>
          </a:prstGeom>
          <a:solidFill>
            <a:srgbClr val="DBEAFE"/>
          </a:solidFill>
          <a:ln w="0">
            <a:solidFill>
              <a:srgbClr val="2563EB"/>
            </a:solidFill>
            <a:prstDash val="solid"/>
          </a:ln>
        </p:spPr>
        <p:txBody>
          <a:bodyPr/>
          <a:lstStyle/>
          <a:p>
            <a:endParaRPr/>
          </a:p>
        </p:txBody>
      </p:sp>
      <p:sp>
        <p:nvSpPr>
          <p:cNvPr id="31" name="正方形/長方形 30">
            <a:extLst>
              <a:ext uri="{FF2B5EF4-FFF2-40B4-BE49-F238E27FC236}">
                <a16:creationId xmlns:a16="http://schemas.microsoft.com/office/drawing/2014/main" id="{44DF11AC-6EF3-4048-8180-BFB46459E624}"/>
              </a:ext>
            </a:extLst>
          </p:cNvPr>
          <p:cNvSpPr>
            <a:spLocks noGrp="1"/>
          </p:cNvSpPr>
          <p:nvPr/>
        </p:nvSpPr>
        <p:spPr>
          <a:xfrm>
            <a:off x="1714500" y="5153025"/>
            <a:ext cx="3619500" cy="533400"/>
          </a:xfrm>
          <a:prstGeom prst="rect">
            <a:avLst/>
          </a:prstGeom>
          <a:noFill/>
          <a:ln w="0">
            <a:noFill/>
            <a:prstDash val="solid"/>
          </a:ln>
        </p:spPr>
        <p:txBody>
          <a:bodyPr lIns="0" tIns="0" rIns="0" bIns="0" anchor="t">
            <a:noAutofit/>
          </a:bodyPr>
          <a:lstStyle/>
          <a:p>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L(f, g, πₓ)</a:t>
            </a:r>
          </a:p>
          <a:p>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対象点の近くで予測を再現</a:t>
            </a:r>
          </a:p>
        </p:txBody>
      </p:sp>
      <p:sp>
        <p:nvSpPr>
          <p:cNvPr id="32" name="正方形/長方形 31">
            <a:extLst>
              <a:ext uri="{FF2B5EF4-FFF2-40B4-BE49-F238E27FC236}">
                <a16:creationId xmlns:a16="http://schemas.microsoft.com/office/drawing/2014/main" id="{B08EA841-27BB-487C-AD94-F0AB9A1BA6B1}"/>
              </a:ext>
            </a:extLst>
          </p:cNvPr>
          <p:cNvSpPr>
            <a:spLocks noGrp="1"/>
          </p:cNvSpPr>
          <p:nvPr/>
        </p:nvSpPr>
        <p:spPr>
          <a:xfrm>
            <a:off x="5791200" y="5191125"/>
            <a:ext cx="552450" cy="476250"/>
          </a:xfrm>
          <a:prstGeom prst="rect">
            <a:avLst/>
          </a:prstGeom>
          <a:noFill/>
          <a:ln w="0">
            <a:noFill/>
            <a:prstDash val="solid"/>
          </a:ln>
        </p:spPr>
        <p:txBody>
          <a:bodyPr lIns="0" tIns="0" rIns="0" bIns="0" anchor="t">
            <a:noAutofit/>
          </a:bodyPr>
          <a:lstStyle/>
          <a:p>
            <a:pPr algn="ctr">
              <a:buNone/>
              <a:defRPr sz="2400" b="1">
                <a:solidFill>
                  <a:srgbClr val="111827"/>
                </a:solidFill>
                <a:latin typeface="Yu Gothic"/>
                <a:ea typeface="Yu Gothic"/>
                <a:cs typeface="Yu Gothic"/>
              </a:defRPr>
            </a:pPr>
            <a:r>
              <a:rPr sz="2400" b="1">
                <a:solidFill>
                  <a:srgbClr val="111827"/>
                </a:solidFill>
                <a:latin typeface="Yu Gothic"/>
                <a:ea typeface="Yu Gothic"/>
                <a:cs typeface="Yu Gothic"/>
              </a:rPr>
              <a:t>＋</a:t>
            </a:r>
          </a:p>
        </p:txBody>
      </p:sp>
      <p:sp>
        <p:nvSpPr>
          <p:cNvPr id="33" name="正方形/長方形 32">
            <a:extLst>
              <a:ext uri="{FF2B5EF4-FFF2-40B4-BE49-F238E27FC236}">
                <a16:creationId xmlns:a16="http://schemas.microsoft.com/office/drawing/2014/main" id="{BA684434-869B-46F4-9C4F-52D923F007E0}"/>
              </a:ext>
            </a:extLst>
          </p:cNvPr>
          <p:cNvSpPr>
            <a:spLocks noGrp="1"/>
          </p:cNvSpPr>
          <p:nvPr/>
        </p:nvSpPr>
        <p:spPr>
          <a:xfrm>
            <a:off x="6572250" y="5048250"/>
            <a:ext cx="4000500" cy="742950"/>
          </a:xfrm>
          <a:prstGeom prst="rect">
            <a:avLst/>
          </a:prstGeom>
          <a:solidFill>
            <a:srgbClr val="D1FAE5"/>
          </a:solidFill>
          <a:ln w="0">
            <a:solidFill>
              <a:srgbClr val="10B981"/>
            </a:solidFill>
            <a:prstDash val="solid"/>
          </a:ln>
        </p:spPr>
        <p:txBody>
          <a:bodyPr/>
          <a:lstStyle/>
          <a:p>
            <a:endParaRPr/>
          </a:p>
        </p:txBody>
      </p:sp>
      <p:sp>
        <p:nvSpPr>
          <p:cNvPr id="34" name="正方形/長方形 33">
            <a:extLst>
              <a:ext uri="{FF2B5EF4-FFF2-40B4-BE49-F238E27FC236}">
                <a16:creationId xmlns:a16="http://schemas.microsoft.com/office/drawing/2014/main" id="{6E00E308-AD4A-4754-94BA-164218CABF44}"/>
              </a:ext>
            </a:extLst>
          </p:cNvPr>
          <p:cNvSpPr>
            <a:spLocks noGrp="1"/>
          </p:cNvSpPr>
          <p:nvPr/>
        </p:nvSpPr>
        <p:spPr>
          <a:xfrm>
            <a:off x="6762750" y="5153025"/>
            <a:ext cx="3619500" cy="533400"/>
          </a:xfrm>
          <a:prstGeom prst="rect">
            <a:avLst/>
          </a:prstGeom>
          <a:noFill/>
          <a:ln w="0">
            <a:noFill/>
            <a:prstDash val="solid"/>
          </a:ln>
        </p:spPr>
        <p:txBody>
          <a:bodyPr lIns="0" tIns="0" rIns="0" bIns="0" anchor="t">
            <a:noAutofit/>
          </a:bodyPr>
          <a:lstStyle/>
          <a:p>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Ω(g)</a:t>
            </a:r>
          </a:p>
          <a:p>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人が理解できる程度に単純</a:t>
            </a:r>
          </a:p>
        </p:txBody>
      </p:sp>
      <p:sp>
        <p:nvSpPr>
          <p:cNvPr id="35" name="正方形/長方形 34">
            <a:extLst>
              <a:ext uri="{FF2B5EF4-FFF2-40B4-BE49-F238E27FC236}">
                <a16:creationId xmlns:a16="http://schemas.microsoft.com/office/drawing/2014/main" id="{B2AE5D1C-8582-4703-94A3-93C7DA5A4462}"/>
              </a:ext>
            </a:extLst>
          </p:cNvPr>
          <p:cNvSpPr>
            <a:spLocks noGrp="1"/>
          </p:cNvSpPr>
          <p:nvPr/>
        </p:nvSpPr>
        <p:spPr>
          <a:xfrm>
            <a:off x="3333750" y="6019800"/>
            <a:ext cx="5524500" cy="285750"/>
          </a:xfrm>
          <a:prstGeom prst="rect">
            <a:avLst/>
          </a:prstGeom>
          <a:noFill/>
          <a:ln w="0">
            <a:noFill/>
            <a:prstDash val="solid"/>
          </a:ln>
        </p:spPr>
        <p:txBody>
          <a:bodyPr lIns="0" tIns="0" rIns="0" bIns="0" anchor="t">
            <a:noAutofit/>
          </a:bodyPr>
          <a:lstStyle/>
          <a:p>
            <a:pPr algn="ctr">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良い説明 ＝ 局所的な再現性 ＋ 説明の単純さ</a:t>
            </a:r>
          </a:p>
        </p:txBody>
      </p:sp>
    </p:spTree>
    <p:extLst>
      <p:ext uri="{BB962C8B-B14F-4D97-AF65-F5344CB8AC3E}">
        <p14:creationId xmlns:p14="http://schemas.microsoft.com/office/powerpoint/2010/main" val="126314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正方形/長方形 27">
            <a:extLst>
              <a:ext uri="{FF2B5EF4-FFF2-40B4-BE49-F238E27FC236}">
                <a16:creationId xmlns:a16="http://schemas.microsoft.com/office/drawing/2014/main" id="{0E5513AE-D463-432D-A0C5-9022E7C37BAE}"/>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5-title">
            <a:extLst>
              <a:ext uri="{FF2B5EF4-FFF2-40B4-BE49-F238E27FC236}">
                <a16:creationId xmlns:a16="http://schemas.microsoft.com/office/drawing/2014/main" id="{772F1BB3-F6ED-4F4A-B5AD-6C57B9A7C46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LIMEは「対象クラス vs その他」を説明する</a:t>
            </a:r>
          </a:p>
        </p:txBody>
      </p:sp>
      <p:sp>
        <p:nvSpPr>
          <p:cNvPr id="3" name="slide-5-subtitle">
            <a:extLst>
              <a:ext uri="{FF2B5EF4-FFF2-40B4-BE49-F238E27FC236}">
                <a16:creationId xmlns:a16="http://schemas.microsoft.com/office/drawing/2014/main" id="{B835CB3E-DA0D-4FCC-8945-0F6CE70ED1BB}"/>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まずは生存・非生存の2値分類として読む</a:t>
            </a:r>
          </a:p>
        </p:txBody>
      </p:sp>
      <p:sp>
        <p:nvSpPr>
          <p:cNvPr id="4" name="正方形/長方形 3">
            <a:extLst>
              <a:ext uri="{FF2B5EF4-FFF2-40B4-BE49-F238E27FC236}">
                <a16:creationId xmlns:a16="http://schemas.microsoft.com/office/drawing/2014/main" id="{B84E8C3F-4873-4A78-855A-F2F549C3353C}"/>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05</a:t>
            </a:r>
          </a:p>
        </p:txBody>
      </p:sp>
      <p:sp>
        <p:nvSpPr>
          <p:cNvPr id="5" name="正方形/長方形 4">
            <a:extLst>
              <a:ext uri="{FF2B5EF4-FFF2-40B4-BE49-F238E27FC236}">
                <a16:creationId xmlns:a16="http://schemas.microsoft.com/office/drawing/2014/main" id="{2FFA0381-F443-4D97-80EF-57478058C8E2}"/>
              </a:ext>
            </a:extLst>
          </p:cNvPr>
          <p:cNvSpPr>
            <a:spLocks noGrp="1"/>
          </p:cNvSpPr>
          <p:nvPr/>
        </p:nvSpPr>
        <p:spPr>
          <a:xfrm>
            <a:off x="762000" y="1524000"/>
            <a:ext cx="657225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「生存」に対する局所的な特徴の重み</a:t>
            </a:r>
          </a:p>
        </p:txBody>
      </p:sp>
      <p:cxnSp>
        <p:nvCxnSpPr>
          <p:cNvPr id="39" name="直線矢印コネクタ 32"/>
          <p:cNvCxnSpPr/>
          <p:nvPr/>
        </p:nvCxnSpPr>
        <p:spPr>
          <a:xfrm>
            <a:off x="4095750" y="1952625"/>
            <a:ext cx="0" cy="2952750"/>
          </a:xfrm>
          <a:prstGeom prst="straightConnector1">
            <a:avLst/>
          </a:prstGeom>
          <a:ln w="19050">
            <a:solidFill>
              <a:srgbClr val="111827"/>
            </a:solidFill>
            <a:prstDash val="solid"/>
          </a:ln>
        </p:spPr>
      </p:cxnSp>
      <p:sp>
        <p:nvSpPr>
          <p:cNvPr id="7" name="正方形/長方形 6">
            <a:extLst>
              <a:ext uri="{FF2B5EF4-FFF2-40B4-BE49-F238E27FC236}">
                <a16:creationId xmlns:a16="http://schemas.microsoft.com/office/drawing/2014/main" id="{5CF82F03-FAB6-4E07-A512-61D6874CD037}"/>
              </a:ext>
            </a:extLst>
          </p:cNvPr>
          <p:cNvSpPr>
            <a:spLocks noGrp="1"/>
          </p:cNvSpPr>
          <p:nvPr/>
        </p:nvSpPr>
        <p:spPr>
          <a:xfrm>
            <a:off x="2381250" y="1952625"/>
            <a:ext cx="1524000" cy="247650"/>
          </a:xfrm>
          <a:prstGeom prst="rect">
            <a:avLst/>
          </a:prstGeom>
          <a:noFill/>
          <a:ln w="0">
            <a:noFill/>
            <a:prstDash val="solid"/>
          </a:ln>
        </p:spPr>
        <p:txBody>
          <a:bodyPr lIns="0" tIns="0" rIns="0" bIns="0" anchor="t">
            <a:noAutofit/>
          </a:bodyPr>
          <a:lstStyle/>
          <a:p>
            <a:pPr algn="r">
              <a:buNone/>
              <a:defRPr sz="1275" b="1">
                <a:solidFill>
                  <a:srgbClr val="EF4444"/>
                </a:solidFill>
                <a:latin typeface="Yu Gothic"/>
                <a:ea typeface="Yu Gothic"/>
                <a:cs typeface="Yu Gothic"/>
              </a:defRPr>
            </a:pPr>
            <a:r>
              <a:rPr sz="1275" b="1">
                <a:solidFill>
                  <a:srgbClr val="EF4444"/>
                </a:solidFill>
                <a:latin typeface="Yu Gothic"/>
                <a:ea typeface="Yu Gothic"/>
                <a:cs typeface="Yu Gothic"/>
              </a:rPr>
              <a:t>生存を抑える</a:t>
            </a:r>
          </a:p>
        </p:txBody>
      </p:sp>
      <p:sp>
        <p:nvSpPr>
          <p:cNvPr id="8" name="正方形/長方形 7">
            <a:extLst>
              <a:ext uri="{FF2B5EF4-FFF2-40B4-BE49-F238E27FC236}">
                <a16:creationId xmlns:a16="http://schemas.microsoft.com/office/drawing/2014/main" id="{94CDEB06-5BB9-45A8-84D1-81A7E02CBE63}"/>
              </a:ext>
            </a:extLst>
          </p:cNvPr>
          <p:cNvSpPr>
            <a:spLocks noGrp="1"/>
          </p:cNvSpPr>
          <p:nvPr/>
        </p:nvSpPr>
        <p:spPr>
          <a:xfrm>
            <a:off x="4286250" y="1952625"/>
            <a:ext cx="171450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生存を支持する</a:t>
            </a:r>
          </a:p>
        </p:txBody>
      </p:sp>
      <p:sp>
        <p:nvSpPr>
          <p:cNvPr id="9" name="正方形/長方形 8">
            <a:extLst>
              <a:ext uri="{FF2B5EF4-FFF2-40B4-BE49-F238E27FC236}">
                <a16:creationId xmlns:a16="http://schemas.microsoft.com/office/drawing/2014/main" id="{34BCD538-98B7-463F-B7A0-A8A9CEAD0692}"/>
              </a:ext>
            </a:extLst>
          </p:cNvPr>
          <p:cNvSpPr>
            <a:spLocks noGrp="1"/>
          </p:cNvSpPr>
          <p:nvPr/>
        </p:nvSpPr>
        <p:spPr>
          <a:xfrm>
            <a:off x="762000" y="2428875"/>
            <a:ext cx="2238375" cy="266700"/>
          </a:xfrm>
          <a:prstGeom prst="rect">
            <a:avLst/>
          </a:prstGeom>
          <a:noFill/>
          <a:ln w="0">
            <a:noFill/>
            <a:prstDash val="solid"/>
          </a:ln>
        </p:spPr>
        <p:txBody>
          <a:bodyPr lIns="0" tIns="0" rIns="0" bIns="0" anchor="t">
            <a:noAutofit/>
          </a:bodyPr>
          <a:lstStyle/>
          <a:p>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運賃</a:t>
            </a:r>
          </a:p>
        </p:txBody>
      </p:sp>
      <p:sp>
        <p:nvSpPr>
          <p:cNvPr id="10" name="正方形/長方形 9">
            <a:extLst>
              <a:ext uri="{FF2B5EF4-FFF2-40B4-BE49-F238E27FC236}">
                <a16:creationId xmlns:a16="http://schemas.microsoft.com/office/drawing/2014/main" id="{0713D208-9C0A-4E2E-BD42-4D57C9BA6648}"/>
              </a:ext>
            </a:extLst>
          </p:cNvPr>
          <p:cNvSpPr>
            <a:spLocks noGrp="1"/>
          </p:cNvSpPr>
          <p:nvPr/>
        </p:nvSpPr>
        <p:spPr>
          <a:xfrm>
            <a:off x="4095750" y="2476500"/>
            <a:ext cx="1714500" cy="209550"/>
          </a:xfrm>
          <a:prstGeom prst="rect">
            <a:avLst/>
          </a:prstGeom>
          <a:solidFill>
            <a:srgbClr val="10B981"/>
          </a:solidFill>
          <a:ln w="0">
            <a:solidFill>
              <a:srgbClr val="10B981"/>
            </a:solidFill>
            <a:prstDash val="solid"/>
          </a:ln>
        </p:spPr>
        <p:txBody>
          <a:bodyPr/>
          <a:lstStyle/>
          <a:p>
            <a:endParaRPr/>
          </a:p>
        </p:txBody>
      </p:sp>
      <p:sp>
        <p:nvSpPr>
          <p:cNvPr id="11" name="正方形/長方形 10">
            <a:extLst>
              <a:ext uri="{FF2B5EF4-FFF2-40B4-BE49-F238E27FC236}">
                <a16:creationId xmlns:a16="http://schemas.microsoft.com/office/drawing/2014/main" id="{A89A6A5C-24F3-4C74-9F06-CF1B00891BE8}"/>
              </a:ext>
            </a:extLst>
          </p:cNvPr>
          <p:cNvSpPr>
            <a:spLocks noGrp="1"/>
          </p:cNvSpPr>
          <p:nvPr/>
        </p:nvSpPr>
        <p:spPr>
          <a:xfrm>
            <a:off x="5905500" y="2428875"/>
            <a:ext cx="704850" cy="266700"/>
          </a:xfrm>
          <a:prstGeom prst="rect">
            <a:avLst/>
          </a:prstGeom>
          <a:noFill/>
          <a:ln w="0">
            <a:noFill/>
            <a:prstDash val="solid"/>
          </a:ln>
        </p:spPr>
        <p:txBody>
          <a:bodyPr lIns="0" tIns="0" rIns="0" bIns="0" anchor="t">
            <a:noAutofit/>
          </a:bodyPr>
          <a:lstStyle/>
          <a:p>
            <a:pPr algn="l">
              <a:buNone/>
              <a:defRPr sz="1350" b="1">
                <a:solidFill>
                  <a:srgbClr val="10B981"/>
                </a:solidFill>
                <a:latin typeface="Yu Gothic"/>
                <a:ea typeface="Yu Gothic"/>
                <a:cs typeface="Yu Gothic"/>
              </a:defRPr>
            </a:pPr>
            <a:r>
              <a:rPr sz="1350" b="1">
                <a:solidFill>
                  <a:srgbClr val="10B981"/>
                </a:solidFill>
                <a:latin typeface="Yu Gothic"/>
                <a:ea typeface="Yu Gothic"/>
                <a:cs typeface="Yu Gothic"/>
              </a:rPr>
              <a:t>+0.50</a:t>
            </a:r>
          </a:p>
        </p:txBody>
      </p:sp>
      <p:sp>
        <p:nvSpPr>
          <p:cNvPr id="12" name="正方形/長方形 11">
            <a:extLst>
              <a:ext uri="{FF2B5EF4-FFF2-40B4-BE49-F238E27FC236}">
                <a16:creationId xmlns:a16="http://schemas.microsoft.com/office/drawing/2014/main" id="{A49E7958-33D5-4B7F-B95E-892F13EA4029}"/>
              </a:ext>
            </a:extLst>
          </p:cNvPr>
          <p:cNvSpPr>
            <a:spLocks noGrp="1"/>
          </p:cNvSpPr>
          <p:nvPr/>
        </p:nvSpPr>
        <p:spPr>
          <a:xfrm>
            <a:off x="762000" y="3048000"/>
            <a:ext cx="2238375" cy="266700"/>
          </a:xfrm>
          <a:prstGeom prst="rect">
            <a:avLst/>
          </a:prstGeom>
          <a:noFill/>
          <a:ln w="0">
            <a:noFill/>
            <a:prstDash val="solid"/>
          </a:ln>
        </p:spPr>
        <p:txBody>
          <a:bodyPr lIns="0" tIns="0" rIns="0" bIns="0" anchor="t">
            <a:noAutofit/>
          </a:bodyPr>
          <a:lstStyle/>
          <a:p>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客室等級</a:t>
            </a:r>
          </a:p>
        </p:txBody>
      </p:sp>
      <p:sp>
        <p:nvSpPr>
          <p:cNvPr id="13" name="正方形/長方形 12">
            <a:extLst>
              <a:ext uri="{FF2B5EF4-FFF2-40B4-BE49-F238E27FC236}">
                <a16:creationId xmlns:a16="http://schemas.microsoft.com/office/drawing/2014/main" id="{1781A06F-A67B-4D8C-BC86-A6E99E2B2123}"/>
              </a:ext>
            </a:extLst>
          </p:cNvPr>
          <p:cNvSpPr>
            <a:spLocks noGrp="1"/>
          </p:cNvSpPr>
          <p:nvPr/>
        </p:nvSpPr>
        <p:spPr>
          <a:xfrm>
            <a:off x="4095750" y="3095625"/>
            <a:ext cx="1097280" cy="209550"/>
          </a:xfrm>
          <a:prstGeom prst="rect">
            <a:avLst/>
          </a:prstGeom>
          <a:solidFill>
            <a:srgbClr val="10B981"/>
          </a:solidFill>
          <a:ln w="0">
            <a:solidFill>
              <a:srgbClr val="10B981"/>
            </a:solidFill>
            <a:prstDash val="solid"/>
          </a:ln>
        </p:spPr>
        <p:txBody>
          <a:bodyPr/>
          <a:lstStyle/>
          <a:p>
            <a:endParaRPr/>
          </a:p>
        </p:txBody>
      </p:sp>
      <p:sp>
        <p:nvSpPr>
          <p:cNvPr id="14" name="正方形/長方形 13">
            <a:extLst>
              <a:ext uri="{FF2B5EF4-FFF2-40B4-BE49-F238E27FC236}">
                <a16:creationId xmlns:a16="http://schemas.microsoft.com/office/drawing/2014/main" id="{E3D05D17-30BA-42DB-AB8B-5E0BCAA54B17}"/>
              </a:ext>
            </a:extLst>
          </p:cNvPr>
          <p:cNvSpPr>
            <a:spLocks noGrp="1"/>
          </p:cNvSpPr>
          <p:nvPr/>
        </p:nvSpPr>
        <p:spPr>
          <a:xfrm>
            <a:off x="5288280" y="3048000"/>
            <a:ext cx="704850" cy="266700"/>
          </a:xfrm>
          <a:prstGeom prst="rect">
            <a:avLst/>
          </a:prstGeom>
          <a:noFill/>
          <a:ln w="0">
            <a:noFill/>
            <a:prstDash val="solid"/>
          </a:ln>
        </p:spPr>
        <p:txBody>
          <a:bodyPr lIns="0" tIns="0" rIns="0" bIns="0" anchor="t">
            <a:noAutofit/>
          </a:bodyPr>
          <a:lstStyle/>
          <a:p>
            <a:pPr algn="l">
              <a:buNone/>
              <a:defRPr sz="1350" b="1">
                <a:solidFill>
                  <a:srgbClr val="10B981"/>
                </a:solidFill>
                <a:latin typeface="Yu Gothic"/>
                <a:ea typeface="Yu Gothic"/>
                <a:cs typeface="Yu Gothic"/>
              </a:defRPr>
            </a:pPr>
            <a:r>
              <a:rPr sz="1350" b="1">
                <a:solidFill>
                  <a:srgbClr val="10B981"/>
                </a:solidFill>
                <a:latin typeface="Yu Gothic"/>
                <a:ea typeface="Yu Gothic"/>
                <a:cs typeface="Yu Gothic"/>
              </a:rPr>
              <a:t>+0.32</a:t>
            </a:r>
          </a:p>
        </p:txBody>
      </p:sp>
      <p:sp>
        <p:nvSpPr>
          <p:cNvPr id="15" name="正方形/長方形 14">
            <a:extLst>
              <a:ext uri="{FF2B5EF4-FFF2-40B4-BE49-F238E27FC236}">
                <a16:creationId xmlns:a16="http://schemas.microsoft.com/office/drawing/2014/main" id="{AF6A6FA5-C386-4106-B3F1-2B0ED03C0CE4}"/>
              </a:ext>
            </a:extLst>
          </p:cNvPr>
          <p:cNvSpPr>
            <a:spLocks noGrp="1"/>
          </p:cNvSpPr>
          <p:nvPr/>
        </p:nvSpPr>
        <p:spPr>
          <a:xfrm>
            <a:off x="762000" y="3667125"/>
            <a:ext cx="2238375" cy="266700"/>
          </a:xfrm>
          <a:prstGeom prst="rect">
            <a:avLst/>
          </a:prstGeom>
          <a:noFill/>
          <a:ln w="0">
            <a:noFill/>
            <a:prstDash val="solid"/>
          </a:ln>
        </p:spPr>
        <p:txBody>
          <a:bodyPr lIns="0" tIns="0" rIns="0" bIns="0" anchor="t">
            <a:noAutofit/>
          </a:bodyPr>
          <a:lstStyle/>
          <a:p>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年齢</a:t>
            </a:r>
          </a:p>
        </p:txBody>
      </p:sp>
      <p:sp>
        <p:nvSpPr>
          <p:cNvPr id="16" name="正方形/長方形 15">
            <a:extLst>
              <a:ext uri="{FF2B5EF4-FFF2-40B4-BE49-F238E27FC236}">
                <a16:creationId xmlns:a16="http://schemas.microsoft.com/office/drawing/2014/main" id="{D8ED2191-57D5-45FF-BB18-9F13383E8342}"/>
              </a:ext>
            </a:extLst>
          </p:cNvPr>
          <p:cNvSpPr>
            <a:spLocks noGrp="1"/>
          </p:cNvSpPr>
          <p:nvPr/>
        </p:nvSpPr>
        <p:spPr>
          <a:xfrm>
            <a:off x="3409950" y="3714750"/>
            <a:ext cx="685800" cy="209550"/>
          </a:xfrm>
          <a:prstGeom prst="rect">
            <a:avLst/>
          </a:prstGeom>
          <a:solidFill>
            <a:srgbClr val="EF4444"/>
          </a:solidFill>
          <a:ln w="0">
            <a:solidFill>
              <a:srgbClr val="EF4444"/>
            </a:solidFill>
            <a:prstDash val="solid"/>
          </a:ln>
        </p:spPr>
        <p:txBody>
          <a:bodyPr/>
          <a:lstStyle/>
          <a:p>
            <a:endParaRPr/>
          </a:p>
        </p:txBody>
      </p:sp>
      <p:sp>
        <p:nvSpPr>
          <p:cNvPr id="17" name="正方形/長方形 16">
            <a:extLst>
              <a:ext uri="{FF2B5EF4-FFF2-40B4-BE49-F238E27FC236}">
                <a16:creationId xmlns:a16="http://schemas.microsoft.com/office/drawing/2014/main" id="{F84C2A86-339C-4BF0-AEA3-990CE0B29CF1}"/>
              </a:ext>
            </a:extLst>
          </p:cNvPr>
          <p:cNvSpPr>
            <a:spLocks noGrp="1"/>
          </p:cNvSpPr>
          <p:nvPr/>
        </p:nvSpPr>
        <p:spPr>
          <a:xfrm>
            <a:off x="2724150" y="3667125"/>
            <a:ext cx="609600" cy="266700"/>
          </a:xfrm>
          <a:prstGeom prst="rect">
            <a:avLst/>
          </a:prstGeom>
          <a:noFill/>
          <a:ln w="0">
            <a:noFill/>
            <a:prstDash val="solid"/>
          </a:ln>
        </p:spPr>
        <p:txBody>
          <a:bodyPr lIns="0" tIns="0" rIns="0" bIns="0" anchor="t">
            <a:noAutofit/>
          </a:bodyPr>
          <a:lstStyle/>
          <a:p>
            <a:pPr algn="r">
              <a:buNone/>
              <a:defRPr sz="1350" b="1">
                <a:solidFill>
                  <a:srgbClr val="EF4444"/>
                </a:solidFill>
                <a:latin typeface="Yu Gothic"/>
                <a:ea typeface="Yu Gothic"/>
                <a:cs typeface="Yu Gothic"/>
              </a:defRPr>
            </a:pPr>
            <a:r>
              <a:rPr sz="1350" b="1">
                <a:solidFill>
                  <a:srgbClr val="EF4444"/>
                </a:solidFill>
                <a:latin typeface="Yu Gothic"/>
                <a:ea typeface="Yu Gothic"/>
                <a:cs typeface="Yu Gothic"/>
              </a:rPr>
              <a:t>-0.20</a:t>
            </a:r>
          </a:p>
        </p:txBody>
      </p:sp>
      <p:sp>
        <p:nvSpPr>
          <p:cNvPr id="18" name="正方形/長方形 17">
            <a:extLst>
              <a:ext uri="{FF2B5EF4-FFF2-40B4-BE49-F238E27FC236}">
                <a16:creationId xmlns:a16="http://schemas.microsoft.com/office/drawing/2014/main" id="{DFA0442F-6DA2-4030-AFBA-6938DB5A0443}"/>
              </a:ext>
            </a:extLst>
          </p:cNvPr>
          <p:cNvSpPr>
            <a:spLocks noGrp="1"/>
          </p:cNvSpPr>
          <p:nvPr/>
        </p:nvSpPr>
        <p:spPr>
          <a:xfrm>
            <a:off x="762000" y="4286250"/>
            <a:ext cx="2238375" cy="266700"/>
          </a:xfrm>
          <a:prstGeom prst="rect">
            <a:avLst/>
          </a:prstGeom>
          <a:noFill/>
          <a:ln w="0">
            <a:noFill/>
            <a:prstDash val="solid"/>
          </a:ln>
        </p:spPr>
        <p:txBody>
          <a:bodyPr lIns="0" tIns="0" rIns="0" bIns="0" anchor="t">
            <a:noAutofit/>
          </a:bodyPr>
          <a:lstStyle/>
          <a:p>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同乗家族数</a:t>
            </a:r>
          </a:p>
        </p:txBody>
      </p:sp>
      <p:sp>
        <p:nvSpPr>
          <p:cNvPr id="19" name="正方形/長方形 18">
            <a:extLst>
              <a:ext uri="{FF2B5EF4-FFF2-40B4-BE49-F238E27FC236}">
                <a16:creationId xmlns:a16="http://schemas.microsoft.com/office/drawing/2014/main" id="{9D4E03A3-0D49-4664-98CE-A54FC98DCBEA}"/>
              </a:ext>
            </a:extLst>
          </p:cNvPr>
          <p:cNvSpPr>
            <a:spLocks noGrp="1"/>
          </p:cNvSpPr>
          <p:nvPr/>
        </p:nvSpPr>
        <p:spPr>
          <a:xfrm>
            <a:off x="3615690" y="4333875"/>
            <a:ext cx="480060" cy="209550"/>
          </a:xfrm>
          <a:prstGeom prst="rect">
            <a:avLst/>
          </a:prstGeom>
          <a:solidFill>
            <a:srgbClr val="EF4444"/>
          </a:solidFill>
          <a:ln w="0">
            <a:solidFill>
              <a:srgbClr val="EF4444"/>
            </a:solidFill>
            <a:prstDash val="solid"/>
          </a:ln>
        </p:spPr>
        <p:txBody>
          <a:bodyPr/>
          <a:lstStyle/>
          <a:p>
            <a:endParaRPr/>
          </a:p>
        </p:txBody>
      </p:sp>
      <p:sp>
        <p:nvSpPr>
          <p:cNvPr id="20" name="正方形/長方形 19">
            <a:extLst>
              <a:ext uri="{FF2B5EF4-FFF2-40B4-BE49-F238E27FC236}">
                <a16:creationId xmlns:a16="http://schemas.microsoft.com/office/drawing/2014/main" id="{02A6C754-C464-4D15-8D2F-071611C8579B}"/>
              </a:ext>
            </a:extLst>
          </p:cNvPr>
          <p:cNvSpPr>
            <a:spLocks noGrp="1"/>
          </p:cNvSpPr>
          <p:nvPr/>
        </p:nvSpPr>
        <p:spPr>
          <a:xfrm>
            <a:off x="2929890" y="4286250"/>
            <a:ext cx="609600" cy="266700"/>
          </a:xfrm>
          <a:prstGeom prst="rect">
            <a:avLst/>
          </a:prstGeom>
          <a:noFill/>
          <a:ln w="0">
            <a:noFill/>
            <a:prstDash val="solid"/>
          </a:ln>
        </p:spPr>
        <p:txBody>
          <a:bodyPr lIns="0" tIns="0" rIns="0" bIns="0" anchor="t">
            <a:noAutofit/>
          </a:bodyPr>
          <a:lstStyle/>
          <a:p>
            <a:pPr algn="r">
              <a:buNone/>
              <a:defRPr sz="1350" b="1">
                <a:solidFill>
                  <a:srgbClr val="EF4444"/>
                </a:solidFill>
                <a:latin typeface="Yu Gothic"/>
                <a:ea typeface="Yu Gothic"/>
                <a:cs typeface="Yu Gothic"/>
              </a:defRPr>
            </a:pPr>
            <a:r>
              <a:rPr sz="1350" b="1">
                <a:solidFill>
                  <a:srgbClr val="EF4444"/>
                </a:solidFill>
                <a:latin typeface="Yu Gothic"/>
                <a:ea typeface="Yu Gothic"/>
                <a:cs typeface="Yu Gothic"/>
              </a:rPr>
              <a:t>-0.14</a:t>
            </a:r>
          </a:p>
        </p:txBody>
      </p:sp>
      <p:sp>
        <p:nvSpPr>
          <p:cNvPr id="21" name="正方形/長方形 20">
            <a:extLst>
              <a:ext uri="{FF2B5EF4-FFF2-40B4-BE49-F238E27FC236}">
                <a16:creationId xmlns:a16="http://schemas.microsoft.com/office/drawing/2014/main" id="{643FFE7E-2B8C-4A6B-8BE9-333255CE586C}"/>
              </a:ext>
            </a:extLst>
          </p:cNvPr>
          <p:cNvSpPr>
            <a:spLocks noGrp="1"/>
          </p:cNvSpPr>
          <p:nvPr/>
        </p:nvSpPr>
        <p:spPr>
          <a:xfrm>
            <a:off x="8096250" y="1666875"/>
            <a:ext cx="3143250" cy="2952750"/>
          </a:xfrm>
          <a:prstGeom prst="rect">
            <a:avLst/>
          </a:prstGeom>
          <a:solidFill>
            <a:srgbClr val="F3F4F6"/>
          </a:solidFill>
          <a:ln w="9525">
            <a:solidFill>
              <a:srgbClr val="CBD5E1"/>
            </a:solidFill>
            <a:prstDash val="solid"/>
          </a:ln>
        </p:spPr>
        <p:txBody>
          <a:bodyPr/>
          <a:lstStyle/>
          <a:p>
            <a:endParaRPr/>
          </a:p>
        </p:txBody>
      </p:sp>
      <p:sp>
        <p:nvSpPr>
          <p:cNvPr id="22" name="正方形/長方形 21">
            <a:extLst>
              <a:ext uri="{FF2B5EF4-FFF2-40B4-BE49-F238E27FC236}">
                <a16:creationId xmlns:a16="http://schemas.microsoft.com/office/drawing/2014/main" id="{2BDF7ECF-5C71-423B-A0CF-8F041754E4ED}"/>
              </a:ext>
            </a:extLst>
          </p:cNvPr>
          <p:cNvSpPr>
            <a:spLocks noGrp="1"/>
          </p:cNvSpPr>
          <p:nvPr/>
        </p:nvSpPr>
        <p:spPr>
          <a:xfrm>
            <a:off x="8382000" y="1924050"/>
            <a:ext cx="257175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説明の読み方</a:t>
            </a:r>
          </a:p>
        </p:txBody>
      </p:sp>
      <p:sp>
        <p:nvSpPr>
          <p:cNvPr id="23" name="正方形/長方形 22">
            <a:extLst>
              <a:ext uri="{FF2B5EF4-FFF2-40B4-BE49-F238E27FC236}">
                <a16:creationId xmlns:a16="http://schemas.microsoft.com/office/drawing/2014/main" id="{160BA7B5-A568-46B7-8122-0BEB4DAAF8CF}"/>
              </a:ext>
            </a:extLst>
          </p:cNvPr>
          <p:cNvSpPr>
            <a:spLocks noGrp="1"/>
          </p:cNvSpPr>
          <p:nvPr/>
        </p:nvSpPr>
        <p:spPr>
          <a:xfrm>
            <a:off x="8382000" y="2457450"/>
            <a:ext cx="2571750" cy="1809750"/>
          </a:xfrm>
          <a:prstGeom prst="rect">
            <a:avLst/>
          </a:prstGeom>
          <a:noFill/>
          <a:ln w="0">
            <a:noFill/>
            <a:prstDash val="solid"/>
          </a:ln>
        </p:spPr>
        <p:txBody>
          <a:bodyPr lIns="0" tIns="0" rIns="0" bIns="0" anchor="t">
            <a:noAutofit/>
          </a:bodyPr>
          <a:lstStyle/>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正の重み</a:t>
            </a:r>
          </a:p>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生存確率を上げる方向</a:t>
            </a:r>
          </a:p>
          <a:p>
            <a:endParaRPr sz="1500" b="0">
              <a:solidFill>
                <a:srgbClr val="111827"/>
              </a:solidFill>
              <a:latin typeface="Yu Gothic"/>
              <a:ea typeface="Yu Gothic"/>
              <a:cs typeface="Yu Gothic"/>
            </a:endParaRPr>
          </a:p>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負の重み</a:t>
            </a:r>
          </a:p>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生存確率を下げる方向</a:t>
            </a:r>
          </a:p>
          <a:p>
            <a:endParaRPr sz="1500" b="0">
              <a:solidFill>
                <a:srgbClr val="111827"/>
              </a:solidFill>
              <a:latin typeface="Yu Gothic"/>
              <a:ea typeface="Yu Gothic"/>
              <a:cs typeface="Yu Gothic"/>
            </a:endParaRPr>
          </a:p>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絶対値</a:t>
            </a:r>
          </a:p>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局所モデル内の影響の強さ</a:t>
            </a:r>
          </a:p>
        </p:txBody>
      </p:sp>
      <p:sp>
        <p:nvSpPr>
          <p:cNvPr id="24" name="正方形/長方形 23">
            <a:extLst>
              <a:ext uri="{FF2B5EF4-FFF2-40B4-BE49-F238E27FC236}">
                <a16:creationId xmlns:a16="http://schemas.microsoft.com/office/drawing/2014/main" id="{99B07350-28A1-46AE-B6FF-848A2BD91F12}"/>
              </a:ext>
            </a:extLst>
          </p:cNvPr>
          <p:cNvSpPr>
            <a:spLocks noGrp="1"/>
          </p:cNvSpPr>
          <p:nvPr/>
        </p:nvSpPr>
        <p:spPr>
          <a:xfrm>
            <a:off x="762000" y="5286375"/>
            <a:ext cx="10477500" cy="781050"/>
          </a:xfrm>
          <a:prstGeom prst="rect">
            <a:avLst/>
          </a:prstGeom>
          <a:solidFill>
            <a:srgbClr val="FEF3C7"/>
          </a:solidFill>
          <a:ln w="19050">
            <a:solidFill>
              <a:srgbClr val="F59E0B"/>
            </a:solidFill>
            <a:prstDash val="solid"/>
          </a:ln>
        </p:spPr>
        <p:txBody>
          <a:bodyPr/>
          <a:lstStyle/>
          <a:p>
            <a:endParaRPr/>
          </a:p>
        </p:txBody>
      </p:sp>
      <p:sp>
        <p:nvSpPr>
          <p:cNvPr id="25" name="正方形/長方形 24">
            <a:extLst>
              <a:ext uri="{FF2B5EF4-FFF2-40B4-BE49-F238E27FC236}">
                <a16:creationId xmlns:a16="http://schemas.microsoft.com/office/drawing/2014/main" id="{5C46EEA6-1C21-46B8-A2C2-1C4069F04841}"/>
              </a:ext>
            </a:extLst>
          </p:cNvPr>
          <p:cNvSpPr>
            <a:spLocks noGrp="1"/>
          </p:cNvSpPr>
          <p:nvPr/>
        </p:nvSpPr>
        <p:spPr>
          <a:xfrm>
            <a:off x="971550" y="5524500"/>
            <a:ext cx="857250" cy="285750"/>
          </a:xfrm>
          <a:prstGeom prst="rect">
            <a:avLst/>
          </a:prstGeom>
          <a:noFill/>
          <a:ln w="0">
            <a:noFill/>
            <a:prstDash val="solid"/>
          </a:ln>
        </p:spPr>
        <p:txBody>
          <a:bodyPr lIns="0" tIns="0" rIns="0" bIns="0" anchor="t">
            <a:noAutofit/>
          </a:bodyPr>
          <a:lstStyle/>
          <a:p>
            <a:pPr algn="l">
              <a:buNone/>
              <a:defRPr sz="1575" b="1">
                <a:solidFill>
                  <a:srgbClr val="F59E0B"/>
                </a:solidFill>
                <a:latin typeface="Yu Gothic"/>
                <a:ea typeface="Yu Gothic"/>
                <a:cs typeface="Yu Gothic"/>
              </a:defRPr>
            </a:pPr>
            <a:r>
              <a:rPr sz="1575" b="1">
                <a:solidFill>
                  <a:srgbClr val="F59E0B"/>
                </a:solidFill>
                <a:latin typeface="Yu Gothic"/>
                <a:ea typeface="Yu Gothic"/>
                <a:cs typeface="Yu Gothic"/>
              </a:rPr>
              <a:t>注意</a:t>
            </a:r>
          </a:p>
        </p:txBody>
      </p:sp>
      <p:sp>
        <p:nvSpPr>
          <p:cNvPr id="26" name="正方形/長方形 25">
            <a:extLst>
              <a:ext uri="{FF2B5EF4-FFF2-40B4-BE49-F238E27FC236}">
                <a16:creationId xmlns:a16="http://schemas.microsoft.com/office/drawing/2014/main" id="{4FBF4291-F190-4EC8-A787-7E3448B4E9D8}"/>
              </a:ext>
            </a:extLst>
          </p:cNvPr>
          <p:cNvSpPr>
            <a:spLocks noGrp="1"/>
          </p:cNvSpPr>
          <p:nvPr/>
        </p:nvSpPr>
        <p:spPr>
          <a:xfrm>
            <a:off x="1981200" y="5467350"/>
            <a:ext cx="8763000" cy="419100"/>
          </a:xfrm>
          <a:prstGeom prst="rect">
            <a:avLst/>
          </a:prstGeom>
          <a:noFill/>
          <a:ln w="0">
            <a:noFill/>
            <a:prstDash val="solid"/>
          </a:ln>
        </p:spPr>
        <p:txBody>
          <a:bodyPr lIns="0" tIns="0" rIns="0" bIns="0" anchor="ctr">
            <a:noAutofit/>
          </a:bodyPr>
          <a:lstStyle/>
          <a:p>
            <a:pPr algn="l">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重みは因果効果ではなく、この乗客・生存クラス・この近傍だけの近似結果</a:t>
            </a:r>
          </a:p>
        </p:txBody>
      </p:sp>
      <p:sp>
        <p:nvSpPr>
          <p:cNvPr id="27" name="正方形/長方形 26">
            <a:extLst>
              <a:ext uri="{FF2B5EF4-FFF2-40B4-BE49-F238E27FC236}">
                <a16:creationId xmlns:a16="http://schemas.microsoft.com/office/drawing/2014/main" id="{2DEDBB1A-F4A2-4523-A68B-703180D190BC}"/>
              </a:ext>
            </a:extLst>
          </p:cNvPr>
          <p:cNvSpPr>
            <a:spLocks noGrp="1"/>
          </p:cNvSpPr>
          <p:nvPr/>
        </p:nvSpPr>
        <p:spPr>
          <a:xfrm>
            <a:off x="8572500" y="6191250"/>
            <a:ext cx="2667000" cy="19050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 棒の値は説明用の模式値</a:t>
            </a:r>
          </a:p>
        </p:txBody>
      </p:sp>
    </p:spTree>
    <p:extLst>
      <p:ext uri="{BB962C8B-B14F-4D97-AF65-F5344CB8AC3E}">
        <p14:creationId xmlns:p14="http://schemas.microsoft.com/office/powerpoint/2010/main" val="2019542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75B03E4F-669E-46AD-8995-B735FDE175D7}"/>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6-title">
            <a:extLst>
              <a:ext uri="{FF2B5EF4-FFF2-40B4-BE49-F238E27FC236}">
                <a16:creationId xmlns:a16="http://schemas.microsoft.com/office/drawing/2014/main" id="{EAE8545E-ADD6-41B6-B78C-F298C201E6FC}"/>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多クラスLIMEでは、クラスごとに説明モデルを作る</a:t>
            </a:r>
          </a:p>
        </p:txBody>
      </p:sp>
      <p:sp>
        <p:nvSpPr>
          <p:cNvPr id="3" name="slide-6-subtitle">
            <a:extLst>
              <a:ext uri="{FF2B5EF4-FFF2-40B4-BE49-F238E27FC236}">
                <a16:creationId xmlns:a16="http://schemas.microsoft.com/office/drawing/2014/main" id="{7D7A67F1-99D4-4FF0-9338-FD431E7F19B9}"/>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2値的な説明を繰り返す、one-vs-rest型の展開</a:t>
            </a:r>
          </a:p>
        </p:txBody>
      </p:sp>
      <p:sp>
        <p:nvSpPr>
          <p:cNvPr id="4" name="正方形/長方形 3">
            <a:extLst>
              <a:ext uri="{FF2B5EF4-FFF2-40B4-BE49-F238E27FC236}">
                <a16:creationId xmlns:a16="http://schemas.microsoft.com/office/drawing/2014/main" id="{74CF5398-4DDE-4122-95C2-612147B033A7}"/>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06</a:t>
            </a:r>
          </a:p>
        </p:txBody>
      </p:sp>
      <p:sp>
        <p:nvSpPr>
          <p:cNvPr id="5" name="右矢印 4">
            <a:extLst>
              <a:ext uri="{FF2B5EF4-FFF2-40B4-BE49-F238E27FC236}">
                <a16:creationId xmlns:a16="http://schemas.microsoft.com/office/drawing/2014/main" id="{5ACB84A2-B2FD-41BB-A309-5E19CCC1E01F}"/>
              </a:ext>
            </a:extLst>
          </p:cNvPr>
          <p:cNvSpPr>
            <a:spLocks noGrp="1"/>
          </p:cNvSpPr>
          <p:nvPr/>
        </p:nvSpPr>
        <p:spPr>
          <a:xfrm>
            <a:off x="2857500" y="2886075"/>
            <a:ext cx="723900" cy="285750"/>
          </a:xfrm>
          <a:prstGeom prst="rightArrow">
            <a:avLst/>
          </a:prstGeom>
          <a:solidFill>
            <a:srgbClr val="2563EB"/>
          </a:solidFill>
          <a:ln w="0">
            <a:solidFill>
              <a:srgbClr val="2563EB"/>
            </a:solidFill>
            <a:prstDash val="solid"/>
          </a:ln>
        </p:spPr>
        <p:txBody>
          <a:bodyPr/>
          <a:lstStyle/>
          <a:p>
            <a:endParaRPr/>
          </a:p>
        </p:txBody>
      </p:sp>
      <p:sp>
        <p:nvSpPr>
          <p:cNvPr id="6" name="右矢印 5">
            <a:extLst>
              <a:ext uri="{FF2B5EF4-FFF2-40B4-BE49-F238E27FC236}">
                <a16:creationId xmlns:a16="http://schemas.microsoft.com/office/drawing/2014/main" id="{A392FB28-107F-4343-B6F4-C01FC65427E6}"/>
              </a:ext>
            </a:extLst>
          </p:cNvPr>
          <p:cNvSpPr>
            <a:spLocks noGrp="1"/>
          </p:cNvSpPr>
          <p:nvPr/>
        </p:nvSpPr>
        <p:spPr>
          <a:xfrm>
            <a:off x="5572125" y="1857375"/>
            <a:ext cx="781050" cy="228600"/>
          </a:xfrm>
          <a:prstGeom prst="rightArrow">
            <a:avLst/>
          </a:prstGeom>
          <a:solidFill>
            <a:srgbClr val="2563EB"/>
          </a:solidFill>
          <a:ln w="0">
            <a:solidFill>
              <a:srgbClr val="2563EB"/>
            </a:solidFill>
            <a:prstDash val="solid"/>
          </a:ln>
        </p:spPr>
        <p:txBody>
          <a:bodyPr/>
          <a:lstStyle/>
          <a:p>
            <a:endParaRPr/>
          </a:p>
        </p:txBody>
      </p:sp>
      <p:sp>
        <p:nvSpPr>
          <p:cNvPr id="7" name="右矢印 6">
            <a:extLst>
              <a:ext uri="{FF2B5EF4-FFF2-40B4-BE49-F238E27FC236}">
                <a16:creationId xmlns:a16="http://schemas.microsoft.com/office/drawing/2014/main" id="{2C44CEEF-A69A-4B94-B7C1-F1084EEA7A7D}"/>
              </a:ext>
            </a:extLst>
          </p:cNvPr>
          <p:cNvSpPr>
            <a:spLocks noGrp="1"/>
          </p:cNvSpPr>
          <p:nvPr/>
        </p:nvSpPr>
        <p:spPr>
          <a:xfrm>
            <a:off x="5572125" y="3076575"/>
            <a:ext cx="781050" cy="228600"/>
          </a:xfrm>
          <a:prstGeom prst="rightArrow">
            <a:avLst/>
          </a:prstGeom>
          <a:solidFill>
            <a:srgbClr val="2563EB"/>
          </a:solidFill>
          <a:ln w="0">
            <a:solidFill>
              <a:srgbClr val="2563EB"/>
            </a:solidFill>
            <a:prstDash val="solid"/>
          </a:ln>
        </p:spPr>
        <p:txBody>
          <a:bodyPr/>
          <a:lstStyle/>
          <a:p>
            <a:endParaRPr/>
          </a:p>
        </p:txBody>
      </p:sp>
      <p:sp>
        <p:nvSpPr>
          <p:cNvPr id="8" name="右矢印 7">
            <a:extLst>
              <a:ext uri="{FF2B5EF4-FFF2-40B4-BE49-F238E27FC236}">
                <a16:creationId xmlns:a16="http://schemas.microsoft.com/office/drawing/2014/main" id="{165C1FB6-07EB-4CB8-A00E-804DB69EC155}"/>
              </a:ext>
            </a:extLst>
          </p:cNvPr>
          <p:cNvSpPr>
            <a:spLocks noGrp="1"/>
          </p:cNvSpPr>
          <p:nvPr/>
        </p:nvSpPr>
        <p:spPr>
          <a:xfrm>
            <a:off x="5572125" y="4295775"/>
            <a:ext cx="781050" cy="228600"/>
          </a:xfrm>
          <a:prstGeom prst="rightArrow">
            <a:avLst/>
          </a:prstGeom>
          <a:solidFill>
            <a:srgbClr val="2563EB"/>
          </a:solidFill>
          <a:ln w="0">
            <a:solidFill>
              <a:srgbClr val="2563EB"/>
            </a:solidFill>
            <a:prstDash val="solid"/>
          </a:ln>
        </p:spPr>
        <p:txBody>
          <a:bodyPr/>
          <a:lstStyle/>
          <a:p>
            <a:endParaRPr/>
          </a:p>
        </p:txBody>
      </p:sp>
      <p:sp>
        <p:nvSpPr>
          <p:cNvPr id="9" name="正方形/長方形 8">
            <a:extLst>
              <a:ext uri="{FF2B5EF4-FFF2-40B4-BE49-F238E27FC236}">
                <a16:creationId xmlns:a16="http://schemas.microsoft.com/office/drawing/2014/main" id="{B39B1DB8-1FB2-471E-B6F3-89D503FC4611}"/>
              </a:ext>
            </a:extLst>
          </p:cNvPr>
          <p:cNvSpPr>
            <a:spLocks noGrp="1"/>
          </p:cNvSpPr>
          <p:nvPr/>
        </p:nvSpPr>
        <p:spPr>
          <a:xfrm>
            <a:off x="523875" y="1857375"/>
            <a:ext cx="2286000" cy="3143250"/>
          </a:xfrm>
          <a:prstGeom prst="rect">
            <a:avLst/>
          </a:prstGeom>
          <a:solidFill>
            <a:srgbClr val="F3F4F6"/>
          </a:solidFill>
          <a:ln w="9525">
            <a:solidFill>
              <a:srgbClr val="CBD5E1"/>
            </a:solidFill>
            <a:prstDash val="solid"/>
          </a:ln>
        </p:spPr>
        <p:txBody>
          <a:bodyPr/>
          <a:lstStyle/>
          <a:p>
            <a:endParaRPr/>
          </a:p>
        </p:txBody>
      </p:sp>
      <p:sp>
        <p:nvSpPr>
          <p:cNvPr id="10" name="正方形/長方形 9">
            <a:extLst>
              <a:ext uri="{FF2B5EF4-FFF2-40B4-BE49-F238E27FC236}">
                <a16:creationId xmlns:a16="http://schemas.microsoft.com/office/drawing/2014/main" id="{ECC3310B-ED7E-41DB-8E88-B208F1B965FD}"/>
              </a:ext>
            </a:extLst>
          </p:cNvPr>
          <p:cNvSpPr>
            <a:spLocks noGrp="1"/>
          </p:cNvSpPr>
          <p:nvPr/>
        </p:nvSpPr>
        <p:spPr>
          <a:xfrm>
            <a:off x="762000" y="2076450"/>
            <a:ext cx="1809750" cy="323850"/>
          </a:xfrm>
          <a:prstGeom prst="rect">
            <a:avLst/>
          </a:prstGeom>
          <a:noFill/>
          <a:ln w="0">
            <a:noFill/>
            <a:prstDash val="solid"/>
          </a:ln>
        </p:spPr>
        <p:txBody>
          <a:bodyPr lIns="0" tIns="0" rIns="0" bIns="0" anchor="t">
            <a:noAutofit/>
          </a:bodyPr>
          <a:lstStyle/>
          <a:p>
            <a:pPr algn="ctr">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共通の近傍</a:t>
            </a:r>
          </a:p>
        </p:txBody>
      </p:sp>
      <p:sp>
        <p:nvSpPr>
          <p:cNvPr id="11" name="円/楕円 10">
            <a:extLst>
              <a:ext uri="{FF2B5EF4-FFF2-40B4-BE49-F238E27FC236}">
                <a16:creationId xmlns:a16="http://schemas.microsoft.com/office/drawing/2014/main" id="{01B85A78-2D60-48C7-A83B-A0DC863F63B7}"/>
              </a:ext>
            </a:extLst>
          </p:cNvPr>
          <p:cNvSpPr>
            <a:spLocks noGrp="1"/>
          </p:cNvSpPr>
          <p:nvPr/>
        </p:nvSpPr>
        <p:spPr>
          <a:xfrm>
            <a:off x="876300" y="2714625"/>
            <a:ext cx="133350" cy="133350"/>
          </a:xfrm>
          <a:prstGeom prst="ellipse">
            <a:avLst/>
          </a:prstGeom>
          <a:solidFill>
            <a:srgbClr val="94A3B8"/>
          </a:solidFill>
          <a:ln w="0">
            <a:solidFill>
              <a:srgbClr val="94A3B8"/>
            </a:solidFill>
            <a:prstDash val="solid"/>
          </a:ln>
        </p:spPr>
        <p:txBody>
          <a:bodyPr/>
          <a:lstStyle/>
          <a:p>
            <a:endParaRPr/>
          </a:p>
        </p:txBody>
      </p:sp>
      <p:sp>
        <p:nvSpPr>
          <p:cNvPr id="12" name="円/楕円 11">
            <a:extLst>
              <a:ext uri="{FF2B5EF4-FFF2-40B4-BE49-F238E27FC236}">
                <a16:creationId xmlns:a16="http://schemas.microsoft.com/office/drawing/2014/main" id="{6CBDA8EC-D3BF-4CE2-976C-79E5688F6167}"/>
              </a:ext>
            </a:extLst>
          </p:cNvPr>
          <p:cNvSpPr>
            <a:spLocks noGrp="1"/>
          </p:cNvSpPr>
          <p:nvPr/>
        </p:nvSpPr>
        <p:spPr>
          <a:xfrm>
            <a:off x="1381125" y="2543175"/>
            <a:ext cx="133350" cy="133350"/>
          </a:xfrm>
          <a:prstGeom prst="ellipse">
            <a:avLst/>
          </a:prstGeom>
          <a:solidFill>
            <a:srgbClr val="94A3B8"/>
          </a:solidFill>
          <a:ln w="0">
            <a:solidFill>
              <a:srgbClr val="94A3B8"/>
            </a:solidFill>
            <a:prstDash val="solid"/>
          </a:ln>
        </p:spPr>
        <p:txBody>
          <a:bodyPr/>
          <a:lstStyle/>
          <a:p>
            <a:endParaRPr/>
          </a:p>
        </p:txBody>
      </p:sp>
      <p:sp>
        <p:nvSpPr>
          <p:cNvPr id="13" name="円/楕円 12">
            <a:extLst>
              <a:ext uri="{FF2B5EF4-FFF2-40B4-BE49-F238E27FC236}">
                <a16:creationId xmlns:a16="http://schemas.microsoft.com/office/drawing/2014/main" id="{026CD661-73C3-443A-A206-C05145151C63}"/>
              </a:ext>
            </a:extLst>
          </p:cNvPr>
          <p:cNvSpPr>
            <a:spLocks noGrp="1"/>
          </p:cNvSpPr>
          <p:nvPr/>
        </p:nvSpPr>
        <p:spPr>
          <a:xfrm>
            <a:off x="1857375" y="2809875"/>
            <a:ext cx="133350" cy="133350"/>
          </a:xfrm>
          <a:prstGeom prst="ellipse">
            <a:avLst/>
          </a:prstGeom>
          <a:solidFill>
            <a:srgbClr val="94A3B8"/>
          </a:solidFill>
          <a:ln w="0">
            <a:solidFill>
              <a:srgbClr val="94A3B8"/>
            </a:solidFill>
            <a:prstDash val="solid"/>
          </a:ln>
        </p:spPr>
        <p:txBody>
          <a:bodyPr/>
          <a:lstStyle/>
          <a:p>
            <a:endParaRPr/>
          </a:p>
        </p:txBody>
      </p:sp>
      <p:sp>
        <p:nvSpPr>
          <p:cNvPr id="14" name="円/楕円 13">
            <a:extLst>
              <a:ext uri="{FF2B5EF4-FFF2-40B4-BE49-F238E27FC236}">
                <a16:creationId xmlns:a16="http://schemas.microsoft.com/office/drawing/2014/main" id="{F1EC58DC-F218-4D0C-A358-C41509E3EE9E}"/>
              </a:ext>
            </a:extLst>
          </p:cNvPr>
          <p:cNvSpPr>
            <a:spLocks noGrp="1"/>
          </p:cNvSpPr>
          <p:nvPr/>
        </p:nvSpPr>
        <p:spPr>
          <a:xfrm>
            <a:off x="1047750" y="3333750"/>
            <a:ext cx="133350" cy="133350"/>
          </a:xfrm>
          <a:prstGeom prst="ellipse">
            <a:avLst/>
          </a:prstGeom>
          <a:solidFill>
            <a:srgbClr val="94A3B8"/>
          </a:solidFill>
          <a:ln w="0">
            <a:solidFill>
              <a:srgbClr val="94A3B8"/>
            </a:solidFill>
            <a:prstDash val="solid"/>
          </a:ln>
        </p:spPr>
        <p:txBody>
          <a:bodyPr/>
          <a:lstStyle/>
          <a:p>
            <a:endParaRPr/>
          </a:p>
        </p:txBody>
      </p:sp>
      <p:sp>
        <p:nvSpPr>
          <p:cNvPr id="15" name="円/楕円 14">
            <a:extLst>
              <a:ext uri="{FF2B5EF4-FFF2-40B4-BE49-F238E27FC236}">
                <a16:creationId xmlns:a16="http://schemas.microsoft.com/office/drawing/2014/main" id="{934DBD67-38F1-4FBE-A736-EB420663EFC3}"/>
              </a:ext>
            </a:extLst>
          </p:cNvPr>
          <p:cNvSpPr>
            <a:spLocks noGrp="1"/>
          </p:cNvSpPr>
          <p:nvPr/>
        </p:nvSpPr>
        <p:spPr>
          <a:xfrm>
            <a:off x="1619250" y="3190875"/>
            <a:ext cx="209550" cy="209550"/>
          </a:xfrm>
          <a:prstGeom prst="ellipse">
            <a:avLst/>
          </a:prstGeom>
          <a:solidFill>
            <a:srgbClr val="F59E0B"/>
          </a:solidFill>
          <a:ln w="0">
            <a:solidFill>
              <a:srgbClr val="F59E0B"/>
            </a:solidFill>
            <a:prstDash val="solid"/>
          </a:ln>
        </p:spPr>
        <p:txBody>
          <a:bodyPr/>
          <a:lstStyle/>
          <a:p>
            <a:endParaRPr/>
          </a:p>
        </p:txBody>
      </p:sp>
      <p:sp>
        <p:nvSpPr>
          <p:cNvPr id="16" name="円/楕円 15">
            <a:extLst>
              <a:ext uri="{FF2B5EF4-FFF2-40B4-BE49-F238E27FC236}">
                <a16:creationId xmlns:a16="http://schemas.microsoft.com/office/drawing/2014/main" id="{D578EFED-1FD7-4D4E-A728-4ACE43991B88}"/>
              </a:ext>
            </a:extLst>
          </p:cNvPr>
          <p:cNvSpPr>
            <a:spLocks noGrp="1"/>
          </p:cNvSpPr>
          <p:nvPr/>
        </p:nvSpPr>
        <p:spPr>
          <a:xfrm>
            <a:off x="2143125" y="3476625"/>
            <a:ext cx="133350" cy="133350"/>
          </a:xfrm>
          <a:prstGeom prst="ellipse">
            <a:avLst/>
          </a:prstGeom>
          <a:solidFill>
            <a:srgbClr val="94A3B8"/>
          </a:solidFill>
          <a:ln w="0">
            <a:solidFill>
              <a:srgbClr val="94A3B8"/>
            </a:solidFill>
            <a:prstDash val="solid"/>
          </a:ln>
        </p:spPr>
        <p:txBody>
          <a:bodyPr/>
          <a:lstStyle/>
          <a:p>
            <a:endParaRPr/>
          </a:p>
        </p:txBody>
      </p:sp>
      <p:sp>
        <p:nvSpPr>
          <p:cNvPr id="17" name="円/楕円 16">
            <a:extLst>
              <a:ext uri="{FF2B5EF4-FFF2-40B4-BE49-F238E27FC236}">
                <a16:creationId xmlns:a16="http://schemas.microsoft.com/office/drawing/2014/main" id="{E23878D3-1F65-4C95-B888-CF9837DCBC37}"/>
              </a:ext>
            </a:extLst>
          </p:cNvPr>
          <p:cNvSpPr>
            <a:spLocks noGrp="1"/>
          </p:cNvSpPr>
          <p:nvPr/>
        </p:nvSpPr>
        <p:spPr>
          <a:xfrm>
            <a:off x="1238250" y="4000500"/>
            <a:ext cx="133350" cy="133350"/>
          </a:xfrm>
          <a:prstGeom prst="ellipse">
            <a:avLst/>
          </a:prstGeom>
          <a:solidFill>
            <a:srgbClr val="94A3B8"/>
          </a:solidFill>
          <a:ln w="0">
            <a:solidFill>
              <a:srgbClr val="94A3B8"/>
            </a:solidFill>
            <a:prstDash val="solid"/>
          </a:ln>
        </p:spPr>
        <p:txBody>
          <a:bodyPr/>
          <a:lstStyle/>
          <a:p>
            <a:endParaRPr/>
          </a:p>
        </p:txBody>
      </p:sp>
      <p:sp>
        <p:nvSpPr>
          <p:cNvPr id="18" name="円/楕円 17">
            <a:extLst>
              <a:ext uri="{FF2B5EF4-FFF2-40B4-BE49-F238E27FC236}">
                <a16:creationId xmlns:a16="http://schemas.microsoft.com/office/drawing/2014/main" id="{5100B1EE-BF39-4B7B-A678-827873C70574}"/>
              </a:ext>
            </a:extLst>
          </p:cNvPr>
          <p:cNvSpPr>
            <a:spLocks noGrp="1"/>
          </p:cNvSpPr>
          <p:nvPr/>
        </p:nvSpPr>
        <p:spPr>
          <a:xfrm>
            <a:off x="1952625" y="4191000"/>
            <a:ext cx="133350" cy="133350"/>
          </a:xfrm>
          <a:prstGeom prst="ellipse">
            <a:avLst/>
          </a:prstGeom>
          <a:solidFill>
            <a:srgbClr val="94A3B8"/>
          </a:solidFill>
          <a:ln w="0">
            <a:solidFill>
              <a:srgbClr val="94A3B8"/>
            </a:solidFill>
            <a:prstDash val="solid"/>
          </a:ln>
        </p:spPr>
        <p:txBody>
          <a:bodyPr/>
          <a:lstStyle/>
          <a:p>
            <a:endParaRPr/>
          </a:p>
        </p:txBody>
      </p:sp>
      <p:sp>
        <p:nvSpPr>
          <p:cNvPr id="19" name="円/楕円 18">
            <a:extLst>
              <a:ext uri="{FF2B5EF4-FFF2-40B4-BE49-F238E27FC236}">
                <a16:creationId xmlns:a16="http://schemas.microsoft.com/office/drawing/2014/main" id="{1C309830-12CF-47B5-8846-6EFD0A3BA2B1}"/>
              </a:ext>
            </a:extLst>
          </p:cNvPr>
          <p:cNvSpPr>
            <a:spLocks noGrp="1"/>
          </p:cNvSpPr>
          <p:nvPr/>
        </p:nvSpPr>
        <p:spPr>
          <a:xfrm>
            <a:off x="857250" y="4429125"/>
            <a:ext cx="133350" cy="133350"/>
          </a:xfrm>
          <a:prstGeom prst="ellipse">
            <a:avLst/>
          </a:prstGeom>
          <a:solidFill>
            <a:srgbClr val="94A3B8"/>
          </a:solidFill>
          <a:ln w="0">
            <a:solidFill>
              <a:srgbClr val="94A3B8"/>
            </a:solidFill>
            <a:prstDash val="solid"/>
          </a:ln>
        </p:spPr>
        <p:txBody>
          <a:bodyPr/>
          <a:lstStyle/>
          <a:p>
            <a:endParaRPr/>
          </a:p>
        </p:txBody>
      </p:sp>
      <p:sp>
        <p:nvSpPr>
          <p:cNvPr id="20" name="正方形/長方形 19">
            <a:extLst>
              <a:ext uri="{FF2B5EF4-FFF2-40B4-BE49-F238E27FC236}">
                <a16:creationId xmlns:a16="http://schemas.microsoft.com/office/drawing/2014/main" id="{6EB69FA6-29D6-4F32-B3CD-AFB9F1E8896A}"/>
              </a:ext>
            </a:extLst>
          </p:cNvPr>
          <p:cNvSpPr>
            <a:spLocks noGrp="1"/>
          </p:cNvSpPr>
          <p:nvPr/>
        </p:nvSpPr>
        <p:spPr>
          <a:xfrm>
            <a:off x="742950" y="4619625"/>
            <a:ext cx="1857375" cy="228600"/>
          </a:xfrm>
          <a:prstGeom prst="rect">
            <a:avLst/>
          </a:prstGeom>
          <a:noFill/>
          <a:ln w="0">
            <a:noFill/>
            <a:prstDash val="solid"/>
          </a:ln>
        </p:spPr>
        <p:txBody>
          <a:bodyPr lIns="0" tIns="0" rIns="0" bIns="0" anchor="t">
            <a:noAutofit/>
          </a:bodyPr>
          <a:lstStyle/>
          <a:p>
            <a:pPr algn="ctr">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同じサンプル群を使う</a:t>
            </a:r>
          </a:p>
        </p:txBody>
      </p:sp>
      <p:sp>
        <p:nvSpPr>
          <p:cNvPr id="21" name="正方形/長方形 20">
            <a:extLst>
              <a:ext uri="{FF2B5EF4-FFF2-40B4-BE49-F238E27FC236}">
                <a16:creationId xmlns:a16="http://schemas.microsoft.com/office/drawing/2014/main" id="{EC800AE9-FCD9-4B0D-BC1D-B489750278D8}"/>
              </a:ext>
            </a:extLst>
          </p:cNvPr>
          <p:cNvSpPr>
            <a:spLocks noGrp="1"/>
          </p:cNvSpPr>
          <p:nvPr/>
        </p:nvSpPr>
        <p:spPr>
          <a:xfrm>
            <a:off x="3619500" y="2428875"/>
            <a:ext cx="1905000" cy="1219200"/>
          </a:xfrm>
          <a:prstGeom prst="rect">
            <a:avLst/>
          </a:prstGeom>
          <a:solidFill>
            <a:srgbClr val="111827"/>
          </a:solidFill>
          <a:ln w="0">
            <a:solidFill>
              <a:srgbClr val="111827"/>
            </a:solidFill>
            <a:prstDash val="solid"/>
          </a:ln>
        </p:spPr>
        <p:txBody>
          <a:bodyPr/>
          <a:lstStyle/>
          <a:p>
            <a:endParaRPr/>
          </a:p>
        </p:txBody>
      </p:sp>
      <p:sp>
        <p:nvSpPr>
          <p:cNvPr id="22" name="正方形/長方形 21">
            <a:extLst>
              <a:ext uri="{FF2B5EF4-FFF2-40B4-BE49-F238E27FC236}">
                <a16:creationId xmlns:a16="http://schemas.microsoft.com/office/drawing/2014/main" id="{B87FBE58-0834-42B8-8F43-85E76B45EFEB}"/>
              </a:ext>
            </a:extLst>
          </p:cNvPr>
          <p:cNvSpPr>
            <a:spLocks noGrp="1"/>
          </p:cNvSpPr>
          <p:nvPr/>
        </p:nvSpPr>
        <p:spPr>
          <a:xfrm>
            <a:off x="3619500" y="2609850"/>
            <a:ext cx="1905000" cy="819150"/>
          </a:xfrm>
          <a:prstGeom prst="rect">
            <a:avLst/>
          </a:prstGeom>
          <a:noFill/>
          <a:ln w="0">
            <a:noFill/>
            <a:prstDash val="solid"/>
          </a:ln>
        </p:spPr>
        <p:txBody>
          <a:bodyPr lIns="0" tIns="0" rIns="0" bIns="0" anchor="ctr">
            <a:noAutofit/>
          </a:bodyPr>
          <a:lstStyle/>
          <a:p>
            <a:pPr algn="ct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BLACK</a:t>
            </a:r>
          </a:p>
          <a:p>
            <a:pPr algn="ct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BOX</a:t>
            </a:r>
          </a:p>
        </p:txBody>
      </p:sp>
      <p:sp>
        <p:nvSpPr>
          <p:cNvPr id="23" name="正方形/長方形 22">
            <a:extLst>
              <a:ext uri="{FF2B5EF4-FFF2-40B4-BE49-F238E27FC236}">
                <a16:creationId xmlns:a16="http://schemas.microsoft.com/office/drawing/2014/main" id="{1BA368D7-7D39-4F06-AD92-EA6E8938B8EF}"/>
              </a:ext>
            </a:extLst>
          </p:cNvPr>
          <p:cNvSpPr>
            <a:spLocks noGrp="1"/>
          </p:cNvSpPr>
          <p:nvPr/>
        </p:nvSpPr>
        <p:spPr>
          <a:xfrm>
            <a:off x="6429375" y="1428750"/>
            <a:ext cx="4953000" cy="952500"/>
          </a:xfrm>
          <a:prstGeom prst="rect">
            <a:avLst/>
          </a:prstGeom>
          <a:solidFill>
            <a:srgbClr val="FFFFFF"/>
          </a:solidFill>
          <a:ln w="19050">
            <a:solidFill>
              <a:srgbClr val="2563EB"/>
            </a:solidFill>
            <a:prstDash val="solid"/>
          </a:ln>
        </p:spPr>
        <p:txBody>
          <a:bodyPr/>
          <a:lstStyle/>
          <a:p>
            <a:endParaRPr/>
          </a:p>
        </p:txBody>
      </p:sp>
      <p:sp>
        <p:nvSpPr>
          <p:cNvPr id="24" name="正方形/長方形 23">
            <a:extLst>
              <a:ext uri="{FF2B5EF4-FFF2-40B4-BE49-F238E27FC236}">
                <a16:creationId xmlns:a16="http://schemas.microsoft.com/office/drawing/2014/main" id="{B9595C5D-93F3-4C71-8E12-DC56FE107BBF}"/>
              </a:ext>
            </a:extLst>
          </p:cNvPr>
          <p:cNvSpPr>
            <a:spLocks noGrp="1"/>
          </p:cNvSpPr>
          <p:nvPr/>
        </p:nvSpPr>
        <p:spPr>
          <a:xfrm>
            <a:off x="6629400" y="1600200"/>
            <a:ext cx="1190625" cy="285750"/>
          </a:xfrm>
          <a:prstGeom prst="rect">
            <a:avLst/>
          </a:prstGeom>
          <a:noFill/>
          <a:ln w="0">
            <a:noFill/>
            <a:prstDash val="solid"/>
          </a:ln>
        </p:spPr>
        <p:txBody>
          <a:bodyPr lIns="0" tIns="0" rIns="0" bIns="0" anchor="t">
            <a:noAutofit/>
          </a:bodyPr>
          <a:lstStyle/>
          <a:p>
            <a:pPr algn="l">
              <a:buNone/>
              <a:defRPr sz="1725" b="1">
                <a:solidFill>
                  <a:srgbClr val="2563EB"/>
                </a:solidFill>
                <a:latin typeface="Yu Gothic"/>
                <a:ea typeface="Yu Gothic"/>
                <a:cs typeface="Yu Gothic"/>
              </a:defRPr>
            </a:pPr>
            <a:r>
              <a:rPr sz="1725" b="1">
                <a:solidFill>
                  <a:srgbClr val="2563EB"/>
                </a:solidFill>
                <a:latin typeface="Yu Gothic"/>
                <a:ea typeface="Yu Gothic"/>
                <a:cs typeface="Yu Gothic"/>
              </a:rPr>
              <a:t>クラス A</a:t>
            </a:r>
          </a:p>
        </p:txBody>
      </p:sp>
      <p:sp>
        <p:nvSpPr>
          <p:cNvPr id="25" name="正方形/長方形 24">
            <a:extLst>
              <a:ext uri="{FF2B5EF4-FFF2-40B4-BE49-F238E27FC236}">
                <a16:creationId xmlns:a16="http://schemas.microsoft.com/office/drawing/2014/main" id="{53C72F9A-DDAE-404F-8C03-5AE57AA8BA27}"/>
              </a:ext>
            </a:extLst>
          </p:cNvPr>
          <p:cNvSpPr>
            <a:spLocks noGrp="1"/>
          </p:cNvSpPr>
          <p:nvPr/>
        </p:nvSpPr>
        <p:spPr>
          <a:xfrm>
            <a:off x="6629400" y="1933575"/>
            <a:ext cx="1428750" cy="228600"/>
          </a:xfrm>
          <a:prstGeom prst="rect">
            <a:avLst/>
          </a:prstGeom>
          <a:noFill/>
          <a:ln w="0">
            <a:noFill/>
            <a:prstDash val="solid"/>
          </a:ln>
        </p:spPr>
        <p:txBody>
          <a:bodyPr lIns="0" tIns="0" rIns="0" bIns="0" anchor="t">
            <a:noAutofit/>
          </a:bodyPr>
          <a:lstStyle/>
          <a:p>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26" name="正方形/長方形 25">
            <a:extLst>
              <a:ext uri="{FF2B5EF4-FFF2-40B4-BE49-F238E27FC236}">
                <a16:creationId xmlns:a16="http://schemas.microsoft.com/office/drawing/2014/main" id="{869E9EB9-411B-4B32-91F9-88B41FF2A2B7}"/>
              </a:ext>
            </a:extLst>
          </p:cNvPr>
          <p:cNvSpPr>
            <a:spLocks noGrp="1"/>
          </p:cNvSpPr>
          <p:nvPr/>
        </p:nvSpPr>
        <p:spPr>
          <a:xfrm>
            <a:off x="8429625" y="1600200"/>
            <a:ext cx="1714500" cy="123825"/>
          </a:xfrm>
          <a:prstGeom prst="rect">
            <a:avLst/>
          </a:prstGeom>
          <a:solidFill>
            <a:srgbClr val="2563EB"/>
          </a:solidFill>
          <a:ln w="0">
            <a:solidFill>
              <a:srgbClr val="2563EB"/>
            </a:solidFill>
            <a:prstDash val="solid"/>
          </a:ln>
        </p:spPr>
        <p:txBody>
          <a:bodyPr/>
          <a:lstStyle/>
          <a:p>
            <a:endParaRPr/>
          </a:p>
        </p:txBody>
      </p:sp>
      <p:sp>
        <p:nvSpPr>
          <p:cNvPr id="27" name="正方形/長方形 26">
            <a:extLst>
              <a:ext uri="{FF2B5EF4-FFF2-40B4-BE49-F238E27FC236}">
                <a16:creationId xmlns:a16="http://schemas.microsoft.com/office/drawing/2014/main" id="{15BAD9F4-2728-4449-9113-6BB31670F490}"/>
              </a:ext>
            </a:extLst>
          </p:cNvPr>
          <p:cNvSpPr>
            <a:spLocks noGrp="1"/>
          </p:cNvSpPr>
          <p:nvPr/>
        </p:nvSpPr>
        <p:spPr>
          <a:xfrm>
            <a:off x="8429625" y="1819275"/>
            <a:ext cx="1028700" cy="123825"/>
          </a:xfrm>
          <a:prstGeom prst="rect">
            <a:avLst/>
          </a:prstGeom>
          <a:solidFill>
            <a:srgbClr val="2563EB"/>
          </a:solidFill>
          <a:ln w="0">
            <a:solidFill>
              <a:srgbClr val="2563EB"/>
            </a:solidFill>
            <a:prstDash val="solid"/>
          </a:ln>
        </p:spPr>
        <p:txBody>
          <a:bodyPr/>
          <a:lstStyle/>
          <a:p>
            <a:endParaRPr/>
          </a:p>
        </p:txBody>
      </p:sp>
      <p:sp>
        <p:nvSpPr>
          <p:cNvPr id="28" name="正方形/長方形 27">
            <a:extLst>
              <a:ext uri="{FF2B5EF4-FFF2-40B4-BE49-F238E27FC236}">
                <a16:creationId xmlns:a16="http://schemas.microsoft.com/office/drawing/2014/main" id="{BBDE719E-8423-4658-9822-7F007DB5C20A}"/>
              </a:ext>
            </a:extLst>
          </p:cNvPr>
          <p:cNvSpPr>
            <a:spLocks noGrp="1"/>
          </p:cNvSpPr>
          <p:nvPr/>
        </p:nvSpPr>
        <p:spPr>
          <a:xfrm>
            <a:off x="8429625" y="2038350"/>
            <a:ext cx="457200" cy="123825"/>
          </a:xfrm>
          <a:prstGeom prst="rect">
            <a:avLst/>
          </a:prstGeom>
          <a:solidFill>
            <a:srgbClr val="2563EB"/>
          </a:solidFill>
          <a:ln w="0">
            <a:solidFill>
              <a:srgbClr val="2563EB"/>
            </a:solidFill>
            <a:prstDash val="solid"/>
          </a:ln>
        </p:spPr>
        <p:txBody>
          <a:bodyPr/>
          <a:lstStyle/>
          <a:p>
            <a:endParaRPr/>
          </a:p>
        </p:txBody>
      </p:sp>
      <p:sp>
        <p:nvSpPr>
          <p:cNvPr id="29" name="正方形/長方形 28">
            <a:extLst>
              <a:ext uri="{FF2B5EF4-FFF2-40B4-BE49-F238E27FC236}">
                <a16:creationId xmlns:a16="http://schemas.microsoft.com/office/drawing/2014/main" id="{F05E33A5-6337-46C8-A697-3CC64A56C71E}"/>
              </a:ext>
            </a:extLst>
          </p:cNvPr>
          <p:cNvSpPr>
            <a:spLocks noGrp="1"/>
          </p:cNvSpPr>
          <p:nvPr/>
        </p:nvSpPr>
        <p:spPr>
          <a:xfrm>
            <a:off x="6429375" y="2647950"/>
            <a:ext cx="4953000" cy="952500"/>
          </a:xfrm>
          <a:prstGeom prst="rect">
            <a:avLst/>
          </a:prstGeom>
          <a:solidFill>
            <a:srgbClr val="FFFFFF"/>
          </a:solidFill>
          <a:ln w="19050">
            <a:solidFill>
              <a:srgbClr val="F59E0B"/>
            </a:solidFill>
            <a:prstDash val="solid"/>
          </a:ln>
        </p:spPr>
        <p:txBody>
          <a:bodyPr/>
          <a:lstStyle/>
          <a:p>
            <a:endParaRPr/>
          </a:p>
        </p:txBody>
      </p:sp>
      <p:sp>
        <p:nvSpPr>
          <p:cNvPr id="30" name="正方形/長方形 29">
            <a:extLst>
              <a:ext uri="{FF2B5EF4-FFF2-40B4-BE49-F238E27FC236}">
                <a16:creationId xmlns:a16="http://schemas.microsoft.com/office/drawing/2014/main" id="{0233DA84-5507-4676-9075-EC0D3D2A57B2}"/>
              </a:ext>
            </a:extLst>
          </p:cNvPr>
          <p:cNvSpPr>
            <a:spLocks noGrp="1"/>
          </p:cNvSpPr>
          <p:nvPr/>
        </p:nvSpPr>
        <p:spPr>
          <a:xfrm>
            <a:off x="6629400" y="2819400"/>
            <a:ext cx="1190625" cy="285750"/>
          </a:xfrm>
          <a:prstGeom prst="rect">
            <a:avLst/>
          </a:prstGeom>
          <a:noFill/>
          <a:ln w="0">
            <a:noFill/>
            <a:prstDash val="solid"/>
          </a:ln>
        </p:spPr>
        <p:txBody>
          <a:bodyPr lIns="0" tIns="0" rIns="0" bIns="0" anchor="t">
            <a:noAutofit/>
          </a:bodyPr>
          <a:lstStyle/>
          <a:p>
            <a:pPr algn="l">
              <a:buNone/>
              <a:defRPr sz="1725" b="1">
                <a:solidFill>
                  <a:srgbClr val="F59E0B"/>
                </a:solidFill>
                <a:latin typeface="Yu Gothic"/>
                <a:ea typeface="Yu Gothic"/>
                <a:cs typeface="Yu Gothic"/>
              </a:defRPr>
            </a:pPr>
            <a:r>
              <a:rPr sz="1725" b="1">
                <a:solidFill>
                  <a:srgbClr val="F59E0B"/>
                </a:solidFill>
                <a:latin typeface="Yu Gothic"/>
                <a:ea typeface="Yu Gothic"/>
                <a:cs typeface="Yu Gothic"/>
              </a:rPr>
              <a:t>クラス B</a:t>
            </a:r>
          </a:p>
        </p:txBody>
      </p:sp>
      <p:sp>
        <p:nvSpPr>
          <p:cNvPr id="31" name="正方形/長方形 30">
            <a:extLst>
              <a:ext uri="{FF2B5EF4-FFF2-40B4-BE49-F238E27FC236}">
                <a16:creationId xmlns:a16="http://schemas.microsoft.com/office/drawing/2014/main" id="{A0CA7D15-AECC-4F6C-B49B-95AB56E28B78}"/>
              </a:ext>
            </a:extLst>
          </p:cNvPr>
          <p:cNvSpPr>
            <a:spLocks noGrp="1"/>
          </p:cNvSpPr>
          <p:nvPr/>
        </p:nvSpPr>
        <p:spPr>
          <a:xfrm>
            <a:off x="6629400" y="3152775"/>
            <a:ext cx="1428750" cy="228600"/>
          </a:xfrm>
          <a:prstGeom prst="rect">
            <a:avLst/>
          </a:prstGeom>
          <a:noFill/>
          <a:ln w="0">
            <a:noFill/>
            <a:prstDash val="solid"/>
          </a:ln>
        </p:spPr>
        <p:txBody>
          <a:bodyPr lIns="0" tIns="0" rIns="0" bIns="0" anchor="t">
            <a:noAutofit/>
          </a:bodyPr>
          <a:lstStyle/>
          <a:p>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32" name="正方形/長方形 31">
            <a:extLst>
              <a:ext uri="{FF2B5EF4-FFF2-40B4-BE49-F238E27FC236}">
                <a16:creationId xmlns:a16="http://schemas.microsoft.com/office/drawing/2014/main" id="{65C0F17B-9EB7-443F-8448-75A8535C4BAC}"/>
              </a:ext>
            </a:extLst>
          </p:cNvPr>
          <p:cNvSpPr>
            <a:spLocks noGrp="1"/>
          </p:cNvSpPr>
          <p:nvPr/>
        </p:nvSpPr>
        <p:spPr>
          <a:xfrm>
            <a:off x="8429625" y="2819400"/>
            <a:ext cx="571500" cy="123825"/>
          </a:xfrm>
          <a:prstGeom prst="rect">
            <a:avLst/>
          </a:prstGeom>
          <a:solidFill>
            <a:srgbClr val="F59E0B"/>
          </a:solidFill>
          <a:ln w="0">
            <a:solidFill>
              <a:srgbClr val="F59E0B"/>
            </a:solidFill>
            <a:prstDash val="solid"/>
          </a:ln>
        </p:spPr>
        <p:txBody>
          <a:bodyPr/>
          <a:lstStyle/>
          <a:p>
            <a:endParaRPr/>
          </a:p>
        </p:txBody>
      </p:sp>
      <p:sp>
        <p:nvSpPr>
          <p:cNvPr id="33" name="正方形/長方形 32">
            <a:extLst>
              <a:ext uri="{FF2B5EF4-FFF2-40B4-BE49-F238E27FC236}">
                <a16:creationId xmlns:a16="http://schemas.microsoft.com/office/drawing/2014/main" id="{9E523358-D415-4E7C-9C0D-60FB900D39EC}"/>
              </a:ext>
            </a:extLst>
          </p:cNvPr>
          <p:cNvSpPr>
            <a:spLocks noGrp="1"/>
          </p:cNvSpPr>
          <p:nvPr/>
        </p:nvSpPr>
        <p:spPr>
          <a:xfrm>
            <a:off x="8429625" y="3038475"/>
            <a:ext cx="1371600" cy="123825"/>
          </a:xfrm>
          <a:prstGeom prst="rect">
            <a:avLst/>
          </a:prstGeom>
          <a:solidFill>
            <a:srgbClr val="F59E0B"/>
          </a:solidFill>
          <a:ln w="0">
            <a:solidFill>
              <a:srgbClr val="F59E0B"/>
            </a:solidFill>
            <a:prstDash val="solid"/>
          </a:ln>
        </p:spPr>
        <p:txBody>
          <a:bodyPr/>
          <a:lstStyle/>
          <a:p>
            <a:endParaRPr/>
          </a:p>
        </p:txBody>
      </p:sp>
      <p:sp>
        <p:nvSpPr>
          <p:cNvPr id="34" name="正方形/長方形 33">
            <a:extLst>
              <a:ext uri="{FF2B5EF4-FFF2-40B4-BE49-F238E27FC236}">
                <a16:creationId xmlns:a16="http://schemas.microsoft.com/office/drawing/2014/main" id="{6EC4F42B-8CAB-48F0-81A3-7B57981EFB0B}"/>
              </a:ext>
            </a:extLst>
          </p:cNvPr>
          <p:cNvSpPr>
            <a:spLocks noGrp="1"/>
          </p:cNvSpPr>
          <p:nvPr/>
        </p:nvSpPr>
        <p:spPr>
          <a:xfrm>
            <a:off x="8429625" y="3257550"/>
            <a:ext cx="800100" cy="123825"/>
          </a:xfrm>
          <a:prstGeom prst="rect">
            <a:avLst/>
          </a:prstGeom>
          <a:solidFill>
            <a:srgbClr val="F59E0B"/>
          </a:solidFill>
          <a:ln w="0">
            <a:solidFill>
              <a:srgbClr val="F59E0B"/>
            </a:solidFill>
            <a:prstDash val="solid"/>
          </a:ln>
        </p:spPr>
        <p:txBody>
          <a:bodyPr/>
          <a:lstStyle/>
          <a:p>
            <a:endParaRPr/>
          </a:p>
        </p:txBody>
      </p:sp>
      <p:sp>
        <p:nvSpPr>
          <p:cNvPr id="35" name="正方形/長方形 34">
            <a:extLst>
              <a:ext uri="{FF2B5EF4-FFF2-40B4-BE49-F238E27FC236}">
                <a16:creationId xmlns:a16="http://schemas.microsoft.com/office/drawing/2014/main" id="{61343C36-DD80-4A40-B644-C6A5D90368CA}"/>
              </a:ext>
            </a:extLst>
          </p:cNvPr>
          <p:cNvSpPr>
            <a:spLocks noGrp="1"/>
          </p:cNvSpPr>
          <p:nvPr/>
        </p:nvSpPr>
        <p:spPr>
          <a:xfrm>
            <a:off x="6429375" y="3867150"/>
            <a:ext cx="4953000" cy="952500"/>
          </a:xfrm>
          <a:prstGeom prst="rect">
            <a:avLst/>
          </a:prstGeom>
          <a:solidFill>
            <a:srgbClr val="FFFFFF"/>
          </a:solidFill>
          <a:ln w="19050">
            <a:solidFill>
              <a:srgbClr val="10B981"/>
            </a:solidFill>
            <a:prstDash val="solid"/>
          </a:ln>
        </p:spPr>
        <p:txBody>
          <a:bodyPr/>
          <a:lstStyle/>
          <a:p>
            <a:endParaRPr/>
          </a:p>
        </p:txBody>
      </p:sp>
      <p:sp>
        <p:nvSpPr>
          <p:cNvPr id="36" name="正方形/長方形 35">
            <a:extLst>
              <a:ext uri="{FF2B5EF4-FFF2-40B4-BE49-F238E27FC236}">
                <a16:creationId xmlns:a16="http://schemas.microsoft.com/office/drawing/2014/main" id="{876F2BB5-5140-4BEE-A399-C9C075340F18}"/>
              </a:ext>
            </a:extLst>
          </p:cNvPr>
          <p:cNvSpPr>
            <a:spLocks noGrp="1"/>
          </p:cNvSpPr>
          <p:nvPr/>
        </p:nvSpPr>
        <p:spPr>
          <a:xfrm>
            <a:off x="6629400" y="4038600"/>
            <a:ext cx="1190625" cy="285750"/>
          </a:xfrm>
          <a:prstGeom prst="rect">
            <a:avLst/>
          </a:prstGeom>
          <a:noFill/>
          <a:ln w="0">
            <a:noFill/>
            <a:prstDash val="solid"/>
          </a:ln>
        </p:spPr>
        <p:txBody>
          <a:bodyPr lIns="0" tIns="0" rIns="0" bIns="0" anchor="t">
            <a:noAutofit/>
          </a:bodyPr>
          <a:lstStyle/>
          <a:p>
            <a:pPr algn="l">
              <a:buNone/>
              <a:defRPr sz="1725" b="1">
                <a:solidFill>
                  <a:srgbClr val="10B981"/>
                </a:solidFill>
                <a:latin typeface="Yu Gothic"/>
                <a:ea typeface="Yu Gothic"/>
                <a:cs typeface="Yu Gothic"/>
              </a:defRPr>
            </a:pPr>
            <a:r>
              <a:rPr sz="1725" b="1">
                <a:solidFill>
                  <a:srgbClr val="10B981"/>
                </a:solidFill>
                <a:latin typeface="Yu Gothic"/>
                <a:ea typeface="Yu Gothic"/>
                <a:cs typeface="Yu Gothic"/>
              </a:rPr>
              <a:t>クラス C</a:t>
            </a:r>
          </a:p>
        </p:txBody>
      </p:sp>
      <p:sp>
        <p:nvSpPr>
          <p:cNvPr id="37" name="正方形/長方形 36">
            <a:extLst>
              <a:ext uri="{FF2B5EF4-FFF2-40B4-BE49-F238E27FC236}">
                <a16:creationId xmlns:a16="http://schemas.microsoft.com/office/drawing/2014/main" id="{39749FDB-1EC5-444E-BFD6-65A7D136F1DD}"/>
              </a:ext>
            </a:extLst>
          </p:cNvPr>
          <p:cNvSpPr>
            <a:spLocks noGrp="1"/>
          </p:cNvSpPr>
          <p:nvPr/>
        </p:nvSpPr>
        <p:spPr>
          <a:xfrm>
            <a:off x="6629400" y="4371975"/>
            <a:ext cx="1428750" cy="228600"/>
          </a:xfrm>
          <a:prstGeom prst="rect">
            <a:avLst/>
          </a:prstGeom>
          <a:noFill/>
          <a:ln w="0">
            <a:noFill/>
            <a:prstDash val="solid"/>
          </a:ln>
        </p:spPr>
        <p:txBody>
          <a:bodyPr lIns="0" tIns="0" rIns="0" bIns="0" anchor="t">
            <a:noAutofit/>
          </a:bodyPr>
          <a:lstStyle/>
          <a:p>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38" name="正方形/長方形 37">
            <a:extLst>
              <a:ext uri="{FF2B5EF4-FFF2-40B4-BE49-F238E27FC236}">
                <a16:creationId xmlns:a16="http://schemas.microsoft.com/office/drawing/2014/main" id="{8E6D069A-8B08-4A7F-B5BB-0EDCE823FEBD}"/>
              </a:ext>
            </a:extLst>
          </p:cNvPr>
          <p:cNvSpPr>
            <a:spLocks noGrp="1"/>
          </p:cNvSpPr>
          <p:nvPr/>
        </p:nvSpPr>
        <p:spPr>
          <a:xfrm>
            <a:off x="8429625" y="4038600"/>
            <a:ext cx="800100" cy="123825"/>
          </a:xfrm>
          <a:prstGeom prst="rect">
            <a:avLst/>
          </a:prstGeom>
          <a:solidFill>
            <a:srgbClr val="10B981"/>
          </a:solidFill>
          <a:ln w="0">
            <a:solidFill>
              <a:srgbClr val="10B981"/>
            </a:solidFill>
            <a:prstDash val="solid"/>
          </a:ln>
        </p:spPr>
        <p:txBody>
          <a:bodyPr/>
          <a:lstStyle/>
          <a:p>
            <a:endParaRPr/>
          </a:p>
        </p:txBody>
      </p:sp>
      <p:sp>
        <p:nvSpPr>
          <p:cNvPr id="39" name="正方形/長方形 38">
            <a:extLst>
              <a:ext uri="{FF2B5EF4-FFF2-40B4-BE49-F238E27FC236}">
                <a16:creationId xmlns:a16="http://schemas.microsoft.com/office/drawing/2014/main" id="{4C76D4E7-6335-44B6-B375-06A055E1D4DD}"/>
              </a:ext>
            </a:extLst>
          </p:cNvPr>
          <p:cNvSpPr>
            <a:spLocks noGrp="1"/>
          </p:cNvSpPr>
          <p:nvPr/>
        </p:nvSpPr>
        <p:spPr>
          <a:xfrm>
            <a:off x="8429625" y="4257675"/>
            <a:ext cx="411480" cy="123825"/>
          </a:xfrm>
          <a:prstGeom prst="rect">
            <a:avLst/>
          </a:prstGeom>
          <a:solidFill>
            <a:srgbClr val="10B981"/>
          </a:solidFill>
          <a:ln w="0">
            <a:solidFill>
              <a:srgbClr val="10B981"/>
            </a:solidFill>
            <a:prstDash val="solid"/>
          </a:ln>
        </p:spPr>
        <p:txBody>
          <a:bodyPr/>
          <a:lstStyle/>
          <a:p>
            <a:endParaRPr/>
          </a:p>
        </p:txBody>
      </p:sp>
      <p:sp>
        <p:nvSpPr>
          <p:cNvPr id="40" name="正方形/長方形 39">
            <a:extLst>
              <a:ext uri="{FF2B5EF4-FFF2-40B4-BE49-F238E27FC236}">
                <a16:creationId xmlns:a16="http://schemas.microsoft.com/office/drawing/2014/main" id="{AD140A8D-F1CB-49DA-94F1-6C5BE4CF732C}"/>
              </a:ext>
            </a:extLst>
          </p:cNvPr>
          <p:cNvSpPr>
            <a:spLocks noGrp="1"/>
          </p:cNvSpPr>
          <p:nvPr/>
        </p:nvSpPr>
        <p:spPr>
          <a:xfrm>
            <a:off x="8429625" y="4476750"/>
            <a:ext cx="1485900" cy="123825"/>
          </a:xfrm>
          <a:prstGeom prst="rect">
            <a:avLst/>
          </a:prstGeom>
          <a:solidFill>
            <a:srgbClr val="10B981"/>
          </a:solidFill>
          <a:ln w="0">
            <a:solidFill>
              <a:srgbClr val="10B981"/>
            </a:solidFill>
            <a:prstDash val="solid"/>
          </a:ln>
        </p:spPr>
        <p:txBody>
          <a:bodyPr/>
          <a:lstStyle/>
          <a:p>
            <a:endParaRPr/>
          </a:p>
        </p:txBody>
      </p:sp>
      <p:sp>
        <p:nvSpPr>
          <p:cNvPr id="41" name="正方形/長方形 40">
            <a:extLst>
              <a:ext uri="{FF2B5EF4-FFF2-40B4-BE49-F238E27FC236}">
                <a16:creationId xmlns:a16="http://schemas.microsoft.com/office/drawing/2014/main" id="{8D7010F4-A13D-4FB8-AC05-8F21D85A9FCE}"/>
              </a:ext>
            </a:extLst>
          </p:cNvPr>
          <p:cNvSpPr>
            <a:spLocks noGrp="1"/>
          </p:cNvSpPr>
          <p:nvPr/>
        </p:nvSpPr>
        <p:spPr>
          <a:xfrm>
            <a:off x="2381250" y="5381625"/>
            <a:ext cx="7429500" cy="628650"/>
          </a:xfrm>
          <a:prstGeom prst="rect">
            <a:avLst/>
          </a:prstGeom>
          <a:solidFill>
            <a:srgbClr val="DBEAFE"/>
          </a:solidFill>
          <a:ln w="0">
            <a:solidFill>
              <a:srgbClr val="2563EB"/>
            </a:solidFill>
            <a:prstDash val="solid"/>
          </a:ln>
        </p:spPr>
        <p:txBody>
          <a:bodyPr/>
          <a:lstStyle/>
          <a:p>
            <a:endParaRPr/>
          </a:p>
        </p:txBody>
      </p:sp>
      <p:sp>
        <p:nvSpPr>
          <p:cNvPr id="42" name="正方形/長方形 41">
            <a:extLst>
              <a:ext uri="{FF2B5EF4-FFF2-40B4-BE49-F238E27FC236}">
                <a16:creationId xmlns:a16="http://schemas.microsoft.com/office/drawing/2014/main" id="{70B56764-D335-4F13-A2C8-9F44B37DAFED}"/>
              </a:ext>
            </a:extLst>
          </p:cNvPr>
          <p:cNvSpPr>
            <a:spLocks noGrp="1"/>
          </p:cNvSpPr>
          <p:nvPr/>
        </p:nvSpPr>
        <p:spPr>
          <a:xfrm>
            <a:off x="2619375" y="5543550"/>
            <a:ext cx="6953250" cy="304800"/>
          </a:xfrm>
          <a:prstGeom prst="rect">
            <a:avLst/>
          </a:prstGeom>
          <a:noFill/>
          <a:ln w="0">
            <a:noFill/>
            <a:prstDash val="solid"/>
          </a:ln>
        </p:spPr>
        <p:txBody>
          <a:bodyPr lIns="0" tIns="0" rIns="0" bIns="0" anchor="t">
            <a:noAutofit/>
          </a:bodyPr>
          <a:lstStyle/>
          <a:p>
            <a:pPr algn="ctr">
              <a:buNone/>
              <a:defRPr sz="1650" b="1">
                <a:solidFill>
                  <a:srgbClr val="2563EB"/>
                </a:solidFill>
                <a:latin typeface="Yu Gothic"/>
                <a:ea typeface="Yu Gothic"/>
                <a:cs typeface="Yu Gothic"/>
              </a:defRPr>
            </a:pPr>
            <a:r>
              <a:rPr sz="1650" b="1">
                <a:solidFill>
                  <a:srgbClr val="2563EB"/>
                </a:solidFill>
                <a:latin typeface="Yu Gothic"/>
                <a:ea typeface="Yu Gothic"/>
                <a:cs typeface="Yu Gothic"/>
              </a:rPr>
              <a:t>近傍は共有できるが、説明モデルと特徴重みはクラス別に学習される</a:t>
            </a:r>
          </a:p>
        </p:txBody>
      </p:sp>
    </p:spTree>
    <p:extLst>
      <p:ext uri="{BB962C8B-B14F-4D97-AF65-F5344CB8AC3E}">
        <p14:creationId xmlns:p14="http://schemas.microsoft.com/office/powerpoint/2010/main" val="709646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正方形/長方形 33">
            <a:extLst>
              <a:ext uri="{FF2B5EF4-FFF2-40B4-BE49-F238E27FC236}">
                <a16:creationId xmlns:a16="http://schemas.microsoft.com/office/drawing/2014/main" id="{F1AA4A81-65D9-4460-9C50-8B2A4FA09904}"/>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7-title">
            <a:extLst>
              <a:ext uri="{FF2B5EF4-FFF2-40B4-BE49-F238E27FC236}">
                <a16:creationId xmlns:a16="http://schemas.microsoft.com/office/drawing/2014/main" id="{EE8FC56C-8321-46EA-BF49-FD7A05980B28}"/>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クラス別説明を並べるだけでは、全体像を読み取りにくい</a:t>
            </a:r>
          </a:p>
        </p:txBody>
      </p:sp>
      <p:sp>
        <p:nvSpPr>
          <p:cNvPr id="3" name="slide-7-subtitle">
            <a:extLst>
              <a:ext uri="{FF2B5EF4-FFF2-40B4-BE49-F238E27FC236}">
                <a16:creationId xmlns:a16="http://schemas.microsoft.com/office/drawing/2014/main" id="{55DDF937-5F97-4BE9-89E5-0215A329B51D}"/>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利用者が複数の特徴集合を見比べ、クラス差を再構成する必要がある</a:t>
            </a:r>
          </a:p>
        </p:txBody>
      </p:sp>
      <p:sp>
        <p:nvSpPr>
          <p:cNvPr id="4" name="正方形/長方形 3">
            <a:extLst>
              <a:ext uri="{FF2B5EF4-FFF2-40B4-BE49-F238E27FC236}">
                <a16:creationId xmlns:a16="http://schemas.microsoft.com/office/drawing/2014/main" id="{EA4DFCDA-FFA0-41E5-BDF2-AA92D69DF5F4}"/>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07</a:t>
            </a:r>
          </a:p>
        </p:txBody>
      </p:sp>
      <p:sp>
        <p:nvSpPr>
          <p:cNvPr id="5" name="正方形/長方形 4">
            <a:extLst>
              <a:ext uri="{FF2B5EF4-FFF2-40B4-BE49-F238E27FC236}">
                <a16:creationId xmlns:a16="http://schemas.microsoft.com/office/drawing/2014/main" id="{FC56ABC9-862C-4B19-95D1-AB0DB3DD6C8D}"/>
              </a:ext>
            </a:extLst>
          </p:cNvPr>
          <p:cNvSpPr>
            <a:spLocks noGrp="1"/>
          </p:cNvSpPr>
          <p:nvPr/>
        </p:nvSpPr>
        <p:spPr>
          <a:xfrm>
            <a:off x="523875" y="1666875"/>
            <a:ext cx="2238375" cy="323850"/>
          </a:xfrm>
          <a:prstGeom prst="rect">
            <a:avLst/>
          </a:prstGeom>
          <a:noFill/>
          <a:ln w="0">
            <a:noFill/>
            <a:prstDash val="solid"/>
          </a:ln>
        </p:spPr>
        <p:txBody>
          <a:bodyPr lIns="0" tIns="0" rIns="0" bIns="0" anchor="t">
            <a:noAutofit/>
          </a:bodyPr>
          <a:lstStyle/>
          <a:p>
            <a:pPr algn="l">
              <a:buNone/>
              <a:defRPr sz="1875" b="1">
                <a:solidFill>
                  <a:srgbClr val="2563EB"/>
                </a:solidFill>
                <a:latin typeface="Yu Gothic"/>
                <a:ea typeface="Yu Gothic"/>
                <a:cs typeface="Yu Gothic"/>
              </a:defRPr>
            </a:pPr>
            <a:r>
              <a:rPr sz="1875" b="1">
                <a:solidFill>
                  <a:srgbClr val="2563EB"/>
                </a:solidFill>
                <a:latin typeface="Yu Gothic"/>
                <a:ea typeface="Yu Gothic"/>
                <a:cs typeface="Yu Gothic"/>
              </a:rPr>
              <a:t>クラス A</a:t>
            </a:r>
          </a:p>
        </p:txBody>
      </p:sp>
      <p:cxnSp>
        <p:nvCxnSpPr>
          <p:cNvPr id="68" name="直線矢印コネクタ 38"/>
          <p:cNvCxnSpPr/>
          <p:nvPr/>
        </p:nvCxnSpPr>
        <p:spPr>
          <a:xfrm>
            <a:off x="523875" y="2076450"/>
            <a:ext cx="2190750" cy="0"/>
          </a:xfrm>
          <a:prstGeom prst="straightConnector1">
            <a:avLst/>
          </a:prstGeom>
          <a:ln w="9525">
            <a:solidFill>
              <a:srgbClr val="CBD5E1"/>
            </a:solidFill>
            <a:prstDash val="solid"/>
          </a:ln>
        </p:spPr>
      </p:cxnSp>
      <p:sp>
        <p:nvSpPr>
          <p:cNvPr id="7" name="正方形/長方形 6">
            <a:extLst>
              <a:ext uri="{FF2B5EF4-FFF2-40B4-BE49-F238E27FC236}">
                <a16:creationId xmlns:a16="http://schemas.microsoft.com/office/drawing/2014/main" id="{ED5842F6-5493-49D7-941C-5E46F4D892A7}"/>
              </a:ext>
            </a:extLst>
          </p:cNvPr>
          <p:cNvSpPr>
            <a:spLocks noGrp="1"/>
          </p:cNvSpPr>
          <p:nvPr/>
        </p:nvSpPr>
        <p:spPr>
          <a:xfrm>
            <a:off x="523875" y="238125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特徴1</a:t>
            </a:r>
          </a:p>
        </p:txBody>
      </p:sp>
      <p:sp>
        <p:nvSpPr>
          <p:cNvPr id="8" name="正方形/長方形 7">
            <a:extLst>
              <a:ext uri="{FF2B5EF4-FFF2-40B4-BE49-F238E27FC236}">
                <a16:creationId xmlns:a16="http://schemas.microsoft.com/office/drawing/2014/main" id="{F97AF587-3C0A-4485-B6F9-3B77943077DA}"/>
              </a:ext>
            </a:extLst>
          </p:cNvPr>
          <p:cNvSpPr>
            <a:spLocks noGrp="1"/>
          </p:cNvSpPr>
          <p:nvPr/>
        </p:nvSpPr>
        <p:spPr>
          <a:xfrm>
            <a:off x="1381125" y="2400300"/>
            <a:ext cx="1200150" cy="180975"/>
          </a:xfrm>
          <a:prstGeom prst="rect">
            <a:avLst/>
          </a:prstGeom>
          <a:solidFill>
            <a:srgbClr val="2563EB"/>
          </a:solidFill>
          <a:ln w="0">
            <a:solidFill>
              <a:srgbClr val="2563EB"/>
            </a:solidFill>
            <a:prstDash val="solid"/>
          </a:ln>
        </p:spPr>
        <p:txBody>
          <a:bodyPr/>
          <a:lstStyle/>
          <a:p>
            <a:endParaRPr/>
          </a:p>
        </p:txBody>
      </p:sp>
      <p:sp>
        <p:nvSpPr>
          <p:cNvPr id="9" name="正方形/長方形 8">
            <a:extLst>
              <a:ext uri="{FF2B5EF4-FFF2-40B4-BE49-F238E27FC236}">
                <a16:creationId xmlns:a16="http://schemas.microsoft.com/office/drawing/2014/main" id="{D810D807-BBBD-475D-B2D6-CE31F15E5E50}"/>
              </a:ext>
            </a:extLst>
          </p:cNvPr>
          <p:cNvSpPr>
            <a:spLocks noGrp="1"/>
          </p:cNvSpPr>
          <p:nvPr/>
        </p:nvSpPr>
        <p:spPr>
          <a:xfrm>
            <a:off x="523875" y="3190875"/>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10" name="正方形/長方形 9">
            <a:extLst>
              <a:ext uri="{FF2B5EF4-FFF2-40B4-BE49-F238E27FC236}">
                <a16:creationId xmlns:a16="http://schemas.microsoft.com/office/drawing/2014/main" id="{7CB2A021-E301-40E1-932C-F2A563C6F7F3}"/>
              </a:ext>
            </a:extLst>
          </p:cNvPr>
          <p:cNvSpPr>
            <a:spLocks noGrp="1"/>
          </p:cNvSpPr>
          <p:nvPr/>
        </p:nvSpPr>
        <p:spPr>
          <a:xfrm>
            <a:off x="1381125" y="3209925"/>
            <a:ext cx="866775" cy="180975"/>
          </a:xfrm>
          <a:prstGeom prst="rect">
            <a:avLst/>
          </a:prstGeom>
          <a:solidFill>
            <a:srgbClr val="2563EB"/>
          </a:solidFill>
          <a:ln w="0">
            <a:solidFill>
              <a:srgbClr val="2563EB"/>
            </a:solidFill>
            <a:prstDash val="solid"/>
          </a:ln>
        </p:spPr>
        <p:txBody>
          <a:bodyPr/>
          <a:lstStyle/>
          <a:p>
            <a:endParaRPr/>
          </a:p>
        </p:txBody>
      </p:sp>
      <p:sp>
        <p:nvSpPr>
          <p:cNvPr id="11" name="正方形/長方形 10">
            <a:extLst>
              <a:ext uri="{FF2B5EF4-FFF2-40B4-BE49-F238E27FC236}">
                <a16:creationId xmlns:a16="http://schemas.microsoft.com/office/drawing/2014/main" id="{84B6F764-0125-4677-B9FA-03472D8464F6}"/>
              </a:ext>
            </a:extLst>
          </p:cNvPr>
          <p:cNvSpPr>
            <a:spLocks noGrp="1"/>
          </p:cNvSpPr>
          <p:nvPr/>
        </p:nvSpPr>
        <p:spPr>
          <a:xfrm>
            <a:off x="523875" y="400050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特徴5</a:t>
            </a:r>
          </a:p>
        </p:txBody>
      </p:sp>
      <p:sp>
        <p:nvSpPr>
          <p:cNvPr id="12" name="正方形/長方形 11">
            <a:extLst>
              <a:ext uri="{FF2B5EF4-FFF2-40B4-BE49-F238E27FC236}">
                <a16:creationId xmlns:a16="http://schemas.microsoft.com/office/drawing/2014/main" id="{57EC35DB-808D-42CC-B235-AD0C023ABEA4}"/>
              </a:ext>
            </a:extLst>
          </p:cNvPr>
          <p:cNvSpPr>
            <a:spLocks noGrp="1"/>
          </p:cNvSpPr>
          <p:nvPr/>
        </p:nvSpPr>
        <p:spPr>
          <a:xfrm>
            <a:off x="1381125" y="4019550"/>
            <a:ext cx="466725" cy="180975"/>
          </a:xfrm>
          <a:prstGeom prst="rect">
            <a:avLst/>
          </a:prstGeom>
          <a:solidFill>
            <a:srgbClr val="2563EB"/>
          </a:solidFill>
          <a:ln w="0">
            <a:solidFill>
              <a:srgbClr val="2563EB"/>
            </a:solidFill>
            <a:prstDash val="solid"/>
          </a:ln>
        </p:spPr>
        <p:txBody>
          <a:bodyPr/>
          <a:lstStyle/>
          <a:p>
            <a:endParaRPr/>
          </a:p>
        </p:txBody>
      </p:sp>
      <p:sp>
        <p:nvSpPr>
          <p:cNvPr id="13" name="正方形/長方形 12">
            <a:extLst>
              <a:ext uri="{FF2B5EF4-FFF2-40B4-BE49-F238E27FC236}">
                <a16:creationId xmlns:a16="http://schemas.microsoft.com/office/drawing/2014/main" id="{963193BD-CCD1-4C01-AFAC-6D24CB059705}"/>
              </a:ext>
            </a:extLst>
          </p:cNvPr>
          <p:cNvSpPr>
            <a:spLocks noGrp="1"/>
          </p:cNvSpPr>
          <p:nvPr/>
        </p:nvSpPr>
        <p:spPr>
          <a:xfrm>
            <a:off x="3238500" y="1666875"/>
            <a:ext cx="2238375" cy="323850"/>
          </a:xfrm>
          <a:prstGeom prst="rect">
            <a:avLst/>
          </a:prstGeom>
          <a:noFill/>
          <a:ln w="0">
            <a:noFill/>
            <a:prstDash val="solid"/>
          </a:ln>
        </p:spPr>
        <p:txBody>
          <a:bodyPr lIns="0" tIns="0" rIns="0" bIns="0" anchor="t">
            <a:noAutofit/>
          </a:bodyPr>
          <a:lstStyle/>
          <a:p>
            <a:pPr algn="l">
              <a:buNone/>
              <a:defRPr sz="1875" b="1">
                <a:solidFill>
                  <a:srgbClr val="F59E0B"/>
                </a:solidFill>
                <a:latin typeface="Yu Gothic"/>
                <a:ea typeface="Yu Gothic"/>
                <a:cs typeface="Yu Gothic"/>
              </a:defRPr>
            </a:pPr>
            <a:r>
              <a:rPr sz="1875" b="1">
                <a:solidFill>
                  <a:srgbClr val="F59E0B"/>
                </a:solidFill>
                <a:latin typeface="Yu Gothic"/>
                <a:ea typeface="Yu Gothic"/>
                <a:cs typeface="Yu Gothic"/>
              </a:rPr>
              <a:t>クラス B</a:t>
            </a:r>
          </a:p>
        </p:txBody>
      </p:sp>
      <p:cxnSp>
        <p:nvCxnSpPr>
          <p:cNvPr id="76" name="直線矢印コネクタ 46"/>
          <p:cNvCxnSpPr/>
          <p:nvPr/>
        </p:nvCxnSpPr>
        <p:spPr>
          <a:xfrm>
            <a:off x="3238500" y="2076450"/>
            <a:ext cx="2190750" cy="0"/>
          </a:xfrm>
          <a:prstGeom prst="straightConnector1">
            <a:avLst/>
          </a:prstGeom>
          <a:ln w="9525">
            <a:solidFill>
              <a:srgbClr val="CBD5E1"/>
            </a:solidFill>
            <a:prstDash val="solid"/>
          </a:ln>
        </p:spPr>
      </p:cxnSp>
      <p:sp>
        <p:nvSpPr>
          <p:cNvPr id="15" name="正方形/長方形 14">
            <a:extLst>
              <a:ext uri="{FF2B5EF4-FFF2-40B4-BE49-F238E27FC236}">
                <a16:creationId xmlns:a16="http://schemas.microsoft.com/office/drawing/2014/main" id="{B653A798-C88C-4C36-97B5-105BC4AE163B}"/>
              </a:ext>
            </a:extLst>
          </p:cNvPr>
          <p:cNvSpPr>
            <a:spLocks noGrp="1"/>
          </p:cNvSpPr>
          <p:nvPr/>
        </p:nvSpPr>
        <p:spPr>
          <a:xfrm>
            <a:off x="3238500" y="238125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16" name="正方形/長方形 15">
            <a:extLst>
              <a:ext uri="{FF2B5EF4-FFF2-40B4-BE49-F238E27FC236}">
                <a16:creationId xmlns:a16="http://schemas.microsoft.com/office/drawing/2014/main" id="{E3410C17-715A-4214-8732-67432B3875B8}"/>
              </a:ext>
            </a:extLst>
          </p:cNvPr>
          <p:cNvSpPr>
            <a:spLocks noGrp="1"/>
          </p:cNvSpPr>
          <p:nvPr/>
        </p:nvSpPr>
        <p:spPr>
          <a:xfrm>
            <a:off x="4095750" y="2400300"/>
            <a:ext cx="1133475" cy="180975"/>
          </a:xfrm>
          <a:prstGeom prst="rect">
            <a:avLst/>
          </a:prstGeom>
          <a:solidFill>
            <a:srgbClr val="F59E0B"/>
          </a:solidFill>
          <a:ln w="0">
            <a:solidFill>
              <a:srgbClr val="F59E0B"/>
            </a:solidFill>
            <a:prstDash val="solid"/>
          </a:ln>
        </p:spPr>
        <p:txBody>
          <a:bodyPr/>
          <a:lstStyle/>
          <a:p>
            <a:endParaRPr/>
          </a:p>
        </p:txBody>
      </p:sp>
      <p:sp>
        <p:nvSpPr>
          <p:cNvPr id="17" name="正方形/長方形 16">
            <a:extLst>
              <a:ext uri="{FF2B5EF4-FFF2-40B4-BE49-F238E27FC236}">
                <a16:creationId xmlns:a16="http://schemas.microsoft.com/office/drawing/2014/main" id="{DEE74ADC-DC9D-41F5-BD0B-5D0113AC2E11}"/>
              </a:ext>
            </a:extLst>
          </p:cNvPr>
          <p:cNvSpPr>
            <a:spLocks noGrp="1"/>
          </p:cNvSpPr>
          <p:nvPr/>
        </p:nvSpPr>
        <p:spPr>
          <a:xfrm>
            <a:off x="3238500" y="3190875"/>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特徴4</a:t>
            </a:r>
          </a:p>
        </p:txBody>
      </p:sp>
      <p:sp>
        <p:nvSpPr>
          <p:cNvPr id="18" name="正方形/長方形 17">
            <a:extLst>
              <a:ext uri="{FF2B5EF4-FFF2-40B4-BE49-F238E27FC236}">
                <a16:creationId xmlns:a16="http://schemas.microsoft.com/office/drawing/2014/main" id="{7F6DB0B6-878A-480F-8D5F-AFD141AED6BD}"/>
              </a:ext>
            </a:extLst>
          </p:cNvPr>
          <p:cNvSpPr>
            <a:spLocks noGrp="1"/>
          </p:cNvSpPr>
          <p:nvPr/>
        </p:nvSpPr>
        <p:spPr>
          <a:xfrm>
            <a:off x="4095750" y="3209925"/>
            <a:ext cx="773430" cy="180975"/>
          </a:xfrm>
          <a:prstGeom prst="rect">
            <a:avLst/>
          </a:prstGeom>
          <a:solidFill>
            <a:srgbClr val="F59E0B"/>
          </a:solidFill>
          <a:ln w="0">
            <a:solidFill>
              <a:srgbClr val="F59E0B"/>
            </a:solidFill>
            <a:prstDash val="solid"/>
          </a:ln>
        </p:spPr>
        <p:txBody>
          <a:bodyPr/>
          <a:lstStyle/>
          <a:p>
            <a:endParaRPr/>
          </a:p>
        </p:txBody>
      </p:sp>
      <p:sp>
        <p:nvSpPr>
          <p:cNvPr id="19" name="正方形/長方形 18">
            <a:extLst>
              <a:ext uri="{FF2B5EF4-FFF2-40B4-BE49-F238E27FC236}">
                <a16:creationId xmlns:a16="http://schemas.microsoft.com/office/drawing/2014/main" id="{0E8E1109-0AEF-4C79-B3CF-2C16FDFCA934}"/>
              </a:ext>
            </a:extLst>
          </p:cNvPr>
          <p:cNvSpPr>
            <a:spLocks noGrp="1"/>
          </p:cNvSpPr>
          <p:nvPr/>
        </p:nvSpPr>
        <p:spPr>
          <a:xfrm>
            <a:off x="3238500" y="400050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特徴1</a:t>
            </a:r>
          </a:p>
        </p:txBody>
      </p:sp>
      <p:sp>
        <p:nvSpPr>
          <p:cNvPr id="20" name="正方形/長方形 19">
            <a:extLst>
              <a:ext uri="{FF2B5EF4-FFF2-40B4-BE49-F238E27FC236}">
                <a16:creationId xmlns:a16="http://schemas.microsoft.com/office/drawing/2014/main" id="{1EC67A9D-E3B4-49EC-97EA-F71D28646910}"/>
              </a:ext>
            </a:extLst>
          </p:cNvPr>
          <p:cNvSpPr>
            <a:spLocks noGrp="1"/>
          </p:cNvSpPr>
          <p:nvPr/>
        </p:nvSpPr>
        <p:spPr>
          <a:xfrm>
            <a:off x="4095750" y="4019550"/>
            <a:ext cx="400050" cy="180975"/>
          </a:xfrm>
          <a:prstGeom prst="rect">
            <a:avLst/>
          </a:prstGeom>
          <a:solidFill>
            <a:srgbClr val="F59E0B"/>
          </a:solidFill>
          <a:ln w="0">
            <a:solidFill>
              <a:srgbClr val="F59E0B"/>
            </a:solidFill>
            <a:prstDash val="solid"/>
          </a:ln>
        </p:spPr>
        <p:txBody>
          <a:bodyPr/>
          <a:lstStyle/>
          <a:p>
            <a:endParaRPr/>
          </a:p>
        </p:txBody>
      </p:sp>
      <p:sp>
        <p:nvSpPr>
          <p:cNvPr id="21" name="正方形/長方形 20">
            <a:extLst>
              <a:ext uri="{FF2B5EF4-FFF2-40B4-BE49-F238E27FC236}">
                <a16:creationId xmlns:a16="http://schemas.microsoft.com/office/drawing/2014/main" id="{E9DCC125-2D2A-4ECB-8715-5A08507D6CCB}"/>
              </a:ext>
            </a:extLst>
          </p:cNvPr>
          <p:cNvSpPr>
            <a:spLocks noGrp="1"/>
          </p:cNvSpPr>
          <p:nvPr/>
        </p:nvSpPr>
        <p:spPr>
          <a:xfrm>
            <a:off x="5953125" y="1666875"/>
            <a:ext cx="2238375" cy="323850"/>
          </a:xfrm>
          <a:prstGeom prst="rect">
            <a:avLst/>
          </a:prstGeom>
          <a:noFill/>
          <a:ln w="0">
            <a:noFill/>
            <a:prstDash val="solid"/>
          </a:ln>
        </p:spPr>
        <p:txBody>
          <a:bodyPr lIns="0" tIns="0" rIns="0" bIns="0" anchor="t">
            <a:noAutofit/>
          </a:bodyPr>
          <a:lstStyle/>
          <a:p>
            <a:pPr algn="l">
              <a:buNone/>
              <a:defRPr sz="1875" b="1">
                <a:solidFill>
                  <a:srgbClr val="10B981"/>
                </a:solidFill>
                <a:latin typeface="Yu Gothic"/>
                <a:ea typeface="Yu Gothic"/>
                <a:cs typeface="Yu Gothic"/>
              </a:defRPr>
            </a:pPr>
            <a:r>
              <a:rPr sz="1875" b="1">
                <a:solidFill>
                  <a:srgbClr val="10B981"/>
                </a:solidFill>
                <a:latin typeface="Yu Gothic"/>
                <a:ea typeface="Yu Gothic"/>
                <a:cs typeface="Yu Gothic"/>
              </a:rPr>
              <a:t>クラス C</a:t>
            </a:r>
          </a:p>
        </p:txBody>
      </p:sp>
      <p:cxnSp>
        <p:nvCxnSpPr>
          <p:cNvPr id="84" name="直線矢印コネクタ 54"/>
          <p:cNvCxnSpPr/>
          <p:nvPr/>
        </p:nvCxnSpPr>
        <p:spPr>
          <a:xfrm>
            <a:off x="5953125" y="2076450"/>
            <a:ext cx="2190750" cy="0"/>
          </a:xfrm>
          <a:prstGeom prst="straightConnector1">
            <a:avLst/>
          </a:prstGeom>
          <a:ln w="9525">
            <a:solidFill>
              <a:srgbClr val="CBD5E1"/>
            </a:solidFill>
            <a:prstDash val="solid"/>
          </a:ln>
        </p:spPr>
      </p:cxnSp>
      <p:sp>
        <p:nvSpPr>
          <p:cNvPr id="23" name="正方形/長方形 22">
            <a:extLst>
              <a:ext uri="{FF2B5EF4-FFF2-40B4-BE49-F238E27FC236}">
                <a16:creationId xmlns:a16="http://schemas.microsoft.com/office/drawing/2014/main" id="{3A099ABE-CC82-4F2F-B8F4-3425531D59E5}"/>
              </a:ext>
            </a:extLst>
          </p:cNvPr>
          <p:cNvSpPr>
            <a:spLocks noGrp="1"/>
          </p:cNvSpPr>
          <p:nvPr/>
        </p:nvSpPr>
        <p:spPr>
          <a:xfrm>
            <a:off x="5953125" y="238125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特徴3</a:t>
            </a:r>
          </a:p>
        </p:txBody>
      </p:sp>
      <p:sp>
        <p:nvSpPr>
          <p:cNvPr id="24" name="正方形/長方形 23">
            <a:extLst>
              <a:ext uri="{FF2B5EF4-FFF2-40B4-BE49-F238E27FC236}">
                <a16:creationId xmlns:a16="http://schemas.microsoft.com/office/drawing/2014/main" id="{F412E6F8-0E49-4E21-A372-2DC40E5788FF}"/>
              </a:ext>
            </a:extLst>
          </p:cNvPr>
          <p:cNvSpPr>
            <a:spLocks noGrp="1"/>
          </p:cNvSpPr>
          <p:nvPr/>
        </p:nvSpPr>
        <p:spPr>
          <a:xfrm>
            <a:off x="6810375" y="2400300"/>
            <a:ext cx="1226820" cy="180975"/>
          </a:xfrm>
          <a:prstGeom prst="rect">
            <a:avLst/>
          </a:prstGeom>
          <a:solidFill>
            <a:srgbClr val="10B981"/>
          </a:solidFill>
          <a:ln w="0">
            <a:solidFill>
              <a:srgbClr val="10B981"/>
            </a:solidFill>
            <a:prstDash val="solid"/>
          </a:ln>
        </p:spPr>
        <p:txBody>
          <a:bodyPr/>
          <a:lstStyle/>
          <a:p>
            <a:endParaRPr/>
          </a:p>
        </p:txBody>
      </p:sp>
      <p:sp>
        <p:nvSpPr>
          <p:cNvPr id="25" name="正方形/長方形 24">
            <a:extLst>
              <a:ext uri="{FF2B5EF4-FFF2-40B4-BE49-F238E27FC236}">
                <a16:creationId xmlns:a16="http://schemas.microsoft.com/office/drawing/2014/main" id="{6AA202A1-C7AF-4C74-A8C1-E0A1B8170D90}"/>
              </a:ext>
            </a:extLst>
          </p:cNvPr>
          <p:cNvSpPr>
            <a:spLocks noGrp="1"/>
          </p:cNvSpPr>
          <p:nvPr/>
        </p:nvSpPr>
        <p:spPr>
          <a:xfrm>
            <a:off x="5953125" y="3190875"/>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特徴5</a:t>
            </a:r>
          </a:p>
        </p:txBody>
      </p:sp>
      <p:sp>
        <p:nvSpPr>
          <p:cNvPr id="26" name="正方形/長方形 25">
            <a:extLst>
              <a:ext uri="{FF2B5EF4-FFF2-40B4-BE49-F238E27FC236}">
                <a16:creationId xmlns:a16="http://schemas.microsoft.com/office/drawing/2014/main" id="{174943F7-D308-4363-B917-01F17FD95837}"/>
              </a:ext>
            </a:extLst>
          </p:cNvPr>
          <p:cNvSpPr>
            <a:spLocks noGrp="1"/>
          </p:cNvSpPr>
          <p:nvPr/>
        </p:nvSpPr>
        <p:spPr>
          <a:xfrm>
            <a:off x="6810375" y="3209925"/>
            <a:ext cx="826770" cy="180975"/>
          </a:xfrm>
          <a:prstGeom prst="rect">
            <a:avLst/>
          </a:prstGeom>
          <a:solidFill>
            <a:srgbClr val="10B981"/>
          </a:solidFill>
          <a:ln w="0">
            <a:solidFill>
              <a:srgbClr val="10B981"/>
            </a:solidFill>
            <a:prstDash val="solid"/>
          </a:ln>
        </p:spPr>
        <p:txBody>
          <a:bodyPr/>
          <a:lstStyle/>
          <a:p>
            <a:endParaRPr/>
          </a:p>
        </p:txBody>
      </p:sp>
      <p:sp>
        <p:nvSpPr>
          <p:cNvPr id="27" name="正方形/長方形 26">
            <a:extLst>
              <a:ext uri="{FF2B5EF4-FFF2-40B4-BE49-F238E27FC236}">
                <a16:creationId xmlns:a16="http://schemas.microsoft.com/office/drawing/2014/main" id="{A5138BC3-7C1A-42EE-9E64-69586F44F6E9}"/>
              </a:ext>
            </a:extLst>
          </p:cNvPr>
          <p:cNvSpPr>
            <a:spLocks noGrp="1"/>
          </p:cNvSpPr>
          <p:nvPr/>
        </p:nvSpPr>
        <p:spPr>
          <a:xfrm>
            <a:off x="5953125" y="400050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28" name="正方形/長方形 27">
            <a:extLst>
              <a:ext uri="{FF2B5EF4-FFF2-40B4-BE49-F238E27FC236}">
                <a16:creationId xmlns:a16="http://schemas.microsoft.com/office/drawing/2014/main" id="{614BDDEF-52A9-4FE2-9F66-D5F7AA69E784}"/>
              </a:ext>
            </a:extLst>
          </p:cNvPr>
          <p:cNvSpPr>
            <a:spLocks noGrp="1"/>
          </p:cNvSpPr>
          <p:nvPr/>
        </p:nvSpPr>
        <p:spPr>
          <a:xfrm>
            <a:off x="6810375" y="4019550"/>
            <a:ext cx="373380" cy="180975"/>
          </a:xfrm>
          <a:prstGeom prst="rect">
            <a:avLst/>
          </a:prstGeom>
          <a:solidFill>
            <a:srgbClr val="10B981"/>
          </a:solidFill>
          <a:ln w="0">
            <a:solidFill>
              <a:srgbClr val="10B981"/>
            </a:solidFill>
            <a:prstDash val="solid"/>
          </a:ln>
        </p:spPr>
        <p:txBody>
          <a:bodyPr/>
          <a:lstStyle/>
          <a:p>
            <a:endParaRPr/>
          </a:p>
        </p:txBody>
      </p:sp>
      <p:cxnSp>
        <p:nvCxnSpPr>
          <p:cNvPr id="91" name="直線矢印コネクタ 61"/>
          <p:cNvCxnSpPr/>
          <p:nvPr/>
        </p:nvCxnSpPr>
        <p:spPr>
          <a:xfrm>
            <a:off x="8763000" y="1571625"/>
            <a:ext cx="0" cy="3714750"/>
          </a:xfrm>
          <a:prstGeom prst="straightConnector1">
            <a:avLst/>
          </a:prstGeom>
          <a:ln w="19050">
            <a:solidFill>
              <a:srgbClr val="CBD5E1"/>
            </a:solidFill>
            <a:prstDash val="solid"/>
          </a:ln>
        </p:spPr>
      </p:cxnSp>
      <p:sp>
        <p:nvSpPr>
          <p:cNvPr id="30" name="正方形/長方形 29">
            <a:extLst>
              <a:ext uri="{FF2B5EF4-FFF2-40B4-BE49-F238E27FC236}">
                <a16:creationId xmlns:a16="http://schemas.microsoft.com/office/drawing/2014/main" id="{7232231D-4BA4-47E1-9658-6CC3BCF63FB7}"/>
              </a:ext>
            </a:extLst>
          </p:cNvPr>
          <p:cNvSpPr>
            <a:spLocks noGrp="1"/>
          </p:cNvSpPr>
          <p:nvPr/>
        </p:nvSpPr>
        <p:spPr>
          <a:xfrm>
            <a:off x="9191625" y="1714500"/>
            <a:ext cx="228600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利用者の問い</a:t>
            </a:r>
          </a:p>
        </p:txBody>
      </p:sp>
      <p:sp>
        <p:nvSpPr>
          <p:cNvPr id="31" name="正方形/長方形 30">
            <a:extLst>
              <a:ext uri="{FF2B5EF4-FFF2-40B4-BE49-F238E27FC236}">
                <a16:creationId xmlns:a16="http://schemas.microsoft.com/office/drawing/2014/main" id="{9F56DB97-490B-4830-9353-CE920E8C62DC}"/>
              </a:ext>
            </a:extLst>
          </p:cNvPr>
          <p:cNvSpPr>
            <a:spLocks noGrp="1"/>
          </p:cNvSpPr>
          <p:nvPr/>
        </p:nvSpPr>
        <p:spPr>
          <a:xfrm>
            <a:off x="9191625" y="2333625"/>
            <a:ext cx="2286000" cy="2476500"/>
          </a:xfrm>
          <a:prstGeom prst="rect">
            <a:avLst/>
          </a:prstGeom>
          <a:noFill/>
          <a:ln w="0">
            <a:noFill/>
            <a:prstDash val="solid"/>
          </a:ln>
        </p:spPr>
        <p:txBody>
          <a:bodyPr lIns="0" tIns="0" rIns="0" bIns="0" anchor="t">
            <a:noAutofit/>
          </a:bodyPr>
          <a:lstStyle/>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Aに重要な特徴は</a:t>
            </a:r>
          </a:p>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分かった。</a:t>
            </a:r>
          </a:p>
          <a:p>
            <a:endParaRPr sz="1875" b="1">
              <a:solidFill>
                <a:srgbClr val="111827"/>
              </a:solidFill>
              <a:latin typeface="Yu Gothic"/>
              <a:ea typeface="Yu Gothic"/>
              <a:cs typeface="Yu Gothic"/>
            </a:endParaRPr>
          </a:p>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では、AとBを</a:t>
            </a:r>
          </a:p>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分けた特徴は？</a:t>
            </a:r>
          </a:p>
          <a:p>
            <a:endParaRPr sz="1875" b="1">
              <a:solidFill>
                <a:srgbClr val="111827"/>
              </a:solidFill>
              <a:latin typeface="Yu Gothic"/>
              <a:ea typeface="Yu Gothic"/>
              <a:cs typeface="Yu Gothic"/>
            </a:endParaRPr>
          </a:p>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3つの説明を</a:t>
            </a:r>
          </a:p>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どう統合する？</a:t>
            </a:r>
          </a:p>
        </p:txBody>
      </p:sp>
      <p:sp>
        <p:nvSpPr>
          <p:cNvPr id="32" name="正方形/長方形 31">
            <a:extLst>
              <a:ext uri="{FF2B5EF4-FFF2-40B4-BE49-F238E27FC236}">
                <a16:creationId xmlns:a16="http://schemas.microsoft.com/office/drawing/2014/main" id="{E95F6C0E-BC0D-4324-B70F-DCDFBA841217}"/>
              </a:ext>
            </a:extLst>
          </p:cNvPr>
          <p:cNvSpPr>
            <a:spLocks noGrp="1"/>
          </p:cNvSpPr>
          <p:nvPr/>
        </p:nvSpPr>
        <p:spPr>
          <a:xfrm>
            <a:off x="523875" y="5286375"/>
            <a:ext cx="10953750" cy="723900"/>
          </a:xfrm>
          <a:prstGeom prst="rect">
            <a:avLst/>
          </a:prstGeom>
          <a:solidFill>
            <a:srgbClr val="FEF3C7"/>
          </a:solidFill>
          <a:ln w="0">
            <a:solidFill>
              <a:srgbClr val="F59E0B"/>
            </a:solidFill>
            <a:prstDash val="solid"/>
          </a:ln>
        </p:spPr>
        <p:txBody>
          <a:bodyPr/>
          <a:lstStyle/>
          <a:p>
            <a:endParaRPr/>
          </a:p>
        </p:txBody>
      </p:sp>
      <p:sp>
        <p:nvSpPr>
          <p:cNvPr id="33" name="正方形/長方形 32">
            <a:extLst>
              <a:ext uri="{FF2B5EF4-FFF2-40B4-BE49-F238E27FC236}">
                <a16:creationId xmlns:a16="http://schemas.microsoft.com/office/drawing/2014/main" id="{CB536421-6262-49CC-89E1-3DC517AE4966}"/>
              </a:ext>
            </a:extLst>
          </p:cNvPr>
          <p:cNvSpPr>
            <a:spLocks noGrp="1"/>
          </p:cNvSpPr>
          <p:nvPr/>
        </p:nvSpPr>
        <p:spPr>
          <a:xfrm>
            <a:off x="1095375" y="5486400"/>
            <a:ext cx="9810750" cy="323850"/>
          </a:xfrm>
          <a:prstGeom prst="rect">
            <a:avLst/>
          </a:prstGeom>
          <a:noFill/>
          <a:ln w="0">
            <a:noFill/>
            <a:prstDash val="solid"/>
          </a:ln>
        </p:spPr>
        <p:txBody>
          <a:bodyPr lIns="0" tIns="0" rIns="0" bIns="0" anchor="t">
            <a:noAutofit/>
          </a:bodyPr>
          <a:lstStyle/>
          <a:p>
            <a:pPr algn="ctr">
              <a:buNone/>
              <a:defRPr sz="1725" b="1">
                <a:solidFill>
                  <a:srgbClr val="111827"/>
                </a:solidFill>
                <a:latin typeface="Yu Gothic"/>
                <a:ea typeface="Yu Gothic"/>
                <a:cs typeface="Yu Gothic"/>
              </a:defRPr>
            </a:pPr>
            <a:r>
              <a:rPr sz="1725" b="1">
                <a:solidFill>
                  <a:srgbClr val="111827"/>
                </a:solidFill>
                <a:latin typeface="Yu Gothic"/>
                <a:ea typeface="Yu Gothic"/>
                <a:cs typeface="Yu Gothic"/>
              </a:rPr>
              <a:t>問題は「各説明が誤り」ではなく、クラス間の関係を読む認知的負担</a:t>
            </a:r>
          </a:p>
        </p:txBody>
      </p:sp>
    </p:spTree>
    <p:extLst>
      <p:ext uri="{BB962C8B-B14F-4D97-AF65-F5344CB8AC3E}">
        <p14:creationId xmlns:p14="http://schemas.microsoft.com/office/powerpoint/2010/main" val="97829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59738E81-F6C4-4531-AB19-9EDA5ABBC955}"/>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8-title">
            <a:extLst>
              <a:ext uri="{FF2B5EF4-FFF2-40B4-BE49-F238E27FC236}">
                <a16:creationId xmlns:a16="http://schemas.microsoft.com/office/drawing/2014/main" id="{F3FD66B9-7430-420A-B2A9-041FF42B49FC}"/>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LIMEtreeは一つの木で複数クラスを説明する</a:t>
            </a:r>
          </a:p>
        </p:txBody>
      </p:sp>
      <p:sp>
        <p:nvSpPr>
          <p:cNvPr id="3" name="slide-8-subtitle">
            <a:extLst>
              <a:ext uri="{FF2B5EF4-FFF2-40B4-BE49-F238E27FC236}">
                <a16:creationId xmlns:a16="http://schemas.microsoft.com/office/drawing/2014/main" id="{52BD7DA0-187B-43DF-904F-DC9474E23FF4}"/>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クラス別のモデルではなく、全クラスで共通の分岐構造を使う</a:t>
            </a:r>
          </a:p>
        </p:txBody>
      </p:sp>
      <p:sp>
        <p:nvSpPr>
          <p:cNvPr id="4" name="正方形/長方形 3">
            <a:extLst>
              <a:ext uri="{FF2B5EF4-FFF2-40B4-BE49-F238E27FC236}">
                <a16:creationId xmlns:a16="http://schemas.microsoft.com/office/drawing/2014/main" id="{D0E8DFFC-C374-49A4-A807-F55BC0E12193}"/>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08</a:t>
            </a:r>
          </a:p>
        </p:txBody>
      </p:sp>
      <p:sp>
        <p:nvSpPr>
          <p:cNvPr id="5" name="正方形/長方形 4">
            <a:extLst>
              <a:ext uri="{FF2B5EF4-FFF2-40B4-BE49-F238E27FC236}">
                <a16:creationId xmlns:a16="http://schemas.microsoft.com/office/drawing/2014/main" id="{24FE4798-00C3-4FDA-8D41-7047733B5770}"/>
              </a:ext>
            </a:extLst>
          </p:cNvPr>
          <p:cNvSpPr>
            <a:spLocks noGrp="1"/>
          </p:cNvSpPr>
          <p:nvPr/>
        </p:nvSpPr>
        <p:spPr>
          <a:xfrm>
            <a:off x="666750" y="1524000"/>
            <a:ext cx="4286250" cy="323850"/>
          </a:xfrm>
          <a:prstGeom prst="rect">
            <a:avLst/>
          </a:prstGeom>
          <a:noFill/>
          <a:ln w="0">
            <a:noFill/>
            <a:prstDash val="solid"/>
          </a:ln>
        </p:spPr>
        <p:txBody>
          <a:bodyPr lIns="0" tIns="0" rIns="0" bIns="0" anchor="t">
            <a:noAutofit/>
          </a:bodyPr>
          <a:lstStyle/>
          <a:p>
            <a:pPr algn="ctr">
              <a:buNone/>
              <a:defRPr sz="2025" b="1">
                <a:solidFill>
                  <a:srgbClr val="2563EB"/>
                </a:solidFill>
                <a:latin typeface="Yu Gothic"/>
                <a:ea typeface="Yu Gothic"/>
                <a:cs typeface="Yu Gothic"/>
              </a:defRPr>
            </a:pPr>
            <a:r>
              <a:rPr sz="2025" b="1">
                <a:solidFill>
                  <a:srgbClr val="2563EB"/>
                </a:solidFill>
                <a:latin typeface="Yu Gothic"/>
                <a:ea typeface="Yu Gothic"/>
                <a:cs typeface="Yu Gothic"/>
              </a:rPr>
              <a:t>LIME</a:t>
            </a:r>
          </a:p>
        </p:txBody>
      </p:sp>
      <p:sp>
        <p:nvSpPr>
          <p:cNvPr id="6" name="正方形/長方形 5">
            <a:extLst>
              <a:ext uri="{FF2B5EF4-FFF2-40B4-BE49-F238E27FC236}">
                <a16:creationId xmlns:a16="http://schemas.microsoft.com/office/drawing/2014/main" id="{1E95490E-C233-43BF-81F4-EF0B677F0237}"/>
              </a:ext>
            </a:extLst>
          </p:cNvPr>
          <p:cNvSpPr>
            <a:spLocks noGrp="1"/>
          </p:cNvSpPr>
          <p:nvPr/>
        </p:nvSpPr>
        <p:spPr>
          <a:xfrm>
            <a:off x="666750" y="1885950"/>
            <a:ext cx="4286250" cy="266700"/>
          </a:xfrm>
          <a:prstGeom prst="rect">
            <a:avLst/>
          </a:prstGeom>
          <a:noFill/>
          <a:ln w="0">
            <a:noFill/>
            <a:prstDash val="solid"/>
          </a:ln>
        </p:spPr>
        <p:txBody>
          <a:bodyPr lIns="0" tIns="0" rIns="0" bIns="0" anchor="t">
            <a:noAutofit/>
          </a:bodyPr>
          <a:lstStyle/>
          <a:p>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別々の構造</a:t>
            </a:r>
          </a:p>
        </p:txBody>
      </p:sp>
      <p:sp>
        <p:nvSpPr>
          <p:cNvPr id="7" name="正方形/長方形 6">
            <a:extLst>
              <a:ext uri="{FF2B5EF4-FFF2-40B4-BE49-F238E27FC236}">
                <a16:creationId xmlns:a16="http://schemas.microsoft.com/office/drawing/2014/main" id="{96AFA24C-0106-4CAE-BEC4-22632775EF74}"/>
              </a:ext>
            </a:extLst>
          </p:cNvPr>
          <p:cNvSpPr>
            <a:spLocks noGrp="1"/>
          </p:cNvSpPr>
          <p:nvPr/>
        </p:nvSpPr>
        <p:spPr>
          <a:xfrm>
            <a:off x="762000" y="2362200"/>
            <a:ext cx="4000500" cy="781050"/>
          </a:xfrm>
          <a:prstGeom prst="rect">
            <a:avLst/>
          </a:prstGeom>
          <a:solidFill>
            <a:srgbClr val="FFFFFF"/>
          </a:solidFill>
          <a:ln w="19050">
            <a:solidFill>
              <a:srgbClr val="2563EB"/>
            </a:solidFill>
            <a:prstDash val="solid"/>
          </a:ln>
        </p:spPr>
        <p:txBody>
          <a:bodyPr/>
          <a:lstStyle/>
          <a:p>
            <a:endParaRPr/>
          </a:p>
        </p:txBody>
      </p:sp>
      <p:sp>
        <p:nvSpPr>
          <p:cNvPr id="8" name="正方形/長方形 7">
            <a:extLst>
              <a:ext uri="{FF2B5EF4-FFF2-40B4-BE49-F238E27FC236}">
                <a16:creationId xmlns:a16="http://schemas.microsoft.com/office/drawing/2014/main" id="{BD7001C6-2696-4206-A863-5E21CEC1DA4C}"/>
              </a:ext>
            </a:extLst>
          </p:cNvPr>
          <p:cNvSpPr>
            <a:spLocks noGrp="1"/>
          </p:cNvSpPr>
          <p:nvPr/>
        </p:nvSpPr>
        <p:spPr>
          <a:xfrm>
            <a:off x="933450" y="2600325"/>
            <a:ext cx="1190625" cy="266700"/>
          </a:xfrm>
          <a:prstGeom prst="rect">
            <a:avLst/>
          </a:prstGeom>
          <a:noFill/>
          <a:ln w="0">
            <a:noFill/>
            <a:prstDash val="solid"/>
          </a:ln>
        </p:spPr>
        <p:txBody>
          <a:bodyPr lIns="0" tIns="0" rIns="0" bIns="0" anchor="t">
            <a:noAutofit/>
          </a:bodyPr>
          <a:lstStyle/>
          <a:p>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A用モデル</a:t>
            </a:r>
          </a:p>
        </p:txBody>
      </p:sp>
      <p:sp>
        <p:nvSpPr>
          <p:cNvPr id="9" name="正方形/長方形 8">
            <a:extLst>
              <a:ext uri="{FF2B5EF4-FFF2-40B4-BE49-F238E27FC236}">
                <a16:creationId xmlns:a16="http://schemas.microsoft.com/office/drawing/2014/main" id="{F922B255-D477-45A3-B820-F36EFA6A2AF5}"/>
              </a:ext>
            </a:extLst>
          </p:cNvPr>
          <p:cNvSpPr>
            <a:spLocks noGrp="1"/>
          </p:cNvSpPr>
          <p:nvPr/>
        </p:nvSpPr>
        <p:spPr>
          <a:xfrm>
            <a:off x="2333625" y="2505075"/>
            <a:ext cx="1752600" cy="104775"/>
          </a:xfrm>
          <a:prstGeom prst="rect">
            <a:avLst/>
          </a:prstGeom>
          <a:solidFill>
            <a:srgbClr val="2563EB"/>
          </a:solidFill>
          <a:ln w="0">
            <a:solidFill>
              <a:srgbClr val="2563EB"/>
            </a:solidFill>
            <a:prstDash val="solid"/>
          </a:ln>
        </p:spPr>
        <p:txBody>
          <a:bodyPr/>
          <a:lstStyle/>
          <a:p>
            <a:endParaRPr/>
          </a:p>
        </p:txBody>
      </p:sp>
      <p:sp>
        <p:nvSpPr>
          <p:cNvPr id="10" name="正方形/長方形 9">
            <a:extLst>
              <a:ext uri="{FF2B5EF4-FFF2-40B4-BE49-F238E27FC236}">
                <a16:creationId xmlns:a16="http://schemas.microsoft.com/office/drawing/2014/main" id="{269A3289-7FE4-4444-ACF2-DFBC8BED8F4F}"/>
              </a:ext>
            </a:extLst>
          </p:cNvPr>
          <p:cNvSpPr>
            <a:spLocks noGrp="1"/>
          </p:cNvSpPr>
          <p:nvPr/>
        </p:nvSpPr>
        <p:spPr>
          <a:xfrm>
            <a:off x="2333625" y="2695575"/>
            <a:ext cx="1095375" cy="104775"/>
          </a:xfrm>
          <a:prstGeom prst="rect">
            <a:avLst/>
          </a:prstGeom>
          <a:solidFill>
            <a:srgbClr val="2563EB"/>
          </a:solidFill>
          <a:ln w="0">
            <a:solidFill>
              <a:srgbClr val="2563EB"/>
            </a:solidFill>
            <a:prstDash val="solid"/>
          </a:ln>
        </p:spPr>
        <p:txBody>
          <a:bodyPr/>
          <a:lstStyle/>
          <a:p>
            <a:endParaRPr/>
          </a:p>
        </p:txBody>
      </p:sp>
      <p:sp>
        <p:nvSpPr>
          <p:cNvPr id="11" name="正方形/長方形 10">
            <a:extLst>
              <a:ext uri="{FF2B5EF4-FFF2-40B4-BE49-F238E27FC236}">
                <a16:creationId xmlns:a16="http://schemas.microsoft.com/office/drawing/2014/main" id="{5BC46850-0B41-4677-B6EC-6855531A5A3F}"/>
              </a:ext>
            </a:extLst>
          </p:cNvPr>
          <p:cNvSpPr>
            <a:spLocks noGrp="1"/>
          </p:cNvSpPr>
          <p:nvPr/>
        </p:nvSpPr>
        <p:spPr>
          <a:xfrm>
            <a:off x="2333625" y="2886075"/>
            <a:ext cx="547688" cy="104775"/>
          </a:xfrm>
          <a:prstGeom prst="rect">
            <a:avLst/>
          </a:prstGeom>
          <a:solidFill>
            <a:srgbClr val="2563EB"/>
          </a:solidFill>
          <a:ln w="0">
            <a:solidFill>
              <a:srgbClr val="2563EB"/>
            </a:solidFill>
            <a:prstDash val="solid"/>
          </a:ln>
        </p:spPr>
        <p:txBody>
          <a:bodyPr/>
          <a:lstStyle/>
          <a:p>
            <a:endParaRPr/>
          </a:p>
        </p:txBody>
      </p:sp>
      <p:sp>
        <p:nvSpPr>
          <p:cNvPr id="12" name="正方形/長方形 11">
            <a:extLst>
              <a:ext uri="{FF2B5EF4-FFF2-40B4-BE49-F238E27FC236}">
                <a16:creationId xmlns:a16="http://schemas.microsoft.com/office/drawing/2014/main" id="{46F30386-DA56-4F9B-BDC1-E6BF75B6D642}"/>
              </a:ext>
            </a:extLst>
          </p:cNvPr>
          <p:cNvSpPr>
            <a:spLocks noGrp="1"/>
          </p:cNvSpPr>
          <p:nvPr/>
        </p:nvSpPr>
        <p:spPr>
          <a:xfrm>
            <a:off x="762000" y="3429000"/>
            <a:ext cx="4000500" cy="781050"/>
          </a:xfrm>
          <a:prstGeom prst="rect">
            <a:avLst/>
          </a:prstGeom>
          <a:solidFill>
            <a:srgbClr val="FFFFFF"/>
          </a:solidFill>
          <a:ln w="19050">
            <a:solidFill>
              <a:srgbClr val="F59E0B"/>
            </a:solidFill>
            <a:prstDash val="solid"/>
          </a:ln>
        </p:spPr>
        <p:txBody>
          <a:bodyPr/>
          <a:lstStyle/>
          <a:p>
            <a:endParaRPr/>
          </a:p>
        </p:txBody>
      </p:sp>
      <p:sp>
        <p:nvSpPr>
          <p:cNvPr id="13" name="正方形/長方形 12">
            <a:extLst>
              <a:ext uri="{FF2B5EF4-FFF2-40B4-BE49-F238E27FC236}">
                <a16:creationId xmlns:a16="http://schemas.microsoft.com/office/drawing/2014/main" id="{1ED1AE1D-7C8A-4A06-81D1-CDE2C5072AD5}"/>
              </a:ext>
            </a:extLst>
          </p:cNvPr>
          <p:cNvSpPr>
            <a:spLocks noGrp="1"/>
          </p:cNvSpPr>
          <p:nvPr/>
        </p:nvSpPr>
        <p:spPr>
          <a:xfrm>
            <a:off x="933450" y="3667125"/>
            <a:ext cx="1190625" cy="266700"/>
          </a:xfrm>
          <a:prstGeom prst="rect">
            <a:avLst/>
          </a:prstGeom>
          <a:noFill/>
          <a:ln w="0">
            <a:noFill/>
            <a:prstDash val="solid"/>
          </a:ln>
        </p:spPr>
        <p:txBody>
          <a:bodyPr lIns="0" tIns="0" rIns="0" bIns="0" anchor="t">
            <a:noAutofit/>
          </a:bodyPr>
          <a:lstStyle/>
          <a:p>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B用モデル</a:t>
            </a:r>
          </a:p>
        </p:txBody>
      </p:sp>
      <p:sp>
        <p:nvSpPr>
          <p:cNvPr id="14" name="正方形/長方形 13">
            <a:extLst>
              <a:ext uri="{FF2B5EF4-FFF2-40B4-BE49-F238E27FC236}">
                <a16:creationId xmlns:a16="http://schemas.microsoft.com/office/drawing/2014/main" id="{E94A470E-B142-4A8D-BD95-9433DCD30B46}"/>
              </a:ext>
            </a:extLst>
          </p:cNvPr>
          <p:cNvSpPr>
            <a:spLocks noGrp="1"/>
          </p:cNvSpPr>
          <p:nvPr/>
        </p:nvSpPr>
        <p:spPr>
          <a:xfrm>
            <a:off x="2333625" y="3571875"/>
            <a:ext cx="547688" cy="104775"/>
          </a:xfrm>
          <a:prstGeom prst="rect">
            <a:avLst/>
          </a:prstGeom>
          <a:solidFill>
            <a:srgbClr val="F59E0B"/>
          </a:solidFill>
          <a:ln w="0">
            <a:solidFill>
              <a:srgbClr val="F59E0B"/>
            </a:solidFill>
            <a:prstDash val="solid"/>
          </a:ln>
        </p:spPr>
        <p:txBody>
          <a:bodyPr/>
          <a:lstStyle/>
          <a:p>
            <a:endParaRPr/>
          </a:p>
        </p:txBody>
      </p:sp>
      <p:sp>
        <p:nvSpPr>
          <p:cNvPr id="15" name="正方形/長方形 14">
            <a:extLst>
              <a:ext uri="{FF2B5EF4-FFF2-40B4-BE49-F238E27FC236}">
                <a16:creationId xmlns:a16="http://schemas.microsoft.com/office/drawing/2014/main" id="{A18886E4-3FF2-477F-B3A8-72267898E19A}"/>
              </a:ext>
            </a:extLst>
          </p:cNvPr>
          <p:cNvSpPr>
            <a:spLocks noGrp="1"/>
          </p:cNvSpPr>
          <p:nvPr/>
        </p:nvSpPr>
        <p:spPr>
          <a:xfrm>
            <a:off x="2333625" y="3762375"/>
            <a:ext cx="1533525" cy="104775"/>
          </a:xfrm>
          <a:prstGeom prst="rect">
            <a:avLst/>
          </a:prstGeom>
          <a:solidFill>
            <a:srgbClr val="F59E0B"/>
          </a:solidFill>
          <a:ln w="0">
            <a:solidFill>
              <a:srgbClr val="F59E0B"/>
            </a:solidFill>
            <a:prstDash val="solid"/>
          </a:ln>
        </p:spPr>
        <p:txBody>
          <a:bodyPr/>
          <a:lstStyle/>
          <a:p>
            <a:endParaRPr/>
          </a:p>
        </p:txBody>
      </p:sp>
      <p:sp>
        <p:nvSpPr>
          <p:cNvPr id="16" name="正方形/長方形 15">
            <a:extLst>
              <a:ext uri="{FF2B5EF4-FFF2-40B4-BE49-F238E27FC236}">
                <a16:creationId xmlns:a16="http://schemas.microsoft.com/office/drawing/2014/main" id="{67DB2A10-1F68-4345-B56C-D061B2194964}"/>
              </a:ext>
            </a:extLst>
          </p:cNvPr>
          <p:cNvSpPr>
            <a:spLocks noGrp="1"/>
          </p:cNvSpPr>
          <p:nvPr/>
        </p:nvSpPr>
        <p:spPr>
          <a:xfrm>
            <a:off x="2333625" y="3952875"/>
            <a:ext cx="920115" cy="104775"/>
          </a:xfrm>
          <a:prstGeom prst="rect">
            <a:avLst/>
          </a:prstGeom>
          <a:solidFill>
            <a:srgbClr val="F59E0B"/>
          </a:solidFill>
          <a:ln w="0">
            <a:solidFill>
              <a:srgbClr val="F59E0B"/>
            </a:solidFill>
            <a:prstDash val="solid"/>
          </a:ln>
        </p:spPr>
        <p:txBody>
          <a:bodyPr/>
          <a:lstStyle/>
          <a:p>
            <a:endParaRPr/>
          </a:p>
        </p:txBody>
      </p:sp>
      <p:sp>
        <p:nvSpPr>
          <p:cNvPr id="17" name="正方形/長方形 16">
            <a:extLst>
              <a:ext uri="{FF2B5EF4-FFF2-40B4-BE49-F238E27FC236}">
                <a16:creationId xmlns:a16="http://schemas.microsoft.com/office/drawing/2014/main" id="{7DFD5146-FC10-475F-B6A6-09B8BFD73D5A}"/>
              </a:ext>
            </a:extLst>
          </p:cNvPr>
          <p:cNvSpPr>
            <a:spLocks noGrp="1"/>
          </p:cNvSpPr>
          <p:nvPr/>
        </p:nvSpPr>
        <p:spPr>
          <a:xfrm>
            <a:off x="762000" y="4495800"/>
            <a:ext cx="4000500" cy="781050"/>
          </a:xfrm>
          <a:prstGeom prst="rect">
            <a:avLst/>
          </a:prstGeom>
          <a:solidFill>
            <a:srgbClr val="FFFFFF"/>
          </a:solidFill>
          <a:ln w="19050">
            <a:solidFill>
              <a:srgbClr val="10B981"/>
            </a:solidFill>
            <a:prstDash val="solid"/>
          </a:ln>
        </p:spPr>
        <p:txBody>
          <a:bodyPr/>
          <a:lstStyle/>
          <a:p>
            <a:endParaRPr/>
          </a:p>
        </p:txBody>
      </p:sp>
      <p:sp>
        <p:nvSpPr>
          <p:cNvPr id="18" name="正方形/長方形 17">
            <a:extLst>
              <a:ext uri="{FF2B5EF4-FFF2-40B4-BE49-F238E27FC236}">
                <a16:creationId xmlns:a16="http://schemas.microsoft.com/office/drawing/2014/main" id="{CC6EFBC9-ADCD-4D5F-8470-0BCD98783CA9}"/>
              </a:ext>
            </a:extLst>
          </p:cNvPr>
          <p:cNvSpPr>
            <a:spLocks noGrp="1"/>
          </p:cNvSpPr>
          <p:nvPr/>
        </p:nvSpPr>
        <p:spPr>
          <a:xfrm>
            <a:off x="933450" y="4733925"/>
            <a:ext cx="1190625" cy="266700"/>
          </a:xfrm>
          <a:prstGeom prst="rect">
            <a:avLst/>
          </a:prstGeom>
          <a:noFill/>
          <a:ln w="0">
            <a:noFill/>
            <a:prstDash val="solid"/>
          </a:ln>
        </p:spPr>
        <p:txBody>
          <a:bodyPr lIns="0" tIns="0" rIns="0" bIns="0" anchor="t">
            <a:noAutofit/>
          </a:bodyPr>
          <a:lstStyle/>
          <a:p>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C用モデル</a:t>
            </a:r>
          </a:p>
        </p:txBody>
      </p:sp>
      <p:sp>
        <p:nvSpPr>
          <p:cNvPr id="19" name="正方形/長方形 18">
            <a:extLst>
              <a:ext uri="{FF2B5EF4-FFF2-40B4-BE49-F238E27FC236}">
                <a16:creationId xmlns:a16="http://schemas.microsoft.com/office/drawing/2014/main" id="{67F49C43-B343-467A-9FCF-E8F6C644638A}"/>
              </a:ext>
            </a:extLst>
          </p:cNvPr>
          <p:cNvSpPr>
            <a:spLocks noGrp="1"/>
          </p:cNvSpPr>
          <p:nvPr/>
        </p:nvSpPr>
        <p:spPr>
          <a:xfrm>
            <a:off x="2333625" y="4638675"/>
            <a:ext cx="1204913" cy="104775"/>
          </a:xfrm>
          <a:prstGeom prst="rect">
            <a:avLst/>
          </a:prstGeom>
          <a:solidFill>
            <a:srgbClr val="10B981"/>
          </a:solidFill>
          <a:ln w="0">
            <a:solidFill>
              <a:srgbClr val="10B981"/>
            </a:solidFill>
            <a:prstDash val="solid"/>
          </a:ln>
        </p:spPr>
        <p:txBody>
          <a:bodyPr/>
          <a:lstStyle/>
          <a:p>
            <a:endParaRPr/>
          </a:p>
        </p:txBody>
      </p:sp>
      <p:sp>
        <p:nvSpPr>
          <p:cNvPr id="20" name="正方形/長方形 19">
            <a:extLst>
              <a:ext uri="{FF2B5EF4-FFF2-40B4-BE49-F238E27FC236}">
                <a16:creationId xmlns:a16="http://schemas.microsoft.com/office/drawing/2014/main" id="{64123C47-94FC-43AA-B7DC-4F54D515A355}"/>
              </a:ext>
            </a:extLst>
          </p:cNvPr>
          <p:cNvSpPr>
            <a:spLocks noGrp="1"/>
          </p:cNvSpPr>
          <p:nvPr/>
        </p:nvSpPr>
        <p:spPr>
          <a:xfrm>
            <a:off x="2333625" y="4829175"/>
            <a:ext cx="438150" cy="104775"/>
          </a:xfrm>
          <a:prstGeom prst="rect">
            <a:avLst/>
          </a:prstGeom>
          <a:solidFill>
            <a:srgbClr val="10B981"/>
          </a:solidFill>
          <a:ln w="0">
            <a:solidFill>
              <a:srgbClr val="10B981"/>
            </a:solidFill>
            <a:prstDash val="solid"/>
          </a:ln>
        </p:spPr>
        <p:txBody>
          <a:bodyPr/>
          <a:lstStyle/>
          <a:p>
            <a:endParaRPr/>
          </a:p>
        </p:txBody>
      </p:sp>
      <p:sp>
        <p:nvSpPr>
          <p:cNvPr id="21" name="正方形/長方形 20">
            <a:extLst>
              <a:ext uri="{FF2B5EF4-FFF2-40B4-BE49-F238E27FC236}">
                <a16:creationId xmlns:a16="http://schemas.microsoft.com/office/drawing/2014/main" id="{C5461A91-FD87-4690-AB81-B3346262672A}"/>
              </a:ext>
            </a:extLst>
          </p:cNvPr>
          <p:cNvSpPr>
            <a:spLocks noGrp="1"/>
          </p:cNvSpPr>
          <p:nvPr/>
        </p:nvSpPr>
        <p:spPr>
          <a:xfrm>
            <a:off x="2333625" y="5019675"/>
            <a:ext cx="1643063" cy="104775"/>
          </a:xfrm>
          <a:prstGeom prst="rect">
            <a:avLst/>
          </a:prstGeom>
          <a:solidFill>
            <a:srgbClr val="10B981"/>
          </a:solidFill>
          <a:ln w="0">
            <a:solidFill>
              <a:srgbClr val="10B981"/>
            </a:solidFill>
            <a:prstDash val="solid"/>
          </a:ln>
        </p:spPr>
        <p:txBody>
          <a:bodyPr/>
          <a:lstStyle/>
          <a:p>
            <a:endParaRPr/>
          </a:p>
        </p:txBody>
      </p:sp>
      <p:cxnSp>
        <p:nvCxnSpPr>
          <p:cNvPr id="97" name="直線矢印コネクタ 66"/>
          <p:cNvCxnSpPr/>
          <p:nvPr/>
        </p:nvCxnSpPr>
        <p:spPr>
          <a:xfrm>
            <a:off x="5810250" y="1476375"/>
            <a:ext cx="0" cy="4238625"/>
          </a:xfrm>
          <a:prstGeom prst="straightConnector1">
            <a:avLst/>
          </a:prstGeom>
          <a:ln w="19050">
            <a:solidFill>
              <a:srgbClr val="CBD5E1"/>
            </a:solidFill>
            <a:prstDash val="solid"/>
          </a:ln>
        </p:spPr>
      </p:cxnSp>
      <p:sp>
        <p:nvSpPr>
          <p:cNvPr id="23" name="正方形/長方形 22">
            <a:extLst>
              <a:ext uri="{FF2B5EF4-FFF2-40B4-BE49-F238E27FC236}">
                <a16:creationId xmlns:a16="http://schemas.microsoft.com/office/drawing/2014/main" id="{5C81591A-8791-493C-BF74-743E2783A23D}"/>
              </a:ext>
            </a:extLst>
          </p:cNvPr>
          <p:cNvSpPr>
            <a:spLocks noGrp="1"/>
          </p:cNvSpPr>
          <p:nvPr/>
        </p:nvSpPr>
        <p:spPr>
          <a:xfrm>
            <a:off x="6572250" y="1524000"/>
            <a:ext cx="4572000" cy="323850"/>
          </a:xfrm>
          <a:prstGeom prst="rect">
            <a:avLst/>
          </a:prstGeom>
          <a:noFill/>
          <a:ln w="0">
            <a:noFill/>
            <a:prstDash val="solid"/>
          </a:ln>
        </p:spPr>
        <p:txBody>
          <a:bodyPr lIns="0" tIns="0" rIns="0" bIns="0" anchor="t">
            <a:noAutofit/>
          </a:bodyPr>
          <a:lstStyle/>
          <a:p>
            <a:pPr algn="ctr">
              <a:buNone/>
              <a:defRPr sz="2025" b="1">
                <a:solidFill>
                  <a:srgbClr val="10B981"/>
                </a:solidFill>
                <a:latin typeface="Yu Gothic"/>
                <a:ea typeface="Yu Gothic"/>
                <a:cs typeface="Yu Gothic"/>
              </a:defRPr>
            </a:pPr>
            <a:r>
              <a:rPr sz="2025" b="1">
                <a:solidFill>
                  <a:srgbClr val="10B981"/>
                </a:solidFill>
                <a:latin typeface="Yu Gothic"/>
                <a:ea typeface="Yu Gothic"/>
                <a:cs typeface="Yu Gothic"/>
              </a:rPr>
              <a:t>LIMEtree</a:t>
            </a:r>
          </a:p>
        </p:txBody>
      </p:sp>
      <p:sp>
        <p:nvSpPr>
          <p:cNvPr id="24" name="正方形/長方形 23">
            <a:extLst>
              <a:ext uri="{FF2B5EF4-FFF2-40B4-BE49-F238E27FC236}">
                <a16:creationId xmlns:a16="http://schemas.microsoft.com/office/drawing/2014/main" id="{86CDF51C-45AC-449E-AB42-5386FD1D2C56}"/>
              </a:ext>
            </a:extLst>
          </p:cNvPr>
          <p:cNvSpPr>
            <a:spLocks noGrp="1"/>
          </p:cNvSpPr>
          <p:nvPr/>
        </p:nvSpPr>
        <p:spPr>
          <a:xfrm>
            <a:off x="6572250" y="1885950"/>
            <a:ext cx="4572000" cy="266700"/>
          </a:xfrm>
          <a:prstGeom prst="rect">
            <a:avLst/>
          </a:prstGeom>
          <a:noFill/>
          <a:ln w="0">
            <a:noFill/>
            <a:prstDash val="solid"/>
          </a:ln>
        </p:spPr>
        <p:txBody>
          <a:bodyPr lIns="0" tIns="0" rIns="0" bIns="0" anchor="t">
            <a:noAutofit/>
          </a:bodyPr>
          <a:lstStyle/>
          <a:p>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共通の構造</a:t>
            </a:r>
          </a:p>
        </p:txBody>
      </p:sp>
      <p:cxnSp>
        <p:nvCxnSpPr>
          <p:cNvPr id="100" name="直線矢印コネクタ 69"/>
          <p:cNvCxnSpPr/>
          <p:nvPr/>
        </p:nvCxnSpPr>
        <p:spPr>
          <a:xfrm>
            <a:off x="7620000" y="3067050"/>
            <a:ext cx="1190625" cy="457200"/>
          </a:xfrm>
          <a:prstGeom prst="straightConnector1">
            <a:avLst/>
          </a:prstGeom>
          <a:ln w="28575">
            <a:solidFill>
              <a:srgbClr val="111827"/>
            </a:solidFill>
            <a:prstDash val="solid"/>
          </a:ln>
        </p:spPr>
      </p:cxnSp>
      <p:cxnSp>
        <p:nvCxnSpPr>
          <p:cNvPr id="101" name="直線矢印コネクタ 70"/>
          <p:cNvCxnSpPr/>
          <p:nvPr/>
        </p:nvCxnSpPr>
        <p:spPr>
          <a:xfrm>
            <a:off x="8810625" y="3067050"/>
            <a:ext cx="1190625" cy="457200"/>
          </a:xfrm>
          <a:prstGeom prst="straightConnector1">
            <a:avLst/>
          </a:prstGeom>
          <a:ln w="28575">
            <a:solidFill>
              <a:srgbClr val="111827"/>
            </a:solidFill>
            <a:prstDash val="solid"/>
          </a:ln>
        </p:spPr>
      </p:cxnSp>
      <p:cxnSp>
        <p:nvCxnSpPr>
          <p:cNvPr id="102" name="直線矢印コネクタ 71"/>
          <p:cNvCxnSpPr/>
          <p:nvPr/>
        </p:nvCxnSpPr>
        <p:spPr>
          <a:xfrm>
            <a:off x="6934200" y="4133850"/>
            <a:ext cx="685800" cy="485775"/>
          </a:xfrm>
          <a:prstGeom prst="straightConnector1">
            <a:avLst/>
          </a:prstGeom>
          <a:ln w="28575">
            <a:solidFill>
              <a:srgbClr val="111827"/>
            </a:solidFill>
            <a:prstDash val="solid"/>
          </a:ln>
        </p:spPr>
      </p:cxnSp>
      <p:cxnSp>
        <p:nvCxnSpPr>
          <p:cNvPr id="103" name="直線矢印コネクタ 72"/>
          <p:cNvCxnSpPr/>
          <p:nvPr/>
        </p:nvCxnSpPr>
        <p:spPr>
          <a:xfrm>
            <a:off x="7620000" y="4133850"/>
            <a:ext cx="685800" cy="485775"/>
          </a:xfrm>
          <a:prstGeom prst="straightConnector1">
            <a:avLst/>
          </a:prstGeom>
          <a:ln w="28575">
            <a:solidFill>
              <a:srgbClr val="111827"/>
            </a:solidFill>
            <a:prstDash val="solid"/>
          </a:ln>
        </p:spPr>
      </p:cxnSp>
      <p:cxnSp>
        <p:nvCxnSpPr>
          <p:cNvPr id="104" name="直線矢印コネクタ 73"/>
          <p:cNvCxnSpPr/>
          <p:nvPr/>
        </p:nvCxnSpPr>
        <p:spPr>
          <a:xfrm>
            <a:off x="9315450" y="4133850"/>
            <a:ext cx="685800" cy="485775"/>
          </a:xfrm>
          <a:prstGeom prst="straightConnector1">
            <a:avLst/>
          </a:prstGeom>
          <a:ln w="28575">
            <a:solidFill>
              <a:srgbClr val="111827"/>
            </a:solidFill>
            <a:prstDash val="solid"/>
          </a:ln>
        </p:spPr>
      </p:cxnSp>
      <p:cxnSp>
        <p:nvCxnSpPr>
          <p:cNvPr id="105" name="直線矢印コネクタ 74"/>
          <p:cNvCxnSpPr/>
          <p:nvPr/>
        </p:nvCxnSpPr>
        <p:spPr>
          <a:xfrm>
            <a:off x="10001250" y="4133850"/>
            <a:ext cx="685800" cy="485775"/>
          </a:xfrm>
          <a:prstGeom prst="straightConnector1">
            <a:avLst/>
          </a:prstGeom>
          <a:ln w="28575">
            <a:solidFill>
              <a:srgbClr val="111827"/>
            </a:solidFill>
            <a:prstDash val="solid"/>
          </a:ln>
        </p:spPr>
      </p:cxnSp>
      <p:sp>
        <p:nvSpPr>
          <p:cNvPr id="31" name="正方形/長方形 30">
            <a:extLst>
              <a:ext uri="{FF2B5EF4-FFF2-40B4-BE49-F238E27FC236}">
                <a16:creationId xmlns:a16="http://schemas.microsoft.com/office/drawing/2014/main" id="{241569BD-7DE1-4F50-B813-1CE3F2D27CC3}"/>
              </a:ext>
            </a:extLst>
          </p:cNvPr>
          <p:cNvSpPr>
            <a:spLocks noGrp="1"/>
          </p:cNvSpPr>
          <p:nvPr/>
        </p:nvSpPr>
        <p:spPr>
          <a:xfrm>
            <a:off x="8048625" y="2381250"/>
            <a:ext cx="1524000" cy="685800"/>
          </a:xfrm>
          <a:prstGeom prst="rect">
            <a:avLst/>
          </a:prstGeom>
          <a:solidFill>
            <a:srgbClr val="111827"/>
          </a:solidFill>
          <a:ln w="0">
            <a:solidFill>
              <a:srgbClr val="111827"/>
            </a:solidFill>
            <a:prstDash val="solid"/>
          </a:ln>
        </p:spPr>
        <p:txBody>
          <a:bodyPr/>
          <a:lstStyle/>
          <a:p>
            <a:endParaRPr/>
          </a:p>
        </p:txBody>
      </p:sp>
      <p:sp>
        <p:nvSpPr>
          <p:cNvPr id="32" name="正方形/長方形 31">
            <a:extLst>
              <a:ext uri="{FF2B5EF4-FFF2-40B4-BE49-F238E27FC236}">
                <a16:creationId xmlns:a16="http://schemas.microsoft.com/office/drawing/2014/main" id="{63476F83-8D2F-4C17-AE28-3F7BFB29225F}"/>
              </a:ext>
            </a:extLst>
          </p:cNvPr>
          <p:cNvSpPr>
            <a:spLocks noGrp="1"/>
          </p:cNvSpPr>
          <p:nvPr/>
        </p:nvSpPr>
        <p:spPr>
          <a:xfrm>
            <a:off x="8048625" y="2562225"/>
            <a:ext cx="1524000" cy="285750"/>
          </a:xfrm>
          <a:prstGeom prst="rect">
            <a:avLst/>
          </a:prstGeom>
          <a:noFill/>
          <a:ln w="0">
            <a:noFill/>
            <a:prstDash val="solid"/>
          </a:ln>
        </p:spPr>
        <p:txBody>
          <a:bodyPr lIns="0" tIns="0" rIns="0" bIns="0" anchor="t">
            <a:noAutofit/>
          </a:bodyPr>
          <a:lstStyle/>
          <a:p>
            <a:pPr algn="ctr">
              <a:buNone/>
              <a:defRPr sz="1575" b="1">
                <a:solidFill>
                  <a:srgbClr val="FFFFFF"/>
                </a:solidFill>
                <a:latin typeface="Yu Gothic"/>
                <a:ea typeface="Yu Gothic"/>
                <a:cs typeface="Yu Gothic"/>
              </a:defRPr>
            </a:pPr>
            <a:r>
              <a:rPr sz="1575" b="1">
                <a:solidFill>
                  <a:srgbClr val="FFFFFF"/>
                </a:solidFill>
                <a:latin typeface="Yu Gothic"/>
                <a:ea typeface="Yu Gothic"/>
                <a:cs typeface="Yu Gothic"/>
              </a:rPr>
              <a:t>特徴1 &gt; ?</a:t>
            </a:r>
          </a:p>
        </p:txBody>
      </p:sp>
      <p:sp>
        <p:nvSpPr>
          <p:cNvPr id="33" name="正方形/長方形 32">
            <a:extLst>
              <a:ext uri="{FF2B5EF4-FFF2-40B4-BE49-F238E27FC236}">
                <a16:creationId xmlns:a16="http://schemas.microsoft.com/office/drawing/2014/main" id="{47DE8A59-4CBB-4F98-88E1-936175E3BD77}"/>
              </a:ext>
            </a:extLst>
          </p:cNvPr>
          <p:cNvSpPr>
            <a:spLocks noGrp="1"/>
          </p:cNvSpPr>
          <p:nvPr/>
        </p:nvSpPr>
        <p:spPr>
          <a:xfrm>
            <a:off x="7000875" y="3524250"/>
            <a:ext cx="1238250" cy="609600"/>
          </a:xfrm>
          <a:prstGeom prst="rect">
            <a:avLst/>
          </a:prstGeom>
          <a:solidFill>
            <a:srgbClr val="F3F4F6"/>
          </a:solidFill>
          <a:ln w="19050">
            <a:solidFill>
              <a:srgbClr val="111827"/>
            </a:solidFill>
            <a:prstDash val="solid"/>
          </a:ln>
        </p:spPr>
        <p:txBody>
          <a:bodyPr/>
          <a:lstStyle/>
          <a:p>
            <a:endParaRPr/>
          </a:p>
        </p:txBody>
      </p:sp>
      <p:sp>
        <p:nvSpPr>
          <p:cNvPr id="34" name="正方形/長方形 33">
            <a:extLst>
              <a:ext uri="{FF2B5EF4-FFF2-40B4-BE49-F238E27FC236}">
                <a16:creationId xmlns:a16="http://schemas.microsoft.com/office/drawing/2014/main" id="{71FB4C63-408C-471B-8CFE-3410D779EAA5}"/>
              </a:ext>
            </a:extLst>
          </p:cNvPr>
          <p:cNvSpPr>
            <a:spLocks noGrp="1"/>
          </p:cNvSpPr>
          <p:nvPr/>
        </p:nvSpPr>
        <p:spPr>
          <a:xfrm>
            <a:off x="7000875" y="3695700"/>
            <a:ext cx="1238250" cy="247650"/>
          </a:xfrm>
          <a:prstGeom prst="rect">
            <a:avLst/>
          </a:prstGeom>
          <a:noFill/>
          <a:ln w="0">
            <a:noFill/>
            <a:prstDash val="solid"/>
          </a:ln>
        </p:spPr>
        <p:txBody>
          <a:bodyPr lIns="0" tIns="0" rIns="0" bIns="0" anchor="t">
            <a:noAutofit/>
          </a:bodyPr>
          <a:lstStyle/>
          <a:p>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 &gt; ?</a:t>
            </a:r>
          </a:p>
        </p:txBody>
      </p:sp>
      <p:sp>
        <p:nvSpPr>
          <p:cNvPr id="35" name="正方形/長方形 34">
            <a:extLst>
              <a:ext uri="{FF2B5EF4-FFF2-40B4-BE49-F238E27FC236}">
                <a16:creationId xmlns:a16="http://schemas.microsoft.com/office/drawing/2014/main" id="{F1DD4D9C-4CBB-4CD2-B8EB-96859020A933}"/>
              </a:ext>
            </a:extLst>
          </p:cNvPr>
          <p:cNvSpPr>
            <a:spLocks noGrp="1"/>
          </p:cNvSpPr>
          <p:nvPr/>
        </p:nvSpPr>
        <p:spPr>
          <a:xfrm>
            <a:off x="9382125" y="3524250"/>
            <a:ext cx="1238250" cy="609600"/>
          </a:xfrm>
          <a:prstGeom prst="rect">
            <a:avLst/>
          </a:prstGeom>
          <a:solidFill>
            <a:srgbClr val="F3F4F6"/>
          </a:solidFill>
          <a:ln w="19050">
            <a:solidFill>
              <a:srgbClr val="111827"/>
            </a:solidFill>
            <a:prstDash val="solid"/>
          </a:ln>
        </p:spPr>
        <p:txBody>
          <a:bodyPr/>
          <a:lstStyle/>
          <a:p>
            <a:endParaRPr/>
          </a:p>
        </p:txBody>
      </p:sp>
      <p:sp>
        <p:nvSpPr>
          <p:cNvPr id="36" name="正方形/長方形 35">
            <a:extLst>
              <a:ext uri="{FF2B5EF4-FFF2-40B4-BE49-F238E27FC236}">
                <a16:creationId xmlns:a16="http://schemas.microsoft.com/office/drawing/2014/main" id="{23086ECD-78AC-4A54-9536-F22FADF8FB06}"/>
              </a:ext>
            </a:extLst>
          </p:cNvPr>
          <p:cNvSpPr>
            <a:spLocks noGrp="1"/>
          </p:cNvSpPr>
          <p:nvPr/>
        </p:nvSpPr>
        <p:spPr>
          <a:xfrm>
            <a:off x="9382125" y="3695700"/>
            <a:ext cx="1238250" cy="247650"/>
          </a:xfrm>
          <a:prstGeom prst="rect">
            <a:avLst/>
          </a:prstGeom>
          <a:noFill/>
          <a:ln w="0">
            <a:noFill/>
            <a:prstDash val="solid"/>
          </a:ln>
        </p:spPr>
        <p:txBody>
          <a:bodyPr lIns="0" tIns="0" rIns="0" bIns="0" anchor="t">
            <a:noAutofit/>
          </a:bodyPr>
          <a:lstStyle/>
          <a:p>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特徴3 &gt; ?</a:t>
            </a:r>
          </a:p>
        </p:txBody>
      </p:sp>
      <p:sp>
        <p:nvSpPr>
          <p:cNvPr id="37" name="正方形/長方形 36">
            <a:extLst>
              <a:ext uri="{FF2B5EF4-FFF2-40B4-BE49-F238E27FC236}">
                <a16:creationId xmlns:a16="http://schemas.microsoft.com/office/drawing/2014/main" id="{94B366E1-9524-4D61-81F4-4869403BAE70}"/>
              </a:ext>
            </a:extLst>
          </p:cNvPr>
          <p:cNvSpPr>
            <a:spLocks noGrp="1"/>
          </p:cNvSpPr>
          <p:nvPr/>
        </p:nvSpPr>
        <p:spPr>
          <a:xfrm>
            <a:off x="6334125" y="4619625"/>
            <a:ext cx="1190625" cy="704850"/>
          </a:xfrm>
          <a:prstGeom prst="rect">
            <a:avLst/>
          </a:prstGeom>
          <a:solidFill>
            <a:srgbClr val="D1FAE5"/>
          </a:solidFill>
          <a:ln w="19050">
            <a:solidFill>
              <a:srgbClr val="10B981"/>
            </a:solidFill>
            <a:prstDash val="solid"/>
          </a:ln>
        </p:spPr>
        <p:txBody>
          <a:bodyPr/>
          <a:lstStyle/>
          <a:p>
            <a:endParaRPr/>
          </a:p>
        </p:txBody>
      </p:sp>
      <p:sp>
        <p:nvSpPr>
          <p:cNvPr id="38" name="正方形/長方形 37">
            <a:extLst>
              <a:ext uri="{FF2B5EF4-FFF2-40B4-BE49-F238E27FC236}">
                <a16:creationId xmlns:a16="http://schemas.microsoft.com/office/drawing/2014/main" id="{0B60CBD8-0CB4-4F77-B839-546454B31F06}"/>
              </a:ext>
            </a:extLst>
          </p:cNvPr>
          <p:cNvSpPr>
            <a:spLocks noGrp="1"/>
          </p:cNvSpPr>
          <p:nvPr/>
        </p:nvSpPr>
        <p:spPr>
          <a:xfrm>
            <a:off x="6410325" y="4695825"/>
            <a:ext cx="1038225" cy="552450"/>
          </a:xfrm>
          <a:prstGeom prst="rect">
            <a:avLst/>
          </a:prstGeom>
          <a:noFill/>
          <a:ln w="0">
            <a:noFill/>
            <a:prstDash val="solid"/>
          </a:ln>
        </p:spPr>
        <p:txBody>
          <a:bodyPr lIns="0" tIns="0" rIns="0" bIns="0" anchor="t">
            <a:noAutofit/>
          </a:bodyPr>
          <a:lstStyle/>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.72</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.18</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.10</a:t>
            </a:r>
          </a:p>
        </p:txBody>
      </p:sp>
      <p:sp>
        <p:nvSpPr>
          <p:cNvPr id="39" name="正方形/長方形 38">
            <a:extLst>
              <a:ext uri="{FF2B5EF4-FFF2-40B4-BE49-F238E27FC236}">
                <a16:creationId xmlns:a16="http://schemas.microsoft.com/office/drawing/2014/main" id="{21424594-4107-4386-BAC6-04DBC3B7BECC}"/>
              </a:ext>
            </a:extLst>
          </p:cNvPr>
          <p:cNvSpPr>
            <a:spLocks noGrp="1"/>
          </p:cNvSpPr>
          <p:nvPr/>
        </p:nvSpPr>
        <p:spPr>
          <a:xfrm>
            <a:off x="7667625" y="4619625"/>
            <a:ext cx="1190625" cy="704850"/>
          </a:xfrm>
          <a:prstGeom prst="rect">
            <a:avLst/>
          </a:prstGeom>
          <a:solidFill>
            <a:srgbClr val="D1FAE5"/>
          </a:solidFill>
          <a:ln w="19050">
            <a:solidFill>
              <a:srgbClr val="10B981"/>
            </a:solidFill>
            <a:prstDash val="solid"/>
          </a:ln>
        </p:spPr>
        <p:txBody>
          <a:bodyPr/>
          <a:lstStyle/>
          <a:p>
            <a:endParaRPr/>
          </a:p>
        </p:txBody>
      </p:sp>
      <p:sp>
        <p:nvSpPr>
          <p:cNvPr id="40" name="正方形/長方形 39">
            <a:extLst>
              <a:ext uri="{FF2B5EF4-FFF2-40B4-BE49-F238E27FC236}">
                <a16:creationId xmlns:a16="http://schemas.microsoft.com/office/drawing/2014/main" id="{8553EA08-8B58-4B76-A385-58AB7522E458}"/>
              </a:ext>
            </a:extLst>
          </p:cNvPr>
          <p:cNvSpPr>
            <a:spLocks noGrp="1"/>
          </p:cNvSpPr>
          <p:nvPr/>
        </p:nvSpPr>
        <p:spPr>
          <a:xfrm>
            <a:off x="7743825" y="4695825"/>
            <a:ext cx="1038225" cy="552450"/>
          </a:xfrm>
          <a:prstGeom prst="rect">
            <a:avLst/>
          </a:prstGeom>
          <a:noFill/>
          <a:ln w="0">
            <a:noFill/>
            <a:prstDash val="solid"/>
          </a:ln>
        </p:spPr>
        <p:txBody>
          <a:bodyPr lIns="0" tIns="0" rIns="0" bIns="0" anchor="t">
            <a:noAutofit/>
          </a:bodyPr>
          <a:lstStyle/>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.40</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.45</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.15</a:t>
            </a:r>
          </a:p>
        </p:txBody>
      </p:sp>
      <p:sp>
        <p:nvSpPr>
          <p:cNvPr id="41" name="正方形/長方形 40">
            <a:extLst>
              <a:ext uri="{FF2B5EF4-FFF2-40B4-BE49-F238E27FC236}">
                <a16:creationId xmlns:a16="http://schemas.microsoft.com/office/drawing/2014/main" id="{2FF2BCC5-E777-4122-8F96-0132B8C6794D}"/>
              </a:ext>
            </a:extLst>
          </p:cNvPr>
          <p:cNvSpPr>
            <a:spLocks noGrp="1"/>
          </p:cNvSpPr>
          <p:nvPr/>
        </p:nvSpPr>
        <p:spPr>
          <a:xfrm>
            <a:off x="9001125" y="4619625"/>
            <a:ext cx="1190625" cy="704850"/>
          </a:xfrm>
          <a:prstGeom prst="rect">
            <a:avLst/>
          </a:prstGeom>
          <a:solidFill>
            <a:srgbClr val="D1FAE5"/>
          </a:solidFill>
          <a:ln w="19050">
            <a:solidFill>
              <a:srgbClr val="10B981"/>
            </a:solidFill>
            <a:prstDash val="solid"/>
          </a:ln>
        </p:spPr>
        <p:txBody>
          <a:bodyPr/>
          <a:lstStyle/>
          <a:p>
            <a:endParaRPr/>
          </a:p>
        </p:txBody>
      </p:sp>
      <p:sp>
        <p:nvSpPr>
          <p:cNvPr id="42" name="正方形/長方形 41">
            <a:extLst>
              <a:ext uri="{FF2B5EF4-FFF2-40B4-BE49-F238E27FC236}">
                <a16:creationId xmlns:a16="http://schemas.microsoft.com/office/drawing/2014/main" id="{3DC81512-0412-4115-A7B2-555646E45022}"/>
              </a:ext>
            </a:extLst>
          </p:cNvPr>
          <p:cNvSpPr>
            <a:spLocks noGrp="1"/>
          </p:cNvSpPr>
          <p:nvPr/>
        </p:nvSpPr>
        <p:spPr>
          <a:xfrm>
            <a:off x="9077325" y="4695825"/>
            <a:ext cx="1038225" cy="552450"/>
          </a:xfrm>
          <a:prstGeom prst="rect">
            <a:avLst/>
          </a:prstGeom>
          <a:noFill/>
          <a:ln w="0">
            <a:noFill/>
            <a:prstDash val="solid"/>
          </a:ln>
        </p:spPr>
        <p:txBody>
          <a:bodyPr lIns="0" tIns="0" rIns="0" bIns="0" anchor="t">
            <a:noAutofit/>
          </a:bodyPr>
          <a:lstStyle/>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.15</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.25</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.60</a:t>
            </a:r>
          </a:p>
        </p:txBody>
      </p:sp>
      <p:sp>
        <p:nvSpPr>
          <p:cNvPr id="43" name="正方形/長方形 42">
            <a:extLst>
              <a:ext uri="{FF2B5EF4-FFF2-40B4-BE49-F238E27FC236}">
                <a16:creationId xmlns:a16="http://schemas.microsoft.com/office/drawing/2014/main" id="{A7A2A6F5-F102-4B88-BEC3-E469581E8AF5}"/>
              </a:ext>
            </a:extLst>
          </p:cNvPr>
          <p:cNvSpPr>
            <a:spLocks noGrp="1"/>
          </p:cNvSpPr>
          <p:nvPr/>
        </p:nvSpPr>
        <p:spPr>
          <a:xfrm>
            <a:off x="10334625" y="4619625"/>
            <a:ext cx="1190625" cy="704850"/>
          </a:xfrm>
          <a:prstGeom prst="rect">
            <a:avLst/>
          </a:prstGeom>
          <a:solidFill>
            <a:srgbClr val="D1FAE5"/>
          </a:solidFill>
          <a:ln w="19050">
            <a:solidFill>
              <a:srgbClr val="10B981"/>
            </a:solidFill>
            <a:prstDash val="solid"/>
          </a:ln>
        </p:spPr>
        <p:txBody>
          <a:bodyPr/>
          <a:lstStyle/>
          <a:p>
            <a:endParaRPr/>
          </a:p>
        </p:txBody>
      </p:sp>
      <p:sp>
        <p:nvSpPr>
          <p:cNvPr id="44" name="正方形/長方形 43">
            <a:extLst>
              <a:ext uri="{FF2B5EF4-FFF2-40B4-BE49-F238E27FC236}">
                <a16:creationId xmlns:a16="http://schemas.microsoft.com/office/drawing/2014/main" id="{AD5E0527-42AA-49AB-940E-1F7E0BB8BFC2}"/>
              </a:ext>
            </a:extLst>
          </p:cNvPr>
          <p:cNvSpPr>
            <a:spLocks noGrp="1"/>
          </p:cNvSpPr>
          <p:nvPr/>
        </p:nvSpPr>
        <p:spPr>
          <a:xfrm>
            <a:off x="10410825" y="4695825"/>
            <a:ext cx="1038225" cy="552450"/>
          </a:xfrm>
          <a:prstGeom prst="rect">
            <a:avLst/>
          </a:prstGeom>
          <a:noFill/>
          <a:ln w="0">
            <a:noFill/>
            <a:prstDash val="solid"/>
          </a:ln>
        </p:spPr>
        <p:txBody>
          <a:bodyPr lIns="0" tIns="0" rIns="0" bIns="0" anchor="t">
            <a:noAutofit/>
          </a:bodyPr>
          <a:lstStyle/>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.08</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.22</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.70</a:t>
            </a:r>
          </a:p>
        </p:txBody>
      </p:sp>
      <p:sp>
        <p:nvSpPr>
          <p:cNvPr id="45" name="正方形/長方形 44">
            <a:extLst>
              <a:ext uri="{FF2B5EF4-FFF2-40B4-BE49-F238E27FC236}">
                <a16:creationId xmlns:a16="http://schemas.microsoft.com/office/drawing/2014/main" id="{284C58AC-DFB3-4E5D-9D5E-E0C09364374F}"/>
              </a:ext>
            </a:extLst>
          </p:cNvPr>
          <p:cNvSpPr>
            <a:spLocks noGrp="1"/>
          </p:cNvSpPr>
          <p:nvPr/>
        </p:nvSpPr>
        <p:spPr>
          <a:xfrm>
            <a:off x="7143750" y="5667375"/>
            <a:ext cx="3714750" cy="304800"/>
          </a:xfrm>
          <a:prstGeom prst="rect">
            <a:avLst/>
          </a:prstGeom>
          <a:noFill/>
          <a:ln w="0">
            <a:noFill/>
            <a:prstDash val="solid"/>
          </a:ln>
        </p:spPr>
        <p:txBody>
          <a:bodyPr lIns="0" tIns="0" rIns="0" bIns="0" anchor="t">
            <a:noAutofit/>
          </a:bodyPr>
          <a:lstStyle/>
          <a:p>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1本の木が全クラスの確率を同時に近似</a:t>
            </a:r>
          </a:p>
        </p:txBody>
      </p:sp>
    </p:spTree>
    <p:extLst>
      <p:ext uri="{BB962C8B-B14F-4D97-AF65-F5344CB8AC3E}">
        <p14:creationId xmlns:p14="http://schemas.microsoft.com/office/powerpoint/2010/main" val="1881205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正方形/長方形 40">
            <a:extLst>
              <a:ext uri="{FF2B5EF4-FFF2-40B4-BE49-F238E27FC236}">
                <a16:creationId xmlns:a16="http://schemas.microsoft.com/office/drawing/2014/main" id="{0BE822AC-6A52-43A9-9769-2929C222BA8A}"/>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9-title">
            <a:extLst>
              <a:ext uri="{FF2B5EF4-FFF2-40B4-BE49-F238E27FC236}">
                <a16:creationId xmlns:a16="http://schemas.microsoft.com/office/drawing/2014/main" id="{15CB36DB-A1A3-47C4-A579-78618D83F0BB}"/>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多クラスの扱い方には複数の設計がある</a:t>
            </a:r>
          </a:p>
        </p:txBody>
      </p:sp>
      <p:sp>
        <p:nvSpPr>
          <p:cNvPr id="3" name="slide-9-subtitle">
            <a:extLst>
              <a:ext uri="{FF2B5EF4-FFF2-40B4-BE49-F238E27FC236}">
                <a16:creationId xmlns:a16="http://schemas.microsoft.com/office/drawing/2014/main" id="{6FCB2562-5F26-418B-B37F-96F300F7242B}"/>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何を一つにまとめるかで、説明の意味が変わる</a:t>
            </a:r>
          </a:p>
        </p:txBody>
      </p:sp>
      <p:sp>
        <p:nvSpPr>
          <p:cNvPr id="4" name="正方形/長方形 3">
            <a:extLst>
              <a:ext uri="{FF2B5EF4-FFF2-40B4-BE49-F238E27FC236}">
                <a16:creationId xmlns:a16="http://schemas.microsoft.com/office/drawing/2014/main" id="{9BFD2635-1598-4C40-B53C-5B7C0BFFD01C}"/>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09</a:t>
            </a:r>
          </a:p>
        </p:txBody>
      </p:sp>
      <p:sp>
        <p:nvSpPr>
          <p:cNvPr id="5" name="正方形/長方形 4">
            <a:extLst>
              <a:ext uri="{FF2B5EF4-FFF2-40B4-BE49-F238E27FC236}">
                <a16:creationId xmlns:a16="http://schemas.microsoft.com/office/drawing/2014/main" id="{55675721-5956-4010-B057-006B3D9E3858}"/>
              </a:ext>
            </a:extLst>
          </p:cNvPr>
          <p:cNvSpPr>
            <a:spLocks noGrp="1"/>
          </p:cNvSpPr>
          <p:nvPr/>
        </p:nvSpPr>
        <p:spPr>
          <a:xfrm>
            <a:off x="523875" y="1571625"/>
            <a:ext cx="1619250" cy="590550"/>
          </a:xfrm>
          <a:prstGeom prst="rect">
            <a:avLst/>
          </a:prstGeom>
          <a:solidFill>
            <a:srgbClr val="111827"/>
          </a:solidFill>
          <a:ln w="9525">
            <a:solidFill>
              <a:srgbClr val="FFFFFF"/>
            </a:solidFill>
            <a:prstDash val="solid"/>
          </a:ln>
        </p:spPr>
        <p:txBody>
          <a:bodyPr/>
          <a:lstStyle/>
          <a:p>
            <a:endParaRPr/>
          </a:p>
        </p:txBody>
      </p:sp>
      <p:sp>
        <p:nvSpPr>
          <p:cNvPr id="6" name="正方形/長方形 5">
            <a:extLst>
              <a:ext uri="{FF2B5EF4-FFF2-40B4-BE49-F238E27FC236}">
                <a16:creationId xmlns:a16="http://schemas.microsoft.com/office/drawing/2014/main" id="{56356787-F203-4153-A461-95C96AF03091}"/>
              </a:ext>
            </a:extLst>
          </p:cNvPr>
          <p:cNvSpPr>
            <a:spLocks noGrp="1"/>
          </p:cNvSpPr>
          <p:nvPr/>
        </p:nvSpPr>
        <p:spPr>
          <a:xfrm>
            <a:off x="619125" y="1743075"/>
            <a:ext cx="1428750" cy="266700"/>
          </a:xfrm>
          <a:prstGeom prst="rect">
            <a:avLst/>
          </a:prstGeom>
          <a:noFill/>
          <a:ln w="0">
            <a:noFill/>
            <a:prstDash val="solid"/>
          </a:ln>
        </p:spPr>
        <p:txBody>
          <a:bodyPr lIns="0" tIns="0" rIns="0" bIns="0" anchor="t">
            <a:noAutofit/>
          </a:bodyPr>
          <a:lstStyle/>
          <a:p>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手法</a:t>
            </a:r>
          </a:p>
        </p:txBody>
      </p:sp>
      <p:sp>
        <p:nvSpPr>
          <p:cNvPr id="7" name="正方形/長方形 6">
            <a:extLst>
              <a:ext uri="{FF2B5EF4-FFF2-40B4-BE49-F238E27FC236}">
                <a16:creationId xmlns:a16="http://schemas.microsoft.com/office/drawing/2014/main" id="{D8804883-DF71-4119-A93F-131B711FB307}"/>
              </a:ext>
            </a:extLst>
          </p:cNvPr>
          <p:cNvSpPr>
            <a:spLocks noGrp="1"/>
          </p:cNvSpPr>
          <p:nvPr/>
        </p:nvSpPr>
        <p:spPr>
          <a:xfrm>
            <a:off x="2143125" y="1571625"/>
            <a:ext cx="2571750" cy="590550"/>
          </a:xfrm>
          <a:prstGeom prst="rect">
            <a:avLst/>
          </a:prstGeom>
          <a:solidFill>
            <a:srgbClr val="111827"/>
          </a:solidFill>
          <a:ln w="9525">
            <a:solidFill>
              <a:srgbClr val="FFFFFF"/>
            </a:solidFill>
            <a:prstDash val="solid"/>
          </a:ln>
        </p:spPr>
        <p:txBody>
          <a:bodyPr/>
          <a:lstStyle/>
          <a:p>
            <a:endParaRPr/>
          </a:p>
        </p:txBody>
      </p:sp>
      <p:sp>
        <p:nvSpPr>
          <p:cNvPr id="8" name="正方形/長方形 7">
            <a:extLst>
              <a:ext uri="{FF2B5EF4-FFF2-40B4-BE49-F238E27FC236}">
                <a16:creationId xmlns:a16="http://schemas.microsoft.com/office/drawing/2014/main" id="{E0A6DA7F-2750-40FE-9E83-D8D82C6A1DE3}"/>
              </a:ext>
            </a:extLst>
          </p:cNvPr>
          <p:cNvSpPr>
            <a:spLocks noGrp="1"/>
          </p:cNvSpPr>
          <p:nvPr/>
        </p:nvSpPr>
        <p:spPr>
          <a:xfrm>
            <a:off x="2238375" y="1743075"/>
            <a:ext cx="2381250" cy="266700"/>
          </a:xfrm>
          <a:prstGeom prst="rect">
            <a:avLst/>
          </a:prstGeom>
          <a:noFill/>
          <a:ln w="0">
            <a:noFill/>
            <a:prstDash val="solid"/>
          </a:ln>
        </p:spPr>
        <p:txBody>
          <a:bodyPr lIns="0" tIns="0" rIns="0" bIns="0" anchor="t">
            <a:noAutofit/>
          </a:bodyPr>
          <a:lstStyle/>
          <a:p>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近似する対象</a:t>
            </a:r>
          </a:p>
        </p:txBody>
      </p:sp>
      <p:sp>
        <p:nvSpPr>
          <p:cNvPr id="9" name="正方形/長方形 8">
            <a:extLst>
              <a:ext uri="{FF2B5EF4-FFF2-40B4-BE49-F238E27FC236}">
                <a16:creationId xmlns:a16="http://schemas.microsoft.com/office/drawing/2014/main" id="{68600862-B8E0-4072-BA55-484D110B04F5}"/>
              </a:ext>
            </a:extLst>
          </p:cNvPr>
          <p:cNvSpPr>
            <a:spLocks noGrp="1"/>
          </p:cNvSpPr>
          <p:nvPr/>
        </p:nvSpPr>
        <p:spPr>
          <a:xfrm>
            <a:off x="4714875" y="1571625"/>
            <a:ext cx="3143250" cy="590550"/>
          </a:xfrm>
          <a:prstGeom prst="rect">
            <a:avLst/>
          </a:prstGeom>
          <a:solidFill>
            <a:srgbClr val="111827"/>
          </a:solidFill>
          <a:ln w="9525">
            <a:solidFill>
              <a:srgbClr val="FFFFFF"/>
            </a:solidFill>
            <a:prstDash val="solid"/>
          </a:ln>
        </p:spPr>
        <p:txBody>
          <a:bodyPr/>
          <a:lstStyle/>
          <a:p>
            <a:endParaRPr/>
          </a:p>
        </p:txBody>
      </p:sp>
      <p:sp>
        <p:nvSpPr>
          <p:cNvPr id="10" name="正方形/長方形 9">
            <a:extLst>
              <a:ext uri="{FF2B5EF4-FFF2-40B4-BE49-F238E27FC236}">
                <a16:creationId xmlns:a16="http://schemas.microsoft.com/office/drawing/2014/main" id="{7599ABB1-4E90-405D-91BA-39D9355E7AB8}"/>
              </a:ext>
            </a:extLst>
          </p:cNvPr>
          <p:cNvSpPr>
            <a:spLocks noGrp="1"/>
          </p:cNvSpPr>
          <p:nvPr/>
        </p:nvSpPr>
        <p:spPr>
          <a:xfrm>
            <a:off x="4810125" y="1743075"/>
            <a:ext cx="2952750" cy="266700"/>
          </a:xfrm>
          <a:prstGeom prst="rect">
            <a:avLst/>
          </a:prstGeom>
          <a:noFill/>
          <a:ln w="0">
            <a:noFill/>
            <a:prstDash val="solid"/>
          </a:ln>
        </p:spPr>
        <p:txBody>
          <a:bodyPr lIns="0" tIns="0" rIns="0" bIns="0" anchor="t">
            <a:noAutofit/>
          </a:bodyPr>
          <a:lstStyle/>
          <a:p>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多クラスの扱い</a:t>
            </a:r>
          </a:p>
        </p:txBody>
      </p:sp>
      <p:sp>
        <p:nvSpPr>
          <p:cNvPr id="11" name="正方形/長方形 10">
            <a:extLst>
              <a:ext uri="{FF2B5EF4-FFF2-40B4-BE49-F238E27FC236}">
                <a16:creationId xmlns:a16="http://schemas.microsoft.com/office/drawing/2014/main" id="{99FC902F-EF5F-4D40-885A-308E1DC6322C}"/>
              </a:ext>
            </a:extLst>
          </p:cNvPr>
          <p:cNvSpPr>
            <a:spLocks noGrp="1"/>
          </p:cNvSpPr>
          <p:nvPr/>
        </p:nvSpPr>
        <p:spPr>
          <a:xfrm>
            <a:off x="7858125" y="1571625"/>
            <a:ext cx="3571875" cy="590550"/>
          </a:xfrm>
          <a:prstGeom prst="rect">
            <a:avLst/>
          </a:prstGeom>
          <a:solidFill>
            <a:srgbClr val="111827"/>
          </a:solidFill>
          <a:ln w="9525">
            <a:solidFill>
              <a:srgbClr val="FFFFFF"/>
            </a:solidFill>
            <a:prstDash val="solid"/>
          </a:ln>
        </p:spPr>
        <p:txBody>
          <a:bodyPr/>
          <a:lstStyle/>
          <a:p>
            <a:endParaRPr/>
          </a:p>
        </p:txBody>
      </p:sp>
      <p:sp>
        <p:nvSpPr>
          <p:cNvPr id="12" name="正方形/長方形 11">
            <a:extLst>
              <a:ext uri="{FF2B5EF4-FFF2-40B4-BE49-F238E27FC236}">
                <a16:creationId xmlns:a16="http://schemas.microsoft.com/office/drawing/2014/main" id="{B0446379-3A8C-4223-B07F-EE8F68D545EF}"/>
              </a:ext>
            </a:extLst>
          </p:cNvPr>
          <p:cNvSpPr>
            <a:spLocks noGrp="1"/>
          </p:cNvSpPr>
          <p:nvPr/>
        </p:nvSpPr>
        <p:spPr>
          <a:xfrm>
            <a:off x="7953375" y="1743075"/>
            <a:ext cx="3381375" cy="266700"/>
          </a:xfrm>
          <a:prstGeom prst="rect">
            <a:avLst/>
          </a:prstGeom>
          <a:noFill/>
          <a:ln w="0">
            <a:noFill/>
            <a:prstDash val="solid"/>
          </a:ln>
        </p:spPr>
        <p:txBody>
          <a:bodyPr lIns="0" tIns="0" rIns="0" bIns="0" anchor="t">
            <a:noAutofit/>
          </a:bodyPr>
          <a:lstStyle/>
          <a:p>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主な出力</a:t>
            </a:r>
          </a:p>
        </p:txBody>
      </p:sp>
      <p:sp>
        <p:nvSpPr>
          <p:cNvPr id="13" name="正方形/長方形 12">
            <a:extLst>
              <a:ext uri="{FF2B5EF4-FFF2-40B4-BE49-F238E27FC236}">
                <a16:creationId xmlns:a16="http://schemas.microsoft.com/office/drawing/2014/main" id="{BDA4E495-E36F-4466-A7D3-AD120EF08254}"/>
              </a:ext>
            </a:extLst>
          </p:cNvPr>
          <p:cNvSpPr>
            <a:spLocks noGrp="1"/>
          </p:cNvSpPr>
          <p:nvPr/>
        </p:nvSpPr>
        <p:spPr>
          <a:xfrm>
            <a:off x="523875" y="2162175"/>
            <a:ext cx="1619250" cy="1028700"/>
          </a:xfrm>
          <a:prstGeom prst="rect">
            <a:avLst/>
          </a:prstGeom>
          <a:solidFill>
            <a:srgbClr val="DBEAFE"/>
          </a:solidFill>
          <a:ln w="9525">
            <a:solidFill>
              <a:srgbClr val="CBD5E1"/>
            </a:solidFill>
            <a:prstDash val="solid"/>
          </a:ln>
        </p:spPr>
        <p:txBody>
          <a:bodyPr/>
          <a:lstStyle/>
          <a:p>
            <a:endParaRPr/>
          </a:p>
        </p:txBody>
      </p:sp>
      <p:sp>
        <p:nvSpPr>
          <p:cNvPr id="14" name="正方形/長方形 13">
            <a:extLst>
              <a:ext uri="{FF2B5EF4-FFF2-40B4-BE49-F238E27FC236}">
                <a16:creationId xmlns:a16="http://schemas.microsoft.com/office/drawing/2014/main" id="{985BBEC6-E716-46E9-9C35-10DF6FC0D35C}"/>
              </a:ext>
            </a:extLst>
          </p:cNvPr>
          <p:cNvSpPr>
            <a:spLocks noGrp="1"/>
          </p:cNvSpPr>
          <p:nvPr/>
        </p:nvSpPr>
        <p:spPr>
          <a:xfrm>
            <a:off x="657225" y="2314575"/>
            <a:ext cx="1352550" cy="723900"/>
          </a:xfrm>
          <a:prstGeom prst="rect">
            <a:avLst/>
          </a:prstGeom>
          <a:noFill/>
          <a:ln w="0">
            <a:noFill/>
            <a:prstDash val="solid"/>
          </a:ln>
        </p:spPr>
        <p:txBody>
          <a:bodyPr lIns="0" tIns="0" rIns="0" bIns="0" anchor="ctr">
            <a:noAutofit/>
          </a:bodyPr>
          <a:lstStyle/>
          <a:p>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LIME</a:t>
            </a:r>
          </a:p>
        </p:txBody>
      </p:sp>
      <p:sp>
        <p:nvSpPr>
          <p:cNvPr id="15" name="正方形/長方形 14">
            <a:extLst>
              <a:ext uri="{FF2B5EF4-FFF2-40B4-BE49-F238E27FC236}">
                <a16:creationId xmlns:a16="http://schemas.microsoft.com/office/drawing/2014/main" id="{E61ADC5E-0110-46E5-97DC-1189DC88BB69}"/>
              </a:ext>
            </a:extLst>
          </p:cNvPr>
          <p:cNvSpPr>
            <a:spLocks noGrp="1"/>
          </p:cNvSpPr>
          <p:nvPr/>
        </p:nvSpPr>
        <p:spPr>
          <a:xfrm>
            <a:off x="2143125" y="2162175"/>
            <a:ext cx="2571750" cy="1028700"/>
          </a:xfrm>
          <a:prstGeom prst="rect">
            <a:avLst/>
          </a:prstGeom>
          <a:solidFill>
            <a:srgbClr val="FFFFFF"/>
          </a:solidFill>
          <a:ln w="9525">
            <a:solidFill>
              <a:srgbClr val="CBD5E1"/>
            </a:solidFill>
            <a:prstDash val="solid"/>
          </a:ln>
        </p:spPr>
        <p:txBody>
          <a:bodyPr/>
          <a:lstStyle/>
          <a:p>
            <a:endParaRPr/>
          </a:p>
        </p:txBody>
      </p:sp>
      <p:sp>
        <p:nvSpPr>
          <p:cNvPr id="16" name="正方形/長方形 15">
            <a:extLst>
              <a:ext uri="{FF2B5EF4-FFF2-40B4-BE49-F238E27FC236}">
                <a16:creationId xmlns:a16="http://schemas.microsoft.com/office/drawing/2014/main" id="{EB29DA4B-BBFD-4BF0-A82D-6D0B02EBC78B}"/>
              </a:ext>
            </a:extLst>
          </p:cNvPr>
          <p:cNvSpPr>
            <a:spLocks noGrp="1"/>
          </p:cNvSpPr>
          <p:nvPr/>
        </p:nvSpPr>
        <p:spPr>
          <a:xfrm>
            <a:off x="2276475" y="2314575"/>
            <a:ext cx="23050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各クラスの予測確率</a:t>
            </a:r>
          </a:p>
        </p:txBody>
      </p:sp>
      <p:sp>
        <p:nvSpPr>
          <p:cNvPr id="17" name="正方形/長方形 16">
            <a:extLst>
              <a:ext uri="{FF2B5EF4-FFF2-40B4-BE49-F238E27FC236}">
                <a16:creationId xmlns:a16="http://schemas.microsoft.com/office/drawing/2014/main" id="{DB212EE6-E345-48BB-BA9E-E244CD8C7C89}"/>
              </a:ext>
            </a:extLst>
          </p:cNvPr>
          <p:cNvSpPr>
            <a:spLocks noGrp="1"/>
          </p:cNvSpPr>
          <p:nvPr/>
        </p:nvSpPr>
        <p:spPr>
          <a:xfrm>
            <a:off x="4714875" y="2162175"/>
            <a:ext cx="3143250" cy="1028700"/>
          </a:xfrm>
          <a:prstGeom prst="rect">
            <a:avLst/>
          </a:prstGeom>
          <a:solidFill>
            <a:srgbClr val="FFFFFF"/>
          </a:solidFill>
          <a:ln w="9525">
            <a:solidFill>
              <a:srgbClr val="CBD5E1"/>
            </a:solidFill>
            <a:prstDash val="solid"/>
          </a:ln>
        </p:spPr>
        <p:txBody>
          <a:bodyPr/>
          <a:lstStyle/>
          <a:p>
            <a:endParaRPr/>
          </a:p>
        </p:txBody>
      </p:sp>
      <p:sp>
        <p:nvSpPr>
          <p:cNvPr id="18" name="正方形/長方形 17">
            <a:extLst>
              <a:ext uri="{FF2B5EF4-FFF2-40B4-BE49-F238E27FC236}">
                <a16:creationId xmlns:a16="http://schemas.microsoft.com/office/drawing/2014/main" id="{1755179E-27EC-4FA0-A501-3D5D4A8B178B}"/>
              </a:ext>
            </a:extLst>
          </p:cNvPr>
          <p:cNvSpPr>
            <a:spLocks noGrp="1"/>
          </p:cNvSpPr>
          <p:nvPr/>
        </p:nvSpPr>
        <p:spPr>
          <a:xfrm>
            <a:off x="4848225" y="2314575"/>
            <a:ext cx="28765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クラスごとに別々</a:t>
            </a:r>
          </a:p>
        </p:txBody>
      </p:sp>
      <p:sp>
        <p:nvSpPr>
          <p:cNvPr id="19" name="正方形/長方形 18">
            <a:extLst>
              <a:ext uri="{FF2B5EF4-FFF2-40B4-BE49-F238E27FC236}">
                <a16:creationId xmlns:a16="http://schemas.microsoft.com/office/drawing/2014/main" id="{74DE4212-3E73-4EE4-86FD-038BFF1A603B}"/>
              </a:ext>
            </a:extLst>
          </p:cNvPr>
          <p:cNvSpPr>
            <a:spLocks noGrp="1"/>
          </p:cNvSpPr>
          <p:nvPr/>
        </p:nvSpPr>
        <p:spPr>
          <a:xfrm>
            <a:off x="7858125" y="2162175"/>
            <a:ext cx="3571875" cy="1028700"/>
          </a:xfrm>
          <a:prstGeom prst="rect">
            <a:avLst/>
          </a:prstGeom>
          <a:solidFill>
            <a:srgbClr val="FFFFFF"/>
          </a:solidFill>
          <a:ln w="9525">
            <a:solidFill>
              <a:srgbClr val="CBD5E1"/>
            </a:solidFill>
            <a:prstDash val="solid"/>
          </a:ln>
        </p:spPr>
        <p:txBody>
          <a:bodyPr/>
          <a:lstStyle/>
          <a:p>
            <a:endParaRPr/>
          </a:p>
        </p:txBody>
      </p:sp>
      <p:sp>
        <p:nvSpPr>
          <p:cNvPr id="20" name="正方形/長方形 19">
            <a:extLst>
              <a:ext uri="{FF2B5EF4-FFF2-40B4-BE49-F238E27FC236}">
                <a16:creationId xmlns:a16="http://schemas.microsoft.com/office/drawing/2014/main" id="{E6D535A0-010C-433D-94C3-908060270314}"/>
              </a:ext>
            </a:extLst>
          </p:cNvPr>
          <p:cNvSpPr>
            <a:spLocks noGrp="1"/>
          </p:cNvSpPr>
          <p:nvPr/>
        </p:nvSpPr>
        <p:spPr>
          <a:xfrm>
            <a:off x="7991475" y="2314575"/>
            <a:ext cx="3305175"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特徴量の重み</a:t>
            </a:r>
          </a:p>
        </p:txBody>
      </p:sp>
      <p:sp>
        <p:nvSpPr>
          <p:cNvPr id="21" name="正方形/長方形 20">
            <a:extLst>
              <a:ext uri="{FF2B5EF4-FFF2-40B4-BE49-F238E27FC236}">
                <a16:creationId xmlns:a16="http://schemas.microsoft.com/office/drawing/2014/main" id="{A932A79C-934D-4589-9953-9F864025BF60}"/>
              </a:ext>
            </a:extLst>
          </p:cNvPr>
          <p:cNvSpPr>
            <a:spLocks noGrp="1"/>
          </p:cNvSpPr>
          <p:nvPr/>
        </p:nvSpPr>
        <p:spPr>
          <a:xfrm>
            <a:off x="523875" y="3190875"/>
            <a:ext cx="1619250" cy="1028700"/>
          </a:xfrm>
          <a:prstGeom prst="rect">
            <a:avLst/>
          </a:prstGeom>
          <a:solidFill>
            <a:srgbClr val="D1FAE5"/>
          </a:solidFill>
          <a:ln w="9525">
            <a:solidFill>
              <a:srgbClr val="CBD5E1"/>
            </a:solidFill>
            <a:prstDash val="solid"/>
          </a:ln>
        </p:spPr>
        <p:txBody>
          <a:bodyPr/>
          <a:lstStyle/>
          <a:p>
            <a:endParaRPr/>
          </a:p>
        </p:txBody>
      </p:sp>
      <p:sp>
        <p:nvSpPr>
          <p:cNvPr id="22" name="正方形/長方形 21">
            <a:extLst>
              <a:ext uri="{FF2B5EF4-FFF2-40B4-BE49-F238E27FC236}">
                <a16:creationId xmlns:a16="http://schemas.microsoft.com/office/drawing/2014/main" id="{BAFE2D53-7C86-46CA-82B9-AE3C99E45B9D}"/>
              </a:ext>
            </a:extLst>
          </p:cNvPr>
          <p:cNvSpPr>
            <a:spLocks noGrp="1"/>
          </p:cNvSpPr>
          <p:nvPr/>
        </p:nvSpPr>
        <p:spPr>
          <a:xfrm>
            <a:off x="657225" y="3343275"/>
            <a:ext cx="1352550" cy="723900"/>
          </a:xfrm>
          <a:prstGeom prst="rect">
            <a:avLst/>
          </a:prstGeom>
          <a:noFill/>
          <a:ln w="0">
            <a:noFill/>
            <a:prstDash val="solid"/>
          </a:ln>
        </p:spPr>
        <p:txBody>
          <a:bodyPr lIns="0" tIns="0" rIns="0" bIns="0" anchor="ctr">
            <a:noAutofit/>
          </a:bodyPr>
          <a:lstStyle/>
          <a:p>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LIMEtree</a:t>
            </a:r>
          </a:p>
        </p:txBody>
      </p:sp>
      <p:sp>
        <p:nvSpPr>
          <p:cNvPr id="23" name="正方形/長方形 22">
            <a:extLst>
              <a:ext uri="{FF2B5EF4-FFF2-40B4-BE49-F238E27FC236}">
                <a16:creationId xmlns:a16="http://schemas.microsoft.com/office/drawing/2014/main" id="{88E230D1-3706-4FA9-B52E-4C049D33DAEF}"/>
              </a:ext>
            </a:extLst>
          </p:cNvPr>
          <p:cNvSpPr>
            <a:spLocks noGrp="1"/>
          </p:cNvSpPr>
          <p:nvPr/>
        </p:nvSpPr>
        <p:spPr>
          <a:xfrm>
            <a:off x="2143125" y="3190875"/>
            <a:ext cx="2571750" cy="1028700"/>
          </a:xfrm>
          <a:prstGeom prst="rect">
            <a:avLst/>
          </a:prstGeom>
          <a:solidFill>
            <a:srgbClr val="FFFFFF"/>
          </a:solidFill>
          <a:ln w="9525">
            <a:solidFill>
              <a:srgbClr val="CBD5E1"/>
            </a:solidFill>
            <a:prstDash val="solid"/>
          </a:ln>
        </p:spPr>
        <p:txBody>
          <a:bodyPr/>
          <a:lstStyle/>
          <a:p>
            <a:endParaRPr/>
          </a:p>
        </p:txBody>
      </p:sp>
      <p:sp>
        <p:nvSpPr>
          <p:cNvPr id="24" name="正方形/長方形 23">
            <a:extLst>
              <a:ext uri="{FF2B5EF4-FFF2-40B4-BE49-F238E27FC236}">
                <a16:creationId xmlns:a16="http://schemas.microsoft.com/office/drawing/2014/main" id="{37AAAD17-B781-4071-B646-D8F7E3E236B0}"/>
              </a:ext>
            </a:extLst>
          </p:cNvPr>
          <p:cNvSpPr>
            <a:spLocks noGrp="1"/>
          </p:cNvSpPr>
          <p:nvPr/>
        </p:nvSpPr>
        <p:spPr>
          <a:xfrm>
            <a:off x="2276475" y="3343275"/>
            <a:ext cx="23050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全クラスの予測確率</a:t>
            </a:r>
          </a:p>
        </p:txBody>
      </p:sp>
      <p:sp>
        <p:nvSpPr>
          <p:cNvPr id="25" name="正方形/長方形 24">
            <a:extLst>
              <a:ext uri="{FF2B5EF4-FFF2-40B4-BE49-F238E27FC236}">
                <a16:creationId xmlns:a16="http://schemas.microsoft.com/office/drawing/2014/main" id="{1140082C-77EA-474B-92C8-59911E4F65E4}"/>
              </a:ext>
            </a:extLst>
          </p:cNvPr>
          <p:cNvSpPr>
            <a:spLocks noGrp="1"/>
          </p:cNvSpPr>
          <p:nvPr/>
        </p:nvSpPr>
        <p:spPr>
          <a:xfrm>
            <a:off x="4714875" y="3190875"/>
            <a:ext cx="3143250" cy="1028700"/>
          </a:xfrm>
          <a:prstGeom prst="rect">
            <a:avLst/>
          </a:prstGeom>
          <a:solidFill>
            <a:srgbClr val="FFFFFF"/>
          </a:solidFill>
          <a:ln w="9525">
            <a:solidFill>
              <a:srgbClr val="CBD5E1"/>
            </a:solidFill>
            <a:prstDash val="solid"/>
          </a:ln>
        </p:spPr>
        <p:txBody>
          <a:bodyPr/>
          <a:lstStyle/>
          <a:p>
            <a:endParaRPr/>
          </a:p>
        </p:txBody>
      </p:sp>
      <p:sp>
        <p:nvSpPr>
          <p:cNvPr id="26" name="正方形/長方形 25">
            <a:extLst>
              <a:ext uri="{FF2B5EF4-FFF2-40B4-BE49-F238E27FC236}">
                <a16:creationId xmlns:a16="http://schemas.microsoft.com/office/drawing/2014/main" id="{7745459C-1285-43F1-87CD-49527390771C}"/>
              </a:ext>
            </a:extLst>
          </p:cNvPr>
          <p:cNvSpPr>
            <a:spLocks noGrp="1"/>
          </p:cNvSpPr>
          <p:nvPr/>
        </p:nvSpPr>
        <p:spPr>
          <a:xfrm>
            <a:off x="4848225" y="3343275"/>
            <a:ext cx="28765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共通の木で同時に扱う</a:t>
            </a:r>
          </a:p>
        </p:txBody>
      </p:sp>
      <p:sp>
        <p:nvSpPr>
          <p:cNvPr id="27" name="正方形/長方形 26">
            <a:extLst>
              <a:ext uri="{FF2B5EF4-FFF2-40B4-BE49-F238E27FC236}">
                <a16:creationId xmlns:a16="http://schemas.microsoft.com/office/drawing/2014/main" id="{19D7643C-DC88-4F4C-8DD3-CAFE1825AB8F}"/>
              </a:ext>
            </a:extLst>
          </p:cNvPr>
          <p:cNvSpPr>
            <a:spLocks noGrp="1"/>
          </p:cNvSpPr>
          <p:nvPr/>
        </p:nvSpPr>
        <p:spPr>
          <a:xfrm>
            <a:off x="7858125" y="3190875"/>
            <a:ext cx="3571875" cy="1028700"/>
          </a:xfrm>
          <a:prstGeom prst="rect">
            <a:avLst/>
          </a:prstGeom>
          <a:solidFill>
            <a:srgbClr val="FFFFFF"/>
          </a:solidFill>
          <a:ln w="9525">
            <a:solidFill>
              <a:srgbClr val="CBD5E1"/>
            </a:solidFill>
            <a:prstDash val="solid"/>
          </a:ln>
        </p:spPr>
        <p:txBody>
          <a:bodyPr/>
          <a:lstStyle/>
          <a:p>
            <a:endParaRPr/>
          </a:p>
        </p:txBody>
      </p:sp>
      <p:sp>
        <p:nvSpPr>
          <p:cNvPr id="28" name="正方形/長方形 27">
            <a:extLst>
              <a:ext uri="{FF2B5EF4-FFF2-40B4-BE49-F238E27FC236}">
                <a16:creationId xmlns:a16="http://schemas.microsoft.com/office/drawing/2014/main" id="{3959273A-3770-4787-BC0E-F196F33A4FF8}"/>
              </a:ext>
            </a:extLst>
          </p:cNvPr>
          <p:cNvSpPr>
            <a:spLocks noGrp="1"/>
          </p:cNvSpPr>
          <p:nvPr/>
        </p:nvSpPr>
        <p:spPr>
          <a:xfrm>
            <a:off x="7991475" y="3343275"/>
            <a:ext cx="3305175"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ルール・対比・反実仮想</a:t>
            </a:r>
          </a:p>
        </p:txBody>
      </p:sp>
      <p:sp>
        <p:nvSpPr>
          <p:cNvPr id="29" name="正方形/長方形 28">
            <a:extLst>
              <a:ext uri="{FF2B5EF4-FFF2-40B4-BE49-F238E27FC236}">
                <a16:creationId xmlns:a16="http://schemas.microsoft.com/office/drawing/2014/main" id="{E9B7CD27-4623-4ECE-A24A-58AEEF8E593D}"/>
              </a:ext>
            </a:extLst>
          </p:cNvPr>
          <p:cNvSpPr>
            <a:spLocks noGrp="1"/>
          </p:cNvSpPr>
          <p:nvPr/>
        </p:nvSpPr>
        <p:spPr>
          <a:xfrm>
            <a:off x="523875" y="4219575"/>
            <a:ext cx="1619250" cy="1028700"/>
          </a:xfrm>
          <a:prstGeom prst="rect">
            <a:avLst/>
          </a:prstGeom>
          <a:solidFill>
            <a:srgbClr val="FEF3C7"/>
          </a:solidFill>
          <a:ln w="9525">
            <a:solidFill>
              <a:srgbClr val="CBD5E1"/>
            </a:solidFill>
            <a:prstDash val="solid"/>
          </a:ln>
        </p:spPr>
        <p:txBody>
          <a:bodyPr/>
          <a:lstStyle/>
          <a:p>
            <a:endParaRPr/>
          </a:p>
        </p:txBody>
      </p:sp>
      <p:sp>
        <p:nvSpPr>
          <p:cNvPr id="30" name="正方形/長方形 29">
            <a:extLst>
              <a:ext uri="{FF2B5EF4-FFF2-40B4-BE49-F238E27FC236}">
                <a16:creationId xmlns:a16="http://schemas.microsoft.com/office/drawing/2014/main" id="{DE7CD972-6192-46BE-BF6A-0B66DAD0F84C}"/>
              </a:ext>
            </a:extLst>
          </p:cNvPr>
          <p:cNvSpPr>
            <a:spLocks noGrp="1"/>
          </p:cNvSpPr>
          <p:nvPr/>
        </p:nvSpPr>
        <p:spPr>
          <a:xfrm>
            <a:off x="657225" y="4371975"/>
            <a:ext cx="1352550" cy="723900"/>
          </a:xfrm>
          <a:prstGeom prst="rect">
            <a:avLst/>
          </a:prstGeom>
          <a:noFill/>
          <a:ln w="0">
            <a:noFill/>
            <a:prstDash val="solid"/>
          </a:ln>
        </p:spPr>
        <p:txBody>
          <a:bodyPr lIns="0" tIns="0" rIns="0" bIns="0" anchor="ctr">
            <a:noAutofit/>
          </a:bodyPr>
          <a:lstStyle/>
          <a:p>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LIPEx</a:t>
            </a:r>
          </a:p>
        </p:txBody>
      </p:sp>
      <p:sp>
        <p:nvSpPr>
          <p:cNvPr id="31" name="正方形/長方形 30">
            <a:extLst>
              <a:ext uri="{FF2B5EF4-FFF2-40B4-BE49-F238E27FC236}">
                <a16:creationId xmlns:a16="http://schemas.microsoft.com/office/drawing/2014/main" id="{0DBDD7D3-A7AA-4A5D-92E8-EB777A985D3C}"/>
              </a:ext>
            </a:extLst>
          </p:cNvPr>
          <p:cNvSpPr>
            <a:spLocks noGrp="1"/>
          </p:cNvSpPr>
          <p:nvPr/>
        </p:nvSpPr>
        <p:spPr>
          <a:xfrm>
            <a:off x="2143125" y="4219575"/>
            <a:ext cx="2571750" cy="1028700"/>
          </a:xfrm>
          <a:prstGeom prst="rect">
            <a:avLst/>
          </a:prstGeom>
          <a:solidFill>
            <a:srgbClr val="FFFFFF"/>
          </a:solidFill>
          <a:ln w="9525">
            <a:solidFill>
              <a:srgbClr val="CBD5E1"/>
            </a:solidFill>
            <a:prstDash val="solid"/>
          </a:ln>
        </p:spPr>
        <p:txBody>
          <a:bodyPr/>
          <a:lstStyle/>
          <a:p>
            <a:endParaRPr/>
          </a:p>
        </p:txBody>
      </p:sp>
      <p:sp>
        <p:nvSpPr>
          <p:cNvPr id="32" name="正方形/長方形 31">
            <a:extLst>
              <a:ext uri="{FF2B5EF4-FFF2-40B4-BE49-F238E27FC236}">
                <a16:creationId xmlns:a16="http://schemas.microsoft.com/office/drawing/2014/main" id="{991755C1-80E7-4510-A38D-90743F515748}"/>
              </a:ext>
            </a:extLst>
          </p:cNvPr>
          <p:cNvSpPr>
            <a:spLocks noGrp="1"/>
          </p:cNvSpPr>
          <p:nvPr/>
        </p:nvSpPr>
        <p:spPr>
          <a:xfrm>
            <a:off x="2276475" y="4371975"/>
            <a:ext cx="23050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予測確率分布全体</a:t>
            </a:r>
          </a:p>
        </p:txBody>
      </p:sp>
      <p:sp>
        <p:nvSpPr>
          <p:cNvPr id="33" name="正方形/長方形 32">
            <a:extLst>
              <a:ext uri="{FF2B5EF4-FFF2-40B4-BE49-F238E27FC236}">
                <a16:creationId xmlns:a16="http://schemas.microsoft.com/office/drawing/2014/main" id="{378C570D-D256-4D3B-A6CB-78284E156250}"/>
              </a:ext>
            </a:extLst>
          </p:cNvPr>
          <p:cNvSpPr>
            <a:spLocks noGrp="1"/>
          </p:cNvSpPr>
          <p:nvPr/>
        </p:nvSpPr>
        <p:spPr>
          <a:xfrm>
            <a:off x="4714875" y="4219575"/>
            <a:ext cx="3143250" cy="1028700"/>
          </a:xfrm>
          <a:prstGeom prst="rect">
            <a:avLst/>
          </a:prstGeom>
          <a:solidFill>
            <a:srgbClr val="FFFFFF"/>
          </a:solidFill>
          <a:ln w="9525">
            <a:solidFill>
              <a:srgbClr val="CBD5E1"/>
            </a:solidFill>
            <a:prstDash val="solid"/>
          </a:ln>
        </p:spPr>
        <p:txBody>
          <a:bodyPr/>
          <a:lstStyle/>
          <a:p>
            <a:endParaRPr/>
          </a:p>
        </p:txBody>
      </p:sp>
      <p:sp>
        <p:nvSpPr>
          <p:cNvPr id="34" name="正方形/長方形 33">
            <a:extLst>
              <a:ext uri="{FF2B5EF4-FFF2-40B4-BE49-F238E27FC236}">
                <a16:creationId xmlns:a16="http://schemas.microsoft.com/office/drawing/2014/main" id="{0FD0D3DD-A4E3-4181-9223-EF74967310AA}"/>
              </a:ext>
            </a:extLst>
          </p:cNvPr>
          <p:cNvSpPr>
            <a:spLocks noGrp="1"/>
          </p:cNvSpPr>
          <p:nvPr/>
        </p:nvSpPr>
        <p:spPr>
          <a:xfrm>
            <a:off x="4848225" y="4371975"/>
            <a:ext cx="28765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分布として一体に扱う</a:t>
            </a:r>
          </a:p>
        </p:txBody>
      </p:sp>
      <p:sp>
        <p:nvSpPr>
          <p:cNvPr id="35" name="正方形/長方形 34">
            <a:extLst>
              <a:ext uri="{FF2B5EF4-FFF2-40B4-BE49-F238E27FC236}">
                <a16:creationId xmlns:a16="http://schemas.microsoft.com/office/drawing/2014/main" id="{FFBC04BF-B02D-47BD-8614-512374CCC983}"/>
              </a:ext>
            </a:extLst>
          </p:cNvPr>
          <p:cNvSpPr>
            <a:spLocks noGrp="1"/>
          </p:cNvSpPr>
          <p:nvPr/>
        </p:nvSpPr>
        <p:spPr>
          <a:xfrm>
            <a:off x="7858125" y="4219575"/>
            <a:ext cx="3571875" cy="1028700"/>
          </a:xfrm>
          <a:prstGeom prst="rect">
            <a:avLst/>
          </a:prstGeom>
          <a:solidFill>
            <a:srgbClr val="FFFFFF"/>
          </a:solidFill>
          <a:ln w="9525">
            <a:solidFill>
              <a:srgbClr val="CBD5E1"/>
            </a:solidFill>
            <a:prstDash val="solid"/>
          </a:ln>
        </p:spPr>
        <p:txBody>
          <a:bodyPr/>
          <a:lstStyle/>
          <a:p>
            <a:endParaRPr/>
          </a:p>
        </p:txBody>
      </p:sp>
      <p:sp>
        <p:nvSpPr>
          <p:cNvPr id="36" name="正方形/長方形 35">
            <a:extLst>
              <a:ext uri="{FF2B5EF4-FFF2-40B4-BE49-F238E27FC236}">
                <a16:creationId xmlns:a16="http://schemas.microsoft.com/office/drawing/2014/main" id="{845196F1-9367-4B55-977B-ADA3968E5717}"/>
              </a:ext>
            </a:extLst>
          </p:cNvPr>
          <p:cNvSpPr>
            <a:spLocks noGrp="1"/>
          </p:cNvSpPr>
          <p:nvPr/>
        </p:nvSpPr>
        <p:spPr>
          <a:xfrm>
            <a:off x="7991475" y="4371975"/>
            <a:ext cx="3305175"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特徴×クラスの説明行列</a:t>
            </a:r>
          </a:p>
        </p:txBody>
      </p:sp>
      <p:sp>
        <p:nvSpPr>
          <p:cNvPr id="37" name="正方形/長方形 36">
            <a:extLst>
              <a:ext uri="{FF2B5EF4-FFF2-40B4-BE49-F238E27FC236}">
                <a16:creationId xmlns:a16="http://schemas.microsoft.com/office/drawing/2014/main" id="{8BFD742A-B2BE-428B-88F4-4EA497D5FD82}"/>
              </a:ext>
            </a:extLst>
          </p:cNvPr>
          <p:cNvSpPr>
            <a:spLocks noGrp="1"/>
          </p:cNvSpPr>
          <p:nvPr/>
        </p:nvSpPr>
        <p:spPr>
          <a:xfrm>
            <a:off x="523875" y="5476875"/>
            <a:ext cx="10906125" cy="571500"/>
          </a:xfrm>
          <a:prstGeom prst="rect">
            <a:avLst/>
          </a:prstGeom>
          <a:solidFill>
            <a:srgbClr val="F3F4F6"/>
          </a:solidFill>
          <a:ln w="9525">
            <a:solidFill>
              <a:srgbClr val="CBD5E1"/>
            </a:solidFill>
            <a:prstDash val="solid"/>
          </a:ln>
        </p:spPr>
        <p:txBody>
          <a:bodyPr/>
          <a:lstStyle/>
          <a:p>
            <a:endParaRPr/>
          </a:p>
        </p:txBody>
      </p:sp>
      <p:sp>
        <p:nvSpPr>
          <p:cNvPr id="38" name="正方形/長方形 37">
            <a:extLst>
              <a:ext uri="{FF2B5EF4-FFF2-40B4-BE49-F238E27FC236}">
                <a16:creationId xmlns:a16="http://schemas.microsoft.com/office/drawing/2014/main" id="{FCEF841D-31A1-4CCC-ACC3-CB78D95F58FA}"/>
              </a:ext>
            </a:extLst>
          </p:cNvPr>
          <p:cNvSpPr>
            <a:spLocks noGrp="1"/>
          </p:cNvSpPr>
          <p:nvPr/>
        </p:nvSpPr>
        <p:spPr>
          <a:xfrm>
            <a:off x="742950" y="5638800"/>
            <a:ext cx="1047750" cy="247650"/>
          </a:xfrm>
          <a:prstGeom prst="rect">
            <a:avLst/>
          </a:prstGeom>
          <a:noFill/>
          <a:ln w="0">
            <a:noFill/>
            <a:prstDash val="solid"/>
          </a:ln>
        </p:spPr>
        <p:txBody>
          <a:bodyPr lIns="0" tIns="0" rIns="0" bIns="0" anchor="t">
            <a:noAutofit/>
          </a:bodyPr>
          <a:lstStyle/>
          <a:p>
            <a:pPr algn="l">
              <a:buNone/>
              <a:defRPr sz="1425" b="1">
                <a:solidFill>
                  <a:srgbClr val="2563EB"/>
                </a:solidFill>
                <a:latin typeface="Yu Gothic"/>
                <a:ea typeface="Yu Gothic"/>
                <a:cs typeface="Yu Gothic"/>
              </a:defRPr>
            </a:pPr>
            <a:r>
              <a:rPr sz="1425" b="1">
                <a:solidFill>
                  <a:srgbClr val="2563EB"/>
                </a:solidFill>
                <a:latin typeface="Yu Gothic"/>
                <a:ea typeface="Yu Gothic"/>
                <a:cs typeface="Yu Gothic"/>
              </a:rPr>
              <a:t>bLIMEy</a:t>
            </a:r>
          </a:p>
        </p:txBody>
      </p:sp>
      <p:sp>
        <p:nvSpPr>
          <p:cNvPr id="39" name="正方形/長方形 38">
            <a:extLst>
              <a:ext uri="{FF2B5EF4-FFF2-40B4-BE49-F238E27FC236}">
                <a16:creationId xmlns:a16="http://schemas.microsoft.com/office/drawing/2014/main" id="{373C36D6-962F-4A4D-B7C2-D149B088272F}"/>
              </a:ext>
            </a:extLst>
          </p:cNvPr>
          <p:cNvSpPr>
            <a:spLocks noGrp="1"/>
          </p:cNvSpPr>
          <p:nvPr/>
        </p:nvSpPr>
        <p:spPr>
          <a:xfrm>
            <a:off x="1857375" y="5600700"/>
            <a:ext cx="9191625" cy="323850"/>
          </a:xfrm>
          <a:prstGeom prst="rect">
            <a:avLst/>
          </a:prstGeom>
          <a:noFill/>
          <a:ln w="0">
            <a:noFill/>
            <a:prstDash val="solid"/>
          </a:ln>
        </p:spPr>
        <p:txBody>
          <a:bodyPr lIns="0" tIns="0" rIns="0" bIns="0" anchor="ctr">
            <a:noAutofit/>
          </a:bodyPr>
          <a:lstStyle/>
          <a:p>
            <a:pPr algn="l">
              <a:buNone/>
              <a:defRPr sz="1425" b="0">
                <a:solidFill>
                  <a:srgbClr val="111827"/>
                </a:solidFill>
                <a:latin typeface="Yu Gothic"/>
                <a:ea typeface="Yu Gothic"/>
                <a:cs typeface="Yu Gothic"/>
              </a:defRPr>
            </a:pPr>
            <a:r>
              <a:rPr sz="1425" b="0">
                <a:solidFill>
                  <a:srgbClr val="111827"/>
                </a:solidFill>
                <a:latin typeface="Yu Gothic"/>
                <a:ea typeface="Yu Gothic"/>
                <a:cs typeface="Yu Gothic"/>
              </a:rPr>
              <a:t>近傍生成・表現・特徴選択・サロゲートを分解し、LIME型説明器を設計する枠組み</a:t>
            </a:r>
          </a:p>
        </p:txBody>
      </p:sp>
      <p:sp>
        <p:nvSpPr>
          <p:cNvPr id="40" name="正方形/長方形 39">
            <a:extLst>
              <a:ext uri="{FF2B5EF4-FFF2-40B4-BE49-F238E27FC236}">
                <a16:creationId xmlns:a16="http://schemas.microsoft.com/office/drawing/2014/main" id="{1BC43030-B548-43C0-8E1D-9A5378EE811A}"/>
              </a:ext>
            </a:extLst>
          </p:cNvPr>
          <p:cNvSpPr>
            <a:spLocks noGrp="1"/>
          </p:cNvSpPr>
          <p:nvPr/>
        </p:nvSpPr>
        <p:spPr>
          <a:xfrm>
            <a:off x="7810500" y="6172200"/>
            <a:ext cx="3619500" cy="190500"/>
          </a:xfrm>
          <a:prstGeom prst="rect">
            <a:avLst/>
          </a:prstGeom>
          <a:noFill/>
          <a:ln w="0">
            <a:noFill/>
            <a:prstDash val="solid"/>
          </a:ln>
        </p:spPr>
        <p:txBody>
          <a:bodyPr lIns="0" tIns="0" rIns="0" bIns="0" anchor="t">
            <a:noAutofit/>
          </a:bodyPr>
          <a:lstStyle/>
          <a:p>
            <a:pPr algn="r">
              <a:buNone/>
              <a:defRPr sz="975" b="0">
                <a:solidFill>
                  <a:srgbClr val="64748B"/>
                </a:solidFill>
                <a:latin typeface="Yu Gothic"/>
                <a:ea typeface="Yu Gothic"/>
                <a:cs typeface="Yu Gothic"/>
              </a:defRPr>
            </a:pPr>
            <a:r>
              <a:rPr sz="975" b="0">
                <a:solidFill>
                  <a:srgbClr val="64748B"/>
                </a:solidFill>
                <a:latin typeface="Yu Gothic"/>
                <a:ea typeface="Yu Gothic"/>
                <a:cs typeface="Yu Gothic"/>
              </a:rPr>
              <a:t>※ LIPExはICLR 2024 Withdrawn Submission</a:t>
            </a:r>
          </a:p>
        </p:txBody>
      </p:sp>
    </p:spTree>
    <p:extLst>
      <p:ext uri="{BB962C8B-B14F-4D97-AF65-F5344CB8AC3E}">
        <p14:creationId xmlns:p14="http://schemas.microsoft.com/office/powerpoint/2010/main" val="125363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正方形/長方形 27">
            <a:extLst>
              <a:ext uri="{FF2B5EF4-FFF2-40B4-BE49-F238E27FC236}">
                <a16:creationId xmlns:a16="http://schemas.microsoft.com/office/drawing/2014/main" id="{9F8F6CF5-6E34-4103-9083-D040B96B1DEE}"/>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10-title">
            <a:extLst>
              <a:ext uri="{FF2B5EF4-FFF2-40B4-BE49-F238E27FC236}">
                <a16:creationId xmlns:a16="http://schemas.microsoft.com/office/drawing/2014/main" id="{902FA16F-4B14-4A30-87C1-D2DC55940F28}"/>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まず「多クラス説明の何を良くするか」を定義する</a:t>
            </a:r>
          </a:p>
        </p:txBody>
      </p:sp>
      <p:sp>
        <p:nvSpPr>
          <p:cNvPr id="3" name="slide-10-subtitle">
            <a:extLst>
              <a:ext uri="{FF2B5EF4-FFF2-40B4-BE49-F238E27FC236}">
                <a16:creationId xmlns:a16="http://schemas.microsoft.com/office/drawing/2014/main" id="{EDE29819-D1C9-478F-9833-A7B608B0B3CF}"/>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手法を決める前に、研究目的と評価軸を対応させる</a:t>
            </a:r>
          </a:p>
        </p:txBody>
      </p:sp>
      <p:sp>
        <p:nvSpPr>
          <p:cNvPr id="4" name="正方形/長方形 3">
            <a:extLst>
              <a:ext uri="{FF2B5EF4-FFF2-40B4-BE49-F238E27FC236}">
                <a16:creationId xmlns:a16="http://schemas.microsoft.com/office/drawing/2014/main" id="{423A0C86-53AB-4232-9E61-38D0C6BB5E58}"/>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10</a:t>
            </a:r>
          </a:p>
        </p:txBody>
      </p:sp>
      <p:cxnSp>
        <p:nvCxnSpPr>
          <p:cNvPr id="54" name="直線矢印コネクタ 31"/>
          <p:cNvCxnSpPr/>
          <p:nvPr/>
        </p:nvCxnSpPr>
        <p:spPr>
          <a:xfrm>
            <a:off x="4143375" y="1762125"/>
            <a:ext cx="0" cy="3143250"/>
          </a:xfrm>
          <a:prstGeom prst="straightConnector1">
            <a:avLst/>
          </a:prstGeom>
          <a:ln w="19050">
            <a:solidFill>
              <a:srgbClr val="CBD5E1"/>
            </a:solidFill>
            <a:prstDash val="solid"/>
          </a:ln>
        </p:spPr>
      </p:cxnSp>
      <p:cxnSp>
        <p:nvCxnSpPr>
          <p:cNvPr id="55" name="直線矢印コネクタ 32"/>
          <p:cNvCxnSpPr/>
          <p:nvPr/>
        </p:nvCxnSpPr>
        <p:spPr>
          <a:xfrm>
            <a:off x="8048625" y="1762125"/>
            <a:ext cx="0" cy="3143250"/>
          </a:xfrm>
          <a:prstGeom prst="straightConnector1">
            <a:avLst/>
          </a:prstGeom>
          <a:ln w="19050">
            <a:solidFill>
              <a:srgbClr val="CBD5E1"/>
            </a:solidFill>
            <a:prstDash val="solid"/>
          </a:ln>
        </p:spPr>
      </p:cxnSp>
      <p:sp>
        <p:nvSpPr>
          <p:cNvPr id="7" name="正方形/長方形 6">
            <a:extLst>
              <a:ext uri="{FF2B5EF4-FFF2-40B4-BE49-F238E27FC236}">
                <a16:creationId xmlns:a16="http://schemas.microsoft.com/office/drawing/2014/main" id="{7E184F1E-1F10-4A99-BA1F-03A7624D56F7}"/>
              </a:ext>
            </a:extLst>
          </p:cNvPr>
          <p:cNvSpPr>
            <a:spLocks noGrp="1"/>
          </p:cNvSpPr>
          <p:nvPr/>
        </p:nvSpPr>
        <p:spPr>
          <a:xfrm>
            <a:off x="619125" y="1762125"/>
            <a:ext cx="1047750" cy="666750"/>
          </a:xfrm>
          <a:prstGeom prst="rect">
            <a:avLst/>
          </a:prstGeom>
          <a:noFill/>
          <a:ln w="0">
            <a:noFill/>
            <a:prstDash val="solid"/>
          </a:ln>
        </p:spPr>
        <p:txBody>
          <a:bodyPr lIns="0" tIns="0" rIns="0" bIns="0" anchor="t">
            <a:noAutofit/>
          </a:bodyPr>
          <a:lstStyle/>
          <a:p>
            <a:pPr algn="l">
              <a:buNone/>
              <a:defRPr sz="3900" b="1">
                <a:solidFill>
                  <a:srgbClr val="2563EB"/>
                </a:solidFill>
                <a:latin typeface="Yu Gothic"/>
                <a:ea typeface="Yu Gothic"/>
                <a:cs typeface="Yu Gothic"/>
              </a:defRPr>
            </a:pPr>
            <a:r>
              <a:rPr sz="3900" b="1">
                <a:solidFill>
                  <a:srgbClr val="2563EB"/>
                </a:solidFill>
                <a:latin typeface="Yu Gothic"/>
                <a:ea typeface="Yu Gothic"/>
                <a:cs typeface="Yu Gothic"/>
              </a:rPr>
              <a:t>01</a:t>
            </a:r>
          </a:p>
        </p:txBody>
      </p:sp>
      <p:sp>
        <p:nvSpPr>
          <p:cNvPr id="8" name="正方形/長方形 7">
            <a:extLst>
              <a:ext uri="{FF2B5EF4-FFF2-40B4-BE49-F238E27FC236}">
                <a16:creationId xmlns:a16="http://schemas.microsoft.com/office/drawing/2014/main" id="{6EB8A469-EF6A-4248-8B5C-340D0C3548C9}"/>
              </a:ext>
            </a:extLst>
          </p:cNvPr>
          <p:cNvSpPr>
            <a:spLocks noGrp="1"/>
          </p:cNvSpPr>
          <p:nvPr/>
        </p:nvSpPr>
        <p:spPr>
          <a:xfrm>
            <a:off x="619125" y="2571750"/>
            <a:ext cx="3143250" cy="40005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予測再現</a:t>
            </a:r>
          </a:p>
        </p:txBody>
      </p:sp>
      <p:sp>
        <p:nvSpPr>
          <p:cNvPr id="9" name="正方形/長方形 8">
            <a:extLst>
              <a:ext uri="{FF2B5EF4-FFF2-40B4-BE49-F238E27FC236}">
                <a16:creationId xmlns:a16="http://schemas.microsoft.com/office/drawing/2014/main" id="{369C92C9-F4E1-4604-8D76-E321EB0BC4A3}"/>
              </a:ext>
            </a:extLst>
          </p:cNvPr>
          <p:cNvSpPr>
            <a:spLocks noGrp="1"/>
          </p:cNvSpPr>
          <p:nvPr/>
        </p:nvSpPr>
        <p:spPr>
          <a:xfrm>
            <a:off x="619125" y="3190875"/>
            <a:ext cx="3143250" cy="723900"/>
          </a:xfrm>
          <a:prstGeom prst="rect">
            <a:avLst/>
          </a:prstGeom>
          <a:noFill/>
          <a:ln w="0">
            <a:noFill/>
            <a:prstDash val="solid"/>
          </a:ln>
        </p:spPr>
        <p:txBody>
          <a:bodyPr lIns="0" tIns="0" rIns="0" bIns="0" anchor="t">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元モデルを</a:t>
            </a:r>
          </a:p>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まねられるか</a:t>
            </a:r>
          </a:p>
        </p:txBody>
      </p:sp>
      <p:cxnSp>
        <p:nvCxnSpPr>
          <p:cNvPr id="59" name="直線矢印コネクタ 36"/>
          <p:cNvCxnSpPr/>
          <p:nvPr/>
        </p:nvCxnSpPr>
        <p:spPr>
          <a:xfrm>
            <a:off x="619125" y="4095750"/>
            <a:ext cx="2857500" cy="0"/>
          </a:xfrm>
          <a:prstGeom prst="straightConnector1">
            <a:avLst/>
          </a:prstGeom>
          <a:ln w="47625">
            <a:solidFill>
              <a:srgbClr val="2563EB"/>
            </a:solidFill>
            <a:prstDash val="solid"/>
          </a:ln>
        </p:spPr>
      </p:cxnSp>
      <p:sp>
        <p:nvSpPr>
          <p:cNvPr id="11" name="正方形/長方形 10">
            <a:extLst>
              <a:ext uri="{FF2B5EF4-FFF2-40B4-BE49-F238E27FC236}">
                <a16:creationId xmlns:a16="http://schemas.microsoft.com/office/drawing/2014/main" id="{03629073-E411-4861-B32F-C3C8AFBE5271}"/>
              </a:ext>
            </a:extLst>
          </p:cNvPr>
          <p:cNvSpPr>
            <a:spLocks noGrp="1"/>
          </p:cNvSpPr>
          <p:nvPr/>
        </p:nvSpPr>
        <p:spPr>
          <a:xfrm>
            <a:off x="619125" y="4362450"/>
            <a:ext cx="952500" cy="266700"/>
          </a:xfrm>
          <a:prstGeom prst="rect">
            <a:avLst/>
          </a:prstGeom>
          <a:noFill/>
          <a:ln w="0">
            <a:noFill/>
            <a:prstDash val="solid"/>
          </a:ln>
        </p:spPr>
        <p:txBody>
          <a:bodyPr lIns="0" tIns="0" rIns="0" bIns="0" anchor="t">
            <a:noAutofit/>
          </a:bodyPr>
          <a:lstStyle/>
          <a:p>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2" name="正方形/長方形 11">
            <a:extLst>
              <a:ext uri="{FF2B5EF4-FFF2-40B4-BE49-F238E27FC236}">
                <a16:creationId xmlns:a16="http://schemas.microsoft.com/office/drawing/2014/main" id="{B62BB417-B455-45EC-9855-B415D053B4D4}"/>
              </a:ext>
            </a:extLst>
          </p:cNvPr>
          <p:cNvSpPr>
            <a:spLocks noGrp="1"/>
          </p:cNvSpPr>
          <p:nvPr/>
        </p:nvSpPr>
        <p:spPr>
          <a:xfrm>
            <a:off x="619125" y="4686300"/>
            <a:ext cx="2857500" cy="609600"/>
          </a:xfrm>
          <a:prstGeom prst="rect">
            <a:avLst/>
          </a:prstGeom>
          <a:noFill/>
          <a:ln w="0">
            <a:noFill/>
            <a:prstDash val="solid"/>
          </a:ln>
        </p:spPr>
        <p:txBody>
          <a:bodyPr lIns="0" tIns="0" rIns="0" bIns="0" anchor="t">
            <a:noAutofit/>
          </a:bodyPr>
          <a:lstStyle/>
          <a:p>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確率の誤差</a:t>
            </a:r>
          </a:p>
          <a:p>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局所忠実性</a:t>
            </a:r>
          </a:p>
        </p:txBody>
      </p:sp>
      <p:sp>
        <p:nvSpPr>
          <p:cNvPr id="13" name="正方形/長方形 12">
            <a:extLst>
              <a:ext uri="{FF2B5EF4-FFF2-40B4-BE49-F238E27FC236}">
                <a16:creationId xmlns:a16="http://schemas.microsoft.com/office/drawing/2014/main" id="{CA675AF9-9E87-450B-88E1-6DE7C1A75A5C}"/>
              </a:ext>
            </a:extLst>
          </p:cNvPr>
          <p:cNvSpPr>
            <a:spLocks noGrp="1"/>
          </p:cNvSpPr>
          <p:nvPr/>
        </p:nvSpPr>
        <p:spPr>
          <a:xfrm>
            <a:off x="4524375" y="1762125"/>
            <a:ext cx="1047750" cy="666750"/>
          </a:xfrm>
          <a:prstGeom prst="rect">
            <a:avLst/>
          </a:prstGeom>
          <a:noFill/>
          <a:ln w="0">
            <a:noFill/>
            <a:prstDash val="solid"/>
          </a:ln>
        </p:spPr>
        <p:txBody>
          <a:bodyPr lIns="0" tIns="0" rIns="0" bIns="0" anchor="t">
            <a:noAutofit/>
          </a:bodyPr>
          <a:lstStyle/>
          <a:p>
            <a:pPr algn="l">
              <a:buNone/>
              <a:defRPr sz="3900" b="1">
                <a:solidFill>
                  <a:srgbClr val="F59E0B"/>
                </a:solidFill>
                <a:latin typeface="Yu Gothic"/>
                <a:ea typeface="Yu Gothic"/>
                <a:cs typeface="Yu Gothic"/>
              </a:defRPr>
            </a:pPr>
            <a:r>
              <a:rPr sz="3900" b="1">
                <a:solidFill>
                  <a:srgbClr val="F59E0B"/>
                </a:solidFill>
                <a:latin typeface="Yu Gothic"/>
                <a:ea typeface="Yu Gothic"/>
                <a:cs typeface="Yu Gothic"/>
              </a:rPr>
              <a:t>02</a:t>
            </a:r>
          </a:p>
        </p:txBody>
      </p:sp>
      <p:sp>
        <p:nvSpPr>
          <p:cNvPr id="14" name="正方形/長方形 13">
            <a:extLst>
              <a:ext uri="{FF2B5EF4-FFF2-40B4-BE49-F238E27FC236}">
                <a16:creationId xmlns:a16="http://schemas.microsoft.com/office/drawing/2014/main" id="{A0A5EAF3-A961-4666-98BC-016F803D24E3}"/>
              </a:ext>
            </a:extLst>
          </p:cNvPr>
          <p:cNvSpPr>
            <a:spLocks noGrp="1"/>
          </p:cNvSpPr>
          <p:nvPr/>
        </p:nvSpPr>
        <p:spPr>
          <a:xfrm>
            <a:off x="4524375" y="2571750"/>
            <a:ext cx="3143250" cy="40005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説明の一貫性</a:t>
            </a:r>
          </a:p>
        </p:txBody>
      </p:sp>
      <p:sp>
        <p:nvSpPr>
          <p:cNvPr id="15" name="正方形/長方形 14">
            <a:extLst>
              <a:ext uri="{FF2B5EF4-FFF2-40B4-BE49-F238E27FC236}">
                <a16:creationId xmlns:a16="http://schemas.microsoft.com/office/drawing/2014/main" id="{2B5D8ACA-4543-4A3F-BB81-FE17977D1830}"/>
              </a:ext>
            </a:extLst>
          </p:cNvPr>
          <p:cNvSpPr>
            <a:spLocks noGrp="1"/>
          </p:cNvSpPr>
          <p:nvPr/>
        </p:nvSpPr>
        <p:spPr>
          <a:xfrm>
            <a:off x="4524375" y="3190875"/>
            <a:ext cx="3143250" cy="723900"/>
          </a:xfrm>
          <a:prstGeom prst="rect">
            <a:avLst/>
          </a:prstGeom>
          <a:noFill/>
          <a:ln w="0">
            <a:noFill/>
            <a:prstDash val="solid"/>
          </a:ln>
        </p:spPr>
        <p:txBody>
          <a:bodyPr lIns="0" tIns="0" rIns="0" bIns="0" anchor="t">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クラス間で説明が</a:t>
            </a:r>
          </a:p>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つながるか</a:t>
            </a:r>
          </a:p>
        </p:txBody>
      </p:sp>
      <p:cxnSp>
        <p:nvCxnSpPr>
          <p:cNvPr id="65" name="直線矢印コネクタ 42"/>
          <p:cNvCxnSpPr/>
          <p:nvPr/>
        </p:nvCxnSpPr>
        <p:spPr>
          <a:xfrm>
            <a:off x="4524375" y="4095750"/>
            <a:ext cx="2857500" cy="0"/>
          </a:xfrm>
          <a:prstGeom prst="straightConnector1">
            <a:avLst/>
          </a:prstGeom>
          <a:ln w="47625">
            <a:solidFill>
              <a:srgbClr val="F59E0B"/>
            </a:solidFill>
            <a:prstDash val="solid"/>
          </a:ln>
        </p:spPr>
      </p:cxnSp>
      <p:sp>
        <p:nvSpPr>
          <p:cNvPr id="17" name="正方形/長方形 16">
            <a:extLst>
              <a:ext uri="{FF2B5EF4-FFF2-40B4-BE49-F238E27FC236}">
                <a16:creationId xmlns:a16="http://schemas.microsoft.com/office/drawing/2014/main" id="{186E0DE1-49AB-492D-80BE-B6B63220806A}"/>
              </a:ext>
            </a:extLst>
          </p:cNvPr>
          <p:cNvSpPr>
            <a:spLocks noGrp="1"/>
          </p:cNvSpPr>
          <p:nvPr/>
        </p:nvSpPr>
        <p:spPr>
          <a:xfrm>
            <a:off x="4524375" y="4362450"/>
            <a:ext cx="952500" cy="266700"/>
          </a:xfrm>
          <a:prstGeom prst="rect">
            <a:avLst/>
          </a:prstGeom>
          <a:noFill/>
          <a:ln w="0">
            <a:noFill/>
            <a:prstDash val="solid"/>
          </a:ln>
        </p:spPr>
        <p:txBody>
          <a:bodyPr lIns="0" tIns="0" rIns="0" bIns="0" anchor="t">
            <a:noAutofit/>
          </a:bodyPr>
          <a:lstStyle/>
          <a:p>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8" name="正方形/長方形 17">
            <a:extLst>
              <a:ext uri="{FF2B5EF4-FFF2-40B4-BE49-F238E27FC236}">
                <a16:creationId xmlns:a16="http://schemas.microsoft.com/office/drawing/2014/main" id="{834464F6-44B8-4019-9FB8-AEFFA5CCFD86}"/>
              </a:ext>
            </a:extLst>
          </p:cNvPr>
          <p:cNvSpPr>
            <a:spLocks noGrp="1"/>
          </p:cNvSpPr>
          <p:nvPr/>
        </p:nvSpPr>
        <p:spPr>
          <a:xfrm>
            <a:off x="4524375" y="4686300"/>
            <a:ext cx="2857500" cy="609600"/>
          </a:xfrm>
          <a:prstGeom prst="rect">
            <a:avLst/>
          </a:prstGeom>
          <a:noFill/>
          <a:ln w="0">
            <a:noFill/>
            <a:prstDash val="solid"/>
          </a:ln>
        </p:spPr>
        <p:txBody>
          <a:bodyPr lIns="0" tIns="0" rIns="0" bIns="0" anchor="t">
            <a:noAutofit/>
          </a:bodyPr>
          <a:lstStyle/>
          <a:p>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共通特徴・共通構造</a:t>
            </a:r>
          </a:p>
          <a:p>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安定性</a:t>
            </a:r>
          </a:p>
        </p:txBody>
      </p:sp>
      <p:sp>
        <p:nvSpPr>
          <p:cNvPr id="19" name="正方形/長方形 18">
            <a:extLst>
              <a:ext uri="{FF2B5EF4-FFF2-40B4-BE49-F238E27FC236}">
                <a16:creationId xmlns:a16="http://schemas.microsoft.com/office/drawing/2014/main" id="{B9FC0B25-D2BE-4394-A794-C776B80C2E5B}"/>
              </a:ext>
            </a:extLst>
          </p:cNvPr>
          <p:cNvSpPr>
            <a:spLocks noGrp="1"/>
          </p:cNvSpPr>
          <p:nvPr/>
        </p:nvSpPr>
        <p:spPr>
          <a:xfrm>
            <a:off x="8429625" y="1762125"/>
            <a:ext cx="1047750" cy="666750"/>
          </a:xfrm>
          <a:prstGeom prst="rect">
            <a:avLst/>
          </a:prstGeom>
          <a:noFill/>
          <a:ln w="0">
            <a:noFill/>
            <a:prstDash val="solid"/>
          </a:ln>
        </p:spPr>
        <p:txBody>
          <a:bodyPr lIns="0" tIns="0" rIns="0" bIns="0" anchor="t">
            <a:noAutofit/>
          </a:bodyPr>
          <a:lstStyle/>
          <a:p>
            <a:pPr algn="l">
              <a:buNone/>
              <a:defRPr sz="3900" b="1">
                <a:solidFill>
                  <a:srgbClr val="10B981"/>
                </a:solidFill>
                <a:latin typeface="Yu Gothic"/>
                <a:ea typeface="Yu Gothic"/>
                <a:cs typeface="Yu Gothic"/>
              </a:defRPr>
            </a:pPr>
            <a:r>
              <a:rPr sz="3900" b="1">
                <a:solidFill>
                  <a:srgbClr val="10B981"/>
                </a:solidFill>
                <a:latin typeface="Yu Gothic"/>
                <a:ea typeface="Yu Gothic"/>
                <a:cs typeface="Yu Gothic"/>
              </a:rPr>
              <a:t>03</a:t>
            </a:r>
          </a:p>
        </p:txBody>
      </p:sp>
      <p:sp>
        <p:nvSpPr>
          <p:cNvPr id="20" name="正方形/長方形 19">
            <a:extLst>
              <a:ext uri="{FF2B5EF4-FFF2-40B4-BE49-F238E27FC236}">
                <a16:creationId xmlns:a16="http://schemas.microsoft.com/office/drawing/2014/main" id="{948C1822-48A5-49B8-85AA-74473266740F}"/>
              </a:ext>
            </a:extLst>
          </p:cNvPr>
          <p:cNvSpPr>
            <a:spLocks noGrp="1"/>
          </p:cNvSpPr>
          <p:nvPr/>
        </p:nvSpPr>
        <p:spPr>
          <a:xfrm>
            <a:off x="8429625" y="2571750"/>
            <a:ext cx="3143250" cy="40005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対比の理解</a:t>
            </a:r>
          </a:p>
        </p:txBody>
      </p:sp>
      <p:sp>
        <p:nvSpPr>
          <p:cNvPr id="21" name="正方形/長方形 20">
            <a:extLst>
              <a:ext uri="{FF2B5EF4-FFF2-40B4-BE49-F238E27FC236}">
                <a16:creationId xmlns:a16="http://schemas.microsoft.com/office/drawing/2014/main" id="{5A735760-5097-40E0-9009-540F15BBC145}"/>
              </a:ext>
            </a:extLst>
          </p:cNvPr>
          <p:cNvSpPr>
            <a:spLocks noGrp="1"/>
          </p:cNvSpPr>
          <p:nvPr/>
        </p:nvSpPr>
        <p:spPr>
          <a:xfrm>
            <a:off x="8429625" y="3190875"/>
            <a:ext cx="3143250" cy="723900"/>
          </a:xfrm>
          <a:prstGeom prst="rect">
            <a:avLst/>
          </a:prstGeom>
          <a:noFill/>
          <a:ln w="0">
            <a:noFill/>
            <a:prstDash val="solid"/>
          </a:ln>
        </p:spPr>
        <p:txBody>
          <a:bodyPr lIns="0" tIns="0" rIns="0" bIns="0" anchor="t">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AとBの違いが</a:t>
            </a:r>
          </a:p>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伝わるか</a:t>
            </a:r>
          </a:p>
        </p:txBody>
      </p:sp>
      <p:cxnSp>
        <p:nvCxnSpPr>
          <p:cNvPr id="71" name="直線矢印コネクタ 48"/>
          <p:cNvCxnSpPr/>
          <p:nvPr/>
        </p:nvCxnSpPr>
        <p:spPr>
          <a:xfrm>
            <a:off x="8429625" y="4095750"/>
            <a:ext cx="2857500" cy="0"/>
          </a:xfrm>
          <a:prstGeom prst="straightConnector1">
            <a:avLst/>
          </a:prstGeom>
          <a:ln w="47625">
            <a:solidFill>
              <a:srgbClr val="10B981"/>
            </a:solidFill>
            <a:prstDash val="solid"/>
          </a:ln>
        </p:spPr>
      </p:cxnSp>
      <p:sp>
        <p:nvSpPr>
          <p:cNvPr id="23" name="正方形/長方形 22">
            <a:extLst>
              <a:ext uri="{FF2B5EF4-FFF2-40B4-BE49-F238E27FC236}">
                <a16:creationId xmlns:a16="http://schemas.microsoft.com/office/drawing/2014/main" id="{DEAADF44-4BBF-4D7D-A30A-0E05182A3F86}"/>
              </a:ext>
            </a:extLst>
          </p:cNvPr>
          <p:cNvSpPr>
            <a:spLocks noGrp="1"/>
          </p:cNvSpPr>
          <p:nvPr/>
        </p:nvSpPr>
        <p:spPr>
          <a:xfrm>
            <a:off x="8429625" y="4362450"/>
            <a:ext cx="952500" cy="266700"/>
          </a:xfrm>
          <a:prstGeom prst="rect">
            <a:avLst/>
          </a:prstGeom>
          <a:noFill/>
          <a:ln w="0">
            <a:noFill/>
            <a:prstDash val="solid"/>
          </a:ln>
        </p:spPr>
        <p:txBody>
          <a:bodyPr lIns="0" tIns="0" rIns="0" bIns="0" anchor="t">
            <a:noAutofit/>
          </a:bodyPr>
          <a:lstStyle/>
          <a:p>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24" name="正方形/長方形 23">
            <a:extLst>
              <a:ext uri="{FF2B5EF4-FFF2-40B4-BE49-F238E27FC236}">
                <a16:creationId xmlns:a16="http://schemas.microsoft.com/office/drawing/2014/main" id="{774215F6-B31D-45B0-8CB6-301A4AE7DD94}"/>
              </a:ext>
            </a:extLst>
          </p:cNvPr>
          <p:cNvSpPr>
            <a:spLocks noGrp="1"/>
          </p:cNvSpPr>
          <p:nvPr/>
        </p:nvSpPr>
        <p:spPr>
          <a:xfrm>
            <a:off x="8429625" y="4686300"/>
            <a:ext cx="2857500" cy="609600"/>
          </a:xfrm>
          <a:prstGeom prst="rect">
            <a:avLst/>
          </a:prstGeom>
          <a:noFill/>
          <a:ln w="0">
            <a:noFill/>
            <a:prstDash val="solid"/>
          </a:ln>
        </p:spPr>
        <p:txBody>
          <a:bodyPr lIns="0" tIns="0" rIns="0" bIns="0" anchor="t">
            <a:noAutofit/>
          </a:bodyPr>
          <a:lstStyle/>
          <a:p>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正答率・読解時間</a:t>
            </a:r>
          </a:p>
          <a:p>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主観評価</a:t>
            </a:r>
          </a:p>
        </p:txBody>
      </p:sp>
      <p:sp>
        <p:nvSpPr>
          <p:cNvPr id="25" name="正方形/長方形 24">
            <a:extLst>
              <a:ext uri="{FF2B5EF4-FFF2-40B4-BE49-F238E27FC236}">
                <a16:creationId xmlns:a16="http://schemas.microsoft.com/office/drawing/2014/main" id="{63213C25-13E5-4A9F-96F9-FE70978ED1FC}"/>
              </a:ext>
            </a:extLst>
          </p:cNvPr>
          <p:cNvSpPr>
            <a:spLocks noGrp="1"/>
          </p:cNvSpPr>
          <p:nvPr/>
        </p:nvSpPr>
        <p:spPr>
          <a:xfrm>
            <a:off x="666750" y="5572125"/>
            <a:ext cx="10858500" cy="628650"/>
          </a:xfrm>
          <a:prstGeom prst="rect">
            <a:avLst/>
          </a:prstGeom>
          <a:solidFill>
            <a:srgbClr val="2563EB"/>
          </a:solidFill>
          <a:ln w="0">
            <a:solidFill>
              <a:srgbClr val="2563EB"/>
            </a:solidFill>
            <a:prstDash val="solid"/>
          </a:ln>
        </p:spPr>
        <p:txBody>
          <a:bodyPr/>
          <a:lstStyle/>
          <a:p>
            <a:endParaRPr/>
          </a:p>
        </p:txBody>
      </p:sp>
      <p:sp>
        <p:nvSpPr>
          <p:cNvPr id="26" name="正方形/長方形 25">
            <a:extLst>
              <a:ext uri="{FF2B5EF4-FFF2-40B4-BE49-F238E27FC236}">
                <a16:creationId xmlns:a16="http://schemas.microsoft.com/office/drawing/2014/main" id="{1D39A03D-148E-4400-9982-C63EB8E2BD65}"/>
              </a:ext>
            </a:extLst>
          </p:cNvPr>
          <p:cNvSpPr>
            <a:spLocks noGrp="1"/>
          </p:cNvSpPr>
          <p:nvPr/>
        </p:nvSpPr>
        <p:spPr>
          <a:xfrm>
            <a:off x="1238250" y="5724525"/>
            <a:ext cx="9715500" cy="342900"/>
          </a:xfrm>
          <a:prstGeom prst="rect">
            <a:avLst/>
          </a:prstGeom>
          <a:noFill/>
          <a:ln w="0">
            <a:noFill/>
            <a:prstDash val="solid"/>
          </a:ln>
        </p:spPr>
        <p:txBody>
          <a:bodyPr lIns="0" tIns="0" rIns="0" bIns="0" anchor="t">
            <a:noAutofit/>
          </a:bodyPr>
          <a:lstStyle/>
          <a:p>
            <a:pPr algn="ctr">
              <a:buNone/>
              <a:defRPr sz="1950" b="1">
                <a:solidFill>
                  <a:srgbClr val="FFFFFF"/>
                </a:solidFill>
                <a:latin typeface="Yu Gothic"/>
                <a:ea typeface="Yu Gothic"/>
                <a:cs typeface="Yu Gothic"/>
              </a:defRPr>
            </a:pPr>
            <a:r>
              <a:rPr sz="1950" b="1">
                <a:solidFill>
                  <a:srgbClr val="FFFFFF"/>
                </a:solidFill>
                <a:latin typeface="Yu Gothic"/>
                <a:ea typeface="Yu Gothic"/>
                <a:cs typeface="Yu Gothic"/>
              </a:rPr>
              <a:t>改善したい性質を定めてから、手法と評価方法を選ぶ</a:t>
            </a:r>
          </a:p>
        </p:txBody>
      </p:sp>
      <p:sp>
        <p:nvSpPr>
          <p:cNvPr id="27" name="正方形/長方形 26">
            <a:extLst>
              <a:ext uri="{FF2B5EF4-FFF2-40B4-BE49-F238E27FC236}">
                <a16:creationId xmlns:a16="http://schemas.microsoft.com/office/drawing/2014/main" id="{63B7EAD6-A4B7-478C-B42D-7DB55549EC0C}"/>
              </a:ext>
            </a:extLst>
          </p:cNvPr>
          <p:cNvSpPr>
            <a:spLocks noGrp="1"/>
          </p:cNvSpPr>
          <p:nvPr/>
        </p:nvSpPr>
        <p:spPr>
          <a:xfrm>
            <a:off x="1666875" y="6334125"/>
            <a:ext cx="8858250" cy="247650"/>
          </a:xfrm>
          <a:prstGeom prst="rect">
            <a:avLst/>
          </a:prstGeom>
          <a:noFill/>
          <a:ln w="0">
            <a:noFill/>
            <a:prstDash val="solid"/>
          </a:ln>
        </p:spPr>
        <p:txBody>
          <a:bodyPr lIns="0" tIns="0" rIns="0" bIns="0" anchor="t">
            <a:noAutofit/>
          </a:bodyPr>
          <a:lstStyle/>
          <a:p>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LIMEの多クラス化で重要なのは、説明の数ではなくクラス間の関係の表し方</a:t>
            </a:r>
          </a:p>
        </p:txBody>
      </p:sp>
    </p:spTree>
    <p:extLst>
      <p:ext uri="{BB962C8B-B14F-4D97-AF65-F5344CB8AC3E}">
        <p14:creationId xmlns:p14="http://schemas.microsoft.com/office/powerpoint/2010/main" val="962546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正方形/長方形 39">
            <a:extLst>
              <a:ext uri="{FF2B5EF4-FFF2-40B4-BE49-F238E27FC236}">
                <a16:creationId xmlns:a16="http://schemas.microsoft.com/office/drawing/2014/main" id="{61750A94-AFA9-4E35-9D0C-8A96C0CA6F1B}"/>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7C245F74-AC33-40CD-A781-5D43396282C2}"/>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評価設計</a:t>
            </a:r>
          </a:p>
        </p:txBody>
      </p:sp>
      <p:sp>
        <p:nvSpPr>
          <p:cNvPr id="3" name="正方形/長方形 2">
            <a:extLst>
              <a:ext uri="{FF2B5EF4-FFF2-40B4-BE49-F238E27FC236}">
                <a16:creationId xmlns:a16="http://schemas.microsoft.com/office/drawing/2014/main" id="{1B768A37-AE6F-4BFD-870D-53A905FCF2B3}"/>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何を説明するかと、どの損失で当てはめるかを分けて比較</a:t>
            </a:r>
          </a:p>
        </p:txBody>
      </p:sp>
      <p:sp>
        <p:nvSpPr>
          <p:cNvPr id="4" name="正方形/長方形 3">
            <a:extLst>
              <a:ext uri="{FF2B5EF4-FFF2-40B4-BE49-F238E27FC236}">
                <a16:creationId xmlns:a16="http://schemas.microsoft.com/office/drawing/2014/main" id="{E51B7118-817D-4A45-B3D8-F06AE82923DB}"/>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11</a:t>
            </a:r>
          </a:p>
        </p:txBody>
      </p:sp>
      <p:sp>
        <p:nvSpPr>
          <p:cNvPr id="5" name="角丸四角形 4">
            <a:extLst>
              <a:ext uri="{FF2B5EF4-FFF2-40B4-BE49-F238E27FC236}">
                <a16:creationId xmlns:a16="http://schemas.microsoft.com/office/drawing/2014/main" id="{1EE105C5-541F-41E8-AD16-2DD9AD6A198C}"/>
              </a:ext>
            </a:extLst>
          </p:cNvPr>
          <p:cNvSpPr>
            <a:spLocks noGrp="1"/>
          </p:cNvSpPr>
          <p:nvPr/>
        </p:nvSpPr>
        <p:spPr>
          <a:xfrm>
            <a:off x="762000" y="1057275"/>
            <a:ext cx="10668000" cy="238125"/>
          </a:xfrm>
          <a:prstGeom prst="roundRect">
            <a:avLst>
              <a:gd name="adj" fmla="val 32000"/>
            </a:avLst>
          </a:prstGeom>
          <a:solidFill>
            <a:srgbClr val="EAF4FB"/>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C59A7331-8528-42AB-9FAE-9C1E4B1BA49A}"/>
              </a:ext>
            </a:extLst>
          </p:cNvPr>
          <p:cNvSpPr>
            <a:spLocks noGrp="1"/>
          </p:cNvSpPr>
          <p:nvPr/>
        </p:nvSpPr>
        <p:spPr>
          <a:xfrm>
            <a:off x="914400" y="1066800"/>
            <a:ext cx="10363200" cy="209550"/>
          </a:xfrm>
          <a:prstGeom prst="rect">
            <a:avLst/>
          </a:prstGeom>
          <a:noFill/>
          <a:ln w="0">
            <a:noFill/>
          </a:ln>
        </p:spPr>
        <p:txBody>
          <a:bodyPr anchor="ctr">
            <a:normAutofit fontScale="68889"/>
          </a:bodyPr>
          <a:lstStyle/>
          <a:p>
            <a:pPr algn="ctr">
              <a:defRPr sz="1125" b="1">
                <a:solidFill>
                  <a:srgbClr val="1479C9"/>
                </a:solidFill>
                <a:latin typeface="YuGothic"/>
                <a:ea typeface="YuGothic"/>
                <a:cs typeface="YuGothic"/>
              </a:defRPr>
            </a:pPr>
            <a:r>
              <a:rPr sz="1125" b="1">
                <a:solidFill>
                  <a:srgbClr val="1479C9"/>
                </a:solidFill>
                <a:latin typeface="YuGothic"/>
                <a:ea typeface="YuGothic"/>
                <a:cs typeface="YuGothic"/>
              </a:rPr>
              <a:t>このスライドの主張：同じ説明予算で比べることで、『2クラスに絞る効果』と『回帰方法の効果』を分離する</a:t>
            </a:r>
          </a:p>
        </p:txBody>
      </p:sp>
      <p:sp>
        <p:nvSpPr>
          <p:cNvPr id="7" name="角丸四角形 6">
            <a:extLst>
              <a:ext uri="{FF2B5EF4-FFF2-40B4-BE49-F238E27FC236}">
                <a16:creationId xmlns:a16="http://schemas.microsoft.com/office/drawing/2014/main" id="{22B3F06B-2EC8-41C5-8C39-C06BA03DC459}"/>
              </a:ext>
            </a:extLst>
          </p:cNvPr>
          <p:cNvSpPr>
            <a:spLocks noGrp="1"/>
          </p:cNvSpPr>
          <p:nvPr/>
        </p:nvSpPr>
        <p:spPr>
          <a:xfrm>
            <a:off x="590550" y="1276350"/>
            <a:ext cx="3524250" cy="3143250"/>
          </a:xfrm>
          <a:prstGeom prst="roundRect">
            <a:avLst>
              <a:gd name="adj" fmla="val 2424"/>
            </a:avLst>
          </a:prstGeom>
          <a:solidFill>
            <a:srgbClr val="F7F9FC"/>
          </a:solidFill>
          <a:ln w="9525">
            <a:solidFill>
              <a:srgbClr val="E7EBF0"/>
            </a:solidFill>
          </a:ln>
        </p:spPr>
        <p:txBody>
          <a:bodyPr/>
          <a:lstStyle/>
          <a:p>
            <a:endParaRPr lang="ja-JP" altLang="en-US"/>
          </a:p>
        </p:txBody>
      </p:sp>
      <p:sp>
        <p:nvSpPr>
          <p:cNvPr id="8" name="角丸四角形 7">
            <a:extLst>
              <a:ext uri="{FF2B5EF4-FFF2-40B4-BE49-F238E27FC236}">
                <a16:creationId xmlns:a16="http://schemas.microsoft.com/office/drawing/2014/main" id="{1226CB3E-DCD9-4D3C-83FC-FF7EE23ACD32}"/>
              </a:ext>
            </a:extLst>
          </p:cNvPr>
          <p:cNvSpPr>
            <a:spLocks noGrp="1"/>
          </p:cNvSpPr>
          <p:nvPr/>
        </p:nvSpPr>
        <p:spPr>
          <a:xfrm>
            <a:off x="895350" y="1485900"/>
            <a:ext cx="2857500" cy="304800"/>
          </a:xfrm>
          <a:prstGeom prst="roundRect">
            <a:avLst>
              <a:gd name="adj" fmla="val 25000"/>
            </a:avLst>
          </a:prstGeom>
          <a:solidFill>
            <a:srgbClr val="687386"/>
          </a:solidFill>
          <a:ln w="0">
            <a:noFill/>
          </a:ln>
        </p:spPr>
        <p:txBody>
          <a:bodyPr/>
          <a:lstStyle/>
          <a:p>
            <a:endParaRPr lang="ja-JP" altLang="en-US"/>
          </a:p>
        </p:txBody>
      </p:sp>
      <p:sp>
        <p:nvSpPr>
          <p:cNvPr id="9" name="正方形/長方形 8">
            <a:extLst>
              <a:ext uri="{FF2B5EF4-FFF2-40B4-BE49-F238E27FC236}">
                <a16:creationId xmlns:a16="http://schemas.microsoft.com/office/drawing/2014/main" id="{6B46CD86-A7A2-46B3-B39D-505A7B96301C}"/>
              </a:ext>
            </a:extLst>
          </p:cNvPr>
          <p:cNvSpPr>
            <a:spLocks noGrp="1"/>
          </p:cNvSpPr>
          <p:nvPr/>
        </p:nvSpPr>
        <p:spPr>
          <a:xfrm>
            <a:off x="990600" y="1495425"/>
            <a:ext cx="2667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従来：One-vs-Rest</a:t>
            </a:r>
          </a:p>
        </p:txBody>
      </p:sp>
      <p:sp>
        <p:nvSpPr>
          <p:cNvPr id="10" name="正方形/長方形 9">
            <a:extLst>
              <a:ext uri="{FF2B5EF4-FFF2-40B4-BE49-F238E27FC236}">
                <a16:creationId xmlns:a16="http://schemas.microsoft.com/office/drawing/2014/main" id="{279F41B6-6F75-445B-A69B-79C79400B21E}"/>
              </a:ext>
            </a:extLst>
          </p:cNvPr>
          <p:cNvSpPr>
            <a:spLocks noGrp="1"/>
          </p:cNvSpPr>
          <p:nvPr/>
        </p:nvSpPr>
        <p:spPr>
          <a:xfrm>
            <a:off x="876300" y="1981200"/>
            <a:ext cx="2952750" cy="333375"/>
          </a:xfrm>
          <a:prstGeom prst="rect">
            <a:avLst/>
          </a:prstGeom>
          <a:noFill/>
          <a:ln w="0">
            <a:noFill/>
          </a:ln>
        </p:spPr>
        <p:txBody>
          <a:bodyPr anchor="ctr">
            <a:normAutofit/>
          </a:bodyPr>
          <a:lstStyle/>
          <a:p>
            <a:pPr algn="ctr">
              <a:defRPr sz="1575" b="1">
                <a:solidFill>
                  <a:srgbClr val="17233D"/>
                </a:solidFill>
                <a:latin typeface="YuGothic"/>
                <a:ea typeface="YuGothic"/>
                <a:cs typeface="YuGothic"/>
              </a:defRPr>
            </a:pPr>
            <a:r>
              <a:rPr sz="1575" b="1">
                <a:solidFill>
                  <a:srgbClr val="17233D"/>
                </a:solidFill>
                <a:latin typeface="YuGothic"/>
                <a:ea typeface="YuGothic"/>
                <a:cs typeface="YuGothic"/>
              </a:rPr>
              <a:t>各クラス対残りを別々に回帰</a:t>
            </a:r>
          </a:p>
        </p:txBody>
      </p:sp>
      <p:sp>
        <p:nvSpPr>
          <p:cNvPr id="11" name="正方形/長方形 10">
            <a:extLst>
              <a:ext uri="{FF2B5EF4-FFF2-40B4-BE49-F238E27FC236}">
                <a16:creationId xmlns:a16="http://schemas.microsoft.com/office/drawing/2014/main" id="{AD232886-EC4D-49BD-A5E6-7110B943F233}"/>
              </a:ext>
            </a:extLst>
          </p:cNvPr>
          <p:cNvSpPr>
            <a:spLocks noGrp="1"/>
          </p:cNvSpPr>
          <p:nvPr/>
        </p:nvSpPr>
        <p:spPr>
          <a:xfrm>
            <a:off x="1104900" y="2438400"/>
            <a:ext cx="2524125" cy="685800"/>
          </a:xfrm>
          <a:prstGeom prst="rect">
            <a:avLst/>
          </a:prstGeom>
          <a:noFill/>
          <a:ln w="0">
            <a:noFill/>
          </a:ln>
        </p:spPr>
        <p:txBody>
          <a:bodyPr anchor="ctr">
            <a:normAutofit/>
          </a:bodyPr>
          <a:lstStyle/>
          <a:p>
            <a:pPr algn="ctr">
              <a:defRPr sz="1875" b="0">
                <a:solidFill>
                  <a:srgbClr val="17233D"/>
                </a:solidFill>
                <a:latin typeface="YuGothic"/>
                <a:ea typeface="YuGothic"/>
                <a:cs typeface="YuGothic"/>
              </a:defRPr>
            </a:pPr>
            <a:r>
              <a:rPr sz="1875" b="0">
                <a:solidFill>
                  <a:srgbClr val="17233D"/>
                </a:solidFill>
                <a:latin typeface="YuGothic"/>
                <a:ea typeface="YuGothic"/>
                <a:cs typeface="YuGothic"/>
              </a:rPr>
              <a:t>p₁(z) ≈ f₁(z)</a:t>
            </a:r>
          </a:p>
          <a:p>
            <a:pPr algn="ctr">
              <a:defRPr sz="1875" b="0">
                <a:solidFill>
                  <a:srgbClr val="17233D"/>
                </a:solidFill>
                <a:latin typeface="YuGothic"/>
                <a:ea typeface="YuGothic"/>
                <a:cs typeface="YuGothic"/>
              </a:defRPr>
            </a:pPr>
            <a:r>
              <a:rPr sz="1875" b="0">
                <a:solidFill>
                  <a:srgbClr val="17233D"/>
                </a:solidFill>
                <a:latin typeface="YuGothic"/>
                <a:ea typeface="YuGothic"/>
                <a:cs typeface="YuGothic"/>
              </a:rPr>
              <a:t>p₂(z) ≈ f₂(z)</a:t>
            </a:r>
          </a:p>
        </p:txBody>
      </p:sp>
      <p:sp>
        <p:nvSpPr>
          <p:cNvPr id="12" name="正方形/長方形 11">
            <a:extLst>
              <a:ext uri="{FF2B5EF4-FFF2-40B4-BE49-F238E27FC236}">
                <a16:creationId xmlns:a16="http://schemas.microsoft.com/office/drawing/2014/main" id="{6FA6196A-64CC-454F-B74D-D5DBEF95BB97}"/>
              </a:ext>
            </a:extLst>
          </p:cNvPr>
          <p:cNvSpPr>
            <a:spLocks noGrp="1"/>
          </p:cNvSpPr>
          <p:nvPr/>
        </p:nvSpPr>
        <p:spPr>
          <a:xfrm>
            <a:off x="895350" y="3371850"/>
            <a:ext cx="2914650" cy="590550"/>
          </a:xfrm>
          <a:prstGeom prst="rect">
            <a:avLst/>
          </a:prstGeom>
          <a:noFill/>
          <a:ln w="0">
            <a:noFill/>
          </a:ln>
        </p:spPr>
        <p:txBody>
          <a:bodyPr anchor="ctr">
            <a:normAutofit/>
          </a:bodyPr>
          <a:lstStyle/>
          <a:p>
            <a:pPr algn="ctr">
              <a:defRPr sz="1425" b="0">
                <a:solidFill>
                  <a:srgbClr val="687386"/>
                </a:solidFill>
                <a:latin typeface="YuGothic"/>
                <a:ea typeface="YuGothic"/>
                <a:cs typeface="YuGothic"/>
              </a:defRPr>
            </a:pPr>
            <a:r>
              <a:rPr sz="1425" b="0">
                <a:solidFill>
                  <a:srgbClr val="687386"/>
                </a:solidFill>
                <a:latin typeface="YuGothic"/>
                <a:ea typeface="YuGothic"/>
                <a:cs typeface="YuGothic"/>
              </a:rPr>
              <a:t>最後に f₁ − f₂ で</a:t>
            </a:r>
          </a:p>
          <a:p>
            <a:pPr algn="ctr">
              <a:defRPr sz="1425" b="0">
                <a:solidFill>
                  <a:srgbClr val="687386"/>
                </a:solidFill>
                <a:latin typeface="YuGothic"/>
                <a:ea typeface="YuGothic"/>
                <a:cs typeface="YuGothic"/>
              </a:defRPr>
            </a:pPr>
            <a:r>
              <a:rPr sz="1425" b="0">
                <a:solidFill>
                  <a:srgbClr val="687386"/>
                </a:solidFill>
                <a:latin typeface="YuGothic"/>
                <a:ea typeface="YuGothic"/>
                <a:cs typeface="YuGothic"/>
              </a:rPr>
              <a:t>競合2クラスの方向を作る</a:t>
            </a:r>
          </a:p>
        </p:txBody>
      </p:sp>
      <p:sp>
        <p:nvSpPr>
          <p:cNvPr id="13" name="正方形/長方形 12">
            <a:extLst>
              <a:ext uri="{FF2B5EF4-FFF2-40B4-BE49-F238E27FC236}">
                <a16:creationId xmlns:a16="http://schemas.microsoft.com/office/drawing/2014/main" id="{4D23F854-539F-4E6F-958F-2C55B8E6DBC2}"/>
              </a:ext>
            </a:extLst>
          </p:cNvPr>
          <p:cNvSpPr>
            <a:spLocks noGrp="1"/>
          </p:cNvSpPr>
          <p:nvPr/>
        </p:nvSpPr>
        <p:spPr>
          <a:xfrm>
            <a:off x="4210050" y="2571750"/>
            <a:ext cx="428625" cy="476250"/>
          </a:xfrm>
          <a:prstGeom prst="rect">
            <a:avLst/>
          </a:prstGeom>
          <a:noFill/>
          <a:ln w="0">
            <a:noFill/>
          </a:ln>
        </p:spPr>
        <p:txBody>
          <a:bodyPr anchor="ctr">
            <a:normAutofit fontScale="71512"/>
          </a:bodyPr>
          <a:lstStyle/>
          <a:p>
            <a:pPr algn="ctr">
              <a:defRPr sz="2700" b="1">
                <a:solidFill>
                  <a:srgbClr val="1479C9"/>
                </a:solidFill>
                <a:latin typeface="YuGothic"/>
                <a:ea typeface="YuGothic"/>
                <a:cs typeface="YuGothic"/>
              </a:defRPr>
            </a:pPr>
            <a:r>
              <a:rPr sz="2700" b="1">
                <a:solidFill>
                  <a:srgbClr val="1479C9"/>
                </a:solidFill>
                <a:latin typeface="YuGothic"/>
                <a:ea typeface="YuGothic"/>
                <a:cs typeface="YuGothic"/>
              </a:rPr>
              <a:t>→</a:t>
            </a:r>
          </a:p>
        </p:txBody>
      </p:sp>
      <p:sp>
        <p:nvSpPr>
          <p:cNvPr id="14" name="角丸四角形 13">
            <a:extLst>
              <a:ext uri="{FF2B5EF4-FFF2-40B4-BE49-F238E27FC236}">
                <a16:creationId xmlns:a16="http://schemas.microsoft.com/office/drawing/2014/main" id="{80647419-81E4-4CC7-90F6-D5D7BE9B8245}"/>
              </a:ext>
            </a:extLst>
          </p:cNvPr>
          <p:cNvSpPr>
            <a:spLocks noGrp="1"/>
          </p:cNvSpPr>
          <p:nvPr/>
        </p:nvSpPr>
        <p:spPr>
          <a:xfrm>
            <a:off x="4686300" y="1276350"/>
            <a:ext cx="6915150" cy="3143250"/>
          </a:xfrm>
          <a:prstGeom prst="roundRect">
            <a:avLst>
              <a:gd name="adj" fmla="val 2424"/>
            </a:avLst>
          </a:prstGeom>
          <a:solidFill>
            <a:srgbClr val="EAF4FB"/>
          </a:solidFill>
          <a:ln w="9525">
            <a:solidFill>
              <a:srgbClr val="1479C9"/>
            </a:solidFill>
          </a:ln>
        </p:spPr>
        <p:txBody>
          <a:bodyPr/>
          <a:lstStyle/>
          <a:p>
            <a:endParaRPr lang="ja-JP" altLang="en-US"/>
          </a:p>
        </p:txBody>
      </p:sp>
      <p:sp>
        <p:nvSpPr>
          <p:cNvPr id="15" name="角丸四角形 14">
            <a:extLst>
              <a:ext uri="{FF2B5EF4-FFF2-40B4-BE49-F238E27FC236}">
                <a16:creationId xmlns:a16="http://schemas.microsoft.com/office/drawing/2014/main" id="{A745118E-1E3C-4D9F-9B7C-0819033578CE}"/>
              </a:ext>
            </a:extLst>
          </p:cNvPr>
          <p:cNvSpPr>
            <a:spLocks noGrp="1"/>
          </p:cNvSpPr>
          <p:nvPr/>
        </p:nvSpPr>
        <p:spPr>
          <a:xfrm>
            <a:off x="6381750" y="1485900"/>
            <a:ext cx="3524250" cy="304800"/>
          </a:xfrm>
          <a:prstGeom prst="roundRect">
            <a:avLst>
              <a:gd name="adj" fmla="val 25000"/>
            </a:avLst>
          </a:prstGeom>
          <a:solidFill>
            <a:srgbClr val="1479C9"/>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F9106492-3A51-4743-8FA2-E583791118C9}"/>
              </a:ext>
            </a:extLst>
          </p:cNvPr>
          <p:cNvSpPr>
            <a:spLocks noGrp="1"/>
          </p:cNvSpPr>
          <p:nvPr/>
        </p:nvSpPr>
        <p:spPr>
          <a:xfrm>
            <a:off x="6477000" y="1495425"/>
            <a:ext cx="33337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提案の枠組み：Top-1 vs Top-2</a:t>
            </a:r>
          </a:p>
        </p:txBody>
      </p:sp>
      <p:sp>
        <p:nvSpPr>
          <p:cNvPr id="17" name="正方形/長方形 16">
            <a:extLst>
              <a:ext uri="{FF2B5EF4-FFF2-40B4-BE49-F238E27FC236}">
                <a16:creationId xmlns:a16="http://schemas.microsoft.com/office/drawing/2014/main" id="{EC29C50C-EC60-4840-A8EC-17A03DBEBDF6}"/>
              </a:ext>
            </a:extLst>
          </p:cNvPr>
          <p:cNvSpPr>
            <a:spLocks noGrp="1"/>
          </p:cNvSpPr>
          <p:nvPr/>
        </p:nvSpPr>
        <p:spPr>
          <a:xfrm>
            <a:off x="5638800" y="2019300"/>
            <a:ext cx="5010150" cy="428625"/>
          </a:xfrm>
          <a:prstGeom prst="rect">
            <a:avLst/>
          </a:prstGeom>
          <a:noFill/>
          <a:ln w="0">
            <a:noFill/>
          </a:ln>
        </p:spPr>
        <p:txBody>
          <a:bodyPr anchor="ctr">
            <a:normAutofit/>
          </a:bodyPr>
          <a:lstStyle/>
          <a:p>
            <a:pPr algn="ctr">
              <a:defRPr sz="1875" b="1">
                <a:solidFill>
                  <a:srgbClr val="17233D"/>
                </a:solidFill>
                <a:latin typeface="YuGothic"/>
                <a:ea typeface="YuGothic"/>
                <a:cs typeface="YuGothic"/>
              </a:defRPr>
            </a:pPr>
            <a:r>
              <a:rPr sz="1875" b="1">
                <a:solidFill>
                  <a:srgbClr val="17233D"/>
                </a:solidFill>
                <a:latin typeface="YuGothic"/>
                <a:ea typeface="YuGothic"/>
                <a:cs typeface="YuGothic"/>
              </a:rPr>
              <a:t>q(z) = p₁(z) / {p₁(z)+p₂(z)}</a:t>
            </a:r>
          </a:p>
        </p:txBody>
      </p:sp>
      <p:sp>
        <p:nvSpPr>
          <p:cNvPr id="18" name="角丸四角形 17">
            <a:extLst>
              <a:ext uri="{FF2B5EF4-FFF2-40B4-BE49-F238E27FC236}">
                <a16:creationId xmlns:a16="http://schemas.microsoft.com/office/drawing/2014/main" id="{232729DF-C9A0-4A8C-8E76-84F9D0391F35}"/>
              </a:ext>
            </a:extLst>
          </p:cNvPr>
          <p:cNvSpPr>
            <a:spLocks noGrp="1"/>
          </p:cNvSpPr>
          <p:nvPr/>
        </p:nvSpPr>
        <p:spPr>
          <a:xfrm>
            <a:off x="5010150" y="2724150"/>
            <a:ext cx="1905000" cy="1162050"/>
          </a:xfrm>
          <a:prstGeom prst="roundRect">
            <a:avLst>
              <a:gd name="adj" fmla="val 6557"/>
            </a:avLst>
          </a:prstGeom>
          <a:solidFill>
            <a:srgbClr val="FFFFFF"/>
          </a:solidFill>
          <a:ln w="9525">
            <a:solidFill>
              <a:srgbClr val="2AA876"/>
            </a:solidFill>
          </a:ln>
        </p:spPr>
        <p:txBody>
          <a:bodyPr/>
          <a:lstStyle/>
          <a:p>
            <a:endParaRPr lang="ja-JP" altLang="en-US"/>
          </a:p>
        </p:txBody>
      </p:sp>
      <p:sp>
        <p:nvSpPr>
          <p:cNvPr id="19" name="正方形/長方形 18">
            <a:extLst>
              <a:ext uri="{FF2B5EF4-FFF2-40B4-BE49-F238E27FC236}">
                <a16:creationId xmlns:a16="http://schemas.microsoft.com/office/drawing/2014/main" id="{6053D865-3705-4F07-A3A3-6B01D3B8A12B}"/>
              </a:ext>
            </a:extLst>
          </p:cNvPr>
          <p:cNvSpPr>
            <a:spLocks noGrp="1"/>
          </p:cNvSpPr>
          <p:nvPr/>
        </p:nvSpPr>
        <p:spPr>
          <a:xfrm>
            <a:off x="5124450" y="2857500"/>
            <a:ext cx="1676400" cy="304800"/>
          </a:xfrm>
          <a:prstGeom prst="rect">
            <a:avLst/>
          </a:prstGeom>
          <a:noFill/>
          <a:ln w="0">
            <a:noFill/>
          </a:ln>
        </p:spPr>
        <p:txBody>
          <a:bodyPr anchor="ctr">
            <a:normAutofit/>
          </a:bodyPr>
          <a:lstStyle/>
          <a:p>
            <a:pPr algn="ctr">
              <a:defRPr sz="1350" b="1">
                <a:solidFill>
                  <a:srgbClr val="2AA876"/>
                </a:solidFill>
                <a:latin typeface="YuGothic"/>
                <a:ea typeface="YuGothic"/>
                <a:cs typeface="YuGothic"/>
              </a:defRPr>
            </a:pPr>
            <a:r>
              <a:rPr sz="1350" b="1">
                <a:solidFill>
                  <a:srgbClr val="2AA876"/>
                </a:solidFill>
                <a:latin typeface="YuGothic"/>
                <a:ea typeface="YuGothic"/>
                <a:cs typeface="YuGothic"/>
              </a:rPr>
              <a:t>2クラスLIME</a:t>
            </a:r>
          </a:p>
        </p:txBody>
      </p:sp>
      <p:sp>
        <p:nvSpPr>
          <p:cNvPr id="20" name="正方形/長方形 19">
            <a:extLst>
              <a:ext uri="{FF2B5EF4-FFF2-40B4-BE49-F238E27FC236}">
                <a16:creationId xmlns:a16="http://schemas.microsoft.com/office/drawing/2014/main" id="{03CDF634-399E-4245-9485-131A7D29E0FB}"/>
              </a:ext>
            </a:extLst>
          </p:cNvPr>
          <p:cNvSpPr>
            <a:spLocks noGrp="1"/>
          </p:cNvSpPr>
          <p:nvPr/>
        </p:nvSpPr>
        <p:spPr>
          <a:xfrm>
            <a:off x="5143500" y="3238500"/>
            <a:ext cx="1638300" cy="457200"/>
          </a:xfrm>
          <a:prstGeom prst="rect">
            <a:avLst/>
          </a:prstGeom>
          <a:noFill/>
          <a:ln w="0">
            <a:noFill/>
          </a:ln>
        </p:spPr>
        <p:txBody>
          <a:bodyPr anchor="ctr">
            <a:normAutofit/>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q を Ridge 回帰</a:t>
            </a:r>
          </a:p>
        </p:txBody>
      </p:sp>
      <p:sp>
        <p:nvSpPr>
          <p:cNvPr id="21" name="角丸四角形 20">
            <a:extLst>
              <a:ext uri="{FF2B5EF4-FFF2-40B4-BE49-F238E27FC236}">
                <a16:creationId xmlns:a16="http://schemas.microsoft.com/office/drawing/2014/main" id="{27E5D774-7CE1-445A-9B53-9D9C3971845D}"/>
              </a:ext>
            </a:extLst>
          </p:cNvPr>
          <p:cNvSpPr>
            <a:spLocks noGrp="1"/>
          </p:cNvSpPr>
          <p:nvPr/>
        </p:nvSpPr>
        <p:spPr>
          <a:xfrm>
            <a:off x="7124700" y="2724150"/>
            <a:ext cx="1905000" cy="1162050"/>
          </a:xfrm>
          <a:prstGeom prst="roundRect">
            <a:avLst>
              <a:gd name="adj" fmla="val 6557"/>
            </a:avLst>
          </a:prstGeom>
          <a:solidFill>
            <a:srgbClr val="FFFFFF"/>
          </a:solidFill>
          <a:ln w="9525">
            <a:solidFill>
              <a:srgbClr val="F28C28"/>
            </a:solidFill>
          </a:ln>
        </p:spPr>
        <p:txBody>
          <a:bodyPr/>
          <a:lstStyle/>
          <a:p>
            <a:endParaRPr lang="ja-JP" altLang="en-US"/>
          </a:p>
        </p:txBody>
      </p:sp>
      <p:sp>
        <p:nvSpPr>
          <p:cNvPr id="22" name="正方形/長方形 21">
            <a:extLst>
              <a:ext uri="{FF2B5EF4-FFF2-40B4-BE49-F238E27FC236}">
                <a16:creationId xmlns:a16="http://schemas.microsoft.com/office/drawing/2014/main" id="{B320209C-8DA8-4CBF-B21B-A6F0904BD235}"/>
              </a:ext>
            </a:extLst>
          </p:cNvPr>
          <p:cNvSpPr>
            <a:spLocks noGrp="1"/>
          </p:cNvSpPr>
          <p:nvPr/>
        </p:nvSpPr>
        <p:spPr>
          <a:xfrm>
            <a:off x="7239000" y="2857500"/>
            <a:ext cx="1676400" cy="304800"/>
          </a:xfrm>
          <a:prstGeom prst="rect">
            <a:avLst/>
          </a:prstGeom>
          <a:noFill/>
          <a:ln w="0">
            <a:noFill/>
          </a:ln>
        </p:spPr>
        <p:txBody>
          <a:bodyPr anchor="ctr">
            <a:normAutofit/>
          </a:bodyPr>
          <a:lstStyle/>
          <a:p>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Contrastive</a:t>
            </a:r>
          </a:p>
        </p:txBody>
      </p:sp>
      <p:sp>
        <p:nvSpPr>
          <p:cNvPr id="23" name="正方形/長方形 22">
            <a:extLst>
              <a:ext uri="{FF2B5EF4-FFF2-40B4-BE49-F238E27FC236}">
                <a16:creationId xmlns:a16="http://schemas.microsoft.com/office/drawing/2014/main" id="{E88AAE22-D01A-4A68-8F6C-E3D58E693196}"/>
              </a:ext>
            </a:extLst>
          </p:cNvPr>
          <p:cNvSpPr>
            <a:spLocks noGrp="1"/>
          </p:cNvSpPr>
          <p:nvPr/>
        </p:nvSpPr>
        <p:spPr>
          <a:xfrm>
            <a:off x="7258050" y="3238500"/>
            <a:ext cx="1638300" cy="457200"/>
          </a:xfrm>
          <a:prstGeom prst="rect">
            <a:avLst/>
          </a:prstGeom>
          <a:noFill/>
          <a:ln w="0">
            <a:noFill/>
          </a:ln>
        </p:spPr>
        <p:txBody>
          <a:bodyPr anchor="ctr">
            <a:normAutofit/>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log(p₁/p₂) を Ridge 回帰</a:t>
            </a:r>
          </a:p>
        </p:txBody>
      </p:sp>
      <p:sp>
        <p:nvSpPr>
          <p:cNvPr id="24" name="角丸四角形 23">
            <a:extLst>
              <a:ext uri="{FF2B5EF4-FFF2-40B4-BE49-F238E27FC236}">
                <a16:creationId xmlns:a16="http://schemas.microsoft.com/office/drawing/2014/main" id="{0CD53114-6ADE-4B17-B753-3A194B8F63B9}"/>
              </a:ext>
            </a:extLst>
          </p:cNvPr>
          <p:cNvSpPr>
            <a:spLocks noGrp="1"/>
          </p:cNvSpPr>
          <p:nvPr/>
        </p:nvSpPr>
        <p:spPr>
          <a:xfrm>
            <a:off x="9239250" y="2724150"/>
            <a:ext cx="1905000" cy="1162050"/>
          </a:xfrm>
          <a:prstGeom prst="roundRect">
            <a:avLst>
              <a:gd name="adj" fmla="val 6557"/>
            </a:avLst>
          </a:prstGeom>
          <a:solidFill>
            <a:srgbClr val="FFFFFF"/>
          </a:solidFill>
          <a:ln w="9525">
            <a:solidFill>
              <a:srgbClr val="7B61A8"/>
            </a:solidFill>
          </a:ln>
        </p:spPr>
        <p:txBody>
          <a:bodyPr/>
          <a:lstStyle/>
          <a:p>
            <a:endParaRPr lang="ja-JP" altLang="en-US"/>
          </a:p>
        </p:txBody>
      </p:sp>
      <p:sp>
        <p:nvSpPr>
          <p:cNvPr id="25" name="正方形/長方形 24">
            <a:extLst>
              <a:ext uri="{FF2B5EF4-FFF2-40B4-BE49-F238E27FC236}">
                <a16:creationId xmlns:a16="http://schemas.microsoft.com/office/drawing/2014/main" id="{F9F819CA-B418-4494-9B79-3B02210DCF50}"/>
              </a:ext>
            </a:extLst>
          </p:cNvPr>
          <p:cNvSpPr>
            <a:spLocks noGrp="1"/>
          </p:cNvSpPr>
          <p:nvPr/>
        </p:nvSpPr>
        <p:spPr>
          <a:xfrm>
            <a:off x="9353550" y="2857500"/>
            <a:ext cx="1676400" cy="304800"/>
          </a:xfrm>
          <a:prstGeom prst="rect">
            <a:avLst/>
          </a:prstGeom>
          <a:noFill/>
          <a:ln w="0">
            <a:noFill/>
          </a:ln>
        </p:spPr>
        <p:txBody>
          <a:bodyPr anchor="ctr">
            <a:normAutofit/>
          </a:bodyPr>
          <a:lstStyle/>
          <a:p>
            <a:pPr algn="ctr">
              <a:defRPr sz="1350" b="1">
                <a:solidFill>
                  <a:srgbClr val="7B61A8"/>
                </a:solidFill>
                <a:latin typeface="YuGothic"/>
                <a:ea typeface="YuGothic"/>
                <a:cs typeface="YuGothic"/>
              </a:defRPr>
            </a:pPr>
            <a:r>
              <a:rPr sz="1350" b="1">
                <a:solidFill>
                  <a:srgbClr val="7B61A8"/>
                </a:solidFill>
                <a:latin typeface="YuGothic"/>
                <a:ea typeface="YuGothic"/>
                <a:cs typeface="YuGothic"/>
              </a:rPr>
              <a:t>OVO Logistic</a:t>
            </a:r>
          </a:p>
        </p:txBody>
      </p:sp>
      <p:sp>
        <p:nvSpPr>
          <p:cNvPr id="26" name="正方形/長方形 25">
            <a:extLst>
              <a:ext uri="{FF2B5EF4-FFF2-40B4-BE49-F238E27FC236}">
                <a16:creationId xmlns:a16="http://schemas.microsoft.com/office/drawing/2014/main" id="{63832C04-9F1B-41BE-AAE8-AE602FC28097}"/>
              </a:ext>
            </a:extLst>
          </p:cNvPr>
          <p:cNvSpPr>
            <a:spLocks noGrp="1"/>
          </p:cNvSpPr>
          <p:nvPr/>
        </p:nvSpPr>
        <p:spPr>
          <a:xfrm>
            <a:off x="9372600" y="3238500"/>
            <a:ext cx="1638300" cy="457200"/>
          </a:xfrm>
          <a:prstGeom prst="rect">
            <a:avLst/>
          </a:prstGeom>
          <a:noFill/>
          <a:ln w="0">
            <a:noFill/>
          </a:ln>
        </p:spPr>
        <p:txBody>
          <a:bodyPr anchor="ctr">
            <a:normAutofit fontScale="80703"/>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q を交差エントロピーで回帰</a:t>
            </a:r>
          </a:p>
        </p:txBody>
      </p:sp>
      <p:sp>
        <p:nvSpPr>
          <p:cNvPr id="27" name="正方形/長方形 26">
            <a:extLst>
              <a:ext uri="{FF2B5EF4-FFF2-40B4-BE49-F238E27FC236}">
                <a16:creationId xmlns:a16="http://schemas.microsoft.com/office/drawing/2014/main" id="{204B05EA-73B7-4729-BB27-2EF0DFA1D259}"/>
              </a:ext>
            </a:extLst>
          </p:cNvPr>
          <p:cNvSpPr>
            <a:spLocks noGrp="1"/>
          </p:cNvSpPr>
          <p:nvPr/>
        </p:nvSpPr>
        <p:spPr>
          <a:xfrm>
            <a:off x="647700" y="4695825"/>
            <a:ext cx="1466850" cy="323850"/>
          </a:xfrm>
          <a:prstGeom prst="rect">
            <a:avLst/>
          </a:prstGeom>
          <a:noFill/>
          <a:ln w="0">
            <a:noFill/>
          </a:ln>
        </p:spPr>
        <p:txBody>
          <a:bodyPr anchor="ctr">
            <a:normAutofit fontScale="92424"/>
          </a:bodyPr>
          <a:lstStyle/>
          <a:p>
            <a:pPr algn="l">
              <a:defRPr sz="1650" b="1">
                <a:solidFill>
                  <a:srgbClr val="1479C9"/>
                </a:solidFill>
                <a:latin typeface="YuGothic"/>
                <a:ea typeface="YuGothic"/>
                <a:cs typeface="YuGothic"/>
              </a:defRPr>
            </a:pPr>
            <a:r>
              <a:rPr sz="1650" b="1">
                <a:solidFill>
                  <a:srgbClr val="1479C9"/>
                </a:solidFill>
                <a:latin typeface="YuGothic"/>
                <a:ea typeface="YuGothic"/>
                <a:cs typeface="YuGothic"/>
              </a:rPr>
              <a:t>評価指標</a:t>
            </a:r>
          </a:p>
        </p:txBody>
      </p:sp>
      <p:sp>
        <p:nvSpPr>
          <p:cNvPr id="28" name="角丸四角形 27">
            <a:extLst>
              <a:ext uri="{FF2B5EF4-FFF2-40B4-BE49-F238E27FC236}">
                <a16:creationId xmlns:a16="http://schemas.microsoft.com/office/drawing/2014/main" id="{8C475F21-3422-4304-8646-3C72694187EE}"/>
              </a:ext>
            </a:extLst>
          </p:cNvPr>
          <p:cNvSpPr>
            <a:spLocks noGrp="1"/>
          </p:cNvSpPr>
          <p:nvPr/>
        </p:nvSpPr>
        <p:spPr>
          <a:xfrm>
            <a:off x="6477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29" name="正方形/長方形 28">
            <a:extLst>
              <a:ext uri="{FF2B5EF4-FFF2-40B4-BE49-F238E27FC236}">
                <a16:creationId xmlns:a16="http://schemas.microsoft.com/office/drawing/2014/main" id="{E6A72C3A-FB03-4539-88A6-ECC20BF00CED}"/>
              </a:ext>
            </a:extLst>
          </p:cNvPr>
          <p:cNvSpPr>
            <a:spLocks noGrp="1"/>
          </p:cNvSpPr>
          <p:nvPr/>
        </p:nvSpPr>
        <p:spPr>
          <a:xfrm>
            <a:off x="7620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ペア符号忠実度</a:t>
            </a:r>
          </a:p>
        </p:txBody>
      </p:sp>
      <p:sp>
        <p:nvSpPr>
          <p:cNvPr id="30" name="正方形/長方形 29">
            <a:extLst>
              <a:ext uri="{FF2B5EF4-FFF2-40B4-BE49-F238E27FC236}">
                <a16:creationId xmlns:a16="http://schemas.microsoft.com/office/drawing/2014/main" id="{A0530809-2346-4E18-9E58-13C33219AD25}"/>
              </a:ext>
            </a:extLst>
          </p:cNvPr>
          <p:cNvSpPr>
            <a:spLocks noGrp="1"/>
          </p:cNvSpPr>
          <p:nvPr/>
        </p:nvSpPr>
        <p:spPr>
          <a:xfrm>
            <a:off x="7810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Top-1 / Top-2 の大小関係を</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未使用摂動で再現できた割合</a:t>
            </a:r>
          </a:p>
        </p:txBody>
      </p:sp>
      <p:sp>
        <p:nvSpPr>
          <p:cNvPr id="31" name="角丸四角形 30">
            <a:extLst>
              <a:ext uri="{FF2B5EF4-FFF2-40B4-BE49-F238E27FC236}">
                <a16:creationId xmlns:a16="http://schemas.microsoft.com/office/drawing/2014/main" id="{82BDA2A7-780C-4CC8-A1A7-4398386DA357}"/>
              </a:ext>
            </a:extLst>
          </p:cNvPr>
          <p:cNvSpPr>
            <a:spLocks noGrp="1"/>
          </p:cNvSpPr>
          <p:nvPr/>
        </p:nvSpPr>
        <p:spPr>
          <a:xfrm>
            <a:off x="34671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32" name="正方形/長方形 31">
            <a:extLst>
              <a:ext uri="{FF2B5EF4-FFF2-40B4-BE49-F238E27FC236}">
                <a16:creationId xmlns:a16="http://schemas.microsoft.com/office/drawing/2014/main" id="{AC0A89CB-1494-4524-B993-61811828E3C4}"/>
              </a:ext>
            </a:extLst>
          </p:cNvPr>
          <p:cNvSpPr>
            <a:spLocks noGrp="1"/>
          </p:cNvSpPr>
          <p:nvPr/>
        </p:nvSpPr>
        <p:spPr>
          <a:xfrm>
            <a:off x="35814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重み付き Brier</a:t>
            </a:r>
          </a:p>
        </p:txBody>
      </p:sp>
      <p:sp>
        <p:nvSpPr>
          <p:cNvPr id="33" name="正方形/長方形 32">
            <a:extLst>
              <a:ext uri="{FF2B5EF4-FFF2-40B4-BE49-F238E27FC236}">
                <a16:creationId xmlns:a16="http://schemas.microsoft.com/office/drawing/2014/main" id="{9EF1A27E-7B93-48B9-A162-291872ED5324}"/>
              </a:ext>
            </a:extLst>
          </p:cNvPr>
          <p:cNvSpPr>
            <a:spLocks noGrp="1"/>
          </p:cNvSpPr>
          <p:nvPr/>
        </p:nvSpPr>
        <p:spPr>
          <a:xfrm>
            <a:off x="36004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q の確率近似誤差</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小さいほどよい</a:t>
            </a:r>
          </a:p>
        </p:txBody>
      </p:sp>
      <p:sp>
        <p:nvSpPr>
          <p:cNvPr id="34" name="角丸四角形 33">
            <a:extLst>
              <a:ext uri="{FF2B5EF4-FFF2-40B4-BE49-F238E27FC236}">
                <a16:creationId xmlns:a16="http://schemas.microsoft.com/office/drawing/2014/main" id="{74AC3C61-C5C8-43E6-BC62-9C29B5C8040D}"/>
              </a:ext>
            </a:extLst>
          </p:cNvPr>
          <p:cNvSpPr>
            <a:spLocks noGrp="1"/>
          </p:cNvSpPr>
          <p:nvPr/>
        </p:nvSpPr>
        <p:spPr>
          <a:xfrm>
            <a:off x="62865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35" name="正方形/長方形 34">
            <a:extLst>
              <a:ext uri="{FF2B5EF4-FFF2-40B4-BE49-F238E27FC236}">
                <a16:creationId xmlns:a16="http://schemas.microsoft.com/office/drawing/2014/main" id="{64B04B30-8FE7-46BC-8B53-93D3A6E40218}"/>
              </a:ext>
            </a:extLst>
          </p:cNvPr>
          <p:cNvSpPr>
            <a:spLocks noGrp="1"/>
          </p:cNvSpPr>
          <p:nvPr/>
        </p:nvSpPr>
        <p:spPr>
          <a:xfrm>
            <a:off x="64008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競合特徴再現率</a:t>
            </a:r>
          </a:p>
        </p:txBody>
      </p:sp>
      <p:sp>
        <p:nvSpPr>
          <p:cNvPr id="36" name="正方形/長方形 35">
            <a:extLst>
              <a:ext uri="{FF2B5EF4-FFF2-40B4-BE49-F238E27FC236}">
                <a16:creationId xmlns:a16="http://schemas.microsoft.com/office/drawing/2014/main" id="{8C4EF84B-F4AA-40C3-AA94-F556A376D61A}"/>
              </a:ext>
            </a:extLst>
          </p:cNvPr>
          <p:cNvSpPr>
            <a:spLocks noGrp="1"/>
          </p:cNvSpPr>
          <p:nvPr/>
        </p:nvSpPr>
        <p:spPr>
          <a:xfrm>
            <a:off x="64198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本当にクラス差を作る特徴を</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上位K個で拾えた割合</a:t>
            </a:r>
          </a:p>
        </p:txBody>
      </p:sp>
      <p:sp>
        <p:nvSpPr>
          <p:cNvPr id="37" name="角丸四角形 36">
            <a:extLst>
              <a:ext uri="{FF2B5EF4-FFF2-40B4-BE49-F238E27FC236}">
                <a16:creationId xmlns:a16="http://schemas.microsoft.com/office/drawing/2014/main" id="{2B591B0B-AB1C-46D0-BDF9-18365E900418}"/>
              </a:ext>
            </a:extLst>
          </p:cNvPr>
          <p:cNvSpPr>
            <a:spLocks noGrp="1"/>
          </p:cNvSpPr>
          <p:nvPr/>
        </p:nvSpPr>
        <p:spPr>
          <a:xfrm>
            <a:off x="91059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38" name="正方形/長方形 37">
            <a:extLst>
              <a:ext uri="{FF2B5EF4-FFF2-40B4-BE49-F238E27FC236}">
                <a16:creationId xmlns:a16="http://schemas.microsoft.com/office/drawing/2014/main" id="{CEE0504A-E97B-4637-B5EA-477F10ACA460}"/>
              </a:ext>
            </a:extLst>
          </p:cNvPr>
          <p:cNvSpPr>
            <a:spLocks noGrp="1"/>
          </p:cNvSpPr>
          <p:nvPr/>
        </p:nvSpPr>
        <p:spPr>
          <a:xfrm>
            <a:off x="92202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計算時間</a:t>
            </a:r>
          </a:p>
        </p:txBody>
      </p:sp>
      <p:sp>
        <p:nvSpPr>
          <p:cNvPr id="39" name="正方形/長方形 38">
            <a:extLst>
              <a:ext uri="{FF2B5EF4-FFF2-40B4-BE49-F238E27FC236}">
                <a16:creationId xmlns:a16="http://schemas.microsoft.com/office/drawing/2014/main" id="{B521B26F-81F4-48AE-8249-4BF993CF5204}"/>
              </a:ext>
            </a:extLst>
          </p:cNvPr>
          <p:cNvSpPr>
            <a:spLocks noGrp="1"/>
          </p:cNvSpPr>
          <p:nvPr/>
        </p:nvSpPr>
        <p:spPr>
          <a:xfrm>
            <a:off x="92392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説明1件の学習時間</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次元数・クラス数を変化</a:t>
            </a:r>
          </a:p>
        </p:txBody>
      </p:sp>
    </p:spTree>
    <p:extLst>
      <p:ext uri="{BB962C8B-B14F-4D97-AF65-F5344CB8AC3E}">
        <p14:creationId xmlns:p14="http://schemas.microsoft.com/office/powerpoint/2010/main" val="905220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ADE5C19-DBDE-48F8-AE96-283A50BC174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7BD5797D-F1EE-4DE8-9C9D-8C140102DEE8}"/>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実験設定</a:t>
            </a:r>
          </a:p>
        </p:txBody>
      </p:sp>
      <p:sp>
        <p:nvSpPr>
          <p:cNvPr id="3" name="正方形/長方形 2">
            <a:extLst>
              <a:ext uri="{FF2B5EF4-FFF2-40B4-BE49-F238E27FC236}">
                <a16:creationId xmlns:a16="http://schemas.microsoft.com/office/drawing/2014/main" id="{D0C92C36-03F2-4A52-BF76-D12016ED49A3}"/>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すべての手法で摂動点・近接度重み・説明対象を共有</a:t>
            </a:r>
          </a:p>
        </p:txBody>
      </p:sp>
      <p:sp>
        <p:nvSpPr>
          <p:cNvPr id="4" name="正方形/長方形 3">
            <a:extLst>
              <a:ext uri="{FF2B5EF4-FFF2-40B4-BE49-F238E27FC236}">
                <a16:creationId xmlns:a16="http://schemas.microsoft.com/office/drawing/2014/main" id="{8E7A472F-17CD-4971-9D31-46566E395984}"/>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12</a:t>
            </a:r>
          </a:p>
        </p:txBody>
      </p:sp>
      <p:graphicFrame>
        <p:nvGraphicFramePr>
          <p:cNvPr id="11" name="表 10"/>
          <p:cNvGraphicFramePr/>
          <p:nvPr/>
        </p:nvGraphicFramePr>
        <p:xfrm>
          <a:off x="762000" y="1295400"/>
          <a:ext cx="10668000" cy="4629150"/>
        </p:xfrm>
        <a:graphic>
          <a:graphicData uri="http://schemas.openxmlformats.org/drawingml/2006/table">
            <a:tbl>
              <a:tblPr/>
              <a:tblGrid>
                <a:gridCol w="2333625">
                  <a:extLst>
                    <a:ext uri="{9D8B030D-6E8A-4147-A177-3AD203B41FA5}">
                      <a16:colId xmlns:a16="http://schemas.microsoft.com/office/drawing/2014/main" val="20000"/>
                    </a:ext>
                  </a:extLst>
                </a:gridCol>
                <a:gridCol w="8334375">
                  <a:extLst>
                    <a:ext uri="{9D8B030D-6E8A-4147-A177-3AD203B41FA5}">
                      <a16:colId xmlns:a16="http://schemas.microsoft.com/office/drawing/2014/main" val="20001"/>
                    </a:ext>
                  </a:extLst>
                </a:gridCol>
              </a:tblGrid>
              <a:tr h="514350">
                <a:tc>
                  <a:txBody>
                    <a:bodyPr/>
                    <a:lstStyle/>
                    <a:p>
                      <a:r>
                        <a:rPr sz="1275" b="1">
                          <a:solidFill>
                            <a:srgbClr val="FFFFFF"/>
                          </a:solidFill>
                          <a:latin typeface="YuGothic"/>
                          <a:ea typeface="YuGothic"/>
                          <a:cs typeface="YuGothic"/>
                        </a:rPr>
                        <a:t>項目</a:t>
                      </a:r>
                    </a:p>
                  </a:txBody>
                  <a:tcPr marL="114300" marR="114300" marT="76200" marB="76200" anchor="ctr">
                    <a:solidFill>
                      <a:srgbClr val="1479C9"/>
                    </a:solidFill>
                  </a:tcPr>
                </a:tc>
                <a:tc>
                  <a:txBody>
                    <a:bodyPr/>
                    <a:lstStyle/>
                    <a:p>
                      <a:r>
                        <a:rPr sz="1275" b="1">
                          <a:solidFill>
                            <a:srgbClr val="FFFFFF"/>
                          </a:solidFill>
                          <a:latin typeface="YuGothic"/>
                          <a:ea typeface="YuGothic"/>
                          <a:cs typeface="YuGothic"/>
                        </a:rPr>
                        <a:t>設定</a:t>
                      </a:r>
                    </a:p>
                  </a:txBody>
                  <a:tcPr marL="114300" marR="114300" marT="76200" marB="76200" anchor="ctr">
                    <a:solidFill>
                      <a:srgbClr val="1479C9"/>
                    </a:solidFill>
                  </a:tcPr>
                </a:tc>
                <a:extLst>
                  <a:ext uri="{0D108BD9-81ED-4DB2-BD59-A6C34878D82A}">
                    <a16:rowId xmlns:a16="http://schemas.microsoft.com/office/drawing/2014/main" val="10000"/>
                  </a:ext>
                </a:extLst>
              </a:tr>
              <a:tr h="514350">
                <a:tc>
                  <a:txBody>
                    <a:bodyPr/>
                    <a:lstStyle/>
                    <a:p>
                      <a:r>
                        <a:rPr sz="1125" b="1">
                          <a:solidFill>
                            <a:srgbClr val="1479C9"/>
                          </a:solidFill>
                          <a:latin typeface="YuGothic"/>
                          <a:ea typeface="YuGothic"/>
                          <a:cs typeface="YuGothic"/>
                        </a:rPr>
                        <a:t>データ</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make_classification、2,000件、学習70%／評価30%</a:t>
                      </a:r>
                    </a:p>
                  </a:txBody>
                  <a:tcPr marL="114300" marR="114300" marT="57150" marB="57150" anchor="ctr">
                    <a:solidFill>
                      <a:srgbClr val="FBFCFE"/>
                    </a:solidFill>
                  </a:tcPr>
                </a:tc>
                <a:extLst>
                  <a:ext uri="{0D108BD9-81ED-4DB2-BD59-A6C34878D82A}">
                    <a16:rowId xmlns:a16="http://schemas.microsoft.com/office/drawing/2014/main" val="10001"/>
                  </a:ext>
                </a:extLst>
              </a:tr>
              <a:tr h="514350">
                <a:tc>
                  <a:txBody>
                    <a:bodyPr/>
                    <a:lstStyle/>
                    <a:p>
                      <a:r>
                        <a:rPr sz="1125" b="1">
                          <a:solidFill>
                            <a:srgbClr val="1479C9"/>
                          </a:solidFill>
                          <a:latin typeface="YuGothic"/>
                          <a:ea typeface="YuGothic"/>
                          <a:cs typeface="YuGothic"/>
                        </a:rPr>
                        <a:t>次元数・クラス数</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主実験 d={8,14,20}, C={3,4,5} ／ BB比較 d={8,14}, C={3,5}</a:t>
                      </a:r>
                    </a:p>
                  </a:txBody>
                  <a:tcPr marL="114300" marR="114300" marT="57150" marB="57150" anchor="ctr"/>
                </a:tc>
                <a:extLst>
                  <a:ext uri="{0D108BD9-81ED-4DB2-BD59-A6C34878D82A}">
                    <a16:rowId xmlns:a16="http://schemas.microsoft.com/office/drawing/2014/main" val="10002"/>
                  </a:ext>
                </a:extLst>
              </a:tr>
              <a:tr h="514350">
                <a:tc>
                  <a:txBody>
                    <a:bodyPr/>
                    <a:lstStyle/>
                    <a:p>
                      <a:r>
                        <a:rPr sz="1125" b="1">
                          <a:solidFill>
                            <a:srgbClr val="1479C9"/>
                          </a:solidFill>
                          <a:latin typeface="YuGothic"/>
                          <a:ea typeface="YuGothic"/>
                          <a:cs typeface="YuGothic"/>
                        </a:rPr>
                        <a:t>表示特徴数 K</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round(0.25d), round(0.50d)。全手法で exact-K</a:t>
                      </a:r>
                    </a:p>
                  </a:txBody>
                  <a:tcPr marL="114300" marR="114300" marT="57150" marB="57150" anchor="ctr">
                    <a:solidFill>
                      <a:srgbClr val="FBFCFE"/>
                    </a:solidFill>
                  </a:tcPr>
                </a:tc>
                <a:extLst>
                  <a:ext uri="{0D108BD9-81ED-4DB2-BD59-A6C34878D82A}">
                    <a16:rowId xmlns:a16="http://schemas.microsoft.com/office/drawing/2014/main" val="10003"/>
                  </a:ext>
                </a:extLst>
              </a:tr>
              <a:tr h="514350">
                <a:tc>
                  <a:txBody>
                    <a:bodyPr/>
                    <a:lstStyle/>
                    <a:p>
                      <a:r>
                        <a:rPr sz="1125" b="1">
                          <a:solidFill>
                            <a:srgbClr val="1479C9"/>
                          </a:solidFill>
                          <a:latin typeface="YuGothic"/>
                          <a:ea typeface="YuGothic"/>
                          <a:cs typeface="YuGothic"/>
                        </a:rPr>
                        <a:t>ブラックボックス</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多項ロジスティック回帰、tanh MLP (32,16)、Random Forest 200本</a:t>
                      </a:r>
                    </a:p>
                  </a:txBody>
                  <a:tcPr marL="114300" marR="114300" marT="57150" marB="57150" anchor="ctr"/>
                </a:tc>
                <a:extLst>
                  <a:ext uri="{0D108BD9-81ED-4DB2-BD59-A6C34878D82A}">
                    <a16:rowId xmlns:a16="http://schemas.microsoft.com/office/drawing/2014/main" val="10004"/>
                  </a:ext>
                </a:extLst>
              </a:tr>
              <a:tr h="514350">
                <a:tc>
                  <a:txBody>
                    <a:bodyPr/>
                    <a:lstStyle/>
                    <a:p>
                      <a:r>
                        <a:rPr sz="1125" b="1">
                          <a:solidFill>
                            <a:srgbClr val="1479C9"/>
                          </a:solidFill>
                          <a:latin typeface="YuGothic"/>
                          <a:ea typeface="YuGothic"/>
                          <a:cs typeface="YuGothic"/>
                        </a:rPr>
                        <a:t>説明対象</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テスト点のうち Top-1 と Top-2 の確率差が小さい8点</a:t>
                      </a:r>
                    </a:p>
                  </a:txBody>
                  <a:tcPr marL="114300" marR="114300" marT="57150" marB="57150" anchor="ctr">
                    <a:solidFill>
                      <a:srgbClr val="FBFCFE"/>
                    </a:solidFill>
                  </a:tcPr>
                </a:tc>
                <a:extLst>
                  <a:ext uri="{0D108BD9-81ED-4DB2-BD59-A6C34878D82A}">
                    <a16:rowId xmlns:a16="http://schemas.microsoft.com/office/drawing/2014/main" val="10005"/>
                  </a:ext>
                </a:extLst>
              </a:tr>
              <a:tr h="514350">
                <a:tc>
                  <a:txBody>
                    <a:bodyPr/>
                    <a:lstStyle/>
                    <a:p>
                      <a:r>
                        <a:rPr sz="1125" b="1">
                          <a:solidFill>
                            <a:srgbClr val="1479C9"/>
                          </a:solidFill>
                          <a:latin typeface="YuGothic"/>
                          <a:ea typeface="YuGothic"/>
                          <a:cs typeface="YuGothic"/>
                        </a:rPr>
                        <a:t>摂動と局所重み</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学習300点＋未使用300点。特徴標準偏差に基づくGaussian摂動＋指数カーネル</a:t>
                      </a:r>
                    </a:p>
                  </a:txBody>
                  <a:tcPr marL="114300" marR="114300" marT="57150" marB="57150" anchor="ctr"/>
                </a:tc>
                <a:extLst>
                  <a:ext uri="{0D108BD9-81ED-4DB2-BD59-A6C34878D82A}">
                    <a16:rowId xmlns:a16="http://schemas.microsoft.com/office/drawing/2014/main" val="10006"/>
                  </a:ext>
                </a:extLst>
              </a:tr>
              <a:tr h="514350">
                <a:tc>
                  <a:txBody>
                    <a:bodyPr/>
                    <a:lstStyle/>
                    <a:p>
                      <a:r>
                        <a:rPr sz="1125" b="1">
                          <a:solidFill>
                            <a:srgbClr val="1479C9"/>
                          </a:solidFill>
                          <a:latin typeface="YuGothic"/>
                          <a:ea typeface="YuGothic"/>
                          <a:cs typeface="YuGothic"/>
                        </a:rPr>
                        <a:t>反復</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独立データ seed 20回（計算時間は10回）。各seed内で乱数を手法間共有</a:t>
                      </a:r>
                    </a:p>
                  </a:txBody>
                  <a:tcPr marL="114300" marR="114300" marT="57150" marB="57150" anchor="ctr">
                    <a:solidFill>
                      <a:srgbClr val="FBFCFE"/>
                    </a:solidFill>
                  </a:tcPr>
                </a:tc>
                <a:extLst>
                  <a:ext uri="{0D108BD9-81ED-4DB2-BD59-A6C34878D82A}">
                    <a16:rowId xmlns:a16="http://schemas.microsoft.com/office/drawing/2014/main" val="10007"/>
                  </a:ext>
                </a:extLst>
              </a:tr>
              <a:tr h="514350">
                <a:tc>
                  <a:txBody>
                    <a:bodyPr/>
                    <a:lstStyle/>
                    <a:p>
                      <a:r>
                        <a:rPr sz="1125" b="1">
                          <a:solidFill>
                            <a:srgbClr val="1479C9"/>
                          </a:solidFill>
                          <a:latin typeface="YuGothic"/>
                          <a:ea typeface="YuGothic"/>
                          <a:cs typeface="YuGothic"/>
                        </a:rPr>
                        <a:t>サロゲート</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Ridge α=1.0、Logistic C=1.0。Lasso pathでK特徴を選択後、選択特徴だけで再fit</a:t>
                      </a:r>
                    </a:p>
                  </a:txBody>
                  <a:tcPr marL="114300" marR="114300" marT="57150" marB="57150" anchor="ctr"/>
                </a:tc>
                <a:extLst>
                  <a:ext uri="{0D108BD9-81ED-4DB2-BD59-A6C34878D82A}">
                    <a16:rowId xmlns:a16="http://schemas.microsoft.com/office/drawing/2014/main" val="10008"/>
                  </a:ext>
                </a:extLst>
              </a:tr>
            </a:tbl>
          </a:graphicData>
        </a:graphic>
      </p:graphicFrame>
      <p:sp>
        <p:nvSpPr>
          <p:cNvPr id="6" name="正方形/長方形 5">
            <a:extLst>
              <a:ext uri="{FF2B5EF4-FFF2-40B4-BE49-F238E27FC236}">
                <a16:creationId xmlns:a16="http://schemas.microsoft.com/office/drawing/2014/main" id="{6630C5B1-6663-4CE6-B8B3-86FBD91D8289}"/>
              </a:ext>
            </a:extLst>
          </p:cNvPr>
          <p:cNvSpPr>
            <a:spLocks noGrp="1"/>
          </p:cNvSpPr>
          <p:nvPr/>
        </p:nvSpPr>
        <p:spPr>
          <a:xfrm>
            <a:off x="762000" y="6067425"/>
            <a:ext cx="10668000" cy="304800"/>
          </a:xfrm>
          <a:prstGeom prst="rect">
            <a:avLst/>
          </a:prstGeom>
          <a:noFill/>
          <a:ln w="0">
            <a:noFill/>
          </a:ln>
        </p:spPr>
        <p:txBody>
          <a:bodyPr anchor="ctr">
            <a:normAutofit/>
          </a:bodyPr>
          <a:lstStyle/>
          <a:p>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このスライドの主張：学習用とは別の摂動点で評価し、同じK・同じ乱数で公平に比較する</a:t>
            </a:r>
          </a:p>
        </p:txBody>
      </p:sp>
    </p:spTree>
    <p:extLst>
      <p:ext uri="{BB962C8B-B14F-4D97-AF65-F5344CB8AC3E}">
        <p14:creationId xmlns:p14="http://schemas.microsoft.com/office/powerpoint/2010/main" val="51022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54488961-6020-4B64-BC50-F0EC40640FA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AF1273B8-46FA-4B6E-A7ED-85ED5896C55A}"/>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主実験：Random Forest</a:t>
            </a:r>
          </a:p>
        </p:txBody>
      </p:sp>
      <p:sp>
        <p:nvSpPr>
          <p:cNvPr id="3" name="正方形/長方形 2">
            <a:extLst>
              <a:ext uri="{FF2B5EF4-FFF2-40B4-BE49-F238E27FC236}">
                <a16:creationId xmlns:a16="http://schemas.microsoft.com/office/drawing/2014/main" id="{621B13A1-484A-4A06-A37F-C84FE9C74230}"/>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exact-K・held-out評価。点は20 seedsの平均、線は95%ブートストラップ信頼区間</a:t>
            </a:r>
          </a:p>
        </p:txBody>
      </p:sp>
      <p:sp>
        <p:nvSpPr>
          <p:cNvPr id="4" name="正方形/長方形 3">
            <a:extLst>
              <a:ext uri="{FF2B5EF4-FFF2-40B4-BE49-F238E27FC236}">
                <a16:creationId xmlns:a16="http://schemas.microsoft.com/office/drawing/2014/main" id="{F2BA1144-9FA7-44F4-AD15-F77EF31B5146}"/>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13</a:t>
            </a:r>
          </a:p>
        </p:txBody>
      </p:sp>
      <p:pic>
        <p:nvPicPr>
          <p:cNvPr id="21" name="図 20"/>
          <p:cNvPicPr>
            <a:picLocks noChangeAspect="1"/>
          </p:cNvPicPr>
          <p:nvPr/>
        </p:nvPicPr>
        <p:blipFill>
          <a:blip r:embed="rId3"/>
          <a:stretch/>
        </p:blipFill>
        <p:spPr>
          <a:xfrm>
            <a:off x="495300" y="1303247"/>
            <a:ext cx="8286750" cy="3889556"/>
          </a:xfrm>
          <a:prstGeom prst="rect">
            <a:avLst/>
          </a:prstGeom>
        </p:spPr>
      </p:pic>
      <p:sp>
        <p:nvSpPr>
          <p:cNvPr id="6" name="角丸四角形 5">
            <a:extLst>
              <a:ext uri="{FF2B5EF4-FFF2-40B4-BE49-F238E27FC236}">
                <a16:creationId xmlns:a16="http://schemas.microsoft.com/office/drawing/2014/main" id="{0A0EDD13-24AA-45EC-9B75-409D3A60B0EC}"/>
              </a:ext>
            </a:extLst>
          </p:cNvPr>
          <p:cNvSpPr>
            <a:spLocks noGrp="1"/>
          </p:cNvSpPr>
          <p:nvPr/>
        </p:nvSpPr>
        <p:spPr>
          <a:xfrm>
            <a:off x="9010650" y="1257300"/>
            <a:ext cx="2628900" cy="1219200"/>
          </a:xfrm>
          <a:prstGeom prst="roundRect">
            <a:avLst>
              <a:gd name="adj" fmla="val 6250"/>
            </a:avLst>
          </a:prstGeom>
          <a:solidFill>
            <a:srgbClr val="EAF4FB"/>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39D14B8E-84F2-452E-8933-139F1A4848D6}"/>
              </a:ext>
            </a:extLst>
          </p:cNvPr>
          <p:cNvSpPr>
            <a:spLocks noGrp="1"/>
          </p:cNvSpPr>
          <p:nvPr/>
        </p:nvSpPr>
        <p:spPr>
          <a:xfrm>
            <a:off x="9182100" y="1390650"/>
            <a:ext cx="228600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符号忠実度</a:t>
            </a:r>
          </a:p>
        </p:txBody>
      </p:sp>
      <p:sp>
        <p:nvSpPr>
          <p:cNvPr id="8" name="正方形/長方形 7">
            <a:extLst>
              <a:ext uri="{FF2B5EF4-FFF2-40B4-BE49-F238E27FC236}">
                <a16:creationId xmlns:a16="http://schemas.microsoft.com/office/drawing/2014/main" id="{BF275E3E-59AF-449D-A291-7CC3C8EE3E67}"/>
              </a:ext>
            </a:extLst>
          </p:cNvPr>
          <p:cNvSpPr>
            <a:spLocks noGrp="1"/>
          </p:cNvSpPr>
          <p:nvPr/>
        </p:nvSpPr>
        <p:spPr>
          <a:xfrm>
            <a:off x="9172575" y="1752600"/>
            <a:ext cx="2305050" cy="533400"/>
          </a:xfrm>
          <a:prstGeom prst="rect">
            <a:avLst/>
          </a:prstGeom>
          <a:noFill/>
          <a:ln w="0">
            <a:noFill/>
          </a:ln>
        </p:spPr>
        <p:txBody>
          <a:bodyPr anchor="ctr">
            <a:normAutofit fontScale="96667"/>
          </a:bodyPr>
          <a:lstStyle/>
          <a:p>
            <a:pPr algn="ctr">
              <a:defRPr sz="1500" b="1">
                <a:solidFill>
                  <a:srgbClr val="17233D"/>
                </a:solidFill>
                <a:latin typeface="YuGothic"/>
                <a:ea typeface="YuGothic"/>
                <a:cs typeface="YuGothic"/>
              </a:defRPr>
            </a:pPr>
            <a:r>
              <a:rPr sz="1500" b="1">
                <a:solidFill>
                  <a:srgbClr val="17233D"/>
                </a:solidFill>
                <a:latin typeface="YuGothic"/>
                <a:ea typeface="YuGothic"/>
                <a:cs typeface="YuGothic"/>
              </a:rPr>
              <a:t>2クラスLIME  0.791</a:t>
            </a:r>
          </a:p>
          <a:p>
            <a:pPr algn="ctr">
              <a:defRPr sz="1500" b="1">
                <a:solidFill>
                  <a:srgbClr val="17233D"/>
                </a:solidFill>
                <a:latin typeface="YuGothic"/>
                <a:ea typeface="YuGothic"/>
                <a:cs typeface="YuGothic"/>
              </a:defRPr>
            </a:pPr>
            <a:r>
              <a:rPr sz="1500" b="1">
                <a:solidFill>
                  <a:srgbClr val="17233D"/>
                </a:solidFill>
                <a:latin typeface="YuGothic"/>
                <a:ea typeface="YuGothic"/>
                <a:cs typeface="YuGothic"/>
              </a:rPr>
              <a:t>OVR exact-K   0.787</a:t>
            </a:r>
          </a:p>
        </p:txBody>
      </p:sp>
      <p:sp>
        <p:nvSpPr>
          <p:cNvPr id="9" name="角丸四角形 8">
            <a:extLst>
              <a:ext uri="{FF2B5EF4-FFF2-40B4-BE49-F238E27FC236}">
                <a16:creationId xmlns:a16="http://schemas.microsoft.com/office/drawing/2014/main" id="{8F38C8E0-24D1-4CC0-AD9B-62997C3F696C}"/>
              </a:ext>
            </a:extLst>
          </p:cNvPr>
          <p:cNvSpPr>
            <a:spLocks noGrp="1"/>
          </p:cNvSpPr>
          <p:nvPr/>
        </p:nvSpPr>
        <p:spPr>
          <a:xfrm>
            <a:off x="9010650" y="2647950"/>
            <a:ext cx="2628900" cy="1219200"/>
          </a:xfrm>
          <a:prstGeom prst="roundRect">
            <a:avLst>
              <a:gd name="adj" fmla="val 6250"/>
            </a:avLst>
          </a:prstGeom>
          <a:solidFill>
            <a:srgbClr val="F7F9FC"/>
          </a:solidFill>
          <a:ln w="9525">
            <a:solidFill>
              <a:srgbClr val="E7EBF0"/>
            </a:solidFill>
          </a:ln>
        </p:spPr>
        <p:txBody>
          <a:bodyPr/>
          <a:lstStyle/>
          <a:p>
            <a:endParaRPr lang="ja-JP" altLang="en-US"/>
          </a:p>
        </p:txBody>
      </p:sp>
      <p:sp>
        <p:nvSpPr>
          <p:cNvPr id="10" name="正方形/長方形 9">
            <a:extLst>
              <a:ext uri="{FF2B5EF4-FFF2-40B4-BE49-F238E27FC236}">
                <a16:creationId xmlns:a16="http://schemas.microsoft.com/office/drawing/2014/main" id="{D2F8B2DA-7C3D-40F5-8D0D-CA6E06D57D64}"/>
              </a:ext>
            </a:extLst>
          </p:cNvPr>
          <p:cNvSpPr>
            <a:spLocks noGrp="1"/>
          </p:cNvSpPr>
          <p:nvPr/>
        </p:nvSpPr>
        <p:spPr>
          <a:xfrm>
            <a:off x="9182100" y="2781300"/>
            <a:ext cx="228600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確率誤差（Brier）</a:t>
            </a:r>
          </a:p>
        </p:txBody>
      </p:sp>
      <p:sp>
        <p:nvSpPr>
          <p:cNvPr id="11" name="正方形/長方形 10">
            <a:extLst>
              <a:ext uri="{FF2B5EF4-FFF2-40B4-BE49-F238E27FC236}">
                <a16:creationId xmlns:a16="http://schemas.microsoft.com/office/drawing/2014/main" id="{3C01E98B-2AE2-4250-BE25-F066D10AA307}"/>
              </a:ext>
            </a:extLst>
          </p:cNvPr>
          <p:cNvSpPr>
            <a:spLocks noGrp="1"/>
          </p:cNvSpPr>
          <p:nvPr/>
        </p:nvSpPr>
        <p:spPr>
          <a:xfrm>
            <a:off x="9172575" y="3143250"/>
            <a:ext cx="2305050" cy="533400"/>
          </a:xfrm>
          <a:prstGeom prst="rect">
            <a:avLst/>
          </a:prstGeom>
          <a:noFill/>
          <a:ln w="0">
            <a:noFill/>
          </a:ln>
        </p:spPr>
        <p:txBody>
          <a:bodyPr anchor="ctr">
            <a:normAutofit/>
          </a:bodyPr>
          <a:lstStyle/>
          <a:p>
            <a:pPr algn="ctr">
              <a:defRPr sz="1425" b="1">
                <a:solidFill>
                  <a:srgbClr val="17233D"/>
                </a:solidFill>
                <a:latin typeface="YuGothic"/>
                <a:ea typeface="YuGothic"/>
                <a:cs typeface="YuGothic"/>
              </a:defRPr>
            </a:pPr>
            <a:r>
              <a:rPr sz="1425" b="1">
                <a:solidFill>
                  <a:srgbClr val="17233D"/>
                </a:solidFill>
                <a:latin typeface="YuGothic"/>
                <a:ea typeface="YuGothic"/>
                <a:cs typeface="YuGothic"/>
              </a:rPr>
              <a:t>2クラスLIME  0.0156</a:t>
            </a:r>
          </a:p>
          <a:p>
            <a:pPr algn="ctr">
              <a:defRPr sz="1425" b="1">
                <a:solidFill>
                  <a:srgbClr val="17233D"/>
                </a:solidFill>
                <a:latin typeface="YuGothic"/>
                <a:ea typeface="YuGothic"/>
                <a:cs typeface="YuGothic"/>
              </a:defRPr>
            </a:pPr>
            <a:r>
              <a:rPr sz="1425" b="1">
                <a:solidFill>
                  <a:srgbClr val="17233D"/>
                </a:solidFill>
                <a:latin typeface="YuGothic"/>
                <a:ea typeface="YuGothic"/>
                <a:cs typeface="YuGothic"/>
              </a:rPr>
              <a:t>Contrastive   0.0158</a:t>
            </a:r>
          </a:p>
        </p:txBody>
      </p:sp>
      <p:sp>
        <p:nvSpPr>
          <p:cNvPr id="12" name="角丸四角形 11">
            <a:extLst>
              <a:ext uri="{FF2B5EF4-FFF2-40B4-BE49-F238E27FC236}">
                <a16:creationId xmlns:a16="http://schemas.microsoft.com/office/drawing/2014/main" id="{89AC22F8-A864-4234-B40C-D0819DA6B70B}"/>
              </a:ext>
            </a:extLst>
          </p:cNvPr>
          <p:cNvSpPr>
            <a:spLocks noGrp="1"/>
          </p:cNvSpPr>
          <p:nvPr/>
        </p:nvSpPr>
        <p:spPr>
          <a:xfrm>
            <a:off x="9010650" y="4038600"/>
            <a:ext cx="2628900" cy="1295400"/>
          </a:xfrm>
          <a:prstGeom prst="roundRect">
            <a:avLst>
              <a:gd name="adj" fmla="val 5882"/>
            </a:avLst>
          </a:prstGeom>
          <a:solidFill>
            <a:srgbClr val="FFF4D6"/>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01ADD4B4-9263-4099-BB8B-3F7D4253BEEB}"/>
              </a:ext>
            </a:extLst>
          </p:cNvPr>
          <p:cNvSpPr>
            <a:spLocks noGrp="1"/>
          </p:cNvSpPr>
          <p:nvPr/>
        </p:nvSpPr>
        <p:spPr>
          <a:xfrm>
            <a:off x="9191625" y="4171950"/>
            <a:ext cx="2266950" cy="257175"/>
          </a:xfrm>
          <a:prstGeom prst="rect">
            <a:avLst/>
          </a:prstGeom>
          <a:noFill/>
          <a:ln w="0">
            <a:noFill/>
          </a:ln>
        </p:spPr>
        <p:txBody>
          <a:bodyPr anchor="ctr">
            <a:normAutofit fontScale="80555"/>
          </a:bodyPr>
          <a:lstStyle/>
          <a:p>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読み方</a:t>
            </a:r>
          </a:p>
        </p:txBody>
      </p:sp>
      <p:sp>
        <p:nvSpPr>
          <p:cNvPr id="14" name="正方形/長方形 13">
            <a:extLst>
              <a:ext uri="{FF2B5EF4-FFF2-40B4-BE49-F238E27FC236}">
                <a16:creationId xmlns:a16="http://schemas.microsoft.com/office/drawing/2014/main" id="{2D7F990C-0511-4925-B664-EB958FF0EC7F}"/>
              </a:ext>
            </a:extLst>
          </p:cNvPr>
          <p:cNvSpPr>
            <a:spLocks noGrp="1"/>
          </p:cNvSpPr>
          <p:nvPr/>
        </p:nvSpPr>
        <p:spPr>
          <a:xfrm>
            <a:off x="9172575" y="4495800"/>
            <a:ext cx="2305050" cy="666750"/>
          </a:xfrm>
          <a:prstGeom prst="rect">
            <a:avLst/>
          </a:prstGeom>
          <a:noFill/>
          <a:ln w="0">
            <a:noFill/>
          </a:ln>
        </p:spPr>
        <p:txBody>
          <a:bodyPr anchor="ctr">
            <a:normAutofit fontScale="83828"/>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+0.0041は小幅。</a:t>
            </a:r>
          </a:p>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『大幅な精度向上』ではなく、</a:t>
            </a:r>
          </a:p>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同じKでも悪化しない証拠と捉える。</a:t>
            </a:r>
          </a:p>
        </p:txBody>
      </p:sp>
      <p:sp>
        <p:nvSpPr>
          <p:cNvPr id="15" name="角丸四角形 14">
            <a:extLst>
              <a:ext uri="{FF2B5EF4-FFF2-40B4-BE49-F238E27FC236}">
                <a16:creationId xmlns:a16="http://schemas.microsoft.com/office/drawing/2014/main" id="{AEA154F9-B947-4AFF-9333-E25D26DAAF10}"/>
              </a:ext>
            </a:extLst>
          </p:cNvPr>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48A94C43-EAD0-4607-A8CA-EFAF85778F6B}"/>
              </a:ext>
            </a:extLst>
          </p:cNvPr>
          <p:cNvSpPr>
            <a:spLocks noGrp="1"/>
          </p:cNvSpPr>
          <p:nvPr/>
        </p:nvSpPr>
        <p:spPr>
          <a:xfrm>
            <a:off x="952500" y="58578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このスライドの主張：RFではリンク関数の工夫より、説明対象をTop-1対Top-2へ絞る効果が中心</a:t>
            </a:r>
          </a:p>
        </p:txBody>
      </p:sp>
    </p:spTree>
    <p:extLst>
      <p:ext uri="{BB962C8B-B14F-4D97-AF65-F5344CB8AC3E}">
        <p14:creationId xmlns:p14="http://schemas.microsoft.com/office/powerpoint/2010/main" val="1791297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7E6C2AD0-8BF8-4E4D-908E-231356EDE4B1}"/>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91CFB31C-7A40-4B74-B12D-A0E116FDCA4F}"/>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ブラックボックス構造別の結果</a:t>
            </a:r>
          </a:p>
        </p:txBody>
      </p:sp>
      <p:sp>
        <p:nvSpPr>
          <p:cNvPr id="3" name="正方形/長方形 2">
            <a:extLst>
              <a:ext uri="{FF2B5EF4-FFF2-40B4-BE49-F238E27FC236}">
                <a16:creationId xmlns:a16="http://schemas.microsoft.com/office/drawing/2014/main" id="{181E3950-884B-4607-9C85-381B6664BCD9}"/>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線形softmax、非線形NN＋softmax、Random Forestを同じ設計で比較</a:t>
            </a:r>
          </a:p>
        </p:txBody>
      </p:sp>
      <p:sp>
        <p:nvSpPr>
          <p:cNvPr id="4" name="正方形/長方形 3">
            <a:extLst>
              <a:ext uri="{FF2B5EF4-FFF2-40B4-BE49-F238E27FC236}">
                <a16:creationId xmlns:a16="http://schemas.microsoft.com/office/drawing/2014/main" id="{4329B711-AB81-4BD4-A014-C865F23438A2}"/>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14</a:t>
            </a:r>
          </a:p>
        </p:txBody>
      </p:sp>
      <p:pic>
        <p:nvPicPr>
          <p:cNvPr id="21" name="図 20"/>
          <p:cNvPicPr>
            <a:picLocks noChangeAspect="1"/>
          </p:cNvPicPr>
          <p:nvPr/>
        </p:nvPicPr>
        <p:blipFill>
          <a:blip r:embed="rId3"/>
          <a:stretch/>
        </p:blipFill>
        <p:spPr>
          <a:xfrm>
            <a:off x="541619" y="1190625"/>
            <a:ext cx="8508437" cy="3790950"/>
          </a:xfrm>
          <a:prstGeom prst="rect">
            <a:avLst/>
          </a:prstGeom>
        </p:spPr>
      </p:pic>
      <p:sp>
        <p:nvSpPr>
          <p:cNvPr id="6" name="角丸四角形 5">
            <a:extLst>
              <a:ext uri="{FF2B5EF4-FFF2-40B4-BE49-F238E27FC236}">
                <a16:creationId xmlns:a16="http://schemas.microsoft.com/office/drawing/2014/main" id="{7F8B6462-DB4A-4541-9436-A47A7F8245B0}"/>
              </a:ext>
            </a:extLst>
          </p:cNvPr>
          <p:cNvSpPr>
            <a:spLocks noGrp="1"/>
          </p:cNvSpPr>
          <p:nvPr/>
        </p:nvSpPr>
        <p:spPr>
          <a:xfrm>
            <a:off x="9277350" y="1285875"/>
            <a:ext cx="2362200" cy="1095375"/>
          </a:xfrm>
          <a:prstGeom prst="roundRect">
            <a:avLst>
              <a:gd name="adj" fmla="val 6957"/>
            </a:avLst>
          </a:prstGeom>
          <a:solidFill>
            <a:srgbClr val="EAF4FB"/>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615324CE-79B9-4390-B073-C9BBF3621C7A}"/>
              </a:ext>
            </a:extLst>
          </p:cNvPr>
          <p:cNvSpPr>
            <a:spLocks noGrp="1"/>
          </p:cNvSpPr>
          <p:nvPr/>
        </p:nvSpPr>
        <p:spPr>
          <a:xfrm>
            <a:off x="9448800" y="1419225"/>
            <a:ext cx="2019300" cy="238125"/>
          </a:xfrm>
          <a:prstGeom prst="rect">
            <a:avLst/>
          </a:prstGeom>
          <a:noFill/>
          <a:ln w="0">
            <a:noFill/>
          </a:ln>
        </p:spPr>
        <p:txBody>
          <a:bodyPr anchor="ctr">
            <a:normAutofit fontScale="75490"/>
          </a:bodyPr>
          <a:lstStyle/>
          <a:p>
            <a:pPr algn="ctr">
              <a:defRPr sz="1275" b="1">
                <a:solidFill>
                  <a:srgbClr val="1479C9"/>
                </a:solidFill>
                <a:latin typeface="YuGothic"/>
                <a:ea typeface="YuGothic"/>
                <a:cs typeface="YuGothic"/>
              </a:defRPr>
            </a:pPr>
            <a:r>
              <a:rPr sz="1275" b="1">
                <a:solidFill>
                  <a:srgbClr val="1479C9"/>
                </a:solidFill>
                <a:latin typeface="YuGothic"/>
                <a:ea typeface="YuGothic"/>
                <a:cs typeface="YuGothic"/>
              </a:rPr>
              <a:t>線形 softmax</a:t>
            </a:r>
          </a:p>
        </p:txBody>
      </p:sp>
      <p:sp>
        <p:nvSpPr>
          <p:cNvPr id="8" name="正方形/長方形 7">
            <a:extLst>
              <a:ext uri="{FF2B5EF4-FFF2-40B4-BE49-F238E27FC236}">
                <a16:creationId xmlns:a16="http://schemas.microsoft.com/office/drawing/2014/main" id="{B5740329-E417-47A2-970C-02944D1564A0}"/>
              </a:ext>
            </a:extLst>
          </p:cNvPr>
          <p:cNvSpPr>
            <a:spLocks noGrp="1"/>
          </p:cNvSpPr>
          <p:nvPr/>
        </p:nvSpPr>
        <p:spPr>
          <a:xfrm>
            <a:off x="9439275" y="1752600"/>
            <a:ext cx="2038350" cy="495300"/>
          </a:xfrm>
          <a:prstGeom prst="rect">
            <a:avLst/>
          </a:prstGeom>
          <a:noFill/>
          <a:ln w="0">
            <a:noFill/>
          </a:ln>
        </p:spPr>
        <p:txBody>
          <a:bodyPr anchor="ctr">
            <a:normAutofit fontScale="88333"/>
          </a:bodyPr>
          <a:lstStyle/>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Contrastive が最高</a:t>
            </a:r>
          </a:p>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忠実度 0.8655</a:t>
            </a:r>
          </a:p>
        </p:txBody>
      </p:sp>
      <p:sp>
        <p:nvSpPr>
          <p:cNvPr id="9" name="角丸四角形 8">
            <a:extLst>
              <a:ext uri="{FF2B5EF4-FFF2-40B4-BE49-F238E27FC236}">
                <a16:creationId xmlns:a16="http://schemas.microsoft.com/office/drawing/2014/main" id="{3BCFAB3F-60A8-4836-A550-772F9E430CE5}"/>
              </a:ext>
            </a:extLst>
          </p:cNvPr>
          <p:cNvSpPr>
            <a:spLocks noGrp="1"/>
          </p:cNvSpPr>
          <p:nvPr/>
        </p:nvSpPr>
        <p:spPr>
          <a:xfrm>
            <a:off x="9277350" y="2533650"/>
            <a:ext cx="2362200" cy="1095375"/>
          </a:xfrm>
          <a:prstGeom prst="roundRect">
            <a:avLst>
              <a:gd name="adj" fmla="val 6957"/>
            </a:avLst>
          </a:prstGeom>
          <a:solidFill>
            <a:srgbClr val="F7F9FC"/>
          </a:solidFill>
          <a:ln w="9525">
            <a:solidFill>
              <a:srgbClr val="E7EBF0"/>
            </a:solidFill>
          </a:ln>
        </p:spPr>
        <p:txBody>
          <a:bodyPr/>
          <a:lstStyle/>
          <a:p>
            <a:endParaRPr lang="ja-JP" altLang="en-US"/>
          </a:p>
        </p:txBody>
      </p:sp>
      <p:sp>
        <p:nvSpPr>
          <p:cNvPr id="10" name="正方形/長方形 9">
            <a:extLst>
              <a:ext uri="{FF2B5EF4-FFF2-40B4-BE49-F238E27FC236}">
                <a16:creationId xmlns:a16="http://schemas.microsoft.com/office/drawing/2014/main" id="{F9A6B6C5-68B1-4D02-B218-405359C134F7}"/>
              </a:ext>
            </a:extLst>
          </p:cNvPr>
          <p:cNvSpPr>
            <a:spLocks noGrp="1"/>
          </p:cNvSpPr>
          <p:nvPr/>
        </p:nvSpPr>
        <p:spPr>
          <a:xfrm>
            <a:off x="9448800" y="2667000"/>
            <a:ext cx="2019300" cy="238125"/>
          </a:xfrm>
          <a:prstGeom prst="rect">
            <a:avLst/>
          </a:prstGeom>
          <a:noFill/>
          <a:ln w="0">
            <a:noFill/>
          </a:ln>
        </p:spPr>
        <p:txBody>
          <a:bodyPr anchor="ctr">
            <a:normAutofit fontScale="75490"/>
          </a:bodyPr>
          <a:lstStyle/>
          <a:p>
            <a:pPr algn="ctr">
              <a:defRPr sz="1275" b="1">
                <a:solidFill>
                  <a:srgbClr val="1479C9"/>
                </a:solidFill>
                <a:latin typeface="YuGothic"/>
                <a:ea typeface="YuGothic"/>
                <a:cs typeface="YuGothic"/>
              </a:defRPr>
            </a:pPr>
            <a:r>
              <a:rPr sz="1275" b="1">
                <a:solidFill>
                  <a:srgbClr val="1479C9"/>
                </a:solidFill>
                <a:latin typeface="YuGothic"/>
                <a:ea typeface="YuGothic"/>
                <a:cs typeface="YuGothic"/>
              </a:rPr>
              <a:t>非線形NN・RF</a:t>
            </a:r>
          </a:p>
        </p:txBody>
      </p:sp>
      <p:sp>
        <p:nvSpPr>
          <p:cNvPr id="11" name="正方形/長方形 10">
            <a:extLst>
              <a:ext uri="{FF2B5EF4-FFF2-40B4-BE49-F238E27FC236}">
                <a16:creationId xmlns:a16="http://schemas.microsoft.com/office/drawing/2014/main" id="{CC07AC51-AA12-47CE-8A16-A244EAB13CDE}"/>
              </a:ext>
            </a:extLst>
          </p:cNvPr>
          <p:cNvSpPr>
            <a:spLocks noGrp="1"/>
          </p:cNvSpPr>
          <p:nvPr/>
        </p:nvSpPr>
        <p:spPr>
          <a:xfrm>
            <a:off x="9429750" y="3028950"/>
            <a:ext cx="2057400" cy="400050"/>
          </a:xfrm>
          <a:prstGeom prst="rect">
            <a:avLst/>
          </a:prstGeom>
          <a:noFill/>
          <a:ln w="0">
            <a:noFill/>
          </a:ln>
        </p:spPr>
        <p:txBody>
          <a:bodyPr anchor="ctr">
            <a:normAutofit/>
          </a:bodyPr>
          <a:lstStyle/>
          <a:p>
            <a:pPr algn="ctr">
              <a:defRPr sz="1500" b="1">
                <a:solidFill>
                  <a:srgbClr val="2AA876"/>
                </a:solidFill>
                <a:latin typeface="YuGothic"/>
                <a:ea typeface="YuGothic"/>
                <a:cs typeface="YuGothic"/>
              </a:defRPr>
            </a:pPr>
            <a:r>
              <a:rPr sz="1500" b="1">
                <a:solidFill>
                  <a:srgbClr val="2AA876"/>
                </a:solidFill>
                <a:latin typeface="YuGothic"/>
                <a:ea typeface="YuGothic"/>
                <a:cs typeface="YuGothic"/>
              </a:rPr>
              <a:t>2クラスLIME が最高</a:t>
            </a:r>
          </a:p>
        </p:txBody>
      </p:sp>
      <p:sp>
        <p:nvSpPr>
          <p:cNvPr id="12" name="角丸四角形 11">
            <a:extLst>
              <a:ext uri="{FF2B5EF4-FFF2-40B4-BE49-F238E27FC236}">
                <a16:creationId xmlns:a16="http://schemas.microsoft.com/office/drawing/2014/main" id="{A8F35902-1049-4450-ACD7-C8ED88B9102C}"/>
              </a:ext>
            </a:extLst>
          </p:cNvPr>
          <p:cNvSpPr>
            <a:spLocks noGrp="1"/>
          </p:cNvSpPr>
          <p:nvPr/>
        </p:nvSpPr>
        <p:spPr>
          <a:xfrm>
            <a:off x="9277350" y="3781425"/>
            <a:ext cx="2362200" cy="1200150"/>
          </a:xfrm>
          <a:prstGeom prst="roundRect">
            <a:avLst>
              <a:gd name="adj" fmla="val 6349"/>
            </a:avLst>
          </a:prstGeom>
          <a:solidFill>
            <a:srgbClr val="FFF4D6"/>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4F93DBE3-D68F-4CD9-BA63-469470B3C89E}"/>
              </a:ext>
            </a:extLst>
          </p:cNvPr>
          <p:cNvSpPr>
            <a:spLocks noGrp="1"/>
          </p:cNvSpPr>
          <p:nvPr/>
        </p:nvSpPr>
        <p:spPr>
          <a:xfrm>
            <a:off x="9448800" y="3914775"/>
            <a:ext cx="2019300" cy="238125"/>
          </a:xfrm>
          <a:prstGeom prst="rect">
            <a:avLst/>
          </a:prstGeom>
          <a:noFill/>
          <a:ln w="0">
            <a:noFill/>
          </a:ln>
        </p:spPr>
        <p:txBody>
          <a:bodyPr anchor="ctr">
            <a:normAutofit fontScale="75490"/>
          </a:bodyPr>
          <a:lstStyle/>
          <a:p>
            <a:pPr algn="ctr">
              <a:defRPr sz="1275" b="1">
                <a:solidFill>
                  <a:srgbClr val="F28C28"/>
                </a:solidFill>
                <a:latin typeface="YuGothic"/>
                <a:ea typeface="YuGothic"/>
                <a:cs typeface="YuGothic"/>
              </a:defRPr>
            </a:pPr>
            <a:r>
              <a:rPr sz="1275" b="1">
                <a:solidFill>
                  <a:srgbClr val="F28C28"/>
                </a:solidFill>
                <a:latin typeface="YuGothic"/>
                <a:ea typeface="YuGothic"/>
                <a:cs typeface="YuGothic"/>
              </a:rPr>
              <a:t>解釈</a:t>
            </a:r>
          </a:p>
        </p:txBody>
      </p:sp>
      <p:sp>
        <p:nvSpPr>
          <p:cNvPr id="14" name="正方形/長方形 13">
            <a:extLst>
              <a:ext uri="{FF2B5EF4-FFF2-40B4-BE49-F238E27FC236}">
                <a16:creationId xmlns:a16="http://schemas.microsoft.com/office/drawing/2014/main" id="{3FD8C3C7-FFCA-4059-B537-40CF58816E71}"/>
              </a:ext>
            </a:extLst>
          </p:cNvPr>
          <p:cNvSpPr>
            <a:spLocks noGrp="1"/>
          </p:cNvSpPr>
          <p:nvPr/>
        </p:nvSpPr>
        <p:spPr>
          <a:xfrm>
            <a:off x="9439275" y="4238625"/>
            <a:ext cx="2038350" cy="590550"/>
          </a:xfrm>
          <a:prstGeom prst="rect">
            <a:avLst/>
          </a:prstGeom>
          <a:noFill/>
          <a:ln w="0">
            <a:noFill/>
          </a:ln>
        </p:spPr>
        <p:txBody>
          <a:bodyPr anchor="ctr">
            <a:normAutofit fontScale="82857"/>
          </a:bodyPr>
          <a:lstStyle/>
          <a:p>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softmaxかどうかだけでは不十分。</a:t>
            </a:r>
          </a:p>
          <a:p>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局所logit差が線形に近いとき、</a:t>
            </a:r>
          </a:p>
          <a:p>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対数比Ridgeが効く。</a:t>
            </a:r>
          </a:p>
        </p:txBody>
      </p:sp>
      <p:sp>
        <p:nvSpPr>
          <p:cNvPr id="15" name="角丸四角形 14">
            <a:extLst>
              <a:ext uri="{FF2B5EF4-FFF2-40B4-BE49-F238E27FC236}">
                <a16:creationId xmlns:a16="http://schemas.microsoft.com/office/drawing/2014/main" id="{A3848F03-9142-4950-AB1D-EC2A8D2E3BA2}"/>
              </a:ext>
            </a:extLst>
          </p:cNvPr>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9F2A9D6A-5492-4CAA-965E-295C17F16EDA}"/>
              </a:ext>
            </a:extLst>
          </p:cNvPr>
          <p:cNvSpPr>
            <a:spLocks noGrp="1"/>
          </p:cNvSpPr>
          <p:nvPr/>
        </p:nvSpPr>
        <p:spPr>
          <a:xfrm>
            <a:off x="952500" y="58578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このスライドの主張：万能な1方式はなく、黒箱の局所構造に応じて回帰対象を選ぶ必要がある</a:t>
            </a:r>
          </a:p>
        </p:txBody>
      </p:sp>
    </p:spTree>
    <p:extLst>
      <p:ext uri="{BB962C8B-B14F-4D97-AF65-F5344CB8AC3E}">
        <p14:creationId xmlns:p14="http://schemas.microsoft.com/office/powerpoint/2010/main" val="1261852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A110BDC6-E607-4A92-BBD6-1F0F27D9AB7B}"/>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640D84EE-2F0B-41D1-B077-77151218C129}"/>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解釈性：競合に関係する特徴を選べるか</a:t>
            </a:r>
          </a:p>
        </p:txBody>
      </p:sp>
      <p:sp>
        <p:nvSpPr>
          <p:cNvPr id="3" name="正方形/長方形 2">
            <a:extLst>
              <a:ext uri="{FF2B5EF4-FFF2-40B4-BE49-F238E27FC236}">
                <a16:creationId xmlns:a16="http://schemas.microsoft.com/office/drawing/2014/main" id="{BE6851A0-2580-4950-A26D-E4F4845AB519}"/>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特徴の役割が既知の線形softmaxで、競合特徴・共通特徴・無関係特徴を分離</a:t>
            </a:r>
          </a:p>
        </p:txBody>
      </p:sp>
      <p:sp>
        <p:nvSpPr>
          <p:cNvPr id="4" name="正方形/長方形 3">
            <a:extLst>
              <a:ext uri="{FF2B5EF4-FFF2-40B4-BE49-F238E27FC236}">
                <a16:creationId xmlns:a16="http://schemas.microsoft.com/office/drawing/2014/main" id="{F6AE7647-76E6-4ACA-8453-BBB7EBD11D20}"/>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15</a:t>
            </a:r>
          </a:p>
        </p:txBody>
      </p:sp>
      <p:pic>
        <p:nvPicPr>
          <p:cNvPr id="18" name="図 17"/>
          <p:cNvPicPr>
            <a:picLocks noChangeAspect="1"/>
          </p:cNvPicPr>
          <p:nvPr/>
        </p:nvPicPr>
        <p:blipFill>
          <a:blip r:embed="rId3"/>
          <a:stretch/>
        </p:blipFill>
        <p:spPr>
          <a:xfrm>
            <a:off x="495300" y="1190209"/>
            <a:ext cx="11201400" cy="3820357"/>
          </a:xfrm>
          <a:prstGeom prst="rect">
            <a:avLst/>
          </a:prstGeom>
        </p:spPr>
      </p:pic>
      <p:sp>
        <p:nvSpPr>
          <p:cNvPr id="6" name="角丸四角形 5">
            <a:extLst>
              <a:ext uri="{FF2B5EF4-FFF2-40B4-BE49-F238E27FC236}">
                <a16:creationId xmlns:a16="http://schemas.microsoft.com/office/drawing/2014/main" id="{A79F126F-4896-4778-A9D7-E8CEE04D4515}"/>
              </a:ext>
            </a:extLst>
          </p:cNvPr>
          <p:cNvSpPr>
            <a:spLocks noGrp="1"/>
          </p:cNvSpPr>
          <p:nvPr/>
        </p:nvSpPr>
        <p:spPr>
          <a:xfrm>
            <a:off x="714375" y="5143500"/>
            <a:ext cx="3381375" cy="609600"/>
          </a:xfrm>
          <a:prstGeom prst="roundRect">
            <a:avLst>
              <a:gd name="adj" fmla="val 12500"/>
            </a:avLst>
          </a:prstGeom>
          <a:solidFill>
            <a:srgbClr val="F7F9FC"/>
          </a:solidFill>
          <a:ln w="9525">
            <a:solidFill>
              <a:srgbClr val="E7EBF0"/>
            </a:solidFill>
          </a:ln>
        </p:spPr>
        <p:txBody>
          <a:bodyPr/>
          <a:lstStyle/>
          <a:p>
            <a:endParaRPr lang="ja-JP" altLang="en-US"/>
          </a:p>
        </p:txBody>
      </p:sp>
      <p:sp>
        <p:nvSpPr>
          <p:cNvPr id="7" name="正方形/長方形 6">
            <a:extLst>
              <a:ext uri="{FF2B5EF4-FFF2-40B4-BE49-F238E27FC236}">
                <a16:creationId xmlns:a16="http://schemas.microsoft.com/office/drawing/2014/main" id="{F2CA504B-A58F-40E8-8E54-AB95C417D5AE}"/>
              </a:ext>
            </a:extLst>
          </p:cNvPr>
          <p:cNvSpPr>
            <a:spLocks noGrp="1"/>
          </p:cNvSpPr>
          <p:nvPr/>
        </p:nvSpPr>
        <p:spPr>
          <a:xfrm>
            <a:off x="866775" y="5219700"/>
            <a:ext cx="3076575" cy="457200"/>
          </a:xfrm>
          <a:prstGeom prst="rect">
            <a:avLst/>
          </a:prstGeom>
          <a:noFill/>
          <a:ln w="0">
            <a:noFill/>
          </a:ln>
        </p:spPr>
        <p:txBody>
          <a:bodyPr anchor="ctr">
            <a:normAutofit/>
          </a:bodyPr>
          <a:lstStyle/>
          <a:p>
            <a:pPr algn="ctr">
              <a:defRPr sz="1200" b="1">
                <a:solidFill>
                  <a:srgbClr val="1479C9"/>
                </a:solidFill>
                <a:latin typeface="YuGothic"/>
                <a:ea typeface="YuGothic"/>
                <a:cs typeface="YuGothic"/>
              </a:defRPr>
            </a:pPr>
            <a:r>
              <a:rPr sz="1200" b="1">
                <a:solidFill>
                  <a:srgbClr val="1479C9"/>
                </a:solidFill>
                <a:latin typeface="YuGothic"/>
                <a:ea typeface="YuGothic"/>
                <a:cs typeface="YuGothic"/>
              </a:rPr>
              <a:t>共通特徴の強さ=5：OVRの競合特徴再現率 0.807</a:t>
            </a:r>
          </a:p>
        </p:txBody>
      </p:sp>
      <p:sp>
        <p:nvSpPr>
          <p:cNvPr id="8" name="角丸四角形 7">
            <a:extLst>
              <a:ext uri="{FF2B5EF4-FFF2-40B4-BE49-F238E27FC236}">
                <a16:creationId xmlns:a16="http://schemas.microsoft.com/office/drawing/2014/main" id="{3B89E12E-2DEB-40D0-A7F0-2CE0931A0E7D}"/>
              </a:ext>
            </a:extLst>
          </p:cNvPr>
          <p:cNvSpPr>
            <a:spLocks noGrp="1"/>
          </p:cNvSpPr>
          <p:nvPr/>
        </p:nvSpPr>
        <p:spPr>
          <a:xfrm>
            <a:off x="4391025" y="5143500"/>
            <a:ext cx="3381375" cy="609600"/>
          </a:xfrm>
          <a:prstGeom prst="roundRect">
            <a:avLst>
              <a:gd name="adj" fmla="val 12500"/>
            </a:avLst>
          </a:prstGeom>
          <a:solidFill>
            <a:srgbClr val="EAF4FB"/>
          </a:solidFill>
          <a:ln w="0">
            <a:noFill/>
          </a:ln>
        </p:spPr>
        <p:txBody>
          <a:bodyPr/>
          <a:lstStyle/>
          <a:p>
            <a:endParaRPr lang="ja-JP" altLang="en-US"/>
          </a:p>
        </p:txBody>
      </p:sp>
      <p:sp>
        <p:nvSpPr>
          <p:cNvPr id="9" name="正方形/長方形 8">
            <a:extLst>
              <a:ext uri="{FF2B5EF4-FFF2-40B4-BE49-F238E27FC236}">
                <a16:creationId xmlns:a16="http://schemas.microsoft.com/office/drawing/2014/main" id="{A4F7E281-C334-4E2A-A0A5-D9701A8F669C}"/>
              </a:ext>
            </a:extLst>
          </p:cNvPr>
          <p:cNvSpPr>
            <a:spLocks noGrp="1"/>
          </p:cNvSpPr>
          <p:nvPr/>
        </p:nvSpPr>
        <p:spPr>
          <a:xfrm>
            <a:off x="4543425" y="5219700"/>
            <a:ext cx="3076575" cy="457200"/>
          </a:xfrm>
          <a:prstGeom prst="rect">
            <a:avLst/>
          </a:prstGeom>
          <a:noFill/>
          <a:ln w="0">
            <a:noFill/>
          </a:ln>
        </p:spPr>
        <p:txBody>
          <a:bodyPr anchor="ctr">
            <a:normAutofit/>
          </a:bodyPr>
          <a:lstStyle/>
          <a:p>
            <a:pPr algn="ctr">
              <a:defRPr sz="1200" b="1">
                <a:solidFill>
                  <a:srgbClr val="2AA876"/>
                </a:solidFill>
                <a:latin typeface="YuGothic"/>
                <a:ea typeface="YuGothic"/>
                <a:cs typeface="YuGothic"/>
              </a:defRPr>
            </a:pPr>
            <a:r>
              <a:rPr sz="1200" b="1">
                <a:solidFill>
                  <a:srgbClr val="2AA876"/>
                </a:solidFill>
                <a:latin typeface="YuGothic"/>
                <a:ea typeface="YuGothic"/>
                <a:cs typeface="YuGothic"/>
              </a:rPr>
              <a:t>2クラス方式：競合特徴再現率 約1.000、共通特徴表示率 約0</a:t>
            </a:r>
          </a:p>
        </p:txBody>
      </p:sp>
      <p:sp>
        <p:nvSpPr>
          <p:cNvPr id="10" name="角丸四角形 9">
            <a:extLst>
              <a:ext uri="{FF2B5EF4-FFF2-40B4-BE49-F238E27FC236}">
                <a16:creationId xmlns:a16="http://schemas.microsoft.com/office/drawing/2014/main" id="{B70916A1-8C32-4835-80CA-DA24D82DCDF0}"/>
              </a:ext>
            </a:extLst>
          </p:cNvPr>
          <p:cNvSpPr>
            <a:spLocks noGrp="1"/>
          </p:cNvSpPr>
          <p:nvPr/>
        </p:nvSpPr>
        <p:spPr>
          <a:xfrm>
            <a:off x="8067675" y="5143500"/>
            <a:ext cx="3381375" cy="609600"/>
          </a:xfrm>
          <a:prstGeom prst="roundRect">
            <a:avLst>
              <a:gd name="adj" fmla="val 12500"/>
            </a:avLst>
          </a:prstGeom>
          <a:solidFill>
            <a:srgbClr val="FFF4D6"/>
          </a:solidFill>
          <a:ln w="0">
            <a:noFill/>
          </a:ln>
        </p:spPr>
        <p:txBody>
          <a:bodyPr/>
          <a:lstStyle/>
          <a:p>
            <a:endParaRPr lang="ja-JP" altLang="en-US"/>
          </a:p>
        </p:txBody>
      </p:sp>
      <p:sp>
        <p:nvSpPr>
          <p:cNvPr id="11" name="正方形/長方形 10">
            <a:extLst>
              <a:ext uri="{FF2B5EF4-FFF2-40B4-BE49-F238E27FC236}">
                <a16:creationId xmlns:a16="http://schemas.microsoft.com/office/drawing/2014/main" id="{571595CB-E9D1-473F-A382-619DF913CEBB}"/>
              </a:ext>
            </a:extLst>
          </p:cNvPr>
          <p:cNvSpPr>
            <a:spLocks noGrp="1"/>
          </p:cNvSpPr>
          <p:nvPr/>
        </p:nvSpPr>
        <p:spPr>
          <a:xfrm>
            <a:off x="8220075" y="5219700"/>
            <a:ext cx="3076575" cy="457200"/>
          </a:xfrm>
          <a:prstGeom prst="rect">
            <a:avLst/>
          </a:prstGeom>
          <a:noFill/>
          <a:ln w="0">
            <a:noFill/>
          </a:ln>
        </p:spPr>
        <p:txBody>
          <a:bodyPr anchor="ctr">
            <a:normAutofit/>
          </a:bodyPr>
          <a:lstStyle/>
          <a:p>
            <a:pPr algn="ctr">
              <a:defRPr sz="1200" b="1">
                <a:solidFill>
                  <a:srgbClr val="F28C28"/>
                </a:solidFill>
                <a:latin typeface="YuGothic"/>
                <a:ea typeface="YuGothic"/>
                <a:cs typeface="YuGothic"/>
              </a:defRPr>
            </a:pPr>
            <a:r>
              <a:rPr sz="1200" b="1">
                <a:solidFill>
                  <a:srgbClr val="F28C28"/>
                </a:solidFill>
                <a:latin typeface="YuGothic"/>
                <a:ea typeface="YuGothic"/>
                <a:cs typeface="YuGothic"/>
              </a:rPr>
              <a:t>これは『人の理解しやすさ』ではなく、質問への特徴関連性の定量評価</a:t>
            </a:r>
          </a:p>
        </p:txBody>
      </p:sp>
      <p:sp>
        <p:nvSpPr>
          <p:cNvPr id="12" name="角丸四角形 11">
            <a:extLst>
              <a:ext uri="{FF2B5EF4-FFF2-40B4-BE49-F238E27FC236}">
                <a16:creationId xmlns:a16="http://schemas.microsoft.com/office/drawing/2014/main" id="{7F001BE2-1A1B-44C3-8DB1-EF8832069E1B}"/>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ADD43BB2-2E1F-4318-84B5-63B8A878867A}"/>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このスライドの主張：2クラス説明は、両クラスに共通する証拠を避け、勝敗を分ける特徴へ表示枠を使える</a:t>
            </a:r>
          </a:p>
        </p:txBody>
      </p:sp>
    </p:spTree>
    <p:extLst>
      <p:ext uri="{BB962C8B-B14F-4D97-AF65-F5344CB8AC3E}">
        <p14:creationId xmlns:p14="http://schemas.microsoft.com/office/powerpoint/2010/main" val="602216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139696B-3B2A-435E-82CC-945139AAAE43}"/>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6F374572-21B2-4C9E-9851-B3DC66ECC53E}"/>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計算時間</a:t>
            </a:r>
          </a:p>
        </p:txBody>
      </p:sp>
      <p:sp>
        <p:nvSpPr>
          <p:cNvPr id="3" name="正方形/長方形 2">
            <a:extLst>
              <a:ext uri="{FF2B5EF4-FFF2-40B4-BE49-F238E27FC236}">
                <a16:creationId xmlns:a16="http://schemas.microsoft.com/office/drawing/2014/main" id="{F760BE8D-19B0-4E5C-97B7-476A0921B60D}"/>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特徴選択＋選択後の最終再学習。BB推論と摂動生成は含めない</a:t>
            </a:r>
          </a:p>
        </p:txBody>
      </p:sp>
      <p:sp>
        <p:nvSpPr>
          <p:cNvPr id="4" name="正方形/長方形 3">
            <a:extLst>
              <a:ext uri="{FF2B5EF4-FFF2-40B4-BE49-F238E27FC236}">
                <a16:creationId xmlns:a16="http://schemas.microsoft.com/office/drawing/2014/main" id="{AA19BE55-24CF-4D55-97EA-071078CF05DE}"/>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16</a:t>
            </a:r>
          </a:p>
        </p:txBody>
      </p:sp>
      <p:pic>
        <p:nvPicPr>
          <p:cNvPr id="12" name="図 11"/>
          <p:cNvPicPr>
            <a:picLocks noChangeAspect="1"/>
          </p:cNvPicPr>
          <p:nvPr/>
        </p:nvPicPr>
        <p:blipFill>
          <a:blip r:embed="rId3"/>
          <a:stretch/>
        </p:blipFill>
        <p:spPr>
          <a:xfrm>
            <a:off x="702462" y="1133475"/>
            <a:ext cx="10787076" cy="4514850"/>
          </a:xfrm>
          <a:prstGeom prst="rect">
            <a:avLst/>
          </a:prstGeom>
        </p:spPr>
      </p:pic>
      <p:sp>
        <p:nvSpPr>
          <p:cNvPr id="6" name="角丸四角形 5">
            <a:extLst>
              <a:ext uri="{FF2B5EF4-FFF2-40B4-BE49-F238E27FC236}">
                <a16:creationId xmlns:a16="http://schemas.microsoft.com/office/drawing/2014/main" id="{A59C6C1B-C63B-4F90-9FA5-68FB5E185736}"/>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9A76780F-DB8D-48F7-9841-8DB034A96586}"/>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このスライドの主張：Top-1対Top-2の1ペアだけを作る方式はクラス数に依存せず、C=10ではOVRの約10分の1</a:t>
            </a:r>
          </a:p>
        </p:txBody>
      </p:sp>
    </p:spTree>
    <p:extLst>
      <p:ext uri="{BB962C8B-B14F-4D97-AF65-F5344CB8AC3E}">
        <p14:creationId xmlns:p14="http://schemas.microsoft.com/office/powerpoint/2010/main" val="1089054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77124F7A-27DA-4E92-8915-145E679EDDE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AD131223-4895-499C-9636-6FA2A33264C1}"/>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考察1：2クラスに絞ると何が変わるか</a:t>
            </a:r>
          </a:p>
        </p:txBody>
      </p:sp>
      <p:sp>
        <p:nvSpPr>
          <p:cNvPr id="3" name="正方形/長方形 2">
            <a:extLst>
              <a:ext uri="{FF2B5EF4-FFF2-40B4-BE49-F238E27FC236}">
                <a16:creationId xmlns:a16="http://schemas.microsoft.com/office/drawing/2014/main" id="{7BA98B94-5BE9-4978-8470-8C6C143F3667}"/>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OVRとpairwise説明は、そもそも答えている質問が異なる</a:t>
            </a:r>
          </a:p>
        </p:txBody>
      </p:sp>
      <p:sp>
        <p:nvSpPr>
          <p:cNvPr id="4" name="正方形/長方形 3">
            <a:extLst>
              <a:ext uri="{FF2B5EF4-FFF2-40B4-BE49-F238E27FC236}">
                <a16:creationId xmlns:a16="http://schemas.microsoft.com/office/drawing/2014/main" id="{1777A279-6844-454F-974B-DC7822BB83C8}"/>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17</a:t>
            </a:r>
          </a:p>
        </p:txBody>
      </p:sp>
      <p:sp>
        <p:nvSpPr>
          <p:cNvPr id="5" name="角丸四角形 4">
            <a:extLst>
              <a:ext uri="{FF2B5EF4-FFF2-40B4-BE49-F238E27FC236}">
                <a16:creationId xmlns:a16="http://schemas.microsoft.com/office/drawing/2014/main" id="{ACDE1BBE-F6CE-4A5D-8A87-AE4BCA14DBD0}"/>
              </a:ext>
            </a:extLst>
          </p:cNvPr>
          <p:cNvSpPr>
            <a:spLocks noGrp="1"/>
          </p:cNvSpPr>
          <p:nvPr/>
        </p:nvSpPr>
        <p:spPr>
          <a:xfrm>
            <a:off x="762000" y="1219200"/>
            <a:ext cx="10668000" cy="781050"/>
          </a:xfrm>
          <a:prstGeom prst="roundRect">
            <a:avLst>
              <a:gd name="adj" fmla="val 9756"/>
            </a:avLst>
          </a:prstGeom>
          <a:solidFill>
            <a:srgbClr val="EAF4FB"/>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1DCF3F60-242F-49C4-93CA-E8549FF262B9}"/>
              </a:ext>
            </a:extLst>
          </p:cNvPr>
          <p:cNvSpPr>
            <a:spLocks noGrp="1"/>
          </p:cNvSpPr>
          <p:nvPr/>
        </p:nvSpPr>
        <p:spPr>
          <a:xfrm>
            <a:off x="1000125" y="1381125"/>
            <a:ext cx="10191750" cy="438150"/>
          </a:xfrm>
          <a:prstGeom prst="rect">
            <a:avLst/>
          </a:prstGeom>
          <a:noFill/>
          <a:ln w="0">
            <a:noFill/>
          </a:ln>
        </p:spPr>
        <p:txBody>
          <a:bodyPr anchor="ctr">
            <a:normAutofit/>
          </a:bodyPr>
          <a:lstStyle/>
          <a:p>
            <a:pPr algn="ctr">
              <a:defRPr sz="1800" b="1">
                <a:solidFill>
                  <a:srgbClr val="1479C9"/>
                </a:solidFill>
                <a:latin typeface="YuGothic"/>
                <a:ea typeface="YuGothic"/>
                <a:cs typeface="YuGothic"/>
              </a:defRPr>
            </a:pPr>
            <a:r>
              <a:rPr sz="1800" b="1">
                <a:solidFill>
                  <a:srgbClr val="1479C9"/>
                </a:solidFill>
                <a:latin typeface="YuGothic"/>
                <a:ea typeface="YuGothic"/>
                <a:cs typeface="YuGothic"/>
              </a:rPr>
              <a:t>OVRは『なぜクラスAらしいか』、2クラス説明は『なぜAがBより選ばれたか』に答える</a:t>
            </a:r>
          </a:p>
        </p:txBody>
      </p:sp>
      <p:sp>
        <p:nvSpPr>
          <p:cNvPr id="7" name="角丸四角形 6">
            <a:extLst>
              <a:ext uri="{FF2B5EF4-FFF2-40B4-BE49-F238E27FC236}">
                <a16:creationId xmlns:a16="http://schemas.microsoft.com/office/drawing/2014/main" id="{F06556CE-8855-4901-85DD-41FA203280CC}"/>
              </a:ext>
            </a:extLst>
          </p:cNvPr>
          <p:cNvSpPr>
            <a:spLocks noGrp="1"/>
          </p:cNvSpPr>
          <p:nvPr/>
        </p:nvSpPr>
        <p:spPr>
          <a:xfrm>
            <a:off x="838200" y="2400300"/>
            <a:ext cx="2076450" cy="304800"/>
          </a:xfrm>
          <a:prstGeom prst="roundRect">
            <a:avLst>
              <a:gd name="adj" fmla="val 25000"/>
            </a:avLst>
          </a:prstGeom>
          <a:solidFill>
            <a:srgbClr val="2AA876"/>
          </a:solidFill>
          <a:ln w="0">
            <a:noFill/>
          </a:ln>
        </p:spPr>
        <p:txBody>
          <a:bodyPr/>
          <a:lstStyle/>
          <a:p>
            <a:endParaRPr lang="ja-JP" altLang="en-US"/>
          </a:p>
        </p:txBody>
      </p:sp>
      <p:sp>
        <p:nvSpPr>
          <p:cNvPr id="8" name="正方形/長方形 7">
            <a:extLst>
              <a:ext uri="{FF2B5EF4-FFF2-40B4-BE49-F238E27FC236}">
                <a16:creationId xmlns:a16="http://schemas.microsoft.com/office/drawing/2014/main" id="{9D88ADB7-A78E-4A0C-9573-73760900F3B4}"/>
              </a:ext>
            </a:extLst>
          </p:cNvPr>
          <p:cNvSpPr>
            <a:spLocks noGrp="1"/>
          </p:cNvSpPr>
          <p:nvPr/>
        </p:nvSpPr>
        <p:spPr>
          <a:xfrm>
            <a:off x="933450" y="2409825"/>
            <a:ext cx="18859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① 共通証拠を相殺</a:t>
            </a:r>
          </a:p>
        </p:txBody>
      </p:sp>
      <p:sp>
        <p:nvSpPr>
          <p:cNvPr id="9" name="角丸四角形 8">
            <a:extLst>
              <a:ext uri="{FF2B5EF4-FFF2-40B4-BE49-F238E27FC236}">
                <a16:creationId xmlns:a16="http://schemas.microsoft.com/office/drawing/2014/main" id="{D6961BEB-026C-487E-91BA-822D1EFEB4EE}"/>
              </a:ext>
            </a:extLst>
          </p:cNvPr>
          <p:cNvSpPr>
            <a:spLocks noGrp="1"/>
          </p:cNvSpPr>
          <p:nvPr/>
        </p:nvSpPr>
        <p:spPr>
          <a:xfrm>
            <a:off x="3105150" y="22669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0" name="正方形/長方形 9">
            <a:extLst>
              <a:ext uri="{FF2B5EF4-FFF2-40B4-BE49-F238E27FC236}">
                <a16:creationId xmlns:a16="http://schemas.microsoft.com/office/drawing/2014/main" id="{C3F861FB-BAC7-4550-A0BE-294C73B0C11C}"/>
              </a:ext>
            </a:extLst>
          </p:cNvPr>
          <p:cNvSpPr>
            <a:spLocks noGrp="1"/>
          </p:cNvSpPr>
          <p:nvPr/>
        </p:nvSpPr>
        <p:spPr>
          <a:xfrm>
            <a:off x="3314700" y="2343150"/>
            <a:ext cx="7829550" cy="6477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AとBを同じ方向に押し上げる特徴は、A単独では重要でもA対Bの勝敗には効かない。qやlog(pA/pB)を説明すると、その共通成分が表示上位から外れやすい。</a:t>
            </a:r>
          </a:p>
        </p:txBody>
      </p:sp>
      <p:sp>
        <p:nvSpPr>
          <p:cNvPr id="11" name="角丸四角形 10">
            <a:extLst>
              <a:ext uri="{FF2B5EF4-FFF2-40B4-BE49-F238E27FC236}">
                <a16:creationId xmlns:a16="http://schemas.microsoft.com/office/drawing/2014/main" id="{C1F7E951-B5AF-4287-B28B-8B5476604A93}"/>
              </a:ext>
            </a:extLst>
          </p:cNvPr>
          <p:cNvSpPr>
            <a:spLocks noGrp="1"/>
          </p:cNvSpPr>
          <p:nvPr/>
        </p:nvSpPr>
        <p:spPr>
          <a:xfrm>
            <a:off x="838200" y="3467100"/>
            <a:ext cx="2076450" cy="304800"/>
          </a:xfrm>
          <a:prstGeom prst="roundRect">
            <a:avLst>
              <a:gd name="adj" fmla="val 25000"/>
            </a:avLst>
          </a:prstGeom>
          <a:solidFill>
            <a:srgbClr val="F28C28"/>
          </a:solidFill>
          <a:ln w="0">
            <a:noFill/>
          </a:ln>
        </p:spPr>
        <p:txBody>
          <a:bodyPr/>
          <a:lstStyle/>
          <a:p>
            <a:endParaRPr lang="ja-JP" altLang="en-US"/>
          </a:p>
        </p:txBody>
      </p:sp>
      <p:sp>
        <p:nvSpPr>
          <p:cNvPr id="12" name="正方形/長方形 11">
            <a:extLst>
              <a:ext uri="{FF2B5EF4-FFF2-40B4-BE49-F238E27FC236}">
                <a16:creationId xmlns:a16="http://schemas.microsoft.com/office/drawing/2014/main" id="{F08715F1-8CF4-4651-AB83-BD93B8337223}"/>
              </a:ext>
            </a:extLst>
          </p:cNvPr>
          <p:cNvSpPr>
            <a:spLocks noGrp="1"/>
          </p:cNvSpPr>
          <p:nvPr/>
        </p:nvSpPr>
        <p:spPr>
          <a:xfrm>
            <a:off x="933450" y="3476625"/>
            <a:ext cx="18859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② 表示予算を集中</a:t>
            </a:r>
          </a:p>
        </p:txBody>
      </p:sp>
      <p:sp>
        <p:nvSpPr>
          <p:cNvPr id="13" name="角丸四角形 12">
            <a:extLst>
              <a:ext uri="{FF2B5EF4-FFF2-40B4-BE49-F238E27FC236}">
                <a16:creationId xmlns:a16="http://schemas.microsoft.com/office/drawing/2014/main" id="{774F9717-E53D-4097-8009-349E69F64690}"/>
              </a:ext>
            </a:extLst>
          </p:cNvPr>
          <p:cNvSpPr>
            <a:spLocks noGrp="1"/>
          </p:cNvSpPr>
          <p:nvPr/>
        </p:nvSpPr>
        <p:spPr>
          <a:xfrm>
            <a:off x="3105150" y="33337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4" name="正方形/長方形 13">
            <a:extLst>
              <a:ext uri="{FF2B5EF4-FFF2-40B4-BE49-F238E27FC236}">
                <a16:creationId xmlns:a16="http://schemas.microsoft.com/office/drawing/2014/main" id="{1B8BDDE1-4937-4322-B272-92F1B644E661}"/>
              </a:ext>
            </a:extLst>
          </p:cNvPr>
          <p:cNvSpPr>
            <a:spLocks noGrp="1"/>
          </p:cNvSpPr>
          <p:nvPr/>
        </p:nvSpPr>
        <p:spPr>
          <a:xfrm>
            <a:off x="3314700" y="3409950"/>
            <a:ext cx="7829550" cy="6477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説明特徴数Kが小さいほど、関係のない共通特徴が1個入る損失は大きい。pairwise方式は限られた枠を『どちらを支持するか』へ集中できる。</a:t>
            </a:r>
          </a:p>
        </p:txBody>
      </p:sp>
      <p:sp>
        <p:nvSpPr>
          <p:cNvPr id="15" name="角丸四角形 14">
            <a:extLst>
              <a:ext uri="{FF2B5EF4-FFF2-40B4-BE49-F238E27FC236}">
                <a16:creationId xmlns:a16="http://schemas.microsoft.com/office/drawing/2014/main" id="{4F770AEE-0980-414C-BAB3-B9782933B146}"/>
              </a:ext>
            </a:extLst>
          </p:cNvPr>
          <p:cNvSpPr>
            <a:spLocks noGrp="1"/>
          </p:cNvSpPr>
          <p:nvPr/>
        </p:nvSpPr>
        <p:spPr>
          <a:xfrm>
            <a:off x="838200" y="4533900"/>
            <a:ext cx="2076450" cy="304800"/>
          </a:xfrm>
          <a:prstGeom prst="roundRect">
            <a:avLst>
              <a:gd name="adj" fmla="val 25000"/>
            </a:avLst>
          </a:prstGeom>
          <a:solidFill>
            <a:srgbClr val="7B61A8"/>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F7F234A3-88E6-42DD-A4CB-83093EC39213}"/>
              </a:ext>
            </a:extLst>
          </p:cNvPr>
          <p:cNvSpPr>
            <a:spLocks noGrp="1"/>
          </p:cNvSpPr>
          <p:nvPr/>
        </p:nvSpPr>
        <p:spPr>
          <a:xfrm>
            <a:off x="933450" y="4543425"/>
            <a:ext cx="18859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③ 忠実度は維持</a:t>
            </a:r>
          </a:p>
        </p:txBody>
      </p:sp>
      <p:sp>
        <p:nvSpPr>
          <p:cNvPr id="17" name="角丸四角形 16">
            <a:extLst>
              <a:ext uri="{FF2B5EF4-FFF2-40B4-BE49-F238E27FC236}">
                <a16:creationId xmlns:a16="http://schemas.microsoft.com/office/drawing/2014/main" id="{EF4D6B40-1911-4C59-A2AC-B331CE6A27BB}"/>
              </a:ext>
            </a:extLst>
          </p:cNvPr>
          <p:cNvSpPr>
            <a:spLocks noGrp="1"/>
          </p:cNvSpPr>
          <p:nvPr/>
        </p:nvSpPr>
        <p:spPr>
          <a:xfrm>
            <a:off x="3105150" y="44005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8" name="正方形/長方形 17">
            <a:extLst>
              <a:ext uri="{FF2B5EF4-FFF2-40B4-BE49-F238E27FC236}">
                <a16:creationId xmlns:a16="http://schemas.microsoft.com/office/drawing/2014/main" id="{E0B400B1-328C-4544-96F5-58384419DA28}"/>
              </a:ext>
            </a:extLst>
          </p:cNvPr>
          <p:cNvSpPr>
            <a:spLocks noGrp="1"/>
          </p:cNvSpPr>
          <p:nvPr/>
        </p:nvSpPr>
        <p:spPr>
          <a:xfrm>
            <a:off x="3314700" y="4476750"/>
            <a:ext cx="7829550" cy="6477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RF主実験の改善は+0.0041と小さいが、同じKでも悪化せず、特徴関連性と計算時間は明確に改善した。価値は3指標を合わせて判断する。</a:t>
            </a:r>
          </a:p>
        </p:txBody>
      </p:sp>
      <p:sp>
        <p:nvSpPr>
          <p:cNvPr id="19" name="角丸四角形 18">
            <a:extLst>
              <a:ext uri="{FF2B5EF4-FFF2-40B4-BE49-F238E27FC236}">
                <a16:creationId xmlns:a16="http://schemas.microsoft.com/office/drawing/2014/main" id="{9A6A73C0-FE58-494E-9009-5B6BE6B70DD3}"/>
              </a:ext>
            </a:extLst>
          </p:cNvPr>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altLang="en-US"/>
          </a:p>
        </p:txBody>
      </p:sp>
      <p:sp>
        <p:nvSpPr>
          <p:cNvPr id="20" name="正方形/長方形 19">
            <a:extLst>
              <a:ext uri="{FF2B5EF4-FFF2-40B4-BE49-F238E27FC236}">
                <a16:creationId xmlns:a16="http://schemas.microsoft.com/office/drawing/2014/main" id="{D5DE864F-5F2E-4FD9-AEAC-A5733F056978}"/>
              </a:ext>
            </a:extLst>
          </p:cNvPr>
          <p:cNvSpPr>
            <a:spLocks noGrp="1"/>
          </p:cNvSpPr>
          <p:nvPr/>
        </p:nvSpPr>
        <p:spPr>
          <a:xfrm>
            <a:off x="952500" y="58578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このスライドの主張：精度向上だけでなく、『質問に合う特徴を出す』ことが2クラス化の主要な意義</a:t>
            </a:r>
          </a:p>
        </p:txBody>
      </p:sp>
    </p:spTree>
    <p:extLst>
      <p:ext uri="{BB962C8B-B14F-4D97-AF65-F5344CB8AC3E}">
        <p14:creationId xmlns:p14="http://schemas.microsoft.com/office/powerpoint/2010/main" val="311209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80DB455E-8A96-49E1-B31B-1C180752B632}"/>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F5F208D7-0D70-407C-B2E4-236342F1125E}"/>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考察2：3つの2クラス方式をどう使い分けるか</a:t>
            </a:r>
          </a:p>
        </p:txBody>
      </p:sp>
      <p:sp>
        <p:nvSpPr>
          <p:cNvPr id="3" name="正方形/長方形 2">
            <a:extLst>
              <a:ext uri="{FF2B5EF4-FFF2-40B4-BE49-F238E27FC236}">
                <a16:creationId xmlns:a16="http://schemas.microsoft.com/office/drawing/2014/main" id="{109FA467-DB4C-4F7B-9F58-CD3DFDCAC26A}"/>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2クラスの選択と、その後のリンク関数・損失の選択を分けて考える</a:t>
            </a:r>
          </a:p>
        </p:txBody>
      </p:sp>
      <p:sp>
        <p:nvSpPr>
          <p:cNvPr id="4" name="正方形/長方形 3">
            <a:extLst>
              <a:ext uri="{FF2B5EF4-FFF2-40B4-BE49-F238E27FC236}">
                <a16:creationId xmlns:a16="http://schemas.microsoft.com/office/drawing/2014/main" id="{5FE59AB3-1DC0-4992-ACFA-32CF5595C156}"/>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18</a:t>
            </a:r>
          </a:p>
        </p:txBody>
      </p:sp>
      <p:sp>
        <p:nvSpPr>
          <p:cNvPr id="5" name="角丸四角形 4">
            <a:extLst>
              <a:ext uri="{FF2B5EF4-FFF2-40B4-BE49-F238E27FC236}">
                <a16:creationId xmlns:a16="http://schemas.microsoft.com/office/drawing/2014/main" id="{3534BEAD-C324-44E9-8E28-F62E595F6CAA}"/>
              </a:ext>
            </a:extLst>
          </p:cNvPr>
          <p:cNvSpPr>
            <a:spLocks noGrp="1"/>
          </p:cNvSpPr>
          <p:nvPr/>
        </p:nvSpPr>
        <p:spPr>
          <a:xfrm>
            <a:off x="685800" y="1352550"/>
            <a:ext cx="3486150" cy="3390900"/>
          </a:xfrm>
          <a:prstGeom prst="roundRect">
            <a:avLst>
              <a:gd name="adj" fmla="val 2247"/>
            </a:avLst>
          </a:prstGeom>
          <a:solidFill>
            <a:srgbClr val="FFFFFF"/>
          </a:solidFill>
          <a:ln w="9525">
            <a:solidFill>
              <a:srgbClr val="2AA876"/>
            </a:solidFill>
          </a:ln>
        </p:spPr>
        <p:txBody>
          <a:bodyPr/>
          <a:lstStyle/>
          <a:p>
            <a:endParaRPr lang="ja-JP" altLang="en-US"/>
          </a:p>
        </p:txBody>
      </p:sp>
      <p:sp>
        <p:nvSpPr>
          <p:cNvPr id="6" name="角丸四角形 5">
            <a:extLst>
              <a:ext uri="{FF2B5EF4-FFF2-40B4-BE49-F238E27FC236}">
                <a16:creationId xmlns:a16="http://schemas.microsoft.com/office/drawing/2014/main" id="{6D0E0B8A-83E9-4419-9AC1-566C5228CD95}"/>
              </a:ext>
            </a:extLst>
          </p:cNvPr>
          <p:cNvSpPr>
            <a:spLocks noGrp="1"/>
          </p:cNvSpPr>
          <p:nvPr/>
        </p:nvSpPr>
        <p:spPr>
          <a:xfrm>
            <a:off x="685800" y="1352550"/>
            <a:ext cx="3486150" cy="571500"/>
          </a:xfrm>
          <a:prstGeom prst="roundRect">
            <a:avLst>
              <a:gd name="adj" fmla="val 13333"/>
            </a:avLst>
          </a:prstGeom>
          <a:solidFill>
            <a:srgbClr val="2AA876"/>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BD9CFCE2-1E53-455D-A217-C17DB4921F4A}"/>
              </a:ext>
            </a:extLst>
          </p:cNvPr>
          <p:cNvSpPr>
            <a:spLocks noGrp="1"/>
          </p:cNvSpPr>
          <p:nvPr/>
        </p:nvSpPr>
        <p:spPr>
          <a:xfrm>
            <a:off x="857250" y="1447800"/>
            <a:ext cx="3143250" cy="381000"/>
          </a:xfrm>
          <a:prstGeom prst="rect">
            <a:avLst/>
          </a:prstGeom>
          <a:noFill/>
          <a:ln w="0">
            <a:noFill/>
          </a:ln>
        </p:spPr>
        <p:txBody>
          <a:bodyPr anchor="ctr">
            <a:normAutofit/>
          </a:bodyPr>
          <a:lstStyle/>
          <a:p>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2クラスLIME</a:t>
            </a:r>
          </a:p>
        </p:txBody>
      </p:sp>
      <p:sp>
        <p:nvSpPr>
          <p:cNvPr id="8" name="正方形/長方形 7">
            <a:extLst>
              <a:ext uri="{FF2B5EF4-FFF2-40B4-BE49-F238E27FC236}">
                <a16:creationId xmlns:a16="http://schemas.microsoft.com/office/drawing/2014/main" id="{413AC622-052D-4716-9D19-79292FE2A4FA}"/>
              </a:ext>
            </a:extLst>
          </p:cNvPr>
          <p:cNvSpPr>
            <a:spLocks noGrp="1"/>
          </p:cNvSpPr>
          <p:nvPr/>
        </p:nvSpPr>
        <p:spPr>
          <a:xfrm>
            <a:off x="914400" y="2114550"/>
            <a:ext cx="3028950" cy="457200"/>
          </a:xfrm>
          <a:prstGeom prst="rect">
            <a:avLst/>
          </a:prstGeom>
          <a:noFill/>
          <a:ln w="0">
            <a:noFill/>
          </a:ln>
        </p:spPr>
        <p:txBody>
          <a:bodyPr anchor="ctr">
            <a:normAutofit/>
          </a:bodyPr>
          <a:lstStyle/>
          <a:p>
            <a:pPr algn="ctr">
              <a:defRPr sz="1500" b="1">
                <a:solidFill>
                  <a:srgbClr val="2AA876"/>
                </a:solidFill>
                <a:latin typeface="YuGothic"/>
                <a:ea typeface="YuGothic"/>
                <a:cs typeface="YuGothic"/>
              </a:defRPr>
            </a:pPr>
            <a:r>
              <a:rPr sz="1500" b="1">
                <a:solidFill>
                  <a:srgbClr val="2AA876"/>
                </a:solidFill>
                <a:latin typeface="YuGothic"/>
                <a:ea typeface="YuGothic"/>
                <a:cs typeface="YuGothic"/>
              </a:rPr>
              <a:t>qをRidge回帰</a:t>
            </a:r>
          </a:p>
        </p:txBody>
      </p:sp>
      <p:sp>
        <p:nvSpPr>
          <p:cNvPr id="9" name="正方形/長方形 8">
            <a:extLst>
              <a:ext uri="{FF2B5EF4-FFF2-40B4-BE49-F238E27FC236}">
                <a16:creationId xmlns:a16="http://schemas.microsoft.com/office/drawing/2014/main" id="{AB1D49E2-9307-464C-8D18-8041000B3685}"/>
              </a:ext>
            </a:extLst>
          </p:cNvPr>
          <p:cNvSpPr>
            <a:spLocks noGrp="1"/>
          </p:cNvSpPr>
          <p:nvPr/>
        </p:nvSpPr>
        <p:spPr>
          <a:xfrm>
            <a:off x="923925" y="2705100"/>
            <a:ext cx="3009900" cy="9525"/>
          </a:xfrm>
          <a:prstGeom prst="rect">
            <a:avLst/>
          </a:prstGeom>
          <a:solidFill>
            <a:srgbClr val="E7EBF0"/>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E0DB002D-D0DF-43EA-ABD5-3557FD75FB6B}"/>
              </a:ext>
            </a:extLst>
          </p:cNvPr>
          <p:cNvSpPr>
            <a:spLocks noGrp="1"/>
          </p:cNvSpPr>
          <p:nvPr/>
        </p:nvSpPr>
        <p:spPr>
          <a:xfrm>
            <a:off x="971550" y="2895600"/>
            <a:ext cx="2914650" cy="15240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3種類のBBで安定し、実装も最も単純。非線形NNとRFで最高忠実度。まず置くべき汎用ベースライン。</a:t>
            </a:r>
          </a:p>
        </p:txBody>
      </p:sp>
      <p:sp>
        <p:nvSpPr>
          <p:cNvPr id="11" name="角丸四角形 10">
            <a:extLst>
              <a:ext uri="{FF2B5EF4-FFF2-40B4-BE49-F238E27FC236}">
                <a16:creationId xmlns:a16="http://schemas.microsoft.com/office/drawing/2014/main" id="{1981E8FB-6923-40FA-8F45-63F34C59E794}"/>
              </a:ext>
            </a:extLst>
          </p:cNvPr>
          <p:cNvSpPr>
            <a:spLocks noGrp="1"/>
          </p:cNvSpPr>
          <p:nvPr/>
        </p:nvSpPr>
        <p:spPr>
          <a:xfrm>
            <a:off x="4438650" y="1352550"/>
            <a:ext cx="3486150" cy="3390900"/>
          </a:xfrm>
          <a:prstGeom prst="roundRect">
            <a:avLst>
              <a:gd name="adj" fmla="val 2247"/>
            </a:avLst>
          </a:prstGeom>
          <a:solidFill>
            <a:srgbClr val="FFFFFF"/>
          </a:solidFill>
          <a:ln w="9525">
            <a:solidFill>
              <a:srgbClr val="F28C28"/>
            </a:solidFill>
          </a:ln>
        </p:spPr>
        <p:txBody>
          <a:bodyPr/>
          <a:lstStyle/>
          <a:p>
            <a:endParaRPr lang="ja-JP" altLang="en-US"/>
          </a:p>
        </p:txBody>
      </p:sp>
      <p:sp>
        <p:nvSpPr>
          <p:cNvPr id="12" name="角丸四角形 11">
            <a:extLst>
              <a:ext uri="{FF2B5EF4-FFF2-40B4-BE49-F238E27FC236}">
                <a16:creationId xmlns:a16="http://schemas.microsoft.com/office/drawing/2014/main" id="{0F438F6A-BFB4-44F3-8D9C-6D9F4A8EFE3C}"/>
              </a:ext>
            </a:extLst>
          </p:cNvPr>
          <p:cNvSpPr>
            <a:spLocks noGrp="1"/>
          </p:cNvSpPr>
          <p:nvPr/>
        </p:nvSpPr>
        <p:spPr>
          <a:xfrm>
            <a:off x="4438650" y="1352550"/>
            <a:ext cx="3486150" cy="571500"/>
          </a:xfrm>
          <a:prstGeom prst="roundRect">
            <a:avLst>
              <a:gd name="adj" fmla="val 13333"/>
            </a:avLst>
          </a:prstGeom>
          <a:solidFill>
            <a:srgbClr val="F28C28"/>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ABB6D458-0A61-48B3-9D6C-EE1D4982AA84}"/>
              </a:ext>
            </a:extLst>
          </p:cNvPr>
          <p:cNvSpPr>
            <a:spLocks noGrp="1"/>
          </p:cNvSpPr>
          <p:nvPr/>
        </p:nvSpPr>
        <p:spPr>
          <a:xfrm>
            <a:off x="4610100" y="1447800"/>
            <a:ext cx="3143250" cy="381000"/>
          </a:xfrm>
          <a:prstGeom prst="rect">
            <a:avLst/>
          </a:prstGeom>
          <a:noFill/>
          <a:ln w="0">
            <a:noFill/>
          </a:ln>
        </p:spPr>
        <p:txBody>
          <a:bodyPr anchor="ctr">
            <a:normAutofit/>
          </a:bodyPr>
          <a:lstStyle/>
          <a:p>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Contrastive</a:t>
            </a:r>
          </a:p>
        </p:txBody>
      </p:sp>
      <p:sp>
        <p:nvSpPr>
          <p:cNvPr id="14" name="正方形/長方形 13">
            <a:extLst>
              <a:ext uri="{FF2B5EF4-FFF2-40B4-BE49-F238E27FC236}">
                <a16:creationId xmlns:a16="http://schemas.microsoft.com/office/drawing/2014/main" id="{1CB32110-729B-4AE0-9FB4-B883450A46EE}"/>
              </a:ext>
            </a:extLst>
          </p:cNvPr>
          <p:cNvSpPr>
            <a:spLocks noGrp="1"/>
          </p:cNvSpPr>
          <p:nvPr/>
        </p:nvSpPr>
        <p:spPr>
          <a:xfrm>
            <a:off x="4667250" y="2114550"/>
            <a:ext cx="3028950" cy="457200"/>
          </a:xfrm>
          <a:prstGeom prst="rect">
            <a:avLst/>
          </a:prstGeom>
          <a:noFill/>
          <a:ln w="0">
            <a:noFill/>
          </a:ln>
        </p:spPr>
        <p:txBody>
          <a:bodyPr anchor="ctr">
            <a:normAutofit/>
          </a:bodyPr>
          <a:lstStyle/>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log(p₁/p₂)をRidge回帰</a:t>
            </a:r>
          </a:p>
        </p:txBody>
      </p:sp>
      <p:sp>
        <p:nvSpPr>
          <p:cNvPr id="15" name="正方形/長方形 14">
            <a:extLst>
              <a:ext uri="{FF2B5EF4-FFF2-40B4-BE49-F238E27FC236}">
                <a16:creationId xmlns:a16="http://schemas.microsoft.com/office/drawing/2014/main" id="{400DD01E-6381-404B-A301-2F9CBE2D2D73}"/>
              </a:ext>
            </a:extLst>
          </p:cNvPr>
          <p:cNvSpPr>
            <a:spLocks noGrp="1"/>
          </p:cNvSpPr>
          <p:nvPr/>
        </p:nvSpPr>
        <p:spPr>
          <a:xfrm>
            <a:off x="4676775" y="2705100"/>
            <a:ext cx="3009900" cy="9525"/>
          </a:xfrm>
          <a:prstGeom prst="rect">
            <a:avLst/>
          </a:prstGeom>
          <a:solidFill>
            <a:srgbClr val="E7EBF0"/>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AAD4D557-DA42-4AEE-B421-DAD2C561C8DF}"/>
              </a:ext>
            </a:extLst>
          </p:cNvPr>
          <p:cNvSpPr>
            <a:spLocks noGrp="1"/>
          </p:cNvSpPr>
          <p:nvPr/>
        </p:nvSpPr>
        <p:spPr>
          <a:xfrm>
            <a:off x="4724400" y="2895600"/>
            <a:ext cx="2914650" cy="15240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線形softmaxで忠実度・Brier・真係数復元が最良。局所logit差が線形に近い場合に理論と結果が一致。</a:t>
            </a:r>
          </a:p>
        </p:txBody>
      </p:sp>
      <p:sp>
        <p:nvSpPr>
          <p:cNvPr id="17" name="角丸四角形 16">
            <a:extLst>
              <a:ext uri="{FF2B5EF4-FFF2-40B4-BE49-F238E27FC236}">
                <a16:creationId xmlns:a16="http://schemas.microsoft.com/office/drawing/2014/main" id="{D99EB17D-CC9D-4567-BB9E-BDD5B96ACADF}"/>
              </a:ext>
            </a:extLst>
          </p:cNvPr>
          <p:cNvSpPr>
            <a:spLocks noGrp="1"/>
          </p:cNvSpPr>
          <p:nvPr/>
        </p:nvSpPr>
        <p:spPr>
          <a:xfrm>
            <a:off x="8191500" y="1352550"/>
            <a:ext cx="3486150" cy="3390900"/>
          </a:xfrm>
          <a:prstGeom prst="roundRect">
            <a:avLst>
              <a:gd name="adj" fmla="val 2247"/>
            </a:avLst>
          </a:prstGeom>
          <a:solidFill>
            <a:srgbClr val="FFFFFF"/>
          </a:solidFill>
          <a:ln w="9525">
            <a:solidFill>
              <a:srgbClr val="7B61A8"/>
            </a:solidFill>
          </a:ln>
        </p:spPr>
        <p:txBody>
          <a:bodyPr/>
          <a:lstStyle/>
          <a:p>
            <a:endParaRPr lang="ja-JP" altLang="en-US"/>
          </a:p>
        </p:txBody>
      </p:sp>
      <p:sp>
        <p:nvSpPr>
          <p:cNvPr id="18" name="角丸四角形 17">
            <a:extLst>
              <a:ext uri="{FF2B5EF4-FFF2-40B4-BE49-F238E27FC236}">
                <a16:creationId xmlns:a16="http://schemas.microsoft.com/office/drawing/2014/main" id="{B25BB86D-96D1-4A20-A2D0-3F99E98CF027}"/>
              </a:ext>
            </a:extLst>
          </p:cNvPr>
          <p:cNvSpPr>
            <a:spLocks noGrp="1"/>
          </p:cNvSpPr>
          <p:nvPr/>
        </p:nvSpPr>
        <p:spPr>
          <a:xfrm>
            <a:off x="8191500" y="1352550"/>
            <a:ext cx="3486150" cy="571500"/>
          </a:xfrm>
          <a:prstGeom prst="roundRect">
            <a:avLst>
              <a:gd name="adj" fmla="val 13333"/>
            </a:avLst>
          </a:prstGeom>
          <a:solidFill>
            <a:srgbClr val="7B61A8"/>
          </a:solidFill>
          <a:ln w="0">
            <a:noFill/>
          </a:ln>
        </p:spPr>
        <p:txBody>
          <a:bodyPr/>
          <a:lstStyle/>
          <a:p>
            <a:endParaRPr lang="ja-JP" altLang="en-US"/>
          </a:p>
        </p:txBody>
      </p:sp>
      <p:sp>
        <p:nvSpPr>
          <p:cNvPr id="19" name="正方形/長方形 18">
            <a:extLst>
              <a:ext uri="{FF2B5EF4-FFF2-40B4-BE49-F238E27FC236}">
                <a16:creationId xmlns:a16="http://schemas.microsoft.com/office/drawing/2014/main" id="{5FEBD468-9E95-4D56-AE6D-3FD6CE37B90E}"/>
              </a:ext>
            </a:extLst>
          </p:cNvPr>
          <p:cNvSpPr>
            <a:spLocks noGrp="1"/>
          </p:cNvSpPr>
          <p:nvPr/>
        </p:nvSpPr>
        <p:spPr>
          <a:xfrm>
            <a:off x="8362950" y="1447800"/>
            <a:ext cx="3143250" cy="381000"/>
          </a:xfrm>
          <a:prstGeom prst="rect">
            <a:avLst/>
          </a:prstGeom>
          <a:noFill/>
          <a:ln w="0">
            <a:noFill/>
          </a:ln>
        </p:spPr>
        <p:txBody>
          <a:bodyPr anchor="ctr">
            <a:normAutofit/>
          </a:bodyPr>
          <a:lstStyle/>
          <a:p>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OVO Logistic</a:t>
            </a:r>
          </a:p>
        </p:txBody>
      </p:sp>
      <p:sp>
        <p:nvSpPr>
          <p:cNvPr id="20" name="正方形/長方形 19">
            <a:extLst>
              <a:ext uri="{FF2B5EF4-FFF2-40B4-BE49-F238E27FC236}">
                <a16:creationId xmlns:a16="http://schemas.microsoft.com/office/drawing/2014/main" id="{6B1B0C5C-A8FC-45F0-80B3-865CC809FD59}"/>
              </a:ext>
            </a:extLst>
          </p:cNvPr>
          <p:cNvSpPr>
            <a:spLocks noGrp="1"/>
          </p:cNvSpPr>
          <p:nvPr/>
        </p:nvSpPr>
        <p:spPr>
          <a:xfrm>
            <a:off x="8420100" y="2114550"/>
            <a:ext cx="3028950" cy="457200"/>
          </a:xfrm>
          <a:prstGeom prst="rect">
            <a:avLst/>
          </a:prstGeom>
          <a:noFill/>
          <a:ln w="0">
            <a:noFill/>
          </a:ln>
        </p:spPr>
        <p:txBody>
          <a:bodyPr anchor="ctr">
            <a:normAutofit/>
          </a:bodyPr>
          <a:lstStyle/>
          <a:p>
            <a:pPr algn="ctr">
              <a:defRPr sz="1500" b="1">
                <a:solidFill>
                  <a:srgbClr val="7B61A8"/>
                </a:solidFill>
                <a:latin typeface="YuGothic"/>
                <a:ea typeface="YuGothic"/>
                <a:cs typeface="YuGothic"/>
              </a:defRPr>
            </a:pPr>
            <a:r>
              <a:rPr sz="1500" b="1">
                <a:solidFill>
                  <a:srgbClr val="7B61A8"/>
                </a:solidFill>
                <a:latin typeface="YuGothic"/>
                <a:ea typeface="YuGothic"/>
                <a:cs typeface="YuGothic"/>
              </a:rPr>
              <a:t>qを交差エントロピーで回帰</a:t>
            </a:r>
          </a:p>
        </p:txBody>
      </p:sp>
      <p:sp>
        <p:nvSpPr>
          <p:cNvPr id="21" name="正方形/長方形 20">
            <a:extLst>
              <a:ext uri="{FF2B5EF4-FFF2-40B4-BE49-F238E27FC236}">
                <a16:creationId xmlns:a16="http://schemas.microsoft.com/office/drawing/2014/main" id="{5F84DFF3-F8E0-497C-81D6-C2156F56CB38}"/>
              </a:ext>
            </a:extLst>
          </p:cNvPr>
          <p:cNvSpPr>
            <a:spLocks noGrp="1"/>
          </p:cNvSpPr>
          <p:nvPr/>
        </p:nvSpPr>
        <p:spPr>
          <a:xfrm>
            <a:off x="8429625" y="2705100"/>
            <a:ext cx="3009900" cy="9525"/>
          </a:xfrm>
          <a:prstGeom prst="rect">
            <a:avLst/>
          </a:prstGeom>
          <a:solidFill>
            <a:srgbClr val="E7EBF0"/>
          </a:solidFill>
          <a:ln w="0">
            <a:noFill/>
          </a:ln>
        </p:spPr>
        <p:txBody>
          <a:bodyPr/>
          <a:lstStyle/>
          <a:p>
            <a:endParaRPr lang="ja-JP" altLang="en-US"/>
          </a:p>
        </p:txBody>
      </p:sp>
      <p:sp>
        <p:nvSpPr>
          <p:cNvPr id="22" name="正方形/長方形 21">
            <a:extLst>
              <a:ext uri="{FF2B5EF4-FFF2-40B4-BE49-F238E27FC236}">
                <a16:creationId xmlns:a16="http://schemas.microsoft.com/office/drawing/2014/main" id="{967DFAAF-3432-402D-B19E-284586C76187}"/>
              </a:ext>
            </a:extLst>
          </p:cNvPr>
          <p:cNvSpPr>
            <a:spLocks noGrp="1"/>
          </p:cNvSpPr>
          <p:nvPr/>
        </p:nvSpPr>
        <p:spPr>
          <a:xfrm>
            <a:off x="8477250" y="2895600"/>
            <a:ext cx="2914650" cy="15240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極端確率でも目的変数が発散しない利点はあるが、今回の疎な設定では忠実度が低く、次元増加で遅くなった。</a:t>
            </a:r>
          </a:p>
        </p:txBody>
      </p:sp>
      <p:sp>
        <p:nvSpPr>
          <p:cNvPr id="23" name="角丸四角形 22">
            <a:extLst>
              <a:ext uri="{FF2B5EF4-FFF2-40B4-BE49-F238E27FC236}">
                <a16:creationId xmlns:a16="http://schemas.microsoft.com/office/drawing/2014/main" id="{8BADF2B1-3344-4E82-967E-3477B5767639}"/>
              </a:ext>
            </a:extLst>
          </p:cNvPr>
          <p:cNvSpPr>
            <a:spLocks noGrp="1"/>
          </p:cNvSpPr>
          <p:nvPr/>
        </p:nvSpPr>
        <p:spPr>
          <a:xfrm>
            <a:off x="971550" y="5010150"/>
            <a:ext cx="10248900" cy="647700"/>
          </a:xfrm>
          <a:prstGeom prst="roundRect">
            <a:avLst>
              <a:gd name="adj" fmla="val 11765"/>
            </a:avLst>
          </a:prstGeom>
          <a:solidFill>
            <a:srgbClr val="FFF4D6"/>
          </a:solidFill>
          <a:ln w="0">
            <a:noFill/>
          </a:ln>
        </p:spPr>
        <p:txBody>
          <a:bodyPr/>
          <a:lstStyle/>
          <a:p>
            <a:endParaRPr lang="ja-JP" altLang="en-US"/>
          </a:p>
        </p:txBody>
      </p:sp>
      <p:sp>
        <p:nvSpPr>
          <p:cNvPr id="24" name="正方形/長方形 23">
            <a:extLst>
              <a:ext uri="{FF2B5EF4-FFF2-40B4-BE49-F238E27FC236}">
                <a16:creationId xmlns:a16="http://schemas.microsoft.com/office/drawing/2014/main" id="{EB657E7C-C124-4244-9DF0-709099EB037D}"/>
              </a:ext>
            </a:extLst>
          </p:cNvPr>
          <p:cNvSpPr>
            <a:spLocks noGrp="1"/>
          </p:cNvSpPr>
          <p:nvPr/>
        </p:nvSpPr>
        <p:spPr>
          <a:xfrm>
            <a:off x="1219200" y="5143500"/>
            <a:ext cx="9753600" cy="381000"/>
          </a:xfrm>
          <a:prstGeom prst="rect">
            <a:avLst/>
          </a:prstGeom>
          <a:noFill/>
          <a:ln w="0">
            <a:noFill/>
          </a:ln>
        </p:spPr>
        <p:txBody>
          <a:bodyPr anchor="ctr">
            <a:normAutofit/>
          </a:bodyPr>
          <a:lstStyle/>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研究としての主張は『対数比が常に最良』ではなく、2クラス化の効果と回帰方法の条件依存性を分離したこと</a:t>
            </a:r>
          </a:p>
        </p:txBody>
      </p:sp>
      <p:sp>
        <p:nvSpPr>
          <p:cNvPr id="25" name="角丸四角形 24">
            <a:extLst>
              <a:ext uri="{FF2B5EF4-FFF2-40B4-BE49-F238E27FC236}">
                <a16:creationId xmlns:a16="http://schemas.microsoft.com/office/drawing/2014/main" id="{B0D8874F-FFF9-4534-A705-A810A04B51D7}"/>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26" name="正方形/長方形 25">
            <a:extLst>
              <a:ext uri="{FF2B5EF4-FFF2-40B4-BE49-F238E27FC236}">
                <a16:creationId xmlns:a16="http://schemas.microsoft.com/office/drawing/2014/main" id="{25CF4CD7-3B64-4215-A404-1C8218AD69BC}"/>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このスライドの主張：現時点の汎用候補は2クラスLIME、線形logit構造が期待できる場合はContrastive</a:t>
            </a:r>
          </a:p>
        </p:txBody>
      </p:sp>
    </p:spTree>
    <p:extLst>
      <p:ext uri="{BB962C8B-B14F-4D97-AF65-F5344CB8AC3E}">
        <p14:creationId xmlns:p14="http://schemas.microsoft.com/office/powerpoint/2010/main" val="2127652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6DB23906-CE92-4C37-BA9D-A1566F88A35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A922892B-D672-48D1-8BDA-8DC5B6F79538}"/>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結果のまとめと今後の課題</a:t>
            </a:r>
          </a:p>
        </p:txBody>
      </p:sp>
      <p:sp>
        <p:nvSpPr>
          <p:cNvPr id="3" name="正方形/長方形 2">
            <a:extLst>
              <a:ext uri="{FF2B5EF4-FFF2-40B4-BE49-F238E27FC236}">
                <a16:creationId xmlns:a16="http://schemas.microsoft.com/office/drawing/2014/main" id="{617ED4A4-9EE3-40D2-A52D-FEDD69B414DD}"/>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今回の実験から言えることと言えないことを分ける</a:t>
            </a:r>
          </a:p>
        </p:txBody>
      </p:sp>
      <p:sp>
        <p:nvSpPr>
          <p:cNvPr id="4" name="正方形/長方形 3">
            <a:extLst>
              <a:ext uri="{FF2B5EF4-FFF2-40B4-BE49-F238E27FC236}">
                <a16:creationId xmlns:a16="http://schemas.microsoft.com/office/drawing/2014/main" id="{0E3E0D08-7D15-4639-A305-D123CF5D7FD5}"/>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19</a:t>
            </a:r>
          </a:p>
        </p:txBody>
      </p:sp>
      <p:sp>
        <p:nvSpPr>
          <p:cNvPr id="5" name="角丸四角形 4">
            <a:extLst>
              <a:ext uri="{FF2B5EF4-FFF2-40B4-BE49-F238E27FC236}">
                <a16:creationId xmlns:a16="http://schemas.microsoft.com/office/drawing/2014/main" id="{F243F75D-2A66-49A6-8C35-AC26574D155A}"/>
              </a:ext>
            </a:extLst>
          </p:cNvPr>
          <p:cNvSpPr>
            <a:spLocks noGrp="1"/>
          </p:cNvSpPr>
          <p:nvPr/>
        </p:nvSpPr>
        <p:spPr>
          <a:xfrm>
            <a:off x="781050" y="1257300"/>
            <a:ext cx="1714500" cy="304800"/>
          </a:xfrm>
          <a:prstGeom prst="roundRect">
            <a:avLst>
              <a:gd name="adj" fmla="val 25000"/>
            </a:avLst>
          </a:prstGeom>
          <a:solidFill>
            <a:srgbClr val="2AA876"/>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EF3827DD-D94C-43FB-937A-312AA6188751}"/>
              </a:ext>
            </a:extLst>
          </p:cNvPr>
          <p:cNvSpPr>
            <a:spLocks noGrp="1"/>
          </p:cNvSpPr>
          <p:nvPr/>
        </p:nvSpPr>
        <p:spPr>
          <a:xfrm>
            <a:off x="876300" y="1266825"/>
            <a:ext cx="1524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支持された</a:t>
            </a:r>
          </a:p>
        </p:txBody>
      </p:sp>
      <p:sp>
        <p:nvSpPr>
          <p:cNvPr id="7" name="正方形/長方形 6">
            <a:extLst>
              <a:ext uri="{FF2B5EF4-FFF2-40B4-BE49-F238E27FC236}">
                <a16:creationId xmlns:a16="http://schemas.microsoft.com/office/drawing/2014/main" id="{E2CC9707-6838-426C-9616-CA78FBA38381}"/>
              </a:ext>
            </a:extLst>
          </p:cNvPr>
          <p:cNvSpPr>
            <a:spLocks noGrp="1"/>
          </p:cNvSpPr>
          <p:nvPr/>
        </p:nvSpPr>
        <p:spPr>
          <a:xfrm>
            <a:off x="2771775" y="1162050"/>
            <a:ext cx="8524875" cy="1200150"/>
          </a:xfrm>
          <a:prstGeom prst="rect">
            <a:avLst/>
          </a:prstGeom>
          <a:noFill/>
          <a:ln w="0">
            <a:noFill/>
          </a:ln>
        </p:spPr>
        <p:txBody>
          <a:bodyPr anchor="ctr">
            <a:normAutofit/>
          </a:bodyPr>
          <a:lstStyle/>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同じKでも、2クラスLIMEはOVRと同等以上のheld-out忠実度を保つ</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競合特徴の再現率が高く、両クラス共通特徴への表示枠の消費を避ける</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Top-1/Top-2の1ペアなら、クラス数が増えても学習時間がほぼ一定</a:t>
            </a:r>
          </a:p>
        </p:txBody>
      </p:sp>
      <p:sp>
        <p:nvSpPr>
          <p:cNvPr id="8" name="正方形/長方形 7">
            <a:extLst>
              <a:ext uri="{FF2B5EF4-FFF2-40B4-BE49-F238E27FC236}">
                <a16:creationId xmlns:a16="http://schemas.microsoft.com/office/drawing/2014/main" id="{6581D7F2-DB39-4680-B80B-B6D148483135}"/>
              </a:ext>
            </a:extLst>
          </p:cNvPr>
          <p:cNvSpPr>
            <a:spLocks noGrp="1"/>
          </p:cNvSpPr>
          <p:nvPr/>
        </p:nvSpPr>
        <p:spPr>
          <a:xfrm>
            <a:off x="781050" y="2571750"/>
            <a:ext cx="10515600" cy="9525"/>
          </a:xfrm>
          <a:prstGeom prst="rect">
            <a:avLst/>
          </a:prstGeom>
          <a:solidFill>
            <a:srgbClr val="E7EBF0"/>
          </a:solidFill>
          <a:ln w="0">
            <a:noFill/>
          </a:ln>
        </p:spPr>
        <p:txBody>
          <a:bodyPr/>
          <a:lstStyle/>
          <a:p>
            <a:endParaRPr lang="ja-JP" altLang="en-US"/>
          </a:p>
        </p:txBody>
      </p:sp>
      <p:sp>
        <p:nvSpPr>
          <p:cNvPr id="9" name="角丸四角形 8">
            <a:extLst>
              <a:ext uri="{FF2B5EF4-FFF2-40B4-BE49-F238E27FC236}">
                <a16:creationId xmlns:a16="http://schemas.microsoft.com/office/drawing/2014/main" id="{EC33EE7B-EC0A-4F63-A544-DA88650B2623}"/>
              </a:ext>
            </a:extLst>
          </p:cNvPr>
          <p:cNvSpPr>
            <a:spLocks noGrp="1"/>
          </p:cNvSpPr>
          <p:nvPr/>
        </p:nvSpPr>
        <p:spPr>
          <a:xfrm>
            <a:off x="781050" y="2800350"/>
            <a:ext cx="1714500" cy="304800"/>
          </a:xfrm>
          <a:prstGeom prst="roundRect">
            <a:avLst>
              <a:gd name="adj" fmla="val 25000"/>
            </a:avLst>
          </a:prstGeom>
          <a:solidFill>
            <a:srgbClr val="F28C28"/>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59929DE4-D57E-4184-ADFC-4EB2EE8E3D6C}"/>
              </a:ext>
            </a:extLst>
          </p:cNvPr>
          <p:cNvSpPr>
            <a:spLocks noGrp="1"/>
          </p:cNvSpPr>
          <p:nvPr/>
        </p:nvSpPr>
        <p:spPr>
          <a:xfrm>
            <a:off x="876300" y="2809875"/>
            <a:ext cx="1524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条件付き</a:t>
            </a:r>
          </a:p>
        </p:txBody>
      </p:sp>
      <p:sp>
        <p:nvSpPr>
          <p:cNvPr id="11" name="正方形/長方形 10">
            <a:extLst>
              <a:ext uri="{FF2B5EF4-FFF2-40B4-BE49-F238E27FC236}">
                <a16:creationId xmlns:a16="http://schemas.microsoft.com/office/drawing/2014/main" id="{7F3D28D5-11E3-458D-9BE3-F34C73A92FB7}"/>
              </a:ext>
            </a:extLst>
          </p:cNvPr>
          <p:cNvSpPr>
            <a:spLocks noGrp="1"/>
          </p:cNvSpPr>
          <p:nvPr/>
        </p:nvSpPr>
        <p:spPr>
          <a:xfrm>
            <a:off x="2771775" y="2705100"/>
            <a:ext cx="8524875" cy="1200150"/>
          </a:xfrm>
          <a:prstGeom prst="rect">
            <a:avLst/>
          </a:prstGeom>
          <a:noFill/>
          <a:ln w="0">
            <a:noFill/>
          </a:ln>
        </p:spPr>
        <p:txBody>
          <a:bodyPr anchor="ctr">
            <a:normAutofit/>
          </a:bodyPr>
          <a:lstStyle/>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Contrastiveの利点は、softmaxの有無より局所logit差の線形性に依存する</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RFでの+0.0041は統計的差がある条件を含むが、効果量としては小さい</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OVO Logisticの発散回避という理論的利点は、今回の疎な設定では性能向上に結びつかなかった</a:t>
            </a:r>
          </a:p>
        </p:txBody>
      </p:sp>
      <p:sp>
        <p:nvSpPr>
          <p:cNvPr id="12" name="正方形/長方形 11">
            <a:extLst>
              <a:ext uri="{FF2B5EF4-FFF2-40B4-BE49-F238E27FC236}">
                <a16:creationId xmlns:a16="http://schemas.microsoft.com/office/drawing/2014/main" id="{A88E2F4A-C96C-4830-912D-B093B3A54831}"/>
              </a:ext>
            </a:extLst>
          </p:cNvPr>
          <p:cNvSpPr>
            <a:spLocks noGrp="1"/>
          </p:cNvSpPr>
          <p:nvPr/>
        </p:nvSpPr>
        <p:spPr>
          <a:xfrm>
            <a:off x="781050" y="4114800"/>
            <a:ext cx="10515600" cy="9525"/>
          </a:xfrm>
          <a:prstGeom prst="rect">
            <a:avLst/>
          </a:prstGeom>
          <a:solidFill>
            <a:srgbClr val="E7EBF0"/>
          </a:solidFill>
          <a:ln w="0">
            <a:noFill/>
          </a:ln>
        </p:spPr>
        <p:txBody>
          <a:bodyPr/>
          <a:lstStyle/>
          <a:p>
            <a:endParaRPr lang="ja-JP" altLang="en-US"/>
          </a:p>
        </p:txBody>
      </p:sp>
      <p:sp>
        <p:nvSpPr>
          <p:cNvPr id="13" name="角丸四角形 12">
            <a:extLst>
              <a:ext uri="{FF2B5EF4-FFF2-40B4-BE49-F238E27FC236}">
                <a16:creationId xmlns:a16="http://schemas.microsoft.com/office/drawing/2014/main" id="{C379B7F2-B7C4-4781-BC30-639C5F7AF4FE}"/>
              </a:ext>
            </a:extLst>
          </p:cNvPr>
          <p:cNvSpPr>
            <a:spLocks noGrp="1"/>
          </p:cNvSpPr>
          <p:nvPr/>
        </p:nvSpPr>
        <p:spPr>
          <a:xfrm>
            <a:off x="781050" y="4343400"/>
            <a:ext cx="1714500" cy="304800"/>
          </a:xfrm>
          <a:prstGeom prst="roundRect">
            <a:avLst>
              <a:gd name="adj" fmla="val 25000"/>
            </a:avLst>
          </a:prstGeom>
          <a:solidFill>
            <a:srgbClr val="7B61A8"/>
          </a:solidFill>
          <a:ln w="0">
            <a:noFill/>
          </a:ln>
        </p:spPr>
        <p:txBody>
          <a:bodyPr/>
          <a:lstStyle/>
          <a:p>
            <a:endParaRPr lang="ja-JP" altLang="en-US"/>
          </a:p>
        </p:txBody>
      </p:sp>
      <p:sp>
        <p:nvSpPr>
          <p:cNvPr id="14" name="正方形/長方形 13">
            <a:extLst>
              <a:ext uri="{FF2B5EF4-FFF2-40B4-BE49-F238E27FC236}">
                <a16:creationId xmlns:a16="http://schemas.microsoft.com/office/drawing/2014/main" id="{FF769FB7-BB92-4E20-B828-ECD923E71F35}"/>
              </a:ext>
            </a:extLst>
          </p:cNvPr>
          <p:cNvSpPr>
            <a:spLocks noGrp="1"/>
          </p:cNvSpPr>
          <p:nvPr/>
        </p:nvSpPr>
        <p:spPr>
          <a:xfrm>
            <a:off x="876300" y="4352925"/>
            <a:ext cx="1524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未検証</a:t>
            </a:r>
          </a:p>
        </p:txBody>
      </p:sp>
      <p:sp>
        <p:nvSpPr>
          <p:cNvPr id="15" name="正方形/長方形 14">
            <a:extLst>
              <a:ext uri="{FF2B5EF4-FFF2-40B4-BE49-F238E27FC236}">
                <a16:creationId xmlns:a16="http://schemas.microsoft.com/office/drawing/2014/main" id="{5E70C9CA-8A07-443D-A605-D76AB046C202}"/>
              </a:ext>
            </a:extLst>
          </p:cNvPr>
          <p:cNvSpPr>
            <a:spLocks noGrp="1"/>
          </p:cNvSpPr>
          <p:nvPr/>
        </p:nvSpPr>
        <p:spPr>
          <a:xfrm>
            <a:off x="2771775" y="4248150"/>
            <a:ext cx="8524875" cy="1352550"/>
          </a:xfrm>
          <a:prstGeom prst="rect">
            <a:avLst/>
          </a:prstGeom>
          <a:noFill/>
          <a:ln w="0">
            <a:noFill/>
          </a:ln>
        </p:spPr>
        <p:txBody>
          <a:bodyPr anchor="ctr">
            <a:normAutofit/>
          </a:bodyPr>
          <a:lstStyle/>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実データでも同じ傾向になるか</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Top-2以外の競合クラスを指定した場合や、入力ごとに競合が変化する場合</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人が説明を理解しやすいかというユーザ評価</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OVO Logisticの正則化、摂動数、局所幅を調整した再評価</a:t>
            </a:r>
          </a:p>
        </p:txBody>
      </p:sp>
      <p:sp>
        <p:nvSpPr>
          <p:cNvPr id="16" name="角丸四角形 15">
            <a:extLst>
              <a:ext uri="{FF2B5EF4-FFF2-40B4-BE49-F238E27FC236}">
                <a16:creationId xmlns:a16="http://schemas.microsoft.com/office/drawing/2014/main" id="{EEE94AE0-3A1F-448F-BC2F-771A56B633DD}"/>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17" name="正方形/長方形 16">
            <a:extLst>
              <a:ext uri="{FF2B5EF4-FFF2-40B4-BE49-F238E27FC236}">
                <a16:creationId xmlns:a16="http://schemas.microsoft.com/office/drawing/2014/main" id="{301B8887-D2A8-4A9B-8746-DE0F75645731}"/>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このスライドの主張：結論は『OVOが常に高精度』ではなく、特定の競合を説明する設計が関連性と計算量で有望ということ</a:t>
            </a:r>
          </a:p>
        </p:txBody>
      </p:sp>
    </p:spTree>
    <p:extLst>
      <p:ext uri="{BB962C8B-B14F-4D97-AF65-F5344CB8AC3E}">
        <p14:creationId xmlns:p14="http://schemas.microsoft.com/office/powerpoint/2010/main" val="9105548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1893</Words>
  <Application>Microsoft Macintosh PowerPoint</Application>
  <DocSecurity>0</DocSecurity>
  <PresentationFormat>ワイド画面</PresentationFormat>
  <Paragraphs>408</Paragraphs>
  <Slides>19</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19</vt:i4>
      </vt:variant>
    </vt:vector>
  </HeadingPairs>
  <TitlesOfParts>
    <vt:vector size="24" baseType="lpstr">
      <vt:lpstr>YuGothic</vt:lpstr>
      <vt:lpstr>Yu Gothic</vt:lpstr>
      <vt:lpstr>Calibri</vt:lpstr>
      <vt:lpstr>Cambria Math</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池亀　颯太</cp:lastModifiedBy>
  <cp:revision>1</cp:revision>
  <dcterms:created xsi:type="dcterms:W3CDTF">2026-09-09T08:23:31Z</dcterms:created>
  <dcterms:modified xsi:type="dcterms:W3CDTF">2026-09-09T08:40:30Z</dcterms:modified>
</cp:coreProperties>
</file>