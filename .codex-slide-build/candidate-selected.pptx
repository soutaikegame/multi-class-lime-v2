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b9456f56ba4cf4" /><Relationship Type="http://schemas.openxmlformats.org/officeDocument/2006/relationships/extended-properties" Target="/docProps/app.xml" Id="R1fb46016ef494b2d" /><Relationship Type="http://schemas.openxmlformats.org/officeDocument/2006/relationships/officeDocument" Target="/ppt/presentation.xml" Id="R06857766320b4779" /></Relationships>
</file>

<file path=ppt/presentation.xml><?xml version="1.0" encoding="utf-8"?>
<p:presentation xmlns:p="http://schemas.openxmlformats.org/presentationml/2006/main">
  <p:sldMasterIdLst>
    <p:sldMasterId xmlns:r="http://schemas.openxmlformats.org/officeDocument/2006/relationships" id="2147483648" r:id="Ra74387d9ad554408"/>
  </p:sldMasterIdLst>
  <p:notesMasterIdLst>
    <p:notesMasterId xmlns:r="http://schemas.openxmlformats.org/officeDocument/2006/relationships" r:id="R9f9809b15ef14a13"/>
  </p:notesMasterIdLst>
  <p:sldIdLst>
    <p:sldId xmlns:r="http://schemas.openxmlformats.org/officeDocument/2006/relationships" id="256" r:id="R38b5054ec79a4071"/>
    <p:sldId xmlns:r="http://schemas.openxmlformats.org/officeDocument/2006/relationships" id="257" r:id="R5fc26cd10d4b4905"/>
    <p:sldId xmlns:r="http://schemas.openxmlformats.org/officeDocument/2006/relationships" id="258" r:id="R791b470954f54146"/>
    <p:sldId xmlns:r="http://schemas.openxmlformats.org/officeDocument/2006/relationships" id="259" r:id="Rb89890f5332a4174"/>
    <p:sldId xmlns:r="http://schemas.openxmlformats.org/officeDocument/2006/relationships" id="260" r:id="R0446fcd68336411f"/>
    <p:sldId xmlns:r="http://schemas.openxmlformats.org/officeDocument/2006/relationships" id="261" r:id="R974dcaab60d24901"/>
    <p:sldId xmlns:r="http://schemas.openxmlformats.org/officeDocument/2006/relationships" id="262" r:id="R214a8aaf54964631"/>
    <p:sldId xmlns:r="http://schemas.openxmlformats.org/officeDocument/2006/relationships" id="263" r:id="R5b7226f48df64ae4"/>
    <p:sldId xmlns:r="http://schemas.openxmlformats.org/officeDocument/2006/relationships" id="264" r:id="Rccb3bd4af0df4ab0"/>
    <p:sldId xmlns:r="http://schemas.openxmlformats.org/officeDocument/2006/relationships" id="265" r:id="R39be4b04f0784580"/>
    <p:sldId xmlns:r="http://schemas.openxmlformats.org/officeDocument/2006/relationships" id="266" r:id="R0d9789daadd84f8e"/>
    <p:sldId xmlns:r="http://schemas.openxmlformats.org/officeDocument/2006/relationships" id="267" r:id="Rfbf0d0cce8704437"/>
    <p:sldId xmlns:r="http://schemas.openxmlformats.org/officeDocument/2006/relationships" id="268" r:id="Rbb338710196b4c4b"/>
    <p:sldId xmlns:r="http://schemas.openxmlformats.org/officeDocument/2006/relationships" id="269" r:id="R57d0ec0ebb304f09"/>
    <p:sldId xmlns:r="http://schemas.openxmlformats.org/officeDocument/2006/relationships" id="270" r:id="R1f7a4226ae7d4d1d"/>
    <p:sldId xmlns:r="http://schemas.openxmlformats.org/officeDocument/2006/relationships" id="271" r:id="R99abb9637217402e"/>
    <p:sldId xmlns:r="http://schemas.openxmlformats.org/officeDocument/2006/relationships" id="272" r:id="R2075f6c314c94a6d"/>
    <p:sldId xmlns:r="http://schemas.openxmlformats.org/officeDocument/2006/relationships" id="273" r:id="Re793b8c1bc7147cf"/>
    <p:sldId xmlns:r="http://schemas.openxmlformats.org/officeDocument/2006/relationships" id="274" r:id="Rcea26309c2924a24"/>
    <p:sldId xmlns:r="http://schemas.openxmlformats.org/officeDocument/2006/relationships" id="275" r:id="Rfabf52aaf7cd498e"/>
    <p:sldId xmlns:r="http://schemas.openxmlformats.org/officeDocument/2006/relationships" id="276" r:id="R895c232d7a4d44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b619c73f2cd4342" /><Relationship Type="http://schemas.openxmlformats.org/officeDocument/2006/relationships/slideMaster" Target="/ppt/slideMasters/slideMaster1.xml" Id="Ra74387d9ad554408" /><Relationship Type="http://schemas.openxmlformats.org/officeDocument/2006/relationships/notesMaster" Target="/ppt/notesMasters/notesMaster1.xml" Id="R9f9809b15ef14a13" /><Relationship Type="http://schemas.openxmlformats.org/officeDocument/2006/relationships/presProps" Target="/ppt/presProps.xml" Id="R160b23fc3e9643da" /><Relationship Type="http://schemas.openxmlformats.org/officeDocument/2006/relationships/viewProps" Target="/ppt/viewProps.xml" Id="R37b375b2920e431c" /><Relationship Type="http://schemas.openxmlformats.org/officeDocument/2006/relationships/tableStyles" Target="/ppt/tableStyles.xml" Id="R8d32c3ae7d40422b" /><Relationship Type="http://schemas.openxmlformats.org/officeDocument/2006/relationships/slide" Target="/ppt/slides/slide1.xml" Id="R38b5054ec79a4071" /><Relationship Type="http://schemas.openxmlformats.org/officeDocument/2006/relationships/slide" Target="/ppt/slides/slide2.xml" Id="R5fc26cd10d4b4905" /><Relationship Type="http://schemas.openxmlformats.org/officeDocument/2006/relationships/slide" Target="/ppt/slides/slide3.xml" Id="R791b470954f54146" /><Relationship Type="http://schemas.openxmlformats.org/officeDocument/2006/relationships/slide" Target="/ppt/slides/slide4.xml" Id="Rb89890f5332a4174" /><Relationship Type="http://schemas.openxmlformats.org/officeDocument/2006/relationships/slide" Target="/ppt/slides/slide5.xml" Id="R0446fcd68336411f" /><Relationship Type="http://schemas.openxmlformats.org/officeDocument/2006/relationships/slide" Target="/ppt/slides/slide6.xml" Id="R974dcaab60d24901" /><Relationship Type="http://schemas.openxmlformats.org/officeDocument/2006/relationships/slide" Target="/ppt/slides/slide7.xml" Id="R214a8aaf54964631" /><Relationship Type="http://schemas.openxmlformats.org/officeDocument/2006/relationships/slide" Target="/ppt/slides/slide8.xml" Id="R5b7226f48df64ae4" /><Relationship Type="http://schemas.openxmlformats.org/officeDocument/2006/relationships/slide" Target="/ppt/slides/slide9.xml" Id="Rccb3bd4af0df4ab0" /><Relationship Type="http://schemas.openxmlformats.org/officeDocument/2006/relationships/slide" Target="/ppt/slides/slide10.xml" Id="R39be4b04f0784580" /><Relationship Type="http://schemas.openxmlformats.org/officeDocument/2006/relationships/slide" Target="/ppt/slides/slide11.xml" Id="R0d9789daadd84f8e" /><Relationship Type="http://schemas.openxmlformats.org/officeDocument/2006/relationships/slide" Target="/ppt/slides/slide12.xml" Id="Rfbf0d0cce8704437" /><Relationship Type="http://schemas.openxmlformats.org/officeDocument/2006/relationships/slide" Target="/ppt/slides/slide13.xml" Id="Rbb338710196b4c4b" /><Relationship Type="http://schemas.openxmlformats.org/officeDocument/2006/relationships/slide" Target="/ppt/slides/slide14.xml" Id="R57d0ec0ebb304f09" /><Relationship Type="http://schemas.openxmlformats.org/officeDocument/2006/relationships/slide" Target="/ppt/slides/slide15.xml" Id="R1f7a4226ae7d4d1d" /><Relationship Type="http://schemas.openxmlformats.org/officeDocument/2006/relationships/slide" Target="/ppt/slides/slide16.xml" Id="R99abb9637217402e" /><Relationship Type="http://schemas.openxmlformats.org/officeDocument/2006/relationships/slide" Target="/ppt/slides/slide17.xml" Id="R2075f6c314c94a6d" /><Relationship Type="http://schemas.openxmlformats.org/officeDocument/2006/relationships/slide" Target="/ppt/slides/slide18.xml" Id="Re793b8c1bc7147cf" /><Relationship Type="http://schemas.openxmlformats.org/officeDocument/2006/relationships/slide" Target="/ppt/slides/slide19.xml" Id="Rcea26309c2924a24" /><Relationship Type="http://schemas.openxmlformats.org/officeDocument/2006/relationships/slide" Target="/ppt/slides/slide20.xml" Id="Rfabf52aaf7cd498e" /><Relationship Type="http://schemas.openxmlformats.org/officeDocument/2006/relationships/slide" Target="/ppt/slides/slide21.xml" Id="R895c232d7a4d44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4cd64d652b48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Hiragino Sans"/>
        <a:ea typeface="Hiragino Sans"/>
        <a:cs typeface="Hiragino Sans"/>
      </a:majorFont>
      <a:minorFont>
        <a:latin typeface="Hiragino Sans"/>
        <a:ea typeface="Hiragino Sans"/>
        <a:cs typeface="Hiragino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06616d6d28459c" /><Relationship Type="http://schemas.openxmlformats.org/officeDocument/2006/relationships/notesMaster" Target="/ppt/notesMasters/notesMaster1.xml" Id="Rcdf54cbb04e344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991f74b2bc48eb" /><Relationship Type="http://schemas.openxmlformats.org/officeDocument/2006/relationships/notesMaster" Target="/ppt/notesMasters/notesMaster1.xml" Id="Rc122ddc89e0547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73b4ad06e94982" /><Relationship Type="http://schemas.openxmlformats.org/officeDocument/2006/relationships/notesMaster" Target="/ppt/notesMasters/notesMaster1.xml" Id="Rdbae7802f93346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b2467de6ef4216" /><Relationship Type="http://schemas.openxmlformats.org/officeDocument/2006/relationships/notesMaster" Target="/ppt/notesMasters/notesMaster1.xml" Id="R8181478bebc04f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771e886ffe487e" /><Relationship Type="http://schemas.openxmlformats.org/officeDocument/2006/relationships/notesMaster" Target="/ppt/notesMasters/notesMaster1.xml" Id="Rbb64ddee89d340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1b70a9cb204318" /><Relationship Type="http://schemas.openxmlformats.org/officeDocument/2006/relationships/notesMaster" Target="/ppt/notesMasters/notesMaster1.xml" Id="Rbf7715e5bde74c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78bfe6e51b4d5c" /><Relationship Type="http://schemas.openxmlformats.org/officeDocument/2006/relationships/notesMaster" Target="/ppt/notesMasters/notesMaster1.xml" Id="Rd1330783022b46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e05f0f23474feb" /><Relationship Type="http://schemas.openxmlformats.org/officeDocument/2006/relationships/notesMaster" Target="/ppt/notesMasters/notesMaster1.xml" Id="R7148d0616f7c44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696f1e31f7409c" /><Relationship Type="http://schemas.openxmlformats.org/officeDocument/2006/relationships/notesMaster" Target="/ppt/notesMasters/notesMaster1.xml" Id="R1a40111fe18248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02e95669914f57" /><Relationship Type="http://schemas.openxmlformats.org/officeDocument/2006/relationships/notesMaster" Target="/ppt/notesMasters/notesMaster1.xml" Id="R37892ae6af6544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817aecbbf54da6" /><Relationship Type="http://schemas.openxmlformats.org/officeDocument/2006/relationships/notesMaster" Target="/ppt/notesMasters/notesMaster1.xml" Id="Rc51948a731dd47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e71a0a62404085" /><Relationship Type="http://schemas.openxmlformats.org/officeDocument/2006/relationships/notesMaster" Target="/ppt/notesMasters/notesMaster1.xml" Id="R982ee1cccee34b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0334a14b6049b5" /><Relationship Type="http://schemas.openxmlformats.org/officeDocument/2006/relationships/notesMaster" Target="/ppt/notesMasters/notesMaster1.xml" Id="R4093d70729194f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35c427ad2d4bf6" /><Relationship Type="http://schemas.openxmlformats.org/officeDocument/2006/relationships/notesMaster" Target="/ppt/notesMasters/notesMaster1.xml" Id="Rd263726bd3c54e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11d236ceac4ef0" /><Relationship Type="http://schemas.openxmlformats.org/officeDocument/2006/relationships/notesMaster" Target="/ppt/notesMasters/notesMaster1.xml" Id="Rca4f7c98a65f40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4490ac42bb43db" /><Relationship Type="http://schemas.openxmlformats.org/officeDocument/2006/relationships/notesMaster" Target="/ppt/notesMasters/notesMaster1.xml" Id="Rb1ba794276e245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b8fd8685744b2f" /><Relationship Type="http://schemas.openxmlformats.org/officeDocument/2006/relationships/notesMaster" Target="/ppt/notesMasters/notesMaster1.xml" Id="Ra08b81aefce44c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4df1309646f4aec" /><Relationship Type="http://schemas.openxmlformats.org/officeDocument/2006/relationships/notesMaster" Target="/ppt/notesMasters/notesMaster1.xml" Id="Rb74cbf2d80ef4e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3b40e18d154212" /><Relationship Type="http://schemas.openxmlformats.org/officeDocument/2006/relationships/notesMaster" Target="/ppt/notesMasters/notesMaster1.xml" Id="Re8050c9d66d542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ef9cd2da2a45ee" /><Relationship Type="http://schemas.openxmlformats.org/officeDocument/2006/relationships/notesMaster" Target="/ppt/notesMasters/notesMaster1.xml" Id="R48b32543f50f407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4a293a25174f32" /><Relationship Type="http://schemas.openxmlformats.org/officeDocument/2006/relationships/notesMaster" Target="/ppt/notesMasters/notesMaster1.xml" Id="Rb135044063ee4d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LIMEの基本的な仕組みを二値分類の例から説明し、Slide 6以降で多クラス分類へ話を広げる。今回はFisherの提案手法や実験結果には踏み込まず、研究の出発点を整理する。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XAIはExplainable Artificial Intelligenceの略。予測値だけでは分からない判断根拠を示し、予測の確認だけでなく、モデルが本質的でない特徴を学んでいないかを調べるデバッグにも役立つ。図の値は実験結果ではなく模式例。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件の入力を選び、周辺に人工サンプルを生成し、ブラックボックスの予測を取得する。元の入力に近いサンプルほど強く重み付けし、少数の特徴を使う局所モデルを学習する。目的関数の第1項は局所的な予測のずれ、第2項は説明モデルの複雑さを表す。</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指定した1クラスの予測確率を1本の局所モデルで近似する。2値分類では生存対非生存として直感的に読める。LIME自体は2値分類専用ではないが、公式実装では指定ラベルの確率列ごとに局所回帰を学習するため、基本の説明単位は対象クラス対その他に近い。</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https://github.com/marcotcr/lime/blob/master/lime/lime_base.py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初めて多クラス分類へ広げる。one-vs-restは各クラスについて、そのクラス対その他という二値問題を作る代表的な多クラス化戦略。LIMEも多クラス分類器へ適用できるが、指定したラベルの確率列をクラスごとに別々に近似する。近傍は共有できても、局所モデルと特徴選択は別々になる。</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https://github.com/marcotcr/lime/blob/master/lime/lime_base.py</a:t>
            </a:r>
          </a:p>
          <a:p xmlns:a="http://schemas.openxmlformats.org/drawingml/2006/main">
            <a:r>
              <a:t>- https://scikit-learn.org/stable/modules/generated/sklearn.multiclass.OneVsRestClassifier.html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クラス別の説明それぞれには意味がある。しかし、クラスごとに選ばれる特徴、順位、符号が異なると、利用者は複数の説明を横断してAとBの違いを組み立てなければならない。ここで問題にしているのは数理的な矛盾ではなく、多クラス全体を読む負担である。</a:t>
            </a:r>
          </a:p>
          <a:p xmlns:a="http://schemas.openxmlformats.org/drawingml/2006/main">
            <a:endParaRPr/>
          </a:p>
          <a:p xmlns:a="http://schemas.openxmlformats.org/drawingml/2006/main">
            <a:r>
              <a:t>[Sources]</a:t>
            </a:r>
          </a:p>
          <a:p xmlns:a="http://schemas.openxmlformats.org/drawingml/2006/main">
            <a:r>
              <a:t>- https://arxiv.org/abs/2005.01427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treeは局所サロゲートとして多出力回帰木を用い、一つの木で全クラスの予測確率を同時に近似する。分岐条件を共有するため、同じ論理構造からクラス間を比較できる。出力形式はLIMEの特徴重みではなく、ルールや対比・反実仮想説明へ展開される。</a:t>
            </a:r>
          </a:p>
          <a:p xmlns:a="http://schemas.openxmlformats.org/drawingml/2006/main">
            <a:endParaRPr/>
          </a:p>
          <a:p xmlns:a="http://schemas.openxmlformats.org/drawingml/2006/main">
            <a:r>
              <a:t>[Sources]</a:t>
            </a:r>
          </a:p>
          <a:p xmlns:a="http://schemas.openxmlformats.org/drawingml/2006/main">
            <a:r>
              <a:t>- https://arxiv.org/abs/2005.01427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LIMEはクラス別、LIMEtreeは共通構造、LIPExは確率分布全体という異なる設計を取る。LIPExはHellinger距離に基づく回帰で特徴と各クラスの関係を行列として表すが、OpenReview上ではICLR 2024のWithdrawn Submissionである。bLIMEyは直接の多クラス解法ではなく、LIME型説明器を部品へ分解する設計枠組み。</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https://arxiv.org/abs/2005.01427</a:t>
            </a:r>
          </a:p>
          <a:p xmlns:a="http://schemas.openxmlformats.org/drawingml/2006/main">
            <a:r>
              <a:t>- https://openreview.net/forum?id=R7946uagL2</a:t>
            </a:r>
          </a:p>
          <a:p xmlns:a="http://schemas.openxmlformats.org/drawingml/2006/main">
            <a:r>
              <a:t>- https://arxiv.org/abs/1910.13016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目的は一つの指標を上げることではなく、多クラス説明のどの性質を改善するかを定義すること。予測再現なら忠実性、説明の一貫性なら共有構造や安定性、対比の理解なら人を含む評価が必要になる。次の段階では同じ入力に対する複数手法の出力を比較し、主対象を決める。</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https://arxiv.org/abs/2005.01427</a:t>
            </a:r>
          </a:p>
          <a:p xmlns:a="http://schemas.openxmlformats.org/drawingml/2006/main">
            <a:r>
              <a:t>- https://openreview.net/forum?id=R7946uagL2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実験設定の出典: src/run_ovo_vs_ovr_experiment.py, src/run_blackbox_comparison_experiment.py, src/run_feature_role_experiment.py, src/run_timing_experiment.py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results/challenging_groundtruth_recall.png, challenging_groundtruth_results.csv。真値は各説明点で数値計算したlog(p_A/p_B)の局所勾配。競合特徴数とKを一致させた旧実験とは異なり、弱い密ノイズを含む30次元からTop-5を選ぶ。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results/challenging_groundtruth_fidelity.png。全条件平均はOVR 0.8871、2クラス通常LIME 0.8983、Contrastive 0.9005。20独立BBの対応検定で両方式とも6/6条件有意だが、実用差は約1.1〜1.3ポイント。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results/timing_scaling.png。BB推論と摂動生成は含まない。全クラス対ではなく、Top-1/Top-2の1ペアだけを説明する設定。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一般化範囲は今回の合成データとTop-1/Top-2。実データとユーザ評価は今後の課題として口頭で補足する。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073595448240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c3b5a400e14247" /><Relationship Type="http://schemas.openxmlformats.org/officeDocument/2006/relationships/slideLayout" Target="/ppt/slideLayouts/slideLayout1.xml" Id="R2b1f8f3c236840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1f8f3c236840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Hiragino Sans"/>
        <a:ea typeface="Hiragino Sans"/>
        <a:cs typeface="Hiragino Sans"/>
      </a:majorFont>
      <a:minorFont>
        <a:latin typeface="Hiragino Sans"/>
        <a:ea typeface="Hiragino Sans"/>
        <a:cs typeface="Hiragino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a5052458234389" /><Relationship Type="http://schemas.openxmlformats.org/officeDocument/2006/relationships/notesSlide" Target="/ppt/notesSlides/notesSlide1.xml" Id="Rd614ebce07624a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7b2850d63947a2" /><Relationship Type="http://schemas.openxmlformats.org/officeDocument/2006/relationships/notesSlide" Target="/ppt/notesSlides/notesSlide2.xml" Id="R058c00c5183248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acffb596b9483d" /><Relationship Type="http://schemas.openxmlformats.org/officeDocument/2006/relationships/notesSlide" Target="/ppt/notesSlides/notesSlide3.xml" Id="Rd9a24bad8aa74e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0c38bdf7ce4886" /><Relationship Type="http://schemas.openxmlformats.org/officeDocument/2006/relationships/notesSlide" Target="/ppt/notesSlides/notesSlide4.xml" Id="Ra1246235ff324b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df9f5ff58b4fe9" /><Relationship Type="http://schemas.openxmlformats.org/officeDocument/2006/relationships/notesSlide" Target="/ppt/notesSlides/notesSlide5.xml" Id="R670bd1ca74c246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52d31b6f9244e6" /><Relationship Type="http://schemas.openxmlformats.org/officeDocument/2006/relationships/notesSlide" Target="/ppt/notesSlides/notesSlide6.xml" Id="R0d3872eafeca46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09310aa2ec44e2" /><Relationship Type="http://schemas.openxmlformats.org/officeDocument/2006/relationships/notesSlide" Target="/ppt/notesSlides/notesSlide7.xml" Id="R670fa79bbf294b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cc7e9a3bbe457b" /><Relationship Type="http://schemas.openxmlformats.org/officeDocument/2006/relationships/notesSlide" Target="/ppt/notesSlides/notesSlide8.xml" Id="Rf73521e7632640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92b5a7d989417a" /><Relationship Type="http://schemas.openxmlformats.org/officeDocument/2006/relationships/notesSlide" Target="/ppt/notesSlides/notesSlide9.xml" Id="R683e2d35933047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561d9edd7945ca" /><Relationship Type="http://schemas.openxmlformats.org/officeDocument/2006/relationships/notesSlide" Target="/ppt/notesSlides/notesSlide10.xml" Id="R0d7e02a5e0cf49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831749c3464fb8" /><Relationship Type="http://schemas.openxmlformats.org/officeDocument/2006/relationships/notesSlide" Target="/ppt/notesSlides/notesSlide11.xml" Id="R03070452a20844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4853e82aff42fd" /><Relationship Type="http://schemas.openxmlformats.org/officeDocument/2006/relationships/notesSlide" Target="/ppt/notesSlides/notesSlide12.xml" Id="Rcbcf3fd0812e48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f88bda1f87840d5" /><Relationship Type="http://schemas.openxmlformats.org/officeDocument/2006/relationships/notesSlide" Target="/ppt/notesSlides/notesSlide13.xml" Id="R8c2910eadb7e41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d224afdc3243a1" /><Relationship Type="http://schemas.openxmlformats.org/officeDocument/2006/relationships/notesSlide" Target="/ppt/notesSlides/notesSlide14.xml" Id="R1cce8c0a74d040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392cfd68fd4c95" /><Relationship Type="http://schemas.openxmlformats.org/officeDocument/2006/relationships/notesSlide" Target="/ppt/notesSlides/notesSlide15.xml" Id="Rafba6938314a48f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64a7f8f6d6946cd" /><Relationship Type="http://schemas.openxmlformats.org/officeDocument/2006/relationships/notesSlide" Target="/ppt/notesSlides/notesSlide16.xml" Id="R374b6be6974e4a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9cc3553c4246d3" /><Relationship Type="http://schemas.openxmlformats.org/officeDocument/2006/relationships/notesSlide" Target="/ppt/notesSlides/notesSlide17.xml" Id="R3f7a1638e98045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c7fbe91e7fa4a55" /><Relationship Type="http://schemas.openxmlformats.org/officeDocument/2006/relationships/image" Target="/ppt/media/image.png" Id="R0bad50eaeb3e47a3" /><Relationship Type="http://schemas.openxmlformats.org/officeDocument/2006/relationships/notesSlide" Target="/ppt/notesSlides/notesSlide18.xml" Id="R19aa37ee70c346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977bfbde9e4bfa" /><Relationship Type="http://schemas.openxmlformats.org/officeDocument/2006/relationships/image" Target="/ppt/media/image2.png" Id="Re81d346de4614e66" /><Relationship Type="http://schemas.openxmlformats.org/officeDocument/2006/relationships/notesSlide" Target="/ppt/notesSlides/notesSlide19.xml" Id="R5d83f59077954a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5b635c675be4075" /><Relationship Type="http://schemas.openxmlformats.org/officeDocument/2006/relationships/image" Target="/ppt/media/image3.png" Id="R708f0e93b3db49e2" /><Relationship Type="http://schemas.openxmlformats.org/officeDocument/2006/relationships/notesSlide" Target="/ppt/notesSlides/notesSlide20.xml" Id="R69cbabd5b581457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a34a0f4bf14435" /><Relationship Type="http://schemas.openxmlformats.org/officeDocument/2006/relationships/notesSlide" Target="/ppt/notesSlides/notesSlide21.xml" Id="R841e236b107749a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正方形/長方形 12">
            <a:extLst xmlns:a="http://schemas.openxmlformats.org/drawingml/2006/main">
              <a:ext uri="{FF2B5EF4-FFF2-40B4-BE49-F238E27FC236}">
                <a16:creationId xmlns:a16="http://schemas.microsoft.com/office/drawing/2014/main" id="{17A78FFF-9B69-4A91-AA42-579F155BBCE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正方形/長方形 1">
            <a:extLst xmlns:a="http://schemas.openxmlformats.org/drawingml/2006/main">
              <a:ext uri="{FF2B5EF4-FFF2-40B4-BE49-F238E27FC236}">
                <a16:creationId xmlns:a16="http://schemas.microsoft.com/office/drawing/2014/main" id="{F84B2074-DAA8-4AAB-BEB3-2641FD2B8DD5}"/>
              </a:ext>
            </a:extLst>
          </p:cNvPr>
          <p:cNvSpPr>
            <a:spLocks xmlns:a="http://schemas.openxmlformats.org/drawingml/2006/main" noGrp="1"/>
          </p:cNvSpPr>
          <p:nvPr/>
        </p:nvSpPr>
        <p:spPr>
          <a:xfrm xmlns:a="http://schemas.openxmlformats.org/drawingml/2006/main">
            <a:off x="666750" y="609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Hiragino Sans"/>
                <a:ea typeface="Hiragino Sans"/>
                <a:cs typeface="Hiragino Sans"/>
              </a:defRPr>
            </a:pPr>
            <a:r>
              <a:rPr sz="1500" b="1">
                <a:solidFill>
                  <a:srgbClr val="2563EB"/>
                </a:solidFill>
                <a:latin typeface="Hiragino Sans"/>
                <a:ea typeface="Hiragino Sans"/>
                <a:cs typeface="Hiragino Sans"/>
              </a:rPr>
              <a:t>ゼミ中間発表</a:t>
            </a:r>
          </a:p>
        </p:txBody>
      </p:sp>
      <p:sp>
        <p:nvSpPr>
          <p:cNvPr id="3" name="cover-title">
            <a:extLst xmlns:a="http://schemas.openxmlformats.org/drawingml/2006/main">
              <a:ext uri="{FF2B5EF4-FFF2-40B4-BE49-F238E27FC236}">
                <a16:creationId xmlns:a16="http://schemas.microsoft.com/office/drawing/2014/main" id="{2E43AB2B-2427-4746-ABA1-9F8EF1095148}"/>
              </a:ext>
            </a:extLst>
          </p:cNvPr>
          <p:cNvSpPr>
            <a:spLocks xmlns:a="http://schemas.openxmlformats.org/drawingml/2006/main" noGrp="1"/>
          </p:cNvSpPr>
          <p:nvPr/>
        </p:nvSpPr>
        <p:spPr>
          <a:xfrm xmlns:a="http://schemas.openxmlformats.org/drawingml/2006/main">
            <a:off x="666750" y="1619250"/>
            <a:ext cx="7239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4050" b="1">
                <a:solidFill>
                  <a:srgbClr val="111827"/>
                </a:solidFill>
                <a:latin typeface="Hiragino Sans"/>
                <a:ea typeface="Hiragino Sans"/>
                <a:cs typeface="Hiragino Sans"/>
              </a:defRPr>
            </a:pPr>
            <a:r>
              <a:rPr sz="4050" b="1">
                <a:solidFill>
                  <a:srgbClr val="111827"/>
                </a:solidFill>
                <a:latin typeface="Hiragino Sans"/>
                <a:ea typeface="Hiragino Sans"/>
                <a:cs typeface="Hiragino Sans"/>
              </a:rPr>
              <a:t>多クラス分類における</a:t>
            </a:r>
          </a:p>
          <a:p xmlns:a="http://schemas.openxmlformats.org/drawingml/2006/main">
            <a:pPr algn="l">
              <a:buNone/>
              <a:defRPr sz="4050" b="1">
                <a:solidFill>
                  <a:srgbClr val="111827"/>
                </a:solidFill>
                <a:latin typeface="Hiragino Sans"/>
                <a:ea typeface="Hiragino Sans"/>
                <a:cs typeface="Hiragino Sans"/>
              </a:defRPr>
            </a:pPr>
            <a:r>
              <a:rPr sz="4050" b="1">
                <a:solidFill>
                  <a:srgbClr val="111827"/>
                </a:solidFill>
                <a:latin typeface="Hiragino Sans"/>
                <a:ea typeface="Hiragino Sans"/>
                <a:cs typeface="Hiragino Sans"/>
              </a:rPr>
              <a:t>LIMEの説明方法と課題</a:t>
            </a:r>
          </a:p>
        </p:txBody>
      </p:sp>
      <p:sp>
        <p:nvSpPr>
          <p:cNvPr id="4" name="正方形/長方形 3">
            <a:extLst xmlns:a="http://schemas.openxmlformats.org/drawingml/2006/main">
              <a:ext uri="{FF2B5EF4-FFF2-40B4-BE49-F238E27FC236}">
                <a16:creationId xmlns:a16="http://schemas.microsoft.com/office/drawing/2014/main" id="{DD823584-A1A7-42B0-BE35-733F5A94DD18}"/>
              </a:ext>
            </a:extLst>
          </p:cNvPr>
          <p:cNvSpPr>
            <a:spLocks xmlns:a="http://schemas.openxmlformats.org/drawingml/2006/main" noGrp="1"/>
          </p:cNvSpPr>
          <p:nvPr/>
        </p:nvSpPr>
        <p:spPr>
          <a:xfrm xmlns:a="http://schemas.openxmlformats.org/drawingml/2006/main">
            <a:off x="685800" y="35623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64748B"/>
                </a:solidFill>
                <a:latin typeface="Hiragino Sans"/>
                <a:ea typeface="Hiragino Sans"/>
                <a:cs typeface="Hiragino Sans"/>
              </a:defRPr>
            </a:pPr>
            <a:r>
              <a:rPr sz="1950" b="0">
                <a:solidFill>
                  <a:srgbClr val="64748B"/>
                </a:solidFill>
                <a:latin typeface="Hiragino Sans"/>
                <a:ea typeface="Hiragino Sans"/>
                <a:cs typeface="Hiragino Sans"/>
              </a:rPr>
              <a:t>局所説明の基本から、説明方法の拡張へ</a:t>
            </a:r>
          </a:p>
        </p:txBody>
      </p:sp>
      <p:cxnSp>
        <p:nvCxnSpPr>
          <p:cNvPr id="39" name="直線矢印コネクタ 16"/>
          <p:cNvCxnSpPr/>
          <p:nvPr/>
        </p:nvCxnSpPr>
        <p:spPr>
          <a:xfrm xmlns:a="http://schemas.openxmlformats.org/drawingml/2006/main">
            <a:off x="685800" y="4476750"/>
            <a:ext cx="4572000" cy="0"/>
          </a:xfrm>
          <a:prstGeom xmlns:a="http://schemas.openxmlformats.org/drawingml/2006/main" prst="straightConnector1">
            <a:avLst/>
          </a:prstGeom>
          <a:ln xmlns:a="http://schemas.openxmlformats.org/drawingml/2006/main" w="19050">
            <a:solidFill>
              <a:srgbClr val="CBD5E1"/>
            </a:solidFill>
            <a:prstDash val="solid"/>
          </a:ln>
        </p:spPr>
      </p:cxnSp>
      <p:sp>
        <p:nvSpPr>
          <p:cNvPr id="6" name="正方形/長方形 5">
            <a:extLst xmlns:a="http://schemas.openxmlformats.org/drawingml/2006/main">
              <a:ext uri="{FF2B5EF4-FFF2-40B4-BE49-F238E27FC236}">
                <a16:creationId xmlns:a16="http://schemas.microsoft.com/office/drawing/2014/main" id="{E06F0708-AD48-42F5-B4AE-2EE952E453FE}"/>
              </a:ext>
            </a:extLst>
          </p:cNvPr>
          <p:cNvSpPr>
            <a:spLocks xmlns:a="http://schemas.openxmlformats.org/drawingml/2006/main" noGrp="1"/>
          </p:cNvSpPr>
          <p:nvPr/>
        </p:nvSpPr>
        <p:spPr>
          <a:xfrm xmlns:a="http://schemas.openxmlformats.org/drawingml/2006/main">
            <a:off x="685800" y="47625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Hiragino Sans"/>
                <a:ea typeface="Hiragino Sans"/>
                <a:cs typeface="Hiragino Sans"/>
              </a:defRPr>
            </a:pPr>
            <a:r>
              <a:rPr sz="1800" b="1">
                <a:solidFill>
                  <a:srgbClr val="111827"/>
                </a:solidFill>
                <a:latin typeface="Hiragino Sans"/>
                <a:ea typeface="Hiragino Sans"/>
                <a:cs typeface="Hiragino Sans"/>
              </a:rPr>
              <a:t>池亀 颯太　M1</a:t>
            </a:r>
          </a:p>
        </p:txBody>
      </p:sp>
      <p:sp>
        <p:nvSpPr>
          <p:cNvPr id="7" name="正方形/長方形 6">
            <a:extLst xmlns:a="http://schemas.openxmlformats.org/drawingml/2006/main">
              <a:ext uri="{FF2B5EF4-FFF2-40B4-BE49-F238E27FC236}">
                <a16:creationId xmlns:a16="http://schemas.microsoft.com/office/drawing/2014/main" id="{5448BD7F-E594-4D25-AD2B-BAB2BB4E626A}"/>
              </a:ext>
            </a:extLst>
          </p:cNvPr>
          <p:cNvSpPr>
            <a:spLocks xmlns:a="http://schemas.openxmlformats.org/drawingml/2006/main" noGrp="1"/>
          </p:cNvSpPr>
          <p:nvPr/>
        </p:nvSpPr>
        <p:spPr>
          <a:xfrm xmlns:a="http://schemas.openxmlformats.org/drawingml/2006/main">
            <a:off x="685800" y="5219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2026年9月12日（土）</a:t>
            </a:r>
          </a:p>
        </p:txBody>
      </p:sp>
      <p:sp>
        <p:nvSpPr>
          <p:cNvPr id="8" name="正方形/長方形 7">
            <a:extLst xmlns:a="http://schemas.openxmlformats.org/drawingml/2006/main">
              <a:ext uri="{FF2B5EF4-FFF2-40B4-BE49-F238E27FC236}">
                <a16:creationId xmlns:a16="http://schemas.microsoft.com/office/drawing/2014/main" id="{C62058CD-3479-417F-9BC1-D611641D5421}"/>
              </a:ext>
            </a:extLst>
          </p:cNvPr>
          <p:cNvSpPr>
            <a:spLocks xmlns:a="http://schemas.openxmlformats.org/drawingml/2006/main" noGrp="1"/>
          </p:cNvSpPr>
          <p:nvPr/>
        </p:nvSpPr>
        <p:spPr>
          <a:xfrm xmlns:a="http://schemas.openxmlformats.org/drawingml/2006/main">
            <a:off x="8572500" y="952500"/>
            <a:ext cx="2190750" cy="2190750"/>
          </a:xfrm>
          <a:prstGeom xmlns:a="http://schemas.openxmlformats.org/drawingml/2006/main" prst="rect">
            <a:avLst/>
          </a:prstGeom>
          <a:solidFill xmlns:a="http://schemas.openxmlformats.org/drawingml/2006/main">
            <a:srgbClr val="DBEAFE"/>
          </a:solidFill>
          <a:ln xmlns:a="http://schemas.openxmlformats.org/drawingml/2006/main" w="0">
            <a:solidFill>
              <a:srgbClr val="DBEAFE"/>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96A1A3B2-198D-4521-AA9C-0FFF75F503BF}"/>
              </a:ext>
            </a:extLst>
          </p:cNvPr>
          <p:cNvSpPr>
            <a:spLocks xmlns:a="http://schemas.openxmlformats.org/drawingml/2006/main" noGrp="1"/>
          </p:cNvSpPr>
          <p:nvPr/>
        </p:nvSpPr>
        <p:spPr>
          <a:xfrm xmlns:a="http://schemas.openxmlformats.org/drawingml/2006/main">
            <a:off x="9667875" y="2047875"/>
            <a:ext cx="1619250" cy="16192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円/楕円 9">
            <a:extLst xmlns:a="http://schemas.openxmlformats.org/drawingml/2006/main">
              <a:ext uri="{FF2B5EF4-FFF2-40B4-BE49-F238E27FC236}">
                <a16:creationId xmlns:a16="http://schemas.microsoft.com/office/drawing/2014/main" id="{4B530DD3-9326-4695-8040-633CCEAF4595}"/>
              </a:ext>
            </a:extLst>
          </p:cNvPr>
          <p:cNvSpPr>
            <a:spLocks xmlns:a="http://schemas.openxmlformats.org/drawingml/2006/main" noGrp="1"/>
          </p:cNvSpPr>
          <p:nvPr/>
        </p:nvSpPr>
        <p:spPr>
          <a:xfrm xmlns:a="http://schemas.openxmlformats.org/drawingml/2006/main">
            <a:off x="8096250" y="3381375"/>
            <a:ext cx="1714500" cy="1714500"/>
          </a:xfrm>
          <a:prstGeom xmlns:a="http://schemas.openxmlformats.org/drawingml/2006/main" prst="ellipse">
            <a:avLst/>
          </a:prstGeom>
          <a:solidFill xmlns:a="http://schemas.openxmlformats.org/drawingml/2006/main">
            <a:srgbClr val="FEF3C7"/>
          </a:solidFill>
          <a:ln xmlns:a="http://schemas.openxmlformats.org/drawingml/2006/main" w="28575">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45" name="直線矢印コネクタ 22"/>
          <p:cNvCxnSpPr/>
          <p:nvPr/>
        </p:nvCxnSpPr>
        <p:spPr>
          <a:xfrm xmlns:a="http://schemas.openxmlformats.org/drawingml/2006/main">
            <a:off x="7810500" y="5524500"/>
            <a:ext cx="3238500" cy="0"/>
          </a:xfrm>
          <a:prstGeom xmlns:a="http://schemas.openxmlformats.org/drawingml/2006/main" prst="straightConnector1">
            <a:avLst/>
          </a:prstGeom>
          <a:ln xmlns:a="http://schemas.openxmlformats.org/drawingml/2006/main" w="38100">
            <a:solidFill>
              <a:srgbClr val="111827"/>
            </a:solidFill>
            <a:prstDash val="solid"/>
          </a:ln>
        </p:spPr>
      </p:cxnSp>
      <p:sp>
        <p:nvSpPr>
          <p:cNvPr id="12" name="正方形/長方形 11">
            <a:extLst xmlns:a="http://schemas.openxmlformats.org/drawingml/2006/main">
              <a:ext uri="{FF2B5EF4-FFF2-40B4-BE49-F238E27FC236}">
                <a16:creationId xmlns:a16="http://schemas.microsoft.com/office/drawing/2014/main" id="{E437CF62-177A-4A4E-A45F-47597A0C13FA}"/>
              </a:ext>
            </a:extLst>
          </p:cNvPr>
          <p:cNvSpPr>
            <a:spLocks xmlns:a="http://schemas.openxmlformats.org/drawingml/2006/main" noGrp="1"/>
          </p:cNvSpPr>
          <p:nvPr/>
        </p:nvSpPr>
        <p:spPr>
          <a:xfrm xmlns:a="http://schemas.openxmlformats.org/drawingml/2006/main">
            <a:off x="7953375" y="57150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LOCAL  →  MULTI-CLASS</a:t>
            </a:r>
          </a:p>
        </p:txBody>
      </p:sp>
    </p:spTree>
    <p:extLst>
      <p:ext uri="{BB962C8B-B14F-4D97-AF65-F5344CB8AC3E}">
        <p14:creationId xmlns:p14="http://schemas.microsoft.com/office/powerpoint/2010/main" val="5444768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ccent-bar">
            <a:extLst xmlns:a="http://schemas.openxmlformats.org/drawingml/2006/main">
              <a:ext uri="{FF2B5EF4-FFF2-40B4-BE49-F238E27FC236}">
                <a16:creationId xmlns:a16="http://schemas.microsoft.com/office/drawing/2014/main" id="{6BA97BBE-E9BB-4788-BBB0-797DC0DA50E0}"/>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title">
            <a:extLst xmlns:a="http://schemas.openxmlformats.org/drawingml/2006/main">
              <a:ext uri="{FF2B5EF4-FFF2-40B4-BE49-F238E27FC236}">
                <a16:creationId xmlns:a16="http://schemas.microsoft.com/office/drawing/2014/main" id="{B3B0D489-32BD-4E53-BD61-1868699AB91E}"/>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目次</a:t>
            </a:r>
          </a:p>
        </p:txBody>
      </p:sp>
      <p:sp>
        <p:nvSpPr>
          <p:cNvPr id="4" name="subtitle">
            <a:extLst xmlns:a="http://schemas.openxmlformats.org/drawingml/2006/main">
              <a:ext uri="{FF2B5EF4-FFF2-40B4-BE49-F238E27FC236}">
                <a16:creationId xmlns:a16="http://schemas.microsoft.com/office/drawing/2014/main" id="{29C5C1A4-876C-4F1B-8ABE-1EA5DA4287C9}"/>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これから「導入・LIMEの基礎」を話す</a:t>
            </a:r>
          </a:p>
        </p:txBody>
      </p:sp>
      <p:sp>
        <p:nvSpPr>
          <p:cNvPr id="5" name="footer-num">
            <a:extLst xmlns:a="http://schemas.openxmlformats.org/drawingml/2006/main">
              <a:ext uri="{FF2B5EF4-FFF2-40B4-BE49-F238E27FC236}">
                <a16:creationId xmlns:a16="http://schemas.microsoft.com/office/drawing/2014/main" id="{F2221DF2-BA61-4818-AD99-D119A929D25C}"/>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02</a:t>
            </a:r>
          </a:p>
        </p:txBody>
      </p:sp>
      <p:sp>
        <p:nvSpPr>
          <p:cNvPr id="6" name="toc-row-bg-0">
            <a:extLst xmlns:a="http://schemas.openxmlformats.org/drawingml/2006/main">
              <a:ext uri="{FF2B5EF4-FFF2-40B4-BE49-F238E27FC236}">
                <a16:creationId xmlns:a16="http://schemas.microsoft.com/office/drawing/2014/main" id="{B72F82F7-A72B-4564-B3C8-D59A2DAE5EDA}"/>
              </a:ext>
            </a:extLst>
          </p:cNvPr>
          <p:cNvSpPr>
            <a:spLocks xmlns:a="http://schemas.openxmlformats.org/drawingml/2006/main" noGrp="1"/>
          </p:cNvSpPr>
          <p:nvPr/>
        </p:nvSpPr>
        <p:spPr>
          <a:xfrm xmlns:a="http://schemas.openxmlformats.org/drawingml/2006/main">
            <a:off x="762000" y="1190000"/>
            <a:ext cx="10668000" cy="1070000"/>
          </a:xfrm>
          <a:prstGeom xmlns:a="http://schemas.openxmlformats.org/drawingml/2006/main" prst="roundRect">
            <a:avLst>
              <a:gd name="adj" fmla="val 8000"/>
            </a:avLst>
          </a:prstGeom>
          <a:solidFill xmlns:a="http://schemas.openxmlformats.org/drawingml/2006/main">
            <a:srgbClr val="EAF4F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7" name="toc-row-accent-0">
            <a:extLst xmlns:a="http://schemas.openxmlformats.org/drawingml/2006/main">
              <a:ext uri="{FF2B5EF4-FFF2-40B4-BE49-F238E27FC236}">
                <a16:creationId xmlns:a16="http://schemas.microsoft.com/office/drawing/2014/main" id="{FECCB06C-6D88-436D-85CE-63B628311CAB}"/>
              </a:ext>
            </a:extLst>
          </p:cNvPr>
          <p:cNvSpPr>
            <a:spLocks xmlns:a="http://schemas.openxmlformats.org/drawingml/2006/main" noGrp="1"/>
          </p:cNvSpPr>
          <p:nvPr/>
        </p:nvSpPr>
        <p:spPr>
          <a:xfrm xmlns:a="http://schemas.openxmlformats.org/drawingml/2006/main">
            <a:off x="762000" y="1190000"/>
            <a:ext cx="76200" cy="107000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toc-num-0">
            <a:extLst xmlns:a="http://schemas.openxmlformats.org/drawingml/2006/main">
              <a:ext uri="{FF2B5EF4-FFF2-40B4-BE49-F238E27FC236}">
                <a16:creationId xmlns:a16="http://schemas.microsoft.com/office/drawing/2014/main" id="{B3DBA6C0-CEEB-4D18-BB0E-6309D7D6B3BD}"/>
              </a:ext>
            </a:extLst>
          </p:cNvPr>
          <p:cNvSpPr>
            <a:spLocks xmlns:a="http://schemas.openxmlformats.org/drawingml/2006/main" noGrp="1"/>
          </p:cNvSpPr>
          <p:nvPr/>
        </p:nvSpPr>
        <p:spPr>
          <a:xfrm xmlns:a="http://schemas.openxmlformats.org/drawingml/2006/main">
            <a:off x="1000000" y="11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1479C9"/>
                </a:solidFill>
                <a:latin typeface="Hiragino Sans"/>
                <a:ea typeface="Hiragino Sans"/>
                <a:cs typeface="Hiragino Sans"/>
              </a:defRPr>
            </a:pPr>
            <a:r>
              <a:rPr sz="3600" b="1">
                <a:solidFill>
                  <a:srgbClr val="1479C9"/>
                </a:solidFill>
                <a:latin typeface="Hiragino Sans"/>
                <a:ea typeface="Hiragino Sans"/>
                <a:cs typeface="Hiragino Sans"/>
              </a:rPr>
              <a:t>01</a:t>
            </a:r>
          </a:p>
        </p:txBody>
      </p:sp>
      <p:sp>
        <p:nvSpPr>
          <p:cNvPr id="9" name="toc-title-0">
            <a:extLst xmlns:a="http://schemas.openxmlformats.org/drawingml/2006/main">
              <a:ext uri="{FF2B5EF4-FFF2-40B4-BE49-F238E27FC236}">
                <a16:creationId xmlns:a16="http://schemas.microsoft.com/office/drawing/2014/main" id="{072296B8-4549-4B24-87A0-CCFE570C1990}"/>
              </a:ext>
            </a:extLst>
          </p:cNvPr>
          <p:cNvSpPr>
            <a:spLocks xmlns:a="http://schemas.openxmlformats.org/drawingml/2006/main" noGrp="1"/>
          </p:cNvSpPr>
          <p:nvPr/>
        </p:nvSpPr>
        <p:spPr>
          <a:xfrm xmlns:a="http://schemas.openxmlformats.org/drawingml/2006/main">
            <a:off x="2100000" y="13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17233D"/>
                </a:solidFill>
                <a:latin typeface="Hiragino Sans"/>
                <a:ea typeface="Hiragino Sans"/>
                <a:cs typeface="Hiragino Sans"/>
              </a:defRPr>
            </a:pPr>
            <a:r>
              <a:rPr sz="1900" b="1">
                <a:solidFill>
                  <a:srgbClr val="17233D"/>
                </a:solidFill>
                <a:latin typeface="Hiragino Sans"/>
                <a:ea typeface="Hiragino Sans"/>
                <a:cs typeface="Hiragino Sans"/>
              </a:rPr>
              <a:t>導入・LIMEの基礎</a:t>
            </a:r>
          </a:p>
        </p:txBody>
      </p:sp>
      <p:sp>
        <p:nvSpPr>
          <p:cNvPr id="10" name="toc-desc-0">
            <a:extLst xmlns:a="http://schemas.openxmlformats.org/drawingml/2006/main">
              <a:ext uri="{FF2B5EF4-FFF2-40B4-BE49-F238E27FC236}">
                <a16:creationId xmlns:a16="http://schemas.microsoft.com/office/drawing/2014/main" id="{BCB9CA32-C623-41F8-A278-468D955EFEE5}"/>
              </a:ext>
            </a:extLst>
          </p:cNvPr>
          <p:cNvSpPr>
            <a:spLocks xmlns:a="http://schemas.openxmlformats.org/drawingml/2006/main" noGrp="1"/>
          </p:cNvSpPr>
          <p:nvPr/>
        </p:nvSpPr>
        <p:spPr>
          <a:xfrm xmlns:a="http://schemas.openxmlformats.org/drawingml/2006/main">
            <a:off x="2100000" y="17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687386"/>
                </a:solidFill>
                <a:latin typeface="Hiragino Sans"/>
                <a:ea typeface="Hiragino Sans"/>
                <a:cs typeface="Hiragino Sans"/>
              </a:defRPr>
            </a:pPr>
            <a:r>
              <a:rPr sz="1250" b="0">
                <a:solidFill>
                  <a:srgbClr val="687386"/>
                </a:solidFill>
                <a:latin typeface="Hiragino Sans"/>
                <a:ea typeface="Hiragino Sans"/>
                <a:cs typeface="Hiragino Sans"/>
              </a:rPr>
              <a:t>XAIとLIMEの仕組み、局所説明の考え方を確認する</a:t>
            </a:r>
          </a:p>
        </p:txBody>
      </p:sp>
      <p:sp>
        <p:nvSpPr>
          <p:cNvPr id="11" name="toc-pages-0">
            <a:extLst xmlns:a="http://schemas.openxmlformats.org/drawingml/2006/main">
              <a:ext uri="{FF2B5EF4-FFF2-40B4-BE49-F238E27FC236}">
                <a16:creationId xmlns:a16="http://schemas.microsoft.com/office/drawing/2014/main" id="{65A59103-A7E1-4E1F-8C26-7BB52C0BBD62}"/>
              </a:ext>
            </a:extLst>
          </p:cNvPr>
          <p:cNvSpPr>
            <a:spLocks xmlns:a="http://schemas.openxmlformats.org/drawingml/2006/main" noGrp="1"/>
          </p:cNvSpPr>
          <p:nvPr/>
        </p:nvSpPr>
        <p:spPr>
          <a:xfrm xmlns:a="http://schemas.openxmlformats.org/drawingml/2006/main">
            <a:off x="9700000" y="11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1479C9"/>
                </a:solidFill>
                <a:latin typeface="Hiragino Sans"/>
                <a:ea typeface="Hiragino Sans"/>
                <a:cs typeface="Hiragino Sans"/>
              </a:defRPr>
            </a:pPr>
            <a:r>
              <a:rPr sz="1300" b="1">
                <a:solidFill>
                  <a:srgbClr val="1479C9"/>
                </a:solidFill>
                <a:latin typeface="Hiragino Sans"/>
                <a:ea typeface="Hiragino Sans"/>
                <a:cs typeface="Hiragino Sans"/>
              </a:rPr>
              <a:t>p.03-06</a:t>
            </a:r>
          </a:p>
        </p:txBody>
      </p:sp>
      <p:sp>
        <p:nvSpPr>
          <p:cNvPr id="12" name="toc-num-1">
            <a:extLst xmlns:a="http://schemas.openxmlformats.org/drawingml/2006/main">
              <a:ext uri="{FF2B5EF4-FFF2-40B4-BE49-F238E27FC236}">
                <a16:creationId xmlns:a16="http://schemas.microsoft.com/office/drawing/2014/main" id="{DD546A83-0336-4518-9910-210481CED61F}"/>
              </a:ext>
            </a:extLst>
          </p:cNvPr>
          <p:cNvSpPr>
            <a:spLocks xmlns:a="http://schemas.openxmlformats.org/drawingml/2006/main" noGrp="1"/>
          </p:cNvSpPr>
          <p:nvPr/>
        </p:nvSpPr>
        <p:spPr>
          <a:xfrm xmlns:a="http://schemas.openxmlformats.org/drawingml/2006/main">
            <a:off x="1000000" y="23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02</a:t>
            </a:r>
          </a:p>
        </p:txBody>
      </p:sp>
      <p:sp>
        <p:nvSpPr>
          <p:cNvPr id="13" name="toc-title-1">
            <a:extLst xmlns:a="http://schemas.openxmlformats.org/drawingml/2006/main">
              <a:ext uri="{FF2B5EF4-FFF2-40B4-BE49-F238E27FC236}">
                <a16:creationId xmlns:a16="http://schemas.microsoft.com/office/drawing/2014/main" id="{5F84CC34-A0AB-4DC1-8AE9-81B6DF3FFCF7}"/>
              </a:ext>
            </a:extLst>
          </p:cNvPr>
          <p:cNvSpPr>
            <a:spLocks xmlns:a="http://schemas.openxmlformats.org/drawingml/2006/main" noGrp="1"/>
          </p:cNvSpPr>
          <p:nvPr/>
        </p:nvSpPr>
        <p:spPr>
          <a:xfrm xmlns:a="http://schemas.openxmlformats.org/drawingml/2006/main">
            <a:off x="2100000" y="24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多クラスLIMEの課題と関連研究</a:t>
            </a:r>
          </a:p>
        </p:txBody>
      </p:sp>
      <p:sp>
        <p:nvSpPr>
          <p:cNvPr id="14" name="toc-desc-1">
            <a:extLst xmlns:a="http://schemas.openxmlformats.org/drawingml/2006/main">
              <a:ext uri="{FF2B5EF4-FFF2-40B4-BE49-F238E27FC236}">
                <a16:creationId xmlns:a16="http://schemas.microsoft.com/office/drawing/2014/main" id="{A58E5887-7A63-4EEA-9233-DB632C1434F1}"/>
              </a:ext>
            </a:extLst>
          </p:cNvPr>
          <p:cNvSpPr>
            <a:spLocks xmlns:a="http://schemas.openxmlformats.org/drawingml/2006/main" noGrp="1"/>
          </p:cNvSpPr>
          <p:nvPr/>
        </p:nvSpPr>
        <p:spPr>
          <a:xfrm xmlns:a="http://schemas.openxmlformats.org/drawingml/2006/main">
            <a:off x="2100000" y="29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one-vs-rest型の限界と、LIMEtreeなど関連手法を整理する</a:t>
            </a:r>
          </a:p>
        </p:txBody>
      </p:sp>
      <p:sp>
        <p:nvSpPr>
          <p:cNvPr id="15" name="toc-pages-1">
            <a:extLst xmlns:a="http://schemas.openxmlformats.org/drawingml/2006/main">
              <a:ext uri="{FF2B5EF4-FFF2-40B4-BE49-F238E27FC236}">
                <a16:creationId xmlns:a16="http://schemas.microsoft.com/office/drawing/2014/main" id="{4E3768A9-6467-41A2-B575-91E1CBE1F9F8}"/>
              </a:ext>
            </a:extLst>
          </p:cNvPr>
          <p:cNvSpPr>
            <a:spLocks xmlns:a="http://schemas.openxmlformats.org/drawingml/2006/main" noGrp="1"/>
          </p:cNvSpPr>
          <p:nvPr/>
        </p:nvSpPr>
        <p:spPr>
          <a:xfrm xmlns:a="http://schemas.openxmlformats.org/drawingml/2006/main">
            <a:off x="9700000" y="23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p.08-12</a:t>
            </a:r>
          </a:p>
        </p:txBody>
      </p:sp>
      <p:sp>
        <p:nvSpPr>
          <p:cNvPr id="16" name="toc-num-2">
            <a:extLst xmlns:a="http://schemas.openxmlformats.org/drawingml/2006/main">
              <a:ext uri="{FF2B5EF4-FFF2-40B4-BE49-F238E27FC236}">
                <a16:creationId xmlns:a16="http://schemas.microsoft.com/office/drawing/2014/main" id="{5EF86339-9393-4F11-941B-C65754F9466A}"/>
              </a:ext>
            </a:extLst>
          </p:cNvPr>
          <p:cNvSpPr>
            <a:spLocks xmlns:a="http://schemas.openxmlformats.org/drawingml/2006/main" noGrp="1"/>
          </p:cNvSpPr>
          <p:nvPr/>
        </p:nvSpPr>
        <p:spPr>
          <a:xfrm xmlns:a="http://schemas.openxmlformats.org/drawingml/2006/main">
            <a:off x="1000000" y="34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03</a:t>
            </a:r>
          </a:p>
        </p:txBody>
      </p:sp>
      <p:sp>
        <p:nvSpPr>
          <p:cNvPr id="17" name="toc-title-2">
            <a:extLst xmlns:a="http://schemas.openxmlformats.org/drawingml/2006/main">
              <a:ext uri="{FF2B5EF4-FFF2-40B4-BE49-F238E27FC236}">
                <a16:creationId xmlns:a16="http://schemas.microsoft.com/office/drawing/2014/main" id="{219E0B42-9741-4AF3-A119-371D9BC2F98B}"/>
              </a:ext>
            </a:extLst>
          </p:cNvPr>
          <p:cNvSpPr>
            <a:spLocks xmlns:a="http://schemas.openxmlformats.org/drawingml/2006/main" noGrp="1"/>
          </p:cNvSpPr>
          <p:nvPr/>
        </p:nvSpPr>
        <p:spPr>
          <a:xfrm xmlns:a="http://schemas.openxmlformats.org/drawingml/2006/main">
            <a:off x="2100000" y="36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提案手法・評価設計</a:t>
            </a:r>
          </a:p>
        </p:txBody>
      </p:sp>
      <p:sp>
        <p:nvSpPr>
          <p:cNvPr id="18" name="toc-desc-2">
            <a:extLst xmlns:a="http://schemas.openxmlformats.org/drawingml/2006/main">
              <a:ext uri="{FF2B5EF4-FFF2-40B4-BE49-F238E27FC236}">
                <a16:creationId xmlns:a16="http://schemas.microsoft.com/office/drawing/2014/main" id="{39AF9C88-C321-43D1-918C-613AB85E87A0}"/>
              </a:ext>
            </a:extLst>
          </p:cNvPr>
          <p:cNvSpPr>
            <a:spLocks xmlns:a="http://schemas.openxmlformats.org/drawingml/2006/main" noGrp="1"/>
          </p:cNvSpPr>
          <p:nvPr/>
        </p:nvSpPr>
        <p:spPr>
          <a:xfrm xmlns:a="http://schemas.openxmlformats.org/drawingml/2006/main">
            <a:off x="2100000" y="40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Top-1/Top-2に絞る提案と、比較のための評価設計を示す</a:t>
            </a:r>
          </a:p>
        </p:txBody>
      </p:sp>
      <p:sp>
        <p:nvSpPr>
          <p:cNvPr id="19" name="toc-pages-2">
            <a:extLst xmlns:a="http://schemas.openxmlformats.org/drawingml/2006/main">
              <a:ext uri="{FF2B5EF4-FFF2-40B4-BE49-F238E27FC236}">
                <a16:creationId xmlns:a16="http://schemas.microsoft.com/office/drawing/2014/main" id="{39B9EC96-91ED-410B-A30E-21DC01AAE5F3}"/>
              </a:ext>
            </a:extLst>
          </p:cNvPr>
          <p:cNvSpPr>
            <a:spLocks xmlns:a="http://schemas.openxmlformats.org/drawingml/2006/main" noGrp="1"/>
          </p:cNvSpPr>
          <p:nvPr/>
        </p:nvSpPr>
        <p:spPr>
          <a:xfrm xmlns:a="http://schemas.openxmlformats.org/drawingml/2006/main">
            <a:off x="9700000" y="34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p.14-16</a:t>
            </a:r>
          </a:p>
        </p:txBody>
      </p:sp>
      <p:sp>
        <p:nvSpPr>
          <p:cNvPr id="20" name="toc-num-3">
            <a:extLst xmlns:a="http://schemas.openxmlformats.org/drawingml/2006/main">
              <a:ext uri="{FF2B5EF4-FFF2-40B4-BE49-F238E27FC236}">
                <a16:creationId xmlns:a16="http://schemas.microsoft.com/office/drawing/2014/main" id="{368ABC5D-6E78-4179-A65D-9EAAB2496BC4}"/>
              </a:ext>
            </a:extLst>
          </p:cNvPr>
          <p:cNvSpPr>
            <a:spLocks xmlns:a="http://schemas.openxmlformats.org/drawingml/2006/main" noGrp="1"/>
          </p:cNvSpPr>
          <p:nvPr/>
        </p:nvSpPr>
        <p:spPr>
          <a:xfrm xmlns:a="http://schemas.openxmlformats.org/drawingml/2006/main">
            <a:off x="1000000" y="46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04</a:t>
            </a:r>
          </a:p>
        </p:txBody>
      </p:sp>
      <p:sp>
        <p:nvSpPr>
          <p:cNvPr id="21" name="toc-title-3">
            <a:extLst xmlns:a="http://schemas.openxmlformats.org/drawingml/2006/main">
              <a:ext uri="{FF2B5EF4-FFF2-40B4-BE49-F238E27FC236}">
                <a16:creationId xmlns:a16="http://schemas.microsoft.com/office/drawing/2014/main" id="{33F7B2CF-6BD0-49ED-AD65-2BB8C900BB8A}"/>
              </a:ext>
            </a:extLst>
          </p:cNvPr>
          <p:cNvSpPr>
            <a:spLocks xmlns:a="http://schemas.openxmlformats.org/drawingml/2006/main" noGrp="1"/>
          </p:cNvSpPr>
          <p:nvPr/>
        </p:nvSpPr>
        <p:spPr>
          <a:xfrm xmlns:a="http://schemas.openxmlformats.org/drawingml/2006/main">
            <a:off x="2100000" y="47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実験結果・考察・まとめ</a:t>
            </a:r>
          </a:p>
        </p:txBody>
      </p:sp>
      <p:sp>
        <p:nvSpPr>
          <p:cNvPr id="22" name="toc-desc-3">
            <a:extLst xmlns:a="http://schemas.openxmlformats.org/drawingml/2006/main">
              <a:ext uri="{FF2B5EF4-FFF2-40B4-BE49-F238E27FC236}">
                <a16:creationId xmlns:a16="http://schemas.microsoft.com/office/drawing/2014/main" id="{B63FD6C3-0AA5-4318-AC52-22F663D20404}"/>
              </a:ext>
            </a:extLst>
          </p:cNvPr>
          <p:cNvSpPr>
            <a:spLocks xmlns:a="http://schemas.openxmlformats.org/drawingml/2006/main" noGrp="1"/>
          </p:cNvSpPr>
          <p:nvPr/>
        </p:nvSpPr>
        <p:spPr>
          <a:xfrm xmlns:a="http://schemas.openxmlformats.org/drawingml/2006/main">
            <a:off x="2100000" y="52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実験結果を確認し、言えること・言えないことを整理する</a:t>
            </a:r>
          </a:p>
        </p:txBody>
      </p:sp>
      <p:sp>
        <p:nvSpPr>
          <p:cNvPr id="23" name="toc-pages-3">
            <a:extLst xmlns:a="http://schemas.openxmlformats.org/drawingml/2006/main">
              <a:ext uri="{FF2B5EF4-FFF2-40B4-BE49-F238E27FC236}">
                <a16:creationId xmlns:a16="http://schemas.microsoft.com/office/drawing/2014/main" id="{FF646629-EBA3-463E-89B3-39CF80D10CC9}"/>
              </a:ext>
            </a:extLst>
          </p:cNvPr>
          <p:cNvSpPr>
            <a:spLocks xmlns:a="http://schemas.openxmlformats.org/drawingml/2006/main" noGrp="1"/>
          </p:cNvSpPr>
          <p:nvPr/>
        </p:nvSpPr>
        <p:spPr>
          <a:xfrm xmlns:a="http://schemas.openxmlformats.org/drawingml/2006/main">
            <a:off x="9700000" y="46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p.18-21</a:t>
            </a:r>
          </a:p>
        </p:txBody>
      </p:sp>
    </p:spTree>
    <p:extLst>
      <p:ext uri="{BB962C8B-B14F-4D97-AF65-F5344CB8AC3E}">
        <p14:creationId xmlns:p14="http://schemas.microsoft.com/office/powerpoint/2010/main" val="11228846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正方形/長方形 34">
            <a:extLst xmlns:a="http://schemas.openxmlformats.org/drawingml/2006/main">
              <a:ext uri="{FF2B5EF4-FFF2-40B4-BE49-F238E27FC236}">
                <a16:creationId xmlns:a16="http://schemas.microsoft.com/office/drawing/2014/main" id="{2EC6FA3A-EF6E-4DD5-9F3D-8DE9357801F0}"/>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2-title">
            <a:extLst xmlns:a="http://schemas.openxmlformats.org/drawingml/2006/main">
              <a:ext uri="{FF2B5EF4-FFF2-40B4-BE49-F238E27FC236}">
                <a16:creationId xmlns:a16="http://schemas.microsoft.com/office/drawing/2014/main" id="{C7DA64B8-E76C-44F5-86D4-3ED7FAD1A7A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XAIは予測理由を見える形にする</a:t>
            </a:r>
          </a:p>
        </p:txBody>
      </p:sp>
      <p:sp>
        <p:nvSpPr>
          <p:cNvPr id="3" name="slide-2-subtitle">
            <a:extLst xmlns:a="http://schemas.openxmlformats.org/drawingml/2006/main">
              <a:ext uri="{FF2B5EF4-FFF2-40B4-BE49-F238E27FC236}">
                <a16:creationId xmlns:a16="http://schemas.microsoft.com/office/drawing/2014/main" id="{B92EE467-49A5-4CC4-9081-5A2A737A860D}"/>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モデルを理解するだけでなく、誤学習を見つけるデバッグにも使える</a:t>
            </a:r>
          </a:p>
        </p:txBody>
      </p:sp>
      <p:sp>
        <p:nvSpPr>
          <p:cNvPr id="4" name="正方形/長方形 3">
            <a:extLst xmlns:a="http://schemas.openxmlformats.org/drawingml/2006/main">
              <a:ext uri="{FF2B5EF4-FFF2-40B4-BE49-F238E27FC236}">
                <a16:creationId xmlns:a16="http://schemas.microsoft.com/office/drawing/2014/main" id="{5D6EAD04-DBFB-4E59-A369-82788477E7BE}"/>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03</a:t>
            </a:r>
          </a:p>
        </p:txBody>
      </p:sp>
      <p:sp>
        <p:nvSpPr>
          <p:cNvPr id="5" name="右矢印 4">
            <a:extLst xmlns:a="http://schemas.openxmlformats.org/drawingml/2006/main">
              <a:ext uri="{FF2B5EF4-FFF2-40B4-BE49-F238E27FC236}">
                <a16:creationId xmlns:a16="http://schemas.microsoft.com/office/drawing/2014/main" id="{CF7D41FF-F54C-48C5-8774-3500F56DD139}"/>
              </a:ext>
            </a:extLst>
          </p:cNvPr>
          <p:cNvSpPr>
            <a:spLocks xmlns:a="http://schemas.openxmlformats.org/drawingml/2006/main" noGrp="1"/>
          </p:cNvSpPr>
          <p:nvPr/>
        </p:nvSpPr>
        <p:spPr>
          <a:xfrm xmlns:a="http://schemas.openxmlformats.org/drawingml/2006/main">
            <a:off x="3048000" y="2647950"/>
            <a:ext cx="647700" cy="3238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AE686193-47DB-4E76-AAF1-B08B45F64CF7}"/>
              </a:ext>
            </a:extLst>
          </p:cNvPr>
          <p:cNvSpPr>
            <a:spLocks xmlns:a="http://schemas.openxmlformats.org/drawingml/2006/main" noGrp="1"/>
          </p:cNvSpPr>
          <p:nvPr/>
        </p:nvSpPr>
        <p:spPr>
          <a:xfrm xmlns:a="http://schemas.openxmlformats.org/drawingml/2006/main">
            <a:off x="5810250" y="2647950"/>
            <a:ext cx="647700" cy="3238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05D53959-0A81-4317-BE94-1983CE1DBD8B}"/>
              </a:ext>
            </a:extLst>
          </p:cNvPr>
          <p:cNvSpPr>
            <a:spLocks xmlns:a="http://schemas.openxmlformats.org/drawingml/2006/main" noGrp="1"/>
          </p:cNvSpPr>
          <p:nvPr/>
        </p:nvSpPr>
        <p:spPr>
          <a:xfrm xmlns:a="http://schemas.openxmlformats.org/drawingml/2006/main">
            <a:off x="8239125" y="2647950"/>
            <a:ext cx="647700" cy="32385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8931164E-CF90-4AF3-9564-5B9A9BED57A7}"/>
              </a:ext>
            </a:extLst>
          </p:cNvPr>
          <p:cNvSpPr>
            <a:spLocks xmlns:a="http://schemas.openxmlformats.org/drawingml/2006/main" noGrp="1"/>
          </p:cNvSpPr>
          <p:nvPr/>
        </p:nvSpPr>
        <p:spPr>
          <a:xfrm xmlns:a="http://schemas.openxmlformats.org/drawingml/2006/main">
            <a:off x="571500" y="1571625"/>
            <a:ext cx="2381250" cy="33337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B497D0B8-981D-4543-BB62-3F998F6DBDE6}"/>
              </a:ext>
            </a:extLst>
          </p:cNvPr>
          <p:cNvSpPr>
            <a:spLocks xmlns:a="http://schemas.openxmlformats.org/drawingml/2006/main" noGrp="1"/>
          </p:cNvSpPr>
          <p:nvPr/>
        </p:nvSpPr>
        <p:spPr>
          <a:xfrm xmlns:a="http://schemas.openxmlformats.org/drawingml/2006/main">
            <a:off x="800100" y="17907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Hiragino Sans"/>
                <a:ea typeface="Hiragino Sans"/>
                <a:cs typeface="Hiragino Sans"/>
              </a:defRPr>
            </a:pPr>
            <a:r>
              <a:rPr sz="1800" b="1">
                <a:solidFill>
                  <a:srgbClr val="111827"/>
                </a:solidFill>
                <a:latin typeface="Hiragino Sans"/>
                <a:ea typeface="Hiragino Sans"/>
                <a:cs typeface="Hiragino Sans"/>
              </a:rPr>
              <a:t>乗客データ</a:t>
            </a:r>
          </a:p>
        </p:txBody>
      </p:sp>
      <p:cxnSp>
        <p:nvCxnSpPr>
          <p:cNvPr id="64" name="直線矢印コネクタ 43"/>
          <p:cNvCxnSpPr/>
          <p:nvPr/>
        </p:nvCxnSpPr>
        <p:spPr>
          <a:xfrm xmlns:a="http://schemas.openxmlformats.org/drawingml/2006/main">
            <a:off x="800100" y="2209800"/>
            <a:ext cx="1714500" cy="0"/>
          </a:xfrm>
          <a:prstGeom xmlns:a="http://schemas.openxmlformats.org/drawingml/2006/main" prst="straightConnector1">
            <a:avLst/>
          </a:prstGeom>
          <a:ln xmlns:a="http://schemas.openxmlformats.org/drawingml/2006/main" w="9525">
            <a:solidFill>
              <a:srgbClr val="CBD5E1"/>
            </a:solidFill>
            <a:prstDash val="solid"/>
          </a:ln>
        </p:spPr>
      </p:cxnSp>
      <p:sp>
        <p:nvSpPr>
          <p:cNvPr id="11" name="正方形/長方形 10">
            <a:extLst xmlns:a="http://schemas.openxmlformats.org/drawingml/2006/main">
              <a:ext uri="{FF2B5EF4-FFF2-40B4-BE49-F238E27FC236}">
                <a16:creationId xmlns:a16="http://schemas.microsoft.com/office/drawing/2014/main" id="{44B44796-4A5A-41BF-88C4-D8E9392134C4}"/>
              </a:ext>
            </a:extLst>
          </p:cNvPr>
          <p:cNvSpPr>
            <a:spLocks xmlns:a="http://schemas.openxmlformats.org/drawingml/2006/main" noGrp="1"/>
          </p:cNvSpPr>
          <p:nvPr/>
        </p:nvSpPr>
        <p:spPr>
          <a:xfrm xmlns:a="http://schemas.openxmlformats.org/drawingml/2006/main">
            <a:off x="800100" y="2428875"/>
            <a:ext cx="1809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111827"/>
                </a:solidFill>
                <a:latin typeface="Hiragino Sans"/>
                <a:ea typeface="Hiragino Sans"/>
                <a:cs typeface="Hiragino Sans"/>
              </a:defRPr>
            </a:pPr>
            <a:r>
              <a:rPr sz="1575" b="0">
                <a:solidFill>
                  <a:srgbClr val="111827"/>
                </a:solidFill>
                <a:latin typeface="Hiragino Sans"/>
                <a:ea typeface="Hiragino Sans"/>
                <a:cs typeface="Hiragino Sans"/>
              </a:rPr>
              <a:t>年齢　　　 22歳</a:t>
            </a:r>
          </a:p>
          <a:p xmlns:a="http://schemas.openxmlformats.org/drawingml/2006/main">
            <a:pPr algn="l">
              <a:buNone/>
              <a:defRPr sz="1575" b="0">
                <a:solidFill>
                  <a:srgbClr val="111827"/>
                </a:solidFill>
                <a:latin typeface="Hiragino Sans"/>
                <a:ea typeface="Hiragino Sans"/>
                <a:cs typeface="Hiragino Sans"/>
              </a:defRPr>
            </a:pPr>
            <a:r>
              <a:rPr sz="1575" b="0">
                <a:solidFill>
                  <a:srgbClr val="111827"/>
                </a:solidFill>
                <a:latin typeface="Hiragino Sans"/>
                <a:ea typeface="Hiragino Sans"/>
                <a:cs typeface="Hiragino Sans"/>
              </a:rPr>
              <a:t>性別　　　 女性</a:t>
            </a:r>
          </a:p>
          <a:p xmlns:a="http://schemas.openxmlformats.org/drawingml/2006/main">
            <a:pPr algn="l">
              <a:buNone/>
              <a:defRPr sz="1575" b="0">
                <a:solidFill>
                  <a:srgbClr val="111827"/>
                </a:solidFill>
                <a:latin typeface="Hiragino Sans"/>
                <a:ea typeface="Hiragino Sans"/>
                <a:cs typeface="Hiragino Sans"/>
              </a:defRPr>
            </a:pPr>
            <a:r>
              <a:rPr sz="1575" b="0">
                <a:solidFill>
                  <a:srgbClr val="111827"/>
                </a:solidFill>
                <a:latin typeface="Hiragino Sans"/>
                <a:ea typeface="Hiragino Sans"/>
                <a:cs typeface="Hiragino Sans"/>
              </a:rPr>
              <a:t>客室等級　 1等</a:t>
            </a:r>
          </a:p>
          <a:p xmlns:a="http://schemas.openxmlformats.org/drawingml/2006/main">
            <a:pPr algn="l">
              <a:buNone/>
              <a:defRPr sz="1575" b="0">
                <a:solidFill>
                  <a:srgbClr val="111827"/>
                </a:solidFill>
                <a:latin typeface="Hiragino Sans"/>
                <a:ea typeface="Hiragino Sans"/>
                <a:cs typeface="Hiragino Sans"/>
              </a:defRPr>
            </a:pPr>
            <a:r>
              <a:rPr sz="1575" b="0">
                <a:solidFill>
                  <a:srgbClr val="111827"/>
                </a:solidFill>
                <a:latin typeface="Hiragino Sans"/>
                <a:ea typeface="Hiragino Sans"/>
                <a:cs typeface="Hiragino Sans"/>
              </a:rPr>
              <a:t>運賃　　　 71</a:t>
            </a:r>
          </a:p>
          <a:p xmlns:a="http://schemas.openxmlformats.org/drawingml/2006/main">
            <a:pPr algn="l">
              <a:buNone/>
              <a:defRPr sz="1575" b="0">
                <a:solidFill>
                  <a:srgbClr val="111827"/>
                </a:solidFill>
                <a:latin typeface="Hiragino Sans"/>
                <a:ea typeface="Hiragino Sans"/>
                <a:cs typeface="Hiragino Sans"/>
              </a:defRPr>
            </a:pPr>
            <a:r>
              <a:rPr sz="1575" b="0">
                <a:solidFill>
                  <a:srgbClr val="111827"/>
                </a:solidFill>
                <a:latin typeface="Hiragino Sans"/>
                <a:ea typeface="Hiragino Sans"/>
                <a:cs typeface="Hiragino Sans"/>
              </a:rPr>
              <a:t>同乗家族　 1人</a:t>
            </a:r>
          </a:p>
        </p:txBody>
      </p:sp>
      <p:sp>
        <p:nvSpPr>
          <p:cNvPr id="12" name="正方形/長方形 11">
            <a:extLst xmlns:a="http://schemas.openxmlformats.org/drawingml/2006/main">
              <a:ext uri="{FF2B5EF4-FFF2-40B4-BE49-F238E27FC236}">
                <a16:creationId xmlns:a16="http://schemas.microsoft.com/office/drawing/2014/main" id="{A768E5A7-47A4-4A91-9213-ADCE22691679}"/>
              </a:ext>
            </a:extLst>
          </p:cNvPr>
          <p:cNvSpPr>
            <a:spLocks xmlns:a="http://schemas.openxmlformats.org/drawingml/2006/main" noGrp="1"/>
          </p:cNvSpPr>
          <p:nvPr/>
        </p:nvSpPr>
        <p:spPr>
          <a:xfrm xmlns:a="http://schemas.openxmlformats.org/drawingml/2006/main">
            <a:off x="800100" y="44386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25" b="0">
                <a:solidFill>
                  <a:srgbClr val="64748B"/>
                </a:solidFill>
                <a:latin typeface="Hiragino Sans"/>
                <a:ea typeface="Hiragino Sans"/>
                <a:cs typeface="Hiragino Sans"/>
              </a:defRPr>
            </a:pPr>
            <a:r>
              <a:rPr sz="1125" b="0">
                <a:solidFill>
                  <a:srgbClr val="64748B"/>
                </a:solidFill>
                <a:latin typeface="Hiragino Sans"/>
                <a:ea typeface="Hiragino Sans"/>
                <a:cs typeface="Hiragino Sans"/>
              </a:rPr>
              <a:t>Titanic：模式例</a:t>
            </a:r>
          </a:p>
        </p:txBody>
      </p:sp>
      <p:sp>
        <p:nvSpPr>
          <p:cNvPr id="13" name="正方形/長方形 12">
            <a:extLst xmlns:a="http://schemas.openxmlformats.org/drawingml/2006/main">
              <a:ext uri="{FF2B5EF4-FFF2-40B4-BE49-F238E27FC236}">
                <a16:creationId xmlns:a16="http://schemas.microsoft.com/office/drawing/2014/main" id="{86FE31E9-A27A-4303-A695-EBD1BE89B854}"/>
              </a:ext>
            </a:extLst>
          </p:cNvPr>
          <p:cNvSpPr>
            <a:spLocks xmlns:a="http://schemas.openxmlformats.org/drawingml/2006/main" noGrp="1"/>
          </p:cNvSpPr>
          <p:nvPr/>
        </p:nvSpPr>
        <p:spPr>
          <a:xfrm xmlns:a="http://schemas.openxmlformats.org/drawingml/2006/main">
            <a:off x="3714750" y="2143125"/>
            <a:ext cx="2000250" cy="13335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5AC9DA3E-7593-4816-9049-050F7332A8C4}"/>
              </a:ext>
            </a:extLst>
          </p:cNvPr>
          <p:cNvSpPr>
            <a:spLocks xmlns:a="http://schemas.openxmlformats.org/drawingml/2006/main" noGrp="1"/>
          </p:cNvSpPr>
          <p:nvPr/>
        </p:nvSpPr>
        <p:spPr>
          <a:xfrm xmlns:a="http://schemas.openxmlformats.org/drawingml/2006/main">
            <a:off x="3714750" y="2400300"/>
            <a:ext cx="200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50" b="1">
                <a:solidFill>
                  <a:srgbClr val="FFFFFF"/>
                </a:solidFill>
                <a:latin typeface="Hiragino Sans"/>
                <a:ea typeface="Hiragino Sans"/>
                <a:cs typeface="Hiragino Sans"/>
              </a:defRPr>
            </a:pPr>
            <a:r>
              <a:rPr sz="2250" b="1">
                <a:solidFill>
                  <a:srgbClr val="FFFFFF"/>
                </a:solidFill>
                <a:latin typeface="Hiragino Sans"/>
                <a:ea typeface="Hiragino Sans"/>
                <a:cs typeface="Hiragino Sans"/>
              </a:rPr>
              <a:t>BLACK</a:t>
            </a:r>
          </a:p>
          <a:p xmlns:a="http://schemas.openxmlformats.org/drawingml/2006/main">
            <a:pPr algn="ctr">
              <a:buNone/>
              <a:defRPr sz="2250" b="1">
                <a:solidFill>
                  <a:srgbClr val="FFFFFF"/>
                </a:solidFill>
                <a:latin typeface="Hiragino Sans"/>
                <a:ea typeface="Hiragino Sans"/>
                <a:cs typeface="Hiragino Sans"/>
              </a:defRPr>
            </a:pPr>
            <a:r>
              <a:rPr sz="2250" b="1">
                <a:solidFill>
                  <a:srgbClr val="FFFFFF"/>
                </a:solidFill>
                <a:latin typeface="Hiragino Sans"/>
                <a:ea typeface="Hiragino Sans"/>
                <a:cs typeface="Hiragino Sans"/>
              </a:rPr>
              <a:t>BOX</a:t>
            </a:r>
          </a:p>
        </p:txBody>
      </p:sp>
      <p:sp>
        <p:nvSpPr>
          <p:cNvPr id="15" name="正方形/長方形 14">
            <a:extLst xmlns:a="http://schemas.openxmlformats.org/drawingml/2006/main">
              <a:ext uri="{FF2B5EF4-FFF2-40B4-BE49-F238E27FC236}">
                <a16:creationId xmlns:a16="http://schemas.microsoft.com/office/drawing/2014/main" id="{8BFB6DB6-9605-4D71-A280-1CBC05DB5B75}"/>
              </a:ext>
            </a:extLst>
          </p:cNvPr>
          <p:cNvSpPr>
            <a:spLocks xmlns:a="http://schemas.openxmlformats.org/drawingml/2006/main" noGrp="1"/>
          </p:cNvSpPr>
          <p:nvPr/>
        </p:nvSpPr>
        <p:spPr>
          <a:xfrm xmlns:a="http://schemas.openxmlformats.org/drawingml/2006/main">
            <a:off x="6477000" y="1952625"/>
            <a:ext cx="1666875" cy="1714500"/>
          </a:xfrm>
          <a:prstGeom xmlns:a="http://schemas.openxmlformats.org/drawingml/2006/main" prst="rect">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3049682F-0280-4316-BDBB-8BDF1272EFE5}"/>
              </a:ext>
            </a:extLst>
          </p:cNvPr>
          <p:cNvSpPr>
            <a:spLocks xmlns:a="http://schemas.openxmlformats.org/drawingml/2006/main" noGrp="1"/>
          </p:cNvSpPr>
          <p:nvPr/>
        </p:nvSpPr>
        <p:spPr>
          <a:xfrm xmlns:a="http://schemas.openxmlformats.org/drawingml/2006/main">
            <a:off x="6705600" y="21717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2563EB"/>
                </a:solidFill>
                <a:latin typeface="Hiragino Sans"/>
                <a:ea typeface="Hiragino Sans"/>
                <a:cs typeface="Hiragino Sans"/>
              </a:defRPr>
            </a:pPr>
            <a:r>
              <a:rPr sz="1650" b="1">
                <a:solidFill>
                  <a:srgbClr val="2563EB"/>
                </a:solidFill>
                <a:latin typeface="Hiragino Sans"/>
                <a:ea typeface="Hiragino Sans"/>
                <a:cs typeface="Hiragino Sans"/>
              </a:rPr>
              <a:t>予測</a:t>
            </a:r>
          </a:p>
        </p:txBody>
      </p:sp>
      <p:sp>
        <p:nvSpPr>
          <p:cNvPr id="17" name="正方形/長方形 16">
            <a:extLst xmlns:a="http://schemas.openxmlformats.org/drawingml/2006/main">
              <a:ext uri="{FF2B5EF4-FFF2-40B4-BE49-F238E27FC236}">
                <a16:creationId xmlns:a16="http://schemas.microsoft.com/office/drawing/2014/main" id="{D8C1BE27-8892-4CD9-8EFA-DFB9BB0FD15F}"/>
              </a:ext>
            </a:extLst>
          </p:cNvPr>
          <p:cNvSpPr>
            <a:spLocks xmlns:a="http://schemas.openxmlformats.org/drawingml/2006/main" noGrp="1"/>
          </p:cNvSpPr>
          <p:nvPr/>
        </p:nvSpPr>
        <p:spPr>
          <a:xfrm xmlns:a="http://schemas.openxmlformats.org/drawingml/2006/main">
            <a:off x="6705600" y="2609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111827"/>
                </a:solidFill>
                <a:latin typeface="Hiragino Sans"/>
                <a:ea typeface="Hiragino Sans"/>
                <a:cs typeface="Hiragino Sans"/>
              </a:defRPr>
            </a:pPr>
            <a:r>
              <a:rPr sz="1500" b="0">
                <a:solidFill>
                  <a:srgbClr val="111827"/>
                </a:solidFill>
                <a:latin typeface="Hiragino Sans"/>
                <a:ea typeface="Hiragino Sans"/>
                <a:cs typeface="Hiragino Sans"/>
              </a:rPr>
              <a:t>生存確率</a:t>
            </a:r>
          </a:p>
        </p:txBody>
      </p:sp>
      <p:sp>
        <p:nvSpPr>
          <p:cNvPr id="18" name="正方形/長方形 17">
            <a:extLst xmlns:a="http://schemas.openxmlformats.org/drawingml/2006/main">
              <a:ext uri="{FF2B5EF4-FFF2-40B4-BE49-F238E27FC236}">
                <a16:creationId xmlns:a16="http://schemas.microsoft.com/office/drawing/2014/main" id="{46A41101-F07F-4960-89B3-8AF86D00DFB1}"/>
              </a:ext>
            </a:extLst>
          </p:cNvPr>
          <p:cNvSpPr>
            <a:spLocks xmlns:a="http://schemas.openxmlformats.org/drawingml/2006/main" noGrp="1"/>
          </p:cNvSpPr>
          <p:nvPr/>
        </p:nvSpPr>
        <p:spPr>
          <a:xfrm xmlns:a="http://schemas.openxmlformats.org/drawingml/2006/main">
            <a:off x="6705600" y="2905125"/>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850" b="1">
                <a:solidFill>
                  <a:srgbClr val="2563EB"/>
                </a:solidFill>
                <a:latin typeface="Hiragino Sans"/>
                <a:ea typeface="Hiragino Sans"/>
                <a:cs typeface="Hiragino Sans"/>
              </a:defRPr>
            </a:pPr>
            <a:r>
              <a:rPr sz="2850" b="1">
                <a:solidFill>
                  <a:srgbClr val="2563EB"/>
                </a:solidFill>
                <a:latin typeface="Hiragino Sans"/>
                <a:ea typeface="Hiragino Sans"/>
                <a:cs typeface="Hiragino Sans"/>
              </a:rPr>
              <a:t>0.78</a:t>
            </a:r>
          </a:p>
        </p:txBody>
      </p:sp>
      <p:sp>
        <p:nvSpPr>
          <p:cNvPr id="19" name="正方形/長方形 18">
            <a:extLst xmlns:a="http://schemas.openxmlformats.org/drawingml/2006/main">
              <a:ext uri="{FF2B5EF4-FFF2-40B4-BE49-F238E27FC236}">
                <a16:creationId xmlns:a16="http://schemas.microsoft.com/office/drawing/2014/main" id="{F5C34359-50FF-461B-9A77-DFC05B55AC31}"/>
              </a:ext>
            </a:extLst>
          </p:cNvPr>
          <p:cNvSpPr>
            <a:spLocks xmlns:a="http://schemas.openxmlformats.org/drawingml/2006/main" noGrp="1"/>
          </p:cNvSpPr>
          <p:nvPr/>
        </p:nvSpPr>
        <p:spPr>
          <a:xfrm xmlns:a="http://schemas.openxmlformats.org/drawingml/2006/main">
            <a:off x="9096375" y="1592226"/>
            <a:ext cx="2667000" cy="33337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3D791531-0807-49A4-AD7B-AF6394293BA8}"/>
              </a:ext>
            </a:extLst>
          </p:cNvPr>
          <p:cNvSpPr>
            <a:spLocks xmlns:a="http://schemas.openxmlformats.org/drawingml/2006/main" noGrp="1"/>
          </p:cNvSpPr>
          <p:nvPr/>
        </p:nvSpPr>
        <p:spPr>
          <a:xfrm xmlns:a="http://schemas.openxmlformats.org/drawingml/2006/main">
            <a:off x="9201150" y="17907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0B981"/>
                </a:solidFill>
                <a:latin typeface="Hiragino Sans"/>
                <a:ea typeface="Hiragino Sans"/>
                <a:cs typeface="Hiragino Sans"/>
              </a:defRPr>
            </a:pPr>
            <a:r>
              <a:rPr sz="1800" b="1">
                <a:solidFill>
                  <a:srgbClr val="10B981"/>
                </a:solidFill>
                <a:latin typeface="Hiragino Sans"/>
                <a:ea typeface="Hiragino Sans"/>
                <a:cs typeface="Hiragino Sans"/>
              </a:rPr>
              <a:t>XAIによる説明</a:t>
            </a:r>
          </a:p>
        </p:txBody>
      </p:sp>
      <p:sp>
        <p:nvSpPr>
          <p:cNvPr id="21" name="正方形/長方形 20">
            <a:extLst xmlns:a="http://schemas.openxmlformats.org/drawingml/2006/main">
              <a:ext uri="{FF2B5EF4-FFF2-40B4-BE49-F238E27FC236}">
                <a16:creationId xmlns:a16="http://schemas.microsoft.com/office/drawing/2014/main" id="{B2CDACAB-B32A-48B2-B151-45CF7238AAFB}"/>
              </a:ext>
            </a:extLst>
          </p:cNvPr>
          <p:cNvSpPr>
            <a:spLocks xmlns:a="http://schemas.openxmlformats.org/drawingml/2006/main" noGrp="1"/>
          </p:cNvSpPr>
          <p:nvPr/>
        </p:nvSpPr>
        <p:spPr>
          <a:xfrm xmlns:a="http://schemas.openxmlformats.org/drawingml/2006/main">
            <a:off x="9201150" y="23812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Hiragino Sans"/>
                <a:ea typeface="Hiragino Sans"/>
                <a:cs typeface="Hiragino Sans"/>
              </a:defRPr>
            </a:pPr>
            <a:r>
              <a:rPr sz="1425" b="1">
                <a:solidFill>
                  <a:srgbClr val="111827"/>
                </a:solidFill>
                <a:latin typeface="Hiragino Sans"/>
                <a:ea typeface="Hiragino Sans"/>
                <a:cs typeface="Hiragino Sans"/>
              </a:rPr>
              <a:t>運賃</a:t>
            </a:r>
          </a:p>
        </p:txBody>
      </p:sp>
      <p:sp>
        <p:nvSpPr>
          <p:cNvPr id="22" name="正方形/長方形 21">
            <a:extLst xmlns:a="http://schemas.openxmlformats.org/drawingml/2006/main">
              <a:ext uri="{FF2B5EF4-FFF2-40B4-BE49-F238E27FC236}">
                <a16:creationId xmlns:a16="http://schemas.microsoft.com/office/drawing/2014/main" id="{F97DFCA5-FDF9-4F44-8E7D-2216B29BCB65}"/>
              </a:ext>
            </a:extLst>
          </p:cNvPr>
          <p:cNvSpPr>
            <a:spLocks xmlns:a="http://schemas.openxmlformats.org/drawingml/2006/main" noGrp="1"/>
          </p:cNvSpPr>
          <p:nvPr/>
        </p:nvSpPr>
        <p:spPr>
          <a:xfrm xmlns:a="http://schemas.openxmlformats.org/drawingml/2006/main">
            <a:off x="10001250" y="2400300"/>
            <a:ext cx="1095375" cy="1905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正方形/長方形 22">
            <a:extLst xmlns:a="http://schemas.openxmlformats.org/drawingml/2006/main">
              <a:ext uri="{FF2B5EF4-FFF2-40B4-BE49-F238E27FC236}">
                <a16:creationId xmlns:a16="http://schemas.microsoft.com/office/drawing/2014/main" id="{E70AD3E5-E73D-443A-822E-19D877E007F7}"/>
              </a:ext>
            </a:extLst>
          </p:cNvPr>
          <p:cNvSpPr>
            <a:spLocks xmlns:a="http://schemas.openxmlformats.org/drawingml/2006/main" noGrp="1"/>
          </p:cNvSpPr>
          <p:nvPr/>
        </p:nvSpPr>
        <p:spPr>
          <a:xfrm xmlns:a="http://schemas.openxmlformats.org/drawingml/2006/main">
            <a:off x="11049000" y="2352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10B981"/>
                </a:solidFill>
                <a:latin typeface="Hiragino Sans"/>
                <a:ea typeface="Hiragino Sans"/>
                <a:cs typeface="Hiragino Sans"/>
              </a:defRPr>
            </a:pPr>
            <a:r>
              <a:rPr sz="1275" b="1">
                <a:solidFill>
                  <a:srgbClr val="10B981"/>
                </a:solidFill>
                <a:latin typeface="Hiragino Sans"/>
                <a:ea typeface="Hiragino Sans"/>
                <a:cs typeface="Hiragino Sans"/>
              </a:rPr>
              <a:t>+0.50</a:t>
            </a:r>
          </a:p>
        </p:txBody>
      </p:sp>
      <p:sp>
        <p:nvSpPr>
          <p:cNvPr id="24" name="正方形/長方形 23">
            <a:extLst xmlns:a="http://schemas.openxmlformats.org/drawingml/2006/main">
              <a:ext uri="{FF2B5EF4-FFF2-40B4-BE49-F238E27FC236}">
                <a16:creationId xmlns:a16="http://schemas.microsoft.com/office/drawing/2014/main" id="{40B6ED12-1C8F-4CBA-8199-C5EC46BA698C}"/>
              </a:ext>
            </a:extLst>
          </p:cNvPr>
          <p:cNvSpPr>
            <a:spLocks xmlns:a="http://schemas.openxmlformats.org/drawingml/2006/main" noGrp="1"/>
          </p:cNvSpPr>
          <p:nvPr/>
        </p:nvSpPr>
        <p:spPr>
          <a:xfrm xmlns:a="http://schemas.openxmlformats.org/drawingml/2006/main">
            <a:off x="9201150" y="28765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Hiragino Sans"/>
                <a:ea typeface="Hiragino Sans"/>
                <a:cs typeface="Hiragino Sans"/>
              </a:defRPr>
            </a:pPr>
            <a:r>
              <a:rPr sz="1425" b="1">
                <a:solidFill>
                  <a:srgbClr val="111827"/>
                </a:solidFill>
                <a:latin typeface="Hiragino Sans"/>
                <a:ea typeface="Hiragino Sans"/>
                <a:cs typeface="Hiragino Sans"/>
              </a:rPr>
              <a:t>年齢</a:t>
            </a:r>
          </a:p>
        </p:txBody>
      </p:sp>
      <p:sp>
        <p:nvSpPr>
          <p:cNvPr id="25" name="正方形/長方形 24">
            <a:extLst xmlns:a="http://schemas.openxmlformats.org/drawingml/2006/main">
              <a:ext uri="{FF2B5EF4-FFF2-40B4-BE49-F238E27FC236}">
                <a16:creationId xmlns:a16="http://schemas.microsoft.com/office/drawing/2014/main" id="{D45AEC52-0ABD-4519-86DA-4DC459446CC6}"/>
              </a:ext>
            </a:extLst>
          </p:cNvPr>
          <p:cNvSpPr>
            <a:spLocks xmlns:a="http://schemas.openxmlformats.org/drawingml/2006/main" noGrp="1"/>
          </p:cNvSpPr>
          <p:nvPr/>
        </p:nvSpPr>
        <p:spPr>
          <a:xfrm xmlns:a="http://schemas.openxmlformats.org/drawingml/2006/main">
            <a:off x="10001250" y="2895600"/>
            <a:ext cx="428625" cy="19050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ED9954F1-D07B-40B3-B38A-262D2E4FBC7B}"/>
              </a:ext>
            </a:extLst>
          </p:cNvPr>
          <p:cNvSpPr>
            <a:spLocks xmlns:a="http://schemas.openxmlformats.org/drawingml/2006/main" noGrp="1"/>
          </p:cNvSpPr>
          <p:nvPr/>
        </p:nvSpPr>
        <p:spPr>
          <a:xfrm xmlns:a="http://schemas.openxmlformats.org/drawingml/2006/main">
            <a:off x="11049000" y="28479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EF4444"/>
                </a:solidFill>
                <a:latin typeface="Hiragino Sans"/>
                <a:ea typeface="Hiragino Sans"/>
                <a:cs typeface="Hiragino Sans"/>
              </a:defRPr>
            </a:pPr>
            <a:r>
              <a:rPr sz="1275" b="1">
                <a:solidFill>
                  <a:srgbClr val="EF4444"/>
                </a:solidFill>
                <a:latin typeface="Hiragino Sans"/>
                <a:ea typeface="Hiragino Sans"/>
                <a:cs typeface="Hiragino Sans"/>
              </a:rPr>
              <a:t>−0.20</a:t>
            </a:r>
          </a:p>
        </p:txBody>
      </p:sp>
      <p:sp>
        <p:nvSpPr>
          <p:cNvPr id="27" name="正方形/長方形 26">
            <a:extLst xmlns:a="http://schemas.openxmlformats.org/drawingml/2006/main">
              <a:ext uri="{FF2B5EF4-FFF2-40B4-BE49-F238E27FC236}">
                <a16:creationId xmlns:a16="http://schemas.microsoft.com/office/drawing/2014/main" id="{A5E6283C-2E00-489B-ABF3-5A35906836CD}"/>
              </a:ext>
            </a:extLst>
          </p:cNvPr>
          <p:cNvSpPr>
            <a:spLocks xmlns:a="http://schemas.openxmlformats.org/drawingml/2006/main" noGrp="1"/>
          </p:cNvSpPr>
          <p:nvPr/>
        </p:nvSpPr>
        <p:spPr>
          <a:xfrm xmlns:a="http://schemas.openxmlformats.org/drawingml/2006/main">
            <a:off x="9201150" y="3371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Hiragino Sans"/>
                <a:ea typeface="Hiragino Sans"/>
                <a:cs typeface="Hiragino Sans"/>
              </a:defRPr>
            </a:pPr>
            <a:r>
              <a:rPr sz="1425" b="1">
                <a:solidFill>
                  <a:srgbClr val="111827"/>
                </a:solidFill>
                <a:latin typeface="Hiragino Sans"/>
                <a:ea typeface="Hiragino Sans"/>
                <a:cs typeface="Hiragino Sans"/>
              </a:rPr>
              <a:t>客室等級</a:t>
            </a:r>
          </a:p>
        </p:txBody>
      </p:sp>
      <p:sp>
        <p:nvSpPr>
          <p:cNvPr id="28" name="正方形/長方形 27">
            <a:extLst xmlns:a="http://schemas.openxmlformats.org/drawingml/2006/main">
              <a:ext uri="{FF2B5EF4-FFF2-40B4-BE49-F238E27FC236}">
                <a16:creationId xmlns:a16="http://schemas.microsoft.com/office/drawing/2014/main" id="{D34BE9C8-4D23-410F-B238-3B064869BB24}"/>
              </a:ext>
            </a:extLst>
          </p:cNvPr>
          <p:cNvSpPr>
            <a:spLocks xmlns:a="http://schemas.openxmlformats.org/drawingml/2006/main" noGrp="1"/>
          </p:cNvSpPr>
          <p:nvPr/>
        </p:nvSpPr>
        <p:spPr>
          <a:xfrm xmlns:a="http://schemas.openxmlformats.org/drawingml/2006/main">
            <a:off x="10001250" y="3390900"/>
            <a:ext cx="666750" cy="1905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3F26D98E-9165-4B33-AAD0-E42B6CE4B5A8}"/>
              </a:ext>
            </a:extLst>
          </p:cNvPr>
          <p:cNvSpPr>
            <a:spLocks xmlns:a="http://schemas.openxmlformats.org/drawingml/2006/main" noGrp="1"/>
          </p:cNvSpPr>
          <p:nvPr/>
        </p:nvSpPr>
        <p:spPr>
          <a:xfrm xmlns:a="http://schemas.openxmlformats.org/drawingml/2006/main">
            <a:off x="11049000" y="33432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10B981"/>
                </a:solidFill>
                <a:latin typeface="Hiragino Sans"/>
                <a:ea typeface="Hiragino Sans"/>
                <a:cs typeface="Hiragino Sans"/>
              </a:defRPr>
            </a:pPr>
            <a:r>
              <a:rPr sz="1275" b="1">
                <a:solidFill>
                  <a:srgbClr val="10B981"/>
                </a:solidFill>
                <a:latin typeface="Hiragino Sans"/>
                <a:ea typeface="Hiragino Sans"/>
                <a:cs typeface="Hiragino Sans"/>
              </a:rPr>
              <a:t>+0.15</a:t>
            </a:r>
          </a:p>
        </p:txBody>
      </p:sp>
      <p:sp>
        <p:nvSpPr>
          <p:cNvPr id="30" name="正方形/長方形 29">
            <a:extLst xmlns:a="http://schemas.openxmlformats.org/drawingml/2006/main">
              <a:ext uri="{FF2B5EF4-FFF2-40B4-BE49-F238E27FC236}">
                <a16:creationId xmlns:a16="http://schemas.microsoft.com/office/drawing/2014/main" id="{9BB0A2F1-247F-49FA-AF82-3E41CB5F342A}"/>
              </a:ext>
            </a:extLst>
          </p:cNvPr>
          <p:cNvSpPr>
            <a:spLocks xmlns:a="http://schemas.openxmlformats.org/drawingml/2006/main" noGrp="1"/>
          </p:cNvSpPr>
          <p:nvPr/>
        </p:nvSpPr>
        <p:spPr>
          <a:xfrm xmlns:a="http://schemas.openxmlformats.org/drawingml/2006/main">
            <a:off x="9201150" y="41719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0B981"/>
                </a:solidFill>
                <a:latin typeface="Hiragino Sans"/>
                <a:ea typeface="Hiragino Sans"/>
                <a:cs typeface="Hiragino Sans"/>
              </a:defRPr>
            </a:pPr>
            <a:r>
              <a:rPr sz="1500" b="1">
                <a:solidFill>
                  <a:srgbClr val="10B981"/>
                </a:solidFill>
                <a:latin typeface="Hiragino Sans"/>
                <a:ea typeface="Hiragino Sans"/>
                <a:cs typeface="Hiragino Sans"/>
              </a:rPr>
              <a:t>理由を検査できる</a:t>
            </a:r>
          </a:p>
        </p:txBody>
      </p:sp>
      <p:sp>
        <p:nvSpPr>
          <p:cNvPr id="31" name="正方形/長方形 30">
            <a:extLst xmlns:a="http://schemas.openxmlformats.org/drawingml/2006/main">
              <a:ext uri="{FF2B5EF4-FFF2-40B4-BE49-F238E27FC236}">
                <a16:creationId xmlns:a16="http://schemas.microsoft.com/office/drawing/2014/main" id="{CA1414C5-B0B9-4050-AC86-9658D8697E9E}"/>
              </a:ext>
            </a:extLst>
          </p:cNvPr>
          <p:cNvSpPr>
            <a:spLocks xmlns:a="http://schemas.openxmlformats.org/drawingml/2006/main" noGrp="1"/>
          </p:cNvSpPr>
          <p:nvPr/>
        </p:nvSpPr>
        <p:spPr>
          <a:xfrm xmlns:a="http://schemas.openxmlformats.org/drawingml/2006/main">
            <a:off x="571500" y="5286375"/>
            <a:ext cx="11049000" cy="876300"/>
          </a:xfrm>
          <a:prstGeom xmlns:a="http://schemas.openxmlformats.org/drawingml/2006/main" prst="rect">
            <a:avLst/>
          </a:prstGeom>
          <a:solidFill xmlns:a="http://schemas.openxmlformats.org/drawingml/2006/main">
            <a:srgbClr val="FEF3C7"/>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9063D5BB-7A88-41D7-9D51-F2AED88E2C24}"/>
              </a:ext>
            </a:extLst>
          </p:cNvPr>
          <p:cNvSpPr>
            <a:spLocks xmlns:a="http://schemas.openxmlformats.org/drawingml/2006/main" noGrp="1"/>
          </p:cNvSpPr>
          <p:nvPr/>
        </p:nvSpPr>
        <p:spPr>
          <a:xfrm xmlns:a="http://schemas.openxmlformats.org/drawingml/2006/main">
            <a:off x="800100" y="5524500"/>
            <a:ext cx="109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F59E0B"/>
                </a:solidFill>
                <a:latin typeface="Hiragino Sans"/>
                <a:ea typeface="Hiragino Sans"/>
                <a:cs typeface="Hiragino Sans"/>
              </a:defRPr>
            </a:pPr>
            <a:r>
              <a:rPr sz="1650" b="1">
                <a:solidFill>
                  <a:srgbClr val="F59E0B"/>
                </a:solidFill>
                <a:latin typeface="Hiragino Sans"/>
                <a:ea typeface="Hiragino Sans"/>
                <a:cs typeface="Hiragino Sans"/>
              </a:rPr>
              <a:t>DEBUG</a:t>
            </a:r>
          </a:p>
        </p:txBody>
      </p:sp>
      <p:sp>
        <p:nvSpPr>
          <p:cNvPr id="33" name="正方形/長方形 32">
            <a:extLst xmlns:a="http://schemas.openxmlformats.org/drawingml/2006/main">
              <a:ext uri="{FF2B5EF4-FFF2-40B4-BE49-F238E27FC236}">
                <a16:creationId xmlns:a16="http://schemas.microsoft.com/office/drawing/2014/main" id="{9D98D46C-BD72-4EEC-B32D-66DE409B6D0D}"/>
              </a:ext>
            </a:extLst>
          </p:cNvPr>
          <p:cNvSpPr>
            <a:spLocks xmlns:a="http://schemas.openxmlformats.org/drawingml/2006/main" noGrp="1"/>
          </p:cNvSpPr>
          <p:nvPr/>
        </p:nvSpPr>
        <p:spPr>
          <a:xfrm xmlns:a="http://schemas.openxmlformats.org/drawingml/2006/main">
            <a:off x="2000250" y="5467350"/>
            <a:ext cx="9191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説明に「乗客ID」など本質的でない特徴が大きく現れたら、モデルの誤学習を疑う</a:t>
            </a:r>
          </a:p>
        </p:txBody>
      </p:sp>
      <p:sp>
        <p:nvSpPr>
          <p:cNvPr id="34" name="正方形/長方形 33">
            <a:extLst xmlns:a="http://schemas.openxmlformats.org/drawingml/2006/main">
              <a:ext uri="{FF2B5EF4-FFF2-40B4-BE49-F238E27FC236}">
                <a16:creationId xmlns:a16="http://schemas.microsoft.com/office/drawing/2014/main" id="{97DD4A5F-769E-452E-9F41-363E0F8CEAEA}"/>
              </a:ext>
            </a:extLst>
          </p:cNvPr>
          <p:cNvSpPr>
            <a:spLocks xmlns:a="http://schemas.openxmlformats.org/drawingml/2006/main" noGrp="1"/>
          </p:cNvSpPr>
          <p:nvPr/>
        </p:nvSpPr>
        <p:spPr>
          <a:xfrm xmlns:a="http://schemas.openxmlformats.org/drawingml/2006/main">
            <a:off x="7953375" y="61912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 確率と特徴量の重みは説明用の模式値</a:t>
            </a:r>
          </a:p>
        </p:txBody>
      </p:sp>
    </p:spTree>
    <p:extLst>
      <p:ext uri="{BB962C8B-B14F-4D97-AF65-F5344CB8AC3E}">
        <p14:creationId xmlns:p14="http://schemas.microsoft.com/office/powerpoint/2010/main" val="15659080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正方形/長方形 37">
            <a:extLst xmlns:a="http://schemas.openxmlformats.org/drawingml/2006/main">
              <a:ext uri="{FF2B5EF4-FFF2-40B4-BE49-F238E27FC236}">
                <a16:creationId xmlns:a16="http://schemas.microsoft.com/office/drawing/2014/main" id="{A5CABAE7-EE96-43F6-8798-508681155297}"/>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3-title">
            <a:extLst xmlns:a="http://schemas.openxmlformats.org/drawingml/2006/main">
              <a:ext uri="{FF2B5EF4-FFF2-40B4-BE49-F238E27FC236}">
                <a16:creationId xmlns:a16="http://schemas.microsoft.com/office/drawing/2014/main" id="{F2977694-D0B3-41BB-BD59-7C652764FDBD}"/>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LIMEは予測点の周辺だけを単純化する</a:t>
            </a:r>
          </a:p>
        </p:txBody>
      </p:sp>
      <p:sp>
        <p:nvSpPr>
          <p:cNvPr id="3" name="slide-3-subtitle">
            <a:extLst xmlns:a="http://schemas.openxmlformats.org/drawingml/2006/main">
              <a:ext uri="{FF2B5EF4-FFF2-40B4-BE49-F238E27FC236}">
                <a16:creationId xmlns:a16="http://schemas.microsoft.com/office/drawing/2014/main" id="{6B6655B7-CD93-4875-A1A0-9D941BBD9EA5}"/>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複雑なモデル全体ではなく、説明したい入力の近くを近似する</a:t>
            </a:r>
          </a:p>
        </p:txBody>
      </p:sp>
      <p:sp>
        <p:nvSpPr>
          <p:cNvPr id="4" name="正方形/長方形 3">
            <a:extLst xmlns:a="http://schemas.openxmlformats.org/drawingml/2006/main">
              <a:ext uri="{FF2B5EF4-FFF2-40B4-BE49-F238E27FC236}">
                <a16:creationId xmlns:a16="http://schemas.microsoft.com/office/drawing/2014/main" id="{E1E3F606-8356-4F3F-B718-A0BD268112B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04</a:t>
            </a:r>
          </a:p>
        </p:txBody>
      </p:sp>
      <p:sp>
        <p:nvSpPr>
          <p:cNvPr id="5" name="正方形/長方形 4">
            <a:extLst xmlns:a="http://schemas.openxmlformats.org/drawingml/2006/main">
              <a:ext uri="{FF2B5EF4-FFF2-40B4-BE49-F238E27FC236}">
                <a16:creationId xmlns:a16="http://schemas.microsoft.com/office/drawing/2014/main" id="{74BDF188-2E3E-46A9-8518-B56A08BC8684}"/>
              </a:ext>
            </a:extLst>
          </p:cNvPr>
          <p:cNvSpPr>
            <a:spLocks xmlns:a="http://schemas.openxmlformats.org/drawingml/2006/main" noGrp="1"/>
          </p:cNvSpPr>
          <p:nvPr/>
        </p:nvSpPr>
        <p:spPr>
          <a:xfrm xmlns:a="http://schemas.openxmlformats.org/drawingml/2006/main">
            <a:off x="590550" y="16573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550" b="1">
                <a:solidFill>
                  <a:srgbClr val="2563EB"/>
                </a:solidFill>
                <a:latin typeface="Hiragino Sans"/>
                <a:ea typeface="Hiragino Sans"/>
                <a:cs typeface="Hiragino Sans"/>
              </a:defRPr>
            </a:pPr>
            <a:r>
              <a:rPr sz="2550" b="1">
                <a:solidFill>
                  <a:srgbClr val="2563EB"/>
                </a:solidFill>
                <a:latin typeface="Hiragino Sans"/>
                <a:ea typeface="Hiragino Sans"/>
                <a:cs typeface="Hiragino Sans"/>
              </a:rPr>
              <a:t>LIME</a:t>
            </a:r>
          </a:p>
        </p:txBody>
      </p:sp>
      <p:sp>
        <p:nvSpPr>
          <p:cNvPr id="6" name="正方形/長方形 5">
            <a:extLst xmlns:a="http://schemas.openxmlformats.org/drawingml/2006/main">
              <a:ext uri="{FF2B5EF4-FFF2-40B4-BE49-F238E27FC236}">
                <a16:creationId xmlns:a16="http://schemas.microsoft.com/office/drawing/2014/main" id="{25BC8E6A-AD03-4BC1-8F71-70EF8E678E5D}"/>
              </a:ext>
            </a:extLst>
          </p:cNvPr>
          <p:cNvSpPr>
            <a:spLocks xmlns:a="http://schemas.openxmlformats.org/drawingml/2006/main" noGrp="1"/>
          </p:cNvSpPr>
          <p:nvPr/>
        </p:nvSpPr>
        <p:spPr>
          <a:xfrm xmlns:a="http://schemas.openxmlformats.org/drawingml/2006/main">
            <a:off x="590550" y="2238375"/>
            <a:ext cx="323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Hiragino Sans"/>
                <a:ea typeface="Hiragino Sans"/>
                <a:cs typeface="Hiragino Sans"/>
              </a:defRPr>
            </a:pPr>
            <a:r>
              <a:rPr sz="2100" b="1">
                <a:solidFill>
                  <a:srgbClr val="111827"/>
                </a:solidFill>
                <a:latin typeface="Hiragino Sans"/>
                <a:ea typeface="Hiragino Sans"/>
                <a:cs typeface="Hiragino Sans"/>
              </a:rPr>
              <a:t>Local</a:t>
            </a:r>
          </a:p>
          <a:p xmlns:a="http://schemas.openxmlformats.org/drawingml/2006/main">
            <a:pPr algn="l">
              <a:buNone/>
              <a:defRPr sz="2100" b="1">
                <a:solidFill>
                  <a:srgbClr val="111827"/>
                </a:solidFill>
                <a:latin typeface="Hiragino Sans"/>
                <a:ea typeface="Hiragino Sans"/>
                <a:cs typeface="Hiragino Sans"/>
              </a:defRPr>
            </a:pPr>
            <a:r>
              <a:rPr sz="2100" b="1">
                <a:solidFill>
                  <a:srgbClr val="111827"/>
                </a:solidFill>
                <a:latin typeface="Hiragino Sans"/>
                <a:ea typeface="Hiragino Sans"/>
                <a:cs typeface="Hiragino Sans"/>
              </a:rPr>
              <a:t>Interpretable</a:t>
            </a:r>
          </a:p>
          <a:p xmlns:a="http://schemas.openxmlformats.org/drawingml/2006/main">
            <a:pPr algn="l">
              <a:buNone/>
              <a:defRPr sz="2100" b="1">
                <a:solidFill>
                  <a:srgbClr val="111827"/>
                </a:solidFill>
                <a:latin typeface="Hiragino Sans"/>
                <a:ea typeface="Hiragino Sans"/>
                <a:cs typeface="Hiragino Sans"/>
              </a:defRPr>
            </a:pPr>
            <a:r>
              <a:rPr sz="2100" b="1">
                <a:solidFill>
                  <a:srgbClr val="111827"/>
                </a:solidFill>
                <a:latin typeface="Hiragino Sans"/>
                <a:ea typeface="Hiragino Sans"/>
                <a:cs typeface="Hiragino Sans"/>
              </a:rPr>
              <a:t>Model-agnostic</a:t>
            </a:r>
          </a:p>
          <a:p xmlns:a="http://schemas.openxmlformats.org/drawingml/2006/main">
            <a:pPr algn="l">
              <a:buNone/>
              <a:defRPr sz="2100" b="1">
                <a:solidFill>
                  <a:srgbClr val="111827"/>
                </a:solidFill>
                <a:latin typeface="Hiragino Sans"/>
                <a:ea typeface="Hiragino Sans"/>
                <a:cs typeface="Hiragino Sans"/>
              </a:defRPr>
            </a:pPr>
            <a:r>
              <a:rPr sz="2100" b="1">
                <a:solidFill>
                  <a:srgbClr val="111827"/>
                </a:solidFill>
                <a:latin typeface="Hiragino Sans"/>
                <a:ea typeface="Hiragino Sans"/>
                <a:cs typeface="Hiragino Sans"/>
              </a:rPr>
              <a:t>Explanations</a:t>
            </a:r>
          </a:p>
        </p:txBody>
      </p:sp>
      <p:sp>
        <p:nvSpPr>
          <p:cNvPr id="7" name="正方形/長方形 6">
            <a:extLst xmlns:a="http://schemas.openxmlformats.org/drawingml/2006/main">
              <a:ext uri="{FF2B5EF4-FFF2-40B4-BE49-F238E27FC236}">
                <a16:creationId xmlns:a16="http://schemas.microsoft.com/office/drawing/2014/main" id="{2A29B0FF-82CB-4F7C-913D-7E72B0F562E5}"/>
              </a:ext>
            </a:extLst>
          </p:cNvPr>
          <p:cNvSpPr>
            <a:spLocks xmlns:a="http://schemas.openxmlformats.org/drawingml/2006/main" noGrp="1"/>
          </p:cNvSpPr>
          <p:nvPr/>
        </p:nvSpPr>
        <p:spPr>
          <a:xfrm xmlns:a="http://schemas.openxmlformats.org/drawingml/2006/main">
            <a:off x="590550" y="42862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48B"/>
                </a:solidFill>
                <a:latin typeface="Hiragino Sans"/>
                <a:ea typeface="Hiragino Sans"/>
                <a:cs typeface="Hiragino Sans"/>
              </a:defRPr>
            </a:pPr>
            <a:r>
              <a:rPr sz="1575" b="0">
                <a:solidFill>
                  <a:srgbClr val="64748B"/>
                </a:solidFill>
                <a:latin typeface="Hiragino Sans"/>
                <a:ea typeface="Hiragino Sans"/>
                <a:cs typeface="Hiragino Sans"/>
              </a:rPr>
              <a:t>モデル内部を見ず、入力と予測だけを使う</a:t>
            </a:r>
          </a:p>
        </p:txBody>
      </p:sp>
      <p:sp>
        <p:nvSpPr>
          <p:cNvPr id="8" name="正方形/長方形 7">
            <a:extLst xmlns:a="http://schemas.openxmlformats.org/drawingml/2006/main">
              <a:ext uri="{FF2B5EF4-FFF2-40B4-BE49-F238E27FC236}">
                <a16:creationId xmlns:a16="http://schemas.microsoft.com/office/drawing/2014/main" id="{3FA594C4-CFE0-46A6-8F9C-D5C892E743A1}"/>
              </a:ext>
            </a:extLst>
          </p:cNvPr>
          <p:cNvSpPr>
            <a:spLocks xmlns:a="http://schemas.openxmlformats.org/drawingml/2006/main" noGrp="1"/>
          </p:cNvSpPr>
          <p:nvPr/>
        </p:nvSpPr>
        <p:spPr>
          <a:xfrm xmlns:a="http://schemas.openxmlformats.org/drawingml/2006/main">
            <a:off x="590550" y="5257800"/>
            <a:ext cx="3238500" cy="7048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973EB8BF-E788-4D82-9F27-54B8EA346B29}"/>
              </a:ext>
            </a:extLst>
          </p:cNvPr>
          <p:cNvSpPr>
            <a:spLocks xmlns:a="http://schemas.openxmlformats.org/drawingml/2006/main" noGrp="1"/>
          </p:cNvSpPr>
          <p:nvPr/>
        </p:nvSpPr>
        <p:spPr>
          <a:xfrm xmlns:a="http://schemas.openxmlformats.org/drawingml/2006/main">
            <a:off x="781050" y="53816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2563EB"/>
                </a:solidFill>
                <a:latin typeface="Hiragino Sans"/>
                <a:ea typeface="Hiragino Sans"/>
                <a:cs typeface="Hiragino Sans"/>
              </a:defRPr>
            </a:pPr>
            <a:r>
              <a:rPr sz="1575" b="1">
                <a:solidFill>
                  <a:srgbClr val="2563EB"/>
                </a:solidFill>
                <a:latin typeface="Hiragino Sans"/>
                <a:ea typeface="Hiragino Sans"/>
                <a:cs typeface="Hiragino Sans"/>
              </a:rPr>
              <a:t>全体は複雑でも、</a:t>
            </a:r>
          </a:p>
          <a:p xmlns:a="http://schemas.openxmlformats.org/drawingml/2006/main">
            <a:pPr algn="ctr">
              <a:buNone/>
              <a:defRPr sz="1575" b="1">
                <a:solidFill>
                  <a:srgbClr val="2563EB"/>
                </a:solidFill>
                <a:latin typeface="Hiragino Sans"/>
                <a:ea typeface="Hiragino Sans"/>
                <a:cs typeface="Hiragino Sans"/>
              </a:defRPr>
            </a:pPr>
            <a:r>
              <a:rPr sz="1575" b="1">
                <a:solidFill>
                  <a:srgbClr val="2563EB"/>
                </a:solidFill>
                <a:latin typeface="Hiragino Sans"/>
                <a:ea typeface="Hiragino Sans"/>
                <a:cs typeface="Hiragino Sans"/>
              </a:rPr>
              <a:t>狭い範囲なら単純化できる</a:t>
            </a:r>
          </a:p>
        </p:txBody>
      </p:sp>
      <p:sp>
        <p:nvSpPr>
          <p:cNvPr id="10" name="正方形/長方形 9">
            <a:extLst xmlns:a="http://schemas.openxmlformats.org/drawingml/2006/main">
              <a:ext uri="{FF2B5EF4-FFF2-40B4-BE49-F238E27FC236}">
                <a16:creationId xmlns:a16="http://schemas.microsoft.com/office/drawing/2014/main" id="{0D408E5D-3E87-4D65-B788-D73044DD9B08}"/>
              </a:ext>
            </a:extLst>
          </p:cNvPr>
          <p:cNvSpPr>
            <a:spLocks xmlns:a="http://schemas.openxmlformats.org/drawingml/2006/main" noGrp="1"/>
          </p:cNvSpPr>
          <p:nvPr/>
        </p:nvSpPr>
        <p:spPr>
          <a:xfrm xmlns:a="http://schemas.openxmlformats.org/drawingml/2006/main">
            <a:off x="4333875" y="1524000"/>
            <a:ext cx="7239000" cy="4572000"/>
          </a:xfrm>
          <a:prstGeom xmlns:a="http://schemas.openxmlformats.org/drawingml/2006/main" prst="rect">
            <a:avLst/>
          </a:prstGeom>
          <a:solidFill xmlns:a="http://schemas.openxmlformats.org/drawingml/2006/main">
            <a:srgbClr val="FAFAFA"/>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118" name="直線矢印コネクタ 47"/>
          <p:cNvCxnSpPr/>
          <p:nvPr/>
        </p:nvCxnSpPr>
        <p:spPr>
          <a:xfrm xmlns:a="http://schemas.openxmlformats.org/drawingml/2006/main">
            <a:off x="4953000" y="4476750"/>
            <a:ext cx="1143000" cy="666750"/>
          </a:xfrm>
          <a:prstGeom xmlns:a="http://schemas.openxmlformats.org/drawingml/2006/main" prst="straightConnector1">
            <a:avLst/>
          </a:prstGeom>
          <a:ln xmlns:a="http://schemas.openxmlformats.org/drawingml/2006/main" w="38100">
            <a:solidFill>
              <a:srgbClr val="111827"/>
            </a:solidFill>
            <a:prstDash val="solid"/>
          </a:ln>
        </p:spPr>
      </p:cxnSp>
      <p:cxnSp>
        <p:nvCxnSpPr>
          <p:cNvPr id="119" name="直線矢印コネクタ 48"/>
          <p:cNvCxnSpPr/>
          <p:nvPr/>
        </p:nvCxnSpPr>
        <p:spPr>
          <a:xfrm xmlns:a="http://schemas.openxmlformats.org/drawingml/2006/main">
            <a:off x="6096000" y="3143250"/>
            <a:ext cx="857250" cy="1333500"/>
          </a:xfrm>
          <a:prstGeom xmlns:a="http://schemas.openxmlformats.org/drawingml/2006/main" prst="straightConnector1">
            <a:avLst/>
          </a:prstGeom>
          <a:ln xmlns:a="http://schemas.openxmlformats.org/drawingml/2006/main" w="38100">
            <a:solidFill>
              <a:srgbClr val="111827"/>
            </a:solidFill>
            <a:prstDash val="solid"/>
          </a:ln>
        </p:spPr>
      </p:cxnSp>
      <p:cxnSp>
        <p:nvCxnSpPr>
          <p:cNvPr id="120" name="直線矢印コネクタ 49"/>
          <p:cNvCxnSpPr/>
          <p:nvPr/>
        </p:nvCxnSpPr>
        <p:spPr>
          <a:xfrm xmlns:a="http://schemas.openxmlformats.org/drawingml/2006/main">
            <a:off x="6953250" y="3143250"/>
            <a:ext cx="1000125" cy="523875"/>
          </a:xfrm>
          <a:prstGeom xmlns:a="http://schemas.openxmlformats.org/drawingml/2006/main" prst="straightConnector1">
            <a:avLst/>
          </a:prstGeom>
          <a:ln xmlns:a="http://schemas.openxmlformats.org/drawingml/2006/main" w="38100">
            <a:solidFill>
              <a:srgbClr val="111827"/>
            </a:solidFill>
            <a:prstDash val="solid"/>
          </a:ln>
        </p:spPr>
      </p:cxnSp>
      <p:cxnSp>
        <p:nvCxnSpPr>
          <p:cNvPr id="121" name="直線矢印コネクタ 50"/>
          <p:cNvCxnSpPr/>
          <p:nvPr/>
        </p:nvCxnSpPr>
        <p:spPr>
          <a:xfrm xmlns:a="http://schemas.openxmlformats.org/drawingml/2006/main">
            <a:off x="7953375" y="2809875"/>
            <a:ext cx="1047750" cy="857250"/>
          </a:xfrm>
          <a:prstGeom xmlns:a="http://schemas.openxmlformats.org/drawingml/2006/main" prst="straightConnector1">
            <a:avLst/>
          </a:prstGeom>
          <a:ln xmlns:a="http://schemas.openxmlformats.org/drawingml/2006/main" w="38100">
            <a:solidFill>
              <a:srgbClr val="111827"/>
            </a:solidFill>
            <a:prstDash val="solid"/>
          </a:ln>
        </p:spPr>
      </p:cxnSp>
      <p:cxnSp>
        <p:nvCxnSpPr>
          <p:cNvPr id="122" name="直線矢印コネクタ 51"/>
          <p:cNvCxnSpPr/>
          <p:nvPr/>
        </p:nvCxnSpPr>
        <p:spPr>
          <a:xfrm xmlns:a="http://schemas.openxmlformats.org/drawingml/2006/main">
            <a:off x="9001125" y="2809875"/>
            <a:ext cx="1428750" cy="1381125"/>
          </a:xfrm>
          <a:prstGeom xmlns:a="http://schemas.openxmlformats.org/drawingml/2006/main" prst="straightConnector1">
            <a:avLst/>
          </a:prstGeom>
          <a:ln xmlns:a="http://schemas.openxmlformats.org/drawingml/2006/main" w="38100">
            <a:solidFill>
              <a:srgbClr val="111827"/>
            </a:solidFill>
            <a:prstDash val="solid"/>
          </a:ln>
        </p:spPr>
      </p:cxnSp>
      <p:sp>
        <p:nvSpPr>
          <p:cNvPr id="16" name="正方形/長方形 15">
            <a:extLst xmlns:a="http://schemas.openxmlformats.org/drawingml/2006/main">
              <a:ext uri="{FF2B5EF4-FFF2-40B4-BE49-F238E27FC236}">
                <a16:creationId xmlns:a16="http://schemas.microsoft.com/office/drawing/2014/main" id="{51BD7BE0-EDA5-450D-A538-7F046DD9212E}"/>
              </a:ext>
            </a:extLst>
          </p:cNvPr>
          <p:cNvSpPr>
            <a:spLocks xmlns:a="http://schemas.openxmlformats.org/drawingml/2006/main" noGrp="1"/>
          </p:cNvSpPr>
          <p:nvPr/>
        </p:nvSpPr>
        <p:spPr>
          <a:xfrm xmlns:a="http://schemas.openxmlformats.org/drawingml/2006/main">
            <a:off x="8048625" y="1771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ブラックボックスの複雑な境界</a:t>
            </a:r>
          </a:p>
        </p:txBody>
      </p:sp>
      <p:sp>
        <p:nvSpPr>
          <p:cNvPr id="17" name="円/楕円 16">
            <a:extLst xmlns:a="http://schemas.openxmlformats.org/drawingml/2006/main">
              <a:ext uri="{FF2B5EF4-FFF2-40B4-BE49-F238E27FC236}">
                <a16:creationId xmlns:a16="http://schemas.microsoft.com/office/drawing/2014/main" id="{959B9725-2B54-4860-BF59-A0AB259A1B73}"/>
              </a:ext>
            </a:extLst>
          </p:cNvPr>
          <p:cNvSpPr>
            <a:spLocks xmlns:a="http://schemas.openxmlformats.org/drawingml/2006/main" noGrp="1"/>
          </p:cNvSpPr>
          <p:nvPr/>
        </p:nvSpPr>
        <p:spPr>
          <a:xfrm xmlns:a="http://schemas.openxmlformats.org/drawingml/2006/main">
            <a:off x="4857750" y="2095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円/楕円 17">
            <a:extLst xmlns:a="http://schemas.openxmlformats.org/drawingml/2006/main">
              <a:ext uri="{FF2B5EF4-FFF2-40B4-BE49-F238E27FC236}">
                <a16:creationId xmlns:a16="http://schemas.microsoft.com/office/drawing/2014/main" id="{6EDE501B-E40D-42B8-9331-E3DB0366D1A6}"/>
              </a:ext>
            </a:extLst>
          </p:cNvPr>
          <p:cNvSpPr>
            <a:spLocks xmlns:a="http://schemas.openxmlformats.org/drawingml/2006/main" noGrp="1"/>
          </p:cNvSpPr>
          <p:nvPr/>
        </p:nvSpPr>
        <p:spPr>
          <a:xfrm xmlns:a="http://schemas.openxmlformats.org/drawingml/2006/main">
            <a:off x="5476875" y="2476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円/楕円 18">
            <a:extLst xmlns:a="http://schemas.openxmlformats.org/drawingml/2006/main">
              <a:ext uri="{FF2B5EF4-FFF2-40B4-BE49-F238E27FC236}">
                <a16:creationId xmlns:a16="http://schemas.microsoft.com/office/drawing/2014/main" id="{BDA72FE6-6BAA-4F3F-9AF6-60191DDF9586}"/>
              </a:ext>
            </a:extLst>
          </p:cNvPr>
          <p:cNvSpPr>
            <a:spLocks xmlns:a="http://schemas.openxmlformats.org/drawingml/2006/main" noGrp="1"/>
          </p:cNvSpPr>
          <p:nvPr/>
        </p:nvSpPr>
        <p:spPr>
          <a:xfrm xmlns:a="http://schemas.openxmlformats.org/drawingml/2006/main">
            <a:off x="5953125" y="195262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円/楕円 19">
            <a:extLst xmlns:a="http://schemas.openxmlformats.org/drawingml/2006/main">
              <a:ext uri="{FF2B5EF4-FFF2-40B4-BE49-F238E27FC236}">
                <a16:creationId xmlns:a16="http://schemas.microsoft.com/office/drawing/2014/main" id="{ECB20593-CA60-435D-9D74-5FE2FF56E77D}"/>
              </a:ext>
            </a:extLst>
          </p:cNvPr>
          <p:cNvSpPr>
            <a:spLocks xmlns:a="http://schemas.openxmlformats.org/drawingml/2006/main" noGrp="1"/>
          </p:cNvSpPr>
          <p:nvPr/>
        </p:nvSpPr>
        <p:spPr>
          <a:xfrm xmlns:a="http://schemas.openxmlformats.org/drawingml/2006/main">
            <a:off x="6429375" y="271462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円/楕円 20">
            <a:extLst xmlns:a="http://schemas.openxmlformats.org/drawingml/2006/main">
              <a:ext uri="{FF2B5EF4-FFF2-40B4-BE49-F238E27FC236}">
                <a16:creationId xmlns:a16="http://schemas.microsoft.com/office/drawing/2014/main" id="{262887E8-5B4E-4A38-BFF2-4CA177F02170}"/>
              </a:ext>
            </a:extLst>
          </p:cNvPr>
          <p:cNvSpPr>
            <a:spLocks xmlns:a="http://schemas.openxmlformats.org/drawingml/2006/main" noGrp="1"/>
          </p:cNvSpPr>
          <p:nvPr/>
        </p:nvSpPr>
        <p:spPr>
          <a:xfrm xmlns:a="http://schemas.openxmlformats.org/drawingml/2006/main">
            <a:off x="5381625" y="357187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円/楕円 21">
            <a:extLst xmlns:a="http://schemas.openxmlformats.org/drawingml/2006/main">
              <a:ext uri="{FF2B5EF4-FFF2-40B4-BE49-F238E27FC236}">
                <a16:creationId xmlns:a16="http://schemas.microsoft.com/office/drawing/2014/main" id="{B8D01379-98FA-4F2F-A7F9-8A572BA50F95}"/>
              </a:ext>
            </a:extLst>
          </p:cNvPr>
          <p:cNvSpPr>
            <a:spLocks xmlns:a="http://schemas.openxmlformats.org/drawingml/2006/main" noGrp="1"/>
          </p:cNvSpPr>
          <p:nvPr/>
        </p:nvSpPr>
        <p:spPr>
          <a:xfrm xmlns:a="http://schemas.openxmlformats.org/drawingml/2006/main">
            <a:off x="6191250" y="390525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円/楕円 22">
            <a:extLst xmlns:a="http://schemas.openxmlformats.org/drawingml/2006/main">
              <a:ext uri="{FF2B5EF4-FFF2-40B4-BE49-F238E27FC236}">
                <a16:creationId xmlns:a16="http://schemas.microsoft.com/office/drawing/2014/main" id="{1C3E0228-A1B8-4C12-81E1-AA472EC4B893}"/>
              </a:ext>
            </a:extLst>
          </p:cNvPr>
          <p:cNvSpPr>
            <a:spLocks xmlns:a="http://schemas.openxmlformats.org/drawingml/2006/main" noGrp="1"/>
          </p:cNvSpPr>
          <p:nvPr/>
        </p:nvSpPr>
        <p:spPr>
          <a:xfrm xmlns:a="http://schemas.openxmlformats.org/drawingml/2006/main">
            <a:off x="7239000" y="2095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円/楕円 23">
            <a:extLst xmlns:a="http://schemas.openxmlformats.org/drawingml/2006/main">
              <a:ext uri="{FF2B5EF4-FFF2-40B4-BE49-F238E27FC236}">
                <a16:creationId xmlns:a16="http://schemas.microsoft.com/office/drawing/2014/main" id="{4CDC1679-DE97-4B13-A85A-4B3F8AED8C59}"/>
              </a:ext>
            </a:extLst>
          </p:cNvPr>
          <p:cNvSpPr>
            <a:spLocks xmlns:a="http://schemas.openxmlformats.org/drawingml/2006/main" noGrp="1"/>
          </p:cNvSpPr>
          <p:nvPr/>
        </p:nvSpPr>
        <p:spPr>
          <a:xfrm xmlns:a="http://schemas.openxmlformats.org/drawingml/2006/main">
            <a:off x="7667625" y="261937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円/楕円 24">
            <a:extLst xmlns:a="http://schemas.openxmlformats.org/drawingml/2006/main">
              <a:ext uri="{FF2B5EF4-FFF2-40B4-BE49-F238E27FC236}">
                <a16:creationId xmlns:a16="http://schemas.microsoft.com/office/drawing/2014/main" id="{F9047993-DE26-4FF0-ADD4-4730F68C277D}"/>
              </a:ext>
            </a:extLst>
          </p:cNvPr>
          <p:cNvSpPr>
            <a:spLocks xmlns:a="http://schemas.openxmlformats.org/drawingml/2006/main" noGrp="1"/>
          </p:cNvSpPr>
          <p:nvPr/>
        </p:nvSpPr>
        <p:spPr>
          <a:xfrm xmlns:a="http://schemas.openxmlformats.org/drawingml/2006/main">
            <a:off x="8763000" y="48101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円/楕円 25">
            <a:extLst xmlns:a="http://schemas.openxmlformats.org/drawingml/2006/main">
              <a:ext uri="{FF2B5EF4-FFF2-40B4-BE49-F238E27FC236}">
                <a16:creationId xmlns:a16="http://schemas.microsoft.com/office/drawing/2014/main" id="{60495F0E-05D8-47E4-90F0-39D2CFF09C6E}"/>
              </a:ext>
            </a:extLst>
          </p:cNvPr>
          <p:cNvSpPr>
            <a:spLocks xmlns:a="http://schemas.openxmlformats.org/drawingml/2006/main" noGrp="1"/>
          </p:cNvSpPr>
          <p:nvPr/>
        </p:nvSpPr>
        <p:spPr>
          <a:xfrm xmlns:a="http://schemas.openxmlformats.org/drawingml/2006/main">
            <a:off x="9525000" y="43815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円/楕円 26">
            <a:extLst xmlns:a="http://schemas.openxmlformats.org/drawingml/2006/main">
              <a:ext uri="{FF2B5EF4-FFF2-40B4-BE49-F238E27FC236}">
                <a16:creationId xmlns:a16="http://schemas.microsoft.com/office/drawing/2014/main" id="{FBB3C434-0248-418E-8A1C-1545FB2ED517}"/>
              </a:ext>
            </a:extLst>
          </p:cNvPr>
          <p:cNvSpPr>
            <a:spLocks xmlns:a="http://schemas.openxmlformats.org/drawingml/2006/main" noGrp="1"/>
          </p:cNvSpPr>
          <p:nvPr/>
        </p:nvSpPr>
        <p:spPr>
          <a:xfrm xmlns:a="http://schemas.openxmlformats.org/drawingml/2006/main">
            <a:off x="10287000" y="49530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円/楕円 27">
            <a:extLst xmlns:a="http://schemas.openxmlformats.org/drawingml/2006/main">
              <a:ext uri="{FF2B5EF4-FFF2-40B4-BE49-F238E27FC236}">
                <a16:creationId xmlns:a16="http://schemas.microsoft.com/office/drawing/2014/main" id="{F327EDAF-4261-48B9-9F5A-6241D492AB02}"/>
              </a:ext>
            </a:extLst>
          </p:cNvPr>
          <p:cNvSpPr>
            <a:spLocks xmlns:a="http://schemas.openxmlformats.org/drawingml/2006/main" noGrp="1"/>
          </p:cNvSpPr>
          <p:nvPr/>
        </p:nvSpPr>
        <p:spPr>
          <a:xfrm xmlns:a="http://schemas.openxmlformats.org/drawingml/2006/main">
            <a:off x="10668000" y="38576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円/楕円 28">
            <a:extLst xmlns:a="http://schemas.openxmlformats.org/drawingml/2006/main">
              <a:ext uri="{FF2B5EF4-FFF2-40B4-BE49-F238E27FC236}">
                <a16:creationId xmlns:a16="http://schemas.microsoft.com/office/drawing/2014/main" id="{E60295FE-AE74-479C-B25C-6DF6C0AA109E}"/>
              </a:ext>
            </a:extLst>
          </p:cNvPr>
          <p:cNvSpPr>
            <a:spLocks xmlns:a="http://schemas.openxmlformats.org/drawingml/2006/main" noGrp="1"/>
          </p:cNvSpPr>
          <p:nvPr/>
        </p:nvSpPr>
        <p:spPr>
          <a:xfrm xmlns:a="http://schemas.openxmlformats.org/drawingml/2006/main">
            <a:off x="9334500" y="34766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円/楕円 29">
            <a:extLst xmlns:a="http://schemas.openxmlformats.org/drawingml/2006/main">
              <a:ext uri="{FF2B5EF4-FFF2-40B4-BE49-F238E27FC236}">
                <a16:creationId xmlns:a16="http://schemas.microsoft.com/office/drawing/2014/main" id="{83305B92-F4FA-48F9-B457-AB71F8F39CBB}"/>
              </a:ext>
            </a:extLst>
          </p:cNvPr>
          <p:cNvSpPr>
            <a:spLocks xmlns:a="http://schemas.openxmlformats.org/drawingml/2006/main" noGrp="1"/>
          </p:cNvSpPr>
          <p:nvPr/>
        </p:nvSpPr>
        <p:spPr>
          <a:xfrm xmlns:a="http://schemas.openxmlformats.org/drawingml/2006/main">
            <a:off x="8286750" y="447675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円/楕円 30">
            <a:extLst xmlns:a="http://schemas.openxmlformats.org/drawingml/2006/main">
              <a:ext uri="{FF2B5EF4-FFF2-40B4-BE49-F238E27FC236}">
                <a16:creationId xmlns:a16="http://schemas.microsoft.com/office/drawing/2014/main" id="{A3B35A44-407C-45B1-95B8-585D6C11D531}"/>
              </a:ext>
            </a:extLst>
          </p:cNvPr>
          <p:cNvSpPr>
            <a:spLocks xmlns:a="http://schemas.openxmlformats.org/drawingml/2006/main" noGrp="1"/>
          </p:cNvSpPr>
          <p:nvPr/>
        </p:nvSpPr>
        <p:spPr>
          <a:xfrm xmlns:a="http://schemas.openxmlformats.org/drawingml/2006/main">
            <a:off x="7143750" y="51435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円/楕円 31">
            <a:extLst xmlns:a="http://schemas.openxmlformats.org/drawingml/2006/main">
              <a:ext uri="{FF2B5EF4-FFF2-40B4-BE49-F238E27FC236}">
                <a16:creationId xmlns:a16="http://schemas.microsoft.com/office/drawing/2014/main" id="{AF558A9B-1DC5-40ED-AA92-02A818F2C3FF}"/>
              </a:ext>
            </a:extLst>
          </p:cNvPr>
          <p:cNvSpPr>
            <a:spLocks xmlns:a="http://schemas.openxmlformats.org/drawingml/2006/main" noGrp="1"/>
          </p:cNvSpPr>
          <p:nvPr/>
        </p:nvSpPr>
        <p:spPr>
          <a:xfrm xmlns:a="http://schemas.openxmlformats.org/drawingml/2006/main">
            <a:off x="6667500" y="3000375"/>
            <a:ext cx="2381250" cy="2095500"/>
          </a:xfrm>
          <a:prstGeom xmlns:a="http://schemas.openxmlformats.org/drawingml/2006/main" prst="ellipse">
            <a:avLst/>
          </a:prstGeom>
          <a:noFill xmlns:a="http://schemas.openxmlformats.org/drawingml/2006/main"/>
          <a:ln xmlns:a="http://schemas.openxmlformats.org/drawingml/2006/main" w="3810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円/楕円 32">
            <a:extLst xmlns:a="http://schemas.openxmlformats.org/drawingml/2006/main">
              <a:ext uri="{FF2B5EF4-FFF2-40B4-BE49-F238E27FC236}">
                <a16:creationId xmlns:a16="http://schemas.microsoft.com/office/drawing/2014/main" id="{AF3663B5-E0B0-4E17-854B-8BA44B415779}"/>
              </a:ext>
            </a:extLst>
          </p:cNvPr>
          <p:cNvSpPr>
            <a:spLocks xmlns:a="http://schemas.openxmlformats.org/drawingml/2006/main" noGrp="1"/>
          </p:cNvSpPr>
          <p:nvPr/>
        </p:nvSpPr>
        <p:spPr>
          <a:xfrm xmlns:a="http://schemas.openxmlformats.org/drawingml/2006/main">
            <a:off x="7734300" y="3905250"/>
            <a:ext cx="228600" cy="22860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24B9E606-BFA3-41AE-82E9-9A30F7ECEB1F}"/>
              </a:ext>
            </a:extLst>
          </p:cNvPr>
          <p:cNvSpPr>
            <a:spLocks xmlns:a="http://schemas.openxmlformats.org/drawingml/2006/main" noGrp="1"/>
          </p:cNvSpPr>
          <p:nvPr/>
        </p:nvSpPr>
        <p:spPr>
          <a:xfrm xmlns:a="http://schemas.openxmlformats.org/drawingml/2006/main">
            <a:off x="8001000" y="3905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F59E0B"/>
                </a:solidFill>
                <a:latin typeface="Hiragino Sans"/>
                <a:ea typeface="Hiragino Sans"/>
                <a:cs typeface="Hiragino Sans"/>
              </a:defRPr>
            </a:pPr>
            <a:r>
              <a:rPr sz="1350" b="1">
                <a:solidFill>
                  <a:srgbClr val="F59E0B"/>
                </a:solidFill>
                <a:latin typeface="Hiragino Sans"/>
                <a:ea typeface="Hiragino Sans"/>
                <a:cs typeface="Hiragino Sans"/>
              </a:rPr>
              <a:t>説明対象 x</a:t>
            </a:r>
          </a:p>
        </p:txBody>
      </p:sp>
      <p:cxnSp>
        <p:nvCxnSpPr>
          <p:cNvPr id="142" name="直線矢印コネクタ 71"/>
          <p:cNvCxnSpPr/>
          <p:nvPr/>
        </p:nvCxnSpPr>
        <p:spPr>
          <a:xfrm xmlns:a="http://schemas.openxmlformats.org/drawingml/2006/main">
            <a:off x="7000875" y="3571875"/>
            <a:ext cx="1762125" cy="1000125"/>
          </a:xfrm>
          <a:prstGeom xmlns:a="http://schemas.openxmlformats.org/drawingml/2006/main" prst="straightConnector1">
            <a:avLst/>
          </a:prstGeom>
          <a:ln xmlns:a="http://schemas.openxmlformats.org/drawingml/2006/main" w="57150">
            <a:solidFill>
              <a:srgbClr val="10B981"/>
            </a:solidFill>
            <a:prstDash val="solid"/>
          </a:ln>
        </p:spPr>
      </p:cxnSp>
      <p:sp>
        <p:nvSpPr>
          <p:cNvPr id="36" name="正方形/長方形 35">
            <a:extLst xmlns:a="http://schemas.openxmlformats.org/drawingml/2006/main">
              <a:ext uri="{FF2B5EF4-FFF2-40B4-BE49-F238E27FC236}">
                <a16:creationId xmlns:a16="http://schemas.microsoft.com/office/drawing/2014/main" id="{A5740B5C-ED12-4E43-B827-B09C808C38BB}"/>
              </a:ext>
            </a:extLst>
          </p:cNvPr>
          <p:cNvSpPr>
            <a:spLocks xmlns:a="http://schemas.openxmlformats.org/drawingml/2006/main" noGrp="1"/>
          </p:cNvSpPr>
          <p:nvPr/>
        </p:nvSpPr>
        <p:spPr>
          <a:xfrm xmlns:a="http://schemas.openxmlformats.org/drawingml/2006/main">
            <a:off x="6715125" y="5219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0B981"/>
                </a:solidFill>
                <a:latin typeface="Hiragino Sans"/>
                <a:ea typeface="Hiragino Sans"/>
                <a:cs typeface="Hiragino Sans"/>
              </a:defRPr>
            </a:pPr>
            <a:r>
              <a:rPr sz="1425" b="1">
                <a:solidFill>
                  <a:srgbClr val="10B981"/>
                </a:solidFill>
                <a:latin typeface="Hiragino Sans"/>
                <a:ea typeface="Hiragino Sans"/>
                <a:cs typeface="Hiragino Sans"/>
              </a:rPr>
              <a:t>局所サロゲート</a:t>
            </a:r>
          </a:p>
        </p:txBody>
      </p:sp>
      <p:sp>
        <p:nvSpPr>
          <p:cNvPr id="37" name="正方形/長方形 36">
            <a:extLst xmlns:a="http://schemas.openxmlformats.org/drawingml/2006/main">
              <a:ext uri="{FF2B5EF4-FFF2-40B4-BE49-F238E27FC236}">
                <a16:creationId xmlns:a16="http://schemas.microsoft.com/office/drawing/2014/main" id="{F282E9F2-A0B3-40E7-AB33-F83BA5CFF58D}"/>
              </a:ext>
            </a:extLst>
          </p:cNvPr>
          <p:cNvSpPr>
            <a:spLocks xmlns:a="http://schemas.openxmlformats.org/drawingml/2006/main" noGrp="1"/>
          </p:cNvSpPr>
          <p:nvPr/>
        </p:nvSpPr>
        <p:spPr>
          <a:xfrm xmlns:a="http://schemas.openxmlformats.org/drawingml/2006/main">
            <a:off x="8229600" y="5524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425" b="0">
                <a:solidFill>
                  <a:srgbClr val="64748B"/>
                </a:solidFill>
                <a:latin typeface="Hiragino Sans"/>
                <a:ea typeface="Hiragino Sans"/>
                <a:cs typeface="Hiragino Sans"/>
              </a:defRPr>
            </a:pPr>
            <a:r>
              <a:rPr sz="1425" b="0">
                <a:solidFill>
                  <a:srgbClr val="64748B"/>
                </a:solidFill>
                <a:latin typeface="Hiragino Sans"/>
                <a:ea typeface="Hiragino Sans"/>
                <a:cs typeface="Hiragino Sans"/>
              </a:rPr>
              <a:t>この円の中で元モデルをまねる</a:t>
            </a:r>
          </a:p>
        </p:txBody>
      </p:sp>
    </p:spTree>
    <p:extLst>
      <p:ext uri="{BB962C8B-B14F-4D97-AF65-F5344CB8AC3E}">
        <p14:creationId xmlns:p14="http://schemas.microsoft.com/office/powerpoint/2010/main" val="19855311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正方形/長方形 35">
            <a:extLst xmlns:a="http://schemas.openxmlformats.org/drawingml/2006/main">
              <a:ext uri="{FF2B5EF4-FFF2-40B4-BE49-F238E27FC236}">
                <a16:creationId xmlns:a16="http://schemas.microsoft.com/office/drawing/2014/main" id="{E9A51388-D423-448C-A9E4-BF0E5CC22FD1}"/>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4-title">
            <a:extLst xmlns:a="http://schemas.openxmlformats.org/drawingml/2006/main">
              <a:ext uri="{FF2B5EF4-FFF2-40B4-BE49-F238E27FC236}">
                <a16:creationId xmlns:a16="http://schemas.microsoft.com/office/drawing/2014/main" id="{B88F81F8-218A-4596-BD6E-9744D41A4A2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LIMEは5段階で局所説明を作る</a:t>
            </a:r>
          </a:p>
        </p:txBody>
      </p:sp>
      <p:sp>
        <p:nvSpPr>
          <p:cNvPr id="3" name="slide-4-subtitle">
            <a:extLst xmlns:a="http://schemas.openxmlformats.org/drawingml/2006/main">
              <a:ext uri="{FF2B5EF4-FFF2-40B4-BE49-F238E27FC236}">
                <a16:creationId xmlns:a16="http://schemas.microsoft.com/office/drawing/2014/main" id="{7F011AFF-F82E-4056-8755-E60B9484F856}"/>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処理の流れと目的関数は「忠実性」と「単純さ」でつながる</a:t>
            </a:r>
          </a:p>
        </p:txBody>
      </p:sp>
      <p:sp>
        <p:nvSpPr>
          <p:cNvPr id="4" name="正方形/長方形 3">
            <a:extLst xmlns:a="http://schemas.openxmlformats.org/drawingml/2006/main">
              <a:ext uri="{FF2B5EF4-FFF2-40B4-BE49-F238E27FC236}">
                <a16:creationId xmlns:a16="http://schemas.microsoft.com/office/drawing/2014/main" id="{C47FC940-5C55-479C-A6B6-34DB59601FC4}"/>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05</a:t>
            </a:r>
          </a:p>
        </p:txBody>
      </p:sp>
      <p:sp>
        <p:nvSpPr>
          <p:cNvPr id="5" name="右矢印 4">
            <a:extLst xmlns:a="http://schemas.openxmlformats.org/drawingml/2006/main">
              <a:ext uri="{FF2B5EF4-FFF2-40B4-BE49-F238E27FC236}">
                <a16:creationId xmlns:a16="http://schemas.microsoft.com/office/drawing/2014/main" id="{6B8844ED-9B4C-4FD8-B3C7-0C35C419C242}"/>
              </a:ext>
            </a:extLst>
          </p:cNvPr>
          <p:cNvSpPr>
            <a:spLocks xmlns:a="http://schemas.openxmlformats.org/drawingml/2006/main" noGrp="1"/>
          </p:cNvSpPr>
          <p:nvPr/>
        </p:nvSpPr>
        <p:spPr>
          <a:xfrm xmlns:a="http://schemas.openxmlformats.org/drawingml/2006/main">
            <a:off x="2466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67C2B32D-8EF8-4A7C-8154-1888A139DE4C}"/>
              </a:ext>
            </a:extLst>
          </p:cNvPr>
          <p:cNvSpPr>
            <a:spLocks xmlns:a="http://schemas.openxmlformats.org/drawingml/2006/main" noGrp="1"/>
          </p:cNvSpPr>
          <p:nvPr/>
        </p:nvSpPr>
        <p:spPr>
          <a:xfrm xmlns:a="http://schemas.openxmlformats.org/drawingml/2006/main">
            <a:off x="4752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BBE321E7-6135-48F1-9E66-4280517DA3C0}"/>
              </a:ext>
            </a:extLst>
          </p:cNvPr>
          <p:cNvSpPr>
            <a:spLocks xmlns:a="http://schemas.openxmlformats.org/drawingml/2006/main" noGrp="1"/>
          </p:cNvSpPr>
          <p:nvPr/>
        </p:nvSpPr>
        <p:spPr>
          <a:xfrm xmlns:a="http://schemas.openxmlformats.org/drawingml/2006/main">
            <a:off x="7038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右矢印 7">
            <a:extLst xmlns:a="http://schemas.openxmlformats.org/drawingml/2006/main">
              <a:ext uri="{FF2B5EF4-FFF2-40B4-BE49-F238E27FC236}">
                <a16:creationId xmlns:a16="http://schemas.microsoft.com/office/drawing/2014/main" id="{E4BF2AAE-ABE2-4360-99D9-6B9B2A8A3003}"/>
              </a:ext>
            </a:extLst>
          </p:cNvPr>
          <p:cNvSpPr>
            <a:spLocks xmlns:a="http://schemas.openxmlformats.org/drawingml/2006/main" noGrp="1"/>
          </p:cNvSpPr>
          <p:nvPr/>
        </p:nvSpPr>
        <p:spPr>
          <a:xfrm xmlns:a="http://schemas.openxmlformats.org/drawingml/2006/main">
            <a:off x="9324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803CF79B-E99E-4B55-AE67-BA4C56704DB4}"/>
              </a:ext>
            </a:extLst>
          </p:cNvPr>
          <p:cNvSpPr>
            <a:spLocks xmlns:a="http://schemas.openxmlformats.org/drawingml/2006/main" noGrp="1"/>
          </p:cNvSpPr>
          <p:nvPr/>
        </p:nvSpPr>
        <p:spPr>
          <a:xfrm xmlns:a="http://schemas.openxmlformats.org/drawingml/2006/main">
            <a:off x="514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3C100994-F9AB-40C7-899C-AACB47AB9CCC}"/>
              </a:ext>
            </a:extLst>
          </p:cNvPr>
          <p:cNvSpPr>
            <a:spLocks xmlns:a="http://schemas.openxmlformats.org/drawingml/2006/main" noGrp="1"/>
          </p:cNvSpPr>
          <p:nvPr/>
        </p:nvSpPr>
        <p:spPr>
          <a:xfrm xmlns:a="http://schemas.openxmlformats.org/drawingml/2006/main">
            <a:off x="685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Hiragino Sans"/>
                <a:ea typeface="Hiragino Sans"/>
                <a:cs typeface="Hiragino Sans"/>
              </a:defRPr>
            </a:pPr>
            <a:r>
              <a:rPr sz="1275" b="1">
                <a:solidFill>
                  <a:srgbClr val="2563EB"/>
                </a:solidFill>
                <a:latin typeface="Hiragino Sans"/>
                <a:ea typeface="Hiragino Sans"/>
                <a:cs typeface="Hiragino Sans"/>
              </a:rPr>
              <a:t>01</a:t>
            </a:r>
          </a:p>
        </p:txBody>
      </p:sp>
      <p:sp>
        <p:nvSpPr>
          <p:cNvPr id="11" name="正方形/長方形 10">
            <a:extLst xmlns:a="http://schemas.openxmlformats.org/drawingml/2006/main">
              <a:ext uri="{FF2B5EF4-FFF2-40B4-BE49-F238E27FC236}">
                <a16:creationId xmlns:a16="http://schemas.microsoft.com/office/drawing/2014/main" id="{36A6719D-46B1-4863-B69E-E4D5F12A458D}"/>
              </a:ext>
            </a:extLst>
          </p:cNvPr>
          <p:cNvSpPr>
            <a:spLocks xmlns:a="http://schemas.openxmlformats.org/drawingml/2006/main" noGrp="1"/>
          </p:cNvSpPr>
          <p:nvPr/>
        </p:nvSpPr>
        <p:spPr>
          <a:xfrm xmlns:a="http://schemas.openxmlformats.org/drawingml/2006/main">
            <a:off x="685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説明対象を</a:t>
            </a:r>
          </a:p>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1つ選ぶ</a:t>
            </a:r>
          </a:p>
        </p:txBody>
      </p:sp>
      <p:sp>
        <p:nvSpPr>
          <p:cNvPr id="12" name="正方形/長方形 11">
            <a:extLst xmlns:a="http://schemas.openxmlformats.org/drawingml/2006/main">
              <a:ext uri="{FF2B5EF4-FFF2-40B4-BE49-F238E27FC236}">
                <a16:creationId xmlns:a16="http://schemas.microsoft.com/office/drawing/2014/main" id="{C839CFBB-15B4-41BC-9B25-7A14C64A2BEC}"/>
              </a:ext>
            </a:extLst>
          </p:cNvPr>
          <p:cNvSpPr>
            <a:spLocks xmlns:a="http://schemas.openxmlformats.org/drawingml/2006/main" noGrp="1"/>
          </p:cNvSpPr>
          <p:nvPr/>
        </p:nvSpPr>
        <p:spPr>
          <a:xfrm xmlns:a="http://schemas.openxmlformats.org/drawingml/2006/main">
            <a:off x="2800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0E56D9E4-5496-473E-BB29-D0567A20BC36}"/>
              </a:ext>
            </a:extLst>
          </p:cNvPr>
          <p:cNvSpPr>
            <a:spLocks xmlns:a="http://schemas.openxmlformats.org/drawingml/2006/main" noGrp="1"/>
          </p:cNvSpPr>
          <p:nvPr/>
        </p:nvSpPr>
        <p:spPr>
          <a:xfrm xmlns:a="http://schemas.openxmlformats.org/drawingml/2006/main">
            <a:off x="2971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Hiragino Sans"/>
                <a:ea typeface="Hiragino Sans"/>
                <a:cs typeface="Hiragino Sans"/>
              </a:defRPr>
            </a:pPr>
            <a:r>
              <a:rPr sz="1275" b="1">
                <a:solidFill>
                  <a:srgbClr val="2563EB"/>
                </a:solidFill>
                <a:latin typeface="Hiragino Sans"/>
                <a:ea typeface="Hiragino Sans"/>
                <a:cs typeface="Hiragino Sans"/>
              </a:rPr>
              <a:t>02</a:t>
            </a:r>
          </a:p>
        </p:txBody>
      </p:sp>
      <p:sp>
        <p:nvSpPr>
          <p:cNvPr id="14" name="正方形/長方形 13">
            <a:extLst xmlns:a="http://schemas.openxmlformats.org/drawingml/2006/main">
              <a:ext uri="{FF2B5EF4-FFF2-40B4-BE49-F238E27FC236}">
                <a16:creationId xmlns:a16="http://schemas.microsoft.com/office/drawing/2014/main" id="{79C05803-1C44-4C10-AB37-D683DA88F741}"/>
              </a:ext>
            </a:extLst>
          </p:cNvPr>
          <p:cNvSpPr>
            <a:spLocks xmlns:a="http://schemas.openxmlformats.org/drawingml/2006/main" noGrp="1"/>
          </p:cNvSpPr>
          <p:nvPr/>
        </p:nvSpPr>
        <p:spPr>
          <a:xfrm xmlns:a="http://schemas.openxmlformats.org/drawingml/2006/main">
            <a:off x="2971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近傍サンプルを</a:t>
            </a:r>
          </a:p>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多数作る</a:t>
            </a:r>
          </a:p>
        </p:txBody>
      </p:sp>
      <p:sp>
        <p:nvSpPr>
          <p:cNvPr id="15" name="正方形/長方形 14">
            <a:extLst xmlns:a="http://schemas.openxmlformats.org/drawingml/2006/main">
              <a:ext uri="{FF2B5EF4-FFF2-40B4-BE49-F238E27FC236}">
                <a16:creationId xmlns:a16="http://schemas.microsoft.com/office/drawing/2014/main" id="{1A9597DE-D3C9-49E6-B9E8-9CF1432A6438}"/>
              </a:ext>
            </a:extLst>
          </p:cNvPr>
          <p:cNvSpPr>
            <a:spLocks xmlns:a="http://schemas.openxmlformats.org/drawingml/2006/main" noGrp="1"/>
          </p:cNvSpPr>
          <p:nvPr/>
        </p:nvSpPr>
        <p:spPr>
          <a:xfrm xmlns:a="http://schemas.openxmlformats.org/drawingml/2006/main">
            <a:off x="5086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707F0283-81BB-4D64-837A-AE24550C7FDC}"/>
              </a:ext>
            </a:extLst>
          </p:cNvPr>
          <p:cNvSpPr>
            <a:spLocks xmlns:a="http://schemas.openxmlformats.org/drawingml/2006/main" noGrp="1"/>
          </p:cNvSpPr>
          <p:nvPr/>
        </p:nvSpPr>
        <p:spPr>
          <a:xfrm xmlns:a="http://schemas.openxmlformats.org/drawingml/2006/main">
            <a:off x="5257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Hiragino Sans"/>
                <a:ea typeface="Hiragino Sans"/>
                <a:cs typeface="Hiragino Sans"/>
              </a:defRPr>
            </a:pPr>
            <a:r>
              <a:rPr sz="1275" b="1">
                <a:solidFill>
                  <a:srgbClr val="2563EB"/>
                </a:solidFill>
                <a:latin typeface="Hiragino Sans"/>
                <a:ea typeface="Hiragino Sans"/>
                <a:cs typeface="Hiragino Sans"/>
              </a:rPr>
              <a:t>03</a:t>
            </a:r>
          </a:p>
        </p:txBody>
      </p:sp>
      <p:sp>
        <p:nvSpPr>
          <p:cNvPr id="17" name="正方形/長方形 16">
            <a:extLst xmlns:a="http://schemas.openxmlformats.org/drawingml/2006/main">
              <a:ext uri="{FF2B5EF4-FFF2-40B4-BE49-F238E27FC236}">
                <a16:creationId xmlns:a16="http://schemas.microsoft.com/office/drawing/2014/main" id="{0BE24583-8266-43EE-9569-8E14A7E8F2DE}"/>
              </a:ext>
            </a:extLst>
          </p:cNvPr>
          <p:cNvSpPr>
            <a:spLocks xmlns:a="http://schemas.openxmlformats.org/drawingml/2006/main" noGrp="1"/>
          </p:cNvSpPr>
          <p:nvPr/>
        </p:nvSpPr>
        <p:spPr>
          <a:xfrm xmlns:a="http://schemas.openxmlformats.org/drawingml/2006/main">
            <a:off x="5257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ブラックボックスの</a:t>
            </a:r>
          </a:p>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予測を得る</a:t>
            </a:r>
          </a:p>
        </p:txBody>
      </p:sp>
      <p:sp>
        <p:nvSpPr>
          <p:cNvPr id="18" name="正方形/長方形 17">
            <a:extLst xmlns:a="http://schemas.openxmlformats.org/drawingml/2006/main">
              <a:ext uri="{FF2B5EF4-FFF2-40B4-BE49-F238E27FC236}">
                <a16:creationId xmlns:a16="http://schemas.microsoft.com/office/drawing/2014/main" id="{B87BCA31-032B-40B5-B864-3F5D99033DC7}"/>
              </a:ext>
            </a:extLst>
          </p:cNvPr>
          <p:cNvSpPr>
            <a:spLocks xmlns:a="http://schemas.openxmlformats.org/drawingml/2006/main" noGrp="1"/>
          </p:cNvSpPr>
          <p:nvPr/>
        </p:nvSpPr>
        <p:spPr>
          <a:xfrm xmlns:a="http://schemas.openxmlformats.org/drawingml/2006/main">
            <a:off x="7372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0E68EC00-BE7D-427A-AECF-BDECEA00EA02}"/>
              </a:ext>
            </a:extLst>
          </p:cNvPr>
          <p:cNvSpPr>
            <a:spLocks xmlns:a="http://schemas.openxmlformats.org/drawingml/2006/main" noGrp="1"/>
          </p:cNvSpPr>
          <p:nvPr/>
        </p:nvSpPr>
        <p:spPr>
          <a:xfrm xmlns:a="http://schemas.openxmlformats.org/drawingml/2006/main">
            <a:off x="7543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Hiragino Sans"/>
                <a:ea typeface="Hiragino Sans"/>
                <a:cs typeface="Hiragino Sans"/>
              </a:defRPr>
            </a:pPr>
            <a:r>
              <a:rPr sz="1275" b="1">
                <a:solidFill>
                  <a:srgbClr val="2563EB"/>
                </a:solidFill>
                <a:latin typeface="Hiragino Sans"/>
                <a:ea typeface="Hiragino Sans"/>
                <a:cs typeface="Hiragino Sans"/>
              </a:rPr>
              <a:t>04</a:t>
            </a:r>
          </a:p>
        </p:txBody>
      </p:sp>
      <p:sp>
        <p:nvSpPr>
          <p:cNvPr id="20" name="正方形/長方形 19">
            <a:extLst xmlns:a="http://schemas.openxmlformats.org/drawingml/2006/main">
              <a:ext uri="{FF2B5EF4-FFF2-40B4-BE49-F238E27FC236}">
                <a16:creationId xmlns:a16="http://schemas.microsoft.com/office/drawing/2014/main" id="{99234844-DF1C-46D6-B875-BEDA4551C528}"/>
              </a:ext>
            </a:extLst>
          </p:cNvPr>
          <p:cNvSpPr>
            <a:spLocks xmlns:a="http://schemas.openxmlformats.org/drawingml/2006/main" noGrp="1"/>
          </p:cNvSpPr>
          <p:nvPr/>
        </p:nvSpPr>
        <p:spPr>
          <a:xfrm xmlns:a="http://schemas.openxmlformats.org/drawingml/2006/main">
            <a:off x="7543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近いサンプルを</a:t>
            </a:r>
          </a:p>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強く重み付け</a:t>
            </a:r>
          </a:p>
        </p:txBody>
      </p:sp>
      <p:sp>
        <p:nvSpPr>
          <p:cNvPr id="21" name="正方形/長方形 20">
            <a:extLst xmlns:a="http://schemas.openxmlformats.org/drawingml/2006/main">
              <a:ext uri="{FF2B5EF4-FFF2-40B4-BE49-F238E27FC236}">
                <a16:creationId xmlns:a16="http://schemas.microsoft.com/office/drawing/2014/main" id="{1D073FBD-B191-4B1C-A83B-0FF5ED0650F7}"/>
              </a:ext>
            </a:extLst>
          </p:cNvPr>
          <p:cNvSpPr>
            <a:spLocks xmlns:a="http://schemas.openxmlformats.org/drawingml/2006/main" noGrp="1"/>
          </p:cNvSpPr>
          <p:nvPr/>
        </p:nvSpPr>
        <p:spPr>
          <a:xfrm xmlns:a="http://schemas.openxmlformats.org/drawingml/2006/main">
            <a:off x="9658350" y="1600200"/>
            <a:ext cx="1952625" cy="1381125"/>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96538127-B9A1-44C0-B12F-9AB935469740}"/>
              </a:ext>
            </a:extLst>
          </p:cNvPr>
          <p:cNvSpPr>
            <a:spLocks xmlns:a="http://schemas.openxmlformats.org/drawingml/2006/main" noGrp="1"/>
          </p:cNvSpPr>
          <p:nvPr/>
        </p:nvSpPr>
        <p:spPr>
          <a:xfrm xmlns:a="http://schemas.openxmlformats.org/drawingml/2006/main">
            <a:off x="9829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10B981"/>
                </a:solidFill>
                <a:latin typeface="Hiragino Sans"/>
                <a:ea typeface="Hiragino Sans"/>
                <a:cs typeface="Hiragino Sans"/>
              </a:defRPr>
            </a:pPr>
            <a:r>
              <a:rPr sz="1275" b="1">
                <a:solidFill>
                  <a:srgbClr val="10B981"/>
                </a:solidFill>
                <a:latin typeface="Hiragino Sans"/>
                <a:ea typeface="Hiragino Sans"/>
                <a:cs typeface="Hiragino Sans"/>
              </a:rPr>
              <a:t>05</a:t>
            </a:r>
          </a:p>
        </p:txBody>
      </p:sp>
      <p:sp>
        <p:nvSpPr>
          <p:cNvPr id="23" name="正方形/長方形 22">
            <a:extLst xmlns:a="http://schemas.openxmlformats.org/drawingml/2006/main">
              <a:ext uri="{FF2B5EF4-FFF2-40B4-BE49-F238E27FC236}">
                <a16:creationId xmlns:a16="http://schemas.microsoft.com/office/drawing/2014/main" id="{5C38DA0D-55F7-486D-823A-59D68EB35847}"/>
              </a:ext>
            </a:extLst>
          </p:cNvPr>
          <p:cNvSpPr>
            <a:spLocks xmlns:a="http://schemas.openxmlformats.org/drawingml/2006/main" noGrp="1"/>
          </p:cNvSpPr>
          <p:nvPr/>
        </p:nvSpPr>
        <p:spPr>
          <a:xfrm xmlns:a="http://schemas.openxmlformats.org/drawingml/2006/main">
            <a:off x="9829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単純な局所モデルを</a:t>
            </a:r>
          </a:p>
          <a:p xmlns:a="http://schemas.openxmlformats.org/drawingml/2006/main">
            <a:pPr algn="ctr">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学習する</a:t>
            </a:r>
          </a:p>
        </p:txBody>
      </p:sp>
      <p:cxnSp>
        <p:nvCxnSpPr>
          <p:cNvPr id="107" name="直線矢印コネクタ 58"/>
          <p:cNvCxnSpPr/>
          <p:nvPr/>
        </p:nvCxnSpPr>
        <p:spPr>
          <a:xfrm xmlns:a="http://schemas.openxmlformats.org/drawingml/2006/main">
            <a:off x="523875" y="3362325"/>
            <a:ext cx="11049000" cy="0"/>
          </a:xfrm>
          <a:prstGeom xmlns:a="http://schemas.openxmlformats.org/drawingml/2006/main" prst="straightConnector1">
            <a:avLst/>
          </a:prstGeom>
          <a:ln xmlns:a="http://schemas.openxmlformats.org/drawingml/2006/main" w="19050">
            <a:solidFill>
              <a:srgbClr val="CBD5E1"/>
            </a:solidFill>
            <a:prstDash val="solid"/>
          </a:ln>
        </p:spPr>
      </p:cxnSp>
      <p:sp>
        <p:nvSpPr>
          <p:cNvPr id="25" name="正方形/長方形 24">
            <a:extLst xmlns:a="http://schemas.openxmlformats.org/drawingml/2006/main">
              <a:ext uri="{FF2B5EF4-FFF2-40B4-BE49-F238E27FC236}">
                <a16:creationId xmlns:a16="http://schemas.microsoft.com/office/drawing/2014/main" id="{F978DE0E-8795-4644-A05E-64B77F5DF41C}"/>
              </a:ext>
            </a:extLst>
          </p:cNvPr>
          <p:cNvSpPr>
            <a:spLocks xmlns:a="http://schemas.openxmlformats.org/drawingml/2006/main" noGrp="1"/>
          </p:cNvSpPr>
          <p:nvPr/>
        </p:nvSpPr>
        <p:spPr>
          <a:xfrm xmlns:a="http://schemas.openxmlformats.org/drawingml/2006/main">
            <a:off x="666750" y="366712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2563EB"/>
                </a:solidFill>
                <a:latin typeface="Hiragino Sans"/>
                <a:ea typeface="Hiragino Sans"/>
                <a:cs typeface="Hiragino Sans"/>
              </a:defRPr>
            </a:pPr>
            <a:r>
              <a:rPr sz="1800" b="1">
                <a:solidFill>
                  <a:srgbClr val="2563EB"/>
                </a:solidFill>
                <a:latin typeface="Hiragino Sans"/>
                <a:ea typeface="Hiragino Sans"/>
                <a:cs typeface="Hiragino Sans"/>
              </a:rPr>
              <a:t>LIMEの目的関数</a:t>
            </a:r>
          </a:p>
        </p:txBody>
      </p:sp>
      <p:sp>
        <p:nvSpPr>
          <p:cNvPr id="26" name="正方形/長方形 25">
            <a:extLst xmlns:a="http://schemas.openxmlformats.org/drawingml/2006/main">
              <a:ext uri="{FF2B5EF4-FFF2-40B4-BE49-F238E27FC236}">
                <a16:creationId xmlns:a16="http://schemas.microsoft.com/office/drawing/2014/main" id="{F09652C9-8153-4244-83C0-D400D15A0ADE}"/>
              </a:ext>
            </a:extLst>
          </p:cNvPr>
          <p:cNvSpPr>
            <a:spLocks xmlns:a="http://schemas.openxmlformats.org/drawingml/2006/main" noGrp="1"/>
          </p:cNvSpPr>
          <p:nvPr/>
        </p:nvSpPr>
        <p:spPr>
          <a:xfrm xmlns:a="http://schemas.openxmlformats.org/drawingml/2006/main">
            <a:off x="2476500" y="42386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ξ(x) =</a:t>
            </a:r>
          </a:p>
        </p:txBody>
      </p:sp>
      <p:sp>
        <p:nvSpPr>
          <p:cNvPr id="27" name="正方形/長方形 26">
            <a:extLst xmlns:a="http://schemas.openxmlformats.org/drawingml/2006/main">
              <a:ext uri="{FF2B5EF4-FFF2-40B4-BE49-F238E27FC236}">
                <a16:creationId xmlns:a16="http://schemas.microsoft.com/office/drawing/2014/main" id="{DD816D76-BD5E-4936-8F81-8DE16ECCD1CB}"/>
              </a:ext>
            </a:extLst>
          </p:cNvPr>
          <p:cNvSpPr>
            <a:spLocks xmlns:a="http://schemas.openxmlformats.org/drawingml/2006/main" noGrp="1"/>
          </p:cNvSpPr>
          <p:nvPr/>
        </p:nvSpPr>
        <p:spPr>
          <a:xfrm xmlns:a="http://schemas.openxmlformats.org/drawingml/2006/main">
            <a:off x="3905250" y="41338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arg min</a:t>
            </a:r>
          </a:p>
        </p:txBody>
      </p:sp>
      <p:sp>
        <p:nvSpPr>
          <p:cNvPr id="28" name="正方形/長方形 27">
            <a:extLst xmlns:a="http://schemas.openxmlformats.org/drawingml/2006/main">
              <a:ext uri="{FF2B5EF4-FFF2-40B4-BE49-F238E27FC236}">
                <a16:creationId xmlns:a16="http://schemas.microsoft.com/office/drawing/2014/main" id="{2287E875-21D8-45D1-8938-217819775223}"/>
              </a:ext>
            </a:extLst>
          </p:cNvPr>
          <p:cNvSpPr>
            <a:spLocks xmlns:a="http://schemas.openxmlformats.org/drawingml/2006/main" noGrp="1"/>
          </p:cNvSpPr>
          <p:nvPr/>
        </p:nvSpPr>
        <p:spPr>
          <a:xfrm xmlns:a="http://schemas.openxmlformats.org/drawingml/2006/main">
            <a:off x="4143375" y="45529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111827"/>
                </a:solidFill>
                <a:latin typeface="Cambria Math"/>
                <a:ea typeface="Cambria Math"/>
                <a:cs typeface="Cambria Math"/>
              </a:defRPr>
            </a:pPr>
            <a:r>
              <a:rPr sz="1350" b="0">
                <a:solidFill>
                  <a:srgbClr val="111827"/>
                </a:solidFill>
                <a:latin typeface="Cambria Math"/>
                <a:ea typeface="Cambria Math"/>
                <a:cs typeface="Cambria Math"/>
              </a:rPr>
              <a:t>g ∈ G</a:t>
            </a:r>
          </a:p>
        </p:txBody>
      </p:sp>
      <p:sp>
        <p:nvSpPr>
          <p:cNvPr id="29" name="正方形/長方形 28">
            <a:extLst xmlns:a="http://schemas.openxmlformats.org/drawingml/2006/main">
              <a:ext uri="{FF2B5EF4-FFF2-40B4-BE49-F238E27FC236}">
                <a16:creationId xmlns:a16="http://schemas.microsoft.com/office/drawing/2014/main" id="{D5B2C96D-C8AF-4E11-9BD9-FE8F82D3D24E}"/>
              </a:ext>
            </a:extLst>
          </p:cNvPr>
          <p:cNvSpPr>
            <a:spLocks xmlns:a="http://schemas.openxmlformats.org/drawingml/2006/main" noGrp="1"/>
          </p:cNvSpPr>
          <p:nvPr/>
        </p:nvSpPr>
        <p:spPr>
          <a:xfrm xmlns:a="http://schemas.openxmlformats.org/drawingml/2006/main">
            <a:off x="5429250" y="423862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 L(f, g, πₓ) + Ω(g) }</a:t>
            </a:r>
          </a:p>
        </p:txBody>
      </p:sp>
      <p:sp>
        <p:nvSpPr>
          <p:cNvPr id="30" name="正方形/長方形 29">
            <a:extLst xmlns:a="http://schemas.openxmlformats.org/drawingml/2006/main">
              <a:ext uri="{FF2B5EF4-FFF2-40B4-BE49-F238E27FC236}">
                <a16:creationId xmlns:a16="http://schemas.microsoft.com/office/drawing/2014/main" id="{ADC570E3-8068-49BC-8287-8DBD23FB616F}"/>
              </a:ext>
            </a:extLst>
          </p:cNvPr>
          <p:cNvSpPr>
            <a:spLocks xmlns:a="http://schemas.openxmlformats.org/drawingml/2006/main" noGrp="1"/>
          </p:cNvSpPr>
          <p:nvPr/>
        </p:nvSpPr>
        <p:spPr>
          <a:xfrm xmlns:a="http://schemas.openxmlformats.org/drawingml/2006/main">
            <a:off x="1524000" y="5048250"/>
            <a:ext cx="4000500" cy="7429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正方形/長方形 30">
            <a:extLst xmlns:a="http://schemas.openxmlformats.org/drawingml/2006/main">
              <a:ext uri="{FF2B5EF4-FFF2-40B4-BE49-F238E27FC236}">
                <a16:creationId xmlns:a16="http://schemas.microsoft.com/office/drawing/2014/main" id="{44DF11AC-6EF3-4048-8180-BFB46459E624}"/>
              </a:ext>
            </a:extLst>
          </p:cNvPr>
          <p:cNvSpPr>
            <a:spLocks xmlns:a="http://schemas.openxmlformats.org/drawingml/2006/main" noGrp="1"/>
          </p:cNvSpPr>
          <p:nvPr/>
        </p:nvSpPr>
        <p:spPr>
          <a:xfrm xmlns:a="http://schemas.openxmlformats.org/drawingml/2006/main">
            <a:off x="1714500" y="5153025"/>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2563EB"/>
                </a:solidFill>
                <a:latin typeface="Hiragino Sans"/>
                <a:ea typeface="Hiragino Sans"/>
                <a:cs typeface="Hiragino Sans"/>
              </a:defRPr>
            </a:pPr>
            <a:r>
              <a:rPr sz="1575" b="1">
                <a:solidFill>
                  <a:srgbClr val="2563EB"/>
                </a:solidFill>
                <a:latin typeface="Hiragino Sans"/>
                <a:ea typeface="Hiragino Sans"/>
                <a:cs typeface="Hiragino Sans"/>
              </a:rPr>
              <a:t>L(f, g, πₓ)</a:t>
            </a:r>
          </a:p>
          <a:p xmlns:a="http://schemas.openxmlformats.org/drawingml/2006/main">
            <a:pPr algn="ctr">
              <a:buNone/>
              <a:defRPr sz="1575" b="1">
                <a:solidFill>
                  <a:srgbClr val="2563EB"/>
                </a:solidFill>
                <a:latin typeface="Hiragino Sans"/>
                <a:ea typeface="Hiragino Sans"/>
                <a:cs typeface="Hiragino Sans"/>
              </a:defRPr>
            </a:pPr>
            <a:r>
              <a:rPr sz="1575" b="1">
                <a:solidFill>
                  <a:srgbClr val="2563EB"/>
                </a:solidFill>
                <a:latin typeface="Hiragino Sans"/>
                <a:ea typeface="Hiragino Sans"/>
                <a:cs typeface="Hiragino Sans"/>
              </a:rPr>
              <a:t>対象点の近くで予測を再現</a:t>
            </a:r>
          </a:p>
        </p:txBody>
      </p:sp>
      <p:sp>
        <p:nvSpPr>
          <p:cNvPr id="32" name="正方形/長方形 31">
            <a:extLst xmlns:a="http://schemas.openxmlformats.org/drawingml/2006/main">
              <a:ext uri="{FF2B5EF4-FFF2-40B4-BE49-F238E27FC236}">
                <a16:creationId xmlns:a16="http://schemas.microsoft.com/office/drawing/2014/main" id="{B08EA841-27BB-487C-AD94-F0AB9A1BA6B1}"/>
              </a:ext>
            </a:extLst>
          </p:cNvPr>
          <p:cNvSpPr>
            <a:spLocks xmlns:a="http://schemas.openxmlformats.org/drawingml/2006/main" noGrp="1"/>
          </p:cNvSpPr>
          <p:nvPr/>
        </p:nvSpPr>
        <p:spPr>
          <a:xfrm xmlns:a="http://schemas.openxmlformats.org/drawingml/2006/main">
            <a:off x="5791200" y="5191125"/>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11827"/>
                </a:solidFill>
                <a:latin typeface="Hiragino Sans"/>
                <a:ea typeface="Hiragino Sans"/>
                <a:cs typeface="Hiragino Sans"/>
              </a:defRPr>
            </a:pPr>
            <a:r>
              <a:rPr sz="2400" b="1">
                <a:solidFill>
                  <a:srgbClr val="111827"/>
                </a:solidFill>
                <a:latin typeface="Hiragino Sans"/>
                <a:ea typeface="Hiragino Sans"/>
                <a:cs typeface="Hiragino Sans"/>
              </a:rPr>
              <a:t>＋</a:t>
            </a:r>
          </a:p>
        </p:txBody>
      </p:sp>
      <p:sp>
        <p:nvSpPr>
          <p:cNvPr id="33" name="正方形/長方形 32">
            <a:extLst xmlns:a="http://schemas.openxmlformats.org/drawingml/2006/main">
              <a:ext uri="{FF2B5EF4-FFF2-40B4-BE49-F238E27FC236}">
                <a16:creationId xmlns:a16="http://schemas.microsoft.com/office/drawing/2014/main" id="{BA684434-869B-46F4-9C4F-52D923F007E0}"/>
              </a:ext>
            </a:extLst>
          </p:cNvPr>
          <p:cNvSpPr>
            <a:spLocks xmlns:a="http://schemas.openxmlformats.org/drawingml/2006/main" noGrp="1"/>
          </p:cNvSpPr>
          <p:nvPr/>
        </p:nvSpPr>
        <p:spPr>
          <a:xfrm xmlns:a="http://schemas.openxmlformats.org/drawingml/2006/main">
            <a:off x="6572250" y="5048250"/>
            <a:ext cx="4000500" cy="742950"/>
          </a:xfrm>
          <a:prstGeom xmlns:a="http://schemas.openxmlformats.org/drawingml/2006/main" prst="rect">
            <a:avLst/>
          </a:prstGeom>
          <a:solidFill xmlns:a="http://schemas.openxmlformats.org/drawingml/2006/main">
            <a:srgbClr val="D1FAE5"/>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6E00E308-AD4A-4754-94BA-164218CABF44}"/>
              </a:ext>
            </a:extLst>
          </p:cNvPr>
          <p:cNvSpPr>
            <a:spLocks xmlns:a="http://schemas.openxmlformats.org/drawingml/2006/main" noGrp="1"/>
          </p:cNvSpPr>
          <p:nvPr/>
        </p:nvSpPr>
        <p:spPr>
          <a:xfrm xmlns:a="http://schemas.openxmlformats.org/drawingml/2006/main">
            <a:off x="6762750" y="5153025"/>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10B981"/>
                </a:solidFill>
                <a:latin typeface="Hiragino Sans"/>
                <a:ea typeface="Hiragino Sans"/>
                <a:cs typeface="Hiragino Sans"/>
              </a:defRPr>
            </a:pPr>
            <a:r>
              <a:rPr sz="1575" b="1">
                <a:solidFill>
                  <a:srgbClr val="10B981"/>
                </a:solidFill>
                <a:latin typeface="Hiragino Sans"/>
                <a:ea typeface="Hiragino Sans"/>
                <a:cs typeface="Hiragino Sans"/>
              </a:rPr>
              <a:t>Ω(g)</a:t>
            </a:r>
          </a:p>
          <a:p xmlns:a="http://schemas.openxmlformats.org/drawingml/2006/main">
            <a:pPr algn="ctr">
              <a:buNone/>
              <a:defRPr sz="1575" b="1">
                <a:solidFill>
                  <a:srgbClr val="10B981"/>
                </a:solidFill>
                <a:latin typeface="Hiragino Sans"/>
                <a:ea typeface="Hiragino Sans"/>
                <a:cs typeface="Hiragino Sans"/>
              </a:defRPr>
            </a:pPr>
            <a:r>
              <a:rPr sz="1575" b="1">
                <a:solidFill>
                  <a:srgbClr val="10B981"/>
                </a:solidFill>
                <a:latin typeface="Hiragino Sans"/>
                <a:ea typeface="Hiragino Sans"/>
                <a:cs typeface="Hiragino Sans"/>
              </a:rPr>
              <a:t>人が理解できる程度に単純</a:t>
            </a:r>
          </a:p>
        </p:txBody>
      </p:sp>
      <p:sp>
        <p:nvSpPr>
          <p:cNvPr id="35" name="正方形/長方形 34">
            <a:extLst xmlns:a="http://schemas.openxmlformats.org/drawingml/2006/main">
              <a:ext uri="{FF2B5EF4-FFF2-40B4-BE49-F238E27FC236}">
                <a16:creationId xmlns:a16="http://schemas.microsoft.com/office/drawing/2014/main" id="{B2AE5D1C-8582-4703-94A3-93C7DA5A4462}"/>
              </a:ext>
            </a:extLst>
          </p:cNvPr>
          <p:cNvSpPr>
            <a:spLocks xmlns:a="http://schemas.openxmlformats.org/drawingml/2006/main" noGrp="1"/>
          </p:cNvSpPr>
          <p:nvPr/>
        </p:nvSpPr>
        <p:spPr>
          <a:xfrm xmlns:a="http://schemas.openxmlformats.org/drawingml/2006/main">
            <a:off x="3333750" y="60198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良い説明 ＝ 局所的な再現性 ＋ 説明の単純さ</a:t>
            </a:r>
          </a:p>
        </p:txBody>
      </p:sp>
    </p:spTree>
    <p:extLst>
      <p:ext uri="{BB962C8B-B14F-4D97-AF65-F5344CB8AC3E}">
        <p14:creationId xmlns:p14="http://schemas.microsoft.com/office/powerpoint/2010/main" val="12631466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正方形/長方形 27">
            <a:extLst xmlns:a="http://schemas.openxmlformats.org/drawingml/2006/main">
              <a:ext uri="{FF2B5EF4-FFF2-40B4-BE49-F238E27FC236}">
                <a16:creationId xmlns:a16="http://schemas.microsoft.com/office/drawing/2014/main" id="{0E5513AE-D463-432D-A0C5-9022E7C37BAE}"/>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5-title">
            <a:extLst xmlns:a="http://schemas.openxmlformats.org/drawingml/2006/main">
              <a:ext uri="{FF2B5EF4-FFF2-40B4-BE49-F238E27FC236}">
                <a16:creationId xmlns:a16="http://schemas.microsoft.com/office/drawing/2014/main" id="{772F1BB3-F6ED-4F4A-B5AD-6C57B9A7C46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LIMEは「対象クラス vs その他」を説明する</a:t>
            </a:r>
          </a:p>
        </p:txBody>
      </p:sp>
      <p:sp>
        <p:nvSpPr>
          <p:cNvPr id="3" name="slide-5-subtitle">
            <a:extLst xmlns:a="http://schemas.openxmlformats.org/drawingml/2006/main">
              <a:ext uri="{FF2B5EF4-FFF2-40B4-BE49-F238E27FC236}">
                <a16:creationId xmlns:a16="http://schemas.microsoft.com/office/drawing/2014/main" id="{B835CB3E-DA0D-4FCC-8945-0F6CE70ED1BB}"/>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まずは生存・非生存の2値分類として読む</a:t>
            </a:r>
          </a:p>
        </p:txBody>
      </p:sp>
      <p:sp>
        <p:nvSpPr>
          <p:cNvPr id="4" name="正方形/長方形 3">
            <a:extLst xmlns:a="http://schemas.openxmlformats.org/drawingml/2006/main">
              <a:ext uri="{FF2B5EF4-FFF2-40B4-BE49-F238E27FC236}">
                <a16:creationId xmlns:a16="http://schemas.microsoft.com/office/drawing/2014/main" id="{B84E8C3F-4873-4A78-855A-F2F549C3353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06</a:t>
            </a:r>
          </a:p>
        </p:txBody>
      </p:sp>
      <p:sp>
        <p:nvSpPr>
          <p:cNvPr id="5" name="正方形/長方形 4">
            <a:extLst xmlns:a="http://schemas.openxmlformats.org/drawingml/2006/main">
              <a:ext uri="{FF2B5EF4-FFF2-40B4-BE49-F238E27FC236}">
                <a16:creationId xmlns:a16="http://schemas.microsoft.com/office/drawing/2014/main" id="{2FFA0381-F443-4D97-80EF-57478058C8E2}"/>
              </a:ext>
            </a:extLst>
          </p:cNvPr>
          <p:cNvSpPr>
            <a:spLocks xmlns:a="http://schemas.openxmlformats.org/drawingml/2006/main" noGrp="1"/>
          </p:cNvSpPr>
          <p:nvPr/>
        </p:nvSpPr>
        <p:spPr>
          <a:xfrm xmlns:a="http://schemas.openxmlformats.org/drawingml/2006/main">
            <a:off x="762000" y="152400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Hiragino Sans"/>
                <a:ea typeface="Hiragino Sans"/>
                <a:cs typeface="Hiragino Sans"/>
              </a:defRPr>
            </a:pPr>
            <a:r>
              <a:rPr sz="1800" b="1">
                <a:solidFill>
                  <a:srgbClr val="111827"/>
                </a:solidFill>
                <a:latin typeface="Hiragino Sans"/>
                <a:ea typeface="Hiragino Sans"/>
                <a:cs typeface="Hiragino Sans"/>
              </a:rPr>
              <a:t>「生存」に対する局所的な特徴の重み</a:t>
            </a:r>
          </a:p>
        </p:txBody>
      </p:sp>
      <p:cxnSp>
        <p:nvCxnSpPr>
          <p:cNvPr id="45" name="直線矢印コネクタ 32"/>
          <p:cNvCxnSpPr/>
          <p:nvPr/>
        </p:nvCxnSpPr>
        <p:spPr>
          <a:xfrm xmlns:a="http://schemas.openxmlformats.org/drawingml/2006/main">
            <a:off x="4095750" y="1952625"/>
            <a:ext cx="0" cy="2952750"/>
          </a:xfrm>
          <a:prstGeom xmlns:a="http://schemas.openxmlformats.org/drawingml/2006/main" prst="straightConnector1">
            <a:avLst/>
          </a:prstGeom>
          <a:ln xmlns:a="http://schemas.openxmlformats.org/drawingml/2006/main" w="19050">
            <a:solidFill>
              <a:srgbClr val="111827"/>
            </a:solidFill>
            <a:prstDash val="solid"/>
          </a:ln>
        </p:spPr>
      </p:cxnSp>
      <p:sp>
        <p:nvSpPr>
          <p:cNvPr id="7" name="正方形/長方形 6">
            <a:extLst xmlns:a="http://schemas.openxmlformats.org/drawingml/2006/main">
              <a:ext uri="{FF2B5EF4-FFF2-40B4-BE49-F238E27FC236}">
                <a16:creationId xmlns:a16="http://schemas.microsoft.com/office/drawing/2014/main" id="{5CF82F03-FAB6-4E07-A512-61D6874CD037}"/>
              </a:ext>
            </a:extLst>
          </p:cNvPr>
          <p:cNvSpPr>
            <a:spLocks xmlns:a="http://schemas.openxmlformats.org/drawingml/2006/main" noGrp="1"/>
          </p:cNvSpPr>
          <p:nvPr/>
        </p:nvSpPr>
        <p:spPr>
          <a:xfrm xmlns:a="http://schemas.openxmlformats.org/drawingml/2006/main">
            <a:off x="2381250" y="19526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EF4444"/>
                </a:solidFill>
                <a:latin typeface="Hiragino Sans"/>
                <a:ea typeface="Hiragino Sans"/>
                <a:cs typeface="Hiragino Sans"/>
              </a:defRPr>
            </a:pPr>
            <a:r>
              <a:rPr sz="1275" b="1">
                <a:solidFill>
                  <a:srgbClr val="EF4444"/>
                </a:solidFill>
                <a:latin typeface="Hiragino Sans"/>
                <a:ea typeface="Hiragino Sans"/>
                <a:cs typeface="Hiragino Sans"/>
              </a:rPr>
              <a:t>生存を抑える</a:t>
            </a:r>
          </a:p>
        </p:txBody>
      </p:sp>
      <p:sp>
        <p:nvSpPr>
          <p:cNvPr id="8" name="正方形/長方形 7">
            <a:extLst xmlns:a="http://schemas.openxmlformats.org/drawingml/2006/main">
              <a:ext uri="{FF2B5EF4-FFF2-40B4-BE49-F238E27FC236}">
                <a16:creationId xmlns:a16="http://schemas.microsoft.com/office/drawing/2014/main" id="{94CDEB06-5BB9-45A8-84D1-81A7E02CBE63}"/>
              </a:ext>
            </a:extLst>
          </p:cNvPr>
          <p:cNvSpPr>
            <a:spLocks xmlns:a="http://schemas.openxmlformats.org/drawingml/2006/main" noGrp="1"/>
          </p:cNvSpPr>
          <p:nvPr/>
        </p:nvSpPr>
        <p:spPr>
          <a:xfrm xmlns:a="http://schemas.openxmlformats.org/drawingml/2006/main">
            <a:off x="4286250" y="1952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10B981"/>
                </a:solidFill>
                <a:latin typeface="Hiragino Sans"/>
                <a:ea typeface="Hiragino Sans"/>
                <a:cs typeface="Hiragino Sans"/>
              </a:defRPr>
            </a:pPr>
            <a:r>
              <a:rPr sz="1275" b="1">
                <a:solidFill>
                  <a:srgbClr val="10B981"/>
                </a:solidFill>
                <a:latin typeface="Hiragino Sans"/>
                <a:ea typeface="Hiragino Sans"/>
                <a:cs typeface="Hiragino Sans"/>
              </a:rPr>
              <a:t>生存を支持する</a:t>
            </a:r>
          </a:p>
        </p:txBody>
      </p:sp>
      <p:sp>
        <p:nvSpPr>
          <p:cNvPr id="9" name="正方形/長方形 8">
            <a:extLst xmlns:a="http://schemas.openxmlformats.org/drawingml/2006/main">
              <a:ext uri="{FF2B5EF4-FFF2-40B4-BE49-F238E27FC236}">
                <a16:creationId xmlns:a16="http://schemas.microsoft.com/office/drawing/2014/main" id="{34BCD538-98B7-463F-B7A0-A8A9CEAD0692}"/>
              </a:ext>
            </a:extLst>
          </p:cNvPr>
          <p:cNvSpPr>
            <a:spLocks xmlns:a="http://schemas.openxmlformats.org/drawingml/2006/main" noGrp="1"/>
          </p:cNvSpPr>
          <p:nvPr/>
        </p:nvSpPr>
        <p:spPr>
          <a:xfrm xmlns:a="http://schemas.openxmlformats.org/drawingml/2006/main">
            <a:off x="762000" y="242887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運賃</a:t>
            </a:r>
          </a:p>
        </p:txBody>
      </p:sp>
      <p:sp>
        <p:nvSpPr>
          <p:cNvPr id="10" name="正方形/長方形 9">
            <a:extLst xmlns:a="http://schemas.openxmlformats.org/drawingml/2006/main">
              <a:ext uri="{FF2B5EF4-FFF2-40B4-BE49-F238E27FC236}">
                <a16:creationId xmlns:a16="http://schemas.microsoft.com/office/drawing/2014/main" id="{0713D208-9C0A-4E2E-BD42-4D57C9BA6648}"/>
              </a:ext>
            </a:extLst>
          </p:cNvPr>
          <p:cNvSpPr>
            <a:spLocks xmlns:a="http://schemas.openxmlformats.org/drawingml/2006/main" noGrp="1"/>
          </p:cNvSpPr>
          <p:nvPr/>
        </p:nvSpPr>
        <p:spPr>
          <a:xfrm xmlns:a="http://schemas.openxmlformats.org/drawingml/2006/main">
            <a:off x="4095750" y="2476500"/>
            <a:ext cx="1714500" cy="209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A89A6A5C-24F3-4C74-9F06-CF1B00891BE8}"/>
              </a:ext>
            </a:extLst>
          </p:cNvPr>
          <p:cNvSpPr>
            <a:spLocks xmlns:a="http://schemas.openxmlformats.org/drawingml/2006/main" noGrp="1"/>
          </p:cNvSpPr>
          <p:nvPr/>
        </p:nvSpPr>
        <p:spPr>
          <a:xfrm xmlns:a="http://schemas.openxmlformats.org/drawingml/2006/main">
            <a:off x="5905500" y="2428875"/>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0B981"/>
                </a:solidFill>
                <a:latin typeface="Hiragino Sans"/>
                <a:ea typeface="Hiragino Sans"/>
                <a:cs typeface="Hiragino Sans"/>
              </a:defRPr>
            </a:pPr>
            <a:r>
              <a:rPr sz="1350" b="1">
                <a:solidFill>
                  <a:srgbClr val="10B981"/>
                </a:solidFill>
                <a:latin typeface="Hiragino Sans"/>
                <a:ea typeface="Hiragino Sans"/>
                <a:cs typeface="Hiragino Sans"/>
              </a:rPr>
              <a:t>+0.50</a:t>
            </a:r>
          </a:p>
        </p:txBody>
      </p:sp>
      <p:sp>
        <p:nvSpPr>
          <p:cNvPr id="12" name="正方形/長方形 11">
            <a:extLst xmlns:a="http://schemas.openxmlformats.org/drawingml/2006/main">
              <a:ext uri="{FF2B5EF4-FFF2-40B4-BE49-F238E27FC236}">
                <a16:creationId xmlns:a16="http://schemas.microsoft.com/office/drawing/2014/main" id="{A49E7958-33D5-4B7F-B95E-892F13EA4029}"/>
              </a:ext>
            </a:extLst>
          </p:cNvPr>
          <p:cNvSpPr>
            <a:spLocks xmlns:a="http://schemas.openxmlformats.org/drawingml/2006/main" noGrp="1"/>
          </p:cNvSpPr>
          <p:nvPr/>
        </p:nvSpPr>
        <p:spPr>
          <a:xfrm xmlns:a="http://schemas.openxmlformats.org/drawingml/2006/main">
            <a:off x="762000" y="304800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客室等級</a:t>
            </a:r>
          </a:p>
        </p:txBody>
      </p:sp>
      <p:sp>
        <p:nvSpPr>
          <p:cNvPr id="13" name="正方形/長方形 12">
            <a:extLst xmlns:a="http://schemas.openxmlformats.org/drawingml/2006/main">
              <a:ext uri="{FF2B5EF4-FFF2-40B4-BE49-F238E27FC236}">
                <a16:creationId xmlns:a16="http://schemas.microsoft.com/office/drawing/2014/main" id="{1781A06F-A67B-4D8C-BC86-A6E99E2B2123}"/>
              </a:ext>
            </a:extLst>
          </p:cNvPr>
          <p:cNvSpPr>
            <a:spLocks xmlns:a="http://schemas.openxmlformats.org/drawingml/2006/main" noGrp="1"/>
          </p:cNvSpPr>
          <p:nvPr/>
        </p:nvSpPr>
        <p:spPr>
          <a:xfrm xmlns:a="http://schemas.openxmlformats.org/drawingml/2006/main">
            <a:off x="4095750" y="3095625"/>
            <a:ext cx="1097280" cy="209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E3D05D17-30BA-42DB-AB8B-5E0BCAA54B17}"/>
              </a:ext>
            </a:extLst>
          </p:cNvPr>
          <p:cNvSpPr>
            <a:spLocks xmlns:a="http://schemas.openxmlformats.org/drawingml/2006/main" noGrp="1"/>
          </p:cNvSpPr>
          <p:nvPr/>
        </p:nvSpPr>
        <p:spPr>
          <a:xfrm xmlns:a="http://schemas.openxmlformats.org/drawingml/2006/main">
            <a:off x="5288280" y="30480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0B981"/>
                </a:solidFill>
                <a:latin typeface="Hiragino Sans"/>
                <a:ea typeface="Hiragino Sans"/>
                <a:cs typeface="Hiragino Sans"/>
              </a:defRPr>
            </a:pPr>
            <a:r>
              <a:rPr sz="1350" b="1">
                <a:solidFill>
                  <a:srgbClr val="10B981"/>
                </a:solidFill>
                <a:latin typeface="Hiragino Sans"/>
                <a:ea typeface="Hiragino Sans"/>
                <a:cs typeface="Hiragino Sans"/>
              </a:rPr>
              <a:t>+0.32</a:t>
            </a:r>
          </a:p>
        </p:txBody>
      </p:sp>
      <p:sp>
        <p:nvSpPr>
          <p:cNvPr id="15" name="正方形/長方形 14">
            <a:extLst xmlns:a="http://schemas.openxmlformats.org/drawingml/2006/main">
              <a:ext uri="{FF2B5EF4-FFF2-40B4-BE49-F238E27FC236}">
                <a16:creationId xmlns:a16="http://schemas.microsoft.com/office/drawing/2014/main" id="{AF6A6FA5-C386-4106-B3F1-2B0ED03C0CE4}"/>
              </a:ext>
            </a:extLst>
          </p:cNvPr>
          <p:cNvSpPr>
            <a:spLocks xmlns:a="http://schemas.openxmlformats.org/drawingml/2006/main" noGrp="1"/>
          </p:cNvSpPr>
          <p:nvPr/>
        </p:nvSpPr>
        <p:spPr>
          <a:xfrm xmlns:a="http://schemas.openxmlformats.org/drawingml/2006/main">
            <a:off x="762000" y="36671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年齢</a:t>
            </a:r>
          </a:p>
        </p:txBody>
      </p:sp>
      <p:sp>
        <p:nvSpPr>
          <p:cNvPr id="16" name="正方形/長方形 15">
            <a:extLst xmlns:a="http://schemas.openxmlformats.org/drawingml/2006/main">
              <a:ext uri="{FF2B5EF4-FFF2-40B4-BE49-F238E27FC236}">
                <a16:creationId xmlns:a16="http://schemas.microsoft.com/office/drawing/2014/main" id="{D8ED2191-57D5-45FF-BB18-9F13383E8342}"/>
              </a:ext>
            </a:extLst>
          </p:cNvPr>
          <p:cNvSpPr>
            <a:spLocks xmlns:a="http://schemas.openxmlformats.org/drawingml/2006/main" noGrp="1"/>
          </p:cNvSpPr>
          <p:nvPr/>
        </p:nvSpPr>
        <p:spPr>
          <a:xfrm xmlns:a="http://schemas.openxmlformats.org/drawingml/2006/main">
            <a:off x="3409950" y="3714750"/>
            <a:ext cx="685800" cy="2095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F84C2A86-339C-4BF0-AEA3-990CE0B29CF1}"/>
              </a:ext>
            </a:extLst>
          </p:cNvPr>
          <p:cNvSpPr>
            <a:spLocks xmlns:a="http://schemas.openxmlformats.org/drawingml/2006/main" noGrp="1"/>
          </p:cNvSpPr>
          <p:nvPr/>
        </p:nvSpPr>
        <p:spPr>
          <a:xfrm xmlns:a="http://schemas.openxmlformats.org/drawingml/2006/main">
            <a:off x="2724150" y="366712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1">
                <a:solidFill>
                  <a:srgbClr val="EF4444"/>
                </a:solidFill>
                <a:latin typeface="Hiragino Sans"/>
                <a:ea typeface="Hiragino Sans"/>
                <a:cs typeface="Hiragino Sans"/>
              </a:defRPr>
            </a:pPr>
            <a:r>
              <a:rPr sz="1350" b="1">
                <a:solidFill>
                  <a:srgbClr val="EF4444"/>
                </a:solidFill>
                <a:latin typeface="Hiragino Sans"/>
                <a:ea typeface="Hiragino Sans"/>
                <a:cs typeface="Hiragino Sans"/>
              </a:rPr>
              <a:t>-0.20</a:t>
            </a:r>
          </a:p>
        </p:txBody>
      </p:sp>
      <p:sp>
        <p:nvSpPr>
          <p:cNvPr id="18" name="正方形/長方形 17">
            <a:extLst xmlns:a="http://schemas.openxmlformats.org/drawingml/2006/main">
              <a:ext uri="{FF2B5EF4-FFF2-40B4-BE49-F238E27FC236}">
                <a16:creationId xmlns:a16="http://schemas.microsoft.com/office/drawing/2014/main" id="{DFA0442F-6DA2-4030-AFBA-6938DB5A0443}"/>
              </a:ext>
            </a:extLst>
          </p:cNvPr>
          <p:cNvSpPr>
            <a:spLocks xmlns:a="http://schemas.openxmlformats.org/drawingml/2006/main" noGrp="1"/>
          </p:cNvSpPr>
          <p:nvPr/>
        </p:nvSpPr>
        <p:spPr>
          <a:xfrm xmlns:a="http://schemas.openxmlformats.org/drawingml/2006/main">
            <a:off x="762000" y="428625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Hiragino Sans"/>
                <a:ea typeface="Hiragino Sans"/>
                <a:cs typeface="Hiragino Sans"/>
              </a:defRPr>
            </a:pPr>
            <a:r>
              <a:rPr sz="1500" b="1">
                <a:solidFill>
                  <a:srgbClr val="111827"/>
                </a:solidFill>
                <a:latin typeface="Hiragino Sans"/>
                <a:ea typeface="Hiragino Sans"/>
                <a:cs typeface="Hiragino Sans"/>
              </a:rPr>
              <a:t>同乗家族数</a:t>
            </a:r>
          </a:p>
        </p:txBody>
      </p:sp>
      <p:sp>
        <p:nvSpPr>
          <p:cNvPr id="19" name="正方形/長方形 18">
            <a:extLst xmlns:a="http://schemas.openxmlformats.org/drawingml/2006/main">
              <a:ext uri="{FF2B5EF4-FFF2-40B4-BE49-F238E27FC236}">
                <a16:creationId xmlns:a16="http://schemas.microsoft.com/office/drawing/2014/main" id="{9D4E03A3-0D49-4664-98CE-A54FC98DCBEA}"/>
              </a:ext>
            </a:extLst>
          </p:cNvPr>
          <p:cNvSpPr>
            <a:spLocks xmlns:a="http://schemas.openxmlformats.org/drawingml/2006/main" noGrp="1"/>
          </p:cNvSpPr>
          <p:nvPr/>
        </p:nvSpPr>
        <p:spPr>
          <a:xfrm xmlns:a="http://schemas.openxmlformats.org/drawingml/2006/main">
            <a:off x="3615690" y="4333875"/>
            <a:ext cx="480060" cy="2095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02A6C754-C464-4D15-8D2F-071611C8579B}"/>
              </a:ext>
            </a:extLst>
          </p:cNvPr>
          <p:cNvSpPr>
            <a:spLocks xmlns:a="http://schemas.openxmlformats.org/drawingml/2006/main" noGrp="1"/>
          </p:cNvSpPr>
          <p:nvPr/>
        </p:nvSpPr>
        <p:spPr>
          <a:xfrm xmlns:a="http://schemas.openxmlformats.org/drawingml/2006/main">
            <a:off x="2929890" y="4286250"/>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1">
                <a:solidFill>
                  <a:srgbClr val="EF4444"/>
                </a:solidFill>
                <a:latin typeface="Hiragino Sans"/>
                <a:ea typeface="Hiragino Sans"/>
                <a:cs typeface="Hiragino Sans"/>
              </a:defRPr>
            </a:pPr>
            <a:r>
              <a:rPr sz="1350" b="1">
                <a:solidFill>
                  <a:srgbClr val="EF4444"/>
                </a:solidFill>
                <a:latin typeface="Hiragino Sans"/>
                <a:ea typeface="Hiragino Sans"/>
                <a:cs typeface="Hiragino Sans"/>
              </a:rPr>
              <a:t>-0.14</a:t>
            </a:r>
          </a:p>
        </p:txBody>
      </p:sp>
      <p:sp>
        <p:nvSpPr>
          <p:cNvPr id="21" name="正方形/長方形 20">
            <a:extLst xmlns:a="http://schemas.openxmlformats.org/drawingml/2006/main">
              <a:ext uri="{FF2B5EF4-FFF2-40B4-BE49-F238E27FC236}">
                <a16:creationId xmlns:a16="http://schemas.microsoft.com/office/drawing/2014/main" id="{643FFE7E-2B8C-4A6B-8BE9-333255CE586C}"/>
              </a:ext>
            </a:extLst>
          </p:cNvPr>
          <p:cNvSpPr>
            <a:spLocks xmlns:a="http://schemas.openxmlformats.org/drawingml/2006/main" noGrp="1"/>
          </p:cNvSpPr>
          <p:nvPr/>
        </p:nvSpPr>
        <p:spPr>
          <a:xfrm xmlns:a="http://schemas.openxmlformats.org/drawingml/2006/main">
            <a:off x="8096250" y="1666875"/>
            <a:ext cx="3143250" cy="29527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2BDF7ECF-5C71-423B-A0CF-8F041754E4ED}"/>
              </a:ext>
            </a:extLst>
          </p:cNvPr>
          <p:cNvSpPr>
            <a:spLocks xmlns:a="http://schemas.openxmlformats.org/drawingml/2006/main" noGrp="1"/>
          </p:cNvSpPr>
          <p:nvPr/>
        </p:nvSpPr>
        <p:spPr>
          <a:xfrm xmlns:a="http://schemas.openxmlformats.org/drawingml/2006/main">
            <a:off x="8382000" y="19240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Hiragino Sans"/>
                <a:ea typeface="Hiragino Sans"/>
                <a:cs typeface="Hiragino Sans"/>
              </a:defRPr>
            </a:pPr>
            <a:r>
              <a:rPr sz="1800" b="1">
                <a:solidFill>
                  <a:srgbClr val="111827"/>
                </a:solidFill>
                <a:latin typeface="Hiragino Sans"/>
                <a:ea typeface="Hiragino Sans"/>
                <a:cs typeface="Hiragino Sans"/>
              </a:rPr>
              <a:t>説明の読み方</a:t>
            </a:r>
          </a:p>
        </p:txBody>
      </p:sp>
      <p:sp>
        <p:nvSpPr>
          <p:cNvPr id="23" name="正方形/長方形 22">
            <a:extLst xmlns:a="http://schemas.openxmlformats.org/drawingml/2006/main">
              <a:ext uri="{FF2B5EF4-FFF2-40B4-BE49-F238E27FC236}">
                <a16:creationId xmlns:a16="http://schemas.microsoft.com/office/drawing/2014/main" id="{160BA7B5-A568-46B7-8122-0BEB4DAAF8CF}"/>
              </a:ext>
            </a:extLst>
          </p:cNvPr>
          <p:cNvSpPr>
            <a:spLocks xmlns:a="http://schemas.openxmlformats.org/drawingml/2006/main" noGrp="1"/>
          </p:cNvSpPr>
          <p:nvPr/>
        </p:nvSpPr>
        <p:spPr>
          <a:xfrm xmlns:a="http://schemas.openxmlformats.org/drawingml/2006/main">
            <a:off x="8382000" y="2457450"/>
            <a:ext cx="2571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111827"/>
                </a:solidFill>
                <a:latin typeface="Hiragino Sans"/>
                <a:ea typeface="Hiragino Sans"/>
                <a:cs typeface="Hiragino Sans"/>
              </a:defRPr>
            </a:pPr>
            <a:r>
              <a:rPr sz="1500" b="0">
                <a:solidFill>
                  <a:srgbClr val="111827"/>
                </a:solidFill>
                <a:latin typeface="Hiragino Sans"/>
                <a:ea typeface="Hiragino Sans"/>
                <a:cs typeface="Hiragino Sans"/>
              </a:rPr>
              <a:t>正の重み</a:t>
            </a:r>
          </a:p>
          <a:p xmlns:a="http://schemas.openxmlformats.org/drawingml/2006/main">
            <a:pPr algn="l">
              <a:buNone/>
              <a:defRPr sz="1500" b="0">
                <a:solidFill>
                  <a:srgbClr val="111827"/>
                </a:solidFill>
                <a:latin typeface="Hiragino Sans"/>
                <a:ea typeface="Hiragino Sans"/>
                <a:cs typeface="Hiragino Sans"/>
              </a:defRPr>
            </a:pPr>
            <a:r>
              <a:rPr sz="1500" b="0">
                <a:solidFill>
                  <a:srgbClr val="111827"/>
                </a:solidFill>
                <a:latin typeface="Hiragino Sans"/>
                <a:ea typeface="Hiragino Sans"/>
                <a:cs typeface="Hiragino Sans"/>
              </a:rPr>
              <a:t>生存確率を上げる方向</a:t>
            </a:r>
          </a:p>
          <a:p xmlns:a="http://schemas.openxmlformats.org/drawingml/2006/main">
            <a:endParaRPr sz="1500" b="0">
              <a:solidFill>
                <a:srgbClr val="111827"/>
              </a:solidFill>
              <a:latin typeface="Hiragino Sans"/>
              <a:ea typeface="Hiragino Sans"/>
              <a:cs typeface="Hiragino Sans"/>
            </a:endParaRPr>
          </a:p>
          <a:p xmlns:a="http://schemas.openxmlformats.org/drawingml/2006/main">
            <a:pPr algn="l">
              <a:buNone/>
              <a:defRPr sz="1500" b="0">
                <a:solidFill>
                  <a:srgbClr val="111827"/>
                </a:solidFill>
                <a:latin typeface="Hiragino Sans"/>
                <a:ea typeface="Hiragino Sans"/>
                <a:cs typeface="Hiragino Sans"/>
              </a:defRPr>
            </a:pPr>
            <a:r>
              <a:rPr sz="1500" b="0">
                <a:solidFill>
                  <a:srgbClr val="111827"/>
                </a:solidFill>
                <a:latin typeface="Hiragino Sans"/>
                <a:ea typeface="Hiragino Sans"/>
                <a:cs typeface="Hiragino Sans"/>
              </a:rPr>
              <a:t>負の重み</a:t>
            </a:r>
          </a:p>
          <a:p xmlns:a="http://schemas.openxmlformats.org/drawingml/2006/main">
            <a:pPr algn="l">
              <a:buNone/>
              <a:defRPr sz="1500" b="0">
                <a:solidFill>
                  <a:srgbClr val="111827"/>
                </a:solidFill>
                <a:latin typeface="Hiragino Sans"/>
                <a:ea typeface="Hiragino Sans"/>
                <a:cs typeface="Hiragino Sans"/>
              </a:defRPr>
            </a:pPr>
            <a:r>
              <a:rPr sz="1500" b="0">
                <a:solidFill>
                  <a:srgbClr val="111827"/>
                </a:solidFill>
                <a:latin typeface="Hiragino Sans"/>
                <a:ea typeface="Hiragino Sans"/>
                <a:cs typeface="Hiragino Sans"/>
              </a:rPr>
              <a:t>生存確率を下げる方向</a:t>
            </a:r>
          </a:p>
          <a:p xmlns:a="http://schemas.openxmlformats.org/drawingml/2006/main">
            <a:endParaRPr sz="1500" b="0">
              <a:solidFill>
                <a:srgbClr val="111827"/>
              </a:solidFill>
              <a:latin typeface="Hiragino Sans"/>
              <a:ea typeface="Hiragino Sans"/>
              <a:cs typeface="Hiragino Sans"/>
            </a:endParaRPr>
          </a:p>
          <a:p xmlns:a="http://schemas.openxmlformats.org/drawingml/2006/main">
            <a:pPr algn="l">
              <a:buNone/>
              <a:defRPr sz="1500" b="0">
                <a:solidFill>
                  <a:srgbClr val="111827"/>
                </a:solidFill>
                <a:latin typeface="Hiragino Sans"/>
                <a:ea typeface="Hiragino Sans"/>
                <a:cs typeface="Hiragino Sans"/>
              </a:defRPr>
            </a:pPr>
            <a:r>
              <a:rPr sz="1500" b="0">
                <a:solidFill>
                  <a:srgbClr val="111827"/>
                </a:solidFill>
                <a:latin typeface="Hiragino Sans"/>
                <a:ea typeface="Hiragino Sans"/>
                <a:cs typeface="Hiragino Sans"/>
              </a:rPr>
              <a:t>絶対値</a:t>
            </a:r>
          </a:p>
          <a:p xmlns:a="http://schemas.openxmlformats.org/drawingml/2006/main">
            <a:pPr algn="l">
              <a:buNone/>
              <a:defRPr sz="1500" b="0">
                <a:solidFill>
                  <a:srgbClr val="111827"/>
                </a:solidFill>
                <a:latin typeface="Hiragino Sans"/>
                <a:ea typeface="Hiragino Sans"/>
                <a:cs typeface="Hiragino Sans"/>
              </a:defRPr>
            </a:pPr>
            <a:r>
              <a:rPr sz="1500" b="0">
                <a:solidFill>
                  <a:srgbClr val="111827"/>
                </a:solidFill>
                <a:latin typeface="Hiragino Sans"/>
                <a:ea typeface="Hiragino Sans"/>
                <a:cs typeface="Hiragino Sans"/>
              </a:rPr>
              <a:t>局所モデル内の影響の強さ</a:t>
            </a:r>
          </a:p>
        </p:txBody>
      </p:sp>
      <p:sp>
        <p:nvSpPr>
          <p:cNvPr id="24" name="正方形/長方形 23">
            <a:extLst xmlns:a="http://schemas.openxmlformats.org/drawingml/2006/main">
              <a:ext uri="{FF2B5EF4-FFF2-40B4-BE49-F238E27FC236}">
                <a16:creationId xmlns:a16="http://schemas.microsoft.com/office/drawing/2014/main" id="{99B07350-28A1-46AE-B6FF-848A2BD91F12}"/>
              </a:ext>
            </a:extLst>
          </p:cNvPr>
          <p:cNvSpPr>
            <a:spLocks xmlns:a="http://schemas.openxmlformats.org/drawingml/2006/main" noGrp="1"/>
          </p:cNvSpPr>
          <p:nvPr/>
        </p:nvSpPr>
        <p:spPr>
          <a:xfrm xmlns:a="http://schemas.openxmlformats.org/drawingml/2006/main">
            <a:off x="762000" y="5286375"/>
            <a:ext cx="10477500" cy="781050"/>
          </a:xfrm>
          <a:prstGeom xmlns:a="http://schemas.openxmlformats.org/drawingml/2006/main" prst="rect">
            <a:avLst/>
          </a:prstGeom>
          <a:solidFill xmlns:a="http://schemas.openxmlformats.org/drawingml/2006/main">
            <a:srgbClr val="FEF3C7"/>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5C46EEA6-1C21-46B8-A2C2-1C4069F04841}"/>
              </a:ext>
            </a:extLst>
          </p:cNvPr>
          <p:cNvSpPr>
            <a:spLocks xmlns:a="http://schemas.openxmlformats.org/drawingml/2006/main" noGrp="1"/>
          </p:cNvSpPr>
          <p:nvPr/>
        </p:nvSpPr>
        <p:spPr>
          <a:xfrm xmlns:a="http://schemas.openxmlformats.org/drawingml/2006/main">
            <a:off x="971550" y="55245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1">
                <a:solidFill>
                  <a:srgbClr val="F59E0B"/>
                </a:solidFill>
                <a:latin typeface="Hiragino Sans"/>
                <a:ea typeface="Hiragino Sans"/>
                <a:cs typeface="Hiragino Sans"/>
              </a:defRPr>
            </a:pPr>
            <a:r>
              <a:rPr sz="1575" b="1">
                <a:solidFill>
                  <a:srgbClr val="F59E0B"/>
                </a:solidFill>
                <a:latin typeface="Hiragino Sans"/>
                <a:ea typeface="Hiragino Sans"/>
                <a:cs typeface="Hiragino Sans"/>
              </a:rPr>
              <a:t>注意</a:t>
            </a:r>
          </a:p>
        </p:txBody>
      </p:sp>
      <p:sp>
        <p:nvSpPr>
          <p:cNvPr id="26" name="正方形/長方形 25">
            <a:extLst xmlns:a="http://schemas.openxmlformats.org/drawingml/2006/main">
              <a:ext uri="{FF2B5EF4-FFF2-40B4-BE49-F238E27FC236}">
                <a16:creationId xmlns:a16="http://schemas.microsoft.com/office/drawing/2014/main" id="{4FBF4291-F190-4EC8-A787-7E3448B4E9D8}"/>
              </a:ext>
            </a:extLst>
          </p:cNvPr>
          <p:cNvSpPr>
            <a:spLocks xmlns:a="http://schemas.openxmlformats.org/drawingml/2006/main" noGrp="1"/>
          </p:cNvSpPr>
          <p:nvPr/>
        </p:nvSpPr>
        <p:spPr>
          <a:xfrm xmlns:a="http://schemas.openxmlformats.org/drawingml/2006/main">
            <a:off x="1981200" y="54673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1">
                <a:solidFill>
                  <a:srgbClr val="111827"/>
                </a:solidFill>
                <a:latin typeface="Hiragino Sans"/>
                <a:ea typeface="Hiragino Sans"/>
                <a:cs typeface="Hiragino Sans"/>
              </a:defRPr>
            </a:pPr>
            <a:r>
              <a:rPr sz="1575" b="1">
                <a:solidFill>
                  <a:srgbClr val="111827"/>
                </a:solidFill>
                <a:latin typeface="Hiragino Sans"/>
                <a:ea typeface="Hiragino Sans"/>
                <a:cs typeface="Hiragino Sans"/>
              </a:rPr>
              <a:t>重みは因果効果ではなく、この乗客・生存クラス・この近傍だけの近似結果</a:t>
            </a:r>
          </a:p>
        </p:txBody>
      </p:sp>
      <p:sp>
        <p:nvSpPr>
          <p:cNvPr id="27" name="正方形/長方形 26">
            <a:extLst xmlns:a="http://schemas.openxmlformats.org/drawingml/2006/main">
              <a:ext uri="{FF2B5EF4-FFF2-40B4-BE49-F238E27FC236}">
                <a16:creationId xmlns:a16="http://schemas.microsoft.com/office/drawing/2014/main" id="{2DEDBB1A-F4A2-4523-A68B-703180D190BC}"/>
              </a:ext>
            </a:extLst>
          </p:cNvPr>
          <p:cNvSpPr>
            <a:spLocks xmlns:a="http://schemas.openxmlformats.org/drawingml/2006/main" noGrp="1"/>
          </p:cNvSpPr>
          <p:nvPr/>
        </p:nvSpPr>
        <p:spPr>
          <a:xfrm xmlns:a="http://schemas.openxmlformats.org/drawingml/2006/main">
            <a:off x="8572500" y="61912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 棒の値は説明用の模式値</a:t>
            </a:r>
          </a:p>
        </p:txBody>
      </p:sp>
    </p:spTree>
    <p:extLst>
      <p:ext uri="{BB962C8B-B14F-4D97-AF65-F5344CB8AC3E}">
        <p14:creationId xmlns:p14="http://schemas.microsoft.com/office/powerpoint/2010/main" val="20195429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ccent-bar">
            <a:extLst xmlns:a="http://schemas.openxmlformats.org/drawingml/2006/main">
              <a:ext uri="{FF2B5EF4-FFF2-40B4-BE49-F238E27FC236}">
                <a16:creationId xmlns:a16="http://schemas.microsoft.com/office/drawing/2014/main" id="{39E9CD81-7E73-4DA9-A3DE-11867833E1E9}"/>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title">
            <a:extLst xmlns:a="http://schemas.openxmlformats.org/drawingml/2006/main">
              <a:ext uri="{FF2B5EF4-FFF2-40B4-BE49-F238E27FC236}">
                <a16:creationId xmlns:a16="http://schemas.microsoft.com/office/drawing/2014/main" id="{6478BF3A-84FA-4CDA-9D91-28A0D13128DC}"/>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目次</a:t>
            </a:r>
          </a:p>
        </p:txBody>
      </p:sp>
      <p:sp>
        <p:nvSpPr>
          <p:cNvPr id="4" name="subtitle">
            <a:extLst xmlns:a="http://schemas.openxmlformats.org/drawingml/2006/main">
              <a:ext uri="{FF2B5EF4-FFF2-40B4-BE49-F238E27FC236}">
                <a16:creationId xmlns:a16="http://schemas.microsoft.com/office/drawing/2014/main" id="{D6E91FE2-77BE-4E13-805E-1C4B278216C6}"/>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これから「多クラスLIMEの課題と関連研究」を話す</a:t>
            </a:r>
          </a:p>
        </p:txBody>
      </p:sp>
      <p:sp>
        <p:nvSpPr>
          <p:cNvPr id="5" name="footer-num">
            <a:extLst xmlns:a="http://schemas.openxmlformats.org/drawingml/2006/main">
              <a:ext uri="{FF2B5EF4-FFF2-40B4-BE49-F238E27FC236}">
                <a16:creationId xmlns:a16="http://schemas.microsoft.com/office/drawing/2014/main" id="{5CD96354-8BB2-4C95-91FD-A4D713FBBB44}"/>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07</a:t>
            </a:r>
          </a:p>
        </p:txBody>
      </p:sp>
      <p:sp>
        <p:nvSpPr>
          <p:cNvPr id="6" name="toc-num-0">
            <a:extLst xmlns:a="http://schemas.openxmlformats.org/drawingml/2006/main">
              <a:ext uri="{FF2B5EF4-FFF2-40B4-BE49-F238E27FC236}">
                <a16:creationId xmlns:a16="http://schemas.microsoft.com/office/drawing/2014/main" id="{14630FFF-FAAD-40CB-9F92-7AA4761F20AD}"/>
              </a:ext>
            </a:extLst>
          </p:cNvPr>
          <p:cNvSpPr>
            <a:spLocks xmlns:a="http://schemas.openxmlformats.org/drawingml/2006/main" noGrp="1"/>
          </p:cNvSpPr>
          <p:nvPr/>
        </p:nvSpPr>
        <p:spPr>
          <a:xfrm xmlns:a="http://schemas.openxmlformats.org/drawingml/2006/main">
            <a:off x="1000000" y="11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01</a:t>
            </a:r>
          </a:p>
        </p:txBody>
      </p:sp>
      <p:sp>
        <p:nvSpPr>
          <p:cNvPr id="7" name="toc-title-0">
            <a:extLst xmlns:a="http://schemas.openxmlformats.org/drawingml/2006/main">
              <a:ext uri="{FF2B5EF4-FFF2-40B4-BE49-F238E27FC236}">
                <a16:creationId xmlns:a16="http://schemas.microsoft.com/office/drawing/2014/main" id="{4AFCFD19-F636-453A-92D5-689FD82DCD1A}"/>
              </a:ext>
            </a:extLst>
          </p:cNvPr>
          <p:cNvSpPr>
            <a:spLocks xmlns:a="http://schemas.openxmlformats.org/drawingml/2006/main" noGrp="1"/>
          </p:cNvSpPr>
          <p:nvPr/>
        </p:nvSpPr>
        <p:spPr>
          <a:xfrm xmlns:a="http://schemas.openxmlformats.org/drawingml/2006/main">
            <a:off x="2100000" y="13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導入・LIMEの基礎</a:t>
            </a:r>
          </a:p>
        </p:txBody>
      </p:sp>
      <p:sp>
        <p:nvSpPr>
          <p:cNvPr id="8" name="toc-desc-0">
            <a:extLst xmlns:a="http://schemas.openxmlformats.org/drawingml/2006/main">
              <a:ext uri="{FF2B5EF4-FFF2-40B4-BE49-F238E27FC236}">
                <a16:creationId xmlns:a16="http://schemas.microsoft.com/office/drawing/2014/main" id="{89CF8761-B5EA-4E66-A275-D0633F9BD529}"/>
              </a:ext>
            </a:extLst>
          </p:cNvPr>
          <p:cNvSpPr>
            <a:spLocks xmlns:a="http://schemas.openxmlformats.org/drawingml/2006/main" noGrp="1"/>
          </p:cNvSpPr>
          <p:nvPr/>
        </p:nvSpPr>
        <p:spPr>
          <a:xfrm xmlns:a="http://schemas.openxmlformats.org/drawingml/2006/main">
            <a:off x="2100000" y="17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XAIとLIMEの仕組み、局所説明の考え方を確認する</a:t>
            </a:r>
          </a:p>
        </p:txBody>
      </p:sp>
      <p:sp>
        <p:nvSpPr>
          <p:cNvPr id="9" name="toc-pages-0">
            <a:extLst xmlns:a="http://schemas.openxmlformats.org/drawingml/2006/main">
              <a:ext uri="{FF2B5EF4-FFF2-40B4-BE49-F238E27FC236}">
                <a16:creationId xmlns:a16="http://schemas.microsoft.com/office/drawing/2014/main" id="{21696CB1-84F7-4C84-A744-824812D1E6A0}"/>
              </a:ext>
            </a:extLst>
          </p:cNvPr>
          <p:cNvSpPr>
            <a:spLocks xmlns:a="http://schemas.openxmlformats.org/drawingml/2006/main" noGrp="1"/>
          </p:cNvSpPr>
          <p:nvPr/>
        </p:nvSpPr>
        <p:spPr>
          <a:xfrm xmlns:a="http://schemas.openxmlformats.org/drawingml/2006/main">
            <a:off x="9700000" y="11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p.03-06</a:t>
            </a:r>
          </a:p>
        </p:txBody>
      </p:sp>
      <p:sp>
        <p:nvSpPr>
          <p:cNvPr id="10" name="toc-row-bg-1">
            <a:extLst xmlns:a="http://schemas.openxmlformats.org/drawingml/2006/main">
              <a:ext uri="{FF2B5EF4-FFF2-40B4-BE49-F238E27FC236}">
                <a16:creationId xmlns:a16="http://schemas.microsoft.com/office/drawing/2014/main" id="{C1CAE9BE-7336-4DD9-9C3F-A9605A4645A3}"/>
              </a:ext>
            </a:extLst>
          </p:cNvPr>
          <p:cNvSpPr>
            <a:spLocks xmlns:a="http://schemas.openxmlformats.org/drawingml/2006/main" noGrp="1"/>
          </p:cNvSpPr>
          <p:nvPr/>
        </p:nvSpPr>
        <p:spPr>
          <a:xfrm xmlns:a="http://schemas.openxmlformats.org/drawingml/2006/main">
            <a:off x="762000" y="2340000"/>
            <a:ext cx="10668000" cy="1070000"/>
          </a:xfrm>
          <a:prstGeom xmlns:a="http://schemas.openxmlformats.org/drawingml/2006/main" prst="roundRect">
            <a:avLst>
              <a:gd name="adj" fmla="val 8000"/>
            </a:avLst>
          </a:prstGeom>
          <a:solidFill xmlns:a="http://schemas.openxmlformats.org/drawingml/2006/main">
            <a:srgbClr val="EAF4F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1" name="toc-row-accent-1">
            <a:extLst xmlns:a="http://schemas.openxmlformats.org/drawingml/2006/main">
              <a:ext uri="{FF2B5EF4-FFF2-40B4-BE49-F238E27FC236}">
                <a16:creationId xmlns:a16="http://schemas.microsoft.com/office/drawing/2014/main" id="{7647F41D-DB2D-4F5A-9B37-D89E7773D744}"/>
              </a:ext>
            </a:extLst>
          </p:cNvPr>
          <p:cNvSpPr>
            <a:spLocks xmlns:a="http://schemas.openxmlformats.org/drawingml/2006/main" noGrp="1"/>
          </p:cNvSpPr>
          <p:nvPr/>
        </p:nvSpPr>
        <p:spPr>
          <a:xfrm xmlns:a="http://schemas.openxmlformats.org/drawingml/2006/main">
            <a:off x="762000" y="2340000"/>
            <a:ext cx="76200" cy="107000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toc-num-1">
            <a:extLst xmlns:a="http://schemas.openxmlformats.org/drawingml/2006/main">
              <a:ext uri="{FF2B5EF4-FFF2-40B4-BE49-F238E27FC236}">
                <a16:creationId xmlns:a16="http://schemas.microsoft.com/office/drawing/2014/main" id="{7864A3BC-1DF8-4FEE-9316-BC5B53799A5B}"/>
              </a:ext>
            </a:extLst>
          </p:cNvPr>
          <p:cNvSpPr>
            <a:spLocks xmlns:a="http://schemas.openxmlformats.org/drawingml/2006/main" noGrp="1"/>
          </p:cNvSpPr>
          <p:nvPr/>
        </p:nvSpPr>
        <p:spPr>
          <a:xfrm xmlns:a="http://schemas.openxmlformats.org/drawingml/2006/main">
            <a:off x="1000000" y="23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1479C9"/>
                </a:solidFill>
                <a:latin typeface="Hiragino Sans"/>
                <a:ea typeface="Hiragino Sans"/>
                <a:cs typeface="Hiragino Sans"/>
              </a:defRPr>
            </a:pPr>
            <a:r>
              <a:rPr sz="3600" b="1">
                <a:solidFill>
                  <a:srgbClr val="1479C9"/>
                </a:solidFill>
                <a:latin typeface="Hiragino Sans"/>
                <a:ea typeface="Hiragino Sans"/>
                <a:cs typeface="Hiragino Sans"/>
              </a:rPr>
              <a:t>02</a:t>
            </a:r>
          </a:p>
        </p:txBody>
      </p:sp>
      <p:sp>
        <p:nvSpPr>
          <p:cNvPr id="13" name="toc-title-1">
            <a:extLst xmlns:a="http://schemas.openxmlformats.org/drawingml/2006/main">
              <a:ext uri="{FF2B5EF4-FFF2-40B4-BE49-F238E27FC236}">
                <a16:creationId xmlns:a16="http://schemas.microsoft.com/office/drawing/2014/main" id="{037510A1-C1C6-4251-AE6E-F5C19B0D67CF}"/>
              </a:ext>
            </a:extLst>
          </p:cNvPr>
          <p:cNvSpPr>
            <a:spLocks xmlns:a="http://schemas.openxmlformats.org/drawingml/2006/main" noGrp="1"/>
          </p:cNvSpPr>
          <p:nvPr/>
        </p:nvSpPr>
        <p:spPr>
          <a:xfrm xmlns:a="http://schemas.openxmlformats.org/drawingml/2006/main">
            <a:off x="2100000" y="24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17233D"/>
                </a:solidFill>
                <a:latin typeface="Hiragino Sans"/>
                <a:ea typeface="Hiragino Sans"/>
                <a:cs typeface="Hiragino Sans"/>
              </a:defRPr>
            </a:pPr>
            <a:r>
              <a:rPr sz="1900" b="1">
                <a:solidFill>
                  <a:srgbClr val="17233D"/>
                </a:solidFill>
                <a:latin typeface="Hiragino Sans"/>
                <a:ea typeface="Hiragino Sans"/>
                <a:cs typeface="Hiragino Sans"/>
              </a:rPr>
              <a:t>多クラスLIMEの課題と関連研究</a:t>
            </a:r>
          </a:p>
        </p:txBody>
      </p:sp>
      <p:sp>
        <p:nvSpPr>
          <p:cNvPr id="14" name="toc-desc-1">
            <a:extLst xmlns:a="http://schemas.openxmlformats.org/drawingml/2006/main">
              <a:ext uri="{FF2B5EF4-FFF2-40B4-BE49-F238E27FC236}">
                <a16:creationId xmlns:a16="http://schemas.microsoft.com/office/drawing/2014/main" id="{67EAFD5D-C028-4C32-A40E-A46AF9FF574A}"/>
              </a:ext>
            </a:extLst>
          </p:cNvPr>
          <p:cNvSpPr>
            <a:spLocks xmlns:a="http://schemas.openxmlformats.org/drawingml/2006/main" noGrp="1"/>
          </p:cNvSpPr>
          <p:nvPr/>
        </p:nvSpPr>
        <p:spPr>
          <a:xfrm xmlns:a="http://schemas.openxmlformats.org/drawingml/2006/main">
            <a:off x="2100000" y="29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687386"/>
                </a:solidFill>
                <a:latin typeface="Hiragino Sans"/>
                <a:ea typeface="Hiragino Sans"/>
                <a:cs typeface="Hiragino Sans"/>
              </a:defRPr>
            </a:pPr>
            <a:r>
              <a:rPr sz="1250" b="0">
                <a:solidFill>
                  <a:srgbClr val="687386"/>
                </a:solidFill>
                <a:latin typeface="Hiragino Sans"/>
                <a:ea typeface="Hiragino Sans"/>
                <a:cs typeface="Hiragino Sans"/>
              </a:rPr>
              <a:t>one-vs-rest型の限界と、LIMEtreeなど関連手法を整理する</a:t>
            </a:r>
          </a:p>
        </p:txBody>
      </p:sp>
      <p:sp>
        <p:nvSpPr>
          <p:cNvPr id="15" name="toc-pages-1">
            <a:extLst xmlns:a="http://schemas.openxmlformats.org/drawingml/2006/main">
              <a:ext uri="{FF2B5EF4-FFF2-40B4-BE49-F238E27FC236}">
                <a16:creationId xmlns:a16="http://schemas.microsoft.com/office/drawing/2014/main" id="{51B98897-28FE-4237-85C7-B781E9B86F55}"/>
              </a:ext>
            </a:extLst>
          </p:cNvPr>
          <p:cNvSpPr>
            <a:spLocks xmlns:a="http://schemas.openxmlformats.org/drawingml/2006/main" noGrp="1"/>
          </p:cNvSpPr>
          <p:nvPr/>
        </p:nvSpPr>
        <p:spPr>
          <a:xfrm xmlns:a="http://schemas.openxmlformats.org/drawingml/2006/main">
            <a:off x="9700000" y="23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1479C9"/>
                </a:solidFill>
                <a:latin typeface="Hiragino Sans"/>
                <a:ea typeface="Hiragino Sans"/>
                <a:cs typeface="Hiragino Sans"/>
              </a:defRPr>
            </a:pPr>
            <a:r>
              <a:rPr sz="1300" b="1">
                <a:solidFill>
                  <a:srgbClr val="1479C9"/>
                </a:solidFill>
                <a:latin typeface="Hiragino Sans"/>
                <a:ea typeface="Hiragino Sans"/>
                <a:cs typeface="Hiragino Sans"/>
              </a:rPr>
              <a:t>p.08-12</a:t>
            </a:r>
          </a:p>
        </p:txBody>
      </p:sp>
      <p:sp>
        <p:nvSpPr>
          <p:cNvPr id="16" name="toc-num-2">
            <a:extLst xmlns:a="http://schemas.openxmlformats.org/drawingml/2006/main">
              <a:ext uri="{FF2B5EF4-FFF2-40B4-BE49-F238E27FC236}">
                <a16:creationId xmlns:a16="http://schemas.microsoft.com/office/drawing/2014/main" id="{74717285-B3D6-47B6-9A70-B9C2B6C22EA6}"/>
              </a:ext>
            </a:extLst>
          </p:cNvPr>
          <p:cNvSpPr>
            <a:spLocks xmlns:a="http://schemas.openxmlformats.org/drawingml/2006/main" noGrp="1"/>
          </p:cNvSpPr>
          <p:nvPr/>
        </p:nvSpPr>
        <p:spPr>
          <a:xfrm xmlns:a="http://schemas.openxmlformats.org/drawingml/2006/main">
            <a:off x="1000000" y="34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03</a:t>
            </a:r>
          </a:p>
        </p:txBody>
      </p:sp>
      <p:sp>
        <p:nvSpPr>
          <p:cNvPr id="17" name="toc-title-2">
            <a:extLst xmlns:a="http://schemas.openxmlformats.org/drawingml/2006/main">
              <a:ext uri="{FF2B5EF4-FFF2-40B4-BE49-F238E27FC236}">
                <a16:creationId xmlns:a16="http://schemas.microsoft.com/office/drawing/2014/main" id="{BBD43E77-7429-4FF8-B764-F39C21051BCD}"/>
              </a:ext>
            </a:extLst>
          </p:cNvPr>
          <p:cNvSpPr>
            <a:spLocks xmlns:a="http://schemas.openxmlformats.org/drawingml/2006/main" noGrp="1"/>
          </p:cNvSpPr>
          <p:nvPr/>
        </p:nvSpPr>
        <p:spPr>
          <a:xfrm xmlns:a="http://schemas.openxmlformats.org/drawingml/2006/main">
            <a:off x="2100000" y="36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提案手法・評価設計</a:t>
            </a:r>
          </a:p>
        </p:txBody>
      </p:sp>
      <p:sp>
        <p:nvSpPr>
          <p:cNvPr id="18" name="toc-desc-2">
            <a:extLst xmlns:a="http://schemas.openxmlformats.org/drawingml/2006/main">
              <a:ext uri="{FF2B5EF4-FFF2-40B4-BE49-F238E27FC236}">
                <a16:creationId xmlns:a16="http://schemas.microsoft.com/office/drawing/2014/main" id="{8AF17CA3-0343-43B4-BAD4-90B1C4EE6059}"/>
              </a:ext>
            </a:extLst>
          </p:cNvPr>
          <p:cNvSpPr>
            <a:spLocks xmlns:a="http://schemas.openxmlformats.org/drawingml/2006/main" noGrp="1"/>
          </p:cNvSpPr>
          <p:nvPr/>
        </p:nvSpPr>
        <p:spPr>
          <a:xfrm xmlns:a="http://schemas.openxmlformats.org/drawingml/2006/main">
            <a:off x="2100000" y="40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Top-1/Top-2に絞る提案と、比較のための評価設計を示す</a:t>
            </a:r>
          </a:p>
        </p:txBody>
      </p:sp>
      <p:sp>
        <p:nvSpPr>
          <p:cNvPr id="19" name="toc-pages-2">
            <a:extLst xmlns:a="http://schemas.openxmlformats.org/drawingml/2006/main">
              <a:ext uri="{FF2B5EF4-FFF2-40B4-BE49-F238E27FC236}">
                <a16:creationId xmlns:a16="http://schemas.microsoft.com/office/drawing/2014/main" id="{B95698F0-E127-4A9A-80BF-878B2A440C25}"/>
              </a:ext>
            </a:extLst>
          </p:cNvPr>
          <p:cNvSpPr>
            <a:spLocks xmlns:a="http://schemas.openxmlformats.org/drawingml/2006/main" noGrp="1"/>
          </p:cNvSpPr>
          <p:nvPr/>
        </p:nvSpPr>
        <p:spPr>
          <a:xfrm xmlns:a="http://schemas.openxmlformats.org/drawingml/2006/main">
            <a:off x="9700000" y="34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p.14-16</a:t>
            </a:r>
          </a:p>
        </p:txBody>
      </p:sp>
      <p:sp>
        <p:nvSpPr>
          <p:cNvPr id="20" name="toc-num-3">
            <a:extLst xmlns:a="http://schemas.openxmlformats.org/drawingml/2006/main">
              <a:ext uri="{FF2B5EF4-FFF2-40B4-BE49-F238E27FC236}">
                <a16:creationId xmlns:a16="http://schemas.microsoft.com/office/drawing/2014/main" id="{D79F03A9-FC9C-4EF8-9432-97D1914943C1}"/>
              </a:ext>
            </a:extLst>
          </p:cNvPr>
          <p:cNvSpPr>
            <a:spLocks xmlns:a="http://schemas.openxmlformats.org/drawingml/2006/main" noGrp="1"/>
          </p:cNvSpPr>
          <p:nvPr/>
        </p:nvSpPr>
        <p:spPr>
          <a:xfrm xmlns:a="http://schemas.openxmlformats.org/drawingml/2006/main">
            <a:off x="1000000" y="46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04</a:t>
            </a:r>
          </a:p>
        </p:txBody>
      </p:sp>
      <p:sp>
        <p:nvSpPr>
          <p:cNvPr id="21" name="toc-title-3">
            <a:extLst xmlns:a="http://schemas.openxmlformats.org/drawingml/2006/main">
              <a:ext uri="{FF2B5EF4-FFF2-40B4-BE49-F238E27FC236}">
                <a16:creationId xmlns:a16="http://schemas.microsoft.com/office/drawing/2014/main" id="{D3E2FD05-4AB8-41CF-B42E-28FDE509EB53}"/>
              </a:ext>
            </a:extLst>
          </p:cNvPr>
          <p:cNvSpPr>
            <a:spLocks xmlns:a="http://schemas.openxmlformats.org/drawingml/2006/main" noGrp="1"/>
          </p:cNvSpPr>
          <p:nvPr/>
        </p:nvSpPr>
        <p:spPr>
          <a:xfrm xmlns:a="http://schemas.openxmlformats.org/drawingml/2006/main">
            <a:off x="2100000" y="47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実験結果・考察・まとめ</a:t>
            </a:r>
          </a:p>
        </p:txBody>
      </p:sp>
      <p:sp>
        <p:nvSpPr>
          <p:cNvPr id="22" name="toc-desc-3">
            <a:extLst xmlns:a="http://schemas.openxmlformats.org/drawingml/2006/main">
              <a:ext uri="{FF2B5EF4-FFF2-40B4-BE49-F238E27FC236}">
                <a16:creationId xmlns:a16="http://schemas.microsoft.com/office/drawing/2014/main" id="{B4E46AC7-5CE4-42BE-BD6A-CED85ADB5C6A}"/>
              </a:ext>
            </a:extLst>
          </p:cNvPr>
          <p:cNvSpPr>
            <a:spLocks xmlns:a="http://schemas.openxmlformats.org/drawingml/2006/main" noGrp="1"/>
          </p:cNvSpPr>
          <p:nvPr/>
        </p:nvSpPr>
        <p:spPr>
          <a:xfrm xmlns:a="http://schemas.openxmlformats.org/drawingml/2006/main">
            <a:off x="2100000" y="52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実験結果を確認し、言えること・言えないことを整理する</a:t>
            </a:r>
          </a:p>
        </p:txBody>
      </p:sp>
      <p:sp>
        <p:nvSpPr>
          <p:cNvPr id="23" name="toc-pages-3">
            <a:extLst xmlns:a="http://schemas.openxmlformats.org/drawingml/2006/main">
              <a:ext uri="{FF2B5EF4-FFF2-40B4-BE49-F238E27FC236}">
                <a16:creationId xmlns:a16="http://schemas.microsoft.com/office/drawing/2014/main" id="{BD2218A1-13A5-4F18-BF34-AFC36C840527}"/>
              </a:ext>
            </a:extLst>
          </p:cNvPr>
          <p:cNvSpPr>
            <a:spLocks xmlns:a="http://schemas.openxmlformats.org/drawingml/2006/main" noGrp="1"/>
          </p:cNvSpPr>
          <p:nvPr/>
        </p:nvSpPr>
        <p:spPr>
          <a:xfrm xmlns:a="http://schemas.openxmlformats.org/drawingml/2006/main">
            <a:off x="9700000" y="46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p.18-21</a:t>
            </a:r>
          </a:p>
        </p:txBody>
      </p:sp>
    </p:spTree>
    <p:extLst>
      <p:ext uri="{BB962C8B-B14F-4D97-AF65-F5344CB8AC3E}">
        <p14:creationId xmlns:p14="http://schemas.microsoft.com/office/powerpoint/2010/main" val="8005197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正方形/長方形 42">
            <a:extLst xmlns:a="http://schemas.openxmlformats.org/drawingml/2006/main">
              <a:ext uri="{FF2B5EF4-FFF2-40B4-BE49-F238E27FC236}">
                <a16:creationId xmlns:a16="http://schemas.microsoft.com/office/drawing/2014/main" id="{75B03E4F-669E-46AD-8995-B735FDE175D7}"/>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6-title">
            <a:extLst xmlns:a="http://schemas.openxmlformats.org/drawingml/2006/main">
              <a:ext uri="{FF2B5EF4-FFF2-40B4-BE49-F238E27FC236}">
                <a16:creationId xmlns:a16="http://schemas.microsoft.com/office/drawing/2014/main" id="{EAE8545E-ADD6-41B6-B78C-F298C201E6FC}"/>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多クラスLIMEでは、クラスごとに説明モデルを作る</a:t>
            </a:r>
          </a:p>
        </p:txBody>
      </p:sp>
      <p:sp>
        <p:nvSpPr>
          <p:cNvPr id="3" name="slide-6-subtitle">
            <a:extLst xmlns:a="http://schemas.openxmlformats.org/drawingml/2006/main">
              <a:ext uri="{FF2B5EF4-FFF2-40B4-BE49-F238E27FC236}">
                <a16:creationId xmlns:a16="http://schemas.microsoft.com/office/drawing/2014/main" id="{7D7A67F1-99D4-4FF0-9338-FD431E7F19B9}"/>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2値的な説明を繰り返す、one-vs-rest型の展開</a:t>
            </a:r>
          </a:p>
        </p:txBody>
      </p:sp>
      <p:sp>
        <p:nvSpPr>
          <p:cNvPr id="4" name="正方形/長方形 3">
            <a:extLst xmlns:a="http://schemas.openxmlformats.org/drawingml/2006/main">
              <a:ext uri="{FF2B5EF4-FFF2-40B4-BE49-F238E27FC236}">
                <a16:creationId xmlns:a16="http://schemas.microsoft.com/office/drawing/2014/main" id="{74CF5398-4DDE-4122-95C2-612147B033A7}"/>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08</a:t>
            </a:r>
          </a:p>
        </p:txBody>
      </p:sp>
      <p:sp>
        <p:nvSpPr>
          <p:cNvPr id="5" name="右矢印 4">
            <a:extLst xmlns:a="http://schemas.openxmlformats.org/drawingml/2006/main">
              <a:ext uri="{FF2B5EF4-FFF2-40B4-BE49-F238E27FC236}">
                <a16:creationId xmlns:a16="http://schemas.microsoft.com/office/drawing/2014/main" id="{5ACB84A2-B2FD-41BB-A309-5E19CCC1E01F}"/>
              </a:ext>
            </a:extLst>
          </p:cNvPr>
          <p:cNvSpPr>
            <a:spLocks xmlns:a="http://schemas.openxmlformats.org/drawingml/2006/main" noGrp="1"/>
          </p:cNvSpPr>
          <p:nvPr/>
        </p:nvSpPr>
        <p:spPr>
          <a:xfrm xmlns:a="http://schemas.openxmlformats.org/drawingml/2006/main">
            <a:off x="2857500" y="2886075"/>
            <a:ext cx="723900" cy="2857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A392FB28-107F-4343-B6F4-C01FC65427E6}"/>
              </a:ext>
            </a:extLst>
          </p:cNvPr>
          <p:cNvSpPr>
            <a:spLocks xmlns:a="http://schemas.openxmlformats.org/drawingml/2006/main" noGrp="1"/>
          </p:cNvSpPr>
          <p:nvPr/>
        </p:nvSpPr>
        <p:spPr>
          <a:xfrm xmlns:a="http://schemas.openxmlformats.org/drawingml/2006/main">
            <a:off x="5572125" y="18573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2C44CEEF-A69A-4B94-B7C1-F1084EEA7A7D}"/>
              </a:ext>
            </a:extLst>
          </p:cNvPr>
          <p:cNvSpPr>
            <a:spLocks xmlns:a="http://schemas.openxmlformats.org/drawingml/2006/main" noGrp="1"/>
          </p:cNvSpPr>
          <p:nvPr/>
        </p:nvSpPr>
        <p:spPr>
          <a:xfrm xmlns:a="http://schemas.openxmlformats.org/drawingml/2006/main">
            <a:off x="5572125" y="30765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右矢印 7">
            <a:extLst xmlns:a="http://schemas.openxmlformats.org/drawingml/2006/main">
              <a:ext uri="{FF2B5EF4-FFF2-40B4-BE49-F238E27FC236}">
                <a16:creationId xmlns:a16="http://schemas.microsoft.com/office/drawing/2014/main" id="{165C1FB6-07EB-4CB8-A00E-804DB69EC155}"/>
              </a:ext>
            </a:extLst>
          </p:cNvPr>
          <p:cNvSpPr>
            <a:spLocks xmlns:a="http://schemas.openxmlformats.org/drawingml/2006/main" noGrp="1"/>
          </p:cNvSpPr>
          <p:nvPr/>
        </p:nvSpPr>
        <p:spPr>
          <a:xfrm xmlns:a="http://schemas.openxmlformats.org/drawingml/2006/main">
            <a:off x="5572125" y="42957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B39B1DB8-1FB2-471E-B6F3-89D503FC4611}"/>
              </a:ext>
            </a:extLst>
          </p:cNvPr>
          <p:cNvSpPr>
            <a:spLocks xmlns:a="http://schemas.openxmlformats.org/drawingml/2006/main" noGrp="1"/>
          </p:cNvSpPr>
          <p:nvPr/>
        </p:nvSpPr>
        <p:spPr>
          <a:xfrm xmlns:a="http://schemas.openxmlformats.org/drawingml/2006/main">
            <a:off x="523875" y="1857375"/>
            <a:ext cx="2286000" cy="31432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ECC3310B-ED7E-41DB-8E88-B208F1B965FD}"/>
              </a:ext>
            </a:extLst>
          </p:cNvPr>
          <p:cNvSpPr>
            <a:spLocks xmlns:a="http://schemas.openxmlformats.org/drawingml/2006/main" noGrp="1"/>
          </p:cNvSpPr>
          <p:nvPr/>
        </p:nvSpPr>
        <p:spPr>
          <a:xfrm xmlns:a="http://schemas.openxmlformats.org/drawingml/2006/main">
            <a:off x="762000" y="20764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1">
                <a:solidFill>
                  <a:srgbClr val="111827"/>
                </a:solidFill>
                <a:latin typeface="Hiragino Sans"/>
                <a:ea typeface="Hiragino Sans"/>
                <a:cs typeface="Hiragino Sans"/>
              </a:defRPr>
            </a:pPr>
            <a:r>
              <a:rPr sz="1800" b="1">
                <a:solidFill>
                  <a:srgbClr val="111827"/>
                </a:solidFill>
                <a:latin typeface="Hiragino Sans"/>
                <a:ea typeface="Hiragino Sans"/>
                <a:cs typeface="Hiragino Sans"/>
              </a:rPr>
              <a:t>共通の近傍</a:t>
            </a:r>
          </a:p>
        </p:txBody>
      </p:sp>
      <p:sp>
        <p:nvSpPr>
          <p:cNvPr id="11" name="円/楕円 10">
            <a:extLst xmlns:a="http://schemas.openxmlformats.org/drawingml/2006/main">
              <a:ext uri="{FF2B5EF4-FFF2-40B4-BE49-F238E27FC236}">
                <a16:creationId xmlns:a16="http://schemas.microsoft.com/office/drawing/2014/main" id="{01B85A78-2D60-48C7-A83B-A0DC863F63B7}"/>
              </a:ext>
            </a:extLst>
          </p:cNvPr>
          <p:cNvSpPr>
            <a:spLocks xmlns:a="http://schemas.openxmlformats.org/drawingml/2006/main" noGrp="1"/>
          </p:cNvSpPr>
          <p:nvPr/>
        </p:nvSpPr>
        <p:spPr>
          <a:xfrm xmlns:a="http://schemas.openxmlformats.org/drawingml/2006/main">
            <a:off x="876300" y="27146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円/楕円 11">
            <a:extLst xmlns:a="http://schemas.openxmlformats.org/drawingml/2006/main">
              <a:ext uri="{FF2B5EF4-FFF2-40B4-BE49-F238E27FC236}">
                <a16:creationId xmlns:a16="http://schemas.microsoft.com/office/drawing/2014/main" id="{6CBDA8EC-D3BF-4CE2-976C-79E5688F6167}"/>
              </a:ext>
            </a:extLst>
          </p:cNvPr>
          <p:cNvSpPr>
            <a:spLocks xmlns:a="http://schemas.openxmlformats.org/drawingml/2006/main" noGrp="1"/>
          </p:cNvSpPr>
          <p:nvPr/>
        </p:nvSpPr>
        <p:spPr>
          <a:xfrm xmlns:a="http://schemas.openxmlformats.org/drawingml/2006/main">
            <a:off x="1381125" y="254317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円/楕円 12">
            <a:extLst xmlns:a="http://schemas.openxmlformats.org/drawingml/2006/main">
              <a:ext uri="{FF2B5EF4-FFF2-40B4-BE49-F238E27FC236}">
                <a16:creationId xmlns:a16="http://schemas.microsoft.com/office/drawing/2014/main" id="{026CD661-73C3-443A-A206-C05145151C63}"/>
              </a:ext>
            </a:extLst>
          </p:cNvPr>
          <p:cNvSpPr>
            <a:spLocks xmlns:a="http://schemas.openxmlformats.org/drawingml/2006/main" noGrp="1"/>
          </p:cNvSpPr>
          <p:nvPr/>
        </p:nvSpPr>
        <p:spPr>
          <a:xfrm xmlns:a="http://schemas.openxmlformats.org/drawingml/2006/main">
            <a:off x="1857375" y="280987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円/楕円 13">
            <a:extLst xmlns:a="http://schemas.openxmlformats.org/drawingml/2006/main">
              <a:ext uri="{FF2B5EF4-FFF2-40B4-BE49-F238E27FC236}">
                <a16:creationId xmlns:a16="http://schemas.microsoft.com/office/drawing/2014/main" id="{F1EC58DC-F218-4D0C-A358-C41509E3EE9E}"/>
              </a:ext>
            </a:extLst>
          </p:cNvPr>
          <p:cNvSpPr>
            <a:spLocks xmlns:a="http://schemas.openxmlformats.org/drawingml/2006/main" noGrp="1"/>
          </p:cNvSpPr>
          <p:nvPr/>
        </p:nvSpPr>
        <p:spPr>
          <a:xfrm xmlns:a="http://schemas.openxmlformats.org/drawingml/2006/main">
            <a:off x="1047750" y="333375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円/楕円 14">
            <a:extLst xmlns:a="http://schemas.openxmlformats.org/drawingml/2006/main">
              <a:ext uri="{FF2B5EF4-FFF2-40B4-BE49-F238E27FC236}">
                <a16:creationId xmlns:a16="http://schemas.microsoft.com/office/drawing/2014/main" id="{934DBD67-38F1-4FBE-A736-EB420663EFC3}"/>
              </a:ext>
            </a:extLst>
          </p:cNvPr>
          <p:cNvSpPr>
            <a:spLocks xmlns:a="http://schemas.openxmlformats.org/drawingml/2006/main" noGrp="1"/>
          </p:cNvSpPr>
          <p:nvPr/>
        </p:nvSpPr>
        <p:spPr>
          <a:xfrm xmlns:a="http://schemas.openxmlformats.org/drawingml/2006/main">
            <a:off x="1619250" y="3190875"/>
            <a:ext cx="209550" cy="2095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円/楕円 15">
            <a:extLst xmlns:a="http://schemas.openxmlformats.org/drawingml/2006/main">
              <a:ext uri="{FF2B5EF4-FFF2-40B4-BE49-F238E27FC236}">
                <a16:creationId xmlns:a16="http://schemas.microsoft.com/office/drawing/2014/main" id="{D578EFED-1FD7-4D4E-A728-4ACE43991B88}"/>
              </a:ext>
            </a:extLst>
          </p:cNvPr>
          <p:cNvSpPr>
            <a:spLocks xmlns:a="http://schemas.openxmlformats.org/drawingml/2006/main" noGrp="1"/>
          </p:cNvSpPr>
          <p:nvPr/>
        </p:nvSpPr>
        <p:spPr>
          <a:xfrm xmlns:a="http://schemas.openxmlformats.org/drawingml/2006/main">
            <a:off x="2143125" y="34766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円/楕円 16">
            <a:extLst xmlns:a="http://schemas.openxmlformats.org/drawingml/2006/main">
              <a:ext uri="{FF2B5EF4-FFF2-40B4-BE49-F238E27FC236}">
                <a16:creationId xmlns:a16="http://schemas.microsoft.com/office/drawing/2014/main" id="{E23878D3-1F65-4C95-B888-CF9837DCBC37}"/>
              </a:ext>
            </a:extLst>
          </p:cNvPr>
          <p:cNvSpPr>
            <a:spLocks xmlns:a="http://schemas.openxmlformats.org/drawingml/2006/main" noGrp="1"/>
          </p:cNvSpPr>
          <p:nvPr/>
        </p:nvSpPr>
        <p:spPr>
          <a:xfrm xmlns:a="http://schemas.openxmlformats.org/drawingml/2006/main">
            <a:off x="1238250" y="400050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円/楕円 17">
            <a:extLst xmlns:a="http://schemas.openxmlformats.org/drawingml/2006/main">
              <a:ext uri="{FF2B5EF4-FFF2-40B4-BE49-F238E27FC236}">
                <a16:creationId xmlns:a16="http://schemas.microsoft.com/office/drawing/2014/main" id="{5100B1EE-BF39-4B7B-A678-827873C70574}"/>
              </a:ext>
            </a:extLst>
          </p:cNvPr>
          <p:cNvSpPr>
            <a:spLocks xmlns:a="http://schemas.openxmlformats.org/drawingml/2006/main" noGrp="1"/>
          </p:cNvSpPr>
          <p:nvPr/>
        </p:nvSpPr>
        <p:spPr>
          <a:xfrm xmlns:a="http://schemas.openxmlformats.org/drawingml/2006/main">
            <a:off x="1952625" y="419100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円/楕円 18">
            <a:extLst xmlns:a="http://schemas.openxmlformats.org/drawingml/2006/main">
              <a:ext uri="{FF2B5EF4-FFF2-40B4-BE49-F238E27FC236}">
                <a16:creationId xmlns:a16="http://schemas.microsoft.com/office/drawing/2014/main" id="{1C309830-12CF-47B5-8846-6EFD0A3BA2B1}"/>
              </a:ext>
            </a:extLst>
          </p:cNvPr>
          <p:cNvSpPr>
            <a:spLocks xmlns:a="http://schemas.openxmlformats.org/drawingml/2006/main" noGrp="1"/>
          </p:cNvSpPr>
          <p:nvPr/>
        </p:nvSpPr>
        <p:spPr>
          <a:xfrm xmlns:a="http://schemas.openxmlformats.org/drawingml/2006/main">
            <a:off x="857250" y="44291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6EB69FA6-29D6-4F32-B3CD-AFB9F1E8896A}"/>
              </a:ext>
            </a:extLst>
          </p:cNvPr>
          <p:cNvSpPr>
            <a:spLocks xmlns:a="http://schemas.openxmlformats.org/drawingml/2006/main" noGrp="1"/>
          </p:cNvSpPr>
          <p:nvPr/>
        </p:nvSpPr>
        <p:spPr>
          <a:xfrm xmlns:a="http://schemas.openxmlformats.org/drawingml/2006/main">
            <a:off x="742950" y="4619625"/>
            <a:ext cx="1857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00" b="0">
                <a:solidFill>
                  <a:srgbClr val="64748B"/>
                </a:solidFill>
                <a:latin typeface="Hiragino Sans"/>
                <a:ea typeface="Hiragino Sans"/>
                <a:cs typeface="Hiragino Sans"/>
              </a:defRPr>
            </a:pPr>
            <a:r>
              <a:rPr sz="1200" b="0">
                <a:solidFill>
                  <a:srgbClr val="64748B"/>
                </a:solidFill>
                <a:latin typeface="Hiragino Sans"/>
                <a:ea typeface="Hiragino Sans"/>
                <a:cs typeface="Hiragino Sans"/>
              </a:rPr>
              <a:t>同じサンプル群を使う</a:t>
            </a:r>
          </a:p>
        </p:txBody>
      </p:sp>
      <p:sp>
        <p:nvSpPr>
          <p:cNvPr id="21" name="正方形/長方形 20">
            <a:extLst xmlns:a="http://schemas.openxmlformats.org/drawingml/2006/main">
              <a:ext uri="{FF2B5EF4-FFF2-40B4-BE49-F238E27FC236}">
                <a16:creationId xmlns:a16="http://schemas.microsoft.com/office/drawing/2014/main" id="{EC800AE9-FCD9-4B0D-BC1D-B489750278D8}"/>
              </a:ext>
            </a:extLst>
          </p:cNvPr>
          <p:cNvSpPr>
            <a:spLocks xmlns:a="http://schemas.openxmlformats.org/drawingml/2006/main" noGrp="1"/>
          </p:cNvSpPr>
          <p:nvPr/>
        </p:nvSpPr>
        <p:spPr>
          <a:xfrm xmlns:a="http://schemas.openxmlformats.org/drawingml/2006/main">
            <a:off x="3619500" y="2428875"/>
            <a:ext cx="1905000" cy="12192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B87FBE58-0834-42B8-8F43-85E76B45EFEB}"/>
              </a:ext>
            </a:extLst>
          </p:cNvPr>
          <p:cNvSpPr>
            <a:spLocks xmlns:a="http://schemas.openxmlformats.org/drawingml/2006/main" noGrp="1"/>
          </p:cNvSpPr>
          <p:nvPr/>
        </p:nvSpPr>
        <p:spPr>
          <a:xfrm xmlns:a="http://schemas.openxmlformats.org/drawingml/2006/main">
            <a:off x="3619500" y="2609850"/>
            <a:ext cx="1905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FFFFF"/>
                </a:solidFill>
                <a:latin typeface="Hiragino Sans"/>
                <a:ea typeface="Hiragino Sans"/>
                <a:cs typeface="Hiragino Sans"/>
              </a:defRPr>
            </a:pPr>
            <a:r>
              <a:rPr sz="2100" b="1">
                <a:solidFill>
                  <a:srgbClr val="FFFFFF"/>
                </a:solidFill>
                <a:latin typeface="Hiragino Sans"/>
                <a:ea typeface="Hiragino Sans"/>
                <a:cs typeface="Hiragino Sans"/>
              </a:rPr>
              <a:t>BLACK</a:t>
            </a:r>
          </a:p>
          <a:p xmlns:a="http://schemas.openxmlformats.org/drawingml/2006/main">
            <a:pPr algn="ctr">
              <a:buNone/>
              <a:defRPr sz="2100" b="1">
                <a:solidFill>
                  <a:srgbClr val="FFFFFF"/>
                </a:solidFill>
                <a:latin typeface="Hiragino Sans"/>
                <a:ea typeface="Hiragino Sans"/>
                <a:cs typeface="Hiragino Sans"/>
              </a:defRPr>
            </a:pPr>
            <a:r>
              <a:rPr sz="2100" b="1">
                <a:solidFill>
                  <a:srgbClr val="FFFFFF"/>
                </a:solidFill>
                <a:latin typeface="Hiragino Sans"/>
                <a:ea typeface="Hiragino Sans"/>
                <a:cs typeface="Hiragino Sans"/>
              </a:rPr>
              <a:t>BOX</a:t>
            </a:r>
          </a:p>
        </p:txBody>
      </p:sp>
      <p:sp>
        <p:nvSpPr>
          <p:cNvPr id="23" name="正方形/長方形 22">
            <a:extLst xmlns:a="http://schemas.openxmlformats.org/drawingml/2006/main">
              <a:ext uri="{FF2B5EF4-FFF2-40B4-BE49-F238E27FC236}">
                <a16:creationId xmlns:a16="http://schemas.microsoft.com/office/drawing/2014/main" id="{1BA368D7-7D39-4F06-AD92-EA6E8938B8EF}"/>
              </a:ext>
            </a:extLst>
          </p:cNvPr>
          <p:cNvSpPr>
            <a:spLocks xmlns:a="http://schemas.openxmlformats.org/drawingml/2006/main" noGrp="1"/>
          </p:cNvSpPr>
          <p:nvPr/>
        </p:nvSpPr>
        <p:spPr>
          <a:xfrm xmlns:a="http://schemas.openxmlformats.org/drawingml/2006/main">
            <a:off x="6429375" y="14287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B9595C5D-93F3-4C71-8E12-DC56FE107BBF}"/>
              </a:ext>
            </a:extLst>
          </p:cNvPr>
          <p:cNvSpPr>
            <a:spLocks xmlns:a="http://schemas.openxmlformats.org/drawingml/2006/main" noGrp="1"/>
          </p:cNvSpPr>
          <p:nvPr/>
        </p:nvSpPr>
        <p:spPr>
          <a:xfrm xmlns:a="http://schemas.openxmlformats.org/drawingml/2006/main">
            <a:off x="6629400" y="16002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563EB"/>
                </a:solidFill>
                <a:latin typeface="Hiragino Sans"/>
                <a:ea typeface="Hiragino Sans"/>
                <a:cs typeface="Hiragino Sans"/>
              </a:defRPr>
            </a:pPr>
            <a:r>
              <a:rPr sz="1725" b="1">
                <a:solidFill>
                  <a:srgbClr val="2563EB"/>
                </a:solidFill>
                <a:latin typeface="Hiragino Sans"/>
                <a:ea typeface="Hiragino Sans"/>
                <a:cs typeface="Hiragino Sans"/>
              </a:rPr>
              <a:t>クラス A</a:t>
            </a:r>
          </a:p>
        </p:txBody>
      </p:sp>
      <p:sp>
        <p:nvSpPr>
          <p:cNvPr id="25" name="正方形/長方形 24">
            <a:extLst xmlns:a="http://schemas.openxmlformats.org/drawingml/2006/main">
              <a:ext uri="{FF2B5EF4-FFF2-40B4-BE49-F238E27FC236}">
                <a16:creationId xmlns:a16="http://schemas.microsoft.com/office/drawing/2014/main" id="{53C72F9A-DDAE-404F-8C03-5AE57AA8BA27}"/>
              </a:ext>
            </a:extLst>
          </p:cNvPr>
          <p:cNvSpPr>
            <a:spLocks xmlns:a="http://schemas.openxmlformats.org/drawingml/2006/main" noGrp="1"/>
          </p:cNvSpPr>
          <p:nvPr/>
        </p:nvSpPr>
        <p:spPr>
          <a:xfrm xmlns:a="http://schemas.openxmlformats.org/drawingml/2006/main">
            <a:off x="6629400" y="19335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Hiragino Sans"/>
                <a:ea typeface="Hiragino Sans"/>
                <a:cs typeface="Hiragino Sans"/>
              </a:defRPr>
            </a:pPr>
            <a:r>
              <a:rPr sz="1200" b="0">
                <a:solidFill>
                  <a:srgbClr val="64748B"/>
                </a:solidFill>
                <a:latin typeface="Hiragino Sans"/>
                <a:ea typeface="Hiragino Sans"/>
                <a:cs typeface="Hiragino Sans"/>
              </a:rPr>
              <a:t>用の局所モデル</a:t>
            </a:r>
          </a:p>
        </p:txBody>
      </p:sp>
      <p:sp>
        <p:nvSpPr>
          <p:cNvPr id="26" name="正方形/長方形 25">
            <a:extLst xmlns:a="http://schemas.openxmlformats.org/drawingml/2006/main">
              <a:ext uri="{FF2B5EF4-FFF2-40B4-BE49-F238E27FC236}">
                <a16:creationId xmlns:a16="http://schemas.microsoft.com/office/drawing/2014/main" id="{869E9EB9-411B-4B32-91F9-88B41FF2A2B7}"/>
              </a:ext>
            </a:extLst>
          </p:cNvPr>
          <p:cNvSpPr>
            <a:spLocks xmlns:a="http://schemas.openxmlformats.org/drawingml/2006/main" noGrp="1"/>
          </p:cNvSpPr>
          <p:nvPr/>
        </p:nvSpPr>
        <p:spPr>
          <a:xfrm xmlns:a="http://schemas.openxmlformats.org/drawingml/2006/main">
            <a:off x="8429625" y="1600200"/>
            <a:ext cx="17145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15BAD9F4-2728-4449-9113-6BB31670F490}"/>
              </a:ext>
            </a:extLst>
          </p:cNvPr>
          <p:cNvSpPr>
            <a:spLocks xmlns:a="http://schemas.openxmlformats.org/drawingml/2006/main" noGrp="1"/>
          </p:cNvSpPr>
          <p:nvPr/>
        </p:nvSpPr>
        <p:spPr>
          <a:xfrm xmlns:a="http://schemas.openxmlformats.org/drawingml/2006/main">
            <a:off x="8429625" y="1819275"/>
            <a:ext cx="10287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BBDE719E-8423-4658-9822-7F007DB5C20A}"/>
              </a:ext>
            </a:extLst>
          </p:cNvPr>
          <p:cNvSpPr>
            <a:spLocks xmlns:a="http://schemas.openxmlformats.org/drawingml/2006/main" noGrp="1"/>
          </p:cNvSpPr>
          <p:nvPr/>
        </p:nvSpPr>
        <p:spPr>
          <a:xfrm xmlns:a="http://schemas.openxmlformats.org/drawingml/2006/main">
            <a:off x="8429625" y="2038350"/>
            <a:ext cx="4572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F05E33A5-6337-46C8-A697-3CC64A56C71E}"/>
              </a:ext>
            </a:extLst>
          </p:cNvPr>
          <p:cNvSpPr>
            <a:spLocks xmlns:a="http://schemas.openxmlformats.org/drawingml/2006/main" noGrp="1"/>
          </p:cNvSpPr>
          <p:nvPr/>
        </p:nvSpPr>
        <p:spPr>
          <a:xfrm xmlns:a="http://schemas.openxmlformats.org/drawingml/2006/main">
            <a:off x="6429375" y="26479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0233DA84-5507-4676-9075-EC0D3D2A57B2}"/>
              </a:ext>
            </a:extLst>
          </p:cNvPr>
          <p:cNvSpPr>
            <a:spLocks xmlns:a="http://schemas.openxmlformats.org/drawingml/2006/main" noGrp="1"/>
          </p:cNvSpPr>
          <p:nvPr/>
        </p:nvSpPr>
        <p:spPr>
          <a:xfrm xmlns:a="http://schemas.openxmlformats.org/drawingml/2006/main">
            <a:off x="6629400" y="28194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F59E0B"/>
                </a:solidFill>
                <a:latin typeface="Hiragino Sans"/>
                <a:ea typeface="Hiragino Sans"/>
                <a:cs typeface="Hiragino Sans"/>
              </a:defRPr>
            </a:pPr>
            <a:r>
              <a:rPr sz="1725" b="1">
                <a:solidFill>
                  <a:srgbClr val="F59E0B"/>
                </a:solidFill>
                <a:latin typeface="Hiragino Sans"/>
                <a:ea typeface="Hiragino Sans"/>
                <a:cs typeface="Hiragino Sans"/>
              </a:rPr>
              <a:t>クラス B</a:t>
            </a:r>
          </a:p>
        </p:txBody>
      </p:sp>
      <p:sp>
        <p:nvSpPr>
          <p:cNvPr id="31" name="正方形/長方形 30">
            <a:extLst xmlns:a="http://schemas.openxmlformats.org/drawingml/2006/main">
              <a:ext uri="{FF2B5EF4-FFF2-40B4-BE49-F238E27FC236}">
                <a16:creationId xmlns:a16="http://schemas.microsoft.com/office/drawing/2014/main" id="{A0CA7D15-AECC-4F6C-B49B-95AB56E28B78}"/>
              </a:ext>
            </a:extLst>
          </p:cNvPr>
          <p:cNvSpPr>
            <a:spLocks xmlns:a="http://schemas.openxmlformats.org/drawingml/2006/main" noGrp="1"/>
          </p:cNvSpPr>
          <p:nvPr/>
        </p:nvSpPr>
        <p:spPr>
          <a:xfrm xmlns:a="http://schemas.openxmlformats.org/drawingml/2006/main">
            <a:off x="6629400" y="31527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Hiragino Sans"/>
                <a:ea typeface="Hiragino Sans"/>
                <a:cs typeface="Hiragino Sans"/>
              </a:defRPr>
            </a:pPr>
            <a:r>
              <a:rPr sz="1200" b="0">
                <a:solidFill>
                  <a:srgbClr val="64748B"/>
                </a:solidFill>
                <a:latin typeface="Hiragino Sans"/>
                <a:ea typeface="Hiragino Sans"/>
                <a:cs typeface="Hiragino Sans"/>
              </a:rPr>
              <a:t>用の局所モデル</a:t>
            </a:r>
          </a:p>
        </p:txBody>
      </p:sp>
      <p:sp>
        <p:nvSpPr>
          <p:cNvPr id="32" name="正方形/長方形 31">
            <a:extLst xmlns:a="http://schemas.openxmlformats.org/drawingml/2006/main">
              <a:ext uri="{FF2B5EF4-FFF2-40B4-BE49-F238E27FC236}">
                <a16:creationId xmlns:a16="http://schemas.microsoft.com/office/drawing/2014/main" id="{65C0F17B-9EB7-443F-8448-75A8535C4BAC}"/>
              </a:ext>
            </a:extLst>
          </p:cNvPr>
          <p:cNvSpPr>
            <a:spLocks xmlns:a="http://schemas.openxmlformats.org/drawingml/2006/main" noGrp="1"/>
          </p:cNvSpPr>
          <p:nvPr/>
        </p:nvSpPr>
        <p:spPr>
          <a:xfrm xmlns:a="http://schemas.openxmlformats.org/drawingml/2006/main">
            <a:off x="8429625" y="2819400"/>
            <a:ext cx="5715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9E523358-D415-4E7C-9C0D-60FB900D39EC}"/>
              </a:ext>
            </a:extLst>
          </p:cNvPr>
          <p:cNvSpPr>
            <a:spLocks xmlns:a="http://schemas.openxmlformats.org/drawingml/2006/main" noGrp="1"/>
          </p:cNvSpPr>
          <p:nvPr/>
        </p:nvSpPr>
        <p:spPr>
          <a:xfrm xmlns:a="http://schemas.openxmlformats.org/drawingml/2006/main">
            <a:off x="8429625" y="3038475"/>
            <a:ext cx="13716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6EC4F42B-8CAB-48F0-81A3-7B57981EFB0B}"/>
              </a:ext>
            </a:extLst>
          </p:cNvPr>
          <p:cNvSpPr>
            <a:spLocks xmlns:a="http://schemas.openxmlformats.org/drawingml/2006/main" noGrp="1"/>
          </p:cNvSpPr>
          <p:nvPr/>
        </p:nvSpPr>
        <p:spPr>
          <a:xfrm xmlns:a="http://schemas.openxmlformats.org/drawingml/2006/main">
            <a:off x="8429625" y="3257550"/>
            <a:ext cx="8001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正方形/長方形 34">
            <a:extLst xmlns:a="http://schemas.openxmlformats.org/drawingml/2006/main">
              <a:ext uri="{FF2B5EF4-FFF2-40B4-BE49-F238E27FC236}">
                <a16:creationId xmlns:a16="http://schemas.microsoft.com/office/drawing/2014/main" id="{61343C36-DD80-4A40-B644-C6A5D90368CA}"/>
              </a:ext>
            </a:extLst>
          </p:cNvPr>
          <p:cNvSpPr>
            <a:spLocks xmlns:a="http://schemas.openxmlformats.org/drawingml/2006/main" noGrp="1"/>
          </p:cNvSpPr>
          <p:nvPr/>
        </p:nvSpPr>
        <p:spPr>
          <a:xfrm xmlns:a="http://schemas.openxmlformats.org/drawingml/2006/main">
            <a:off x="6429375" y="38671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876F2BB5-5140-4BEE-A399-C9C075340F18}"/>
              </a:ext>
            </a:extLst>
          </p:cNvPr>
          <p:cNvSpPr>
            <a:spLocks xmlns:a="http://schemas.openxmlformats.org/drawingml/2006/main" noGrp="1"/>
          </p:cNvSpPr>
          <p:nvPr/>
        </p:nvSpPr>
        <p:spPr>
          <a:xfrm xmlns:a="http://schemas.openxmlformats.org/drawingml/2006/main">
            <a:off x="6629400" y="40386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0B981"/>
                </a:solidFill>
                <a:latin typeface="Hiragino Sans"/>
                <a:ea typeface="Hiragino Sans"/>
                <a:cs typeface="Hiragino Sans"/>
              </a:defRPr>
            </a:pPr>
            <a:r>
              <a:rPr sz="1725" b="1">
                <a:solidFill>
                  <a:srgbClr val="10B981"/>
                </a:solidFill>
                <a:latin typeface="Hiragino Sans"/>
                <a:ea typeface="Hiragino Sans"/>
                <a:cs typeface="Hiragino Sans"/>
              </a:rPr>
              <a:t>クラス C</a:t>
            </a:r>
          </a:p>
        </p:txBody>
      </p:sp>
      <p:sp>
        <p:nvSpPr>
          <p:cNvPr id="37" name="正方形/長方形 36">
            <a:extLst xmlns:a="http://schemas.openxmlformats.org/drawingml/2006/main">
              <a:ext uri="{FF2B5EF4-FFF2-40B4-BE49-F238E27FC236}">
                <a16:creationId xmlns:a16="http://schemas.microsoft.com/office/drawing/2014/main" id="{39749FDB-1EC5-444E-BFD6-65A7D136F1DD}"/>
              </a:ext>
            </a:extLst>
          </p:cNvPr>
          <p:cNvSpPr>
            <a:spLocks xmlns:a="http://schemas.openxmlformats.org/drawingml/2006/main" noGrp="1"/>
          </p:cNvSpPr>
          <p:nvPr/>
        </p:nvSpPr>
        <p:spPr>
          <a:xfrm xmlns:a="http://schemas.openxmlformats.org/drawingml/2006/main">
            <a:off x="6629400" y="4371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Hiragino Sans"/>
                <a:ea typeface="Hiragino Sans"/>
                <a:cs typeface="Hiragino Sans"/>
              </a:defRPr>
            </a:pPr>
            <a:r>
              <a:rPr sz="1200" b="0">
                <a:solidFill>
                  <a:srgbClr val="64748B"/>
                </a:solidFill>
                <a:latin typeface="Hiragino Sans"/>
                <a:ea typeface="Hiragino Sans"/>
                <a:cs typeface="Hiragino Sans"/>
              </a:rPr>
              <a:t>用の局所モデル</a:t>
            </a:r>
          </a:p>
        </p:txBody>
      </p:sp>
      <p:sp>
        <p:nvSpPr>
          <p:cNvPr id="38" name="正方形/長方形 37">
            <a:extLst xmlns:a="http://schemas.openxmlformats.org/drawingml/2006/main">
              <a:ext uri="{FF2B5EF4-FFF2-40B4-BE49-F238E27FC236}">
                <a16:creationId xmlns:a16="http://schemas.microsoft.com/office/drawing/2014/main" id="{8E6D069A-8B08-4A7F-B5BB-0EDCE823FEBD}"/>
              </a:ext>
            </a:extLst>
          </p:cNvPr>
          <p:cNvSpPr>
            <a:spLocks xmlns:a="http://schemas.openxmlformats.org/drawingml/2006/main" noGrp="1"/>
          </p:cNvSpPr>
          <p:nvPr/>
        </p:nvSpPr>
        <p:spPr>
          <a:xfrm xmlns:a="http://schemas.openxmlformats.org/drawingml/2006/main">
            <a:off x="8429625" y="4038600"/>
            <a:ext cx="80010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正方形/長方形 38">
            <a:extLst xmlns:a="http://schemas.openxmlformats.org/drawingml/2006/main">
              <a:ext uri="{FF2B5EF4-FFF2-40B4-BE49-F238E27FC236}">
                <a16:creationId xmlns:a16="http://schemas.microsoft.com/office/drawing/2014/main" id="{4C76D4E7-6335-44B6-B375-06A055E1D4DD}"/>
              </a:ext>
            </a:extLst>
          </p:cNvPr>
          <p:cNvSpPr>
            <a:spLocks xmlns:a="http://schemas.openxmlformats.org/drawingml/2006/main" noGrp="1"/>
          </p:cNvSpPr>
          <p:nvPr/>
        </p:nvSpPr>
        <p:spPr>
          <a:xfrm xmlns:a="http://schemas.openxmlformats.org/drawingml/2006/main">
            <a:off x="8429625" y="4257675"/>
            <a:ext cx="41148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AD140A8D-F1CB-49DA-94F1-6C5BE4CF732C}"/>
              </a:ext>
            </a:extLst>
          </p:cNvPr>
          <p:cNvSpPr>
            <a:spLocks xmlns:a="http://schemas.openxmlformats.org/drawingml/2006/main" noGrp="1"/>
          </p:cNvSpPr>
          <p:nvPr/>
        </p:nvSpPr>
        <p:spPr>
          <a:xfrm xmlns:a="http://schemas.openxmlformats.org/drawingml/2006/main">
            <a:off x="8429625" y="4476750"/>
            <a:ext cx="148590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正方形/長方形 40">
            <a:extLst xmlns:a="http://schemas.openxmlformats.org/drawingml/2006/main">
              <a:ext uri="{FF2B5EF4-FFF2-40B4-BE49-F238E27FC236}">
                <a16:creationId xmlns:a16="http://schemas.microsoft.com/office/drawing/2014/main" id="{8D7010F4-A13D-4FB8-AC05-8F21D85A9FCE}"/>
              </a:ext>
            </a:extLst>
          </p:cNvPr>
          <p:cNvSpPr>
            <a:spLocks xmlns:a="http://schemas.openxmlformats.org/drawingml/2006/main" noGrp="1"/>
          </p:cNvSpPr>
          <p:nvPr/>
        </p:nvSpPr>
        <p:spPr>
          <a:xfrm xmlns:a="http://schemas.openxmlformats.org/drawingml/2006/main">
            <a:off x="2381250" y="5381625"/>
            <a:ext cx="7429500" cy="6286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70B56764-D335-4F13-A2C8-9F44B37DAFED}"/>
              </a:ext>
            </a:extLst>
          </p:cNvPr>
          <p:cNvSpPr>
            <a:spLocks xmlns:a="http://schemas.openxmlformats.org/drawingml/2006/main" noGrp="1"/>
          </p:cNvSpPr>
          <p:nvPr/>
        </p:nvSpPr>
        <p:spPr>
          <a:xfrm xmlns:a="http://schemas.openxmlformats.org/drawingml/2006/main">
            <a:off x="2619375" y="5543550"/>
            <a:ext cx="695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2563EB"/>
                </a:solidFill>
                <a:latin typeface="Hiragino Sans"/>
                <a:ea typeface="Hiragino Sans"/>
                <a:cs typeface="Hiragino Sans"/>
              </a:defRPr>
            </a:pPr>
            <a:r>
              <a:rPr sz="1650" b="1">
                <a:solidFill>
                  <a:srgbClr val="2563EB"/>
                </a:solidFill>
                <a:latin typeface="Hiragino Sans"/>
                <a:ea typeface="Hiragino Sans"/>
                <a:cs typeface="Hiragino Sans"/>
              </a:rPr>
              <a:t>近傍は共有できるが、説明モデルと特徴重みはクラス別に学習される</a:t>
            </a:r>
          </a:p>
        </p:txBody>
      </p:sp>
    </p:spTree>
    <p:extLst>
      <p:ext uri="{BB962C8B-B14F-4D97-AF65-F5344CB8AC3E}">
        <p14:creationId xmlns:p14="http://schemas.microsoft.com/office/powerpoint/2010/main" val="7096461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正方形/長方形 33">
            <a:extLst xmlns:a="http://schemas.openxmlformats.org/drawingml/2006/main">
              <a:ext uri="{FF2B5EF4-FFF2-40B4-BE49-F238E27FC236}">
                <a16:creationId xmlns:a16="http://schemas.microsoft.com/office/drawing/2014/main" id="{F1AA4A81-65D9-4460-9C50-8B2A4FA09904}"/>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7-title">
            <a:extLst xmlns:a="http://schemas.openxmlformats.org/drawingml/2006/main">
              <a:ext uri="{FF2B5EF4-FFF2-40B4-BE49-F238E27FC236}">
                <a16:creationId xmlns:a16="http://schemas.microsoft.com/office/drawing/2014/main" id="{EE8FC56C-8321-46EA-BF49-FD7A05980B28}"/>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クラス別説明を並べるだけでは、全体像を読み取りにくい</a:t>
            </a:r>
          </a:p>
        </p:txBody>
      </p:sp>
      <p:sp>
        <p:nvSpPr>
          <p:cNvPr id="3" name="slide-7-subtitle">
            <a:extLst xmlns:a="http://schemas.openxmlformats.org/drawingml/2006/main">
              <a:ext uri="{FF2B5EF4-FFF2-40B4-BE49-F238E27FC236}">
                <a16:creationId xmlns:a16="http://schemas.microsoft.com/office/drawing/2014/main" id="{55DDF937-5F97-4BE9-89E5-0215A329B51D}"/>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利用者が複数の特徴集合を見比べ、クラス差を再構成する必要がある</a:t>
            </a:r>
          </a:p>
        </p:txBody>
      </p:sp>
      <p:sp>
        <p:nvSpPr>
          <p:cNvPr id="4" name="正方形/長方形 3">
            <a:extLst xmlns:a="http://schemas.openxmlformats.org/drawingml/2006/main">
              <a:ext uri="{FF2B5EF4-FFF2-40B4-BE49-F238E27FC236}">
                <a16:creationId xmlns:a16="http://schemas.microsoft.com/office/drawing/2014/main" id="{EA4DFCDA-FFA0-41E5-BDF2-AA92D69DF5F4}"/>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09</a:t>
            </a:r>
          </a:p>
        </p:txBody>
      </p:sp>
      <p:sp>
        <p:nvSpPr>
          <p:cNvPr id="5" name="正方形/長方形 4">
            <a:extLst xmlns:a="http://schemas.openxmlformats.org/drawingml/2006/main">
              <a:ext uri="{FF2B5EF4-FFF2-40B4-BE49-F238E27FC236}">
                <a16:creationId xmlns:a16="http://schemas.microsoft.com/office/drawing/2014/main" id="{FC56ABC9-862C-4B19-95D1-AB0DB3DD6C8D}"/>
              </a:ext>
            </a:extLst>
          </p:cNvPr>
          <p:cNvSpPr>
            <a:spLocks xmlns:a="http://schemas.openxmlformats.org/drawingml/2006/main" noGrp="1"/>
          </p:cNvSpPr>
          <p:nvPr/>
        </p:nvSpPr>
        <p:spPr>
          <a:xfrm xmlns:a="http://schemas.openxmlformats.org/drawingml/2006/main">
            <a:off x="523875"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2563EB"/>
                </a:solidFill>
                <a:latin typeface="Hiragino Sans"/>
                <a:ea typeface="Hiragino Sans"/>
                <a:cs typeface="Hiragino Sans"/>
              </a:defRPr>
            </a:pPr>
            <a:r>
              <a:rPr sz="1875" b="1">
                <a:solidFill>
                  <a:srgbClr val="2563EB"/>
                </a:solidFill>
                <a:latin typeface="Hiragino Sans"/>
                <a:ea typeface="Hiragino Sans"/>
                <a:cs typeface="Hiragino Sans"/>
              </a:rPr>
              <a:t>クラス A</a:t>
            </a:r>
          </a:p>
        </p:txBody>
      </p:sp>
      <p:cxnSp>
        <p:nvCxnSpPr>
          <p:cNvPr id="97" name="直線矢印コネクタ 38"/>
          <p:cNvCxnSpPr/>
          <p:nvPr/>
        </p:nvCxnSpPr>
        <p:spPr>
          <a:xfrm xmlns:a="http://schemas.openxmlformats.org/drawingml/2006/main">
            <a:off x="523875"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7" name="正方形/長方形 6">
            <a:extLst xmlns:a="http://schemas.openxmlformats.org/drawingml/2006/main">
              <a:ext uri="{FF2B5EF4-FFF2-40B4-BE49-F238E27FC236}">
                <a16:creationId xmlns:a16="http://schemas.microsoft.com/office/drawing/2014/main" id="{ED5842F6-5493-49D7-941C-5E46F4D892A7}"/>
              </a:ext>
            </a:extLst>
          </p:cNvPr>
          <p:cNvSpPr>
            <a:spLocks xmlns:a="http://schemas.openxmlformats.org/drawingml/2006/main" noGrp="1"/>
          </p:cNvSpPr>
          <p:nvPr/>
        </p:nvSpPr>
        <p:spPr>
          <a:xfrm xmlns:a="http://schemas.openxmlformats.org/drawingml/2006/main">
            <a:off x="523875"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特徴1</a:t>
            </a:r>
          </a:p>
        </p:txBody>
      </p:sp>
      <p:sp>
        <p:nvSpPr>
          <p:cNvPr id="8" name="正方形/長方形 7">
            <a:extLst xmlns:a="http://schemas.openxmlformats.org/drawingml/2006/main">
              <a:ext uri="{FF2B5EF4-FFF2-40B4-BE49-F238E27FC236}">
                <a16:creationId xmlns:a16="http://schemas.microsoft.com/office/drawing/2014/main" id="{F97AF587-3C0A-4485-B6F9-3B77943077DA}"/>
              </a:ext>
            </a:extLst>
          </p:cNvPr>
          <p:cNvSpPr>
            <a:spLocks xmlns:a="http://schemas.openxmlformats.org/drawingml/2006/main" noGrp="1"/>
          </p:cNvSpPr>
          <p:nvPr/>
        </p:nvSpPr>
        <p:spPr>
          <a:xfrm xmlns:a="http://schemas.openxmlformats.org/drawingml/2006/main">
            <a:off x="1381125" y="2400300"/>
            <a:ext cx="1200150"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D810D807-BBBD-475D-B2D6-CE31F15E5E50}"/>
              </a:ext>
            </a:extLst>
          </p:cNvPr>
          <p:cNvSpPr>
            <a:spLocks xmlns:a="http://schemas.openxmlformats.org/drawingml/2006/main" noGrp="1"/>
          </p:cNvSpPr>
          <p:nvPr/>
        </p:nvSpPr>
        <p:spPr>
          <a:xfrm xmlns:a="http://schemas.openxmlformats.org/drawingml/2006/main">
            <a:off x="523875"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特徴2</a:t>
            </a:r>
          </a:p>
        </p:txBody>
      </p:sp>
      <p:sp>
        <p:nvSpPr>
          <p:cNvPr id="10" name="正方形/長方形 9">
            <a:extLst xmlns:a="http://schemas.openxmlformats.org/drawingml/2006/main">
              <a:ext uri="{FF2B5EF4-FFF2-40B4-BE49-F238E27FC236}">
                <a16:creationId xmlns:a16="http://schemas.microsoft.com/office/drawing/2014/main" id="{7CB2A021-E301-40E1-932C-F2A563C6F7F3}"/>
              </a:ext>
            </a:extLst>
          </p:cNvPr>
          <p:cNvSpPr>
            <a:spLocks xmlns:a="http://schemas.openxmlformats.org/drawingml/2006/main" noGrp="1"/>
          </p:cNvSpPr>
          <p:nvPr/>
        </p:nvSpPr>
        <p:spPr>
          <a:xfrm xmlns:a="http://schemas.openxmlformats.org/drawingml/2006/main">
            <a:off x="1381125" y="3209925"/>
            <a:ext cx="866775"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84B6F764-0125-4677-B9FA-03472D8464F6}"/>
              </a:ext>
            </a:extLst>
          </p:cNvPr>
          <p:cNvSpPr>
            <a:spLocks xmlns:a="http://schemas.openxmlformats.org/drawingml/2006/main" noGrp="1"/>
          </p:cNvSpPr>
          <p:nvPr/>
        </p:nvSpPr>
        <p:spPr>
          <a:xfrm xmlns:a="http://schemas.openxmlformats.org/drawingml/2006/main">
            <a:off x="523875"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特徴5</a:t>
            </a:r>
          </a:p>
        </p:txBody>
      </p:sp>
      <p:sp>
        <p:nvSpPr>
          <p:cNvPr id="12" name="正方形/長方形 11">
            <a:extLst xmlns:a="http://schemas.openxmlformats.org/drawingml/2006/main">
              <a:ext uri="{FF2B5EF4-FFF2-40B4-BE49-F238E27FC236}">
                <a16:creationId xmlns:a16="http://schemas.microsoft.com/office/drawing/2014/main" id="{57EC35DB-808D-42CC-B235-AD0C023ABEA4}"/>
              </a:ext>
            </a:extLst>
          </p:cNvPr>
          <p:cNvSpPr>
            <a:spLocks xmlns:a="http://schemas.openxmlformats.org/drawingml/2006/main" noGrp="1"/>
          </p:cNvSpPr>
          <p:nvPr/>
        </p:nvSpPr>
        <p:spPr>
          <a:xfrm xmlns:a="http://schemas.openxmlformats.org/drawingml/2006/main">
            <a:off x="1381125" y="4019550"/>
            <a:ext cx="466725"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963193BD-CCD1-4C01-AFAC-6D24CB059705}"/>
              </a:ext>
            </a:extLst>
          </p:cNvPr>
          <p:cNvSpPr>
            <a:spLocks xmlns:a="http://schemas.openxmlformats.org/drawingml/2006/main" noGrp="1"/>
          </p:cNvSpPr>
          <p:nvPr/>
        </p:nvSpPr>
        <p:spPr>
          <a:xfrm xmlns:a="http://schemas.openxmlformats.org/drawingml/2006/main">
            <a:off x="3238500"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F59E0B"/>
                </a:solidFill>
                <a:latin typeface="Hiragino Sans"/>
                <a:ea typeface="Hiragino Sans"/>
                <a:cs typeface="Hiragino Sans"/>
              </a:defRPr>
            </a:pPr>
            <a:r>
              <a:rPr sz="1875" b="1">
                <a:solidFill>
                  <a:srgbClr val="F59E0B"/>
                </a:solidFill>
                <a:latin typeface="Hiragino Sans"/>
                <a:ea typeface="Hiragino Sans"/>
                <a:cs typeface="Hiragino Sans"/>
              </a:rPr>
              <a:t>クラス B</a:t>
            </a:r>
          </a:p>
        </p:txBody>
      </p:sp>
      <p:cxnSp>
        <p:nvCxnSpPr>
          <p:cNvPr id="105" name="直線矢印コネクタ 46"/>
          <p:cNvCxnSpPr/>
          <p:nvPr/>
        </p:nvCxnSpPr>
        <p:spPr>
          <a:xfrm xmlns:a="http://schemas.openxmlformats.org/drawingml/2006/main">
            <a:off x="3238500"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15" name="正方形/長方形 14">
            <a:extLst xmlns:a="http://schemas.openxmlformats.org/drawingml/2006/main">
              <a:ext uri="{FF2B5EF4-FFF2-40B4-BE49-F238E27FC236}">
                <a16:creationId xmlns:a16="http://schemas.microsoft.com/office/drawing/2014/main" id="{B653A798-C88C-4C36-97B5-105BC4AE163B}"/>
              </a:ext>
            </a:extLst>
          </p:cNvPr>
          <p:cNvSpPr>
            <a:spLocks xmlns:a="http://schemas.openxmlformats.org/drawingml/2006/main" noGrp="1"/>
          </p:cNvSpPr>
          <p:nvPr/>
        </p:nvSpPr>
        <p:spPr>
          <a:xfrm xmlns:a="http://schemas.openxmlformats.org/drawingml/2006/main">
            <a:off x="3238500"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特徴2</a:t>
            </a:r>
          </a:p>
        </p:txBody>
      </p:sp>
      <p:sp>
        <p:nvSpPr>
          <p:cNvPr id="16" name="正方形/長方形 15">
            <a:extLst xmlns:a="http://schemas.openxmlformats.org/drawingml/2006/main">
              <a:ext uri="{FF2B5EF4-FFF2-40B4-BE49-F238E27FC236}">
                <a16:creationId xmlns:a16="http://schemas.microsoft.com/office/drawing/2014/main" id="{E3410C17-715A-4214-8732-67432B3875B8}"/>
              </a:ext>
            </a:extLst>
          </p:cNvPr>
          <p:cNvSpPr>
            <a:spLocks xmlns:a="http://schemas.openxmlformats.org/drawingml/2006/main" noGrp="1"/>
          </p:cNvSpPr>
          <p:nvPr/>
        </p:nvSpPr>
        <p:spPr>
          <a:xfrm xmlns:a="http://schemas.openxmlformats.org/drawingml/2006/main">
            <a:off x="4095750" y="2400300"/>
            <a:ext cx="1133475"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DEE74ADC-DC9D-41F5-BD0B-5D0113AC2E11}"/>
              </a:ext>
            </a:extLst>
          </p:cNvPr>
          <p:cNvSpPr>
            <a:spLocks xmlns:a="http://schemas.openxmlformats.org/drawingml/2006/main" noGrp="1"/>
          </p:cNvSpPr>
          <p:nvPr/>
        </p:nvSpPr>
        <p:spPr>
          <a:xfrm xmlns:a="http://schemas.openxmlformats.org/drawingml/2006/main">
            <a:off x="3238500"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特徴4</a:t>
            </a:r>
          </a:p>
        </p:txBody>
      </p:sp>
      <p:sp>
        <p:nvSpPr>
          <p:cNvPr id="18" name="正方形/長方形 17">
            <a:extLst xmlns:a="http://schemas.openxmlformats.org/drawingml/2006/main">
              <a:ext uri="{FF2B5EF4-FFF2-40B4-BE49-F238E27FC236}">
                <a16:creationId xmlns:a16="http://schemas.microsoft.com/office/drawing/2014/main" id="{7F6DB0B6-878A-480F-8D5F-AFD141AED6BD}"/>
              </a:ext>
            </a:extLst>
          </p:cNvPr>
          <p:cNvSpPr>
            <a:spLocks xmlns:a="http://schemas.openxmlformats.org/drawingml/2006/main" noGrp="1"/>
          </p:cNvSpPr>
          <p:nvPr/>
        </p:nvSpPr>
        <p:spPr>
          <a:xfrm xmlns:a="http://schemas.openxmlformats.org/drawingml/2006/main">
            <a:off x="4095750" y="3209925"/>
            <a:ext cx="773430"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0E8E1109-0AEF-4C79-B3CF-2C16FDFCA934}"/>
              </a:ext>
            </a:extLst>
          </p:cNvPr>
          <p:cNvSpPr>
            <a:spLocks xmlns:a="http://schemas.openxmlformats.org/drawingml/2006/main" noGrp="1"/>
          </p:cNvSpPr>
          <p:nvPr/>
        </p:nvSpPr>
        <p:spPr>
          <a:xfrm xmlns:a="http://schemas.openxmlformats.org/drawingml/2006/main">
            <a:off x="3238500"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特徴1</a:t>
            </a:r>
          </a:p>
        </p:txBody>
      </p:sp>
      <p:sp>
        <p:nvSpPr>
          <p:cNvPr id="20" name="正方形/長方形 19">
            <a:extLst xmlns:a="http://schemas.openxmlformats.org/drawingml/2006/main">
              <a:ext uri="{FF2B5EF4-FFF2-40B4-BE49-F238E27FC236}">
                <a16:creationId xmlns:a16="http://schemas.microsoft.com/office/drawing/2014/main" id="{1EC67A9D-E3B4-49EC-97EA-F71D28646910}"/>
              </a:ext>
            </a:extLst>
          </p:cNvPr>
          <p:cNvSpPr>
            <a:spLocks xmlns:a="http://schemas.openxmlformats.org/drawingml/2006/main" noGrp="1"/>
          </p:cNvSpPr>
          <p:nvPr/>
        </p:nvSpPr>
        <p:spPr>
          <a:xfrm xmlns:a="http://schemas.openxmlformats.org/drawingml/2006/main">
            <a:off x="4095750" y="4019550"/>
            <a:ext cx="400050"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E9DCC125-2D2A-4ECB-8715-5A08507D6CCB}"/>
              </a:ext>
            </a:extLst>
          </p:cNvPr>
          <p:cNvSpPr>
            <a:spLocks xmlns:a="http://schemas.openxmlformats.org/drawingml/2006/main" noGrp="1"/>
          </p:cNvSpPr>
          <p:nvPr/>
        </p:nvSpPr>
        <p:spPr>
          <a:xfrm xmlns:a="http://schemas.openxmlformats.org/drawingml/2006/main">
            <a:off x="5953125"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0B981"/>
                </a:solidFill>
                <a:latin typeface="Hiragino Sans"/>
                <a:ea typeface="Hiragino Sans"/>
                <a:cs typeface="Hiragino Sans"/>
              </a:defRPr>
            </a:pPr>
            <a:r>
              <a:rPr sz="1875" b="1">
                <a:solidFill>
                  <a:srgbClr val="10B981"/>
                </a:solidFill>
                <a:latin typeface="Hiragino Sans"/>
                <a:ea typeface="Hiragino Sans"/>
                <a:cs typeface="Hiragino Sans"/>
              </a:rPr>
              <a:t>クラス C</a:t>
            </a:r>
          </a:p>
        </p:txBody>
      </p:sp>
      <p:cxnSp>
        <p:nvCxnSpPr>
          <p:cNvPr id="113" name="直線矢印コネクタ 54"/>
          <p:cNvCxnSpPr/>
          <p:nvPr/>
        </p:nvCxnSpPr>
        <p:spPr>
          <a:xfrm xmlns:a="http://schemas.openxmlformats.org/drawingml/2006/main">
            <a:off x="5953125"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23" name="正方形/長方形 22">
            <a:extLst xmlns:a="http://schemas.openxmlformats.org/drawingml/2006/main">
              <a:ext uri="{FF2B5EF4-FFF2-40B4-BE49-F238E27FC236}">
                <a16:creationId xmlns:a16="http://schemas.microsoft.com/office/drawing/2014/main" id="{3A099ABE-CC82-4F2F-B8F4-3425531D59E5}"/>
              </a:ext>
            </a:extLst>
          </p:cNvPr>
          <p:cNvSpPr>
            <a:spLocks xmlns:a="http://schemas.openxmlformats.org/drawingml/2006/main" noGrp="1"/>
          </p:cNvSpPr>
          <p:nvPr/>
        </p:nvSpPr>
        <p:spPr>
          <a:xfrm xmlns:a="http://schemas.openxmlformats.org/drawingml/2006/main">
            <a:off x="5953125"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特徴3</a:t>
            </a:r>
          </a:p>
        </p:txBody>
      </p:sp>
      <p:sp>
        <p:nvSpPr>
          <p:cNvPr id="24" name="正方形/長方形 23">
            <a:extLst xmlns:a="http://schemas.openxmlformats.org/drawingml/2006/main">
              <a:ext uri="{FF2B5EF4-FFF2-40B4-BE49-F238E27FC236}">
                <a16:creationId xmlns:a16="http://schemas.microsoft.com/office/drawing/2014/main" id="{F412E6F8-0E49-4E21-A372-2DC40E5788FF}"/>
              </a:ext>
            </a:extLst>
          </p:cNvPr>
          <p:cNvSpPr>
            <a:spLocks xmlns:a="http://schemas.openxmlformats.org/drawingml/2006/main" noGrp="1"/>
          </p:cNvSpPr>
          <p:nvPr/>
        </p:nvSpPr>
        <p:spPr>
          <a:xfrm xmlns:a="http://schemas.openxmlformats.org/drawingml/2006/main">
            <a:off x="6810375" y="2400300"/>
            <a:ext cx="122682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6AA202A1-C7AF-4C74-A8C1-E0A1B8170D90}"/>
              </a:ext>
            </a:extLst>
          </p:cNvPr>
          <p:cNvSpPr>
            <a:spLocks xmlns:a="http://schemas.openxmlformats.org/drawingml/2006/main" noGrp="1"/>
          </p:cNvSpPr>
          <p:nvPr/>
        </p:nvSpPr>
        <p:spPr>
          <a:xfrm xmlns:a="http://schemas.openxmlformats.org/drawingml/2006/main">
            <a:off x="5953125"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特徴5</a:t>
            </a:r>
          </a:p>
        </p:txBody>
      </p:sp>
      <p:sp>
        <p:nvSpPr>
          <p:cNvPr id="26" name="正方形/長方形 25">
            <a:extLst xmlns:a="http://schemas.openxmlformats.org/drawingml/2006/main">
              <a:ext uri="{FF2B5EF4-FFF2-40B4-BE49-F238E27FC236}">
                <a16:creationId xmlns:a16="http://schemas.microsoft.com/office/drawing/2014/main" id="{174943F7-D308-4363-B917-01F17FD95837}"/>
              </a:ext>
            </a:extLst>
          </p:cNvPr>
          <p:cNvSpPr>
            <a:spLocks xmlns:a="http://schemas.openxmlformats.org/drawingml/2006/main" noGrp="1"/>
          </p:cNvSpPr>
          <p:nvPr/>
        </p:nvSpPr>
        <p:spPr>
          <a:xfrm xmlns:a="http://schemas.openxmlformats.org/drawingml/2006/main">
            <a:off x="6810375" y="3209925"/>
            <a:ext cx="82677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A5138BC3-7C1A-42EE-9E64-69586F44F6E9}"/>
              </a:ext>
            </a:extLst>
          </p:cNvPr>
          <p:cNvSpPr>
            <a:spLocks xmlns:a="http://schemas.openxmlformats.org/drawingml/2006/main" noGrp="1"/>
          </p:cNvSpPr>
          <p:nvPr/>
        </p:nvSpPr>
        <p:spPr>
          <a:xfrm xmlns:a="http://schemas.openxmlformats.org/drawingml/2006/main">
            <a:off x="5953125"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特徴2</a:t>
            </a:r>
          </a:p>
        </p:txBody>
      </p:sp>
      <p:sp>
        <p:nvSpPr>
          <p:cNvPr id="28" name="正方形/長方形 27">
            <a:extLst xmlns:a="http://schemas.openxmlformats.org/drawingml/2006/main">
              <a:ext uri="{FF2B5EF4-FFF2-40B4-BE49-F238E27FC236}">
                <a16:creationId xmlns:a16="http://schemas.microsoft.com/office/drawing/2014/main" id="{614BDDEF-52A9-4FE2-9F66-D5F7AA69E784}"/>
              </a:ext>
            </a:extLst>
          </p:cNvPr>
          <p:cNvSpPr>
            <a:spLocks xmlns:a="http://schemas.openxmlformats.org/drawingml/2006/main" noGrp="1"/>
          </p:cNvSpPr>
          <p:nvPr/>
        </p:nvSpPr>
        <p:spPr>
          <a:xfrm xmlns:a="http://schemas.openxmlformats.org/drawingml/2006/main">
            <a:off x="6810375" y="4019550"/>
            <a:ext cx="37338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120" name="直線矢印コネクタ 61"/>
          <p:cNvCxnSpPr/>
          <p:nvPr/>
        </p:nvCxnSpPr>
        <p:spPr>
          <a:xfrm xmlns:a="http://schemas.openxmlformats.org/drawingml/2006/main">
            <a:off x="8763000" y="1571625"/>
            <a:ext cx="0" cy="3714750"/>
          </a:xfrm>
          <a:prstGeom xmlns:a="http://schemas.openxmlformats.org/drawingml/2006/main" prst="straightConnector1">
            <a:avLst/>
          </a:prstGeom>
          <a:ln xmlns:a="http://schemas.openxmlformats.org/drawingml/2006/main" w="19050">
            <a:solidFill>
              <a:srgbClr val="CBD5E1"/>
            </a:solidFill>
            <a:prstDash val="solid"/>
          </a:ln>
        </p:spPr>
      </p:cxnSp>
      <p:sp>
        <p:nvSpPr>
          <p:cNvPr id="30" name="正方形/長方形 29">
            <a:extLst xmlns:a="http://schemas.openxmlformats.org/drawingml/2006/main">
              <a:ext uri="{FF2B5EF4-FFF2-40B4-BE49-F238E27FC236}">
                <a16:creationId xmlns:a16="http://schemas.microsoft.com/office/drawing/2014/main" id="{7232231D-4BA4-47E1-9658-6CC3BCF63FB7}"/>
              </a:ext>
            </a:extLst>
          </p:cNvPr>
          <p:cNvSpPr>
            <a:spLocks xmlns:a="http://schemas.openxmlformats.org/drawingml/2006/main" noGrp="1"/>
          </p:cNvSpPr>
          <p:nvPr/>
        </p:nvSpPr>
        <p:spPr>
          <a:xfrm xmlns:a="http://schemas.openxmlformats.org/drawingml/2006/main">
            <a:off x="9191625" y="1714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Hiragino Sans"/>
                <a:ea typeface="Hiragino Sans"/>
                <a:cs typeface="Hiragino Sans"/>
              </a:defRPr>
            </a:pPr>
            <a:r>
              <a:rPr sz="1800" b="1">
                <a:solidFill>
                  <a:srgbClr val="111827"/>
                </a:solidFill>
                <a:latin typeface="Hiragino Sans"/>
                <a:ea typeface="Hiragino Sans"/>
                <a:cs typeface="Hiragino Sans"/>
              </a:rPr>
              <a:t>利用者の問い</a:t>
            </a:r>
          </a:p>
        </p:txBody>
      </p:sp>
      <p:sp>
        <p:nvSpPr>
          <p:cNvPr id="31" name="正方形/長方形 30">
            <a:extLst xmlns:a="http://schemas.openxmlformats.org/drawingml/2006/main">
              <a:ext uri="{FF2B5EF4-FFF2-40B4-BE49-F238E27FC236}">
                <a16:creationId xmlns:a16="http://schemas.microsoft.com/office/drawing/2014/main" id="{9F56DB97-490B-4830-9353-CE920E8C62DC}"/>
              </a:ext>
            </a:extLst>
          </p:cNvPr>
          <p:cNvSpPr>
            <a:spLocks xmlns:a="http://schemas.openxmlformats.org/drawingml/2006/main" noGrp="1"/>
          </p:cNvSpPr>
          <p:nvPr/>
        </p:nvSpPr>
        <p:spPr>
          <a:xfrm xmlns:a="http://schemas.openxmlformats.org/drawingml/2006/main">
            <a:off x="9191625" y="2333625"/>
            <a:ext cx="2286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11827"/>
                </a:solidFill>
                <a:latin typeface="Hiragino Sans"/>
                <a:ea typeface="Hiragino Sans"/>
                <a:cs typeface="Hiragino Sans"/>
              </a:defRPr>
            </a:pPr>
            <a:r>
              <a:rPr sz="1875" b="1">
                <a:solidFill>
                  <a:srgbClr val="111827"/>
                </a:solidFill>
                <a:latin typeface="Hiragino Sans"/>
                <a:ea typeface="Hiragino Sans"/>
                <a:cs typeface="Hiragino Sans"/>
              </a:rPr>
              <a:t>Aに重要な特徴は</a:t>
            </a:r>
          </a:p>
          <a:p xmlns:a="http://schemas.openxmlformats.org/drawingml/2006/main">
            <a:pPr algn="l">
              <a:buNone/>
              <a:defRPr sz="1875" b="1">
                <a:solidFill>
                  <a:srgbClr val="111827"/>
                </a:solidFill>
                <a:latin typeface="Hiragino Sans"/>
                <a:ea typeface="Hiragino Sans"/>
                <a:cs typeface="Hiragino Sans"/>
              </a:defRPr>
            </a:pPr>
            <a:r>
              <a:rPr sz="1875" b="1">
                <a:solidFill>
                  <a:srgbClr val="111827"/>
                </a:solidFill>
                <a:latin typeface="Hiragino Sans"/>
                <a:ea typeface="Hiragino Sans"/>
                <a:cs typeface="Hiragino Sans"/>
              </a:rPr>
              <a:t>分かった。</a:t>
            </a:r>
          </a:p>
          <a:p xmlns:a="http://schemas.openxmlformats.org/drawingml/2006/main">
            <a:endParaRPr sz="1875" b="1">
              <a:solidFill>
                <a:srgbClr val="111827"/>
              </a:solidFill>
              <a:latin typeface="Hiragino Sans"/>
              <a:ea typeface="Hiragino Sans"/>
              <a:cs typeface="Hiragino Sans"/>
            </a:endParaRPr>
          </a:p>
          <a:p xmlns:a="http://schemas.openxmlformats.org/drawingml/2006/main">
            <a:pPr algn="l">
              <a:buNone/>
              <a:defRPr sz="1875" b="1">
                <a:solidFill>
                  <a:srgbClr val="111827"/>
                </a:solidFill>
                <a:latin typeface="Hiragino Sans"/>
                <a:ea typeface="Hiragino Sans"/>
                <a:cs typeface="Hiragino Sans"/>
              </a:defRPr>
            </a:pPr>
            <a:r>
              <a:rPr sz="1875" b="1">
                <a:solidFill>
                  <a:srgbClr val="111827"/>
                </a:solidFill>
                <a:latin typeface="Hiragino Sans"/>
                <a:ea typeface="Hiragino Sans"/>
                <a:cs typeface="Hiragino Sans"/>
              </a:rPr>
              <a:t>では、AとBを</a:t>
            </a:r>
          </a:p>
          <a:p xmlns:a="http://schemas.openxmlformats.org/drawingml/2006/main">
            <a:pPr algn="l">
              <a:buNone/>
              <a:defRPr sz="1875" b="1">
                <a:solidFill>
                  <a:srgbClr val="111827"/>
                </a:solidFill>
                <a:latin typeface="Hiragino Sans"/>
                <a:ea typeface="Hiragino Sans"/>
                <a:cs typeface="Hiragino Sans"/>
              </a:defRPr>
            </a:pPr>
            <a:r>
              <a:rPr sz="1875" b="1">
                <a:solidFill>
                  <a:srgbClr val="111827"/>
                </a:solidFill>
                <a:latin typeface="Hiragino Sans"/>
                <a:ea typeface="Hiragino Sans"/>
                <a:cs typeface="Hiragino Sans"/>
              </a:rPr>
              <a:t>分けた特徴は？</a:t>
            </a:r>
          </a:p>
          <a:p xmlns:a="http://schemas.openxmlformats.org/drawingml/2006/main">
            <a:endParaRPr sz="1875" b="1">
              <a:solidFill>
                <a:srgbClr val="111827"/>
              </a:solidFill>
              <a:latin typeface="Hiragino Sans"/>
              <a:ea typeface="Hiragino Sans"/>
              <a:cs typeface="Hiragino Sans"/>
            </a:endParaRPr>
          </a:p>
          <a:p xmlns:a="http://schemas.openxmlformats.org/drawingml/2006/main">
            <a:pPr algn="l">
              <a:buNone/>
              <a:defRPr sz="1875" b="1">
                <a:solidFill>
                  <a:srgbClr val="111827"/>
                </a:solidFill>
                <a:latin typeface="Hiragino Sans"/>
                <a:ea typeface="Hiragino Sans"/>
                <a:cs typeface="Hiragino Sans"/>
              </a:defRPr>
            </a:pPr>
            <a:r>
              <a:rPr sz="1875" b="1">
                <a:solidFill>
                  <a:srgbClr val="111827"/>
                </a:solidFill>
                <a:latin typeface="Hiragino Sans"/>
                <a:ea typeface="Hiragino Sans"/>
                <a:cs typeface="Hiragino Sans"/>
              </a:rPr>
              <a:t>3つの説明を</a:t>
            </a:r>
          </a:p>
          <a:p xmlns:a="http://schemas.openxmlformats.org/drawingml/2006/main">
            <a:pPr algn="l">
              <a:buNone/>
              <a:defRPr sz="1875" b="1">
                <a:solidFill>
                  <a:srgbClr val="111827"/>
                </a:solidFill>
                <a:latin typeface="Hiragino Sans"/>
                <a:ea typeface="Hiragino Sans"/>
                <a:cs typeface="Hiragino Sans"/>
              </a:defRPr>
            </a:pPr>
            <a:r>
              <a:rPr sz="1875" b="1">
                <a:solidFill>
                  <a:srgbClr val="111827"/>
                </a:solidFill>
                <a:latin typeface="Hiragino Sans"/>
                <a:ea typeface="Hiragino Sans"/>
                <a:cs typeface="Hiragino Sans"/>
              </a:rPr>
              <a:t>どう統合する？</a:t>
            </a:r>
          </a:p>
        </p:txBody>
      </p:sp>
      <p:sp>
        <p:nvSpPr>
          <p:cNvPr id="32" name="正方形/長方形 31">
            <a:extLst xmlns:a="http://schemas.openxmlformats.org/drawingml/2006/main">
              <a:ext uri="{FF2B5EF4-FFF2-40B4-BE49-F238E27FC236}">
                <a16:creationId xmlns:a16="http://schemas.microsoft.com/office/drawing/2014/main" id="{E95F6C0E-BC0D-4324-B70F-DCDFBA841217}"/>
              </a:ext>
            </a:extLst>
          </p:cNvPr>
          <p:cNvSpPr>
            <a:spLocks xmlns:a="http://schemas.openxmlformats.org/drawingml/2006/main" noGrp="1"/>
          </p:cNvSpPr>
          <p:nvPr/>
        </p:nvSpPr>
        <p:spPr>
          <a:xfrm xmlns:a="http://schemas.openxmlformats.org/drawingml/2006/main">
            <a:off x="523875" y="5286375"/>
            <a:ext cx="10953750" cy="723900"/>
          </a:xfrm>
          <a:prstGeom xmlns:a="http://schemas.openxmlformats.org/drawingml/2006/main" prst="rect">
            <a:avLst/>
          </a:prstGeom>
          <a:solidFill xmlns:a="http://schemas.openxmlformats.org/drawingml/2006/main">
            <a:srgbClr val="FEF3C7"/>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CB536421-6262-49CC-89E1-3DC517AE4966}"/>
              </a:ext>
            </a:extLst>
          </p:cNvPr>
          <p:cNvSpPr>
            <a:spLocks xmlns:a="http://schemas.openxmlformats.org/drawingml/2006/main" noGrp="1"/>
          </p:cNvSpPr>
          <p:nvPr/>
        </p:nvSpPr>
        <p:spPr>
          <a:xfrm xmlns:a="http://schemas.openxmlformats.org/drawingml/2006/main">
            <a:off x="1095375" y="54864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725" b="1">
                <a:solidFill>
                  <a:srgbClr val="111827"/>
                </a:solidFill>
                <a:latin typeface="Hiragino Sans"/>
                <a:ea typeface="Hiragino Sans"/>
                <a:cs typeface="Hiragino Sans"/>
              </a:defRPr>
            </a:pPr>
            <a:r>
              <a:rPr sz="1725" b="1">
                <a:solidFill>
                  <a:srgbClr val="111827"/>
                </a:solidFill>
                <a:latin typeface="Hiragino Sans"/>
                <a:ea typeface="Hiragino Sans"/>
                <a:cs typeface="Hiragino Sans"/>
              </a:rPr>
              <a:t>問題は「各説明が誤り」ではなく、クラス間の関係を読む認知的負担</a:t>
            </a:r>
          </a:p>
        </p:txBody>
      </p:sp>
    </p:spTree>
    <p:extLst>
      <p:ext uri="{BB962C8B-B14F-4D97-AF65-F5344CB8AC3E}">
        <p14:creationId xmlns:p14="http://schemas.microsoft.com/office/powerpoint/2010/main" val="978290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正方形/長方形 45">
            <a:extLst xmlns:a="http://schemas.openxmlformats.org/drawingml/2006/main">
              <a:ext uri="{FF2B5EF4-FFF2-40B4-BE49-F238E27FC236}">
                <a16:creationId xmlns:a16="http://schemas.microsoft.com/office/drawing/2014/main" id="{59738E81-F6C4-4531-AB19-9EDA5ABBC955}"/>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8-title">
            <a:extLst xmlns:a="http://schemas.openxmlformats.org/drawingml/2006/main">
              <a:ext uri="{FF2B5EF4-FFF2-40B4-BE49-F238E27FC236}">
                <a16:creationId xmlns:a16="http://schemas.microsoft.com/office/drawing/2014/main" id="{F3FD66B9-7430-420A-B2A9-041FF42B49FC}"/>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LIMEtreeは一つの木で複数クラスを説明する</a:t>
            </a:r>
          </a:p>
        </p:txBody>
      </p:sp>
      <p:sp>
        <p:nvSpPr>
          <p:cNvPr id="3" name="slide-8-subtitle">
            <a:extLst xmlns:a="http://schemas.openxmlformats.org/drawingml/2006/main">
              <a:ext uri="{FF2B5EF4-FFF2-40B4-BE49-F238E27FC236}">
                <a16:creationId xmlns:a16="http://schemas.microsoft.com/office/drawing/2014/main" id="{52BD7DA0-187B-43DF-904F-DC9474E23FF4}"/>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クラス別のモデルではなく、全クラスで共通の分岐構造を使う</a:t>
            </a:r>
          </a:p>
        </p:txBody>
      </p:sp>
      <p:sp>
        <p:nvSpPr>
          <p:cNvPr id="4" name="正方形/長方形 3">
            <a:extLst xmlns:a="http://schemas.openxmlformats.org/drawingml/2006/main">
              <a:ext uri="{FF2B5EF4-FFF2-40B4-BE49-F238E27FC236}">
                <a16:creationId xmlns:a16="http://schemas.microsoft.com/office/drawing/2014/main" id="{D0E8DFFC-C374-49A4-A807-F55BC0E12193}"/>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10</a:t>
            </a:r>
          </a:p>
        </p:txBody>
      </p:sp>
      <p:sp>
        <p:nvSpPr>
          <p:cNvPr id="5" name="正方形/長方形 4">
            <a:extLst xmlns:a="http://schemas.openxmlformats.org/drawingml/2006/main">
              <a:ext uri="{FF2B5EF4-FFF2-40B4-BE49-F238E27FC236}">
                <a16:creationId xmlns:a16="http://schemas.microsoft.com/office/drawing/2014/main" id="{24FE4798-00C3-4FDA-8D41-7047733B5770}"/>
              </a:ext>
            </a:extLst>
          </p:cNvPr>
          <p:cNvSpPr>
            <a:spLocks xmlns:a="http://schemas.openxmlformats.org/drawingml/2006/main" noGrp="1"/>
          </p:cNvSpPr>
          <p:nvPr/>
        </p:nvSpPr>
        <p:spPr>
          <a:xfrm xmlns:a="http://schemas.openxmlformats.org/drawingml/2006/main">
            <a:off x="666750" y="1524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025" b="1">
                <a:solidFill>
                  <a:srgbClr val="2563EB"/>
                </a:solidFill>
                <a:latin typeface="Hiragino Sans"/>
                <a:ea typeface="Hiragino Sans"/>
                <a:cs typeface="Hiragino Sans"/>
              </a:defRPr>
            </a:pPr>
            <a:r>
              <a:rPr sz="2025" b="1">
                <a:solidFill>
                  <a:srgbClr val="2563EB"/>
                </a:solidFill>
                <a:latin typeface="Hiragino Sans"/>
                <a:ea typeface="Hiragino Sans"/>
                <a:cs typeface="Hiragino Sans"/>
              </a:rPr>
              <a:t>LIME</a:t>
            </a:r>
          </a:p>
        </p:txBody>
      </p:sp>
      <p:sp>
        <p:nvSpPr>
          <p:cNvPr id="6" name="正方形/長方形 5">
            <a:extLst xmlns:a="http://schemas.openxmlformats.org/drawingml/2006/main">
              <a:ext uri="{FF2B5EF4-FFF2-40B4-BE49-F238E27FC236}">
                <a16:creationId xmlns:a16="http://schemas.microsoft.com/office/drawing/2014/main" id="{1E95490E-C233-43BF-81F4-EF0B677F0237}"/>
              </a:ext>
            </a:extLst>
          </p:cNvPr>
          <p:cNvSpPr>
            <a:spLocks xmlns:a="http://schemas.openxmlformats.org/drawingml/2006/main" noGrp="1"/>
          </p:cNvSpPr>
          <p:nvPr/>
        </p:nvSpPr>
        <p:spPr>
          <a:xfrm xmlns:a="http://schemas.openxmlformats.org/drawingml/2006/main">
            <a:off x="666750" y="18859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Hiragino Sans"/>
                <a:ea typeface="Hiragino Sans"/>
                <a:cs typeface="Hiragino Sans"/>
              </a:defRPr>
            </a:pPr>
            <a:r>
              <a:rPr sz="1350" b="0">
                <a:solidFill>
                  <a:srgbClr val="64748B"/>
                </a:solidFill>
                <a:latin typeface="Hiragino Sans"/>
                <a:ea typeface="Hiragino Sans"/>
                <a:cs typeface="Hiragino Sans"/>
              </a:rPr>
              <a:t>別々の構造</a:t>
            </a:r>
          </a:p>
        </p:txBody>
      </p:sp>
      <p:sp>
        <p:nvSpPr>
          <p:cNvPr id="7" name="正方形/長方形 6">
            <a:extLst xmlns:a="http://schemas.openxmlformats.org/drawingml/2006/main">
              <a:ext uri="{FF2B5EF4-FFF2-40B4-BE49-F238E27FC236}">
                <a16:creationId xmlns:a16="http://schemas.microsoft.com/office/drawing/2014/main" id="{96AFA24C-0106-4CAE-BEC4-22632775EF74}"/>
              </a:ext>
            </a:extLst>
          </p:cNvPr>
          <p:cNvSpPr>
            <a:spLocks xmlns:a="http://schemas.openxmlformats.org/drawingml/2006/main" noGrp="1"/>
          </p:cNvSpPr>
          <p:nvPr/>
        </p:nvSpPr>
        <p:spPr>
          <a:xfrm xmlns:a="http://schemas.openxmlformats.org/drawingml/2006/main">
            <a:off x="762000" y="23622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BD7001C6-2696-4206-A863-5E21CEC1DA4C}"/>
              </a:ext>
            </a:extLst>
          </p:cNvPr>
          <p:cNvSpPr>
            <a:spLocks xmlns:a="http://schemas.openxmlformats.org/drawingml/2006/main" noGrp="1"/>
          </p:cNvSpPr>
          <p:nvPr/>
        </p:nvSpPr>
        <p:spPr>
          <a:xfrm xmlns:a="http://schemas.openxmlformats.org/drawingml/2006/main">
            <a:off x="933450" y="26003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Hiragino Sans"/>
                <a:ea typeface="Hiragino Sans"/>
                <a:cs typeface="Hiragino Sans"/>
              </a:defRPr>
            </a:pPr>
            <a:r>
              <a:rPr sz="1500" b="1">
                <a:solidFill>
                  <a:srgbClr val="2563EB"/>
                </a:solidFill>
                <a:latin typeface="Hiragino Sans"/>
                <a:ea typeface="Hiragino Sans"/>
                <a:cs typeface="Hiragino Sans"/>
              </a:rPr>
              <a:t>A用モデル</a:t>
            </a:r>
          </a:p>
        </p:txBody>
      </p:sp>
      <p:sp>
        <p:nvSpPr>
          <p:cNvPr id="9" name="正方形/長方形 8">
            <a:extLst xmlns:a="http://schemas.openxmlformats.org/drawingml/2006/main">
              <a:ext uri="{FF2B5EF4-FFF2-40B4-BE49-F238E27FC236}">
                <a16:creationId xmlns:a16="http://schemas.microsoft.com/office/drawing/2014/main" id="{F922B255-D477-45A3-B820-F36EFA6A2AF5}"/>
              </a:ext>
            </a:extLst>
          </p:cNvPr>
          <p:cNvSpPr>
            <a:spLocks xmlns:a="http://schemas.openxmlformats.org/drawingml/2006/main" noGrp="1"/>
          </p:cNvSpPr>
          <p:nvPr/>
        </p:nvSpPr>
        <p:spPr>
          <a:xfrm xmlns:a="http://schemas.openxmlformats.org/drawingml/2006/main">
            <a:off x="2333625" y="2505075"/>
            <a:ext cx="1752600"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269A3289-7FE4-4444-ACF2-DFBC8BED8F4F}"/>
              </a:ext>
            </a:extLst>
          </p:cNvPr>
          <p:cNvSpPr>
            <a:spLocks xmlns:a="http://schemas.openxmlformats.org/drawingml/2006/main" noGrp="1"/>
          </p:cNvSpPr>
          <p:nvPr/>
        </p:nvSpPr>
        <p:spPr>
          <a:xfrm xmlns:a="http://schemas.openxmlformats.org/drawingml/2006/main">
            <a:off x="2333625" y="2695575"/>
            <a:ext cx="1095375"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5BC46850-0B41-4677-B6EC-6855531A5A3F}"/>
              </a:ext>
            </a:extLst>
          </p:cNvPr>
          <p:cNvSpPr>
            <a:spLocks xmlns:a="http://schemas.openxmlformats.org/drawingml/2006/main" noGrp="1"/>
          </p:cNvSpPr>
          <p:nvPr/>
        </p:nvSpPr>
        <p:spPr>
          <a:xfrm xmlns:a="http://schemas.openxmlformats.org/drawingml/2006/main">
            <a:off x="2333625" y="2886075"/>
            <a:ext cx="547688"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46F30386-DA56-4F9B-BDC1-E6BF75B6D642}"/>
              </a:ext>
            </a:extLst>
          </p:cNvPr>
          <p:cNvSpPr>
            <a:spLocks xmlns:a="http://schemas.openxmlformats.org/drawingml/2006/main" noGrp="1"/>
          </p:cNvSpPr>
          <p:nvPr/>
        </p:nvSpPr>
        <p:spPr>
          <a:xfrm xmlns:a="http://schemas.openxmlformats.org/drawingml/2006/main">
            <a:off x="762000" y="34290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1ED1AE1D-7C8A-4A06-81D1-CDE2C5072AD5}"/>
              </a:ext>
            </a:extLst>
          </p:cNvPr>
          <p:cNvSpPr>
            <a:spLocks xmlns:a="http://schemas.openxmlformats.org/drawingml/2006/main" noGrp="1"/>
          </p:cNvSpPr>
          <p:nvPr/>
        </p:nvSpPr>
        <p:spPr>
          <a:xfrm xmlns:a="http://schemas.openxmlformats.org/drawingml/2006/main">
            <a:off x="933450" y="36671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F59E0B"/>
                </a:solidFill>
                <a:latin typeface="Hiragino Sans"/>
                <a:ea typeface="Hiragino Sans"/>
                <a:cs typeface="Hiragino Sans"/>
              </a:defRPr>
            </a:pPr>
            <a:r>
              <a:rPr sz="1500" b="1">
                <a:solidFill>
                  <a:srgbClr val="F59E0B"/>
                </a:solidFill>
                <a:latin typeface="Hiragino Sans"/>
                <a:ea typeface="Hiragino Sans"/>
                <a:cs typeface="Hiragino Sans"/>
              </a:rPr>
              <a:t>B用モデル</a:t>
            </a:r>
          </a:p>
        </p:txBody>
      </p:sp>
      <p:sp>
        <p:nvSpPr>
          <p:cNvPr id="14" name="正方形/長方形 13">
            <a:extLst xmlns:a="http://schemas.openxmlformats.org/drawingml/2006/main">
              <a:ext uri="{FF2B5EF4-FFF2-40B4-BE49-F238E27FC236}">
                <a16:creationId xmlns:a16="http://schemas.microsoft.com/office/drawing/2014/main" id="{E94A470E-B142-4A8D-BD95-9433DCD30B46}"/>
              </a:ext>
            </a:extLst>
          </p:cNvPr>
          <p:cNvSpPr>
            <a:spLocks xmlns:a="http://schemas.openxmlformats.org/drawingml/2006/main" noGrp="1"/>
          </p:cNvSpPr>
          <p:nvPr/>
        </p:nvSpPr>
        <p:spPr>
          <a:xfrm xmlns:a="http://schemas.openxmlformats.org/drawingml/2006/main">
            <a:off x="2333625" y="3571875"/>
            <a:ext cx="547688"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正方形/長方形 14">
            <a:extLst xmlns:a="http://schemas.openxmlformats.org/drawingml/2006/main">
              <a:ext uri="{FF2B5EF4-FFF2-40B4-BE49-F238E27FC236}">
                <a16:creationId xmlns:a16="http://schemas.microsoft.com/office/drawing/2014/main" id="{A18886E4-3FF2-477F-B3A8-72267898E19A}"/>
              </a:ext>
            </a:extLst>
          </p:cNvPr>
          <p:cNvSpPr>
            <a:spLocks xmlns:a="http://schemas.openxmlformats.org/drawingml/2006/main" noGrp="1"/>
          </p:cNvSpPr>
          <p:nvPr/>
        </p:nvSpPr>
        <p:spPr>
          <a:xfrm xmlns:a="http://schemas.openxmlformats.org/drawingml/2006/main">
            <a:off x="2333625" y="3762375"/>
            <a:ext cx="1533525"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67DB2A10-1F68-4345-B56C-D061B2194964}"/>
              </a:ext>
            </a:extLst>
          </p:cNvPr>
          <p:cNvSpPr>
            <a:spLocks xmlns:a="http://schemas.openxmlformats.org/drawingml/2006/main" noGrp="1"/>
          </p:cNvSpPr>
          <p:nvPr/>
        </p:nvSpPr>
        <p:spPr>
          <a:xfrm xmlns:a="http://schemas.openxmlformats.org/drawingml/2006/main">
            <a:off x="2333625" y="3952875"/>
            <a:ext cx="920115"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7DFD5146-FC10-475F-B6A6-09B8BFD73D5A}"/>
              </a:ext>
            </a:extLst>
          </p:cNvPr>
          <p:cNvSpPr>
            <a:spLocks xmlns:a="http://schemas.openxmlformats.org/drawingml/2006/main" noGrp="1"/>
          </p:cNvSpPr>
          <p:nvPr/>
        </p:nvSpPr>
        <p:spPr>
          <a:xfrm xmlns:a="http://schemas.openxmlformats.org/drawingml/2006/main">
            <a:off x="762000" y="44958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CC6EFBC9-ADCD-4D5F-8470-0BCD98783CA9}"/>
              </a:ext>
            </a:extLst>
          </p:cNvPr>
          <p:cNvSpPr>
            <a:spLocks xmlns:a="http://schemas.openxmlformats.org/drawingml/2006/main" noGrp="1"/>
          </p:cNvSpPr>
          <p:nvPr/>
        </p:nvSpPr>
        <p:spPr>
          <a:xfrm xmlns:a="http://schemas.openxmlformats.org/drawingml/2006/main">
            <a:off x="933450" y="47339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0B981"/>
                </a:solidFill>
                <a:latin typeface="Hiragino Sans"/>
                <a:ea typeface="Hiragino Sans"/>
                <a:cs typeface="Hiragino Sans"/>
              </a:defRPr>
            </a:pPr>
            <a:r>
              <a:rPr sz="1500" b="1">
                <a:solidFill>
                  <a:srgbClr val="10B981"/>
                </a:solidFill>
                <a:latin typeface="Hiragino Sans"/>
                <a:ea typeface="Hiragino Sans"/>
                <a:cs typeface="Hiragino Sans"/>
              </a:rPr>
              <a:t>C用モデル</a:t>
            </a:r>
          </a:p>
        </p:txBody>
      </p:sp>
      <p:sp>
        <p:nvSpPr>
          <p:cNvPr id="19" name="正方形/長方形 18">
            <a:extLst xmlns:a="http://schemas.openxmlformats.org/drawingml/2006/main">
              <a:ext uri="{FF2B5EF4-FFF2-40B4-BE49-F238E27FC236}">
                <a16:creationId xmlns:a16="http://schemas.microsoft.com/office/drawing/2014/main" id="{67F49C43-B343-467A-9FCF-E8F6C644638A}"/>
              </a:ext>
            </a:extLst>
          </p:cNvPr>
          <p:cNvSpPr>
            <a:spLocks xmlns:a="http://schemas.openxmlformats.org/drawingml/2006/main" noGrp="1"/>
          </p:cNvSpPr>
          <p:nvPr/>
        </p:nvSpPr>
        <p:spPr>
          <a:xfrm xmlns:a="http://schemas.openxmlformats.org/drawingml/2006/main">
            <a:off x="2333625" y="4638675"/>
            <a:ext cx="1204913"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64123C47-94FC-43AA-B7DC-4F54D515A355}"/>
              </a:ext>
            </a:extLst>
          </p:cNvPr>
          <p:cNvSpPr>
            <a:spLocks xmlns:a="http://schemas.openxmlformats.org/drawingml/2006/main" noGrp="1"/>
          </p:cNvSpPr>
          <p:nvPr/>
        </p:nvSpPr>
        <p:spPr>
          <a:xfrm xmlns:a="http://schemas.openxmlformats.org/drawingml/2006/main">
            <a:off x="2333625" y="4829175"/>
            <a:ext cx="438150"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C5461A91-FD87-4690-AB81-B3346262672A}"/>
              </a:ext>
            </a:extLst>
          </p:cNvPr>
          <p:cNvSpPr>
            <a:spLocks xmlns:a="http://schemas.openxmlformats.org/drawingml/2006/main" noGrp="1"/>
          </p:cNvSpPr>
          <p:nvPr/>
        </p:nvSpPr>
        <p:spPr>
          <a:xfrm xmlns:a="http://schemas.openxmlformats.org/drawingml/2006/main">
            <a:off x="2333625" y="5019675"/>
            <a:ext cx="1643063"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127" name="直線矢印コネクタ 66"/>
          <p:cNvCxnSpPr/>
          <p:nvPr/>
        </p:nvCxnSpPr>
        <p:spPr>
          <a:xfrm xmlns:a="http://schemas.openxmlformats.org/drawingml/2006/main">
            <a:off x="5810250" y="1476375"/>
            <a:ext cx="0" cy="4238625"/>
          </a:xfrm>
          <a:prstGeom xmlns:a="http://schemas.openxmlformats.org/drawingml/2006/main" prst="straightConnector1">
            <a:avLst/>
          </a:prstGeom>
          <a:ln xmlns:a="http://schemas.openxmlformats.org/drawingml/2006/main" w="19050">
            <a:solidFill>
              <a:srgbClr val="CBD5E1"/>
            </a:solidFill>
            <a:prstDash val="solid"/>
          </a:ln>
        </p:spPr>
      </p:cxnSp>
      <p:sp>
        <p:nvSpPr>
          <p:cNvPr id="23" name="正方形/長方形 22">
            <a:extLst xmlns:a="http://schemas.openxmlformats.org/drawingml/2006/main">
              <a:ext uri="{FF2B5EF4-FFF2-40B4-BE49-F238E27FC236}">
                <a16:creationId xmlns:a16="http://schemas.microsoft.com/office/drawing/2014/main" id="{5C81591A-8791-493C-BF74-743E2783A23D}"/>
              </a:ext>
            </a:extLst>
          </p:cNvPr>
          <p:cNvSpPr>
            <a:spLocks xmlns:a="http://schemas.openxmlformats.org/drawingml/2006/main" noGrp="1"/>
          </p:cNvSpPr>
          <p:nvPr/>
        </p:nvSpPr>
        <p:spPr>
          <a:xfrm xmlns:a="http://schemas.openxmlformats.org/drawingml/2006/main">
            <a:off x="6572250" y="15240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025" b="1">
                <a:solidFill>
                  <a:srgbClr val="10B981"/>
                </a:solidFill>
                <a:latin typeface="Hiragino Sans"/>
                <a:ea typeface="Hiragino Sans"/>
                <a:cs typeface="Hiragino Sans"/>
              </a:defRPr>
            </a:pPr>
            <a:r>
              <a:rPr sz="2025" b="1">
                <a:solidFill>
                  <a:srgbClr val="10B981"/>
                </a:solidFill>
                <a:latin typeface="Hiragino Sans"/>
                <a:ea typeface="Hiragino Sans"/>
                <a:cs typeface="Hiragino Sans"/>
              </a:rPr>
              <a:t>LIMEtree</a:t>
            </a:r>
          </a:p>
        </p:txBody>
      </p:sp>
      <p:sp>
        <p:nvSpPr>
          <p:cNvPr id="24" name="正方形/長方形 23">
            <a:extLst xmlns:a="http://schemas.openxmlformats.org/drawingml/2006/main">
              <a:ext uri="{FF2B5EF4-FFF2-40B4-BE49-F238E27FC236}">
                <a16:creationId xmlns:a16="http://schemas.microsoft.com/office/drawing/2014/main" id="{86CDF51C-45AC-449E-AB42-5386FD1D2C56}"/>
              </a:ext>
            </a:extLst>
          </p:cNvPr>
          <p:cNvSpPr>
            <a:spLocks xmlns:a="http://schemas.openxmlformats.org/drawingml/2006/main" noGrp="1"/>
          </p:cNvSpPr>
          <p:nvPr/>
        </p:nvSpPr>
        <p:spPr>
          <a:xfrm xmlns:a="http://schemas.openxmlformats.org/drawingml/2006/main">
            <a:off x="6572250" y="1885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Hiragino Sans"/>
                <a:ea typeface="Hiragino Sans"/>
                <a:cs typeface="Hiragino Sans"/>
              </a:defRPr>
            </a:pPr>
            <a:r>
              <a:rPr sz="1350" b="0">
                <a:solidFill>
                  <a:srgbClr val="64748B"/>
                </a:solidFill>
                <a:latin typeface="Hiragino Sans"/>
                <a:ea typeface="Hiragino Sans"/>
                <a:cs typeface="Hiragino Sans"/>
              </a:rPr>
              <a:t>共通の構造</a:t>
            </a:r>
          </a:p>
        </p:txBody>
      </p:sp>
      <p:cxnSp>
        <p:nvCxnSpPr>
          <p:cNvPr id="130" name="直線矢印コネクタ 69"/>
          <p:cNvCxnSpPr/>
          <p:nvPr/>
        </p:nvCxnSpPr>
        <p:spPr>
          <a:xfrm xmlns:a="http://schemas.openxmlformats.org/drawingml/2006/main">
            <a:off x="7620000" y="3067050"/>
            <a:ext cx="1190625" cy="457200"/>
          </a:xfrm>
          <a:prstGeom xmlns:a="http://schemas.openxmlformats.org/drawingml/2006/main" prst="straightConnector1">
            <a:avLst/>
          </a:prstGeom>
          <a:ln xmlns:a="http://schemas.openxmlformats.org/drawingml/2006/main" w="28575">
            <a:solidFill>
              <a:srgbClr val="111827"/>
            </a:solidFill>
            <a:prstDash val="solid"/>
          </a:ln>
        </p:spPr>
      </p:cxnSp>
      <p:cxnSp>
        <p:nvCxnSpPr>
          <p:cNvPr id="131" name="直線矢印コネクタ 70"/>
          <p:cNvCxnSpPr/>
          <p:nvPr/>
        </p:nvCxnSpPr>
        <p:spPr>
          <a:xfrm xmlns:a="http://schemas.openxmlformats.org/drawingml/2006/main">
            <a:off x="8810625" y="3067050"/>
            <a:ext cx="1190625" cy="457200"/>
          </a:xfrm>
          <a:prstGeom xmlns:a="http://schemas.openxmlformats.org/drawingml/2006/main" prst="straightConnector1">
            <a:avLst/>
          </a:prstGeom>
          <a:ln xmlns:a="http://schemas.openxmlformats.org/drawingml/2006/main" w="28575">
            <a:solidFill>
              <a:srgbClr val="111827"/>
            </a:solidFill>
            <a:prstDash val="solid"/>
          </a:ln>
        </p:spPr>
      </p:cxnSp>
      <p:cxnSp>
        <p:nvCxnSpPr>
          <p:cNvPr id="132" name="直線矢印コネクタ 71"/>
          <p:cNvCxnSpPr/>
          <p:nvPr/>
        </p:nvCxnSpPr>
        <p:spPr>
          <a:xfrm xmlns:a="http://schemas.openxmlformats.org/drawingml/2006/main">
            <a:off x="693420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33" name="直線矢印コネクタ 72"/>
          <p:cNvCxnSpPr/>
          <p:nvPr/>
        </p:nvCxnSpPr>
        <p:spPr>
          <a:xfrm xmlns:a="http://schemas.openxmlformats.org/drawingml/2006/main">
            <a:off x="762000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34" name="直線矢印コネクタ 73"/>
          <p:cNvCxnSpPr/>
          <p:nvPr/>
        </p:nvCxnSpPr>
        <p:spPr>
          <a:xfrm xmlns:a="http://schemas.openxmlformats.org/drawingml/2006/main">
            <a:off x="931545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35" name="直線矢印コネクタ 74"/>
          <p:cNvCxnSpPr/>
          <p:nvPr/>
        </p:nvCxnSpPr>
        <p:spPr>
          <a:xfrm xmlns:a="http://schemas.openxmlformats.org/drawingml/2006/main">
            <a:off x="1000125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sp>
        <p:nvSpPr>
          <p:cNvPr id="31" name="正方形/長方形 30">
            <a:extLst xmlns:a="http://schemas.openxmlformats.org/drawingml/2006/main">
              <a:ext uri="{FF2B5EF4-FFF2-40B4-BE49-F238E27FC236}">
                <a16:creationId xmlns:a16="http://schemas.microsoft.com/office/drawing/2014/main" id="{241569BD-7DE1-4F50-B813-1CE3F2D27CC3}"/>
              </a:ext>
            </a:extLst>
          </p:cNvPr>
          <p:cNvSpPr>
            <a:spLocks xmlns:a="http://schemas.openxmlformats.org/drawingml/2006/main" noGrp="1"/>
          </p:cNvSpPr>
          <p:nvPr/>
        </p:nvSpPr>
        <p:spPr>
          <a:xfrm xmlns:a="http://schemas.openxmlformats.org/drawingml/2006/main">
            <a:off x="8048625" y="2381250"/>
            <a:ext cx="1524000" cy="6858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63476F83-8D2F-4C17-AE28-3F7BFB29225F}"/>
              </a:ext>
            </a:extLst>
          </p:cNvPr>
          <p:cNvSpPr>
            <a:spLocks xmlns:a="http://schemas.openxmlformats.org/drawingml/2006/main" noGrp="1"/>
          </p:cNvSpPr>
          <p:nvPr/>
        </p:nvSpPr>
        <p:spPr>
          <a:xfrm xmlns:a="http://schemas.openxmlformats.org/drawingml/2006/main">
            <a:off x="8048625" y="25622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FFFFFF"/>
                </a:solidFill>
                <a:latin typeface="Hiragino Sans"/>
                <a:ea typeface="Hiragino Sans"/>
                <a:cs typeface="Hiragino Sans"/>
              </a:defRPr>
            </a:pPr>
            <a:r>
              <a:rPr sz="1575" b="1">
                <a:solidFill>
                  <a:srgbClr val="FFFFFF"/>
                </a:solidFill>
                <a:latin typeface="Hiragino Sans"/>
                <a:ea typeface="Hiragino Sans"/>
                <a:cs typeface="Hiragino Sans"/>
              </a:rPr>
              <a:t>特徴1 &gt; ?</a:t>
            </a:r>
          </a:p>
        </p:txBody>
      </p:sp>
      <p:sp>
        <p:nvSpPr>
          <p:cNvPr id="33" name="正方形/長方形 32">
            <a:extLst xmlns:a="http://schemas.openxmlformats.org/drawingml/2006/main">
              <a:ext uri="{FF2B5EF4-FFF2-40B4-BE49-F238E27FC236}">
                <a16:creationId xmlns:a16="http://schemas.microsoft.com/office/drawing/2014/main" id="{47DE8A59-4CBB-4F98-88E1-936175E3BD77}"/>
              </a:ext>
            </a:extLst>
          </p:cNvPr>
          <p:cNvSpPr>
            <a:spLocks xmlns:a="http://schemas.openxmlformats.org/drawingml/2006/main" noGrp="1"/>
          </p:cNvSpPr>
          <p:nvPr/>
        </p:nvSpPr>
        <p:spPr>
          <a:xfrm xmlns:a="http://schemas.openxmlformats.org/drawingml/2006/main">
            <a:off x="7000875" y="3524250"/>
            <a:ext cx="1238250" cy="609600"/>
          </a:xfrm>
          <a:prstGeom xmlns:a="http://schemas.openxmlformats.org/drawingml/2006/main" prst="rect">
            <a:avLst/>
          </a:prstGeom>
          <a:solidFill xmlns:a="http://schemas.openxmlformats.org/drawingml/2006/main">
            <a:srgbClr val="F3F4F6"/>
          </a:solidFill>
          <a:ln xmlns:a="http://schemas.openxmlformats.org/drawingml/2006/main" w="1905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71FB4C63-408C-471B-8CFE-3410D779EAA5}"/>
              </a:ext>
            </a:extLst>
          </p:cNvPr>
          <p:cNvSpPr>
            <a:spLocks xmlns:a="http://schemas.openxmlformats.org/drawingml/2006/main" noGrp="1"/>
          </p:cNvSpPr>
          <p:nvPr/>
        </p:nvSpPr>
        <p:spPr>
          <a:xfrm xmlns:a="http://schemas.openxmlformats.org/drawingml/2006/main">
            <a:off x="7000875" y="3695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特徴2 &gt; ?</a:t>
            </a:r>
          </a:p>
        </p:txBody>
      </p:sp>
      <p:sp>
        <p:nvSpPr>
          <p:cNvPr id="35" name="正方形/長方形 34">
            <a:extLst xmlns:a="http://schemas.openxmlformats.org/drawingml/2006/main">
              <a:ext uri="{FF2B5EF4-FFF2-40B4-BE49-F238E27FC236}">
                <a16:creationId xmlns:a16="http://schemas.microsoft.com/office/drawing/2014/main" id="{F1DD4D9C-4CBB-4CD2-B8EB-96859020A933}"/>
              </a:ext>
            </a:extLst>
          </p:cNvPr>
          <p:cNvSpPr>
            <a:spLocks xmlns:a="http://schemas.openxmlformats.org/drawingml/2006/main" noGrp="1"/>
          </p:cNvSpPr>
          <p:nvPr/>
        </p:nvSpPr>
        <p:spPr>
          <a:xfrm xmlns:a="http://schemas.openxmlformats.org/drawingml/2006/main">
            <a:off x="9382125" y="3524250"/>
            <a:ext cx="1238250" cy="609600"/>
          </a:xfrm>
          <a:prstGeom xmlns:a="http://schemas.openxmlformats.org/drawingml/2006/main" prst="rect">
            <a:avLst/>
          </a:prstGeom>
          <a:solidFill xmlns:a="http://schemas.openxmlformats.org/drawingml/2006/main">
            <a:srgbClr val="F3F4F6"/>
          </a:solidFill>
          <a:ln xmlns:a="http://schemas.openxmlformats.org/drawingml/2006/main" w="1905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23086ECD-78AC-4A54-9536-F22FADF8FB06}"/>
              </a:ext>
            </a:extLst>
          </p:cNvPr>
          <p:cNvSpPr>
            <a:spLocks xmlns:a="http://schemas.openxmlformats.org/drawingml/2006/main" noGrp="1"/>
          </p:cNvSpPr>
          <p:nvPr/>
        </p:nvSpPr>
        <p:spPr>
          <a:xfrm xmlns:a="http://schemas.openxmlformats.org/drawingml/2006/main">
            <a:off x="9382125" y="3695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Hiragino Sans"/>
                <a:ea typeface="Hiragino Sans"/>
                <a:cs typeface="Hiragino Sans"/>
              </a:defRPr>
            </a:pPr>
            <a:r>
              <a:rPr sz="1350" b="1">
                <a:solidFill>
                  <a:srgbClr val="111827"/>
                </a:solidFill>
                <a:latin typeface="Hiragino Sans"/>
                <a:ea typeface="Hiragino Sans"/>
                <a:cs typeface="Hiragino Sans"/>
              </a:rPr>
              <a:t>特徴3 &gt; ?</a:t>
            </a:r>
          </a:p>
        </p:txBody>
      </p:sp>
      <p:sp>
        <p:nvSpPr>
          <p:cNvPr id="37" name="正方形/長方形 36">
            <a:extLst xmlns:a="http://schemas.openxmlformats.org/drawingml/2006/main">
              <a:ext uri="{FF2B5EF4-FFF2-40B4-BE49-F238E27FC236}">
                <a16:creationId xmlns:a16="http://schemas.microsoft.com/office/drawing/2014/main" id="{94B366E1-9524-4D61-81F4-4869403BAE70}"/>
              </a:ext>
            </a:extLst>
          </p:cNvPr>
          <p:cNvSpPr>
            <a:spLocks xmlns:a="http://schemas.openxmlformats.org/drawingml/2006/main" noGrp="1"/>
          </p:cNvSpPr>
          <p:nvPr/>
        </p:nvSpPr>
        <p:spPr>
          <a:xfrm xmlns:a="http://schemas.openxmlformats.org/drawingml/2006/main">
            <a:off x="63341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0B60CBD8-0CB4-4F77-B839-546454B31F06}"/>
              </a:ext>
            </a:extLst>
          </p:cNvPr>
          <p:cNvSpPr>
            <a:spLocks xmlns:a="http://schemas.openxmlformats.org/drawingml/2006/main" noGrp="1"/>
          </p:cNvSpPr>
          <p:nvPr/>
        </p:nvSpPr>
        <p:spPr>
          <a:xfrm xmlns:a="http://schemas.openxmlformats.org/drawingml/2006/main">
            <a:off x="64103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A .72</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B .18</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C .10</a:t>
            </a:r>
          </a:p>
        </p:txBody>
      </p:sp>
      <p:sp>
        <p:nvSpPr>
          <p:cNvPr id="39" name="正方形/長方形 38">
            <a:extLst xmlns:a="http://schemas.openxmlformats.org/drawingml/2006/main">
              <a:ext uri="{FF2B5EF4-FFF2-40B4-BE49-F238E27FC236}">
                <a16:creationId xmlns:a16="http://schemas.microsoft.com/office/drawing/2014/main" id="{21424594-4107-4386-BAC6-04DBC3B7BECC}"/>
              </a:ext>
            </a:extLst>
          </p:cNvPr>
          <p:cNvSpPr>
            <a:spLocks xmlns:a="http://schemas.openxmlformats.org/drawingml/2006/main" noGrp="1"/>
          </p:cNvSpPr>
          <p:nvPr/>
        </p:nvSpPr>
        <p:spPr>
          <a:xfrm xmlns:a="http://schemas.openxmlformats.org/drawingml/2006/main">
            <a:off x="76676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8553EA08-8B58-4B76-A385-58AB7522E458}"/>
              </a:ext>
            </a:extLst>
          </p:cNvPr>
          <p:cNvSpPr>
            <a:spLocks xmlns:a="http://schemas.openxmlformats.org/drawingml/2006/main" noGrp="1"/>
          </p:cNvSpPr>
          <p:nvPr/>
        </p:nvSpPr>
        <p:spPr>
          <a:xfrm xmlns:a="http://schemas.openxmlformats.org/drawingml/2006/main">
            <a:off x="77438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A .40</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B .45</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C .15</a:t>
            </a:r>
          </a:p>
        </p:txBody>
      </p:sp>
      <p:sp>
        <p:nvSpPr>
          <p:cNvPr id="41" name="正方形/長方形 40">
            <a:extLst xmlns:a="http://schemas.openxmlformats.org/drawingml/2006/main">
              <a:ext uri="{FF2B5EF4-FFF2-40B4-BE49-F238E27FC236}">
                <a16:creationId xmlns:a16="http://schemas.microsoft.com/office/drawing/2014/main" id="{2FF2BCC5-E777-4122-8F96-0132B8C6794D}"/>
              </a:ext>
            </a:extLst>
          </p:cNvPr>
          <p:cNvSpPr>
            <a:spLocks xmlns:a="http://schemas.openxmlformats.org/drawingml/2006/main" noGrp="1"/>
          </p:cNvSpPr>
          <p:nvPr/>
        </p:nvSpPr>
        <p:spPr>
          <a:xfrm xmlns:a="http://schemas.openxmlformats.org/drawingml/2006/main">
            <a:off x="90011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3DC81512-0412-4115-A7B2-555646E45022}"/>
              </a:ext>
            </a:extLst>
          </p:cNvPr>
          <p:cNvSpPr>
            <a:spLocks xmlns:a="http://schemas.openxmlformats.org/drawingml/2006/main" noGrp="1"/>
          </p:cNvSpPr>
          <p:nvPr/>
        </p:nvSpPr>
        <p:spPr>
          <a:xfrm xmlns:a="http://schemas.openxmlformats.org/drawingml/2006/main">
            <a:off x="90773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A .15</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B .25</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C .60</a:t>
            </a:r>
          </a:p>
        </p:txBody>
      </p:sp>
      <p:sp>
        <p:nvSpPr>
          <p:cNvPr id="43" name="正方形/長方形 42">
            <a:extLst xmlns:a="http://schemas.openxmlformats.org/drawingml/2006/main">
              <a:ext uri="{FF2B5EF4-FFF2-40B4-BE49-F238E27FC236}">
                <a16:creationId xmlns:a16="http://schemas.microsoft.com/office/drawing/2014/main" id="{A7A2A6F5-F102-4B88-BEC3-E469581E8AF5}"/>
              </a:ext>
            </a:extLst>
          </p:cNvPr>
          <p:cNvSpPr>
            <a:spLocks xmlns:a="http://schemas.openxmlformats.org/drawingml/2006/main" noGrp="1"/>
          </p:cNvSpPr>
          <p:nvPr/>
        </p:nvSpPr>
        <p:spPr>
          <a:xfrm xmlns:a="http://schemas.openxmlformats.org/drawingml/2006/main">
            <a:off x="103346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正方形/長方形 43">
            <a:extLst xmlns:a="http://schemas.openxmlformats.org/drawingml/2006/main">
              <a:ext uri="{FF2B5EF4-FFF2-40B4-BE49-F238E27FC236}">
                <a16:creationId xmlns:a16="http://schemas.microsoft.com/office/drawing/2014/main" id="{AD5E0527-42AA-49AB-940E-1F7E0BB8BFC2}"/>
              </a:ext>
            </a:extLst>
          </p:cNvPr>
          <p:cNvSpPr>
            <a:spLocks xmlns:a="http://schemas.openxmlformats.org/drawingml/2006/main" noGrp="1"/>
          </p:cNvSpPr>
          <p:nvPr/>
        </p:nvSpPr>
        <p:spPr>
          <a:xfrm xmlns:a="http://schemas.openxmlformats.org/drawingml/2006/main">
            <a:off x="104108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A .08</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B .22</a:t>
            </a:r>
          </a:p>
          <a:p xmlns:a="http://schemas.openxmlformats.org/drawingml/2006/main">
            <a:pPr algn="ctr">
              <a:buNone/>
              <a:defRPr sz="1125" b="1">
                <a:solidFill>
                  <a:srgbClr val="111827"/>
                </a:solidFill>
                <a:latin typeface="Hiragino Sans"/>
                <a:ea typeface="Hiragino Sans"/>
                <a:cs typeface="Hiragino Sans"/>
              </a:defRPr>
            </a:pPr>
            <a:r>
              <a:rPr sz="1125" b="1">
                <a:solidFill>
                  <a:srgbClr val="111827"/>
                </a:solidFill>
                <a:latin typeface="Hiragino Sans"/>
                <a:ea typeface="Hiragino Sans"/>
                <a:cs typeface="Hiragino Sans"/>
              </a:rPr>
              <a:t>C .70</a:t>
            </a:r>
          </a:p>
        </p:txBody>
      </p:sp>
      <p:sp>
        <p:nvSpPr>
          <p:cNvPr id="45" name="正方形/長方形 44">
            <a:extLst xmlns:a="http://schemas.openxmlformats.org/drawingml/2006/main">
              <a:ext uri="{FF2B5EF4-FFF2-40B4-BE49-F238E27FC236}">
                <a16:creationId xmlns:a16="http://schemas.microsoft.com/office/drawing/2014/main" id="{284C58AC-DFB3-4E5D-9D5E-E0C09364374F}"/>
              </a:ext>
            </a:extLst>
          </p:cNvPr>
          <p:cNvSpPr>
            <a:spLocks xmlns:a="http://schemas.openxmlformats.org/drawingml/2006/main" noGrp="1"/>
          </p:cNvSpPr>
          <p:nvPr/>
        </p:nvSpPr>
        <p:spPr>
          <a:xfrm xmlns:a="http://schemas.openxmlformats.org/drawingml/2006/main">
            <a:off x="7143750" y="5667375"/>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10B981"/>
                </a:solidFill>
                <a:latin typeface="Hiragino Sans"/>
                <a:ea typeface="Hiragino Sans"/>
                <a:cs typeface="Hiragino Sans"/>
              </a:defRPr>
            </a:pPr>
            <a:r>
              <a:rPr sz="1575" b="1">
                <a:solidFill>
                  <a:srgbClr val="10B981"/>
                </a:solidFill>
                <a:latin typeface="Hiragino Sans"/>
                <a:ea typeface="Hiragino Sans"/>
                <a:cs typeface="Hiragino Sans"/>
              </a:rPr>
              <a:t>1本の木が全クラスの確率を同時に近似</a:t>
            </a:r>
          </a:p>
        </p:txBody>
      </p:sp>
    </p:spTree>
    <p:extLst>
      <p:ext uri="{BB962C8B-B14F-4D97-AF65-F5344CB8AC3E}">
        <p14:creationId xmlns:p14="http://schemas.microsoft.com/office/powerpoint/2010/main" val="18812054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正方形/長方形 40">
            <a:extLst xmlns:a="http://schemas.openxmlformats.org/drawingml/2006/main">
              <a:ext uri="{FF2B5EF4-FFF2-40B4-BE49-F238E27FC236}">
                <a16:creationId xmlns:a16="http://schemas.microsoft.com/office/drawing/2014/main" id="{0BE822AC-6A52-43A9-9769-2929C222BA8A}"/>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9-title">
            <a:extLst xmlns:a="http://schemas.openxmlformats.org/drawingml/2006/main">
              <a:ext uri="{FF2B5EF4-FFF2-40B4-BE49-F238E27FC236}">
                <a16:creationId xmlns:a16="http://schemas.microsoft.com/office/drawing/2014/main" id="{15CB36DB-A1A3-47C4-A579-78618D83F0BB}"/>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多クラスの扱い方には複数の設計がある</a:t>
            </a:r>
          </a:p>
        </p:txBody>
      </p:sp>
      <p:sp>
        <p:nvSpPr>
          <p:cNvPr id="3" name="slide-9-subtitle">
            <a:extLst xmlns:a="http://schemas.openxmlformats.org/drawingml/2006/main">
              <a:ext uri="{FF2B5EF4-FFF2-40B4-BE49-F238E27FC236}">
                <a16:creationId xmlns:a16="http://schemas.microsoft.com/office/drawing/2014/main" id="{6FCB2562-5F26-418B-B37F-96F300F7242B}"/>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何を一つにまとめるかで、説明の意味が変わる</a:t>
            </a:r>
          </a:p>
        </p:txBody>
      </p:sp>
      <p:sp>
        <p:nvSpPr>
          <p:cNvPr id="4" name="正方形/長方形 3">
            <a:extLst xmlns:a="http://schemas.openxmlformats.org/drawingml/2006/main">
              <a:ext uri="{FF2B5EF4-FFF2-40B4-BE49-F238E27FC236}">
                <a16:creationId xmlns:a16="http://schemas.microsoft.com/office/drawing/2014/main" id="{9BFD2635-1598-4C40-B53C-5B7C0BFFD01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11</a:t>
            </a:r>
          </a:p>
        </p:txBody>
      </p:sp>
      <p:sp>
        <p:nvSpPr>
          <p:cNvPr id="5" name="正方形/長方形 4">
            <a:extLst xmlns:a="http://schemas.openxmlformats.org/drawingml/2006/main">
              <a:ext uri="{FF2B5EF4-FFF2-40B4-BE49-F238E27FC236}">
                <a16:creationId xmlns:a16="http://schemas.microsoft.com/office/drawing/2014/main" id="{55675721-5956-4010-B057-006B3D9E3858}"/>
              </a:ext>
            </a:extLst>
          </p:cNvPr>
          <p:cNvSpPr>
            <a:spLocks xmlns:a="http://schemas.openxmlformats.org/drawingml/2006/main" noGrp="1"/>
          </p:cNvSpPr>
          <p:nvPr/>
        </p:nvSpPr>
        <p:spPr>
          <a:xfrm xmlns:a="http://schemas.openxmlformats.org/drawingml/2006/main">
            <a:off x="523875" y="1571625"/>
            <a:ext cx="16192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56356787-F203-4153-A461-95C96AF03091}"/>
              </a:ext>
            </a:extLst>
          </p:cNvPr>
          <p:cNvSpPr>
            <a:spLocks xmlns:a="http://schemas.openxmlformats.org/drawingml/2006/main" noGrp="1"/>
          </p:cNvSpPr>
          <p:nvPr/>
        </p:nvSpPr>
        <p:spPr>
          <a:xfrm xmlns:a="http://schemas.openxmlformats.org/drawingml/2006/main">
            <a:off x="619125" y="17430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手法</a:t>
            </a:r>
          </a:p>
        </p:txBody>
      </p:sp>
      <p:sp>
        <p:nvSpPr>
          <p:cNvPr id="7" name="正方形/長方形 6">
            <a:extLst xmlns:a="http://schemas.openxmlformats.org/drawingml/2006/main">
              <a:ext uri="{FF2B5EF4-FFF2-40B4-BE49-F238E27FC236}">
                <a16:creationId xmlns:a16="http://schemas.microsoft.com/office/drawing/2014/main" id="{D8804883-DF71-4119-A93F-131B711FB307}"/>
              </a:ext>
            </a:extLst>
          </p:cNvPr>
          <p:cNvSpPr>
            <a:spLocks xmlns:a="http://schemas.openxmlformats.org/drawingml/2006/main" noGrp="1"/>
          </p:cNvSpPr>
          <p:nvPr/>
        </p:nvSpPr>
        <p:spPr>
          <a:xfrm xmlns:a="http://schemas.openxmlformats.org/drawingml/2006/main">
            <a:off x="2143125" y="1571625"/>
            <a:ext cx="25717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E0A6DA7F-2750-40FE-9E83-D8D82C6A1DE3}"/>
              </a:ext>
            </a:extLst>
          </p:cNvPr>
          <p:cNvSpPr>
            <a:spLocks xmlns:a="http://schemas.openxmlformats.org/drawingml/2006/main" noGrp="1"/>
          </p:cNvSpPr>
          <p:nvPr/>
        </p:nvSpPr>
        <p:spPr>
          <a:xfrm xmlns:a="http://schemas.openxmlformats.org/drawingml/2006/main">
            <a:off x="2238375" y="17430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近似する対象</a:t>
            </a:r>
          </a:p>
        </p:txBody>
      </p:sp>
      <p:sp>
        <p:nvSpPr>
          <p:cNvPr id="9" name="正方形/長方形 8">
            <a:extLst xmlns:a="http://schemas.openxmlformats.org/drawingml/2006/main">
              <a:ext uri="{FF2B5EF4-FFF2-40B4-BE49-F238E27FC236}">
                <a16:creationId xmlns:a16="http://schemas.microsoft.com/office/drawing/2014/main" id="{68600862-B8E0-4072-BA55-484D110B04F5}"/>
              </a:ext>
            </a:extLst>
          </p:cNvPr>
          <p:cNvSpPr>
            <a:spLocks xmlns:a="http://schemas.openxmlformats.org/drawingml/2006/main" noGrp="1"/>
          </p:cNvSpPr>
          <p:nvPr/>
        </p:nvSpPr>
        <p:spPr>
          <a:xfrm xmlns:a="http://schemas.openxmlformats.org/drawingml/2006/main">
            <a:off x="4714875" y="1571625"/>
            <a:ext cx="31432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7599ABB1-4E90-405D-91BA-39D9355E7AB8}"/>
              </a:ext>
            </a:extLst>
          </p:cNvPr>
          <p:cNvSpPr>
            <a:spLocks xmlns:a="http://schemas.openxmlformats.org/drawingml/2006/main" noGrp="1"/>
          </p:cNvSpPr>
          <p:nvPr/>
        </p:nvSpPr>
        <p:spPr>
          <a:xfrm xmlns:a="http://schemas.openxmlformats.org/drawingml/2006/main">
            <a:off x="4810125" y="17430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多クラスの扱い</a:t>
            </a:r>
          </a:p>
        </p:txBody>
      </p:sp>
      <p:sp>
        <p:nvSpPr>
          <p:cNvPr id="11" name="正方形/長方形 10">
            <a:extLst xmlns:a="http://schemas.openxmlformats.org/drawingml/2006/main">
              <a:ext uri="{FF2B5EF4-FFF2-40B4-BE49-F238E27FC236}">
                <a16:creationId xmlns:a16="http://schemas.microsoft.com/office/drawing/2014/main" id="{99FC902F-EF5F-4D40-885A-308E1DC6322C}"/>
              </a:ext>
            </a:extLst>
          </p:cNvPr>
          <p:cNvSpPr>
            <a:spLocks xmlns:a="http://schemas.openxmlformats.org/drawingml/2006/main" noGrp="1"/>
          </p:cNvSpPr>
          <p:nvPr/>
        </p:nvSpPr>
        <p:spPr>
          <a:xfrm xmlns:a="http://schemas.openxmlformats.org/drawingml/2006/main">
            <a:off x="7858125" y="1571625"/>
            <a:ext cx="3571875"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B0446379-3A8C-4223-B07F-EE8F68D545EF}"/>
              </a:ext>
            </a:extLst>
          </p:cNvPr>
          <p:cNvSpPr>
            <a:spLocks xmlns:a="http://schemas.openxmlformats.org/drawingml/2006/main" noGrp="1"/>
          </p:cNvSpPr>
          <p:nvPr/>
        </p:nvSpPr>
        <p:spPr>
          <a:xfrm xmlns:a="http://schemas.openxmlformats.org/drawingml/2006/main">
            <a:off x="7953375" y="1743075"/>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Hiragino Sans"/>
                <a:ea typeface="Hiragino Sans"/>
                <a:cs typeface="Hiragino Sans"/>
              </a:defRPr>
            </a:pPr>
            <a:r>
              <a:rPr sz="1425" b="1">
                <a:solidFill>
                  <a:srgbClr val="FFFFFF"/>
                </a:solidFill>
                <a:latin typeface="Hiragino Sans"/>
                <a:ea typeface="Hiragino Sans"/>
                <a:cs typeface="Hiragino Sans"/>
              </a:rPr>
              <a:t>主な出力</a:t>
            </a:r>
          </a:p>
        </p:txBody>
      </p:sp>
      <p:sp>
        <p:nvSpPr>
          <p:cNvPr id="13" name="正方形/長方形 12">
            <a:extLst xmlns:a="http://schemas.openxmlformats.org/drawingml/2006/main">
              <a:ext uri="{FF2B5EF4-FFF2-40B4-BE49-F238E27FC236}">
                <a16:creationId xmlns:a16="http://schemas.microsoft.com/office/drawing/2014/main" id="{BDA4E495-E36F-4466-A7D3-AD120EF08254}"/>
              </a:ext>
            </a:extLst>
          </p:cNvPr>
          <p:cNvSpPr>
            <a:spLocks xmlns:a="http://schemas.openxmlformats.org/drawingml/2006/main" noGrp="1"/>
          </p:cNvSpPr>
          <p:nvPr/>
        </p:nvSpPr>
        <p:spPr>
          <a:xfrm xmlns:a="http://schemas.openxmlformats.org/drawingml/2006/main">
            <a:off x="523875" y="2162175"/>
            <a:ext cx="1619250" cy="10287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985BBEC6-E716-46E9-9C35-10DF6FC0D35C}"/>
              </a:ext>
            </a:extLst>
          </p:cNvPr>
          <p:cNvSpPr>
            <a:spLocks xmlns:a="http://schemas.openxmlformats.org/drawingml/2006/main" noGrp="1"/>
          </p:cNvSpPr>
          <p:nvPr/>
        </p:nvSpPr>
        <p:spPr>
          <a:xfrm xmlns:a="http://schemas.openxmlformats.org/drawingml/2006/main">
            <a:off x="657225" y="23145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Hiragino Sans"/>
                <a:ea typeface="Hiragino Sans"/>
                <a:cs typeface="Hiragino Sans"/>
              </a:defRPr>
            </a:pPr>
            <a:r>
              <a:rPr sz="1575" b="1">
                <a:solidFill>
                  <a:srgbClr val="111827"/>
                </a:solidFill>
                <a:latin typeface="Hiragino Sans"/>
                <a:ea typeface="Hiragino Sans"/>
                <a:cs typeface="Hiragino Sans"/>
              </a:rPr>
              <a:t>LIME</a:t>
            </a:r>
          </a:p>
        </p:txBody>
      </p:sp>
      <p:sp>
        <p:nvSpPr>
          <p:cNvPr id="15" name="正方形/長方形 14">
            <a:extLst xmlns:a="http://schemas.openxmlformats.org/drawingml/2006/main">
              <a:ext uri="{FF2B5EF4-FFF2-40B4-BE49-F238E27FC236}">
                <a16:creationId xmlns:a16="http://schemas.microsoft.com/office/drawing/2014/main" id="{E61ADC5E-0110-46E5-97DC-1189DC88BB69}"/>
              </a:ext>
            </a:extLst>
          </p:cNvPr>
          <p:cNvSpPr>
            <a:spLocks xmlns:a="http://schemas.openxmlformats.org/drawingml/2006/main" noGrp="1"/>
          </p:cNvSpPr>
          <p:nvPr/>
        </p:nvSpPr>
        <p:spPr>
          <a:xfrm xmlns:a="http://schemas.openxmlformats.org/drawingml/2006/main">
            <a:off x="2143125" y="21621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EB29DA4B-BBFD-4BF0-A82D-6D0B02EBC78B}"/>
              </a:ext>
            </a:extLst>
          </p:cNvPr>
          <p:cNvSpPr>
            <a:spLocks xmlns:a="http://schemas.openxmlformats.org/drawingml/2006/main" noGrp="1"/>
          </p:cNvSpPr>
          <p:nvPr/>
        </p:nvSpPr>
        <p:spPr>
          <a:xfrm xmlns:a="http://schemas.openxmlformats.org/drawingml/2006/main">
            <a:off x="2276475" y="23145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各クラスの予測確率</a:t>
            </a:r>
          </a:p>
        </p:txBody>
      </p:sp>
      <p:sp>
        <p:nvSpPr>
          <p:cNvPr id="17" name="正方形/長方形 16">
            <a:extLst xmlns:a="http://schemas.openxmlformats.org/drawingml/2006/main">
              <a:ext uri="{FF2B5EF4-FFF2-40B4-BE49-F238E27FC236}">
                <a16:creationId xmlns:a16="http://schemas.microsoft.com/office/drawing/2014/main" id="{DB212EE6-E345-48BB-BA9E-E244CD8C7C89}"/>
              </a:ext>
            </a:extLst>
          </p:cNvPr>
          <p:cNvSpPr>
            <a:spLocks xmlns:a="http://schemas.openxmlformats.org/drawingml/2006/main" noGrp="1"/>
          </p:cNvSpPr>
          <p:nvPr/>
        </p:nvSpPr>
        <p:spPr>
          <a:xfrm xmlns:a="http://schemas.openxmlformats.org/drawingml/2006/main">
            <a:off x="4714875" y="21621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1755179E-27EC-4FA0-A501-3D5D4A8B178B}"/>
              </a:ext>
            </a:extLst>
          </p:cNvPr>
          <p:cNvSpPr>
            <a:spLocks xmlns:a="http://schemas.openxmlformats.org/drawingml/2006/main" noGrp="1"/>
          </p:cNvSpPr>
          <p:nvPr/>
        </p:nvSpPr>
        <p:spPr>
          <a:xfrm xmlns:a="http://schemas.openxmlformats.org/drawingml/2006/main">
            <a:off x="4848225" y="23145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クラスごとに別々</a:t>
            </a:r>
          </a:p>
        </p:txBody>
      </p:sp>
      <p:sp>
        <p:nvSpPr>
          <p:cNvPr id="19" name="正方形/長方形 18">
            <a:extLst xmlns:a="http://schemas.openxmlformats.org/drawingml/2006/main">
              <a:ext uri="{FF2B5EF4-FFF2-40B4-BE49-F238E27FC236}">
                <a16:creationId xmlns:a16="http://schemas.microsoft.com/office/drawing/2014/main" id="{74DE4212-3E73-4EE4-86FD-038BFF1A603B}"/>
              </a:ext>
            </a:extLst>
          </p:cNvPr>
          <p:cNvSpPr>
            <a:spLocks xmlns:a="http://schemas.openxmlformats.org/drawingml/2006/main" noGrp="1"/>
          </p:cNvSpPr>
          <p:nvPr/>
        </p:nvSpPr>
        <p:spPr>
          <a:xfrm xmlns:a="http://schemas.openxmlformats.org/drawingml/2006/main">
            <a:off x="7858125" y="21621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E6D535A0-010C-433D-94C3-908060270314}"/>
              </a:ext>
            </a:extLst>
          </p:cNvPr>
          <p:cNvSpPr>
            <a:spLocks xmlns:a="http://schemas.openxmlformats.org/drawingml/2006/main" noGrp="1"/>
          </p:cNvSpPr>
          <p:nvPr/>
        </p:nvSpPr>
        <p:spPr>
          <a:xfrm xmlns:a="http://schemas.openxmlformats.org/drawingml/2006/main">
            <a:off x="7991475" y="23145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特徴量の重み</a:t>
            </a:r>
          </a:p>
        </p:txBody>
      </p:sp>
      <p:sp>
        <p:nvSpPr>
          <p:cNvPr id="21" name="正方形/長方形 20">
            <a:extLst xmlns:a="http://schemas.openxmlformats.org/drawingml/2006/main">
              <a:ext uri="{FF2B5EF4-FFF2-40B4-BE49-F238E27FC236}">
                <a16:creationId xmlns:a16="http://schemas.microsoft.com/office/drawing/2014/main" id="{A932A79C-934D-4589-9953-9F864025BF60}"/>
              </a:ext>
            </a:extLst>
          </p:cNvPr>
          <p:cNvSpPr>
            <a:spLocks xmlns:a="http://schemas.openxmlformats.org/drawingml/2006/main" noGrp="1"/>
          </p:cNvSpPr>
          <p:nvPr/>
        </p:nvSpPr>
        <p:spPr>
          <a:xfrm xmlns:a="http://schemas.openxmlformats.org/drawingml/2006/main">
            <a:off x="523875" y="3190875"/>
            <a:ext cx="1619250" cy="10287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BAFE2D53-7C86-46CA-82B9-AE3C99E45B9D}"/>
              </a:ext>
            </a:extLst>
          </p:cNvPr>
          <p:cNvSpPr>
            <a:spLocks xmlns:a="http://schemas.openxmlformats.org/drawingml/2006/main" noGrp="1"/>
          </p:cNvSpPr>
          <p:nvPr/>
        </p:nvSpPr>
        <p:spPr>
          <a:xfrm xmlns:a="http://schemas.openxmlformats.org/drawingml/2006/main">
            <a:off x="657225" y="33432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Hiragino Sans"/>
                <a:ea typeface="Hiragino Sans"/>
                <a:cs typeface="Hiragino Sans"/>
              </a:defRPr>
            </a:pPr>
            <a:r>
              <a:rPr sz="1575" b="1">
                <a:solidFill>
                  <a:srgbClr val="111827"/>
                </a:solidFill>
                <a:latin typeface="Hiragino Sans"/>
                <a:ea typeface="Hiragino Sans"/>
                <a:cs typeface="Hiragino Sans"/>
              </a:rPr>
              <a:t>LIMEtree</a:t>
            </a:r>
          </a:p>
        </p:txBody>
      </p:sp>
      <p:sp>
        <p:nvSpPr>
          <p:cNvPr id="23" name="正方形/長方形 22">
            <a:extLst xmlns:a="http://schemas.openxmlformats.org/drawingml/2006/main">
              <a:ext uri="{FF2B5EF4-FFF2-40B4-BE49-F238E27FC236}">
                <a16:creationId xmlns:a16="http://schemas.microsoft.com/office/drawing/2014/main" id="{88E230D1-3706-4FA9-B52E-4C049D33DAEF}"/>
              </a:ext>
            </a:extLst>
          </p:cNvPr>
          <p:cNvSpPr>
            <a:spLocks xmlns:a="http://schemas.openxmlformats.org/drawingml/2006/main" noGrp="1"/>
          </p:cNvSpPr>
          <p:nvPr/>
        </p:nvSpPr>
        <p:spPr>
          <a:xfrm xmlns:a="http://schemas.openxmlformats.org/drawingml/2006/main">
            <a:off x="2143125" y="31908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37AAAD17-B781-4071-B646-D8F7E3E236B0}"/>
              </a:ext>
            </a:extLst>
          </p:cNvPr>
          <p:cNvSpPr>
            <a:spLocks xmlns:a="http://schemas.openxmlformats.org/drawingml/2006/main" noGrp="1"/>
          </p:cNvSpPr>
          <p:nvPr/>
        </p:nvSpPr>
        <p:spPr>
          <a:xfrm xmlns:a="http://schemas.openxmlformats.org/drawingml/2006/main">
            <a:off x="2276475" y="33432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全クラスの予測確率</a:t>
            </a:r>
          </a:p>
        </p:txBody>
      </p:sp>
      <p:sp>
        <p:nvSpPr>
          <p:cNvPr id="25" name="正方形/長方形 24">
            <a:extLst xmlns:a="http://schemas.openxmlformats.org/drawingml/2006/main">
              <a:ext uri="{FF2B5EF4-FFF2-40B4-BE49-F238E27FC236}">
                <a16:creationId xmlns:a16="http://schemas.microsoft.com/office/drawing/2014/main" id="{1140082C-77EA-474B-92C8-59911E4F65E4}"/>
              </a:ext>
            </a:extLst>
          </p:cNvPr>
          <p:cNvSpPr>
            <a:spLocks xmlns:a="http://schemas.openxmlformats.org/drawingml/2006/main" noGrp="1"/>
          </p:cNvSpPr>
          <p:nvPr/>
        </p:nvSpPr>
        <p:spPr>
          <a:xfrm xmlns:a="http://schemas.openxmlformats.org/drawingml/2006/main">
            <a:off x="4714875" y="31908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7745459C-1285-43F1-87CD-49527390771C}"/>
              </a:ext>
            </a:extLst>
          </p:cNvPr>
          <p:cNvSpPr>
            <a:spLocks xmlns:a="http://schemas.openxmlformats.org/drawingml/2006/main" noGrp="1"/>
          </p:cNvSpPr>
          <p:nvPr/>
        </p:nvSpPr>
        <p:spPr>
          <a:xfrm xmlns:a="http://schemas.openxmlformats.org/drawingml/2006/main">
            <a:off x="4848225" y="33432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共通の木で同時に扱う</a:t>
            </a:r>
          </a:p>
        </p:txBody>
      </p:sp>
      <p:sp>
        <p:nvSpPr>
          <p:cNvPr id="27" name="正方形/長方形 26">
            <a:extLst xmlns:a="http://schemas.openxmlformats.org/drawingml/2006/main">
              <a:ext uri="{FF2B5EF4-FFF2-40B4-BE49-F238E27FC236}">
                <a16:creationId xmlns:a16="http://schemas.microsoft.com/office/drawing/2014/main" id="{19D7643C-DC88-4F4C-8DD3-CAFE1825AB8F}"/>
              </a:ext>
            </a:extLst>
          </p:cNvPr>
          <p:cNvSpPr>
            <a:spLocks xmlns:a="http://schemas.openxmlformats.org/drawingml/2006/main" noGrp="1"/>
          </p:cNvSpPr>
          <p:nvPr/>
        </p:nvSpPr>
        <p:spPr>
          <a:xfrm xmlns:a="http://schemas.openxmlformats.org/drawingml/2006/main">
            <a:off x="7858125" y="31908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3959273A-3770-4787-BC0E-F196F33A4FF8}"/>
              </a:ext>
            </a:extLst>
          </p:cNvPr>
          <p:cNvSpPr>
            <a:spLocks xmlns:a="http://schemas.openxmlformats.org/drawingml/2006/main" noGrp="1"/>
          </p:cNvSpPr>
          <p:nvPr/>
        </p:nvSpPr>
        <p:spPr>
          <a:xfrm xmlns:a="http://schemas.openxmlformats.org/drawingml/2006/main">
            <a:off x="7991475" y="33432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ルール・対比・反実仮想</a:t>
            </a:r>
          </a:p>
        </p:txBody>
      </p:sp>
      <p:sp>
        <p:nvSpPr>
          <p:cNvPr id="29" name="正方形/長方形 28">
            <a:extLst xmlns:a="http://schemas.openxmlformats.org/drawingml/2006/main">
              <a:ext uri="{FF2B5EF4-FFF2-40B4-BE49-F238E27FC236}">
                <a16:creationId xmlns:a16="http://schemas.microsoft.com/office/drawing/2014/main" id="{E9B7CD27-4623-4ECE-A24A-58AEEF8E593D}"/>
              </a:ext>
            </a:extLst>
          </p:cNvPr>
          <p:cNvSpPr>
            <a:spLocks xmlns:a="http://schemas.openxmlformats.org/drawingml/2006/main" noGrp="1"/>
          </p:cNvSpPr>
          <p:nvPr/>
        </p:nvSpPr>
        <p:spPr>
          <a:xfrm xmlns:a="http://schemas.openxmlformats.org/drawingml/2006/main">
            <a:off x="523875" y="4219575"/>
            <a:ext cx="1619250" cy="1028700"/>
          </a:xfrm>
          <a:prstGeom xmlns:a="http://schemas.openxmlformats.org/drawingml/2006/main" prst="rect">
            <a:avLst/>
          </a:prstGeom>
          <a:solidFill xmlns:a="http://schemas.openxmlformats.org/drawingml/2006/main">
            <a:srgbClr val="FEF3C7"/>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DE7CD972-6192-46BE-BF6A-0B66DAD0F84C}"/>
              </a:ext>
            </a:extLst>
          </p:cNvPr>
          <p:cNvSpPr>
            <a:spLocks xmlns:a="http://schemas.openxmlformats.org/drawingml/2006/main" noGrp="1"/>
          </p:cNvSpPr>
          <p:nvPr/>
        </p:nvSpPr>
        <p:spPr>
          <a:xfrm xmlns:a="http://schemas.openxmlformats.org/drawingml/2006/main">
            <a:off x="657225" y="43719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Hiragino Sans"/>
                <a:ea typeface="Hiragino Sans"/>
                <a:cs typeface="Hiragino Sans"/>
              </a:defRPr>
            </a:pPr>
            <a:r>
              <a:rPr sz="1575" b="1">
                <a:solidFill>
                  <a:srgbClr val="111827"/>
                </a:solidFill>
                <a:latin typeface="Hiragino Sans"/>
                <a:ea typeface="Hiragino Sans"/>
                <a:cs typeface="Hiragino Sans"/>
              </a:rPr>
              <a:t>LIPEx</a:t>
            </a:r>
          </a:p>
        </p:txBody>
      </p:sp>
      <p:sp>
        <p:nvSpPr>
          <p:cNvPr id="31" name="正方形/長方形 30">
            <a:extLst xmlns:a="http://schemas.openxmlformats.org/drawingml/2006/main">
              <a:ext uri="{FF2B5EF4-FFF2-40B4-BE49-F238E27FC236}">
                <a16:creationId xmlns:a16="http://schemas.microsoft.com/office/drawing/2014/main" id="{0DBDD7D3-A7AA-4A5D-92E8-EB777A985D3C}"/>
              </a:ext>
            </a:extLst>
          </p:cNvPr>
          <p:cNvSpPr>
            <a:spLocks xmlns:a="http://schemas.openxmlformats.org/drawingml/2006/main" noGrp="1"/>
          </p:cNvSpPr>
          <p:nvPr/>
        </p:nvSpPr>
        <p:spPr>
          <a:xfrm xmlns:a="http://schemas.openxmlformats.org/drawingml/2006/main">
            <a:off x="2143125" y="42195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991755C1-80E7-4510-A38D-90743F515748}"/>
              </a:ext>
            </a:extLst>
          </p:cNvPr>
          <p:cNvSpPr>
            <a:spLocks xmlns:a="http://schemas.openxmlformats.org/drawingml/2006/main" noGrp="1"/>
          </p:cNvSpPr>
          <p:nvPr/>
        </p:nvSpPr>
        <p:spPr>
          <a:xfrm xmlns:a="http://schemas.openxmlformats.org/drawingml/2006/main">
            <a:off x="2276475" y="43719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予測確率分布全体</a:t>
            </a:r>
          </a:p>
        </p:txBody>
      </p:sp>
      <p:sp>
        <p:nvSpPr>
          <p:cNvPr id="33" name="正方形/長方形 32">
            <a:extLst xmlns:a="http://schemas.openxmlformats.org/drawingml/2006/main">
              <a:ext uri="{FF2B5EF4-FFF2-40B4-BE49-F238E27FC236}">
                <a16:creationId xmlns:a16="http://schemas.microsoft.com/office/drawing/2014/main" id="{378C570D-D256-4D3B-A6CB-78284E156250}"/>
              </a:ext>
            </a:extLst>
          </p:cNvPr>
          <p:cNvSpPr>
            <a:spLocks xmlns:a="http://schemas.openxmlformats.org/drawingml/2006/main" noGrp="1"/>
          </p:cNvSpPr>
          <p:nvPr/>
        </p:nvSpPr>
        <p:spPr>
          <a:xfrm xmlns:a="http://schemas.openxmlformats.org/drawingml/2006/main">
            <a:off x="4714875" y="42195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0FD0D3DD-A4E3-4181-9223-EF74967310AA}"/>
              </a:ext>
            </a:extLst>
          </p:cNvPr>
          <p:cNvSpPr>
            <a:spLocks xmlns:a="http://schemas.openxmlformats.org/drawingml/2006/main" noGrp="1"/>
          </p:cNvSpPr>
          <p:nvPr/>
        </p:nvSpPr>
        <p:spPr>
          <a:xfrm xmlns:a="http://schemas.openxmlformats.org/drawingml/2006/main">
            <a:off x="4848225" y="43719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分布として一体に扱う</a:t>
            </a:r>
          </a:p>
        </p:txBody>
      </p:sp>
      <p:sp>
        <p:nvSpPr>
          <p:cNvPr id="35" name="正方形/長方形 34">
            <a:extLst xmlns:a="http://schemas.openxmlformats.org/drawingml/2006/main">
              <a:ext uri="{FF2B5EF4-FFF2-40B4-BE49-F238E27FC236}">
                <a16:creationId xmlns:a16="http://schemas.microsoft.com/office/drawing/2014/main" id="{FFBC04BF-B02D-47BD-8614-512374CCC983}"/>
              </a:ext>
            </a:extLst>
          </p:cNvPr>
          <p:cNvSpPr>
            <a:spLocks xmlns:a="http://schemas.openxmlformats.org/drawingml/2006/main" noGrp="1"/>
          </p:cNvSpPr>
          <p:nvPr/>
        </p:nvSpPr>
        <p:spPr>
          <a:xfrm xmlns:a="http://schemas.openxmlformats.org/drawingml/2006/main">
            <a:off x="7858125" y="42195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845196F1-9367-4B55-977B-ADA3968E5717}"/>
              </a:ext>
            </a:extLst>
          </p:cNvPr>
          <p:cNvSpPr>
            <a:spLocks xmlns:a="http://schemas.openxmlformats.org/drawingml/2006/main" noGrp="1"/>
          </p:cNvSpPr>
          <p:nvPr/>
        </p:nvSpPr>
        <p:spPr>
          <a:xfrm xmlns:a="http://schemas.openxmlformats.org/drawingml/2006/main">
            <a:off x="7991475" y="43719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Hiragino Sans"/>
                <a:ea typeface="Hiragino Sans"/>
                <a:cs typeface="Hiragino Sans"/>
              </a:defRPr>
            </a:pPr>
            <a:r>
              <a:rPr sz="1350" b="0">
                <a:solidFill>
                  <a:srgbClr val="111827"/>
                </a:solidFill>
                <a:latin typeface="Hiragino Sans"/>
                <a:ea typeface="Hiragino Sans"/>
                <a:cs typeface="Hiragino Sans"/>
              </a:rPr>
              <a:t>特徴×クラスの説明行列</a:t>
            </a:r>
          </a:p>
        </p:txBody>
      </p:sp>
      <p:sp>
        <p:nvSpPr>
          <p:cNvPr id="37" name="正方形/長方形 36">
            <a:extLst xmlns:a="http://schemas.openxmlformats.org/drawingml/2006/main">
              <a:ext uri="{FF2B5EF4-FFF2-40B4-BE49-F238E27FC236}">
                <a16:creationId xmlns:a16="http://schemas.microsoft.com/office/drawing/2014/main" id="{8BFD742A-B2BE-428B-88F4-4EA497D5FD82}"/>
              </a:ext>
            </a:extLst>
          </p:cNvPr>
          <p:cNvSpPr>
            <a:spLocks xmlns:a="http://schemas.openxmlformats.org/drawingml/2006/main" noGrp="1"/>
          </p:cNvSpPr>
          <p:nvPr/>
        </p:nvSpPr>
        <p:spPr>
          <a:xfrm xmlns:a="http://schemas.openxmlformats.org/drawingml/2006/main">
            <a:off x="523875" y="5476875"/>
            <a:ext cx="10906125"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FCEF841D-31A1-4CCC-ACC3-CB78D95F58FA}"/>
              </a:ext>
            </a:extLst>
          </p:cNvPr>
          <p:cNvSpPr>
            <a:spLocks xmlns:a="http://schemas.openxmlformats.org/drawingml/2006/main" noGrp="1"/>
          </p:cNvSpPr>
          <p:nvPr/>
        </p:nvSpPr>
        <p:spPr>
          <a:xfrm xmlns:a="http://schemas.openxmlformats.org/drawingml/2006/main">
            <a:off x="742950" y="56388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2563EB"/>
                </a:solidFill>
                <a:latin typeface="Hiragino Sans"/>
                <a:ea typeface="Hiragino Sans"/>
                <a:cs typeface="Hiragino Sans"/>
              </a:defRPr>
            </a:pPr>
            <a:r>
              <a:rPr sz="1425" b="1">
                <a:solidFill>
                  <a:srgbClr val="2563EB"/>
                </a:solidFill>
                <a:latin typeface="Hiragino Sans"/>
                <a:ea typeface="Hiragino Sans"/>
                <a:cs typeface="Hiragino Sans"/>
              </a:rPr>
              <a:t>bLIMEy</a:t>
            </a:r>
          </a:p>
        </p:txBody>
      </p:sp>
      <p:sp>
        <p:nvSpPr>
          <p:cNvPr id="39" name="正方形/長方形 38">
            <a:extLst xmlns:a="http://schemas.openxmlformats.org/drawingml/2006/main">
              <a:ext uri="{FF2B5EF4-FFF2-40B4-BE49-F238E27FC236}">
                <a16:creationId xmlns:a16="http://schemas.microsoft.com/office/drawing/2014/main" id="{373C36D6-962F-4A4D-B7C2-D149B088272F}"/>
              </a:ext>
            </a:extLst>
          </p:cNvPr>
          <p:cNvSpPr>
            <a:spLocks xmlns:a="http://schemas.openxmlformats.org/drawingml/2006/main" noGrp="1"/>
          </p:cNvSpPr>
          <p:nvPr/>
        </p:nvSpPr>
        <p:spPr>
          <a:xfrm xmlns:a="http://schemas.openxmlformats.org/drawingml/2006/main">
            <a:off x="1857375" y="5600700"/>
            <a:ext cx="919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111827"/>
                </a:solidFill>
                <a:latin typeface="Hiragino Sans"/>
                <a:ea typeface="Hiragino Sans"/>
                <a:cs typeface="Hiragino Sans"/>
              </a:defRPr>
            </a:pPr>
            <a:r>
              <a:rPr sz="1425" b="0">
                <a:solidFill>
                  <a:srgbClr val="111827"/>
                </a:solidFill>
                <a:latin typeface="Hiragino Sans"/>
                <a:ea typeface="Hiragino Sans"/>
                <a:cs typeface="Hiragino Sans"/>
              </a:rPr>
              <a:t>近傍生成・表現・特徴選択・サロゲートを分解し、LIME型説明器を設計する枠組み</a:t>
            </a:r>
          </a:p>
        </p:txBody>
      </p:sp>
      <p:sp>
        <p:nvSpPr>
          <p:cNvPr id="40" name="正方形/長方形 39">
            <a:extLst xmlns:a="http://schemas.openxmlformats.org/drawingml/2006/main">
              <a:ext uri="{FF2B5EF4-FFF2-40B4-BE49-F238E27FC236}">
                <a16:creationId xmlns:a16="http://schemas.microsoft.com/office/drawing/2014/main" id="{1BC43030-B548-43C0-8E1D-9A5378EE811A}"/>
              </a:ext>
            </a:extLst>
          </p:cNvPr>
          <p:cNvSpPr>
            <a:spLocks xmlns:a="http://schemas.openxmlformats.org/drawingml/2006/main" noGrp="1"/>
          </p:cNvSpPr>
          <p:nvPr/>
        </p:nvSpPr>
        <p:spPr>
          <a:xfrm xmlns:a="http://schemas.openxmlformats.org/drawingml/2006/main">
            <a:off x="7810500" y="61722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0">
                <a:solidFill>
                  <a:srgbClr val="64748B"/>
                </a:solidFill>
                <a:latin typeface="Hiragino Sans"/>
                <a:ea typeface="Hiragino Sans"/>
                <a:cs typeface="Hiragino Sans"/>
              </a:defRPr>
            </a:pPr>
            <a:r>
              <a:rPr sz="975" b="0">
                <a:solidFill>
                  <a:srgbClr val="64748B"/>
                </a:solidFill>
                <a:latin typeface="Hiragino Sans"/>
                <a:ea typeface="Hiragino Sans"/>
                <a:cs typeface="Hiragino Sans"/>
              </a:rPr>
              <a:t>※ LIPExはICLR 2024 Withdrawn Submission</a:t>
            </a:r>
          </a:p>
        </p:txBody>
      </p:sp>
    </p:spTree>
    <p:extLst>
      <p:ext uri="{BB962C8B-B14F-4D97-AF65-F5344CB8AC3E}">
        <p14:creationId xmlns:p14="http://schemas.microsoft.com/office/powerpoint/2010/main" val="1253631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正方形/長方形 27">
            <a:extLst xmlns:a="http://schemas.openxmlformats.org/drawingml/2006/main">
              <a:ext uri="{FF2B5EF4-FFF2-40B4-BE49-F238E27FC236}">
                <a16:creationId xmlns:a16="http://schemas.microsoft.com/office/drawing/2014/main" id="{9F8F6CF5-6E34-4103-9083-D040B96B1DEE}"/>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10-title">
            <a:extLst xmlns:a="http://schemas.openxmlformats.org/drawingml/2006/main">
              <a:ext uri="{FF2B5EF4-FFF2-40B4-BE49-F238E27FC236}">
                <a16:creationId xmlns:a16="http://schemas.microsoft.com/office/drawing/2014/main" id="{902FA16F-4B14-4A30-87C1-D2DC55940F28}"/>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Hiragino Sans"/>
                <a:ea typeface="Hiragino Sans"/>
                <a:cs typeface="Hiragino Sans"/>
              </a:defRPr>
            </a:pPr>
            <a:r>
              <a:rPr sz="2850" b="1">
                <a:solidFill>
                  <a:srgbClr val="111827"/>
                </a:solidFill>
                <a:latin typeface="Hiragino Sans"/>
                <a:ea typeface="Hiragino Sans"/>
                <a:cs typeface="Hiragino Sans"/>
              </a:rPr>
              <a:t>まず「多クラス説明の何を良くするか」を定義する</a:t>
            </a:r>
          </a:p>
        </p:txBody>
      </p:sp>
      <p:sp>
        <p:nvSpPr>
          <p:cNvPr id="3" name="slide-10-subtitle">
            <a:extLst xmlns:a="http://schemas.openxmlformats.org/drawingml/2006/main">
              <a:ext uri="{FF2B5EF4-FFF2-40B4-BE49-F238E27FC236}">
                <a16:creationId xmlns:a16="http://schemas.microsoft.com/office/drawing/2014/main" id="{EDE29819-D1C9-478F-9833-A7B608B0B3CF}"/>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Hiragino Sans"/>
                <a:ea typeface="Hiragino Sans"/>
                <a:cs typeface="Hiragino Sans"/>
              </a:defRPr>
            </a:pPr>
            <a:r>
              <a:rPr sz="1500" b="0">
                <a:solidFill>
                  <a:srgbClr val="64748B"/>
                </a:solidFill>
                <a:latin typeface="Hiragino Sans"/>
                <a:ea typeface="Hiragino Sans"/>
                <a:cs typeface="Hiragino Sans"/>
              </a:rPr>
              <a:t>手法を決める前に、研究目的と評価軸を対応させる</a:t>
            </a:r>
          </a:p>
        </p:txBody>
      </p:sp>
      <p:sp>
        <p:nvSpPr>
          <p:cNvPr id="4" name="正方形/長方形 3">
            <a:extLst xmlns:a="http://schemas.openxmlformats.org/drawingml/2006/main">
              <a:ext uri="{FF2B5EF4-FFF2-40B4-BE49-F238E27FC236}">
                <a16:creationId xmlns:a16="http://schemas.microsoft.com/office/drawing/2014/main" id="{423A0C86-53AB-4232-9E61-38D0C6BB5E58}"/>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12</a:t>
            </a:r>
          </a:p>
        </p:txBody>
      </p:sp>
      <p:cxnSp>
        <p:nvCxnSpPr>
          <p:cNvPr id="76" name="直線矢印コネクタ 31"/>
          <p:cNvCxnSpPr/>
          <p:nvPr/>
        </p:nvCxnSpPr>
        <p:spPr>
          <a:xfrm xmlns:a="http://schemas.openxmlformats.org/drawingml/2006/main">
            <a:off x="4143375" y="1762125"/>
            <a:ext cx="0" cy="3143250"/>
          </a:xfrm>
          <a:prstGeom xmlns:a="http://schemas.openxmlformats.org/drawingml/2006/main" prst="straightConnector1">
            <a:avLst/>
          </a:prstGeom>
          <a:ln xmlns:a="http://schemas.openxmlformats.org/drawingml/2006/main" w="19050">
            <a:solidFill>
              <a:srgbClr val="CBD5E1"/>
            </a:solidFill>
            <a:prstDash val="solid"/>
          </a:ln>
        </p:spPr>
      </p:cxnSp>
      <p:cxnSp>
        <p:nvCxnSpPr>
          <p:cNvPr id="77" name="直線矢印コネクタ 32"/>
          <p:cNvCxnSpPr/>
          <p:nvPr/>
        </p:nvCxnSpPr>
        <p:spPr>
          <a:xfrm xmlns:a="http://schemas.openxmlformats.org/drawingml/2006/main">
            <a:off x="8048625" y="1762125"/>
            <a:ext cx="0" cy="3143250"/>
          </a:xfrm>
          <a:prstGeom xmlns:a="http://schemas.openxmlformats.org/drawingml/2006/main" prst="straightConnector1">
            <a:avLst/>
          </a:prstGeom>
          <a:ln xmlns:a="http://schemas.openxmlformats.org/drawingml/2006/main" w="19050">
            <a:solidFill>
              <a:srgbClr val="CBD5E1"/>
            </a:solidFill>
            <a:prstDash val="solid"/>
          </a:ln>
        </p:spPr>
      </p:cxnSp>
      <p:sp>
        <p:nvSpPr>
          <p:cNvPr id="7" name="正方形/長方形 6">
            <a:extLst xmlns:a="http://schemas.openxmlformats.org/drawingml/2006/main">
              <a:ext uri="{FF2B5EF4-FFF2-40B4-BE49-F238E27FC236}">
                <a16:creationId xmlns:a16="http://schemas.microsoft.com/office/drawing/2014/main" id="{7E184F1E-1F10-4A99-BA1F-03A7624D56F7}"/>
              </a:ext>
            </a:extLst>
          </p:cNvPr>
          <p:cNvSpPr>
            <a:spLocks xmlns:a="http://schemas.openxmlformats.org/drawingml/2006/main" noGrp="1"/>
          </p:cNvSpPr>
          <p:nvPr/>
        </p:nvSpPr>
        <p:spPr>
          <a:xfrm xmlns:a="http://schemas.openxmlformats.org/drawingml/2006/main">
            <a:off x="61912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2563EB"/>
                </a:solidFill>
                <a:latin typeface="Hiragino Sans"/>
                <a:ea typeface="Hiragino Sans"/>
                <a:cs typeface="Hiragino Sans"/>
              </a:defRPr>
            </a:pPr>
            <a:r>
              <a:rPr sz="3900" b="1">
                <a:solidFill>
                  <a:srgbClr val="2563EB"/>
                </a:solidFill>
                <a:latin typeface="Hiragino Sans"/>
                <a:ea typeface="Hiragino Sans"/>
                <a:cs typeface="Hiragino Sans"/>
              </a:rPr>
              <a:t>01</a:t>
            </a:r>
          </a:p>
        </p:txBody>
      </p:sp>
      <p:sp>
        <p:nvSpPr>
          <p:cNvPr id="8" name="正方形/長方形 7">
            <a:extLst xmlns:a="http://schemas.openxmlformats.org/drawingml/2006/main">
              <a:ext uri="{FF2B5EF4-FFF2-40B4-BE49-F238E27FC236}">
                <a16:creationId xmlns:a16="http://schemas.microsoft.com/office/drawing/2014/main" id="{6EB8A469-EF6A-4248-8B5C-340D0C3548C9}"/>
              </a:ext>
            </a:extLst>
          </p:cNvPr>
          <p:cNvSpPr>
            <a:spLocks xmlns:a="http://schemas.openxmlformats.org/drawingml/2006/main" noGrp="1"/>
          </p:cNvSpPr>
          <p:nvPr/>
        </p:nvSpPr>
        <p:spPr>
          <a:xfrm xmlns:a="http://schemas.openxmlformats.org/drawingml/2006/main">
            <a:off x="61912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Hiragino Sans"/>
                <a:ea typeface="Hiragino Sans"/>
                <a:cs typeface="Hiragino Sans"/>
              </a:defRPr>
            </a:pPr>
            <a:r>
              <a:rPr sz="2100" b="1">
                <a:solidFill>
                  <a:srgbClr val="111827"/>
                </a:solidFill>
                <a:latin typeface="Hiragino Sans"/>
                <a:ea typeface="Hiragino Sans"/>
                <a:cs typeface="Hiragino Sans"/>
              </a:rPr>
              <a:t>予測再現</a:t>
            </a:r>
          </a:p>
        </p:txBody>
      </p:sp>
      <p:sp>
        <p:nvSpPr>
          <p:cNvPr id="9" name="正方形/長方形 8">
            <a:extLst xmlns:a="http://schemas.openxmlformats.org/drawingml/2006/main">
              <a:ext uri="{FF2B5EF4-FFF2-40B4-BE49-F238E27FC236}">
                <a16:creationId xmlns:a16="http://schemas.microsoft.com/office/drawing/2014/main" id="{369C92C9-F4E1-4604-8D76-E321EB0BC4A3}"/>
              </a:ext>
            </a:extLst>
          </p:cNvPr>
          <p:cNvSpPr>
            <a:spLocks xmlns:a="http://schemas.openxmlformats.org/drawingml/2006/main" noGrp="1"/>
          </p:cNvSpPr>
          <p:nvPr/>
        </p:nvSpPr>
        <p:spPr>
          <a:xfrm xmlns:a="http://schemas.openxmlformats.org/drawingml/2006/main">
            <a:off x="61912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元モデルを</a:t>
            </a:r>
          </a:p>
          <a:p xmlns:a="http://schemas.openxmlformats.org/drawingml/2006/main">
            <a:pPr algn="l">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まねられるか</a:t>
            </a:r>
          </a:p>
        </p:txBody>
      </p:sp>
      <p:cxnSp>
        <p:nvCxnSpPr>
          <p:cNvPr id="81" name="直線矢印コネクタ 36"/>
          <p:cNvCxnSpPr/>
          <p:nvPr/>
        </p:nvCxnSpPr>
        <p:spPr>
          <a:xfrm xmlns:a="http://schemas.openxmlformats.org/drawingml/2006/main">
            <a:off x="619125" y="4095750"/>
            <a:ext cx="2857500" cy="0"/>
          </a:xfrm>
          <a:prstGeom xmlns:a="http://schemas.openxmlformats.org/drawingml/2006/main" prst="straightConnector1">
            <a:avLst/>
          </a:prstGeom>
          <a:ln xmlns:a="http://schemas.openxmlformats.org/drawingml/2006/main" w="47625">
            <a:solidFill>
              <a:srgbClr val="2563EB"/>
            </a:solidFill>
            <a:prstDash val="solid"/>
          </a:ln>
        </p:spPr>
      </p:cxnSp>
      <p:sp>
        <p:nvSpPr>
          <p:cNvPr id="11" name="正方形/長方形 10">
            <a:extLst xmlns:a="http://schemas.openxmlformats.org/drawingml/2006/main">
              <a:ext uri="{FF2B5EF4-FFF2-40B4-BE49-F238E27FC236}">
                <a16:creationId xmlns:a16="http://schemas.microsoft.com/office/drawing/2014/main" id="{03629073-E411-4861-B32F-C3C8AFBE5271}"/>
              </a:ext>
            </a:extLst>
          </p:cNvPr>
          <p:cNvSpPr>
            <a:spLocks xmlns:a="http://schemas.openxmlformats.org/drawingml/2006/main" noGrp="1"/>
          </p:cNvSpPr>
          <p:nvPr/>
        </p:nvSpPr>
        <p:spPr>
          <a:xfrm xmlns:a="http://schemas.openxmlformats.org/drawingml/2006/main">
            <a:off x="61912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Hiragino Sans"/>
                <a:ea typeface="Hiragino Sans"/>
                <a:cs typeface="Hiragino Sans"/>
              </a:defRPr>
            </a:pPr>
            <a:r>
              <a:rPr sz="1350" b="1">
                <a:solidFill>
                  <a:srgbClr val="64748B"/>
                </a:solidFill>
                <a:latin typeface="Hiragino Sans"/>
                <a:ea typeface="Hiragino Sans"/>
                <a:cs typeface="Hiragino Sans"/>
              </a:rPr>
              <a:t>評価例</a:t>
            </a:r>
          </a:p>
        </p:txBody>
      </p:sp>
      <p:sp>
        <p:nvSpPr>
          <p:cNvPr id="12" name="正方形/長方形 11">
            <a:extLst xmlns:a="http://schemas.openxmlformats.org/drawingml/2006/main">
              <a:ext uri="{FF2B5EF4-FFF2-40B4-BE49-F238E27FC236}">
                <a16:creationId xmlns:a16="http://schemas.microsoft.com/office/drawing/2014/main" id="{B62BB417-B455-45EC-9855-B415D053B4D4}"/>
              </a:ext>
            </a:extLst>
          </p:cNvPr>
          <p:cNvSpPr>
            <a:spLocks xmlns:a="http://schemas.openxmlformats.org/drawingml/2006/main" noGrp="1"/>
          </p:cNvSpPr>
          <p:nvPr/>
        </p:nvSpPr>
        <p:spPr>
          <a:xfrm xmlns:a="http://schemas.openxmlformats.org/drawingml/2006/main">
            <a:off x="61912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Hiragino Sans"/>
                <a:ea typeface="Hiragino Sans"/>
                <a:cs typeface="Hiragino Sans"/>
              </a:defRPr>
            </a:pPr>
            <a:r>
              <a:rPr sz="1500" b="1">
                <a:solidFill>
                  <a:srgbClr val="2563EB"/>
                </a:solidFill>
                <a:latin typeface="Hiragino Sans"/>
                <a:ea typeface="Hiragino Sans"/>
                <a:cs typeface="Hiragino Sans"/>
              </a:rPr>
              <a:t>確率の誤差</a:t>
            </a:r>
          </a:p>
          <a:p xmlns:a="http://schemas.openxmlformats.org/drawingml/2006/main">
            <a:pPr algn="l">
              <a:buNone/>
              <a:defRPr sz="1500" b="1">
                <a:solidFill>
                  <a:srgbClr val="2563EB"/>
                </a:solidFill>
                <a:latin typeface="Hiragino Sans"/>
                <a:ea typeface="Hiragino Sans"/>
                <a:cs typeface="Hiragino Sans"/>
              </a:defRPr>
            </a:pPr>
            <a:r>
              <a:rPr sz="1500" b="1">
                <a:solidFill>
                  <a:srgbClr val="2563EB"/>
                </a:solidFill>
                <a:latin typeface="Hiragino Sans"/>
                <a:ea typeface="Hiragino Sans"/>
                <a:cs typeface="Hiragino Sans"/>
              </a:rPr>
              <a:t>局所忠実性</a:t>
            </a:r>
          </a:p>
        </p:txBody>
      </p:sp>
      <p:sp>
        <p:nvSpPr>
          <p:cNvPr id="13" name="正方形/長方形 12">
            <a:extLst xmlns:a="http://schemas.openxmlformats.org/drawingml/2006/main">
              <a:ext uri="{FF2B5EF4-FFF2-40B4-BE49-F238E27FC236}">
                <a16:creationId xmlns:a16="http://schemas.microsoft.com/office/drawing/2014/main" id="{CA675AF9-9E87-450B-88E1-6DE7C1A75A5C}"/>
              </a:ext>
            </a:extLst>
          </p:cNvPr>
          <p:cNvSpPr>
            <a:spLocks xmlns:a="http://schemas.openxmlformats.org/drawingml/2006/main" noGrp="1"/>
          </p:cNvSpPr>
          <p:nvPr/>
        </p:nvSpPr>
        <p:spPr>
          <a:xfrm xmlns:a="http://schemas.openxmlformats.org/drawingml/2006/main">
            <a:off x="452437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F59E0B"/>
                </a:solidFill>
                <a:latin typeface="Hiragino Sans"/>
                <a:ea typeface="Hiragino Sans"/>
                <a:cs typeface="Hiragino Sans"/>
              </a:defRPr>
            </a:pPr>
            <a:r>
              <a:rPr sz="3900" b="1">
                <a:solidFill>
                  <a:srgbClr val="F59E0B"/>
                </a:solidFill>
                <a:latin typeface="Hiragino Sans"/>
                <a:ea typeface="Hiragino Sans"/>
                <a:cs typeface="Hiragino Sans"/>
              </a:rPr>
              <a:t>02</a:t>
            </a:r>
          </a:p>
        </p:txBody>
      </p:sp>
      <p:sp>
        <p:nvSpPr>
          <p:cNvPr id="14" name="正方形/長方形 13">
            <a:extLst xmlns:a="http://schemas.openxmlformats.org/drawingml/2006/main">
              <a:ext uri="{FF2B5EF4-FFF2-40B4-BE49-F238E27FC236}">
                <a16:creationId xmlns:a16="http://schemas.microsoft.com/office/drawing/2014/main" id="{A0A5EAF3-A961-4666-98BC-016F803D24E3}"/>
              </a:ext>
            </a:extLst>
          </p:cNvPr>
          <p:cNvSpPr>
            <a:spLocks xmlns:a="http://schemas.openxmlformats.org/drawingml/2006/main" noGrp="1"/>
          </p:cNvSpPr>
          <p:nvPr/>
        </p:nvSpPr>
        <p:spPr>
          <a:xfrm xmlns:a="http://schemas.openxmlformats.org/drawingml/2006/main">
            <a:off x="452437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Hiragino Sans"/>
                <a:ea typeface="Hiragino Sans"/>
                <a:cs typeface="Hiragino Sans"/>
              </a:defRPr>
            </a:pPr>
            <a:r>
              <a:rPr sz="2100" b="1">
                <a:solidFill>
                  <a:srgbClr val="111827"/>
                </a:solidFill>
                <a:latin typeface="Hiragino Sans"/>
                <a:ea typeface="Hiragino Sans"/>
                <a:cs typeface="Hiragino Sans"/>
              </a:rPr>
              <a:t>説明の一貫性</a:t>
            </a:r>
          </a:p>
        </p:txBody>
      </p:sp>
      <p:sp>
        <p:nvSpPr>
          <p:cNvPr id="15" name="正方形/長方形 14">
            <a:extLst xmlns:a="http://schemas.openxmlformats.org/drawingml/2006/main">
              <a:ext uri="{FF2B5EF4-FFF2-40B4-BE49-F238E27FC236}">
                <a16:creationId xmlns:a16="http://schemas.microsoft.com/office/drawing/2014/main" id="{2B5D8ACA-4543-4A3F-BB81-FE17977D1830}"/>
              </a:ext>
            </a:extLst>
          </p:cNvPr>
          <p:cNvSpPr>
            <a:spLocks xmlns:a="http://schemas.openxmlformats.org/drawingml/2006/main" noGrp="1"/>
          </p:cNvSpPr>
          <p:nvPr/>
        </p:nvSpPr>
        <p:spPr>
          <a:xfrm xmlns:a="http://schemas.openxmlformats.org/drawingml/2006/main">
            <a:off x="452437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クラス間で説明が</a:t>
            </a:r>
          </a:p>
          <a:p xmlns:a="http://schemas.openxmlformats.org/drawingml/2006/main">
            <a:pPr algn="l">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つながるか</a:t>
            </a:r>
          </a:p>
        </p:txBody>
      </p:sp>
      <p:cxnSp>
        <p:nvCxnSpPr>
          <p:cNvPr id="87" name="直線矢印コネクタ 42"/>
          <p:cNvCxnSpPr/>
          <p:nvPr/>
        </p:nvCxnSpPr>
        <p:spPr>
          <a:xfrm xmlns:a="http://schemas.openxmlformats.org/drawingml/2006/main">
            <a:off x="4524375" y="4095750"/>
            <a:ext cx="2857500" cy="0"/>
          </a:xfrm>
          <a:prstGeom xmlns:a="http://schemas.openxmlformats.org/drawingml/2006/main" prst="straightConnector1">
            <a:avLst/>
          </a:prstGeom>
          <a:ln xmlns:a="http://schemas.openxmlformats.org/drawingml/2006/main" w="47625">
            <a:solidFill>
              <a:srgbClr val="F59E0B"/>
            </a:solidFill>
            <a:prstDash val="solid"/>
          </a:ln>
        </p:spPr>
      </p:cxnSp>
      <p:sp>
        <p:nvSpPr>
          <p:cNvPr id="17" name="正方形/長方形 16">
            <a:extLst xmlns:a="http://schemas.openxmlformats.org/drawingml/2006/main">
              <a:ext uri="{FF2B5EF4-FFF2-40B4-BE49-F238E27FC236}">
                <a16:creationId xmlns:a16="http://schemas.microsoft.com/office/drawing/2014/main" id="{186E0DE1-49AB-492D-80BE-B6B63220806A}"/>
              </a:ext>
            </a:extLst>
          </p:cNvPr>
          <p:cNvSpPr>
            <a:spLocks xmlns:a="http://schemas.openxmlformats.org/drawingml/2006/main" noGrp="1"/>
          </p:cNvSpPr>
          <p:nvPr/>
        </p:nvSpPr>
        <p:spPr>
          <a:xfrm xmlns:a="http://schemas.openxmlformats.org/drawingml/2006/main">
            <a:off x="452437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Hiragino Sans"/>
                <a:ea typeface="Hiragino Sans"/>
                <a:cs typeface="Hiragino Sans"/>
              </a:defRPr>
            </a:pPr>
            <a:r>
              <a:rPr sz="1350" b="1">
                <a:solidFill>
                  <a:srgbClr val="64748B"/>
                </a:solidFill>
                <a:latin typeface="Hiragino Sans"/>
                <a:ea typeface="Hiragino Sans"/>
                <a:cs typeface="Hiragino Sans"/>
              </a:rPr>
              <a:t>評価例</a:t>
            </a:r>
          </a:p>
        </p:txBody>
      </p:sp>
      <p:sp>
        <p:nvSpPr>
          <p:cNvPr id="18" name="正方形/長方形 17">
            <a:extLst xmlns:a="http://schemas.openxmlformats.org/drawingml/2006/main">
              <a:ext uri="{FF2B5EF4-FFF2-40B4-BE49-F238E27FC236}">
                <a16:creationId xmlns:a16="http://schemas.microsoft.com/office/drawing/2014/main" id="{834464F6-44B8-4019-9FB8-AEFFA5CCFD86}"/>
              </a:ext>
            </a:extLst>
          </p:cNvPr>
          <p:cNvSpPr>
            <a:spLocks xmlns:a="http://schemas.openxmlformats.org/drawingml/2006/main" noGrp="1"/>
          </p:cNvSpPr>
          <p:nvPr/>
        </p:nvSpPr>
        <p:spPr>
          <a:xfrm xmlns:a="http://schemas.openxmlformats.org/drawingml/2006/main">
            <a:off x="452437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F59E0B"/>
                </a:solidFill>
                <a:latin typeface="Hiragino Sans"/>
                <a:ea typeface="Hiragino Sans"/>
                <a:cs typeface="Hiragino Sans"/>
              </a:defRPr>
            </a:pPr>
            <a:r>
              <a:rPr sz="1500" b="1">
                <a:solidFill>
                  <a:srgbClr val="F59E0B"/>
                </a:solidFill>
                <a:latin typeface="Hiragino Sans"/>
                <a:ea typeface="Hiragino Sans"/>
                <a:cs typeface="Hiragino Sans"/>
              </a:rPr>
              <a:t>共通特徴・共通構造</a:t>
            </a:r>
          </a:p>
          <a:p xmlns:a="http://schemas.openxmlformats.org/drawingml/2006/main">
            <a:pPr algn="l">
              <a:buNone/>
              <a:defRPr sz="1500" b="1">
                <a:solidFill>
                  <a:srgbClr val="F59E0B"/>
                </a:solidFill>
                <a:latin typeface="Hiragino Sans"/>
                <a:ea typeface="Hiragino Sans"/>
                <a:cs typeface="Hiragino Sans"/>
              </a:defRPr>
            </a:pPr>
            <a:r>
              <a:rPr sz="1500" b="1">
                <a:solidFill>
                  <a:srgbClr val="F59E0B"/>
                </a:solidFill>
                <a:latin typeface="Hiragino Sans"/>
                <a:ea typeface="Hiragino Sans"/>
                <a:cs typeface="Hiragino Sans"/>
              </a:rPr>
              <a:t>安定性</a:t>
            </a:r>
          </a:p>
        </p:txBody>
      </p:sp>
      <p:sp>
        <p:nvSpPr>
          <p:cNvPr id="19" name="正方形/長方形 18">
            <a:extLst xmlns:a="http://schemas.openxmlformats.org/drawingml/2006/main">
              <a:ext uri="{FF2B5EF4-FFF2-40B4-BE49-F238E27FC236}">
                <a16:creationId xmlns:a16="http://schemas.microsoft.com/office/drawing/2014/main" id="{B9FC0B25-D2BE-4394-A794-C776B80C2E5B}"/>
              </a:ext>
            </a:extLst>
          </p:cNvPr>
          <p:cNvSpPr>
            <a:spLocks xmlns:a="http://schemas.openxmlformats.org/drawingml/2006/main" noGrp="1"/>
          </p:cNvSpPr>
          <p:nvPr/>
        </p:nvSpPr>
        <p:spPr>
          <a:xfrm xmlns:a="http://schemas.openxmlformats.org/drawingml/2006/main">
            <a:off x="842962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10B981"/>
                </a:solidFill>
                <a:latin typeface="Hiragino Sans"/>
                <a:ea typeface="Hiragino Sans"/>
                <a:cs typeface="Hiragino Sans"/>
              </a:defRPr>
            </a:pPr>
            <a:r>
              <a:rPr sz="3900" b="1">
                <a:solidFill>
                  <a:srgbClr val="10B981"/>
                </a:solidFill>
                <a:latin typeface="Hiragino Sans"/>
                <a:ea typeface="Hiragino Sans"/>
                <a:cs typeface="Hiragino Sans"/>
              </a:rPr>
              <a:t>03</a:t>
            </a:r>
          </a:p>
        </p:txBody>
      </p:sp>
      <p:sp>
        <p:nvSpPr>
          <p:cNvPr id="20" name="正方形/長方形 19">
            <a:extLst xmlns:a="http://schemas.openxmlformats.org/drawingml/2006/main">
              <a:ext uri="{FF2B5EF4-FFF2-40B4-BE49-F238E27FC236}">
                <a16:creationId xmlns:a16="http://schemas.microsoft.com/office/drawing/2014/main" id="{948C1822-48A5-49B8-85AA-74473266740F}"/>
              </a:ext>
            </a:extLst>
          </p:cNvPr>
          <p:cNvSpPr>
            <a:spLocks xmlns:a="http://schemas.openxmlformats.org/drawingml/2006/main" noGrp="1"/>
          </p:cNvSpPr>
          <p:nvPr/>
        </p:nvSpPr>
        <p:spPr>
          <a:xfrm xmlns:a="http://schemas.openxmlformats.org/drawingml/2006/main">
            <a:off x="842962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Hiragino Sans"/>
                <a:ea typeface="Hiragino Sans"/>
                <a:cs typeface="Hiragino Sans"/>
              </a:defRPr>
            </a:pPr>
            <a:r>
              <a:rPr sz="2100" b="1">
                <a:solidFill>
                  <a:srgbClr val="111827"/>
                </a:solidFill>
                <a:latin typeface="Hiragino Sans"/>
                <a:ea typeface="Hiragino Sans"/>
                <a:cs typeface="Hiragino Sans"/>
              </a:rPr>
              <a:t>対比の理解</a:t>
            </a:r>
          </a:p>
        </p:txBody>
      </p:sp>
      <p:sp>
        <p:nvSpPr>
          <p:cNvPr id="21" name="正方形/長方形 20">
            <a:extLst xmlns:a="http://schemas.openxmlformats.org/drawingml/2006/main">
              <a:ext uri="{FF2B5EF4-FFF2-40B4-BE49-F238E27FC236}">
                <a16:creationId xmlns:a16="http://schemas.microsoft.com/office/drawing/2014/main" id="{5A735760-5097-40E0-9009-540F15BBC145}"/>
              </a:ext>
            </a:extLst>
          </p:cNvPr>
          <p:cNvSpPr>
            <a:spLocks xmlns:a="http://schemas.openxmlformats.org/drawingml/2006/main" noGrp="1"/>
          </p:cNvSpPr>
          <p:nvPr/>
        </p:nvSpPr>
        <p:spPr>
          <a:xfrm xmlns:a="http://schemas.openxmlformats.org/drawingml/2006/main">
            <a:off x="842962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AとBの違いが</a:t>
            </a:r>
          </a:p>
          <a:p xmlns:a="http://schemas.openxmlformats.org/drawingml/2006/main">
            <a:pPr algn="l">
              <a:buNone/>
              <a:defRPr sz="1650" b="1">
                <a:solidFill>
                  <a:srgbClr val="111827"/>
                </a:solidFill>
                <a:latin typeface="Hiragino Sans"/>
                <a:ea typeface="Hiragino Sans"/>
                <a:cs typeface="Hiragino Sans"/>
              </a:defRPr>
            </a:pPr>
            <a:r>
              <a:rPr sz="1650" b="1">
                <a:solidFill>
                  <a:srgbClr val="111827"/>
                </a:solidFill>
                <a:latin typeface="Hiragino Sans"/>
                <a:ea typeface="Hiragino Sans"/>
                <a:cs typeface="Hiragino Sans"/>
              </a:rPr>
              <a:t>伝わるか</a:t>
            </a:r>
          </a:p>
        </p:txBody>
      </p:sp>
      <p:cxnSp>
        <p:nvCxnSpPr>
          <p:cNvPr id="93" name="直線矢印コネクタ 48"/>
          <p:cNvCxnSpPr/>
          <p:nvPr/>
        </p:nvCxnSpPr>
        <p:spPr>
          <a:xfrm xmlns:a="http://schemas.openxmlformats.org/drawingml/2006/main">
            <a:off x="8429625" y="4095750"/>
            <a:ext cx="2857500" cy="0"/>
          </a:xfrm>
          <a:prstGeom xmlns:a="http://schemas.openxmlformats.org/drawingml/2006/main" prst="straightConnector1">
            <a:avLst/>
          </a:prstGeom>
          <a:ln xmlns:a="http://schemas.openxmlformats.org/drawingml/2006/main" w="47625">
            <a:solidFill>
              <a:srgbClr val="10B981"/>
            </a:solidFill>
            <a:prstDash val="solid"/>
          </a:ln>
        </p:spPr>
      </p:cxnSp>
      <p:sp>
        <p:nvSpPr>
          <p:cNvPr id="23" name="正方形/長方形 22">
            <a:extLst xmlns:a="http://schemas.openxmlformats.org/drawingml/2006/main">
              <a:ext uri="{FF2B5EF4-FFF2-40B4-BE49-F238E27FC236}">
                <a16:creationId xmlns:a16="http://schemas.microsoft.com/office/drawing/2014/main" id="{DEAADF44-4BBF-4D7D-A30A-0E05182A3F86}"/>
              </a:ext>
            </a:extLst>
          </p:cNvPr>
          <p:cNvSpPr>
            <a:spLocks xmlns:a="http://schemas.openxmlformats.org/drawingml/2006/main" noGrp="1"/>
          </p:cNvSpPr>
          <p:nvPr/>
        </p:nvSpPr>
        <p:spPr>
          <a:xfrm xmlns:a="http://schemas.openxmlformats.org/drawingml/2006/main">
            <a:off x="842962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Hiragino Sans"/>
                <a:ea typeface="Hiragino Sans"/>
                <a:cs typeface="Hiragino Sans"/>
              </a:defRPr>
            </a:pPr>
            <a:r>
              <a:rPr sz="1350" b="1">
                <a:solidFill>
                  <a:srgbClr val="64748B"/>
                </a:solidFill>
                <a:latin typeface="Hiragino Sans"/>
                <a:ea typeface="Hiragino Sans"/>
                <a:cs typeface="Hiragino Sans"/>
              </a:rPr>
              <a:t>評価例</a:t>
            </a:r>
          </a:p>
        </p:txBody>
      </p:sp>
      <p:sp>
        <p:nvSpPr>
          <p:cNvPr id="24" name="正方形/長方形 23">
            <a:extLst xmlns:a="http://schemas.openxmlformats.org/drawingml/2006/main">
              <a:ext uri="{FF2B5EF4-FFF2-40B4-BE49-F238E27FC236}">
                <a16:creationId xmlns:a16="http://schemas.microsoft.com/office/drawing/2014/main" id="{774215F6-B31D-45B0-8CB6-301A4AE7DD94}"/>
              </a:ext>
            </a:extLst>
          </p:cNvPr>
          <p:cNvSpPr>
            <a:spLocks xmlns:a="http://schemas.openxmlformats.org/drawingml/2006/main" noGrp="1"/>
          </p:cNvSpPr>
          <p:nvPr/>
        </p:nvSpPr>
        <p:spPr>
          <a:xfrm xmlns:a="http://schemas.openxmlformats.org/drawingml/2006/main">
            <a:off x="842962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0B981"/>
                </a:solidFill>
                <a:latin typeface="Hiragino Sans"/>
                <a:ea typeface="Hiragino Sans"/>
                <a:cs typeface="Hiragino Sans"/>
              </a:defRPr>
            </a:pPr>
            <a:r>
              <a:rPr sz="1500" b="1">
                <a:solidFill>
                  <a:srgbClr val="10B981"/>
                </a:solidFill>
                <a:latin typeface="Hiragino Sans"/>
                <a:ea typeface="Hiragino Sans"/>
                <a:cs typeface="Hiragino Sans"/>
              </a:rPr>
              <a:t>正答率・読解時間</a:t>
            </a:r>
          </a:p>
          <a:p xmlns:a="http://schemas.openxmlformats.org/drawingml/2006/main">
            <a:pPr algn="l">
              <a:buNone/>
              <a:defRPr sz="1500" b="1">
                <a:solidFill>
                  <a:srgbClr val="10B981"/>
                </a:solidFill>
                <a:latin typeface="Hiragino Sans"/>
                <a:ea typeface="Hiragino Sans"/>
                <a:cs typeface="Hiragino Sans"/>
              </a:defRPr>
            </a:pPr>
            <a:r>
              <a:rPr sz="1500" b="1">
                <a:solidFill>
                  <a:srgbClr val="10B981"/>
                </a:solidFill>
                <a:latin typeface="Hiragino Sans"/>
                <a:ea typeface="Hiragino Sans"/>
                <a:cs typeface="Hiragino Sans"/>
              </a:rPr>
              <a:t>主観評価</a:t>
            </a:r>
          </a:p>
        </p:txBody>
      </p:sp>
      <p:sp>
        <p:nvSpPr>
          <p:cNvPr id="25" name="正方形/長方形 24">
            <a:extLst xmlns:a="http://schemas.openxmlformats.org/drawingml/2006/main">
              <a:ext uri="{FF2B5EF4-FFF2-40B4-BE49-F238E27FC236}">
                <a16:creationId xmlns:a16="http://schemas.microsoft.com/office/drawing/2014/main" id="{63213C25-13E5-4A9F-96F9-FE70978ED1FC}"/>
              </a:ext>
            </a:extLst>
          </p:cNvPr>
          <p:cNvSpPr>
            <a:spLocks xmlns:a="http://schemas.openxmlformats.org/drawingml/2006/main" noGrp="1"/>
          </p:cNvSpPr>
          <p:nvPr/>
        </p:nvSpPr>
        <p:spPr>
          <a:xfrm xmlns:a="http://schemas.openxmlformats.org/drawingml/2006/main">
            <a:off x="666750" y="5572125"/>
            <a:ext cx="10858500" cy="6286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1D39A03D-148E-4400-9982-C63EB8E2BD65}"/>
              </a:ext>
            </a:extLst>
          </p:cNvPr>
          <p:cNvSpPr>
            <a:spLocks xmlns:a="http://schemas.openxmlformats.org/drawingml/2006/main" noGrp="1"/>
          </p:cNvSpPr>
          <p:nvPr/>
        </p:nvSpPr>
        <p:spPr>
          <a:xfrm xmlns:a="http://schemas.openxmlformats.org/drawingml/2006/main">
            <a:off x="1238250" y="5724525"/>
            <a:ext cx="971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FFFFFF"/>
                </a:solidFill>
                <a:latin typeface="Hiragino Sans"/>
                <a:ea typeface="Hiragino Sans"/>
                <a:cs typeface="Hiragino Sans"/>
              </a:defRPr>
            </a:pPr>
            <a:r>
              <a:rPr sz="1950" b="1">
                <a:solidFill>
                  <a:srgbClr val="FFFFFF"/>
                </a:solidFill>
                <a:latin typeface="Hiragino Sans"/>
                <a:ea typeface="Hiragino Sans"/>
                <a:cs typeface="Hiragino Sans"/>
              </a:rPr>
              <a:t>改善したい性質を定めてから、手法と評価方法を選ぶ</a:t>
            </a:r>
          </a:p>
        </p:txBody>
      </p:sp>
      <p:sp>
        <p:nvSpPr>
          <p:cNvPr id="27" name="正方形/長方形 26">
            <a:extLst xmlns:a="http://schemas.openxmlformats.org/drawingml/2006/main">
              <a:ext uri="{FF2B5EF4-FFF2-40B4-BE49-F238E27FC236}">
                <a16:creationId xmlns:a16="http://schemas.microsoft.com/office/drawing/2014/main" id="{63B7EAD6-A4B7-478C-B42D-7DB55549EC0C}"/>
              </a:ext>
            </a:extLst>
          </p:cNvPr>
          <p:cNvSpPr>
            <a:spLocks xmlns:a="http://schemas.openxmlformats.org/drawingml/2006/main" noGrp="1"/>
          </p:cNvSpPr>
          <p:nvPr/>
        </p:nvSpPr>
        <p:spPr>
          <a:xfrm xmlns:a="http://schemas.openxmlformats.org/drawingml/2006/main">
            <a:off x="1666875" y="6334125"/>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Hiragino Sans"/>
                <a:ea typeface="Hiragino Sans"/>
                <a:cs typeface="Hiragino Sans"/>
              </a:defRPr>
            </a:pPr>
            <a:r>
              <a:rPr sz="1350" b="0">
                <a:solidFill>
                  <a:srgbClr val="64748B"/>
                </a:solidFill>
                <a:latin typeface="Hiragino Sans"/>
                <a:ea typeface="Hiragino Sans"/>
                <a:cs typeface="Hiragino Sans"/>
              </a:rPr>
              <a:t>LIMEの多クラス化で重要なのは、説明の数ではなくクラス間の関係の表し方</a:t>
            </a:r>
          </a:p>
        </p:txBody>
      </p:sp>
    </p:spTree>
    <p:extLst>
      <p:ext uri="{BB962C8B-B14F-4D97-AF65-F5344CB8AC3E}">
        <p14:creationId xmlns:p14="http://schemas.microsoft.com/office/powerpoint/2010/main" val="9625463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ccent-bar">
            <a:extLst xmlns:a="http://schemas.openxmlformats.org/drawingml/2006/main">
              <a:ext uri="{FF2B5EF4-FFF2-40B4-BE49-F238E27FC236}">
                <a16:creationId xmlns:a16="http://schemas.microsoft.com/office/drawing/2014/main" id="{800DD37A-AB05-49AB-A907-7D6BC445A10C}"/>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title">
            <a:extLst xmlns:a="http://schemas.openxmlformats.org/drawingml/2006/main">
              <a:ext uri="{FF2B5EF4-FFF2-40B4-BE49-F238E27FC236}">
                <a16:creationId xmlns:a16="http://schemas.microsoft.com/office/drawing/2014/main" id="{9ED56516-5D4C-4C2A-8B46-A834EBBE6096}"/>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目次</a:t>
            </a:r>
          </a:p>
        </p:txBody>
      </p:sp>
      <p:sp>
        <p:nvSpPr>
          <p:cNvPr id="4" name="subtitle">
            <a:extLst xmlns:a="http://schemas.openxmlformats.org/drawingml/2006/main">
              <a:ext uri="{FF2B5EF4-FFF2-40B4-BE49-F238E27FC236}">
                <a16:creationId xmlns:a16="http://schemas.microsoft.com/office/drawing/2014/main" id="{34968B34-1D8A-453E-8EB4-AD2B7242BFD0}"/>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これから「提案手法・評価設計」を話す</a:t>
            </a:r>
          </a:p>
        </p:txBody>
      </p:sp>
      <p:sp>
        <p:nvSpPr>
          <p:cNvPr id="5" name="footer-num">
            <a:extLst xmlns:a="http://schemas.openxmlformats.org/drawingml/2006/main">
              <a:ext uri="{FF2B5EF4-FFF2-40B4-BE49-F238E27FC236}">
                <a16:creationId xmlns:a16="http://schemas.microsoft.com/office/drawing/2014/main" id="{787C9B32-A974-455F-A372-75774BE57986}"/>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13</a:t>
            </a:r>
          </a:p>
        </p:txBody>
      </p:sp>
      <p:sp>
        <p:nvSpPr>
          <p:cNvPr id="6" name="toc-num-0">
            <a:extLst xmlns:a="http://schemas.openxmlformats.org/drawingml/2006/main">
              <a:ext uri="{FF2B5EF4-FFF2-40B4-BE49-F238E27FC236}">
                <a16:creationId xmlns:a16="http://schemas.microsoft.com/office/drawing/2014/main" id="{0E6AE7AC-2766-4B66-859D-4280D0152035}"/>
              </a:ext>
            </a:extLst>
          </p:cNvPr>
          <p:cNvSpPr>
            <a:spLocks xmlns:a="http://schemas.openxmlformats.org/drawingml/2006/main" noGrp="1"/>
          </p:cNvSpPr>
          <p:nvPr/>
        </p:nvSpPr>
        <p:spPr>
          <a:xfrm xmlns:a="http://schemas.openxmlformats.org/drawingml/2006/main">
            <a:off x="1000000" y="11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01</a:t>
            </a:r>
          </a:p>
        </p:txBody>
      </p:sp>
      <p:sp>
        <p:nvSpPr>
          <p:cNvPr id="7" name="toc-title-0">
            <a:extLst xmlns:a="http://schemas.openxmlformats.org/drawingml/2006/main">
              <a:ext uri="{FF2B5EF4-FFF2-40B4-BE49-F238E27FC236}">
                <a16:creationId xmlns:a16="http://schemas.microsoft.com/office/drawing/2014/main" id="{A79B2F44-ACD9-45EA-8FB5-4E27572A722B}"/>
              </a:ext>
            </a:extLst>
          </p:cNvPr>
          <p:cNvSpPr>
            <a:spLocks xmlns:a="http://schemas.openxmlformats.org/drawingml/2006/main" noGrp="1"/>
          </p:cNvSpPr>
          <p:nvPr/>
        </p:nvSpPr>
        <p:spPr>
          <a:xfrm xmlns:a="http://schemas.openxmlformats.org/drawingml/2006/main">
            <a:off x="2100000" y="13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導入・LIMEの基礎</a:t>
            </a:r>
          </a:p>
        </p:txBody>
      </p:sp>
      <p:sp>
        <p:nvSpPr>
          <p:cNvPr id="8" name="toc-desc-0">
            <a:extLst xmlns:a="http://schemas.openxmlformats.org/drawingml/2006/main">
              <a:ext uri="{FF2B5EF4-FFF2-40B4-BE49-F238E27FC236}">
                <a16:creationId xmlns:a16="http://schemas.microsoft.com/office/drawing/2014/main" id="{34A112E9-5ABB-4DCB-9D24-92AF967CB528}"/>
              </a:ext>
            </a:extLst>
          </p:cNvPr>
          <p:cNvSpPr>
            <a:spLocks xmlns:a="http://schemas.openxmlformats.org/drawingml/2006/main" noGrp="1"/>
          </p:cNvSpPr>
          <p:nvPr/>
        </p:nvSpPr>
        <p:spPr>
          <a:xfrm xmlns:a="http://schemas.openxmlformats.org/drawingml/2006/main">
            <a:off x="2100000" y="17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XAIとLIMEの仕組み、局所説明の考え方を確認する</a:t>
            </a:r>
          </a:p>
        </p:txBody>
      </p:sp>
      <p:sp>
        <p:nvSpPr>
          <p:cNvPr id="9" name="toc-pages-0">
            <a:extLst xmlns:a="http://schemas.openxmlformats.org/drawingml/2006/main">
              <a:ext uri="{FF2B5EF4-FFF2-40B4-BE49-F238E27FC236}">
                <a16:creationId xmlns:a16="http://schemas.microsoft.com/office/drawing/2014/main" id="{76429C20-6BA3-488B-8500-E182B000177D}"/>
              </a:ext>
            </a:extLst>
          </p:cNvPr>
          <p:cNvSpPr>
            <a:spLocks xmlns:a="http://schemas.openxmlformats.org/drawingml/2006/main" noGrp="1"/>
          </p:cNvSpPr>
          <p:nvPr/>
        </p:nvSpPr>
        <p:spPr>
          <a:xfrm xmlns:a="http://schemas.openxmlformats.org/drawingml/2006/main">
            <a:off x="9700000" y="11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p.03-06</a:t>
            </a:r>
          </a:p>
        </p:txBody>
      </p:sp>
      <p:sp>
        <p:nvSpPr>
          <p:cNvPr id="10" name="toc-num-1">
            <a:extLst xmlns:a="http://schemas.openxmlformats.org/drawingml/2006/main">
              <a:ext uri="{FF2B5EF4-FFF2-40B4-BE49-F238E27FC236}">
                <a16:creationId xmlns:a16="http://schemas.microsoft.com/office/drawing/2014/main" id="{9983E18E-FF1D-41D3-8D7A-2E913B0B3D21}"/>
              </a:ext>
            </a:extLst>
          </p:cNvPr>
          <p:cNvSpPr>
            <a:spLocks xmlns:a="http://schemas.openxmlformats.org/drawingml/2006/main" noGrp="1"/>
          </p:cNvSpPr>
          <p:nvPr/>
        </p:nvSpPr>
        <p:spPr>
          <a:xfrm xmlns:a="http://schemas.openxmlformats.org/drawingml/2006/main">
            <a:off x="1000000" y="23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02</a:t>
            </a:r>
          </a:p>
        </p:txBody>
      </p:sp>
      <p:sp>
        <p:nvSpPr>
          <p:cNvPr id="11" name="toc-title-1">
            <a:extLst xmlns:a="http://schemas.openxmlformats.org/drawingml/2006/main">
              <a:ext uri="{FF2B5EF4-FFF2-40B4-BE49-F238E27FC236}">
                <a16:creationId xmlns:a16="http://schemas.microsoft.com/office/drawing/2014/main" id="{49945AF8-BC94-495D-A63E-69CCC3BF050A}"/>
              </a:ext>
            </a:extLst>
          </p:cNvPr>
          <p:cNvSpPr>
            <a:spLocks xmlns:a="http://schemas.openxmlformats.org/drawingml/2006/main" noGrp="1"/>
          </p:cNvSpPr>
          <p:nvPr/>
        </p:nvSpPr>
        <p:spPr>
          <a:xfrm xmlns:a="http://schemas.openxmlformats.org/drawingml/2006/main">
            <a:off x="2100000" y="24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多クラスLIMEの課題と関連研究</a:t>
            </a:r>
          </a:p>
        </p:txBody>
      </p:sp>
      <p:sp>
        <p:nvSpPr>
          <p:cNvPr id="12" name="toc-desc-1">
            <a:extLst xmlns:a="http://schemas.openxmlformats.org/drawingml/2006/main">
              <a:ext uri="{FF2B5EF4-FFF2-40B4-BE49-F238E27FC236}">
                <a16:creationId xmlns:a16="http://schemas.microsoft.com/office/drawing/2014/main" id="{2A331989-F621-4D3F-BFC6-490657CC795F}"/>
              </a:ext>
            </a:extLst>
          </p:cNvPr>
          <p:cNvSpPr>
            <a:spLocks xmlns:a="http://schemas.openxmlformats.org/drawingml/2006/main" noGrp="1"/>
          </p:cNvSpPr>
          <p:nvPr/>
        </p:nvSpPr>
        <p:spPr>
          <a:xfrm xmlns:a="http://schemas.openxmlformats.org/drawingml/2006/main">
            <a:off x="2100000" y="29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one-vs-rest型の限界と、LIMEtreeなど関連手法を整理する</a:t>
            </a:r>
          </a:p>
        </p:txBody>
      </p:sp>
      <p:sp>
        <p:nvSpPr>
          <p:cNvPr id="13" name="toc-pages-1">
            <a:extLst xmlns:a="http://schemas.openxmlformats.org/drawingml/2006/main">
              <a:ext uri="{FF2B5EF4-FFF2-40B4-BE49-F238E27FC236}">
                <a16:creationId xmlns:a16="http://schemas.microsoft.com/office/drawing/2014/main" id="{28C8350D-67DE-4ABE-80EF-EBFCDFE24CA1}"/>
              </a:ext>
            </a:extLst>
          </p:cNvPr>
          <p:cNvSpPr>
            <a:spLocks xmlns:a="http://schemas.openxmlformats.org/drawingml/2006/main" noGrp="1"/>
          </p:cNvSpPr>
          <p:nvPr/>
        </p:nvSpPr>
        <p:spPr>
          <a:xfrm xmlns:a="http://schemas.openxmlformats.org/drawingml/2006/main">
            <a:off x="9700000" y="23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p.08-12</a:t>
            </a:r>
          </a:p>
        </p:txBody>
      </p:sp>
      <p:sp>
        <p:nvSpPr>
          <p:cNvPr id="14" name="toc-row-bg-2">
            <a:extLst xmlns:a="http://schemas.openxmlformats.org/drawingml/2006/main">
              <a:ext uri="{FF2B5EF4-FFF2-40B4-BE49-F238E27FC236}">
                <a16:creationId xmlns:a16="http://schemas.microsoft.com/office/drawing/2014/main" id="{028B3B9F-E88D-4BAE-AFB8-796BBCD42763}"/>
              </a:ext>
            </a:extLst>
          </p:cNvPr>
          <p:cNvSpPr>
            <a:spLocks xmlns:a="http://schemas.openxmlformats.org/drawingml/2006/main" noGrp="1"/>
          </p:cNvSpPr>
          <p:nvPr/>
        </p:nvSpPr>
        <p:spPr>
          <a:xfrm xmlns:a="http://schemas.openxmlformats.org/drawingml/2006/main">
            <a:off x="762000" y="3490000"/>
            <a:ext cx="10668000" cy="1070000"/>
          </a:xfrm>
          <a:prstGeom xmlns:a="http://schemas.openxmlformats.org/drawingml/2006/main" prst="roundRect">
            <a:avLst>
              <a:gd name="adj" fmla="val 8000"/>
            </a:avLst>
          </a:prstGeom>
          <a:solidFill xmlns:a="http://schemas.openxmlformats.org/drawingml/2006/main">
            <a:srgbClr val="EAF4F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toc-row-accent-2">
            <a:extLst xmlns:a="http://schemas.openxmlformats.org/drawingml/2006/main">
              <a:ext uri="{FF2B5EF4-FFF2-40B4-BE49-F238E27FC236}">
                <a16:creationId xmlns:a16="http://schemas.microsoft.com/office/drawing/2014/main" id="{B2940580-B521-4534-8FD9-A0CAD021AD1A}"/>
              </a:ext>
            </a:extLst>
          </p:cNvPr>
          <p:cNvSpPr>
            <a:spLocks xmlns:a="http://schemas.openxmlformats.org/drawingml/2006/main" noGrp="1"/>
          </p:cNvSpPr>
          <p:nvPr/>
        </p:nvSpPr>
        <p:spPr>
          <a:xfrm xmlns:a="http://schemas.openxmlformats.org/drawingml/2006/main">
            <a:off x="762000" y="3490000"/>
            <a:ext cx="76200" cy="107000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toc-num-2">
            <a:extLst xmlns:a="http://schemas.openxmlformats.org/drawingml/2006/main">
              <a:ext uri="{FF2B5EF4-FFF2-40B4-BE49-F238E27FC236}">
                <a16:creationId xmlns:a16="http://schemas.microsoft.com/office/drawing/2014/main" id="{1891C8A7-1840-443C-83EA-C52E9EC027CB}"/>
              </a:ext>
            </a:extLst>
          </p:cNvPr>
          <p:cNvSpPr>
            <a:spLocks xmlns:a="http://schemas.openxmlformats.org/drawingml/2006/main" noGrp="1"/>
          </p:cNvSpPr>
          <p:nvPr/>
        </p:nvSpPr>
        <p:spPr>
          <a:xfrm xmlns:a="http://schemas.openxmlformats.org/drawingml/2006/main">
            <a:off x="1000000" y="34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1479C9"/>
                </a:solidFill>
                <a:latin typeface="Hiragino Sans"/>
                <a:ea typeface="Hiragino Sans"/>
                <a:cs typeface="Hiragino Sans"/>
              </a:defRPr>
            </a:pPr>
            <a:r>
              <a:rPr sz="3600" b="1">
                <a:solidFill>
                  <a:srgbClr val="1479C9"/>
                </a:solidFill>
                <a:latin typeface="Hiragino Sans"/>
                <a:ea typeface="Hiragino Sans"/>
                <a:cs typeface="Hiragino Sans"/>
              </a:rPr>
              <a:t>03</a:t>
            </a:r>
          </a:p>
        </p:txBody>
      </p:sp>
      <p:sp>
        <p:nvSpPr>
          <p:cNvPr id="17" name="toc-title-2">
            <a:extLst xmlns:a="http://schemas.openxmlformats.org/drawingml/2006/main">
              <a:ext uri="{FF2B5EF4-FFF2-40B4-BE49-F238E27FC236}">
                <a16:creationId xmlns:a16="http://schemas.microsoft.com/office/drawing/2014/main" id="{015116EF-6CE7-46C4-A495-8B31B4049EC1}"/>
              </a:ext>
            </a:extLst>
          </p:cNvPr>
          <p:cNvSpPr>
            <a:spLocks xmlns:a="http://schemas.openxmlformats.org/drawingml/2006/main" noGrp="1"/>
          </p:cNvSpPr>
          <p:nvPr/>
        </p:nvSpPr>
        <p:spPr>
          <a:xfrm xmlns:a="http://schemas.openxmlformats.org/drawingml/2006/main">
            <a:off x="2100000" y="36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17233D"/>
                </a:solidFill>
                <a:latin typeface="Hiragino Sans"/>
                <a:ea typeface="Hiragino Sans"/>
                <a:cs typeface="Hiragino Sans"/>
              </a:defRPr>
            </a:pPr>
            <a:r>
              <a:rPr sz="1900" b="1">
                <a:solidFill>
                  <a:srgbClr val="17233D"/>
                </a:solidFill>
                <a:latin typeface="Hiragino Sans"/>
                <a:ea typeface="Hiragino Sans"/>
                <a:cs typeface="Hiragino Sans"/>
              </a:rPr>
              <a:t>提案手法・評価設計</a:t>
            </a:r>
          </a:p>
        </p:txBody>
      </p:sp>
      <p:sp>
        <p:nvSpPr>
          <p:cNvPr id="18" name="toc-desc-2">
            <a:extLst xmlns:a="http://schemas.openxmlformats.org/drawingml/2006/main">
              <a:ext uri="{FF2B5EF4-FFF2-40B4-BE49-F238E27FC236}">
                <a16:creationId xmlns:a16="http://schemas.microsoft.com/office/drawing/2014/main" id="{F584073A-11DB-4356-AF26-0DF114E9521F}"/>
              </a:ext>
            </a:extLst>
          </p:cNvPr>
          <p:cNvSpPr>
            <a:spLocks xmlns:a="http://schemas.openxmlformats.org/drawingml/2006/main" noGrp="1"/>
          </p:cNvSpPr>
          <p:nvPr/>
        </p:nvSpPr>
        <p:spPr>
          <a:xfrm xmlns:a="http://schemas.openxmlformats.org/drawingml/2006/main">
            <a:off x="2100000" y="40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687386"/>
                </a:solidFill>
                <a:latin typeface="Hiragino Sans"/>
                <a:ea typeface="Hiragino Sans"/>
                <a:cs typeface="Hiragino Sans"/>
              </a:defRPr>
            </a:pPr>
            <a:r>
              <a:rPr sz="1250" b="0">
                <a:solidFill>
                  <a:srgbClr val="687386"/>
                </a:solidFill>
                <a:latin typeface="Hiragino Sans"/>
                <a:ea typeface="Hiragino Sans"/>
                <a:cs typeface="Hiragino Sans"/>
              </a:rPr>
              <a:t>Top-1/Top-2に絞る提案と、比較のための評価設計を示す</a:t>
            </a:r>
          </a:p>
        </p:txBody>
      </p:sp>
      <p:sp>
        <p:nvSpPr>
          <p:cNvPr id="19" name="toc-pages-2">
            <a:extLst xmlns:a="http://schemas.openxmlformats.org/drawingml/2006/main">
              <a:ext uri="{FF2B5EF4-FFF2-40B4-BE49-F238E27FC236}">
                <a16:creationId xmlns:a16="http://schemas.microsoft.com/office/drawing/2014/main" id="{120332BD-5192-489A-8E75-544D2BC08F59}"/>
              </a:ext>
            </a:extLst>
          </p:cNvPr>
          <p:cNvSpPr>
            <a:spLocks xmlns:a="http://schemas.openxmlformats.org/drawingml/2006/main" noGrp="1"/>
          </p:cNvSpPr>
          <p:nvPr/>
        </p:nvSpPr>
        <p:spPr>
          <a:xfrm xmlns:a="http://schemas.openxmlformats.org/drawingml/2006/main">
            <a:off x="9700000" y="34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1479C9"/>
                </a:solidFill>
                <a:latin typeface="Hiragino Sans"/>
                <a:ea typeface="Hiragino Sans"/>
                <a:cs typeface="Hiragino Sans"/>
              </a:defRPr>
            </a:pPr>
            <a:r>
              <a:rPr sz="1300" b="1">
                <a:solidFill>
                  <a:srgbClr val="1479C9"/>
                </a:solidFill>
                <a:latin typeface="Hiragino Sans"/>
                <a:ea typeface="Hiragino Sans"/>
                <a:cs typeface="Hiragino Sans"/>
              </a:rPr>
              <a:t>p.14-16</a:t>
            </a:r>
          </a:p>
        </p:txBody>
      </p:sp>
      <p:sp>
        <p:nvSpPr>
          <p:cNvPr id="20" name="toc-num-3">
            <a:extLst xmlns:a="http://schemas.openxmlformats.org/drawingml/2006/main">
              <a:ext uri="{FF2B5EF4-FFF2-40B4-BE49-F238E27FC236}">
                <a16:creationId xmlns:a16="http://schemas.microsoft.com/office/drawing/2014/main" id="{FF37C81A-2F6C-4B01-ADC5-84499AE353A5}"/>
              </a:ext>
            </a:extLst>
          </p:cNvPr>
          <p:cNvSpPr>
            <a:spLocks xmlns:a="http://schemas.openxmlformats.org/drawingml/2006/main" noGrp="1"/>
          </p:cNvSpPr>
          <p:nvPr/>
        </p:nvSpPr>
        <p:spPr>
          <a:xfrm xmlns:a="http://schemas.openxmlformats.org/drawingml/2006/main">
            <a:off x="1000000" y="46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04</a:t>
            </a:r>
          </a:p>
        </p:txBody>
      </p:sp>
      <p:sp>
        <p:nvSpPr>
          <p:cNvPr id="21" name="toc-title-3">
            <a:extLst xmlns:a="http://schemas.openxmlformats.org/drawingml/2006/main">
              <a:ext uri="{FF2B5EF4-FFF2-40B4-BE49-F238E27FC236}">
                <a16:creationId xmlns:a16="http://schemas.microsoft.com/office/drawing/2014/main" id="{C369C076-238C-4D3B-BDA0-7A062C918B82}"/>
              </a:ext>
            </a:extLst>
          </p:cNvPr>
          <p:cNvSpPr>
            <a:spLocks xmlns:a="http://schemas.openxmlformats.org/drawingml/2006/main" noGrp="1"/>
          </p:cNvSpPr>
          <p:nvPr/>
        </p:nvSpPr>
        <p:spPr>
          <a:xfrm xmlns:a="http://schemas.openxmlformats.org/drawingml/2006/main">
            <a:off x="2100000" y="47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実験結果・考察・まとめ</a:t>
            </a:r>
          </a:p>
        </p:txBody>
      </p:sp>
      <p:sp>
        <p:nvSpPr>
          <p:cNvPr id="22" name="toc-desc-3">
            <a:extLst xmlns:a="http://schemas.openxmlformats.org/drawingml/2006/main">
              <a:ext uri="{FF2B5EF4-FFF2-40B4-BE49-F238E27FC236}">
                <a16:creationId xmlns:a16="http://schemas.microsoft.com/office/drawing/2014/main" id="{B10656D6-6A8C-42E8-BE71-065C5898CD7A}"/>
              </a:ext>
            </a:extLst>
          </p:cNvPr>
          <p:cNvSpPr>
            <a:spLocks xmlns:a="http://schemas.openxmlformats.org/drawingml/2006/main" noGrp="1"/>
          </p:cNvSpPr>
          <p:nvPr/>
        </p:nvSpPr>
        <p:spPr>
          <a:xfrm xmlns:a="http://schemas.openxmlformats.org/drawingml/2006/main">
            <a:off x="2100000" y="52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実験結果を確認し、言えること・言えないことを整理する</a:t>
            </a:r>
          </a:p>
        </p:txBody>
      </p:sp>
      <p:sp>
        <p:nvSpPr>
          <p:cNvPr id="23" name="toc-pages-3">
            <a:extLst xmlns:a="http://schemas.openxmlformats.org/drawingml/2006/main">
              <a:ext uri="{FF2B5EF4-FFF2-40B4-BE49-F238E27FC236}">
                <a16:creationId xmlns:a16="http://schemas.microsoft.com/office/drawing/2014/main" id="{4E3CA3DA-2428-4970-BF51-DB094F0BCE62}"/>
              </a:ext>
            </a:extLst>
          </p:cNvPr>
          <p:cNvSpPr>
            <a:spLocks xmlns:a="http://schemas.openxmlformats.org/drawingml/2006/main" noGrp="1"/>
          </p:cNvSpPr>
          <p:nvPr/>
        </p:nvSpPr>
        <p:spPr>
          <a:xfrm xmlns:a="http://schemas.openxmlformats.org/drawingml/2006/main">
            <a:off x="9700000" y="46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p.18-21</a:t>
            </a:r>
          </a:p>
        </p:txBody>
      </p:sp>
    </p:spTree>
    <p:extLst>
      <p:ext uri="{BB962C8B-B14F-4D97-AF65-F5344CB8AC3E}">
        <p14:creationId xmlns:p14="http://schemas.microsoft.com/office/powerpoint/2010/main" val="1680989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ccent-bar">
            <a:extLst xmlns:a="http://schemas.openxmlformats.org/drawingml/2006/main">
              <a:ext uri="{FF2B5EF4-FFF2-40B4-BE49-F238E27FC236}">
                <a16:creationId xmlns:a16="http://schemas.microsoft.com/office/drawing/2014/main" id="{14F08030-3846-4CCD-BB4E-FF3779379687}"/>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title">
            <a:extLst xmlns:a="http://schemas.openxmlformats.org/drawingml/2006/main">
              <a:ext uri="{FF2B5EF4-FFF2-40B4-BE49-F238E27FC236}">
                <a16:creationId xmlns:a16="http://schemas.microsoft.com/office/drawing/2014/main" id="{614224DC-459B-495B-BEDF-D5D146E43AFE}"/>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提案手法の全体像：OVRとの違い</a:t>
            </a:r>
          </a:p>
        </p:txBody>
      </p:sp>
      <p:sp>
        <p:nvSpPr>
          <p:cNvPr id="4" name="subtitle">
            <a:extLst xmlns:a="http://schemas.openxmlformats.org/drawingml/2006/main">
              <a:ext uri="{FF2B5EF4-FFF2-40B4-BE49-F238E27FC236}">
                <a16:creationId xmlns:a16="http://schemas.microsoft.com/office/drawing/2014/main" id="{AC218DF0-E697-4D84-86D1-25D409E2A5E3}"/>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同じLIMEの枠組みで、回帰する対象と説明の数がどこで分かれるか</a:t>
            </a:r>
          </a:p>
        </p:txBody>
      </p:sp>
      <p:sp>
        <p:nvSpPr>
          <p:cNvPr id="5" name="footer-num">
            <a:extLst xmlns:a="http://schemas.openxmlformats.org/drawingml/2006/main">
              <a:ext uri="{FF2B5EF4-FFF2-40B4-BE49-F238E27FC236}">
                <a16:creationId xmlns:a16="http://schemas.microsoft.com/office/drawing/2014/main" id="{88B798D7-196D-4233-9E43-20BFA362E5D9}"/>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14</a:t>
            </a:r>
          </a:p>
        </p:txBody>
      </p:sp>
      <p:sp>
        <p:nvSpPr>
          <p:cNvPr id="6" name="ovr-label">
            <a:extLst xmlns:a="http://schemas.openxmlformats.org/drawingml/2006/main">
              <a:ext uri="{FF2B5EF4-FFF2-40B4-BE49-F238E27FC236}">
                <a16:creationId xmlns:a16="http://schemas.microsoft.com/office/drawing/2014/main" id="{049E5FFA-2878-4D7E-8BDC-40B495634A8B}"/>
              </a:ext>
            </a:extLst>
          </p:cNvPr>
          <p:cNvSpPr>
            <a:spLocks xmlns:a="http://schemas.openxmlformats.org/drawingml/2006/main" noGrp="1"/>
          </p:cNvSpPr>
          <p:nvPr/>
        </p:nvSpPr>
        <p:spPr>
          <a:xfrm xmlns:a="http://schemas.openxmlformats.org/drawingml/2006/main">
            <a:off x="514350" y="1150000"/>
            <a:ext cx="4000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64748B"/>
                </a:solidFill>
                <a:latin typeface="Hiragino Sans"/>
                <a:ea typeface="Hiragino Sans"/>
                <a:cs typeface="Hiragino Sans"/>
              </a:defRPr>
            </a:pPr>
            <a:r>
              <a:rPr sz="1500" b="1">
                <a:solidFill>
                  <a:srgbClr val="64748B"/>
                </a:solidFill>
                <a:latin typeface="Hiragino Sans"/>
                <a:ea typeface="Hiragino Sans"/>
                <a:cs typeface="Hiragino Sans"/>
              </a:rPr>
              <a:t>One-vs-Rest（従来）</a:t>
            </a:r>
          </a:p>
        </p:txBody>
      </p:sp>
      <p:sp>
        <p:nvSpPr>
          <p:cNvPr id="7" name="step-box">
            <a:extLst xmlns:a="http://schemas.openxmlformats.org/drawingml/2006/main">
              <a:ext uri="{FF2B5EF4-FFF2-40B4-BE49-F238E27FC236}">
                <a16:creationId xmlns:a16="http://schemas.microsoft.com/office/drawing/2014/main" id="{83A9566E-4F91-4A2F-BDE4-DED7C790DACE}"/>
              </a:ext>
            </a:extLst>
          </p:cNvPr>
          <p:cNvSpPr>
            <a:spLocks xmlns:a="http://schemas.openxmlformats.org/drawingml/2006/main" noGrp="1"/>
          </p:cNvSpPr>
          <p:nvPr/>
        </p:nvSpPr>
        <p:spPr>
          <a:xfrm xmlns:a="http://schemas.openxmlformats.org/drawingml/2006/main">
            <a:off x="514350" y="1500000"/>
            <a:ext cx="1952625" cy="1050000"/>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tep-num">
            <a:extLst xmlns:a="http://schemas.openxmlformats.org/drawingml/2006/main">
              <a:ext uri="{FF2B5EF4-FFF2-40B4-BE49-F238E27FC236}">
                <a16:creationId xmlns:a16="http://schemas.microsoft.com/office/drawing/2014/main" id="{D8645E0E-6C0C-4640-B28C-2F8C6CD9B402}"/>
              </a:ext>
            </a:extLst>
          </p:cNvPr>
          <p:cNvSpPr>
            <a:spLocks xmlns:a="http://schemas.openxmlformats.org/drawingml/2006/main" noGrp="1"/>
          </p:cNvSpPr>
          <p:nvPr/>
        </p:nvSpPr>
        <p:spPr>
          <a:xfrm xmlns:a="http://schemas.openxmlformats.org/drawingml/2006/main">
            <a:off x="685800" y="16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64748B"/>
                </a:solidFill>
                <a:latin typeface="Hiragino Sans"/>
                <a:ea typeface="Hiragino Sans"/>
                <a:cs typeface="Hiragino Sans"/>
              </a:defRPr>
            </a:pPr>
            <a:r>
              <a:rPr sz="1150" b="1">
                <a:solidFill>
                  <a:srgbClr val="64748B"/>
                </a:solidFill>
                <a:latin typeface="Hiragino Sans"/>
                <a:ea typeface="Hiragino Sans"/>
                <a:cs typeface="Hiragino Sans"/>
              </a:rPr>
              <a:t>01</a:t>
            </a:r>
          </a:p>
        </p:txBody>
      </p:sp>
      <p:sp>
        <p:nvSpPr>
          <p:cNvPr id="9" name="step-label">
            <a:extLst xmlns:a="http://schemas.openxmlformats.org/drawingml/2006/main">
              <a:ext uri="{FF2B5EF4-FFF2-40B4-BE49-F238E27FC236}">
                <a16:creationId xmlns:a16="http://schemas.microsoft.com/office/drawing/2014/main" id="{E64A6F3D-0214-42DE-9420-CDB61C2F1FEB}"/>
              </a:ext>
            </a:extLst>
          </p:cNvPr>
          <p:cNvSpPr>
            <a:spLocks xmlns:a="http://schemas.openxmlformats.org/drawingml/2006/main" noGrp="1"/>
          </p:cNvSpPr>
          <p:nvPr/>
        </p:nvSpPr>
        <p:spPr>
          <a:xfrm xmlns:a="http://schemas.openxmlformats.org/drawingml/2006/main">
            <a:off x="685800" y="19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クラスを</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1つ選ぶ</a:t>
            </a:r>
          </a:p>
        </p:txBody>
      </p:sp>
      <p:sp>
        <p:nvSpPr>
          <p:cNvPr id="10" name="step-box">
            <a:extLst xmlns:a="http://schemas.openxmlformats.org/drawingml/2006/main">
              <a:ext uri="{FF2B5EF4-FFF2-40B4-BE49-F238E27FC236}">
                <a16:creationId xmlns:a16="http://schemas.microsoft.com/office/drawing/2014/main" id="{209D2834-53D1-4A99-9D99-D3F0FF50711D}"/>
              </a:ext>
            </a:extLst>
          </p:cNvPr>
          <p:cNvSpPr>
            <a:spLocks xmlns:a="http://schemas.openxmlformats.org/drawingml/2006/main" noGrp="1"/>
          </p:cNvSpPr>
          <p:nvPr/>
        </p:nvSpPr>
        <p:spPr>
          <a:xfrm xmlns:a="http://schemas.openxmlformats.org/drawingml/2006/main">
            <a:off x="2800350" y="1500000"/>
            <a:ext cx="1952625" cy="1050000"/>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tep-num">
            <a:extLst xmlns:a="http://schemas.openxmlformats.org/drawingml/2006/main">
              <a:ext uri="{FF2B5EF4-FFF2-40B4-BE49-F238E27FC236}">
                <a16:creationId xmlns:a16="http://schemas.microsoft.com/office/drawing/2014/main" id="{75B8C8A8-A995-436B-9C51-1A5DCFD8A1C8}"/>
              </a:ext>
            </a:extLst>
          </p:cNvPr>
          <p:cNvSpPr>
            <a:spLocks xmlns:a="http://schemas.openxmlformats.org/drawingml/2006/main" noGrp="1"/>
          </p:cNvSpPr>
          <p:nvPr/>
        </p:nvSpPr>
        <p:spPr>
          <a:xfrm xmlns:a="http://schemas.openxmlformats.org/drawingml/2006/main">
            <a:off x="2971800" y="16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64748B"/>
                </a:solidFill>
                <a:latin typeface="Hiragino Sans"/>
                <a:ea typeface="Hiragino Sans"/>
                <a:cs typeface="Hiragino Sans"/>
              </a:defRPr>
            </a:pPr>
            <a:r>
              <a:rPr sz="1150" b="1">
                <a:solidFill>
                  <a:srgbClr val="64748B"/>
                </a:solidFill>
                <a:latin typeface="Hiragino Sans"/>
                <a:ea typeface="Hiragino Sans"/>
                <a:cs typeface="Hiragino Sans"/>
              </a:rPr>
              <a:t>02</a:t>
            </a:r>
          </a:p>
        </p:txBody>
      </p:sp>
      <p:sp>
        <p:nvSpPr>
          <p:cNvPr id="12" name="step-label">
            <a:extLst xmlns:a="http://schemas.openxmlformats.org/drawingml/2006/main">
              <a:ext uri="{FF2B5EF4-FFF2-40B4-BE49-F238E27FC236}">
                <a16:creationId xmlns:a16="http://schemas.microsoft.com/office/drawing/2014/main" id="{D8F34F18-2F22-4D5D-9679-2E72C6D28B0D}"/>
              </a:ext>
            </a:extLst>
          </p:cNvPr>
          <p:cNvSpPr>
            <a:spLocks xmlns:a="http://schemas.openxmlformats.org/drawingml/2006/main" noGrp="1"/>
          </p:cNvSpPr>
          <p:nvPr/>
        </p:nvSpPr>
        <p:spPr>
          <a:xfrm xmlns:a="http://schemas.openxmlformats.org/drawingml/2006/main">
            <a:off x="2971800" y="19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近傍サンプルを</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生成する</a:t>
            </a:r>
          </a:p>
        </p:txBody>
      </p:sp>
      <p:sp>
        <p:nvSpPr>
          <p:cNvPr id="13" name="step-box">
            <a:extLst xmlns:a="http://schemas.openxmlformats.org/drawingml/2006/main">
              <a:ext uri="{FF2B5EF4-FFF2-40B4-BE49-F238E27FC236}">
                <a16:creationId xmlns:a16="http://schemas.microsoft.com/office/drawing/2014/main" id="{04A199E3-2C31-41EC-ACAE-BB5225414864}"/>
              </a:ext>
            </a:extLst>
          </p:cNvPr>
          <p:cNvSpPr>
            <a:spLocks xmlns:a="http://schemas.openxmlformats.org/drawingml/2006/main" noGrp="1"/>
          </p:cNvSpPr>
          <p:nvPr/>
        </p:nvSpPr>
        <p:spPr>
          <a:xfrm xmlns:a="http://schemas.openxmlformats.org/drawingml/2006/main">
            <a:off x="5086350" y="1500000"/>
            <a:ext cx="1952625" cy="1050000"/>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tep-num">
            <a:extLst xmlns:a="http://schemas.openxmlformats.org/drawingml/2006/main">
              <a:ext uri="{FF2B5EF4-FFF2-40B4-BE49-F238E27FC236}">
                <a16:creationId xmlns:a16="http://schemas.microsoft.com/office/drawing/2014/main" id="{79DED0E8-1696-46E3-B58A-61C6154DE33D}"/>
              </a:ext>
            </a:extLst>
          </p:cNvPr>
          <p:cNvSpPr>
            <a:spLocks xmlns:a="http://schemas.openxmlformats.org/drawingml/2006/main" noGrp="1"/>
          </p:cNvSpPr>
          <p:nvPr/>
        </p:nvSpPr>
        <p:spPr>
          <a:xfrm xmlns:a="http://schemas.openxmlformats.org/drawingml/2006/main">
            <a:off x="5257800" y="16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64748B"/>
                </a:solidFill>
                <a:latin typeface="Hiragino Sans"/>
                <a:ea typeface="Hiragino Sans"/>
                <a:cs typeface="Hiragino Sans"/>
              </a:defRPr>
            </a:pPr>
            <a:r>
              <a:rPr sz="1150" b="1">
                <a:solidFill>
                  <a:srgbClr val="64748B"/>
                </a:solidFill>
                <a:latin typeface="Hiragino Sans"/>
                <a:ea typeface="Hiragino Sans"/>
                <a:cs typeface="Hiragino Sans"/>
              </a:rPr>
              <a:t>03</a:t>
            </a:r>
          </a:p>
        </p:txBody>
      </p:sp>
      <p:sp>
        <p:nvSpPr>
          <p:cNvPr id="15" name="step-label">
            <a:extLst xmlns:a="http://schemas.openxmlformats.org/drawingml/2006/main">
              <a:ext uri="{FF2B5EF4-FFF2-40B4-BE49-F238E27FC236}">
                <a16:creationId xmlns:a16="http://schemas.microsoft.com/office/drawing/2014/main" id="{A1C5EC40-6CE3-470C-A453-EC2844277CF3}"/>
              </a:ext>
            </a:extLst>
          </p:cNvPr>
          <p:cNvSpPr>
            <a:spLocks xmlns:a="http://schemas.openxmlformats.org/drawingml/2006/main" noGrp="1"/>
          </p:cNvSpPr>
          <p:nvPr/>
        </p:nvSpPr>
        <p:spPr>
          <a:xfrm xmlns:a="http://schemas.openxmlformats.org/drawingml/2006/main">
            <a:off x="5257800" y="19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各クラスの確率を</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回帰(C回)</a:t>
            </a:r>
          </a:p>
        </p:txBody>
      </p:sp>
      <p:sp>
        <p:nvSpPr>
          <p:cNvPr id="16" name="step-box">
            <a:extLst xmlns:a="http://schemas.openxmlformats.org/drawingml/2006/main">
              <a:ext uri="{FF2B5EF4-FFF2-40B4-BE49-F238E27FC236}">
                <a16:creationId xmlns:a16="http://schemas.microsoft.com/office/drawing/2014/main" id="{CB82D886-A502-47B4-8D81-133FCA1A8FBF}"/>
              </a:ext>
            </a:extLst>
          </p:cNvPr>
          <p:cNvSpPr>
            <a:spLocks xmlns:a="http://schemas.openxmlformats.org/drawingml/2006/main" noGrp="1"/>
          </p:cNvSpPr>
          <p:nvPr/>
        </p:nvSpPr>
        <p:spPr>
          <a:xfrm xmlns:a="http://schemas.openxmlformats.org/drawingml/2006/main">
            <a:off x="7372350" y="1500000"/>
            <a:ext cx="1952625" cy="1050000"/>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tep-num">
            <a:extLst xmlns:a="http://schemas.openxmlformats.org/drawingml/2006/main">
              <a:ext uri="{FF2B5EF4-FFF2-40B4-BE49-F238E27FC236}">
                <a16:creationId xmlns:a16="http://schemas.microsoft.com/office/drawing/2014/main" id="{B414198D-55B8-402D-B9B3-84E460A749EB}"/>
              </a:ext>
            </a:extLst>
          </p:cNvPr>
          <p:cNvSpPr>
            <a:spLocks xmlns:a="http://schemas.openxmlformats.org/drawingml/2006/main" noGrp="1"/>
          </p:cNvSpPr>
          <p:nvPr/>
        </p:nvSpPr>
        <p:spPr>
          <a:xfrm xmlns:a="http://schemas.openxmlformats.org/drawingml/2006/main">
            <a:off x="7543800" y="16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64748B"/>
                </a:solidFill>
                <a:latin typeface="Hiragino Sans"/>
                <a:ea typeface="Hiragino Sans"/>
                <a:cs typeface="Hiragino Sans"/>
              </a:defRPr>
            </a:pPr>
            <a:r>
              <a:rPr sz="1150" b="1">
                <a:solidFill>
                  <a:srgbClr val="64748B"/>
                </a:solidFill>
                <a:latin typeface="Hiragino Sans"/>
                <a:ea typeface="Hiragino Sans"/>
                <a:cs typeface="Hiragino Sans"/>
              </a:rPr>
              <a:t>04</a:t>
            </a:r>
          </a:p>
        </p:txBody>
      </p:sp>
      <p:sp>
        <p:nvSpPr>
          <p:cNvPr id="18" name="step-label">
            <a:extLst xmlns:a="http://schemas.openxmlformats.org/drawingml/2006/main">
              <a:ext uri="{FF2B5EF4-FFF2-40B4-BE49-F238E27FC236}">
                <a16:creationId xmlns:a16="http://schemas.microsoft.com/office/drawing/2014/main" id="{26D3E19D-3B77-46DE-B6C1-832D9C0F43D9}"/>
              </a:ext>
            </a:extLst>
          </p:cNvPr>
          <p:cNvSpPr>
            <a:spLocks xmlns:a="http://schemas.openxmlformats.org/drawingml/2006/main" noGrp="1"/>
          </p:cNvSpPr>
          <p:nvPr/>
        </p:nvSpPr>
        <p:spPr>
          <a:xfrm xmlns:a="http://schemas.openxmlformats.org/drawingml/2006/main">
            <a:off x="7543800" y="19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クラスごとに</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特徴を選ぶ</a:t>
            </a:r>
          </a:p>
        </p:txBody>
      </p:sp>
      <p:sp>
        <p:nvSpPr>
          <p:cNvPr id="19" name="step-box">
            <a:extLst xmlns:a="http://schemas.openxmlformats.org/drawingml/2006/main">
              <a:ext uri="{FF2B5EF4-FFF2-40B4-BE49-F238E27FC236}">
                <a16:creationId xmlns:a16="http://schemas.microsoft.com/office/drawing/2014/main" id="{C25C4280-DC6E-47EB-B7A5-E1A737F2CBB4}"/>
              </a:ext>
            </a:extLst>
          </p:cNvPr>
          <p:cNvSpPr>
            <a:spLocks xmlns:a="http://schemas.openxmlformats.org/drawingml/2006/main" noGrp="1"/>
          </p:cNvSpPr>
          <p:nvPr/>
        </p:nvSpPr>
        <p:spPr>
          <a:xfrm xmlns:a="http://schemas.openxmlformats.org/drawingml/2006/main">
            <a:off x="9658350" y="1500000"/>
            <a:ext cx="1952625" cy="1050000"/>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tep-num">
            <a:extLst xmlns:a="http://schemas.openxmlformats.org/drawingml/2006/main">
              <a:ext uri="{FF2B5EF4-FFF2-40B4-BE49-F238E27FC236}">
                <a16:creationId xmlns:a16="http://schemas.microsoft.com/office/drawing/2014/main" id="{F78F477D-DAC1-4247-AB14-5FFB63C136C9}"/>
              </a:ext>
            </a:extLst>
          </p:cNvPr>
          <p:cNvSpPr>
            <a:spLocks xmlns:a="http://schemas.openxmlformats.org/drawingml/2006/main" noGrp="1"/>
          </p:cNvSpPr>
          <p:nvPr/>
        </p:nvSpPr>
        <p:spPr>
          <a:xfrm xmlns:a="http://schemas.openxmlformats.org/drawingml/2006/main">
            <a:off x="9829800" y="16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64748B"/>
                </a:solidFill>
                <a:latin typeface="Hiragino Sans"/>
                <a:ea typeface="Hiragino Sans"/>
                <a:cs typeface="Hiragino Sans"/>
              </a:defRPr>
            </a:pPr>
            <a:r>
              <a:rPr sz="1150" b="1">
                <a:solidFill>
                  <a:srgbClr val="64748B"/>
                </a:solidFill>
                <a:latin typeface="Hiragino Sans"/>
                <a:ea typeface="Hiragino Sans"/>
                <a:cs typeface="Hiragino Sans"/>
              </a:rPr>
              <a:t>05</a:t>
            </a:r>
          </a:p>
        </p:txBody>
      </p:sp>
      <p:sp>
        <p:nvSpPr>
          <p:cNvPr id="21" name="step-label">
            <a:extLst xmlns:a="http://schemas.openxmlformats.org/drawingml/2006/main">
              <a:ext uri="{FF2B5EF4-FFF2-40B4-BE49-F238E27FC236}">
                <a16:creationId xmlns:a16="http://schemas.microsoft.com/office/drawing/2014/main" id="{048AA7F3-C01E-4246-99CC-6540029A9173}"/>
              </a:ext>
            </a:extLst>
          </p:cNvPr>
          <p:cNvSpPr>
            <a:spLocks xmlns:a="http://schemas.openxmlformats.org/drawingml/2006/main" noGrp="1"/>
          </p:cNvSpPr>
          <p:nvPr/>
        </p:nvSpPr>
        <p:spPr>
          <a:xfrm xmlns:a="http://schemas.openxmlformats.org/drawingml/2006/main">
            <a:off x="9829800" y="19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クラス別の説明が</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C個できる</a:t>
            </a:r>
          </a:p>
        </p:txBody>
      </p:sp>
      <p:sp>
        <p:nvSpPr>
          <p:cNvPr id="22" name="arrow">
            <a:extLst xmlns:a="http://schemas.openxmlformats.org/drawingml/2006/main">
              <a:ext uri="{FF2B5EF4-FFF2-40B4-BE49-F238E27FC236}">
                <a16:creationId xmlns:a16="http://schemas.microsoft.com/office/drawing/2014/main" id="{8C1EB124-F7CB-487E-8EC7-CE759CE6DC38}"/>
              </a:ext>
            </a:extLst>
          </p:cNvPr>
          <p:cNvSpPr>
            <a:spLocks xmlns:a="http://schemas.openxmlformats.org/drawingml/2006/main" noGrp="1"/>
          </p:cNvSpPr>
          <p:nvPr/>
        </p:nvSpPr>
        <p:spPr>
          <a:xfrm xmlns:a="http://schemas.openxmlformats.org/drawingml/2006/main">
            <a:off x="2466975" y="1891650"/>
            <a:ext cx="666750" cy="266700"/>
          </a:xfrm>
          <a:prstGeom xmlns:a="http://schemas.openxmlformats.org/drawingml/2006/main" prst="rightArrow">
            <a:avLst/>
          </a:prstGeom>
          <a:solidFill xmlns:a="http://schemas.openxmlformats.org/drawingml/2006/main">
            <a:srgbClr val="64748B"/>
          </a:solidFill>
          <a:ln xmlns:a="http://schemas.openxmlformats.org/drawingml/2006/main" w="0">
            <a:solidFill>
              <a:srgbClr val="64748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arrow">
            <a:extLst xmlns:a="http://schemas.openxmlformats.org/drawingml/2006/main">
              <a:ext uri="{FF2B5EF4-FFF2-40B4-BE49-F238E27FC236}">
                <a16:creationId xmlns:a16="http://schemas.microsoft.com/office/drawing/2014/main" id="{F1539F98-824D-47E2-BEC6-F450C5373084}"/>
              </a:ext>
            </a:extLst>
          </p:cNvPr>
          <p:cNvSpPr>
            <a:spLocks xmlns:a="http://schemas.openxmlformats.org/drawingml/2006/main" noGrp="1"/>
          </p:cNvSpPr>
          <p:nvPr/>
        </p:nvSpPr>
        <p:spPr>
          <a:xfrm xmlns:a="http://schemas.openxmlformats.org/drawingml/2006/main">
            <a:off x="4752975" y="1891650"/>
            <a:ext cx="666750" cy="266700"/>
          </a:xfrm>
          <a:prstGeom xmlns:a="http://schemas.openxmlformats.org/drawingml/2006/main" prst="rightArrow">
            <a:avLst/>
          </a:prstGeom>
          <a:solidFill xmlns:a="http://schemas.openxmlformats.org/drawingml/2006/main">
            <a:srgbClr val="64748B"/>
          </a:solidFill>
          <a:ln xmlns:a="http://schemas.openxmlformats.org/drawingml/2006/main" w="0">
            <a:solidFill>
              <a:srgbClr val="64748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arrow">
            <a:extLst xmlns:a="http://schemas.openxmlformats.org/drawingml/2006/main">
              <a:ext uri="{FF2B5EF4-FFF2-40B4-BE49-F238E27FC236}">
                <a16:creationId xmlns:a16="http://schemas.microsoft.com/office/drawing/2014/main" id="{FC5A2C3E-A082-434B-95BE-4D1507E93303}"/>
              </a:ext>
            </a:extLst>
          </p:cNvPr>
          <p:cNvSpPr>
            <a:spLocks xmlns:a="http://schemas.openxmlformats.org/drawingml/2006/main" noGrp="1"/>
          </p:cNvSpPr>
          <p:nvPr/>
        </p:nvSpPr>
        <p:spPr>
          <a:xfrm xmlns:a="http://schemas.openxmlformats.org/drawingml/2006/main">
            <a:off x="7038975" y="1891650"/>
            <a:ext cx="666750" cy="266700"/>
          </a:xfrm>
          <a:prstGeom xmlns:a="http://schemas.openxmlformats.org/drawingml/2006/main" prst="rightArrow">
            <a:avLst/>
          </a:prstGeom>
          <a:solidFill xmlns:a="http://schemas.openxmlformats.org/drawingml/2006/main">
            <a:srgbClr val="64748B"/>
          </a:solidFill>
          <a:ln xmlns:a="http://schemas.openxmlformats.org/drawingml/2006/main" w="0">
            <a:solidFill>
              <a:srgbClr val="64748B"/>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arrow">
            <a:extLst xmlns:a="http://schemas.openxmlformats.org/drawingml/2006/main">
              <a:ext uri="{FF2B5EF4-FFF2-40B4-BE49-F238E27FC236}">
                <a16:creationId xmlns:a16="http://schemas.microsoft.com/office/drawing/2014/main" id="{A493AAD8-B4B3-484C-93D4-C363F5D2D7F6}"/>
              </a:ext>
            </a:extLst>
          </p:cNvPr>
          <p:cNvSpPr>
            <a:spLocks xmlns:a="http://schemas.openxmlformats.org/drawingml/2006/main" noGrp="1"/>
          </p:cNvSpPr>
          <p:nvPr/>
        </p:nvSpPr>
        <p:spPr>
          <a:xfrm xmlns:a="http://schemas.openxmlformats.org/drawingml/2006/main">
            <a:off x="9324975" y="1891650"/>
            <a:ext cx="666750" cy="266700"/>
          </a:xfrm>
          <a:prstGeom xmlns:a="http://schemas.openxmlformats.org/drawingml/2006/main" prst="rightArrow">
            <a:avLst/>
          </a:prstGeom>
          <a:solidFill xmlns:a="http://schemas.openxmlformats.org/drawingml/2006/main">
            <a:srgbClr val="64748B"/>
          </a:solidFill>
          <a:ln xmlns:a="http://schemas.openxmlformats.org/drawingml/2006/main" w="0">
            <a:solidFill>
              <a:srgbClr val="64748B"/>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red-note">
            <a:extLst xmlns:a="http://schemas.openxmlformats.org/drawingml/2006/main">
              <a:ext uri="{FF2B5EF4-FFF2-40B4-BE49-F238E27FC236}">
                <a16:creationId xmlns:a16="http://schemas.microsoft.com/office/drawing/2014/main" id="{B691B414-5F6F-4A41-A28B-B5F31DC19A3F}"/>
              </a:ext>
            </a:extLst>
          </p:cNvPr>
          <p:cNvSpPr>
            <a:spLocks xmlns:a="http://schemas.openxmlformats.org/drawingml/2006/main" noGrp="1"/>
          </p:cNvSpPr>
          <p:nvPr/>
        </p:nvSpPr>
        <p:spPr>
          <a:xfrm xmlns:a="http://schemas.openxmlformats.org/drawingml/2006/main">
            <a:off x="514350" y="2610000"/>
            <a:ext cx="11049000" cy="26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100" b="0">
                <a:solidFill>
                  <a:srgbClr val="64748B"/>
                </a:solidFill>
                <a:latin typeface="Hiragino Sans"/>
                <a:ea typeface="Hiragino Sans"/>
                <a:cs typeface="Hiragino Sans"/>
              </a:defRPr>
            </a:pPr>
            <a:r>
              <a:rPr sz="1100" b="0">
                <a:solidFill>
                  <a:srgbClr val="64748B"/>
                </a:solidFill>
                <a:latin typeface="Hiragino Sans"/>
                <a:ea typeface="Hiragino Sans"/>
                <a:cs typeface="Hiragino Sans"/>
              </a:rPr>
              <a:t>①②の近傍生成・重み付けは、提案手法と共通のLIME機構を使う</a:t>
            </a:r>
          </a:p>
        </p:txBody>
      </p:sp>
      <p:sp>
        <p:nvSpPr>
          <p:cNvPr id="27" name="prop-label">
            <a:extLst xmlns:a="http://schemas.openxmlformats.org/drawingml/2006/main">
              <a:ext uri="{FF2B5EF4-FFF2-40B4-BE49-F238E27FC236}">
                <a16:creationId xmlns:a16="http://schemas.microsoft.com/office/drawing/2014/main" id="{A4B0A4BD-1A6E-4CE9-9EA2-824C3228DB3E}"/>
              </a:ext>
            </a:extLst>
          </p:cNvPr>
          <p:cNvSpPr>
            <a:spLocks xmlns:a="http://schemas.openxmlformats.org/drawingml/2006/main" noGrp="1"/>
          </p:cNvSpPr>
          <p:nvPr/>
        </p:nvSpPr>
        <p:spPr>
          <a:xfrm xmlns:a="http://schemas.openxmlformats.org/drawingml/2006/main">
            <a:off x="514350" y="2930000"/>
            <a:ext cx="6000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0B981"/>
                </a:solidFill>
                <a:latin typeface="Hiragino Sans"/>
                <a:ea typeface="Hiragino Sans"/>
                <a:cs typeface="Hiragino Sans"/>
              </a:defRPr>
            </a:pPr>
            <a:r>
              <a:rPr sz="1500" b="1">
                <a:solidFill>
                  <a:srgbClr val="10B981"/>
                </a:solidFill>
                <a:latin typeface="Hiragino Sans"/>
                <a:ea typeface="Hiragino Sans"/>
                <a:cs typeface="Hiragino Sans"/>
              </a:rPr>
              <a:t>提案：予測 Top-1 / Top-2 に絞る</a:t>
            </a:r>
          </a:p>
        </p:txBody>
      </p:sp>
      <p:sp>
        <p:nvSpPr>
          <p:cNvPr id="28" name="step-box">
            <a:extLst xmlns:a="http://schemas.openxmlformats.org/drawingml/2006/main">
              <a:ext uri="{FF2B5EF4-FFF2-40B4-BE49-F238E27FC236}">
                <a16:creationId xmlns:a16="http://schemas.microsoft.com/office/drawing/2014/main" id="{96ED82F2-2B8B-4FE4-A35F-9F2F66D6A6F3}"/>
              </a:ext>
            </a:extLst>
          </p:cNvPr>
          <p:cNvSpPr>
            <a:spLocks xmlns:a="http://schemas.openxmlformats.org/drawingml/2006/main" noGrp="1"/>
          </p:cNvSpPr>
          <p:nvPr/>
        </p:nvSpPr>
        <p:spPr>
          <a:xfrm xmlns:a="http://schemas.openxmlformats.org/drawingml/2006/main">
            <a:off x="514350" y="3300000"/>
            <a:ext cx="1952625" cy="105000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tep-num">
            <a:extLst xmlns:a="http://schemas.openxmlformats.org/drawingml/2006/main">
              <a:ext uri="{FF2B5EF4-FFF2-40B4-BE49-F238E27FC236}">
                <a16:creationId xmlns:a16="http://schemas.microsoft.com/office/drawing/2014/main" id="{A16668DC-E7A3-4639-B31E-37998FA8C5B9}"/>
              </a:ext>
            </a:extLst>
          </p:cNvPr>
          <p:cNvSpPr>
            <a:spLocks xmlns:a="http://schemas.openxmlformats.org/drawingml/2006/main" noGrp="1"/>
          </p:cNvSpPr>
          <p:nvPr/>
        </p:nvSpPr>
        <p:spPr>
          <a:xfrm xmlns:a="http://schemas.openxmlformats.org/drawingml/2006/main">
            <a:off x="685800" y="34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10B981"/>
                </a:solidFill>
                <a:latin typeface="Hiragino Sans"/>
                <a:ea typeface="Hiragino Sans"/>
                <a:cs typeface="Hiragino Sans"/>
              </a:defRPr>
            </a:pPr>
            <a:r>
              <a:rPr sz="1150" b="1">
                <a:solidFill>
                  <a:srgbClr val="10B981"/>
                </a:solidFill>
                <a:latin typeface="Hiragino Sans"/>
                <a:ea typeface="Hiragino Sans"/>
                <a:cs typeface="Hiragino Sans"/>
              </a:rPr>
              <a:t>01</a:t>
            </a:r>
          </a:p>
        </p:txBody>
      </p:sp>
      <p:sp>
        <p:nvSpPr>
          <p:cNvPr id="30" name="step-label">
            <a:extLst xmlns:a="http://schemas.openxmlformats.org/drawingml/2006/main">
              <a:ext uri="{FF2B5EF4-FFF2-40B4-BE49-F238E27FC236}">
                <a16:creationId xmlns:a16="http://schemas.microsoft.com/office/drawing/2014/main" id="{EE8CD393-5FA6-4176-8CE6-4B30A4A6B3EA}"/>
              </a:ext>
            </a:extLst>
          </p:cNvPr>
          <p:cNvSpPr>
            <a:spLocks xmlns:a="http://schemas.openxmlformats.org/drawingml/2006/main" noGrp="1"/>
          </p:cNvSpPr>
          <p:nvPr/>
        </p:nvSpPr>
        <p:spPr>
          <a:xfrm xmlns:a="http://schemas.openxmlformats.org/drawingml/2006/main">
            <a:off x="685800" y="37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予測1位・2位を</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選ぶ</a:t>
            </a:r>
          </a:p>
        </p:txBody>
      </p:sp>
      <p:sp>
        <p:nvSpPr>
          <p:cNvPr id="31" name="step-box">
            <a:extLst xmlns:a="http://schemas.openxmlformats.org/drawingml/2006/main">
              <a:ext uri="{FF2B5EF4-FFF2-40B4-BE49-F238E27FC236}">
                <a16:creationId xmlns:a16="http://schemas.microsoft.com/office/drawing/2014/main" id="{15223805-4833-4175-AF00-12DC591890E4}"/>
              </a:ext>
            </a:extLst>
          </p:cNvPr>
          <p:cNvSpPr>
            <a:spLocks xmlns:a="http://schemas.openxmlformats.org/drawingml/2006/main" noGrp="1"/>
          </p:cNvSpPr>
          <p:nvPr/>
        </p:nvSpPr>
        <p:spPr>
          <a:xfrm xmlns:a="http://schemas.openxmlformats.org/drawingml/2006/main">
            <a:off x="2800350" y="3300000"/>
            <a:ext cx="1952625" cy="105000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tep-num">
            <a:extLst xmlns:a="http://schemas.openxmlformats.org/drawingml/2006/main">
              <a:ext uri="{FF2B5EF4-FFF2-40B4-BE49-F238E27FC236}">
                <a16:creationId xmlns:a16="http://schemas.microsoft.com/office/drawing/2014/main" id="{B987A8E8-B844-4AB4-8E5C-1618CEE72279}"/>
              </a:ext>
            </a:extLst>
          </p:cNvPr>
          <p:cNvSpPr>
            <a:spLocks xmlns:a="http://schemas.openxmlformats.org/drawingml/2006/main" noGrp="1"/>
          </p:cNvSpPr>
          <p:nvPr/>
        </p:nvSpPr>
        <p:spPr>
          <a:xfrm xmlns:a="http://schemas.openxmlformats.org/drawingml/2006/main">
            <a:off x="2971800" y="34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10B981"/>
                </a:solidFill>
                <a:latin typeface="Hiragino Sans"/>
                <a:ea typeface="Hiragino Sans"/>
                <a:cs typeface="Hiragino Sans"/>
              </a:defRPr>
            </a:pPr>
            <a:r>
              <a:rPr sz="1150" b="1">
                <a:solidFill>
                  <a:srgbClr val="10B981"/>
                </a:solidFill>
                <a:latin typeface="Hiragino Sans"/>
                <a:ea typeface="Hiragino Sans"/>
                <a:cs typeface="Hiragino Sans"/>
              </a:rPr>
              <a:t>02</a:t>
            </a:r>
          </a:p>
        </p:txBody>
      </p:sp>
      <p:sp>
        <p:nvSpPr>
          <p:cNvPr id="33" name="step-label">
            <a:extLst xmlns:a="http://schemas.openxmlformats.org/drawingml/2006/main">
              <a:ext uri="{FF2B5EF4-FFF2-40B4-BE49-F238E27FC236}">
                <a16:creationId xmlns:a16="http://schemas.microsoft.com/office/drawing/2014/main" id="{9516E0D6-6E69-4B57-86D2-FAC7FEC37367}"/>
              </a:ext>
            </a:extLst>
          </p:cNvPr>
          <p:cNvSpPr>
            <a:spLocks xmlns:a="http://schemas.openxmlformats.org/drawingml/2006/main" noGrp="1"/>
          </p:cNvSpPr>
          <p:nvPr/>
        </p:nvSpPr>
        <p:spPr>
          <a:xfrm xmlns:a="http://schemas.openxmlformats.org/drawingml/2006/main">
            <a:off x="2971800" y="37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近傍サンプルを</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生成する</a:t>
            </a:r>
          </a:p>
        </p:txBody>
      </p:sp>
      <p:sp>
        <p:nvSpPr>
          <p:cNvPr id="34" name="step-box">
            <a:extLst xmlns:a="http://schemas.openxmlformats.org/drawingml/2006/main">
              <a:ext uri="{FF2B5EF4-FFF2-40B4-BE49-F238E27FC236}">
                <a16:creationId xmlns:a16="http://schemas.microsoft.com/office/drawing/2014/main" id="{9E2B7013-2C1F-4A4D-B384-408243828554}"/>
              </a:ext>
            </a:extLst>
          </p:cNvPr>
          <p:cNvSpPr>
            <a:spLocks xmlns:a="http://schemas.openxmlformats.org/drawingml/2006/main" noGrp="1"/>
          </p:cNvSpPr>
          <p:nvPr/>
        </p:nvSpPr>
        <p:spPr>
          <a:xfrm xmlns:a="http://schemas.openxmlformats.org/drawingml/2006/main">
            <a:off x="5086350" y="3300000"/>
            <a:ext cx="1952625" cy="105000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step-num">
            <a:extLst xmlns:a="http://schemas.openxmlformats.org/drawingml/2006/main">
              <a:ext uri="{FF2B5EF4-FFF2-40B4-BE49-F238E27FC236}">
                <a16:creationId xmlns:a16="http://schemas.microsoft.com/office/drawing/2014/main" id="{E6324BC8-3DBA-4FBD-9502-C78B82698A74}"/>
              </a:ext>
            </a:extLst>
          </p:cNvPr>
          <p:cNvSpPr>
            <a:spLocks xmlns:a="http://schemas.openxmlformats.org/drawingml/2006/main" noGrp="1"/>
          </p:cNvSpPr>
          <p:nvPr/>
        </p:nvSpPr>
        <p:spPr>
          <a:xfrm xmlns:a="http://schemas.openxmlformats.org/drawingml/2006/main">
            <a:off x="5257800" y="34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10B981"/>
                </a:solidFill>
                <a:latin typeface="Hiragino Sans"/>
                <a:ea typeface="Hiragino Sans"/>
                <a:cs typeface="Hiragino Sans"/>
              </a:defRPr>
            </a:pPr>
            <a:r>
              <a:rPr sz="1150" b="1">
                <a:solidFill>
                  <a:srgbClr val="10B981"/>
                </a:solidFill>
                <a:latin typeface="Hiragino Sans"/>
                <a:ea typeface="Hiragino Sans"/>
                <a:cs typeface="Hiragino Sans"/>
              </a:rPr>
              <a:t>03</a:t>
            </a:r>
          </a:p>
        </p:txBody>
      </p:sp>
      <p:sp>
        <p:nvSpPr>
          <p:cNvPr id="36" name="step-label">
            <a:extLst xmlns:a="http://schemas.openxmlformats.org/drawingml/2006/main">
              <a:ext uri="{FF2B5EF4-FFF2-40B4-BE49-F238E27FC236}">
                <a16:creationId xmlns:a16="http://schemas.microsoft.com/office/drawing/2014/main" id="{3BD1E901-FB94-45EA-AC79-692AE29B9D87}"/>
              </a:ext>
            </a:extLst>
          </p:cNvPr>
          <p:cNvSpPr>
            <a:spLocks xmlns:a="http://schemas.openxmlformats.org/drawingml/2006/main" noGrp="1"/>
          </p:cNvSpPr>
          <p:nvPr/>
        </p:nvSpPr>
        <p:spPr>
          <a:xfrm xmlns:a="http://schemas.openxmlformats.org/drawingml/2006/main">
            <a:off x="5257800" y="37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q(対数比など)を</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1回だけ回帰</a:t>
            </a:r>
          </a:p>
        </p:txBody>
      </p:sp>
      <p:sp>
        <p:nvSpPr>
          <p:cNvPr id="37" name="step-box">
            <a:extLst xmlns:a="http://schemas.openxmlformats.org/drawingml/2006/main">
              <a:ext uri="{FF2B5EF4-FFF2-40B4-BE49-F238E27FC236}">
                <a16:creationId xmlns:a16="http://schemas.microsoft.com/office/drawing/2014/main" id="{9E711CEA-0746-4681-AA84-5F91CB0C3B68}"/>
              </a:ext>
            </a:extLst>
          </p:cNvPr>
          <p:cNvSpPr>
            <a:spLocks xmlns:a="http://schemas.openxmlformats.org/drawingml/2006/main" noGrp="1"/>
          </p:cNvSpPr>
          <p:nvPr/>
        </p:nvSpPr>
        <p:spPr>
          <a:xfrm xmlns:a="http://schemas.openxmlformats.org/drawingml/2006/main">
            <a:off x="7372350" y="3300000"/>
            <a:ext cx="1952625" cy="105000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step-num">
            <a:extLst xmlns:a="http://schemas.openxmlformats.org/drawingml/2006/main">
              <a:ext uri="{FF2B5EF4-FFF2-40B4-BE49-F238E27FC236}">
                <a16:creationId xmlns:a16="http://schemas.microsoft.com/office/drawing/2014/main" id="{93D22E81-B7A9-46FC-A14A-B0B26C7CCFC4}"/>
              </a:ext>
            </a:extLst>
          </p:cNvPr>
          <p:cNvSpPr>
            <a:spLocks xmlns:a="http://schemas.openxmlformats.org/drawingml/2006/main" noGrp="1"/>
          </p:cNvSpPr>
          <p:nvPr/>
        </p:nvSpPr>
        <p:spPr>
          <a:xfrm xmlns:a="http://schemas.openxmlformats.org/drawingml/2006/main">
            <a:off x="7543800" y="34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10B981"/>
                </a:solidFill>
                <a:latin typeface="Hiragino Sans"/>
                <a:ea typeface="Hiragino Sans"/>
                <a:cs typeface="Hiragino Sans"/>
              </a:defRPr>
            </a:pPr>
            <a:r>
              <a:rPr sz="1150" b="1">
                <a:solidFill>
                  <a:srgbClr val="10B981"/>
                </a:solidFill>
                <a:latin typeface="Hiragino Sans"/>
                <a:ea typeface="Hiragino Sans"/>
                <a:cs typeface="Hiragino Sans"/>
              </a:rPr>
              <a:t>04</a:t>
            </a:r>
          </a:p>
        </p:txBody>
      </p:sp>
      <p:sp>
        <p:nvSpPr>
          <p:cNvPr id="39" name="step-label">
            <a:extLst xmlns:a="http://schemas.openxmlformats.org/drawingml/2006/main">
              <a:ext uri="{FF2B5EF4-FFF2-40B4-BE49-F238E27FC236}">
                <a16:creationId xmlns:a16="http://schemas.microsoft.com/office/drawing/2014/main" id="{77635AED-26D6-4D36-B50F-1C33712620C4}"/>
              </a:ext>
            </a:extLst>
          </p:cNvPr>
          <p:cNvSpPr>
            <a:spLocks xmlns:a="http://schemas.openxmlformats.org/drawingml/2006/main" noGrp="1"/>
          </p:cNvSpPr>
          <p:nvPr/>
        </p:nvSpPr>
        <p:spPr>
          <a:xfrm xmlns:a="http://schemas.openxmlformats.org/drawingml/2006/main">
            <a:off x="7543800" y="37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特徴を1回だけ</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K個選ぶ</a:t>
            </a:r>
          </a:p>
        </p:txBody>
      </p:sp>
      <p:sp>
        <p:nvSpPr>
          <p:cNvPr id="40" name="step-box">
            <a:extLst xmlns:a="http://schemas.openxmlformats.org/drawingml/2006/main">
              <a:ext uri="{FF2B5EF4-FFF2-40B4-BE49-F238E27FC236}">
                <a16:creationId xmlns:a16="http://schemas.microsoft.com/office/drawing/2014/main" id="{7B88748A-20A3-4910-87B6-E6EB47B79B2C}"/>
              </a:ext>
            </a:extLst>
          </p:cNvPr>
          <p:cNvSpPr>
            <a:spLocks xmlns:a="http://schemas.openxmlformats.org/drawingml/2006/main" noGrp="1"/>
          </p:cNvSpPr>
          <p:nvPr/>
        </p:nvSpPr>
        <p:spPr>
          <a:xfrm xmlns:a="http://schemas.openxmlformats.org/drawingml/2006/main">
            <a:off x="9658350" y="3300000"/>
            <a:ext cx="1952625" cy="105000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tep-num">
            <a:extLst xmlns:a="http://schemas.openxmlformats.org/drawingml/2006/main">
              <a:ext uri="{FF2B5EF4-FFF2-40B4-BE49-F238E27FC236}">
                <a16:creationId xmlns:a16="http://schemas.microsoft.com/office/drawing/2014/main" id="{A2935737-2419-4E58-987C-BF6579D1F788}"/>
              </a:ext>
            </a:extLst>
          </p:cNvPr>
          <p:cNvSpPr>
            <a:spLocks xmlns:a="http://schemas.openxmlformats.org/drawingml/2006/main" noGrp="1"/>
          </p:cNvSpPr>
          <p:nvPr/>
        </p:nvSpPr>
        <p:spPr>
          <a:xfrm xmlns:a="http://schemas.openxmlformats.org/drawingml/2006/main">
            <a:off x="9829800" y="34000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1">
                <a:solidFill>
                  <a:srgbClr val="10B981"/>
                </a:solidFill>
                <a:latin typeface="Hiragino Sans"/>
                <a:ea typeface="Hiragino Sans"/>
                <a:cs typeface="Hiragino Sans"/>
              </a:defRPr>
            </a:pPr>
            <a:r>
              <a:rPr sz="1150" b="1">
                <a:solidFill>
                  <a:srgbClr val="10B981"/>
                </a:solidFill>
                <a:latin typeface="Hiragino Sans"/>
                <a:ea typeface="Hiragino Sans"/>
                <a:cs typeface="Hiragino Sans"/>
              </a:rPr>
              <a:t>05</a:t>
            </a:r>
          </a:p>
        </p:txBody>
      </p:sp>
      <p:sp>
        <p:nvSpPr>
          <p:cNvPr id="42" name="step-label">
            <a:extLst xmlns:a="http://schemas.openxmlformats.org/drawingml/2006/main">
              <a:ext uri="{FF2B5EF4-FFF2-40B4-BE49-F238E27FC236}">
                <a16:creationId xmlns:a16="http://schemas.microsoft.com/office/drawing/2014/main" id="{3DCF0895-32BD-4612-901D-D44C803D7772}"/>
              </a:ext>
            </a:extLst>
          </p:cNvPr>
          <p:cNvSpPr>
            <a:spLocks xmlns:a="http://schemas.openxmlformats.org/drawingml/2006/main" noGrp="1"/>
          </p:cNvSpPr>
          <p:nvPr/>
        </p:nvSpPr>
        <p:spPr>
          <a:xfrm xmlns:a="http://schemas.openxmlformats.org/drawingml/2006/main">
            <a:off x="9829800" y="3700000"/>
            <a:ext cx="1609725"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AとBを分ける</a:t>
            </a:r>
          </a:p>
          <a:p xmlns:a="http://schemas.openxmlformats.org/drawingml/2006/main">
            <a:pPr algn="ctr">
              <a:buNone/>
              <a:defRPr sz="1250" b="1">
                <a:solidFill>
                  <a:srgbClr val="111827"/>
                </a:solidFill>
                <a:latin typeface="Hiragino Sans"/>
                <a:ea typeface="Hiragino Sans"/>
                <a:cs typeface="Hiragino Sans"/>
              </a:defRPr>
            </a:pPr>
            <a:r>
              <a:rPr sz="1250" b="1">
                <a:solidFill>
                  <a:srgbClr val="111827"/>
                </a:solidFill>
                <a:latin typeface="Hiragino Sans"/>
                <a:ea typeface="Hiragino Sans"/>
                <a:cs typeface="Hiragino Sans"/>
              </a:rPr>
              <a:t>説明が1つ</a:t>
            </a:r>
          </a:p>
        </p:txBody>
      </p:sp>
      <p:sp>
        <p:nvSpPr>
          <p:cNvPr id="43" name="arrow">
            <a:extLst xmlns:a="http://schemas.openxmlformats.org/drawingml/2006/main">
              <a:ext uri="{FF2B5EF4-FFF2-40B4-BE49-F238E27FC236}">
                <a16:creationId xmlns:a16="http://schemas.microsoft.com/office/drawing/2014/main" id="{5E2D3DFB-1780-4F03-AC64-90544D731EF3}"/>
              </a:ext>
            </a:extLst>
          </p:cNvPr>
          <p:cNvSpPr>
            <a:spLocks xmlns:a="http://schemas.openxmlformats.org/drawingml/2006/main" noGrp="1"/>
          </p:cNvSpPr>
          <p:nvPr/>
        </p:nvSpPr>
        <p:spPr>
          <a:xfrm xmlns:a="http://schemas.openxmlformats.org/drawingml/2006/main">
            <a:off x="2466975" y="3691650"/>
            <a:ext cx="666750"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arrow">
            <a:extLst xmlns:a="http://schemas.openxmlformats.org/drawingml/2006/main">
              <a:ext uri="{FF2B5EF4-FFF2-40B4-BE49-F238E27FC236}">
                <a16:creationId xmlns:a16="http://schemas.microsoft.com/office/drawing/2014/main" id="{33E047DA-5EFA-49C0-A505-E7DBF43D205D}"/>
              </a:ext>
            </a:extLst>
          </p:cNvPr>
          <p:cNvSpPr>
            <a:spLocks xmlns:a="http://schemas.openxmlformats.org/drawingml/2006/main" noGrp="1"/>
          </p:cNvSpPr>
          <p:nvPr/>
        </p:nvSpPr>
        <p:spPr>
          <a:xfrm xmlns:a="http://schemas.openxmlformats.org/drawingml/2006/main">
            <a:off x="4752975" y="3691650"/>
            <a:ext cx="666750"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5" name="arrow">
            <a:extLst xmlns:a="http://schemas.openxmlformats.org/drawingml/2006/main">
              <a:ext uri="{FF2B5EF4-FFF2-40B4-BE49-F238E27FC236}">
                <a16:creationId xmlns:a16="http://schemas.microsoft.com/office/drawing/2014/main" id="{AC1805F2-B539-4770-A4BF-960426010B4E}"/>
              </a:ext>
            </a:extLst>
          </p:cNvPr>
          <p:cNvSpPr>
            <a:spLocks xmlns:a="http://schemas.openxmlformats.org/drawingml/2006/main" noGrp="1"/>
          </p:cNvSpPr>
          <p:nvPr/>
        </p:nvSpPr>
        <p:spPr>
          <a:xfrm xmlns:a="http://schemas.openxmlformats.org/drawingml/2006/main">
            <a:off x="7038975" y="3691650"/>
            <a:ext cx="666750"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arrow">
            <a:extLst xmlns:a="http://schemas.openxmlformats.org/drawingml/2006/main">
              <a:ext uri="{FF2B5EF4-FFF2-40B4-BE49-F238E27FC236}">
                <a16:creationId xmlns:a16="http://schemas.microsoft.com/office/drawing/2014/main" id="{65C9E811-B9F8-4BF7-AB09-3308AB639BBA}"/>
              </a:ext>
            </a:extLst>
          </p:cNvPr>
          <p:cNvSpPr>
            <a:spLocks xmlns:a="http://schemas.openxmlformats.org/drawingml/2006/main" noGrp="1"/>
          </p:cNvSpPr>
          <p:nvPr/>
        </p:nvSpPr>
        <p:spPr>
          <a:xfrm xmlns:a="http://schemas.openxmlformats.org/drawingml/2006/main">
            <a:off x="9324975" y="3691650"/>
            <a:ext cx="666750"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99" name="divider"/>
          <p:cNvCxnSpPr/>
          <p:nvPr/>
        </p:nvCxnSpPr>
        <p:spPr>
          <a:xfrm xmlns:a="http://schemas.openxmlformats.org/drawingml/2006/main">
            <a:off x="514350" y="4500000"/>
            <a:ext cx="11049000" cy="0"/>
          </a:xfrm>
          <a:prstGeom xmlns:a="http://schemas.openxmlformats.org/drawingml/2006/main" prst="straightConnector1">
            <a:avLst/>
          </a:prstGeom>
          <a:ln xmlns:a="http://schemas.openxmlformats.org/drawingml/2006/main" w="19050">
            <a:solidFill>
              <a:srgbClr val="CBD5E1"/>
            </a:solidFill>
            <a:prstDash val="solid"/>
          </a:ln>
        </p:spPr>
      </p:cxnSp>
      <p:sp>
        <p:nvSpPr>
          <p:cNvPr id="48" name="diff1-title">
            <a:extLst xmlns:a="http://schemas.openxmlformats.org/drawingml/2006/main">
              <a:ext uri="{FF2B5EF4-FFF2-40B4-BE49-F238E27FC236}">
                <a16:creationId xmlns:a16="http://schemas.microsoft.com/office/drawing/2014/main" id="{47D8E233-5548-4532-8A81-F0C692E70935}"/>
              </a:ext>
            </a:extLst>
          </p:cNvPr>
          <p:cNvSpPr>
            <a:spLocks xmlns:a="http://schemas.openxmlformats.org/drawingml/2006/main" noGrp="1"/>
          </p:cNvSpPr>
          <p:nvPr/>
        </p:nvSpPr>
        <p:spPr>
          <a:xfrm xmlns:a="http://schemas.openxmlformats.org/drawingml/2006/main">
            <a:off x="762000" y="4650000"/>
            <a:ext cx="5000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7233D"/>
                </a:solidFill>
                <a:latin typeface="Hiragino Sans"/>
                <a:ea typeface="Hiragino Sans"/>
                <a:cs typeface="Hiragino Sans"/>
              </a:defRPr>
            </a:pPr>
            <a:r>
              <a:rPr sz="1350" b="1">
                <a:solidFill>
                  <a:srgbClr val="17233D"/>
                </a:solidFill>
                <a:latin typeface="Hiragino Sans"/>
                <a:ea typeface="Hiragino Sans"/>
                <a:cs typeface="Hiragino Sans"/>
              </a:rPr>
              <a:t>① 回帰する対象が違う</a:t>
            </a:r>
          </a:p>
        </p:txBody>
      </p:sp>
      <p:sp>
        <p:nvSpPr>
          <p:cNvPr id="49" name="diff1-desc">
            <a:extLst xmlns:a="http://schemas.openxmlformats.org/drawingml/2006/main">
              <a:ext uri="{FF2B5EF4-FFF2-40B4-BE49-F238E27FC236}">
                <a16:creationId xmlns:a16="http://schemas.microsoft.com/office/drawing/2014/main" id="{BDC91F89-3228-4D7E-A23E-8C73D1F2785C}"/>
              </a:ext>
            </a:extLst>
          </p:cNvPr>
          <p:cNvSpPr>
            <a:spLocks xmlns:a="http://schemas.openxmlformats.org/drawingml/2006/main" noGrp="1"/>
          </p:cNvSpPr>
          <p:nvPr/>
        </p:nvSpPr>
        <p:spPr>
          <a:xfrm xmlns:a="http://schemas.openxmlformats.org/drawingml/2006/main">
            <a:off x="762000" y="4990000"/>
            <a:ext cx="5000000"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OVR：各クラスの確率をそれぞれ回帰</a:t>
            </a:r>
          </a:p>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提案：2クラスの確率比 q（または対数比）を回帰</a:t>
            </a:r>
          </a:p>
        </p:txBody>
      </p:sp>
      <p:sp>
        <p:nvSpPr>
          <p:cNvPr id="50" name="diff2-title">
            <a:extLst xmlns:a="http://schemas.openxmlformats.org/drawingml/2006/main">
              <a:ext uri="{FF2B5EF4-FFF2-40B4-BE49-F238E27FC236}">
                <a16:creationId xmlns:a16="http://schemas.microsoft.com/office/drawing/2014/main" id="{BEA7DB2A-F31E-4D21-9E26-365DBF4A0E69}"/>
              </a:ext>
            </a:extLst>
          </p:cNvPr>
          <p:cNvSpPr>
            <a:spLocks xmlns:a="http://schemas.openxmlformats.org/drawingml/2006/main" noGrp="1"/>
          </p:cNvSpPr>
          <p:nvPr/>
        </p:nvSpPr>
        <p:spPr>
          <a:xfrm xmlns:a="http://schemas.openxmlformats.org/drawingml/2006/main">
            <a:off x="6200000" y="4650000"/>
            <a:ext cx="5000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7233D"/>
                </a:solidFill>
                <a:latin typeface="Hiragino Sans"/>
                <a:ea typeface="Hiragino Sans"/>
                <a:cs typeface="Hiragino Sans"/>
              </a:defRPr>
            </a:pPr>
            <a:r>
              <a:rPr sz="1350" b="1">
                <a:solidFill>
                  <a:srgbClr val="17233D"/>
                </a:solidFill>
                <a:latin typeface="Hiragino Sans"/>
                <a:ea typeface="Hiragino Sans"/>
                <a:cs typeface="Hiragino Sans"/>
              </a:rPr>
              <a:t>② できる説明の数が違う</a:t>
            </a:r>
          </a:p>
        </p:txBody>
      </p:sp>
      <p:sp>
        <p:nvSpPr>
          <p:cNvPr id="51" name="diff2-desc">
            <a:extLst xmlns:a="http://schemas.openxmlformats.org/drawingml/2006/main">
              <a:ext uri="{FF2B5EF4-FFF2-40B4-BE49-F238E27FC236}">
                <a16:creationId xmlns:a16="http://schemas.microsoft.com/office/drawing/2014/main" id="{4BD71C50-7471-40AD-A48F-14C26AE7ED20}"/>
              </a:ext>
            </a:extLst>
          </p:cNvPr>
          <p:cNvSpPr>
            <a:spLocks xmlns:a="http://schemas.openxmlformats.org/drawingml/2006/main" noGrp="1"/>
          </p:cNvSpPr>
          <p:nvPr/>
        </p:nvSpPr>
        <p:spPr>
          <a:xfrm xmlns:a="http://schemas.openxmlformats.org/drawingml/2006/main">
            <a:off x="6200000" y="4990000"/>
            <a:ext cx="5000000" cy="6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OVR：クラスの数だけ（C個）の説明ができる</a:t>
            </a:r>
          </a:p>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提案：AとBを区別する説明が常に1つ</a:t>
            </a:r>
          </a:p>
        </p:txBody>
      </p:sp>
      <p:sp>
        <p:nvSpPr>
          <p:cNvPr id="52" name="takeaway-bg">
            <a:extLst xmlns:a="http://schemas.openxmlformats.org/drawingml/2006/main">
              <a:ext uri="{FF2B5EF4-FFF2-40B4-BE49-F238E27FC236}">
                <a16:creationId xmlns:a16="http://schemas.microsoft.com/office/drawing/2014/main" id="{D0233E84-C47E-4CDE-BB17-13EA01CD1526}"/>
              </a:ext>
            </a:extLst>
          </p:cNvPr>
          <p:cNvSpPr>
            <a:spLocks xmlns:a="http://schemas.openxmlformats.org/drawingml/2006/main" noGrp="1"/>
          </p:cNvSpPr>
          <p:nvPr/>
        </p:nvSpPr>
        <p:spPr>
          <a:xfrm xmlns:a="http://schemas.openxmlformats.org/drawingml/2006/main">
            <a:off x="762000" y="58102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3" name="takeaway-text">
            <a:extLst xmlns:a="http://schemas.openxmlformats.org/drawingml/2006/main">
              <a:ext uri="{FF2B5EF4-FFF2-40B4-BE49-F238E27FC236}">
                <a16:creationId xmlns:a16="http://schemas.microsoft.com/office/drawing/2014/main" id="{FACF4119-EFFB-4335-A691-96CFD368DE5D}"/>
              </a:ext>
            </a:extLst>
          </p:cNvPr>
          <p:cNvSpPr>
            <a:spLocks xmlns:a="http://schemas.openxmlformats.org/drawingml/2006/main" noGrp="1"/>
          </p:cNvSpPr>
          <p:nvPr/>
        </p:nvSpPr>
        <p:spPr>
          <a:xfrm xmlns:a="http://schemas.openxmlformats.org/drawingml/2006/main">
            <a:off x="952500" y="58578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このスライドの主張：OVRはクラスの数だけ説明が増えるが、提案は常に1本の回帰で競合2クラスの違いを説明する</a:t>
            </a:r>
          </a:p>
        </p:txBody>
      </p:sp>
    </p:spTree>
    <p:extLst>
      <p:ext uri="{BB962C8B-B14F-4D97-AF65-F5344CB8AC3E}">
        <p14:creationId xmlns:p14="http://schemas.microsoft.com/office/powerpoint/2010/main" val="17608676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ccent-bar">
            <a:extLst xmlns:a="http://schemas.openxmlformats.org/drawingml/2006/main">
              <a:ext uri="{FF2B5EF4-FFF2-40B4-BE49-F238E27FC236}">
                <a16:creationId xmlns:a16="http://schemas.microsoft.com/office/drawing/2014/main" id="{238440A6-982F-4915-B141-9D9463DFB1B5}"/>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title">
            <a:extLst xmlns:a="http://schemas.openxmlformats.org/drawingml/2006/main">
              <a:ext uri="{FF2B5EF4-FFF2-40B4-BE49-F238E27FC236}">
                <a16:creationId xmlns:a16="http://schemas.microsoft.com/office/drawing/2014/main" id="{F7EEA0A6-0DCB-4C95-A685-B639D15A3C62}"/>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3つの2クラス方式とその狙い</a:t>
            </a:r>
          </a:p>
        </p:txBody>
      </p:sp>
      <p:sp>
        <p:nvSpPr>
          <p:cNvPr id="4" name="subtitle">
            <a:extLst xmlns:a="http://schemas.openxmlformats.org/drawingml/2006/main">
              <a:ext uri="{FF2B5EF4-FFF2-40B4-BE49-F238E27FC236}">
                <a16:creationId xmlns:a16="http://schemas.microsoft.com/office/drawing/2014/main" id="{AF10F90F-9FCB-4DB0-B73F-E6736A1A35A4}"/>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2クラスへ絞る処理は共通、後段のリンク関数・損失だけを比較する</a:t>
            </a:r>
          </a:p>
        </p:txBody>
      </p:sp>
      <p:sp>
        <p:nvSpPr>
          <p:cNvPr id="5" name="footer-num">
            <a:extLst xmlns:a="http://schemas.openxmlformats.org/drawingml/2006/main">
              <a:ext uri="{FF2B5EF4-FFF2-40B4-BE49-F238E27FC236}">
                <a16:creationId xmlns:a16="http://schemas.microsoft.com/office/drawing/2014/main" id="{3B23D505-79D0-4DAE-B97B-9731D421ED28}"/>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15</a:t>
            </a:r>
          </a:p>
        </p:txBody>
      </p:sp>
      <p:sp>
        <p:nvSpPr>
          <p:cNvPr id="6" name="card-bg">
            <a:extLst xmlns:a="http://schemas.openxmlformats.org/drawingml/2006/main">
              <a:ext uri="{FF2B5EF4-FFF2-40B4-BE49-F238E27FC236}">
                <a16:creationId xmlns:a16="http://schemas.microsoft.com/office/drawing/2014/main" id="{4D5B3E0C-6C5E-4F21-9601-F0128164A1FA}"/>
              </a:ext>
            </a:extLst>
          </p:cNvPr>
          <p:cNvSpPr>
            <a:spLocks xmlns:a="http://schemas.openxmlformats.org/drawingml/2006/main" noGrp="1"/>
          </p:cNvSpPr>
          <p:nvPr/>
        </p:nvSpPr>
        <p:spPr>
          <a:xfrm xmlns:a="http://schemas.openxmlformats.org/drawingml/2006/main">
            <a:off x="762000" y="1300000"/>
            <a:ext cx="3356000" cy="2200000"/>
          </a:xfrm>
          <a:prstGeom xmlns:a="http://schemas.openxmlformats.org/drawingml/2006/main" prst="rect">
            <a:avLst/>
          </a:prstGeom>
          <a:solidFill xmlns:a="http://schemas.openxmlformats.org/drawingml/2006/main">
            <a:srgbClr val="F3F4F6"/>
          </a:solidFill>
          <a:ln xmlns:a="http://schemas.openxmlformats.org/drawingml/2006/main" w="19050">
            <a:solidFill>
              <a:srgbClr val="2AA87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ard-name">
            <a:extLst xmlns:a="http://schemas.openxmlformats.org/drawingml/2006/main">
              <a:ext uri="{FF2B5EF4-FFF2-40B4-BE49-F238E27FC236}">
                <a16:creationId xmlns:a16="http://schemas.microsoft.com/office/drawing/2014/main" id="{0595A0D1-369D-4E04-9304-95F79400E50E}"/>
              </a:ext>
            </a:extLst>
          </p:cNvPr>
          <p:cNvSpPr>
            <a:spLocks xmlns:a="http://schemas.openxmlformats.org/drawingml/2006/main" noGrp="1"/>
          </p:cNvSpPr>
          <p:nvPr/>
        </p:nvSpPr>
        <p:spPr>
          <a:xfrm xmlns:a="http://schemas.openxmlformats.org/drawingml/2006/main">
            <a:off x="962000" y="1450000"/>
            <a:ext cx="2956000" cy="3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00" b="1">
                <a:solidFill>
                  <a:srgbClr val="2AA876"/>
                </a:solidFill>
                <a:latin typeface="Hiragino Sans"/>
                <a:ea typeface="Hiragino Sans"/>
                <a:cs typeface="Hiragino Sans"/>
              </a:defRPr>
            </a:pPr>
            <a:r>
              <a:rPr sz="1700" b="1">
                <a:solidFill>
                  <a:srgbClr val="2AA876"/>
                </a:solidFill>
                <a:latin typeface="Hiragino Sans"/>
                <a:ea typeface="Hiragino Sans"/>
                <a:cs typeface="Hiragino Sans"/>
              </a:rPr>
              <a:t>2クラスLIME（基準）</a:t>
            </a:r>
          </a:p>
        </p:txBody>
      </p:sp>
      <p:sp>
        <p:nvSpPr>
          <p:cNvPr id="8" name="card-target">
            <a:extLst xmlns:a="http://schemas.openxmlformats.org/drawingml/2006/main">
              <a:ext uri="{FF2B5EF4-FFF2-40B4-BE49-F238E27FC236}">
                <a16:creationId xmlns:a16="http://schemas.microsoft.com/office/drawing/2014/main" id="{13DD26CE-D290-41BA-9115-AEB2F477D288}"/>
              </a:ext>
            </a:extLst>
          </p:cNvPr>
          <p:cNvSpPr>
            <a:spLocks xmlns:a="http://schemas.openxmlformats.org/drawingml/2006/main" noGrp="1"/>
          </p:cNvSpPr>
          <p:nvPr/>
        </p:nvSpPr>
        <p:spPr>
          <a:xfrm xmlns:a="http://schemas.openxmlformats.org/drawingml/2006/main">
            <a:off x="962000" y="1920000"/>
            <a:ext cx="2956000" cy="3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00" b="1">
                <a:solidFill>
                  <a:srgbClr val="111827"/>
                </a:solidFill>
                <a:latin typeface="Hiragino Sans"/>
                <a:ea typeface="Hiragino Sans"/>
                <a:cs typeface="Hiragino Sans"/>
              </a:defRPr>
            </a:pPr>
            <a:r>
              <a:rPr sz="1300" b="1">
                <a:solidFill>
                  <a:srgbClr val="111827"/>
                </a:solidFill>
                <a:latin typeface="Hiragino Sans"/>
                <a:ea typeface="Hiragino Sans"/>
                <a:cs typeface="Hiragino Sans"/>
              </a:rPr>
              <a:t>q を Ridge回帰</a:t>
            </a:r>
          </a:p>
        </p:txBody>
      </p:sp>
      <p:sp>
        <p:nvSpPr>
          <p:cNvPr id="9" name="card-note">
            <a:extLst xmlns:a="http://schemas.openxmlformats.org/drawingml/2006/main">
              <a:ext uri="{FF2B5EF4-FFF2-40B4-BE49-F238E27FC236}">
                <a16:creationId xmlns:a16="http://schemas.microsoft.com/office/drawing/2014/main" id="{80C488E3-39A8-4F30-9312-BCEBF1150469}"/>
              </a:ext>
            </a:extLst>
          </p:cNvPr>
          <p:cNvSpPr>
            <a:spLocks xmlns:a="http://schemas.openxmlformats.org/drawingml/2006/main" noGrp="1"/>
          </p:cNvSpPr>
          <p:nvPr/>
        </p:nvSpPr>
        <p:spPr>
          <a:xfrm xmlns:a="http://schemas.openxmlformats.org/drawingml/2006/main">
            <a:off x="962000" y="2380000"/>
            <a:ext cx="2956000" cy="10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2クラスへ絞ってから</a:t>
            </a:r>
          </a:p>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通常のLIMEを当てはめる基準</a:t>
            </a:r>
          </a:p>
        </p:txBody>
      </p:sp>
      <p:sp>
        <p:nvSpPr>
          <p:cNvPr id="10" name="card-bg">
            <a:extLst xmlns:a="http://schemas.openxmlformats.org/drawingml/2006/main">
              <a:ext uri="{FF2B5EF4-FFF2-40B4-BE49-F238E27FC236}">
                <a16:creationId xmlns:a16="http://schemas.microsoft.com/office/drawing/2014/main" id="{BE77CDC1-0FDB-4814-85DF-E1EC40D45146}"/>
              </a:ext>
            </a:extLst>
          </p:cNvPr>
          <p:cNvSpPr>
            <a:spLocks xmlns:a="http://schemas.openxmlformats.org/drawingml/2006/main" noGrp="1"/>
          </p:cNvSpPr>
          <p:nvPr/>
        </p:nvSpPr>
        <p:spPr>
          <a:xfrm xmlns:a="http://schemas.openxmlformats.org/drawingml/2006/main">
            <a:off x="4418000" y="1300000"/>
            <a:ext cx="3356000" cy="2200000"/>
          </a:xfrm>
          <a:prstGeom xmlns:a="http://schemas.openxmlformats.org/drawingml/2006/main" prst="rect">
            <a:avLst/>
          </a:prstGeom>
          <a:solidFill xmlns:a="http://schemas.openxmlformats.org/drawingml/2006/main">
            <a:srgbClr val="F3F4F6"/>
          </a:solidFill>
          <a:ln xmlns:a="http://schemas.openxmlformats.org/drawingml/2006/main" w="19050">
            <a:solidFill>
              <a:srgbClr val="F28C2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card-name">
            <a:extLst xmlns:a="http://schemas.openxmlformats.org/drawingml/2006/main">
              <a:ext uri="{FF2B5EF4-FFF2-40B4-BE49-F238E27FC236}">
                <a16:creationId xmlns:a16="http://schemas.microsoft.com/office/drawing/2014/main" id="{5ABA9D67-AD38-400F-A00D-4B6049118389}"/>
              </a:ext>
            </a:extLst>
          </p:cNvPr>
          <p:cNvSpPr>
            <a:spLocks xmlns:a="http://schemas.openxmlformats.org/drawingml/2006/main" noGrp="1"/>
          </p:cNvSpPr>
          <p:nvPr/>
        </p:nvSpPr>
        <p:spPr>
          <a:xfrm xmlns:a="http://schemas.openxmlformats.org/drawingml/2006/main">
            <a:off x="4618000" y="1450000"/>
            <a:ext cx="2956000" cy="3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00" b="1">
                <a:solidFill>
                  <a:srgbClr val="F28C28"/>
                </a:solidFill>
                <a:latin typeface="Hiragino Sans"/>
                <a:ea typeface="Hiragino Sans"/>
                <a:cs typeface="Hiragino Sans"/>
              </a:defRPr>
            </a:pPr>
            <a:r>
              <a:rPr sz="1700" b="1">
                <a:solidFill>
                  <a:srgbClr val="F28C28"/>
                </a:solidFill>
                <a:latin typeface="Hiragino Sans"/>
                <a:ea typeface="Hiragino Sans"/>
                <a:cs typeface="Hiragino Sans"/>
              </a:rPr>
              <a:t>Contrastive</a:t>
            </a:r>
          </a:p>
        </p:txBody>
      </p:sp>
      <p:sp>
        <p:nvSpPr>
          <p:cNvPr id="12" name="card-target">
            <a:extLst xmlns:a="http://schemas.openxmlformats.org/drawingml/2006/main">
              <a:ext uri="{FF2B5EF4-FFF2-40B4-BE49-F238E27FC236}">
                <a16:creationId xmlns:a16="http://schemas.microsoft.com/office/drawing/2014/main" id="{39F1C3D5-9E2F-45BD-AA68-35233638ACF6}"/>
              </a:ext>
            </a:extLst>
          </p:cNvPr>
          <p:cNvSpPr>
            <a:spLocks xmlns:a="http://schemas.openxmlformats.org/drawingml/2006/main" noGrp="1"/>
          </p:cNvSpPr>
          <p:nvPr/>
        </p:nvSpPr>
        <p:spPr>
          <a:xfrm xmlns:a="http://schemas.openxmlformats.org/drawingml/2006/main">
            <a:off x="4618000" y="1920000"/>
            <a:ext cx="2956000" cy="3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00" b="1">
                <a:solidFill>
                  <a:srgbClr val="111827"/>
                </a:solidFill>
                <a:latin typeface="Hiragino Sans"/>
                <a:ea typeface="Hiragino Sans"/>
                <a:cs typeface="Hiragino Sans"/>
              </a:defRPr>
            </a:pPr>
            <a:r>
              <a:rPr sz="1300" b="1">
                <a:solidFill>
                  <a:srgbClr val="111827"/>
                </a:solidFill>
                <a:latin typeface="Hiragino Sans"/>
                <a:ea typeface="Hiragino Sans"/>
                <a:cs typeface="Hiragino Sans"/>
              </a:rPr>
              <a:t>log(p1/p2) を Ridge回帰</a:t>
            </a:r>
          </a:p>
        </p:txBody>
      </p:sp>
      <p:sp>
        <p:nvSpPr>
          <p:cNvPr id="13" name="card-note">
            <a:extLst xmlns:a="http://schemas.openxmlformats.org/drawingml/2006/main">
              <a:ext uri="{FF2B5EF4-FFF2-40B4-BE49-F238E27FC236}">
                <a16:creationId xmlns:a16="http://schemas.microsoft.com/office/drawing/2014/main" id="{E187E955-F856-4547-93D0-8092A44742A6}"/>
              </a:ext>
            </a:extLst>
          </p:cNvPr>
          <p:cNvSpPr>
            <a:spLocks xmlns:a="http://schemas.openxmlformats.org/drawingml/2006/main" noGrp="1"/>
          </p:cNvSpPr>
          <p:nvPr/>
        </p:nvSpPr>
        <p:spPr>
          <a:xfrm xmlns:a="http://schemas.openxmlformats.org/drawingml/2006/main">
            <a:off x="4618000" y="2380000"/>
            <a:ext cx="2956000" cy="10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比を対数比に変えて</a:t>
            </a:r>
          </a:p>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線形なlogit差に強くする</a:t>
            </a:r>
          </a:p>
        </p:txBody>
      </p:sp>
      <p:sp>
        <p:nvSpPr>
          <p:cNvPr id="14" name="card-bg">
            <a:extLst xmlns:a="http://schemas.openxmlformats.org/drawingml/2006/main">
              <a:ext uri="{FF2B5EF4-FFF2-40B4-BE49-F238E27FC236}">
                <a16:creationId xmlns:a16="http://schemas.microsoft.com/office/drawing/2014/main" id="{533E3D8D-01B5-4C42-A588-46C857EF61D4}"/>
              </a:ext>
            </a:extLst>
          </p:cNvPr>
          <p:cNvSpPr>
            <a:spLocks xmlns:a="http://schemas.openxmlformats.org/drawingml/2006/main" noGrp="1"/>
          </p:cNvSpPr>
          <p:nvPr/>
        </p:nvSpPr>
        <p:spPr>
          <a:xfrm xmlns:a="http://schemas.openxmlformats.org/drawingml/2006/main">
            <a:off x="8074000" y="1300000"/>
            <a:ext cx="3356000" cy="2200000"/>
          </a:xfrm>
          <a:prstGeom xmlns:a="http://schemas.openxmlformats.org/drawingml/2006/main" prst="rect">
            <a:avLst/>
          </a:prstGeom>
          <a:solidFill xmlns:a="http://schemas.openxmlformats.org/drawingml/2006/main">
            <a:srgbClr val="F3F4F6"/>
          </a:solidFill>
          <a:ln xmlns:a="http://schemas.openxmlformats.org/drawingml/2006/main" w="19050">
            <a:solidFill>
              <a:srgbClr val="7B61A8"/>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card-name">
            <a:extLst xmlns:a="http://schemas.openxmlformats.org/drawingml/2006/main">
              <a:ext uri="{FF2B5EF4-FFF2-40B4-BE49-F238E27FC236}">
                <a16:creationId xmlns:a16="http://schemas.microsoft.com/office/drawing/2014/main" id="{2B61D471-53EE-48DF-83B5-C7C1ED60CEE6}"/>
              </a:ext>
            </a:extLst>
          </p:cNvPr>
          <p:cNvSpPr>
            <a:spLocks xmlns:a="http://schemas.openxmlformats.org/drawingml/2006/main" noGrp="1"/>
          </p:cNvSpPr>
          <p:nvPr/>
        </p:nvSpPr>
        <p:spPr>
          <a:xfrm xmlns:a="http://schemas.openxmlformats.org/drawingml/2006/main">
            <a:off x="8274000" y="1450000"/>
            <a:ext cx="2956000" cy="3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00" b="1">
                <a:solidFill>
                  <a:srgbClr val="7B61A8"/>
                </a:solidFill>
                <a:latin typeface="Hiragino Sans"/>
                <a:ea typeface="Hiragino Sans"/>
                <a:cs typeface="Hiragino Sans"/>
              </a:defRPr>
            </a:pPr>
            <a:r>
              <a:rPr sz="1700" b="1">
                <a:solidFill>
                  <a:srgbClr val="7B61A8"/>
                </a:solidFill>
                <a:latin typeface="Hiragino Sans"/>
                <a:ea typeface="Hiragino Sans"/>
                <a:cs typeface="Hiragino Sans"/>
              </a:rPr>
              <a:t>OVO Logistic</a:t>
            </a:r>
          </a:p>
        </p:txBody>
      </p:sp>
      <p:sp>
        <p:nvSpPr>
          <p:cNvPr id="16" name="card-target">
            <a:extLst xmlns:a="http://schemas.openxmlformats.org/drawingml/2006/main">
              <a:ext uri="{FF2B5EF4-FFF2-40B4-BE49-F238E27FC236}">
                <a16:creationId xmlns:a16="http://schemas.microsoft.com/office/drawing/2014/main" id="{66DBA142-4B9D-4874-954B-8286D5DB61C9}"/>
              </a:ext>
            </a:extLst>
          </p:cNvPr>
          <p:cNvSpPr>
            <a:spLocks xmlns:a="http://schemas.openxmlformats.org/drawingml/2006/main" noGrp="1"/>
          </p:cNvSpPr>
          <p:nvPr/>
        </p:nvSpPr>
        <p:spPr>
          <a:xfrm xmlns:a="http://schemas.openxmlformats.org/drawingml/2006/main">
            <a:off x="8274000" y="1920000"/>
            <a:ext cx="2956000" cy="3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00" b="1">
                <a:solidFill>
                  <a:srgbClr val="111827"/>
                </a:solidFill>
                <a:latin typeface="Hiragino Sans"/>
                <a:ea typeface="Hiragino Sans"/>
                <a:cs typeface="Hiragino Sans"/>
              </a:defRPr>
            </a:pPr>
            <a:r>
              <a:rPr sz="1300" b="1">
                <a:solidFill>
                  <a:srgbClr val="111827"/>
                </a:solidFill>
                <a:latin typeface="Hiragino Sans"/>
                <a:ea typeface="Hiragino Sans"/>
                <a:cs typeface="Hiragino Sans"/>
              </a:rPr>
              <a:t>q を交差エントロピーで回帰</a:t>
            </a:r>
          </a:p>
        </p:txBody>
      </p:sp>
      <p:sp>
        <p:nvSpPr>
          <p:cNvPr id="17" name="card-note">
            <a:extLst xmlns:a="http://schemas.openxmlformats.org/drawingml/2006/main">
              <a:ext uri="{FF2B5EF4-FFF2-40B4-BE49-F238E27FC236}">
                <a16:creationId xmlns:a16="http://schemas.microsoft.com/office/drawing/2014/main" id="{6DFBED9B-37B9-4332-A048-4FBF7EAFAA2F}"/>
              </a:ext>
            </a:extLst>
          </p:cNvPr>
          <p:cNvSpPr>
            <a:spLocks xmlns:a="http://schemas.openxmlformats.org/drawingml/2006/main" noGrp="1"/>
          </p:cNvSpPr>
          <p:nvPr/>
        </p:nvSpPr>
        <p:spPr>
          <a:xfrm xmlns:a="http://schemas.openxmlformats.org/drawingml/2006/main">
            <a:off x="8274000" y="2380000"/>
            <a:ext cx="2956000" cy="10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二乗誤差を交差エントロピーに</a:t>
            </a:r>
          </a:p>
          <a:p xmlns:a="http://schemas.openxmlformats.org/drawingml/2006/main">
            <a:pPr algn="l">
              <a:buNone/>
              <a:defRPr sz="1150" b="0">
                <a:solidFill>
                  <a:srgbClr val="64748B"/>
                </a:solidFill>
                <a:latin typeface="Hiragino Sans"/>
                <a:ea typeface="Hiragino Sans"/>
                <a:cs typeface="Hiragino Sans"/>
              </a:defRPr>
            </a:pPr>
            <a:r>
              <a:rPr sz="1150" b="0">
                <a:solidFill>
                  <a:srgbClr val="64748B"/>
                </a:solidFill>
                <a:latin typeface="Hiragino Sans"/>
                <a:ea typeface="Hiragino Sans"/>
                <a:cs typeface="Hiragino Sans"/>
              </a:rPr>
              <a:t>変え、極端な確率でも安定させる</a:t>
            </a:r>
          </a:p>
        </p:txBody>
      </p:sp>
      <p:sp>
        <p:nvSpPr>
          <p:cNvPr id="18" name="why-bg">
            <a:extLst xmlns:a="http://schemas.openxmlformats.org/drawingml/2006/main">
              <a:ext uri="{FF2B5EF4-FFF2-40B4-BE49-F238E27FC236}">
                <a16:creationId xmlns:a16="http://schemas.microsoft.com/office/drawing/2014/main" id="{F17690A0-131F-4CA8-AA9F-32E02B328772}"/>
              </a:ext>
            </a:extLst>
          </p:cNvPr>
          <p:cNvSpPr>
            <a:spLocks xmlns:a="http://schemas.openxmlformats.org/drawingml/2006/main" noGrp="1"/>
          </p:cNvSpPr>
          <p:nvPr/>
        </p:nvSpPr>
        <p:spPr>
          <a:xfrm xmlns:a="http://schemas.openxmlformats.org/drawingml/2006/main">
            <a:off x="762000" y="3700000"/>
            <a:ext cx="10668000" cy="900000"/>
          </a:xfrm>
          <a:prstGeom xmlns:a="http://schemas.openxmlformats.org/drawingml/2006/main" prst="roundRect">
            <a:avLst>
              <a:gd name="adj" fmla="val 6000"/>
            </a:avLst>
          </a:prstGeom>
          <a:solidFill xmlns:a="http://schemas.openxmlformats.org/drawingml/2006/main">
            <a:srgbClr val="FFF4D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why-label">
            <a:extLst xmlns:a="http://schemas.openxmlformats.org/drawingml/2006/main">
              <a:ext uri="{FF2B5EF4-FFF2-40B4-BE49-F238E27FC236}">
                <a16:creationId xmlns:a16="http://schemas.microsoft.com/office/drawing/2014/main" id="{618A0D8D-1198-476B-97BD-AC0D49B92176}"/>
              </a:ext>
            </a:extLst>
          </p:cNvPr>
          <p:cNvSpPr>
            <a:spLocks xmlns:a="http://schemas.openxmlformats.org/drawingml/2006/main" noGrp="1"/>
          </p:cNvSpPr>
          <p:nvPr/>
        </p:nvSpPr>
        <p:spPr>
          <a:xfrm xmlns:a="http://schemas.openxmlformats.org/drawingml/2006/main">
            <a:off x="962000" y="3820000"/>
            <a:ext cx="3000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00" b="1">
                <a:solidFill>
                  <a:srgbClr val="F59E0B"/>
                </a:solidFill>
                <a:latin typeface="Hiragino Sans"/>
                <a:ea typeface="Hiragino Sans"/>
                <a:cs typeface="Hiragino Sans"/>
              </a:defRPr>
            </a:pPr>
            <a:r>
              <a:rPr sz="1300" b="1">
                <a:solidFill>
                  <a:srgbClr val="F59E0B"/>
                </a:solidFill>
                <a:latin typeface="Hiragino Sans"/>
                <a:ea typeface="Hiragino Sans"/>
                <a:cs typeface="Hiragino Sans"/>
              </a:rPr>
              <a:t>なぜ2つ追加したのか</a:t>
            </a:r>
          </a:p>
        </p:txBody>
      </p:sp>
      <p:sp>
        <p:nvSpPr>
          <p:cNvPr id="20" name="why-desc">
            <a:extLst xmlns:a="http://schemas.openxmlformats.org/drawingml/2006/main">
              <a:ext uri="{FF2B5EF4-FFF2-40B4-BE49-F238E27FC236}">
                <a16:creationId xmlns:a16="http://schemas.microsoft.com/office/drawing/2014/main" id="{AE201CE1-7547-4667-AB63-CA66983378FA}"/>
              </a:ext>
            </a:extLst>
          </p:cNvPr>
          <p:cNvSpPr>
            <a:spLocks xmlns:a="http://schemas.openxmlformats.org/drawingml/2006/main" noGrp="1"/>
          </p:cNvSpPr>
          <p:nvPr/>
        </p:nvSpPr>
        <p:spPr>
          <a:xfrm xmlns:a="http://schemas.openxmlformats.org/drawingml/2006/main">
            <a:off x="962000" y="4130000"/>
            <a:ext cx="10268000" cy="46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2クラスLIMEを基準に、Contrastiveは回帰対象（比→対数比）を変えて比較する</a:t>
            </a:r>
          </a:p>
          <a:p xmlns:a="http://schemas.openxmlformats.org/drawingml/2006/main">
            <a:pPr algn="l">
              <a:buNone/>
              <a:defRPr sz="1150" b="0">
                <a:solidFill>
                  <a:srgbClr val="111827"/>
                </a:solidFill>
                <a:latin typeface="Hiragino Sans"/>
                <a:ea typeface="Hiragino Sans"/>
                <a:cs typeface="Hiragino Sans"/>
              </a:defRPr>
            </a:pPr>
            <a:r>
              <a:rPr sz="1150" b="0">
                <a:solidFill>
                  <a:srgbClr val="111827"/>
                </a:solidFill>
                <a:latin typeface="Hiragino Sans"/>
                <a:ea typeface="Hiragino Sans"/>
                <a:cs typeface="Hiragino Sans"/>
              </a:rPr>
              <a:t>OVO Logisticは損失（二乗誤差→交差エントロピー）を変えて比較する</a:t>
            </a:r>
          </a:p>
        </p:txBody>
      </p:sp>
      <p:sp>
        <p:nvSpPr>
          <p:cNvPr id="21" name="metric-name">
            <a:extLst xmlns:a="http://schemas.openxmlformats.org/drawingml/2006/main">
              <a:ext uri="{FF2B5EF4-FFF2-40B4-BE49-F238E27FC236}">
                <a16:creationId xmlns:a16="http://schemas.microsoft.com/office/drawing/2014/main" id="{343C5205-FF60-4B6E-A3E1-BAD9075C1E2C}"/>
              </a:ext>
            </a:extLst>
          </p:cNvPr>
          <p:cNvSpPr>
            <a:spLocks xmlns:a="http://schemas.openxmlformats.org/drawingml/2006/main" noGrp="1"/>
          </p:cNvSpPr>
          <p:nvPr/>
        </p:nvSpPr>
        <p:spPr>
          <a:xfrm xmlns:a="http://schemas.openxmlformats.org/drawingml/2006/main">
            <a:off x="762000" y="4750000"/>
            <a:ext cx="2517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1">
                <a:solidFill>
                  <a:srgbClr val="1479C9"/>
                </a:solidFill>
                <a:latin typeface="Hiragino Sans"/>
                <a:ea typeface="Hiragino Sans"/>
                <a:cs typeface="Hiragino Sans"/>
              </a:defRPr>
            </a:pPr>
            <a:r>
              <a:rPr sz="1250" b="1">
                <a:solidFill>
                  <a:srgbClr val="1479C9"/>
                </a:solidFill>
                <a:latin typeface="Hiragino Sans"/>
                <a:ea typeface="Hiragino Sans"/>
                <a:cs typeface="Hiragino Sans"/>
              </a:rPr>
              <a:t>ペア符号忠実度</a:t>
            </a:r>
          </a:p>
        </p:txBody>
      </p:sp>
      <p:sp>
        <p:nvSpPr>
          <p:cNvPr id="22" name="metric-desc">
            <a:extLst xmlns:a="http://schemas.openxmlformats.org/drawingml/2006/main">
              <a:ext uri="{FF2B5EF4-FFF2-40B4-BE49-F238E27FC236}">
                <a16:creationId xmlns:a16="http://schemas.microsoft.com/office/drawing/2014/main" id="{2B35394A-1759-4C31-AFEC-07185334169E}"/>
              </a:ext>
            </a:extLst>
          </p:cNvPr>
          <p:cNvSpPr>
            <a:spLocks xmlns:a="http://schemas.openxmlformats.org/drawingml/2006/main" noGrp="1"/>
          </p:cNvSpPr>
          <p:nvPr/>
        </p:nvSpPr>
        <p:spPr>
          <a:xfrm xmlns:a="http://schemas.openxmlformats.org/drawingml/2006/main">
            <a:off x="762000" y="5070000"/>
            <a:ext cx="2517000" cy="58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Top-1/Top-2の大小関係を</a:t>
            </a:r>
          </a:p>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未使用摂動で再現できた割合</a:t>
            </a:r>
          </a:p>
        </p:txBody>
      </p:sp>
      <p:sp>
        <p:nvSpPr>
          <p:cNvPr id="23" name="metric-name">
            <a:extLst xmlns:a="http://schemas.openxmlformats.org/drawingml/2006/main">
              <a:ext uri="{FF2B5EF4-FFF2-40B4-BE49-F238E27FC236}">
                <a16:creationId xmlns:a16="http://schemas.microsoft.com/office/drawing/2014/main" id="{BC7939F3-0B18-4FA7-A90A-C9F6310A0468}"/>
              </a:ext>
            </a:extLst>
          </p:cNvPr>
          <p:cNvSpPr>
            <a:spLocks xmlns:a="http://schemas.openxmlformats.org/drawingml/2006/main" noGrp="1"/>
          </p:cNvSpPr>
          <p:nvPr/>
        </p:nvSpPr>
        <p:spPr>
          <a:xfrm xmlns:a="http://schemas.openxmlformats.org/drawingml/2006/main">
            <a:off x="3479000" y="4750000"/>
            <a:ext cx="2517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1">
                <a:solidFill>
                  <a:srgbClr val="1479C9"/>
                </a:solidFill>
                <a:latin typeface="Hiragino Sans"/>
                <a:ea typeface="Hiragino Sans"/>
                <a:cs typeface="Hiragino Sans"/>
              </a:defRPr>
            </a:pPr>
            <a:r>
              <a:rPr sz="1250" b="1">
                <a:solidFill>
                  <a:srgbClr val="1479C9"/>
                </a:solidFill>
                <a:latin typeface="Hiragino Sans"/>
                <a:ea typeface="Hiragino Sans"/>
                <a:cs typeface="Hiragino Sans"/>
              </a:rPr>
              <a:t>重み付きBrier</a:t>
            </a:r>
          </a:p>
        </p:txBody>
      </p:sp>
      <p:sp>
        <p:nvSpPr>
          <p:cNvPr id="24" name="metric-desc">
            <a:extLst xmlns:a="http://schemas.openxmlformats.org/drawingml/2006/main">
              <a:ext uri="{FF2B5EF4-FFF2-40B4-BE49-F238E27FC236}">
                <a16:creationId xmlns:a16="http://schemas.microsoft.com/office/drawing/2014/main" id="{C64D28B5-B1C8-45EA-8528-FDC9B5E63BCD}"/>
              </a:ext>
            </a:extLst>
          </p:cNvPr>
          <p:cNvSpPr>
            <a:spLocks xmlns:a="http://schemas.openxmlformats.org/drawingml/2006/main" noGrp="1"/>
          </p:cNvSpPr>
          <p:nvPr/>
        </p:nvSpPr>
        <p:spPr>
          <a:xfrm xmlns:a="http://schemas.openxmlformats.org/drawingml/2006/main">
            <a:off x="3479000" y="5070000"/>
            <a:ext cx="2517000" cy="58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q の確率近似誤差</a:t>
            </a:r>
          </a:p>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小さいほどよい</a:t>
            </a:r>
          </a:p>
        </p:txBody>
      </p:sp>
      <p:sp>
        <p:nvSpPr>
          <p:cNvPr id="25" name="metric-name">
            <a:extLst xmlns:a="http://schemas.openxmlformats.org/drawingml/2006/main">
              <a:ext uri="{FF2B5EF4-FFF2-40B4-BE49-F238E27FC236}">
                <a16:creationId xmlns:a16="http://schemas.microsoft.com/office/drawing/2014/main" id="{7D27A0BC-0656-4EDD-BED9-F7DCCD4C62AF}"/>
              </a:ext>
            </a:extLst>
          </p:cNvPr>
          <p:cNvSpPr>
            <a:spLocks xmlns:a="http://schemas.openxmlformats.org/drawingml/2006/main" noGrp="1"/>
          </p:cNvSpPr>
          <p:nvPr/>
        </p:nvSpPr>
        <p:spPr>
          <a:xfrm xmlns:a="http://schemas.openxmlformats.org/drawingml/2006/main">
            <a:off x="6196000" y="4750000"/>
            <a:ext cx="2517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1">
                <a:solidFill>
                  <a:srgbClr val="1479C9"/>
                </a:solidFill>
                <a:latin typeface="Hiragino Sans"/>
                <a:ea typeface="Hiragino Sans"/>
                <a:cs typeface="Hiragino Sans"/>
              </a:defRPr>
            </a:pPr>
            <a:r>
              <a:rPr sz="1250" b="1">
                <a:solidFill>
                  <a:srgbClr val="1479C9"/>
                </a:solidFill>
                <a:latin typeface="Hiragino Sans"/>
                <a:ea typeface="Hiragino Sans"/>
                <a:cs typeface="Hiragino Sans"/>
              </a:rPr>
              <a:t>競合特徴再現率</a:t>
            </a:r>
          </a:p>
        </p:txBody>
      </p:sp>
      <p:sp>
        <p:nvSpPr>
          <p:cNvPr id="26" name="metric-desc">
            <a:extLst xmlns:a="http://schemas.openxmlformats.org/drawingml/2006/main">
              <a:ext uri="{FF2B5EF4-FFF2-40B4-BE49-F238E27FC236}">
                <a16:creationId xmlns:a16="http://schemas.microsoft.com/office/drawing/2014/main" id="{48137DE4-B77C-4123-A362-03D9BC7D6362}"/>
              </a:ext>
            </a:extLst>
          </p:cNvPr>
          <p:cNvSpPr>
            <a:spLocks xmlns:a="http://schemas.openxmlformats.org/drawingml/2006/main" noGrp="1"/>
          </p:cNvSpPr>
          <p:nvPr/>
        </p:nvSpPr>
        <p:spPr>
          <a:xfrm xmlns:a="http://schemas.openxmlformats.org/drawingml/2006/main">
            <a:off x="6196000" y="5070000"/>
            <a:ext cx="2517000" cy="58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クラス差を生む特徴を</a:t>
            </a:r>
          </a:p>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上位K個で拾えた割合</a:t>
            </a:r>
          </a:p>
        </p:txBody>
      </p:sp>
      <p:sp>
        <p:nvSpPr>
          <p:cNvPr id="27" name="metric-name">
            <a:extLst xmlns:a="http://schemas.openxmlformats.org/drawingml/2006/main">
              <a:ext uri="{FF2B5EF4-FFF2-40B4-BE49-F238E27FC236}">
                <a16:creationId xmlns:a16="http://schemas.microsoft.com/office/drawing/2014/main" id="{23DAB821-06D6-4ED8-B585-B02E3DFB040A}"/>
              </a:ext>
            </a:extLst>
          </p:cNvPr>
          <p:cNvSpPr>
            <a:spLocks xmlns:a="http://schemas.openxmlformats.org/drawingml/2006/main" noGrp="1"/>
          </p:cNvSpPr>
          <p:nvPr/>
        </p:nvSpPr>
        <p:spPr>
          <a:xfrm xmlns:a="http://schemas.openxmlformats.org/drawingml/2006/main">
            <a:off x="8913000" y="4750000"/>
            <a:ext cx="2517000" cy="3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1">
                <a:solidFill>
                  <a:srgbClr val="1479C9"/>
                </a:solidFill>
                <a:latin typeface="Hiragino Sans"/>
                <a:ea typeface="Hiragino Sans"/>
                <a:cs typeface="Hiragino Sans"/>
              </a:defRPr>
            </a:pPr>
            <a:r>
              <a:rPr sz="1250" b="1">
                <a:solidFill>
                  <a:srgbClr val="1479C9"/>
                </a:solidFill>
                <a:latin typeface="Hiragino Sans"/>
                <a:ea typeface="Hiragino Sans"/>
                <a:cs typeface="Hiragino Sans"/>
              </a:rPr>
              <a:t>計算時間</a:t>
            </a:r>
          </a:p>
        </p:txBody>
      </p:sp>
      <p:sp>
        <p:nvSpPr>
          <p:cNvPr id="28" name="metric-desc">
            <a:extLst xmlns:a="http://schemas.openxmlformats.org/drawingml/2006/main">
              <a:ext uri="{FF2B5EF4-FFF2-40B4-BE49-F238E27FC236}">
                <a16:creationId xmlns:a16="http://schemas.microsoft.com/office/drawing/2014/main" id="{4C42591B-2608-4F50-8BB7-DB00B58D4BC7}"/>
              </a:ext>
            </a:extLst>
          </p:cNvPr>
          <p:cNvSpPr>
            <a:spLocks xmlns:a="http://schemas.openxmlformats.org/drawingml/2006/main" noGrp="1"/>
          </p:cNvSpPr>
          <p:nvPr/>
        </p:nvSpPr>
        <p:spPr>
          <a:xfrm xmlns:a="http://schemas.openxmlformats.org/drawingml/2006/main">
            <a:off x="8913000" y="5070000"/>
            <a:ext cx="2517000" cy="58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説明1件の学習時間</a:t>
            </a:r>
          </a:p>
          <a:p xmlns:a="http://schemas.openxmlformats.org/drawingml/2006/main">
            <a:pPr algn="l">
              <a:buNone/>
              <a:defRPr sz="1050" b="0">
                <a:solidFill>
                  <a:srgbClr val="64748B"/>
                </a:solidFill>
                <a:latin typeface="Hiragino Sans"/>
                <a:ea typeface="Hiragino Sans"/>
                <a:cs typeface="Hiragino Sans"/>
              </a:defRPr>
            </a:pPr>
            <a:r>
              <a:rPr sz="1050" b="0">
                <a:solidFill>
                  <a:srgbClr val="64748B"/>
                </a:solidFill>
                <a:latin typeface="Hiragino Sans"/>
                <a:ea typeface="Hiragino Sans"/>
                <a:cs typeface="Hiragino Sans"/>
              </a:rPr>
              <a:t>次元数・クラス数を変化</a:t>
            </a:r>
          </a:p>
        </p:txBody>
      </p:sp>
      <p:sp>
        <p:nvSpPr>
          <p:cNvPr id="29" name="takeaway-bg">
            <a:extLst xmlns:a="http://schemas.openxmlformats.org/drawingml/2006/main">
              <a:ext uri="{FF2B5EF4-FFF2-40B4-BE49-F238E27FC236}">
                <a16:creationId xmlns:a16="http://schemas.microsoft.com/office/drawing/2014/main" id="{1FA2F695-D070-48EE-A1D2-4408A36C7345}"/>
              </a:ext>
            </a:extLst>
          </p:cNvPr>
          <p:cNvSpPr>
            <a:spLocks xmlns:a="http://schemas.openxmlformats.org/drawingml/2006/main" noGrp="1"/>
          </p:cNvSpPr>
          <p:nvPr/>
        </p:nvSpPr>
        <p:spPr>
          <a:xfrm xmlns:a="http://schemas.openxmlformats.org/drawingml/2006/main">
            <a:off x="762000" y="58102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0" name="takeaway-text">
            <a:extLst xmlns:a="http://schemas.openxmlformats.org/drawingml/2006/main">
              <a:ext uri="{FF2B5EF4-FFF2-40B4-BE49-F238E27FC236}">
                <a16:creationId xmlns:a16="http://schemas.microsoft.com/office/drawing/2014/main" id="{0A6AB61E-29D4-4042-869E-787D8832B2A3}"/>
              </a:ext>
            </a:extLst>
          </p:cNvPr>
          <p:cNvSpPr>
            <a:spLocks xmlns:a="http://schemas.openxmlformats.org/drawingml/2006/main" noGrp="1"/>
          </p:cNvSpPr>
          <p:nvPr/>
        </p:nvSpPr>
        <p:spPr>
          <a:xfrm xmlns:a="http://schemas.openxmlformats.org/drawingml/2006/main">
            <a:off x="952500" y="58578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このスライドの主張：2クラス化の効果とリンク関数・損失の効果を、3方式の比較で分離する</a:t>
            </a:r>
          </a:p>
        </p:txBody>
      </p:sp>
    </p:spTree>
    <p:extLst>
      <p:ext uri="{BB962C8B-B14F-4D97-AF65-F5344CB8AC3E}">
        <p14:creationId xmlns:p14="http://schemas.microsoft.com/office/powerpoint/2010/main" val="11905463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正方形/長方形 6">
            <a:extLst xmlns:a="http://schemas.openxmlformats.org/drawingml/2006/main">
              <a:ext uri="{FF2B5EF4-FFF2-40B4-BE49-F238E27FC236}">
                <a16:creationId xmlns:a16="http://schemas.microsoft.com/office/drawing/2014/main" id="{4ADE5C19-DBDE-48F8-AE96-283A50BC174E}"/>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正方形/長方形 1">
            <a:extLst xmlns:a="http://schemas.openxmlformats.org/drawingml/2006/main">
              <a:ext uri="{FF2B5EF4-FFF2-40B4-BE49-F238E27FC236}">
                <a16:creationId xmlns:a16="http://schemas.microsoft.com/office/drawing/2014/main" id="{7BD5797D-F1EE-4DE8-9C9D-8C140102DEE8}"/>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実験設定</a:t>
            </a:r>
          </a:p>
        </p:txBody>
      </p:sp>
      <p:sp>
        <p:nvSpPr>
          <p:cNvPr id="3" name="正方形/長方形 2">
            <a:extLst xmlns:a="http://schemas.openxmlformats.org/drawingml/2006/main">
              <a:ext uri="{FF2B5EF4-FFF2-40B4-BE49-F238E27FC236}">
                <a16:creationId xmlns:a16="http://schemas.microsoft.com/office/drawing/2014/main" id="{D0C92C36-03F2-4A52-BF76-D12016ED49A3}"/>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すべての手法で摂動点・近接度重み・説明対象を共有</a:t>
            </a:r>
          </a:p>
        </p:txBody>
      </p:sp>
      <p:sp>
        <p:nvSpPr>
          <p:cNvPr id="4" name="正方形/長方形 3">
            <a:extLst xmlns:a="http://schemas.openxmlformats.org/drawingml/2006/main">
              <a:ext uri="{FF2B5EF4-FFF2-40B4-BE49-F238E27FC236}">
                <a16:creationId xmlns:a16="http://schemas.microsoft.com/office/drawing/2014/main" id="{8E7A472F-17CD-4971-9D31-46566E395984}"/>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buNone/>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16</a:t>
            </a:r>
          </a:p>
        </p:txBody>
      </p:sp>
      <p:graphicFrame>
        <p:nvGraphicFramePr>
          <p:cNvPr id="13" name="表 10"/>
          <p:cNvGraphicFramePr/>
          <p:nvPr/>
        </p:nvGraphicFramePr>
        <p:xfrm>
          <a:off xmlns:a="http://schemas.openxmlformats.org/drawingml/2006/main" x="762000" y="1295400"/>
          <a:ext xmlns:a="http://schemas.openxmlformats.org/drawingml/2006/main" cx="10668000" cy="4629150"/>
        </p:xfrm>
        <a:graphic xmlns:a="http://schemas.openxmlformats.org/drawingml/2006/main">
          <a:graphicData uri="http://schemas.openxmlformats.org/drawingml/2006/table">
            <a:tbl>
              <a:tblPr/>
              <a:tblGrid>
                <a:gridCol w="2333625"/>
                <a:gridCol w="8334375"/>
              </a:tblGrid>
              <a:tr h="514350">
                <a:tc>
                  <a:txBody>
                    <a:bodyPr/>
                    <a:lstStyle/>
                    <a:p>
                      <a:r>
                        <a:rPr sz="1275" b="1">
                          <a:solidFill>
                            <a:srgbClr val="FFFFFF"/>
                          </a:solidFill>
                          <a:latin typeface="Hiragino Sans"/>
                          <a:ea typeface="Hiragino Sans"/>
                          <a:cs typeface="Hiragino Sans"/>
                        </a:rPr>
                        <a:t>項目</a:t>
                      </a:r>
                    </a:p>
                  </a:txBody>
                  <a:tcPr marL="114300" marR="114300" marT="76200" marB="76200" anchor="ctr">
                    <a:solidFill>
                      <a:srgbClr val="1479C9"/>
                    </a:solidFill>
                  </a:tcPr>
                </a:tc>
                <a:tc>
                  <a:txBody>
                    <a:bodyPr/>
                    <a:lstStyle/>
                    <a:p>
                      <a:r>
                        <a:rPr sz="1275" b="1">
                          <a:solidFill>
                            <a:srgbClr val="FFFFFF"/>
                          </a:solidFill>
                          <a:latin typeface="Hiragino Sans"/>
                          <a:ea typeface="Hiragino Sans"/>
                          <a:cs typeface="Hiragino Sans"/>
                        </a:rPr>
                        <a:t>設定</a:t>
                      </a:r>
                    </a:p>
                  </a:txBody>
                  <a:tcPr marL="114300" marR="114300" marT="76200" marB="76200" anchor="ctr">
                    <a:solidFill>
                      <a:srgbClr val="1479C9"/>
                    </a:solidFill>
                  </a:tcPr>
                </a:tc>
              </a:tr>
              <a:tr h="514350">
                <a:tc>
                  <a:txBody>
                    <a:bodyPr/>
                    <a:lstStyle/>
                    <a:p>
                      <a:r>
                        <a:rPr sz="1125" b="1">
                          <a:solidFill>
                            <a:srgbClr val="1479C9"/>
                          </a:solidFill>
                          <a:latin typeface="Hiragino Sans"/>
                          <a:ea typeface="Hiragino Sans"/>
                          <a:cs typeface="Hiragino Sans"/>
                        </a:rPr>
                        <a:t>データ</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make_classification、2,000件、学習70%／評価30%</a:t>
                      </a:r>
                    </a:p>
                  </a:txBody>
                  <a:tcPr marL="114300" marR="114300" marT="57150" marB="57150" anchor="ctr">
                    <a:solidFill>
                      <a:srgbClr val="FBFCFE"/>
                    </a:solidFill>
                  </a:tcPr>
                </a:tc>
              </a:tr>
              <a:tr h="514350">
                <a:tc>
                  <a:txBody>
                    <a:bodyPr/>
                    <a:lstStyle/>
                    <a:p>
                      <a:r>
                        <a:rPr sz="1125" b="1">
                          <a:solidFill>
                            <a:srgbClr val="1479C9"/>
                          </a:solidFill>
                          <a:latin typeface="Hiragino Sans"/>
                          <a:ea typeface="Hiragino Sans"/>
                          <a:cs typeface="Hiragino Sans"/>
                        </a:rPr>
                        <a:t>局所真値実験</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非線形softmax、相関入力、弱い密ノイズ、d=30, C={3,5,8}, K=5、曲率={0.35,0.80}</a:t>
                      </a:r>
                    </a:p>
                  </a:txBody>
                  <a:tcPr marL="114300" marR="114300" marT="57150" marB="57150" anchor="ctr"/>
                </a:tc>
              </a:tr>
              <a:tr h="514350">
                <a:tc>
                  <a:txBody>
                    <a:bodyPr/>
                    <a:lstStyle/>
                    <a:p>
                      <a:r>
                        <a:rPr sz="1125" b="1">
                          <a:solidFill>
                            <a:srgbClr val="1479C9"/>
                          </a:solidFill>
                          <a:latin typeface="Hiragino Sans"/>
                          <a:ea typeface="Hiragino Sans"/>
                          <a:cs typeface="Hiragino Sans"/>
                        </a:rPr>
                        <a:t>反復と評価</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各条件20独立BB、各6説明点。真の局所勾配Top-5再現率＋未使用摂動での符号忠実度</a:t>
                      </a:r>
                    </a:p>
                  </a:txBody>
                  <a:tcPr marL="114300" marR="114300" marT="57150" marB="57150" anchor="ctr">
                    <a:solidFill>
                      <a:srgbClr val="FBFCFE"/>
                    </a:solidFill>
                  </a:tcPr>
                </a:tc>
              </a:tr>
              <a:tr h="514350">
                <a:tc>
                  <a:txBody>
                    <a:bodyPr/>
                    <a:lstStyle/>
                    <a:p>
                      <a:r>
                        <a:rPr sz="1125" b="1">
                          <a:solidFill>
                            <a:srgbClr val="1479C9"/>
                          </a:solidFill>
                          <a:latin typeface="Hiragino Sans"/>
                          <a:ea typeface="Hiragino Sans"/>
                          <a:cs typeface="Hiragino Sans"/>
                        </a:rPr>
                        <a:t>計算時間</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Random Forest 200本、d={8,14,20}, C=3〜10、各条件10 seeds、説明点4件</a:t>
                      </a:r>
                    </a:p>
                  </a:txBody>
                  <a:tcPr marL="114300" marR="114300" marT="57150" marB="57150" anchor="ctr"/>
                </a:tc>
              </a:tr>
              <a:tr h="514350">
                <a:tc>
                  <a:txBody>
                    <a:bodyPr/>
                    <a:lstStyle/>
                    <a:p>
                      <a:r>
                        <a:rPr sz="1125" b="1">
                          <a:solidFill>
                            <a:srgbClr val="1479C9"/>
                          </a:solidFill>
                          <a:latin typeface="Hiragino Sans"/>
                          <a:ea typeface="Hiragino Sans"/>
                          <a:cs typeface="Hiragino Sans"/>
                        </a:rPr>
                        <a:t>説明対象</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各入力における予測確率Top-1とTop-2。確率差が小さい点を優先</a:t>
                      </a:r>
                    </a:p>
                  </a:txBody>
                  <a:tcPr marL="114300" marR="114300" marT="57150" marB="57150" anchor="ctr">
                    <a:solidFill>
                      <a:srgbClr val="FBFCFE"/>
                    </a:solidFill>
                  </a:tcPr>
                </a:tc>
              </a:tr>
              <a:tr h="514350">
                <a:tc>
                  <a:txBody>
                    <a:bodyPr/>
                    <a:lstStyle/>
                    <a:p>
                      <a:r>
                        <a:rPr sz="1125" b="1">
                          <a:solidFill>
                            <a:srgbClr val="1479C9"/>
                          </a:solidFill>
                          <a:latin typeface="Hiragino Sans"/>
                          <a:ea typeface="Hiragino Sans"/>
                          <a:cs typeface="Hiragino Sans"/>
                        </a:rPr>
                        <a:t>摂動と局所重み</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各説明点でGaussian摂動300点。特徴標準偏差と指数カーネルを全手法で共有</a:t>
                      </a:r>
                    </a:p>
                  </a:txBody>
                  <a:tcPr marL="114300" marR="114300" marT="57150" marB="57150" anchor="ctr"/>
                </a:tc>
              </a:tr>
              <a:tr h="514350">
                <a:tc>
                  <a:txBody>
                    <a:bodyPr/>
                    <a:lstStyle/>
                    <a:p>
                      <a:r>
                        <a:rPr sz="1125" b="1">
                          <a:solidFill>
                            <a:srgbClr val="1479C9"/>
                          </a:solidFill>
                          <a:latin typeface="Hiragino Sans"/>
                          <a:ea typeface="Hiragino Sans"/>
                          <a:cs typeface="Hiragino Sans"/>
                        </a:rPr>
                        <a:t>特徴選択</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関連性・時間実験では同じK。Lasso pathで選択後、選択特徴だけで最終再fit</a:t>
                      </a:r>
                    </a:p>
                  </a:txBody>
                  <a:tcPr marL="114300" marR="114300" marT="57150" marB="57150" anchor="ctr">
                    <a:solidFill>
                      <a:srgbClr val="FBFCFE"/>
                    </a:solidFill>
                  </a:tcPr>
                </a:tc>
              </a:tr>
              <a:tr h="514350">
                <a:tc>
                  <a:txBody>
                    <a:bodyPr/>
                    <a:lstStyle/>
                    <a:p>
                      <a:r>
                        <a:rPr sz="1125" b="1">
                          <a:solidFill>
                            <a:srgbClr val="1479C9"/>
                          </a:solidFill>
                          <a:latin typeface="Hiragino Sans"/>
                          <a:ea typeface="Hiragino Sans"/>
                          <a:cs typeface="Hiragino Sans"/>
                        </a:rPr>
                        <a:t>サロゲート</a:t>
                      </a:r>
                    </a:p>
                  </a:txBody>
                  <a:tcPr marL="114300" marR="114300" marT="57150" marB="57150" anchor="ctr">
                    <a:solidFill>
                      <a:srgbClr val="EAF4FB"/>
                    </a:solidFill>
                  </a:tcPr>
                </a:tc>
                <a:tc>
                  <a:txBody>
                    <a:bodyPr/>
                    <a:lstStyle/>
                    <a:p>
                      <a:r>
                        <a:rPr sz="1125">
                          <a:solidFill>
                            <a:srgbClr val="17233D"/>
                          </a:solidFill>
                          <a:latin typeface="Hiragino Sans"/>
                          <a:ea typeface="Hiragino Sans"/>
                          <a:cs typeface="Hiragino Sans"/>
                        </a:rPr>
                        <a:t>Ridge α=1.0、Logistic C=1.0。乱数も各条件内で手法間共有</a:t>
                      </a:r>
                    </a:p>
                  </a:txBody>
                  <a:tcPr marL="114300" marR="114300" marT="57150" marB="57150" anchor="ctr"/>
                </a:tc>
              </a:tr>
            </a:tbl>
          </a:graphicData>
        </a:graphic>
      </p:graphicFrame>
      <p:sp>
        <p:nvSpPr>
          <p:cNvPr id="6" name="正方形/長方形 5">
            <a:extLst xmlns:a="http://schemas.openxmlformats.org/drawingml/2006/main">
              <a:ext uri="{FF2B5EF4-FFF2-40B4-BE49-F238E27FC236}">
                <a16:creationId xmlns:a16="http://schemas.microsoft.com/office/drawing/2014/main" id="{6630C5B1-6663-4CE6-B8B3-86FBD91D8289}"/>
              </a:ext>
            </a:extLst>
          </p:cNvPr>
          <p:cNvSpPr>
            <a:spLocks xmlns:a="http://schemas.openxmlformats.org/drawingml/2006/main" noGrp="1"/>
          </p:cNvSpPr>
          <p:nvPr/>
        </p:nvSpPr>
        <p:spPr>
          <a:xfrm xmlns:a="http://schemas.openxmlformats.org/drawingml/2006/main">
            <a:off x="762000" y="6067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F28C28"/>
                </a:solidFill>
                <a:latin typeface="Hiragino Sans"/>
                <a:ea typeface="Hiragino Sans"/>
                <a:cs typeface="Hiragino Sans"/>
              </a:defRPr>
            </a:pPr>
            <a:r>
              <a:rPr sz="1350" b="1">
                <a:solidFill>
                  <a:srgbClr val="F28C28"/>
                </a:solidFill>
                <a:latin typeface="Hiragino Sans"/>
                <a:ea typeface="Hiragino Sans"/>
                <a:cs typeface="Hiragino Sans"/>
              </a:rPr>
              <a:t>このスライドの主張：簡単な線形復元を避け、局所真値・未知摂動・計算時間で検証する</a:t>
            </a:r>
          </a:p>
        </p:txBody>
      </p:sp>
    </p:spTree>
    <p:extLst>
      <p:ext uri="{BB962C8B-B14F-4D97-AF65-F5344CB8AC3E}">
        <p14:creationId xmlns:p14="http://schemas.microsoft.com/office/powerpoint/2010/main" val="510226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accent-bar">
            <a:extLst xmlns:a="http://schemas.openxmlformats.org/drawingml/2006/main">
              <a:ext uri="{FF2B5EF4-FFF2-40B4-BE49-F238E27FC236}">
                <a16:creationId xmlns:a16="http://schemas.microsoft.com/office/drawing/2014/main" id="{F6480597-B976-48BD-9C34-28904E956980}"/>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title">
            <a:extLst xmlns:a="http://schemas.openxmlformats.org/drawingml/2006/main">
              <a:ext uri="{FF2B5EF4-FFF2-40B4-BE49-F238E27FC236}">
                <a16:creationId xmlns:a16="http://schemas.microsoft.com/office/drawing/2014/main" id="{9521B142-875D-4236-84E5-C55E4D5C0A2C}"/>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目次</a:t>
            </a:r>
          </a:p>
        </p:txBody>
      </p:sp>
      <p:sp>
        <p:nvSpPr>
          <p:cNvPr id="4" name="subtitle">
            <a:extLst xmlns:a="http://schemas.openxmlformats.org/drawingml/2006/main">
              <a:ext uri="{FF2B5EF4-FFF2-40B4-BE49-F238E27FC236}">
                <a16:creationId xmlns:a16="http://schemas.microsoft.com/office/drawing/2014/main" id="{5779E3BD-E642-47F8-B7EF-551F31247377}"/>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これから「実験結果・考察・まとめ」を話す</a:t>
            </a:r>
          </a:p>
        </p:txBody>
      </p:sp>
      <p:sp>
        <p:nvSpPr>
          <p:cNvPr id="5" name="footer-num">
            <a:extLst xmlns:a="http://schemas.openxmlformats.org/drawingml/2006/main">
              <a:ext uri="{FF2B5EF4-FFF2-40B4-BE49-F238E27FC236}">
                <a16:creationId xmlns:a16="http://schemas.microsoft.com/office/drawing/2014/main" id="{6B366388-6ED6-425E-B030-E7A68B27474D}"/>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17</a:t>
            </a:r>
          </a:p>
        </p:txBody>
      </p:sp>
      <p:sp>
        <p:nvSpPr>
          <p:cNvPr id="6" name="toc-num-0">
            <a:extLst xmlns:a="http://schemas.openxmlformats.org/drawingml/2006/main">
              <a:ext uri="{FF2B5EF4-FFF2-40B4-BE49-F238E27FC236}">
                <a16:creationId xmlns:a16="http://schemas.microsoft.com/office/drawing/2014/main" id="{3B78F9E1-FF8F-4F8E-8B4D-6BE4FB035599}"/>
              </a:ext>
            </a:extLst>
          </p:cNvPr>
          <p:cNvSpPr>
            <a:spLocks xmlns:a="http://schemas.openxmlformats.org/drawingml/2006/main" noGrp="1"/>
          </p:cNvSpPr>
          <p:nvPr/>
        </p:nvSpPr>
        <p:spPr>
          <a:xfrm xmlns:a="http://schemas.openxmlformats.org/drawingml/2006/main">
            <a:off x="1000000" y="11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01</a:t>
            </a:r>
          </a:p>
        </p:txBody>
      </p:sp>
      <p:sp>
        <p:nvSpPr>
          <p:cNvPr id="7" name="toc-title-0">
            <a:extLst xmlns:a="http://schemas.openxmlformats.org/drawingml/2006/main">
              <a:ext uri="{FF2B5EF4-FFF2-40B4-BE49-F238E27FC236}">
                <a16:creationId xmlns:a16="http://schemas.microsoft.com/office/drawing/2014/main" id="{A3BB720F-2FF9-49AC-A057-4D9336BB473E}"/>
              </a:ext>
            </a:extLst>
          </p:cNvPr>
          <p:cNvSpPr>
            <a:spLocks xmlns:a="http://schemas.openxmlformats.org/drawingml/2006/main" noGrp="1"/>
          </p:cNvSpPr>
          <p:nvPr/>
        </p:nvSpPr>
        <p:spPr>
          <a:xfrm xmlns:a="http://schemas.openxmlformats.org/drawingml/2006/main">
            <a:off x="2100000" y="13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導入・LIMEの基礎</a:t>
            </a:r>
          </a:p>
        </p:txBody>
      </p:sp>
      <p:sp>
        <p:nvSpPr>
          <p:cNvPr id="8" name="toc-desc-0">
            <a:extLst xmlns:a="http://schemas.openxmlformats.org/drawingml/2006/main">
              <a:ext uri="{FF2B5EF4-FFF2-40B4-BE49-F238E27FC236}">
                <a16:creationId xmlns:a16="http://schemas.microsoft.com/office/drawing/2014/main" id="{2FDD5AC6-92CC-401F-BABF-0537E08D9F2C}"/>
              </a:ext>
            </a:extLst>
          </p:cNvPr>
          <p:cNvSpPr>
            <a:spLocks xmlns:a="http://schemas.openxmlformats.org/drawingml/2006/main" noGrp="1"/>
          </p:cNvSpPr>
          <p:nvPr/>
        </p:nvSpPr>
        <p:spPr>
          <a:xfrm xmlns:a="http://schemas.openxmlformats.org/drawingml/2006/main">
            <a:off x="2100000" y="17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XAIとLIMEの仕組み、局所説明の考え方を確認する</a:t>
            </a:r>
          </a:p>
        </p:txBody>
      </p:sp>
      <p:sp>
        <p:nvSpPr>
          <p:cNvPr id="9" name="toc-pages-0">
            <a:extLst xmlns:a="http://schemas.openxmlformats.org/drawingml/2006/main">
              <a:ext uri="{FF2B5EF4-FFF2-40B4-BE49-F238E27FC236}">
                <a16:creationId xmlns:a16="http://schemas.microsoft.com/office/drawing/2014/main" id="{1F48F551-62CA-41A9-8AC1-BFD59F812E8E}"/>
              </a:ext>
            </a:extLst>
          </p:cNvPr>
          <p:cNvSpPr>
            <a:spLocks xmlns:a="http://schemas.openxmlformats.org/drawingml/2006/main" noGrp="1"/>
          </p:cNvSpPr>
          <p:nvPr/>
        </p:nvSpPr>
        <p:spPr>
          <a:xfrm xmlns:a="http://schemas.openxmlformats.org/drawingml/2006/main">
            <a:off x="9700000" y="11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p.03-06</a:t>
            </a:r>
          </a:p>
        </p:txBody>
      </p:sp>
      <p:sp>
        <p:nvSpPr>
          <p:cNvPr id="10" name="toc-num-1">
            <a:extLst xmlns:a="http://schemas.openxmlformats.org/drawingml/2006/main">
              <a:ext uri="{FF2B5EF4-FFF2-40B4-BE49-F238E27FC236}">
                <a16:creationId xmlns:a16="http://schemas.microsoft.com/office/drawing/2014/main" id="{B5BA029C-3E74-4C09-94D4-F1AFFEDCFD37}"/>
              </a:ext>
            </a:extLst>
          </p:cNvPr>
          <p:cNvSpPr>
            <a:spLocks xmlns:a="http://schemas.openxmlformats.org/drawingml/2006/main" noGrp="1"/>
          </p:cNvSpPr>
          <p:nvPr/>
        </p:nvSpPr>
        <p:spPr>
          <a:xfrm xmlns:a="http://schemas.openxmlformats.org/drawingml/2006/main">
            <a:off x="1000000" y="23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02</a:t>
            </a:r>
          </a:p>
        </p:txBody>
      </p:sp>
      <p:sp>
        <p:nvSpPr>
          <p:cNvPr id="11" name="toc-title-1">
            <a:extLst xmlns:a="http://schemas.openxmlformats.org/drawingml/2006/main">
              <a:ext uri="{FF2B5EF4-FFF2-40B4-BE49-F238E27FC236}">
                <a16:creationId xmlns:a16="http://schemas.microsoft.com/office/drawing/2014/main" id="{61FB99D8-EBDB-4B50-A0A1-BFD50CDD6655}"/>
              </a:ext>
            </a:extLst>
          </p:cNvPr>
          <p:cNvSpPr>
            <a:spLocks xmlns:a="http://schemas.openxmlformats.org/drawingml/2006/main" noGrp="1"/>
          </p:cNvSpPr>
          <p:nvPr/>
        </p:nvSpPr>
        <p:spPr>
          <a:xfrm xmlns:a="http://schemas.openxmlformats.org/drawingml/2006/main">
            <a:off x="2100000" y="24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多クラスLIMEの課題と関連研究</a:t>
            </a:r>
          </a:p>
        </p:txBody>
      </p:sp>
      <p:sp>
        <p:nvSpPr>
          <p:cNvPr id="12" name="toc-desc-1">
            <a:extLst xmlns:a="http://schemas.openxmlformats.org/drawingml/2006/main">
              <a:ext uri="{FF2B5EF4-FFF2-40B4-BE49-F238E27FC236}">
                <a16:creationId xmlns:a16="http://schemas.microsoft.com/office/drawing/2014/main" id="{17D3A7C3-5F26-4A6C-9185-9497B570587C}"/>
              </a:ext>
            </a:extLst>
          </p:cNvPr>
          <p:cNvSpPr>
            <a:spLocks xmlns:a="http://schemas.openxmlformats.org/drawingml/2006/main" noGrp="1"/>
          </p:cNvSpPr>
          <p:nvPr/>
        </p:nvSpPr>
        <p:spPr>
          <a:xfrm xmlns:a="http://schemas.openxmlformats.org/drawingml/2006/main">
            <a:off x="2100000" y="29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one-vs-rest型の限界と、LIMEtreeなど関連手法を整理する</a:t>
            </a:r>
          </a:p>
        </p:txBody>
      </p:sp>
      <p:sp>
        <p:nvSpPr>
          <p:cNvPr id="13" name="toc-pages-1">
            <a:extLst xmlns:a="http://schemas.openxmlformats.org/drawingml/2006/main">
              <a:ext uri="{FF2B5EF4-FFF2-40B4-BE49-F238E27FC236}">
                <a16:creationId xmlns:a16="http://schemas.microsoft.com/office/drawing/2014/main" id="{866E9E7B-FE1E-4605-A750-95DF54D87165}"/>
              </a:ext>
            </a:extLst>
          </p:cNvPr>
          <p:cNvSpPr>
            <a:spLocks xmlns:a="http://schemas.openxmlformats.org/drawingml/2006/main" noGrp="1"/>
          </p:cNvSpPr>
          <p:nvPr/>
        </p:nvSpPr>
        <p:spPr>
          <a:xfrm xmlns:a="http://schemas.openxmlformats.org/drawingml/2006/main">
            <a:off x="9700000" y="23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p.08-12</a:t>
            </a:r>
          </a:p>
        </p:txBody>
      </p:sp>
      <p:sp>
        <p:nvSpPr>
          <p:cNvPr id="14" name="toc-num-2">
            <a:extLst xmlns:a="http://schemas.openxmlformats.org/drawingml/2006/main">
              <a:ext uri="{FF2B5EF4-FFF2-40B4-BE49-F238E27FC236}">
                <a16:creationId xmlns:a16="http://schemas.microsoft.com/office/drawing/2014/main" id="{44FCD5B5-4128-4384-B79D-4EEA5E887D2B}"/>
              </a:ext>
            </a:extLst>
          </p:cNvPr>
          <p:cNvSpPr>
            <a:spLocks xmlns:a="http://schemas.openxmlformats.org/drawingml/2006/main" noGrp="1"/>
          </p:cNvSpPr>
          <p:nvPr/>
        </p:nvSpPr>
        <p:spPr>
          <a:xfrm xmlns:a="http://schemas.openxmlformats.org/drawingml/2006/main">
            <a:off x="1000000" y="349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CBD5E1"/>
                </a:solidFill>
                <a:latin typeface="Hiragino Sans"/>
                <a:ea typeface="Hiragino Sans"/>
                <a:cs typeface="Hiragino Sans"/>
              </a:defRPr>
            </a:pPr>
            <a:r>
              <a:rPr sz="3600" b="1">
                <a:solidFill>
                  <a:srgbClr val="CBD5E1"/>
                </a:solidFill>
                <a:latin typeface="Hiragino Sans"/>
                <a:ea typeface="Hiragino Sans"/>
                <a:cs typeface="Hiragino Sans"/>
              </a:rPr>
              <a:t>03</a:t>
            </a:r>
          </a:p>
        </p:txBody>
      </p:sp>
      <p:sp>
        <p:nvSpPr>
          <p:cNvPr id="15" name="toc-title-2">
            <a:extLst xmlns:a="http://schemas.openxmlformats.org/drawingml/2006/main">
              <a:ext uri="{FF2B5EF4-FFF2-40B4-BE49-F238E27FC236}">
                <a16:creationId xmlns:a16="http://schemas.microsoft.com/office/drawing/2014/main" id="{2C8FC8B1-9A74-4119-A24D-4DD45654F4CD}"/>
              </a:ext>
            </a:extLst>
          </p:cNvPr>
          <p:cNvSpPr>
            <a:spLocks xmlns:a="http://schemas.openxmlformats.org/drawingml/2006/main" noGrp="1"/>
          </p:cNvSpPr>
          <p:nvPr/>
        </p:nvSpPr>
        <p:spPr>
          <a:xfrm xmlns:a="http://schemas.openxmlformats.org/drawingml/2006/main">
            <a:off x="2100000" y="360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94A3B8"/>
                </a:solidFill>
                <a:latin typeface="Hiragino Sans"/>
                <a:ea typeface="Hiragino Sans"/>
                <a:cs typeface="Hiragino Sans"/>
              </a:defRPr>
            </a:pPr>
            <a:r>
              <a:rPr sz="1900" b="1">
                <a:solidFill>
                  <a:srgbClr val="94A3B8"/>
                </a:solidFill>
                <a:latin typeface="Hiragino Sans"/>
                <a:ea typeface="Hiragino Sans"/>
                <a:cs typeface="Hiragino Sans"/>
              </a:rPr>
              <a:t>提案手法・評価設計</a:t>
            </a:r>
          </a:p>
        </p:txBody>
      </p:sp>
      <p:sp>
        <p:nvSpPr>
          <p:cNvPr id="16" name="toc-desc-2">
            <a:extLst xmlns:a="http://schemas.openxmlformats.org/drawingml/2006/main">
              <a:ext uri="{FF2B5EF4-FFF2-40B4-BE49-F238E27FC236}">
                <a16:creationId xmlns:a16="http://schemas.microsoft.com/office/drawing/2014/main" id="{178346CC-FD8C-4BF6-B41B-A0EADB067DE2}"/>
              </a:ext>
            </a:extLst>
          </p:cNvPr>
          <p:cNvSpPr>
            <a:spLocks xmlns:a="http://schemas.openxmlformats.org/drawingml/2006/main" noGrp="1"/>
          </p:cNvSpPr>
          <p:nvPr/>
        </p:nvSpPr>
        <p:spPr>
          <a:xfrm xmlns:a="http://schemas.openxmlformats.org/drawingml/2006/main">
            <a:off x="2100000" y="407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CBD5E1"/>
                </a:solidFill>
                <a:latin typeface="Hiragino Sans"/>
                <a:ea typeface="Hiragino Sans"/>
                <a:cs typeface="Hiragino Sans"/>
              </a:defRPr>
            </a:pPr>
            <a:r>
              <a:rPr sz="1250" b="0">
                <a:solidFill>
                  <a:srgbClr val="CBD5E1"/>
                </a:solidFill>
                <a:latin typeface="Hiragino Sans"/>
                <a:ea typeface="Hiragino Sans"/>
                <a:cs typeface="Hiragino Sans"/>
              </a:rPr>
              <a:t>Top-1/Top-2に絞る提案と、比較のための評価設計を示す</a:t>
            </a:r>
          </a:p>
        </p:txBody>
      </p:sp>
      <p:sp>
        <p:nvSpPr>
          <p:cNvPr id="17" name="toc-pages-2">
            <a:extLst xmlns:a="http://schemas.openxmlformats.org/drawingml/2006/main">
              <a:ext uri="{FF2B5EF4-FFF2-40B4-BE49-F238E27FC236}">
                <a16:creationId xmlns:a16="http://schemas.microsoft.com/office/drawing/2014/main" id="{E3326CB3-15DC-4C5D-8416-82BFED1177DF}"/>
              </a:ext>
            </a:extLst>
          </p:cNvPr>
          <p:cNvSpPr>
            <a:spLocks xmlns:a="http://schemas.openxmlformats.org/drawingml/2006/main" noGrp="1"/>
          </p:cNvSpPr>
          <p:nvPr/>
        </p:nvSpPr>
        <p:spPr>
          <a:xfrm xmlns:a="http://schemas.openxmlformats.org/drawingml/2006/main">
            <a:off x="9700000" y="349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CBD5E1"/>
                </a:solidFill>
                <a:latin typeface="Hiragino Sans"/>
                <a:ea typeface="Hiragino Sans"/>
                <a:cs typeface="Hiragino Sans"/>
              </a:defRPr>
            </a:pPr>
            <a:r>
              <a:rPr sz="1300" b="1">
                <a:solidFill>
                  <a:srgbClr val="CBD5E1"/>
                </a:solidFill>
                <a:latin typeface="Hiragino Sans"/>
                <a:ea typeface="Hiragino Sans"/>
                <a:cs typeface="Hiragino Sans"/>
              </a:rPr>
              <a:t>p.14-16</a:t>
            </a:r>
          </a:p>
        </p:txBody>
      </p:sp>
      <p:sp>
        <p:nvSpPr>
          <p:cNvPr id="18" name="toc-row-bg-3">
            <a:extLst xmlns:a="http://schemas.openxmlformats.org/drawingml/2006/main">
              <a:ext uri="{FF2B5EF4-FFF2-40B4-BE49-F238E27FC236}">
                <a16:creationId xmlns:a16="http://schemas.microsoft.com/office/drawing/2014/main" id="{9A8852A8-D0C6-4369-9C06-8EDC9183801E}"/>
              </a:ext>
            </a:extLst>
          </p:cNvPr>
          <p:cNvSpPr>
            <a:spLocks xmlns:a="http://schemas.openxmlformats.org/drawingml/2006/main" noGrp="1"/>
          </p:cNvSpPr>
          <p:nvPr/>
        </p:nvSpPr>
        <p:spPr>
          <a:xfrm xmlns:a="http://schemas.openxmlformats.org/drawingml/2006/main">
            <a:off x="762000" y="4640000"/>
            <a:ext cx="10668000" cy="1070000"/>
          </a:xfrm>
          <a:prstGeom xmlns:a="http://schemas.openxmlformats.org/drawingml/2006/main" prst="roundRect">
            <a:avLst>
              <a:gd name="adj" fmla="val 8000"/>
            </a:avLst>
          </a:prstGeom>
          <a:solidFill xmlns:a="http://schemas.openxmlformats.org/drawingml/2006/main">
            <a:srgbClr val="EAF4F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toc-row-accent-3">
            <a:extLst xmlns:a="http://schemas.openxmlformats.org/drawingml/2006/main">
              <a:ext uri="{FF2B5EF4-FFF2-40B4-BE49-F238E27FC236}">
                <a16:creationId xmlns:a16="http://schemas.microsoft.com/office/drawing/2014/main" id="{DA1C0150-9BF5-48BC-AFA5-4D61108663B4}"/>
              </a:ext>
            </a:extLst>
          </p:cNvPr>
          <p:cNvSpPr>
            <a:spLocks xmlns:a="http://schemas.openxmlformats.org/drawingml/2006/main" noGrp="1"/>
          </p:cNvSpPr>
          <p:nvPr/>
        </p:nvSpPr>
        <p:spPr>
          <a:xfrm xmlns:a="http://schemas.openxmlformats.org/drawingml/2006/main">
            <a:off x="762000" y="4640000"/>
            <a:ext cx="76200" cy="1070000"/>
          </a:xfrm>
          <a:prstGeom xmlns:a="http://schemas.openxmlformats.org/drawingml/2006/main" prst="rect">
            <a:avLst/>
          </a:prstGeom>
          <a:solidFill xmlns:a="http://schemas.openxmlformats.org/drawingml/2006/main">
            <a:srgbClr val="1479C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toc-num-3">
            <a:extLst xmlns:a="http://schemas.openxmlformats.org/drawingml/2006/main">
              <a:ext uri="{FF2B5EF4-FFF2-40B4-BE49-F238E27FC236}">
                <a16:creationId xmlns:a16="http://schemas.microsoft.com/office/drawing/2014/main" id="{111D57DB-FA03-4DED-8405-41B1391D3FFB}"/>
              </a:ext>
            </a:extLst>
          </p:cNvPr>
          <p:cNvSpPr>
            <a:spLocks xmlns:a="http://schemas.openxmlformats.org/drawingml/2006/main" noGrp="1"/>
          </p:cNvSpPr>
          <p:nvPr/>
        </p:nvSpPr>
        <p:spPr>
          <a:xfrm xmlns:a="http://schemas.openxmlformats.org/drawingml/2006/main">
            <a:off x="1000000" y="4640000"/>
            <a:ext cx="90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3600" b="1">
                <a:solidFill>
                  <a:srgbClr val="1479C9"/>
                </a:solidFill>
                <a:latin typeface="Hiragino Sans"/>
                <a:ea typeface="Hiragino Sans"/>
                <a:cs typeface="Hiragino Sans"/>
              </a:defRPr>
            </a:pPr>
            <a:r>
              <a:rPr sz="3600" b="1">
                <a:solidFill>
                  <a:srgbClr val="1479C9"/>
                </a:solidFill>
                <a:latin typeface="Hiragino Sans"/>
                <a:ea typeface="Hiragino Sans"/>
                <a:cs typeface="Hiragino Sans"/>
              </a:rPr>
              <a:t>04</a:t>
            </a:r>
          </a:p>
        </p:txBody>
      </p:sp>
      <p:sp>
        <p:nvSpPr>
          <p:cNvPr id="21" name="toc-title-3">
            <a:extLst xmlns:a="http://schemas.openxmlformats.org/drawingml/2006/main">
              <a:ext uri="{FF2B5EF4-FFF2-40B4-BE49-F238E27FC236}">
                <a16:creationId xmlns:a16="http://schemas.microsoft.com/office/drawing/2014/main" id="{8642D2C1-6E45-4129-BC69-8A8249D719D6}"/>
              </a:ext>
            </a:extLst>
          </p:cNvPr>
          <p:cNvSpPr>
            <a:spLocks xmlns:a="http://schemas.openxmlformats.org/drawingml/2006/main" noGrp="1"/>
          </p:cNvSpPr>
          <p:nvPr/>
        </p:nvSpPr>
        <p:spPr>
          <a:xfrm xmlns:a="http://schemas.openxmlformats.org/drawingml/2006/main">
            <a:off x="2100000" y="4750000"/>
            <a:ext cx="7300000" cy="45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00" b="1">
                <a:solidFill>
                  <a:srgbClr val="17233D"/>
                </a:solidFill>
                <a:latin typeface="Hiragino Sans"/>
                <a:ea typeface="Hiragino Sans"/>
                <a:cs typeface="Hiragino Sans"/>
              </a:defRPr>
            </a:pPr>
            <a:r>
              <a:rPr sz="1900" b="1">
                <a:solidFill>
                  <a:srgbClr val="17233D"/>
                </a:solidFill>
                <a:latin typeface="Hiragino Sans"/>
                <a:ea typeface="Hiragino Sans"/>
                <a:cs typeface="Hiragino Sans"/>
              </a:rPr>
              <a:t>実験結果・考察・まとめ</a:t>
            </a:r>
          </a:p>
        </p:txBody>
      </p:sp>
      <p:sp>
        <p:nvSpPr>
          <p:cNvPr id="22" name="toc-desc-3">
            <a:extLst xmlns:a="http://schemas.openxmlformats.org/drawingml/2006/main">
              <a:ext uri="{FF2B5EF4-FFF2-40B4-BE49-F238E27FC236}">
                <a16:creationId xmlns:a16="http://schemas.microsoft.com/office/drawing/2014/main" id="{C76D3025-7A29-439D-ACE3-451159EE5F93}"/>
              </a:ext>
            </a:extLst>
          </p:cNvPr>
          <p:cNvSpPr>
            <a:spLocks xmlns:a="http://schemas.openxmlformats.org/drawingml/2006/main" noGrp="1"/>
          </p:cNvSpPr>
          <p:nvPr/>
        </p:nvSpPr>
        <p:spPr>
          <a:xfrm xmlns:a="http://schemas.openxmlformats.org/drawingml/2006/main">
            <a:off x="2100000" y="5220000"/>
            <a:ext cx="7300000" cy="40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50" b="0">
                <a:solidFill>
                  <a:srgbClr val="687386"/>
                </a:solidFill>
                <a:latin typeface="Hiragino Sans"/>
                <a:ea typeface="Hiragino Sans"/>
                <a:cs typeface="Hiragino Sans"/>
              </a:defRPr>
            </a:pPr>
            <a:r>
              <a:rPr sz="1250" b="0">
                <a:solidFill>
                  <a:srgbClr val="687386"/>
                </a:solidFill>
                <a:latin typeface="Hiragino Sans"/>
                <a:ea typeface="Hiragino Sans"/>
                <a:cs typeface="Hiragino Sans"/>
              </a:rPr>
              <a:t>実験結果を確認し、言えること・言えないことを整理する</a:t>
            </a:r>
          </a:p>
        </p:txBody>
      </p:sp>
      <p:sp>
        <p:nvSpPr>
          <p:cNvPr id="23" name="toc-pages-3">
            <a:extLst xmlns:a="http://schemas.openxmlformats.org/drawingml/2006/main">
              <a:ext uri="{FF2B5EF4-FFF2-40B4-BE49-F238E27FC236}">
                <a16:creationId xmlns:a16="http://schemas.microsoft.com/office/drawing/2014/main" id="{3EF92D40-76E5-431C-A46B-78BA5FBF8510}"/>
              </a:ext>
            </a:extLst>
          </p:cNvPr>
          <p:cNvSpPr>
            <a:spLocks xmlns:a="http://schemas.openxmlformats.org/drawingml/2006/main" noGrp="1"/>
          </p:cNvSpPr>
          <p:nvPr/>
        </p:nvSpPr>
        <p:spPr>
          <a:xfrm xmlns:a="http://schemas.openxmlformats.org/drawingml/2006/main">
            <a:off x="9700000" y="4640000"/>
            <a:ext cx="1230000" cy="1070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buNone/>
              <a:defRPr sz="1300" b="1">
                <a:solidFill>
                  <a:srgbClr val="1479C9"/>
                </a:solidFill>
                <a:latin typeface="Hiragino Sans"/>
                <a:ea typeface="Hiragino Sans"/>
                <a:cs typeface="Hiragino Sans"/>
              </a:defRPr>
            </a:pPr>
            <a:r>
              <a:rPr sz="1300" b="1">
                <a:solidFill>
                  <a:srgbClr val="1479C9"/>
                </a:solidFill>
                <a:latin typeface="Hiragino Sans"/>
                <a:ea typeface="Hiragino Sans"/>
                <a:cs typeface="Hiragino Sans"/>
              </a:rPr>
              <a:t>p.18-21</a:t>
            </a:r>
          </a:p>
        </p:txBody>
      </p:sp>
    </p:spTree>
    <p:extLst>
      <p:ext uri="{BB962C8B-B14F-4D97-AF65-F5344CB8AC3E}">
        <p14:creationId xmlns:p14="http://schemas.microsoft.com/office/powerpoint/2010/main" val="321654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6021A5-FB3E-4B79-A6F8-B7DCE6EB2CCC}"/>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AF003A-2CC4-4ABE-91AE-27EE07AEF5D2}"/>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結果1：真の局所特徴を選べるか</a:t>
            </a:r>
          </a:p>
        </p:txBody>
      </p:sp>
      <p:sp>
        <p:nvSpPr>
          <p:cNvPr id="3" name="">
            <a:extLst xmlns:a="http://schemas.openxmlformats.org/drawingml/2006/main">
              <a:ext uri="{FF2B5EF4-FFF2-40B4-BE49-F238E27FC236}">
                <a16:creationId xmlns:a16="http://schemas.microsoft.com/office/drawing/2014/main" id="{9034DE62-E9A9-447A-9459-919E802B499D}"/>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非線形・相関・ノイズを含む30次元BB。各点の真のA/B勾配Top-5を数値計算</a:t>
            </a:r>
          </a:p>
        </p:txBody>
      </p:sp>
      <p:sp>
        <p:nvSpPr>
          <p:cNvPr id="4" name="">
            <a:extLst xmlns:a="http://schemas.openxmlformats.org/drawingml/2006/main">
              <a:ext uri="{FF2B5EF4-FFF2-40B4-BE49-F238E27FC236}">
                <a16:creationId xmlns:a16="http://schemas.microsoft.com/office/drawing/2014/main" id="{E6FB5D6B-B5F5-4344-A563-047DD0AEB8CC}"/>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18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bad50eaeb3e47a3"/>
          <a:stretch xmlns:a="http://schemas.openxmlformats.org/drawingml/2006/main"/>
        </p:blipFill>
        <p:spPr>
          <a:xfrm xmlns:a="http://schemas.openxmlformats.org/drawingml/2006/main">
            <a:off x="523875" y="1537841"/>
            <a:ext cx="8524875" cy="357276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20073FC-A068-493B-9184-36B6599D264B}"/>
              </a:ext>
            </a:extLst>
          </p:cNvPr>
          <p:cNvSpPr>
            <a:spLocks xmlns:a="http://schemas.openxmlformats.org/drawingml/2006/main" noGrp="1"/>
          </p:cNvSpPr>
          <p:nvPr/>
        </p:nvSpPr>
        <p:spPr>
          <a:xfrm xmlns:a="http://schemas.openxmlformats.org/drawingml/2006/main">
            <a:off x="9220200" y="1352550"/>
            <a:ext cx="2305050" cy="1162050"/>
          </a:xfrm>
          <a:prstGeom xmlns:a="http://schemas.openxmlformats.org/drawingml/2006/main" prst="roundRect">
            <a:avLst>
              <a:gd name="adj" fmla="val 6557"/>
            </a:avLst>
          </a:prstGeom>
          <a:solidFill xmlns:a="http://schemas.openxmlformats.org/drawingml/2006/main">
            <a:srgbClr val="F7F9FC"/>
          </a:solidFill>
          <a:ln xmlns:a="http://schemas.openxmlformats.org/drawingml/2006/main" w="9525">
            <a:solidFill>
              <a:srgbClr val="E7EBF0"/>
            </a:solidFill>
          </a:ln>
        </p:spPr>
      </p:sp>
      <p:sp>
        <p:nvSpPr>
          <p:cNvPr id="7" name="">
            <a:extLst xmlns:a="http://schemas.openxmlformats.org/drawingml/2006/main">
              <a:ext uri="{FF2B5EF4-FFF2-40B4-BE49-F238E27FC236}">
                <a16:creationId xmlns:a16="http://schemas.microsoft.com/office/drawing/2014/main" id="{AA5A21CE-4DAF-4C05-9568-C0E74A110E0E}"/>
              </a:ext>
            </a:extLst>
          </p:cNvPr>
          <p:cNvSpPr>
            <a:spLocks xmlns:a="http://schemas.openxmlformats.org/drawingml/2006/main" noGrp="1"/>
          </p:cNvSpPr>
          <p:nvPr/>
        </p:nvSpPr>
        <p:spPr>
          <a:xfrm xmlns:a="http://schemas.openxmlformats.org/drawingml/2006/main">
            <a:off x="9391650" y="146685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687386"/>
                </a:solidFill>
                <a:latin typeface="Hiragino Sans"/>
                <a:ea typeface="Hiragino Sans"/>
                <a:cs typeface="Hiragino Sans"/>
              </a:defRPr>
            </a:pPr>
            <a:r>
              <a:rPr sz="1350" b="1">
                <a:solidFill>
                  <a:srgbClr val="687386"/>
                </a:solidFill>
                <a:latin typeface="Hiragino Sans"/>
                <a:ea typeface="Hiragino Sans"/>
                <a:cs typeface="Hiragino Sans"/>
              </a:rPr>
              <a:t>全条件平均</a:t>
            </a:r>
          </a:p>
        </p:txBody>
      </p:sp>
      <p:sp>
        <p:nvSpPr>
          <p:cNvPr id="8" name="">
            <a:extLst xmlns:a="http://schemas.openxmlformats.org/drawingml/2006/main">
              <a:ext uri="{FF2B5EF4-FFF2-40B4-BE49-F238E27FC236}">
                <a16:creationId xmlns:a16="http://schemas.microsoft.com/office/drawing/2014/main" id="{42195F54-3AAC-4555-A421-85573DDFDB0A}"/>
              </a:ext>
            </a:extLst>
          </p:cNvPr>
          <p:cNvSpPr>
            <a:spLocks xmlns:a="http://schemas.openxmlformats.org/drawingml/2006/main" noGrp="1"/>
          </p:cNvSpPr>
          <p:nvPr/>
        </p:nvSpPr>
        <p:spPr>
          <a:xfrm xmlns:a="http://schemas.openxmlformats.org/drawingml/2006/main">
            <a:off x="9391650" y="1809750"/>
            <a:ext cx="1962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687386"/>
                </a:solidFill>
                <a:latin typeface="Hiragino Sans"/>
                <a:ea typeface="Hiragino Sans"/>
                <a:cs typeface="Hiragino Sans"/>
              </a:defRPr>
            </a:pPr>
            <a:r>
              <a:rPr sz="2025" b="1">
                <a:solidFill>
                  <a:srgbClr val="687386"/>
                </a:solidFill>
                <a:latin typeface="Hiragino Sans"/>
                <a:ea typeface="Hiragino Sans"/>
                <a:cs typeface="Hiragino Sans"/>
              </a:rPr>
              <a:t>OVR  0.820</a:t>
            </a:r>
          </a:p>
        </p:txBody>
      </p:sp>
      <p:sp>
        <p:nvSpPr>
          <p:cNvPr id="9" name="">
            <a:extLst xmlns:a="http://schemas.openxmlformats.org/drawingml/2006/main">
              <a:ext uri="{FF2B5EF4-FFF2-40B4-BE49-F238E27FC236}">
                <a16:creationId xmlns:a16="http://schemas.microsoft.com/office/drawing/2014/main" id="{4D28DE9F-8CA4-4F70-AAD2-3106582FD7A9}"/>
              </a:ext>
            </a:extLst>
          </p:cNvPr>
          <p:cNvSpPr>
            <a:spLocks xmlns:a="http://schemas.openxmlformats.org/drawingml/2006/main" noGrp="1"/>
          </p:cNvSpPr>
          <p:nvPr/>
        </p:nvSpPr>
        <p:spPr>
          <a:xfrm xmlns:a="http://schemas.openxmlformats.org/drawingml/2006/main">
            <a:off x="9220200" y="2705100"/>
            <a:ext cx="2305050" cy="1219200"/>
          </a:xfrm>
          <a:prstGeom xmlns:a="http://schemas.openxmlformats.org/drawingml/2006/main" prst="roundRect">
            <a:avLst>
              <a:gd name="adj" fmla="val 6250"/>
            </a:avLst>
          </a:prstGeom>
          <a:solidFill xmlns:a="http://schemas.openxmlformats.org/drawingml/2006/main">
            <a:srgbClr val="EAF4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582CB9E-AC87-4447-9DEE-52219695FAB9}"/>
              </a:ext>
            </a:extLst>
          </p:cNvPr>
          <p:cNvSpPr>
            <a:spLocks xmlns:a="http://schemas.openxmlformats.org/drawingml/2006/main" noGrp="1"/>
          </p:cNvSpPr>
          <p:nvPr/>
        </p:nvSpPr>
        <p:spPr>
          <a:xfrm xmlns:a="http://schemas.openxmlformats.org/drawingml/2006/main">
            <a:off x="9391650" y="287655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42"/>
          </a:bodyPr>
          <a:lstStyle xmlns:a="http://schemas.openxmlformats.org/drawingml/2006/main"/>
          <a:p xmlns:a="http://schemas.openxmlformats.org/drawingml/2006/main">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2クラス通常LIME  0.913</a:t>
            </a:r>
          </a:p>
          <a:p xmlns:a="http://schemas.openxmlformats.org/drawingml/2006/main">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Contrastive  0.926</a:t>
            </a:r>
          </a:p>
        </p:txBody>
      </p:sp>
      <p:sp>
        <p:nvSpPr>
          <p:cNvPr id="11" name="">
            <a:extLst xmlns:a="http://schemas.openxmlformats.org/drawingml/2006/main">
              <a:ext uri="{FF2B5EF4-FFF2-40B4-BE49-F238E27FC236}">
                <a16:creationId xmlns:a16="http://schemas.microsoft.com/office/drawing/2014/main" id="{E5FFD85C-C62F-4D75-9A3D-748A7CB033A2}"/>
              </a:ext>
            </a:extLst>
          </p:cNvPr>
          <p:cNvSpPr>
            <a:spLocks xmlns:a="http://schemas.openxmlformats.org/drawingml/2006/main" noGrp="1"/>
          </p:cNvSpPr>
          <p:nvPr/>
        </p:nvSpPr>
        <p:spPr>
          <a:xfrm xmlns:a="http://schemas.openxmlformats.org/drawingml/2006/main">
            <a:off x="9220200" y="4114800"/>
            <a:ext cx="2305050" cy="1266825"/>
          </a:xfrm>
          <a:prstGeom xmlns:a="http://schemas.openxmlformats.org/drawingml/2006/main" prst="roundRect">
            <a:avLst>
              <a:gd name="adj" fmla="val 6015"/>
            </a:avLst>
          </a:prstGeom>
          <a:solidFill xmlns:a="http://schemas.openxmlformats.org/drawingml/2006/main">
            <a:srgbClr val="FFF4D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60B63F0-6EB7-4201-8645-0857765B54AF}"/>
              </a:ext>
            </a:extLst>
          </p:cNvPr>
          <p:cNvSpPr>
            <a:spLocks xmlns:a="http://schemas.openxmlformats.org/drawingml/2006/main" noGrp="1"/>
          </p:cNvSpPr>
          <p:nvPr/>
        </p:nvSpPr>
        <p:spPr>
          <a:xfrm xmlns:a="http://schemas.openxmlformats.org/drawingml/2006/main">
            <a:off x="9391650" y="4305300"/>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28"/>
          </a:bodyPr>
          <a:lstStyle xmlns:a="http://schemas.openxmlformats.org/drawingml/2006/main"/>
          <a:p xmlns:a="http://schemas.openxmlformats.org/drawingml/2006/main">
            <a:pPr algn="ctr">
              <a:defRPr sz="1425" b="1">
                <a:solidFill>
                  <a:srgbClr val="2AA876"/>
                </a:solidFill>
                <a:latin typeface="Hiragino Sans"/>
                <a:ea typeface="Hiragino Sans"/>
                <a:cs typeface="Hiragino Sans"/>
              </a:defRPr>
            </a:pPr>
            <a:r>
              <a:rPr sz="1425" b="1">
                <a:solidFill>
                  <a:srgbClr val="2AA876"/>
                </a:solidFill>
                <a:latin typeface="Hiragino Sans"/>
                <a:ea typeface="Hiragino Sans"/>
                <a:cs typeface="Hiragino Sans"/>
              </a:rPr>
              <a:t>両方式とも</a:t>
            </a:r>
          </a:p>
          <a:p xmlns:a="http://schemas.openxmlformats.org/drawingml/2006/main">
            <a:pPr algn="ctr">
              <a:defRPr sz="1425" b="1">
                <a:solidFill>
                  <a:srgbClr val="2AA876"/>
                </a:solidFill>
                <a:latin typeface="Hiragino Sans"/>
                <a:ea typeface="Hiragino Sans"/>
                <a:cs typeface="Hiragino Sans"/>
              </a:defRPr>
            </a:pPr>
            <a:r>
              <a:rPr sz="1425" b="1">
                <a:solidFill>
                  <a:srgbClr val="2AA876"/>
                </a:solidFill>
                <a:latin typeface="Hiragino Sans"/>
                <a:ea typeface="Hiragino Sans"/>
                <a:cs typeface="Hiragino Sans"/>
              </a:rPr>
              <a:t>OVRより全6条件で有意</a:t>
            </a:r>
          </a:p>
        </p:txBody>
      </p:sp>
      <p:sp>
        <p:nvSpPr>
          <p:cNvPr id="13" name="">
            <a:extLst xmlns:a="http://schemas.openxmlformats.org/drawingml/2006/main">
              <a:ext uri="{FF2B5EF4-FFF2-40B4-BE49-F238E27FC236}">
                <a16:creationId xmlns:a16="http://schemas.microsoft.com/office/drawing/2014/main" id="{E4BF0BB5-2941-4149-965F-BCAE15CECAFC}"/>
              </a:ext>
            </a:extLst>
          </p:cNvPr>
          <p:cNvSpPr>
            <a:spLocks xmlns:a="http://schemas.openxmlformats.org/drawingml/2006/main" noGrp="1"/>
          </p:cNvSpPr>
          <p:nvPr/>
        </p:nvSpPr>
        <p:spPr>
          <a:xfrm xmlns:a="http://schemas.openxmlformats.org/drawingml/2006/main">
            <a:off x="9391650" y="5029200"/>
            <a:ext cx="1962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ctr">
              <a:defRPr sz="1050" b="0">
                <a:solidFill>
                  <a:srgbClr val="687386"/>
                </a:solidFill>
                <a:latin typeface="Hiragino Sans"/>
                <a:ea typeface="Hiragino Sans"/>
                <a:cs typeface="Hiragino Sans"/>
              </a:defRPr>
            </a:pPr>
            <a:r>
              <a:rPr sz="1050" b="0">
                <a:solidFill>
                  <a:srgbClr val="687386"/>
                </a:solidFill>
                <a:latin typeface="Hiragino Sans"/>
                <a:ea typeface="Hiragino Sans"/>
                <a:cs typeface="Hiragino Sans"/>
              </a:rPr>
              <a:t>Holm補正後</a:t>
            </a:r>
          </a:p>
        </p:txBody>
      </p:sp>
      <p:sp>
        <p:nvSpPr>
          <p:cNvPr id="14" name="">
            <a:extLst xmlns:a="http://schemas.openxmlformats.org/drawingml/2006/main">
              <a:ext uri="{FF2B5EF4-FFF2-40B4-BE49-F238E27FC236}">
                <a16:creationId xmlns:a16="http://schemas.microsoft.com/office/drawing/2014/main" id="{40F8A0AD-706F-436A-ADC7-22A3BC013009}"/>
              </a:ext>
            </a:extLst>
          </p:cNvPr>
          <p:cNvSpPr>
            <a:spLocks xmlns:a="http://schemas.openxmlformats.org/drawingml/2006/main" noGrp="1"/>
          </p:cNvSpPr>
          <p:nvPr/>
        </p:nvSpPr>
        <p:spPr>
          <a:xfrm xmlns:a="http://schemas.openxmlformats.org/drawingml/2006/main">
            <a:off x="762000" y="58483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25E8543-F469-4056-8A08-8714D51238A9}"/>
              </a:ext>
            </a:extLst>
          </p:cNvPr>
          <p:cNvSpPr>
            <a:spLocks xmlns:a="http://schemas.openxmlformats.org/drawingml/2006/main" noGrp="1"/>
          </p:cNvSpPr>
          <p:nvPr/>
        </p:nvSpPr>
        <p:spPr>
          <a:xfrm xmlns:a="http://schemas.openxmlformats.org/drawingml/2006/main">
            <a:off x="952500" y="58959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このスライドの主張：答えを固定しない非線形条件でも、2クラス方式は真の局所特徴をより多く回収した</a:t>
            </a:r>
          </a:p>
        </p:txBody>
      </p:sp>
    </p:spTree>
    <p:extLst>
      <p:ext uri="{BB962C8B-B14F-4D97-AF65-F5344CB8AC3E}">
        <p14:creationId xmlns:p14="http://schemas.microsoft.com/office/powerpoint/2010/main" val="179129720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CB69D2-1432-4371-8A1C-1D15C4DD8890}"/>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C63779-04D4-425B-BE8D-9448B5D50E4A}"/>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結果2：未知の近傍でも判定を再現できるか</a:t>
            </a:r>
          </a:p>
        </p:txBody>
      </p:sp>
      <p:sp>
        <p:nvSpPr>
          <p:cNvPr id="3" name="">
            <a:extLst xmlns:a="http://schemas.openxmlformats.org/drawingml/2006/main">
              <a:ext uri="{FF2B5EF4-FFF2-40B4-BE49-F238E27FC236}">
                <a16:creationId xmlns:a16="http://schemas.microsoft.com/office/drawing/2014/main" id="{B0B9591A-3D81-403E-A9FC-B7A0A65CF007}"/>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結果1と同じ非線形BBで、学習に使っていない400摂動上のA/B判定を評価</a:t>
            </a:r>
          </a:p>
        </p:txBody>
      </p:sp>
      <p:sp>
        <p:nvSpPr>
          <p:cNvPr id="4" name="">
            <a:extLst xmlns:a="http://schemas.openxmlformats.org/drawingml/2006/main">
              <a:ext uri="{FF2B5EF4-FFF2-40B4-BE49-F238E27FC236}">
                <a16:creationId xmlns:a16="http://schemas.microsoft.com/office/drawing/2014/main" id="{EB9CE087-75FE-45A4-BE20-523D18D952E2}"/>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19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81d346de4614e66"/>
          <a:stretch xmlns:a="http://schemas.openxmlformats.org/drawingml/2006/main"/>
        </p:blipFill>
        <p:spPr>
          <a:xfrm xmlns:a="http://schemas.openxmlformats.org/drawingml/2006/main">
            <a:off x="523875" y="1537841"/>
            <a:ext cx="8524875" cy="357276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1680A8C-917F-49BA-9194-1A2AF8480FF1}"/>
              </a:ext>
            </a:extLst>
          </p:cNvPr>
          <p:cNvSpPr>
            <a:spLocks xmlns:a="http://schemas.openxmlformats.org/drawingml/2006/main" noGrp="1"/>
          </p:cNvSpPr>
          <p:nvPr/>
        </p:nvSpPr>
        <p:spPr>
          <a:xfrm xmlns:a="http://schemas.openxmlformats.org/drawingml/2006/main">
            <a:off x="9220200" y="1352550"/>
            <a:ext cx="2305050" cy="1162050"/>
          </a:xfrm>
          <a:prstGeom xmlns:a="http://schemas.openxmlformats.org/drawingml/2006/main" prst="roundRect">
            <a:avLst>
              <a:gd name="adj" fmla="val 6557"/>
            </a:avLst>
          </a:prstGeom>
          <a:solidFill xmlns:a="http://schemas.openxmlformats.org/drawingml/2006/main">
            <a:srgbClr val="F7F9FC"/>
          </a:solidFill>
          <a:ln xmlns:a="http://schemas.openxmlformats.org/drawingml/2006/main" w="9525">
            <a:solidFill>
              <a:srgbClr val="E7EBF0"/>
            </a:solidFill>
          </a:ln>
        </p:spPr>
      </p:sp>
      <p:sp>
        <p:nvSpPr>
          <p:cNvPr id="7" name="">
            <a:extLst xmlns:a="http://schemas.openxmlformats.org/drawingml/2006/main">
              <a:ext uri="{FF2B5EF4-FFF2-40B4-BE49-F238E27FC236}">
                <a16:creationId xmlns:a16="http://schemas.microsoft.com/office/drawing/2014/main" id="{A32D2F38-BC99-464A-8C1E-2E45CA143A3C}"/>
              </a:ext>
            </a:extLst>
          </p:cNvPr>
          <p:cNvSpPr>
            <a:spLocks xmlns:a="http://schemas.openxmlformats.org/drawingml/2006/main" noGrp="1"/>
          </p:cNvSpPr>
          <p:nvPr/>
        </p:nvSpPr>
        <p:spPr>
          <a:xfrm xmlns:a="http://schemas.openxmlformats.org/drawingml/2006/main">
            <a:off x="9391650" y="146685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687386"/>
                </a:solidFill>
                <a:latin typeface="Hiragino Sans"/>
                <a:ea typeface="Hiragino Sans"/>
                <a:cs typeface="Hiragino Sans"/>
              </a:defRPr>
            </a:pPr>
            <a:r>
              <a:rPr sz="1350" b="1">
                <a:solidFill>
                  <a:srgbClr val="687386"/>
                </a:solidFill>
                <a:latin typeface="Hiragino Sans"/>
                <a:ea typeface="Hiragino Sans"/>
                <a:cs typeface="Hiragino Sans"/>
              </a:rPr>
              <a:t>全条件平均</a:t>
            </a:r>
          </a:p>
        </p:txBody>
      </p:sp>
      <p:sp>
        <p:nvSpPr>
          <p:cNvPr id="8" name="">
            <a:extLst xmlns:a="http://schemas.openxmlformats.org/drawingml/2006/main">
              <a:ext uri="{FF2B5EF4-FFF2-40B4-BE49-F238E27FC236}">
                <a16:creationId xmlns:a16="http://schemas.microsoft.com/office/drawing/2014/main" id="{DCCC3293-52D1-49FF-B093-0C4DE2F11D96}"/>
              </a:ext>
            </a:extLst>
          </p:cNvPr>
          <p:cNvSpPr>
            <a:spLocks xmlns:a="http://schemas.openxmlformats.org/drawingml/2006/main" noGrp="1"/>
          </p:cNvSpPr>
          <p:nvPr/>
        </p:nvSpPr>
        <p:spPr>
          <a:xfrm xmlns:a="http://schemas.openxmlformats.org/drawingml/2006/main">
            <a:off x="9391650" y="1809750"/>
            <a:ext cx="1962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687386"/>
                </a:solidFill>
                <a:latin typeface="Hiragino Sans"/>
                <a:ea typeface="Hiragino Sans"/>
                <a:cs typeface="Hiragino Sans"/>
              </a:defRPr>
            </a:pPr>
            <a:r>
              <a:rPr sz="2025" b="1">
                <a:solidFill>
                  <a:srgbClr val="687386"/>
                </a:solidFill>
                <a:latin typeface="Hiragino Sans"/>
                <a:ea typeface="Hiragino Sans"/>
                <a:cs typeface="Hiragino Sans"/>
              </a:rPr>
              <a:t>OVR  0.887</a:t>
            </a:r>
          </a:p>
        </p:txBody>
      </p:sp>
      <p:sp>
        <p:nvSpPr>
          <p:cNvPr id="9" name="">
            <a:extLst xmlns:a="http://schemas.openxmlformats.org/drawingml/2006/main">
              <a:ext uri="{FF2B5EF4-FFF2-40B4-BE49-F238E27FC236}">
                <a16:creationId xmlns:a16="http://schemas.microsoft.com/office/drawing/2014/main" id="{1384D89E-BA46-4CB5-B3F4-EF5BB3B0490E}"/>
              </a:ext>
            </a:extLst>
          </p:cNvPr>
          <p:cNvSpPr>
            <a:spLocks xmlns:a="http://schemas.openxmlformats.org/drawingml/2006/main" noGrp="1"/>
          </p:cNvSpPr>
          <p:nvPr/>
        </p:nvSpPr>
        <p:spPr>
          <a:xfrm xmlns:a="http://schemas.openxmlformats.org/drawingml/2006/main">
            <a:off x="9220200" y="2705100"/>
            <a:ext cx="2305050" cy="1219200"/>
          </a:xfrm>
          <a:prstGeom xmlns:a="http://schemas.openxmlformats.org/drawingml/2006/main" prst="roundRect">
            <a:avLst>
              <a:gd name="adj" fmla="val 6250"/>
            </a:avLst>
          </a:prstGeom>
          <a:solidFill xmlns:a="http://schemas.openxmlformats.org/drawingml/2006/main">
            <a:srgbClr val="EAF4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69DAC5-5E57-43A6-A795-EC7D92312F33}"/>
              </a:ext>
            </a:extLst>
          </p:cNvPr>
          <p:cNvSpPr>
            <a:spLocks xmlns:a="http://schemas.openxmlformats.org/drawingml/2006/main" noGrp="1"/>
          </p:cNvSpPr>
          <p:nvPr/>
        </p:nvSpPr>
        <p:spPr>
          <a:xfrm xmlns:a="http://schemas.openxmlformats.org/drawingml/2006/main">
            <a:off x="9391650" y="287655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42"/>
          </a:bodyPr>
          <a:lstStyle xmlns:a="http://schemas.openxmlformats.org/drawingml/2006/main"/>
          <a:p xmlns:a="http://schemas.openxmlformats.org/drawingml/2006/main">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2クラス通常LIME  0.898</a:t>
            </a:r>
          </a:p>
          <a:p xmlns:a="http://schemas.openxmlformats.org/drawingml/2006/main">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Contrastive  0.901</a:t>
            </a:r>
          </a:p>
        </p:txBody>
      </p:sp>
      <p:sp>
        <p:nvSpPr>
          <p:cNvPr id="11" name="">
            <a:extLst xmlns:a="http://schemas.openxmlformats.org/drawingml/2006/main">
              <a:ext uri="{FF2B5EF4-FFF2-40B4-BE49-F238E27FC236}">
                <a16:creationId xmlns:a16="http://schemas.microsoft.com/office/drawing/2014/main" id="{2D37DFB8-5DCB-40A9-BEAD-598D75295A61}"/>
              </a:ext>
            </a:extLst>
          </p:cNvPr>
          <p:cNvSpPr>
            <a:spLocks xmlns:a="http://schemas.openxmlformats.org/drawingml/2006/main" noGrp="1"/>
          </p:cNvSpPr>
          <p:nvPr/>
        </p:nvSpPr>
        <p:spPr>
          <a:xfrm xmlns:a="http://schemas.openxmlformats.org/drawingml/2006/main">
            <a:off x="9220200" y="4114800"/>
            <a:ext cx="2305050" cy="1266825"/>
          </a:xfrm>
          <a:prstGeom xmlns:a="http://schemas.openxmlformats.org/drawingml/2006/main" prst="roundRect">
            <a:avLst>
              <a:gd name="adj" fmla="val 6015"/>
            </a:avLst>
          </a:prstGeom>
          <a:solidFill xmlns:a="http://schemas.openxmlformats.org/drawingml/2006/main">
            <a:srgbClr val="FFF4D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BFB2DF5-FE5E-4201-B094-28585033CA2E}"/>
              </a:ext>
            </a:extLst>
          </p:cNvPr>
          <p:cNvSpPr>
            <a:spLocks xmlns:a="http://schemas.openxmlformats.org/drawingml/2006/main" noGrp="1"/>
          </p:cNvSpPr>
          <p:nvPr/>
        </p:nvSpPr>
        <p:spPr>
          <a:xfrm xmlns:a="http://schemas.openxmlformats.org/drawingml/2006/main">
            <a:off x="9391650" y="4305300"/>
            <a:ext cx="1962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28C28"/>
                </a:solidFill>
                <a:latin typeface="Hiragino Sans"/>
                <a:ea typeface="Hiragino Sans"/>
                <a:cs typeface="Hiragino Sans"/>
              </a:defRPr>
            </a:pPr>
            <a:r>
              <a:rPr sz="1575" b="1">
                <a:solidFill>
                  <a:srgbClr val="F28C28"/>
                </a:solidFill>
                <a:latin typeface="Hiragino Sans"/>
                <a:ea typeface="Hiragino Sans"/>
                <a:cs typeface="Hiragino Sans"/>
              </a:rPr>
              <a:t>改善は約1ポイント</a:t>
            </a:r>
          </a:p>
          <a:p xmlns:a="http://schemas.openxmlformats.org/drawingml/2006/main">
            <a:pPr algn="ctr">
              <a:defRPr sz="1575" b="1">
                <a:solidFill>
                  <a:srgbClr val="F28C28"/>
                </a:solidFill>
                <a:latin typeface="Hiragino Sans"/>
                <a:ea typeface="Hiragino Sans"/>
                <a:cs typeface="Hiragino Sans"/>
              </a:defRPr>
            </a:pPr>
            <a:r>
              <a:rPr sz="1575" b="1">
                <a:solidFill>
                  <a:srgbClr val="F28C28"/>
                </a:solidFill>
                <a:latin typeface="Hiragino Sans"/>
                <a:ea typeface="Hiragino Sans"/>
                <a:cs typeface="Hiragino Sans"/>
              </a:rPr>
              <a:t>大差ではない</a:t>
            </a:r>
          </a:p>
        </p:txBody>
      </p:sp>
      <p:sp>
        <p:nvSpPr>
          <p:cNvPr id="13" name="">
            <a:extLst xmlns:a="http://schemas.openxmlformats.org/drawingml/2006/main">
              <a:ext uri="{FF2B5EF4-FFF2-40B4-BE49-F238E27FC236}">
                <a16:creationId xmlns:a16="http://schemas.microsoft.com/office/drawing/2014/main" id="{86D4E878-E694-41BD-83C9-0A7DBCAABC34}"/>
              </a:ext>
            </a:extLst>
          </p:cNvPr>
          <p:cNvSpPr>
            <a:spLocks xmlns:a="http://schemas.openxmlformats.org/drawingml/2006/main" noGrp="1"/>
          </p:cNvSpPr>
          <p:nvPr/>
        </p:nvSpPr>
        <p:spPr>
          <a:xfrm xmlns:a="http://schemas.openxmlformats.org/drawingml/2006/main">
            <a:off x="9391650" y="5029200"/>
            <a:ext cx="1962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ctr">
              <a:defRPr sz="1050" b="0">
                <a:solidFill>
                  <a:srgbClr val="2AA876"/>
                </a:solidFill>
                <a:latin typeface="Hiragino Sans"/>
                <a:ea typeface="Hiragino Sans"/>
                <a:cs typeface="Hiragino Sans"/>
              </a:defRPr>
            </a:pPr>
            <a:r>
              <a:rPr sz="1050" b="0">
                <a:solidFill>
                  <a:srgbClr val="2AA876"/>
                </a:solidFill>
                <a:latin typeface="Hiragino Sans"/>
                <a:ea typeface="Hiragino Sans"/>
                <a:cs typeface="Hiragino Sans"/>
              </a:rPr>
              <a:t>両方式とも6/6条件で有意</a:t>
            </a:r>
          </a:p>
        </p:txBody>
      </p:sp>
      <p:sp>
        <p:nvSpPr>
          <p:cNvPr id="14" name="">
            <a:extLst xmlns:a="http://schemas.openxmlformats.org/drawingml/2006/main">
              <a:ext uri="{FF2B5EF4-FFF2-40B4-BE49-F238E27FC236}">
                <a16:creationId xmlns:a16="http://schemas.microsoft.com/office/drawing/2014/main" id="{27D0AB69-D007-4A40-B6A1-6444EF1114FE}"/>
              </a:ext>
            </a:extLst>
          </p:cNvPr>
          <p:cNvSpPr>
            <a:spLocks xmlns:a="http://schemas.openxmlformats.org/drawingml/2006/main" noGrp="1"/>
          </p:cNvSpPr>
          <p:nvPr/>
        </p:nvSpPr>
        <p:spPr>
          <a:xfrm xmlns:a="http://schemas.openxmlformats.org/drawingml/2006/main">
            <a:off x="762000" y="58483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60FAF2-7C1C-4FF5-BBC4-22D0C815527E}"/>
              </a:ext>
            </a:extLst>
          </p:cNvPr>
          <p:cNvSpPr>
            <a:spLocks xmlns:a="http://schemas.openxmlformats.org/drawingml/2006/main" noGrp="1"/>
          </p:cNvSpPr>
          <p:nvPr/>
        </p:nvSpPr>
        <p:spPr>
          <a:xfrm xmlns:a="http://schemas.openxmlformats.org/drawingml/2006/main">
            <a:off x="952500" y="58959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このスライドの主張：2クラス方式は未知摂動でも一貫して改善したが、忠実度の差は約1ポイントに留まる</a:t>
            </a:r>
          </a:p>
        </p:txBody>
      </p:sp>
    </p:spTree>
    <p:extLst>
      <p:ext uri="{BB962C8B-B14F-4D97-AF65-F5344CB8AC3E}">
        <p14:creationId xmlns:p14="http://schemas.microsoft.com/office/powerpoint/2010/main" val="12618522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BE9303-D8C0-47EF-8220-BB81C6525F78}"/>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3513A9-4CCA-42B4-81F9-D50ACA303BF9}"/>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結果3：クラス数が増えたときの計算時間</a:t>
            </a:r>
          </a:p>
        </p:txBody>
      </p:sp>
      <p:sp>
        <p:nvSpPr>
          <p:cNvPr id="3" name="">
            <a:extLst xmlns:a="http://schemas.openxmlformats.org/drawingml/2006/main">
              <a:ext uri="{FF2B5EF4-FFF2-40B4-BE49-F238E27FC236}">
                <a16:creationId xmlns:a16="http://schemas.microsoft.com/office/drawing/2014/main" id="{43CCC51C-F78F-402A-A953-87432076637A}"/>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Top-1対Top-2の1ペアだけを説明。特徴選択＋選択後の最終再学習を測定</a:t>
            </a:r>
          </a:p>
        </p:txBody>
      </p:sp>
      <p:sp>
        <p:nvSpPr>
          <p:cNvPr id="4" name="">
            <a:extLst xmlns:a="http://schemas.openxmlformats.org/drawingml/2006/main">
              <a:ext uri="{FF2B5EF4-FFF2-40B4-BE49-F238E27FC236}">
                <a16:creationId xmlns:a16="http://schemas.microsoft.com/office/drawing/2014/main" id="{F2AF9120-DC04-4B32-B6CB-CD13202011EF}"/>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20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08f0e93b3db49e2"/>
          <a:stretch xmlns:a="http://schemas.openxmlformats.org/drawingml/2006/main"/>
        </p:blipFill>
        <p:spPr>
          <a:xfrm xmlns:a="http://schemas.openxmlformats.org/drawingml/2006/main">
            <a:off x="656947" y="1123950"/>
            <a:ext cx="10878106" cy="455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47CD97-3DE1-41FF-8046-11678AA24782}"/>
              </a:ext>
            </a:extLst>
          </p:cNvPr>
          <p:cNvSpPr>
            <a:spLocks xmlns:a="http://schemas.openxmlformats.org/drawingml/2006/main" noGrp="1"/>
          </p:cNvSpPr>
          <p:nvPr/>
        </p:nvSpPr>
        <p:spPr>
          <a:xfrm xmlns:a="http://schemas.openxmlformats.org/drawingml/2006/main">
            <a:off x="762000" y="58483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DC71E6-B70C-48C1-B4E1-AA6DA63574C9}"/>
              </a:ext>
            </a:extLst>
          </p:cNvPr>
          <p:cNvSpPr>
            <a:spLocks xmlns:a="http://schemas.openxmlformats.org/drawingml/2006/main" noGrp="1"/>
          </p:cNvSpPr>
          <p:nvPr/>
        </p:nvSpPr>
        <p:spPr>
          <a:xfrm xmlns:a="http://schemas.openxmlformats.org/drawingml/2006/main">
            <a:off x="952500" y="58959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このスライドの主張：C=10ではOVR 63.46msに対し、2クラスLIME 6.48ms・Contrastive 6.51msで約10分の1</a:t>
            </a:r>
          </a:p>
        </p:txBody>
      </p:sp>
    </p:spTree>
    <p:extLst>
      <p:ext uri="{BB962C8B-B14F-4D97-AF65-F5344CB8AC3E}">
        <p14:creationId xmlns:p14="http://schemas.microsoft.com/office/powerpoint/2010/main" val="6022167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A20911D-D3CA-4A33-B664-B37E759B3C48}"/>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D1BF9D-F02A-4F30-BA9B-0D165B31B334}"/>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Hiragino Sans"/>
                <a:ea typeface="Hiragino Sans"/>
                <a:cs typeface="Hiragino Sans"/>
              </a:defRPr>
            </a:pPr>
            <a:r>
              <a:rPr sz="2550" b="1">
                <a:solidFill>
                  <a:srgbClr val="17233D"/>
                </a:solidFill>
                <a:latin typeface="Hiragino Sans"/>
                <a:ea typeface="Hiragino Sans"/>
                <a:cs typeface="Hiragino Sans"/>
              </a:rPr>
              <a:t>結果のまとめ</a:t>
            </a:r>
          </a:p>
        </p:txBody>
      </p:sp>
      <p:sp>
        <p:nvSpPr>
          <p:cNvPr id="3" name="">
            <a:extLst xmlns:a="http://schemas.openxmlformats.org/drawingml/2006/main">
              <a:ext uri="{FF2B5EF4-FFF2-40B4-BE49-F238E27FC236}">
                <a16:creationId xmlns:a16="http://schemas.microsoft.com/office/drawing/2014/main" id="{C31C39FF-F03C-4C6E-A6DB-B3C57A11011D}"/>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Hiragino Sans"/>
                <a:ea typeface="Hiragino Sans"/>
                <a:cs typeface="Hiragino Sans"/>
              </a:defRPr>
            </a:pPr>
            <a:r>
              <a:rPr sz="1200" b="0">
                <a:solidFill>
                  <a:srgbClr val="687386"/>
                </a:solidFill>
                <a:latin typeface="Hiragino Sans"/>
                <a:ea typeface="Hiragino Sans"/>
                <a:cs typeface="Hiragino Sans"/>
              </a:rPr>
              <a:t>本編では、提案の価値を最も明確に示す3つの結果に絞る</a:t>
            </a:r>
          </a:p>
        </p:txBody>
      </p:sp>
      <p:sp>
        <p:nvSpPr>
          <p:cNvPr id="4" name="">
            <a:extLst xmlns:a="http://schemas.openxmlformats.org/drawingml/2006/main">
              <a:ext uri="{FF2B5EF4-FFF2-40B4-BE49-F238E27FC236}">
                <a16:creationId xmlns:a16="http://schemas.microsoft.com/office/drawing/2014/main" id="{E6FC5B81-BD05-4393-A093-1204B3EE4B80}"/>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Hiragino Sans"/>
                <a:ea typeface="Hiragino Sans"/>
                <a:cs typeface="Hiragino Sans"/>
              </a:defRPr>
            </a:pPr>
            <a:r>
              <a:rPr sz="975" b="0">
                <a:solidFill>
                  <a:srgbClr val="8993A4"/>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E5A47D8C-147F-4979-B4E5-F120F9D7FAE1}"/>
              </a:ext>
            </a:extLst>
          </p:cNvPr>
          <p:cNvSpPr>
            <a:spLocks xmlns:a="http://schemas.openxmlformats.org/drawingml/2006/main" noGrp="1"/>
          </p:cNvSpPr>
          <p:nvPr/>
        </p:nvSpPr>
        <p:spPr>
          <a:xfrm xmlns:a="http://schemas.openxmlformats.org/drawingml/2006/main">
            <a:off x="781050" y="1552575"/>
            <a:ext cx="1466850" cy="323850"/>
          </a:xfrm>
          <a:prstGeom xmlns:a="http://schemas.openxmlformats.org/drawingml/2006/main" prst="roundRect">
            <a:avLst>
              <a:gd name="adj" fmla="val 23529"/>
            </a:avLst>
          </a:prstGeom>
          <a:solidFill xmlns:a="http://schemas.openxmlformats.org/drawingml/2006/main">
            <a:srgbClr val="F28C2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EDD95D-772A-438C-89F9-1CEC69D3470C}"/>
              </a:ext>
            </a:extLst>
          </p:cNvPr>
          <p:cNvSpPr>
            <a:spLocks xmlns:a="http://schemas.openxmlformats.org/drawingml/2006/main" noGrp="1"/>
          </p:cNvSpPr>
          <p:nvPr/>
        </p:nvSpPr>
        <p:spPr>
          <a:xfrm xmlns:a="http://schemas.openxmlformats.org/drawingml/2006/main">
            <a:off x="876300" y="1571625"/>
            <a:ext cx="127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98"/>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関連性</a:t>
            </a:r>
          </a:p>
        </p:txBody>
      </p:sp>
      <p:sp>
        <p:nvSpPr>
          <p:cNvPr id="7" name="">
            <a:extLst xmlns:a="http://schemas.openxmlformats.org/drawingml/2006/main">
              <a:ext uri="{FF2B5EF4-FFF2-40B4-BE49-F238E27FC236}">
                <a16:creationId xmlns:a16="http://schemas.microsoft.com/office/drawing/2014/main" id="{C96C96F1-2684-4185-96ED-A0050F92A558}"/>
              </a:ext>
            </a:extLst>
          </p:cNvPr>
          <p:cNvSpPr>
            <a:spLocks xmlns:a="http://schemas.openxmlformats.org/drawingml/2006/main" noGrp="1"/>
          </p:cNvSpPr>
          <p:nvPr/>
        </p:nvSpPr>
        <p:spPr>
          <a:xfrm xmlns:a="http://schemas.openxmlformats.org/drawingml/2006/main">
            <a:off x="2571750" y="140970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59"/>
          </a:bodyPr>
          <a:lstStyle xmlns:a="http://schemas.openxmlformats.org/drawingml/2006/main"/>
          <a:p xmlns:a="http://schemas.openxmlformats.org/drawingml/2006/main">
            <a:pPr algn="l">
              <a:defRPr sz="1725" b="1">
                <a:solidFill>
                  <a:srgbClr val="F28C28"/>
                </a:solidFill>
                <a:latin typeface="Hiragino Sans"/>
                <a:ea typeface="Hiragino Sans"/>
                <a:cs typeface="Hiragino Sans"/>
              </a:defRPr>
            </a:pPr>
            <a:r>
              <a:rPr sz="1725" b="1">
                <a:solidFill>
                  <a:srgbClr val="F28C28"/>
                </a:solidFill>
                <a:latin typeface="Hiragino Sans"/>
                <a:ea typeface="Hiragino Sans"/>
                <a:cs typeface="Hiragino Sans"/>
              </a:rPr>
              <a:t>真のTop-5を約10pt多く回収</a:t>
            </a:r>
          </a:p>
        </p:txBody>
      </p:sp>
      <p:sp>
        <p:nvSpPr>
          <p:cNvPr id="8" name="">
            <a:extLst xmlns:a="http://schemas.openxmlformats.org/drawingml/2006/main">
              <a:ext uri="{FF2B5EF4-FFF2-40B4-BE49-F238E27FC236}">
                <a16:creationId xmlns:a16="http://schemas.microsoft.com/office/drawing/2014/main" id="{F5D26BD3-8775-4E9F-B468-66149FD8D962}"/>
              </a:ext>
            </a:extLst>
          </p:cNvPr>
          <p:cNvSpPr>
            <a:spLocks xmlns:a="http://schemas.openxmlformats.org/drawingml/2006/main" noGrp="1"/>
          </p:cNvSpPr>
          <p:nvPr/>
        </p:nvSpPr>
        <p:spPr>
          <a:xfrm xmlns:a="http://schemas.openxmlformats.org/drawingml/2006/main">
            <a:off x="5676900" y="1390650"/>
            <a:ext cx="5715000" cy="828675"/>
          </a:xfrm>
          <a:prstGeom xmlns:a="http://schemas.openxmlformats.org/drawingml/2006/main" prst="roundRect">
            <a:avLst>
              <a:gd name="adj" fmla="val 9195"/>
            </a:avLst>
          </a:prstGeom>
          <a:solidFill xmlns:a="http://schemas.openxmlformats.org/drawingml/2006/main">
            <a:srgbClr val="F7F9FC"/>
          </a:solidFill>
          <a:ln xmlns:a="http://schemas.openxmlformats.org/drawingml/2006/main" w="9525">
            <a:solidFill>
              <a:srgbClr val="E7EBF0"/>
            </a:solidFill>
          </a:ln>
        </p:spPr>
      </p:sp>
      <p:sp>
        <p:nvSpPr>
          <p:cNvPr id="9" name="">
            <a:extLst xmlns:a="http://schemas.openxmlformats.org/drawingml/2006/main">
              <a:ext uri="{FF2B5EF4-FFF2-40B4-BE49-F238E27FC236}">
                <a16:creationId xmlns:a16="http://schemas.microsoft.com/office/drawing/2014/main" id="{7469D1A6-F663-4302-A0DE-5936A7C6DDFF}"/>
              </a:ext>
            </a:extLst>
          </p:cNvPr>
          <p:cNvSpPr>
            <a:spLocks xmlns:a="http://schemas.openxmlformats.org/drawingml/2006/main" noGrp="1"/>
          </p:cNvSpPr>
          <p:nvPr/>
        </p:nvSpPr>
        <p:spPr>
          <a:xfrm xmlns:a="http://schemas.openxmlformats.org/drawingml/2006/main">
            <a:off x="5905500" y="1476375"/>
            <a:ext cx="5257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非線形・相関・ノイズ下でOVR 0.820に対し、2クラス通常LIME 0.913、Contrastive 0.926。</a:t>
            </a:r>
          </a:p>
        </p:txBody>
      </p:sp>
      <p:sp>
        <p:nvSpPr>
          <p:cNvPr id="10" name="">
            <a:extLst xmlns:a="http://schemas.openxmlformats.org/drawingml/2006/main">
              <a:ext uri="{FF2B5EF4-FFF2-40B4-BE49-F238E27FC236}">
                <a16:creationId xmlns:a16="http://schemas.microsoft.com/office/drawing/2014/main" id="{6D198832-69E6-42AB-A63C-17095B71A1FF}"/>
              </a:ext>
            </a:extLst>
          </p:cNvPr>
          <p:cNvSpPr>
            <a:spLocks xmlns:a="http://schemas.openxmlformats.org/drawingml/2006/main" noGrp="1"/>
          </p:cNvSpPr>
          <p:nvPr/>
        </p:nvSpPr>
        <p:spPr>
          <a:xfrm xmlns:a="http://schemas.openxmlformats.org/drawingml/2006/main">
            <a:off x="781050" y="2857500"/>
            <a:ext cx="1466850" cy="323850"/>
          </a:xfrm>
          <a:prstGeom xmlns:a="http://schemas.openxmlformats.org/drawingml/2006/main" prst="roundRect">
            <a:avLst>
              <a:gd name="adj" fmla="val 23529"/>
            </a:avLst>
          </a:prstGeom>
          <a:solidFill xmlns:a="http://schemas.openxmlformats.org/drawingml/2006/main">
            <a:srgbClr val="2AA87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D21862D-B94D-4D2E-931B-AADDBCF13ECD}"/>
              </a:ext>
            </a:extLst>
          </p:cNvPr>
          <p:cNvSpPr>
            <a:spLocks xmlns:a="http://schemas.openxmlformats.org/drawingml/2006/main" noGrp="1"/>
          </p:cNvSpPr>
          <p:nvPr/>
        </p:nvSpPr>
        <p:spPr>
          <a:xfrm xmlns:a="http://schemas.openxmlformats.org/drawingml/2006/main">
            <a:off x="876300" y="2876550"/>
            <a:ext cx="127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98"/>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忠実度</a:t>
            </a:r>
          </a:p>
        </p:txBody>
      </p:sp>
      <p:sp>
        <p:nvSpPr>
          <p:cNvPr id="12" name="">
            <a:extLst xmlns:a="http://schemas.openxmlformats.org/drawingml/2006/main">
              <a:ext uri="{FF2B5EF4-FFF2-40B4-BE49-F238E27FC236}">
                <a16:creationId xmlns:a16="http://schemas.microsoft.com/office/drawing/2014/main" id="{7E4B10A2-9317-4CB9-A19A-C651FA916EA3}"/>
              </a:ext>
            </a:extLst>
          </p:cNvPr>
          <p:cNvSpPr>
            <a:spLocks xmlns:a="http://schemas.openxmlformats.org/drawingml/2006/main" noGrp="1"/>
          </p:cNvSpPr>
          <p:nvPr/>
        </p:nvSpPr>
        <p:spPr>
          <a:xfrm xmlns:a="http://schemas.openxmlformats.org/drawingml/2006/main">
            <a:off x="2571750" y="2714625"/>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AA876"/>
                </a:solidFill>
                <a:latin typeface="Hiragino Sans"/>
                <a:ea typeface="Hiragino Sans"/>
                <a:cs typeface="Hiragino Sans"/>
              </a:defRPr>
            </a:pPr>
            <a:r>
              <a:rPr sz="1725" b="1">
                <a:solidFill>
                  <a:srgbClr val="2AA876"/>
                </a:solidFill>
                <a:latin typeface="Hiragino Sans"/>
                <a:ea typeface="Hiragino Sans"/>
                <a:cs typeface="Hiragino Sans"/>
              </a:rPr>
              <a:t>改善は約1ポイント</a:t>
            </a:r>
          </a:p>
        </p:txBody>
      </p:sp>
      <p:sp>
        <p:nvSpPr>
          <p:cNvPr id="13" name="">
            <a:extLst xmlns:a="http://schemas.openxmlformats.org/drawingml/2006/main">
              <a:ext uri="{FF2B5EF4-FFF2-40B4-BE49-F238E27FC236}">
                <a16:creationId xmlns:a16="http://schemas.microsoft.com/office/drawing/2014/main" id="{BDFC10A1-CD54-41A1-8CAB-1A51C34E0371}"/>
              </a:ext>
            </a:extLst>
          </p:cNvPr>
          <p:cNvSpPr>
            <a:spLocks xmlns:a="http://schemas.openxmlformats.org/drawingml/2006/main" noGrp="1"/>
          </p:cNvSpPr>
          <p:nvPr/>
        </p:nvSpPr>
        <p:spPr>
          <a:xfrm xmlns:a="http://schemas.openxmlformats.org/drawingml/2006/main">
            <a:off x="5676900" y="2695575"/>
            <a:ext cx="5715000" cy="828675"/>
          </a:xfrm>
          <a:prstGeom xmlns:a="http://schemas.openxmlformats.org/drawingml/2006/main" prst="roundRect">
            <a:avLst>
              <a:gd name="adj" fmla="val 9195"/>
            </a:avLst>
          </a:prstGeom>
          <a:solidFill xmlns:a="http://schemas.openxmlformats.org/drawingml/2006/main">
            <a:srgbClr val="F7F9FC"/>
          </a:solidFill>
          <a:ln xmlns:a="http://schemas.openxmlformats.org/drawingml/2006/main" w="9525">
            <a:solidFill>
              <a:srgbClr val="E7EBF0"/>
            </a:solidFill>
          </a:ln>
        </p:spPr>
      </p:sp>
      <p:sp>
        <p:nvSpPr>
          <p:cNvPr id="14" name="">
            <a:extLst xmlns:a="http://schemas.openxmlformats.org/drawingml/2006/main">
              <a:ext uri="{FF2B5EF4-FFF2-40B4-BE49-F238E27FC236}">
                <a16:creationId xmlns:a16="http://schemas.microsoft.com/office/drawing/2014/main" id="{2EA0B5DA-1481-47CA-BE64-7AD439CFEC48}"/>
              </a:ext>
            </a:extLst>
          </p:cNvPr>
          <p:cNvSpPr>
            <a:spLocks xmlns:a="http://schemas.openxmlformats.org/drawingml/2006/main" noGrp="1"/>
          </p:cNvSpPr>
          <p:nvPr/>
        </p:nvSpPr>
        <p:spPr>
          <a:xfrm xmlns:a="http://schemas.openxmlformats.org/drawingml/2006/main">
            <a:off x="5905500" y="2781300"/>
            <a:ext cx="5257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未使用摂動でOVR 0.887に対し、2クラス通常LIME 0.898、Contrastive 0.901。差は小さい。</a:t>
            </a:r>
          </a:p>
        </p:txBody>
      </p:sp>
      <p:sp>
        <p:nvSpPr>
          <p:cNvPr id="15" name="">
            <a:extLst xmlns:a="http://schemas.openxmlformats.org/drawingml/2006/main">
              <a:ext uri="{FF2B5EF4-FFF2-40B4-BE49-F238E27FC236}">
                <a16:creationId xmlns:a16="http://schemas.microsoft.com/office/drawing/2014/main" id="{F856F5A7-5A7C-4575-8D82-060A3CF681F0}"/>
              </a:ext>
            </a:extLst>
          </p:cNvPr>
          <p:cNvSpPr>
            <a:spLocks xmlns:a="http://schemas.openxmlformats.org/drawingml/2006/main" noGrp="1"/>
          </p:cNvSpPr>
          <p:nvPr/>
        </p:nvSpPr>
        <p:spPr>
          <a:xfrm xmlns:a="http://schemas.openxmlformats.org/drawingml/2006/main">
            <a:off x="781050" y="4162425"/>
            <a:ext cx="1466850" cy="323850"/>
          </a:xfrm>
          <a:prstGeom xmlns:a="http://schemas.openxmlformats.org/drawingml/2006/main" prst="roundRect">
            <a:avLst>
              <a:gd name="adj" fmla="val 23529"/>
            </a:avLst>
          </a:prstGeom>
          <a:solidFill xmlns:a="http://schemas.openxmlformats.org/drawingml/2006/main">
            <a:srgbClr val="1479C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6DE01E8-AC26-4810-9B26-CF20ECB41AF2}"/>
              </a:ext>
            </a:extLst>
          </p:cNvPr>
          <p:cNvSpPr>
            <a:spLocks xmlns:a="http://schemas.openxmlformats.org/drawingml/2006/main" noGrp="1"/>
          </p:cNvSpPr>
          <p:nvPr/>
        </p:nvSpPr>
        <p:spPr>
          <a:xfrm xmlns:a="http://schemas.openxmlformats.org/drawingml/2006/main">
            <a:off x="876300" y="4181475"/>
            <a:ext cx="127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98"/>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効率</a:t>
            </a:r>
          </a:p>
        </p:txBody>
      </p:sp>
      <p:sp>
        <p:nvSpPr>
          <p:cNvPr id="17" name="">
            <a:extLst xmlns:a="http://schemas.openxmlformats.org/drawingml/2006/main">
              <a:ext uri="{FF2B5EF4-FFF2-40B4-BE49-F238E27FC236}">
                <a16:creationId xmlns:a16="http://schemas.microsoft.com/office/drawing/2014/main" id="{3561187F-EDCE-4655-9C1C-8C9ACDF80D15}"/>
              </a:ext>
            </a:extLst>
          </p:cNvPr>
          <p:cNvSpPr>
            <a:spLocks xmlns:a="http://schemas.openxmlformats.org/drawingml/2006/main" noGrp="1"/>
          </p:cNvSpPr>
          <p:nvPr/>
        </p:nvSpPr>
        <p:spPr>
          <a:xfrm xmlns:a="http://schemas.openxmlformats.org/drawingml/2006/main">
            <a:off x="2571750" y="4019550"/>
            <a:ext cx="295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479C9"/>
                </a:solidFill>
                <a:latin typeface="Hiragino Sans"/>
                <a:ea typeface="Hiragino Sans"/>
                <a:cs typeface="Hiragino Sans"/>
              </a:defRPr>
            </a:pPr>
            <a:r>
              <a:rPr sz="1725" b="1">
                <a:solidFill>
                  <a:srgbClr val="1479C9"/>
                </a:solidFill>
                <a:latin typeface="Hiragino Sans"/>
                <a:ea typeface="Hiragino Sans"/>
                <a:cs typeface="Hiragino Sans"/>
              </a:rPr>
              <a:t>クラス数に対してほぼ一定</a:t>
            </a:r>
          </a:p>
        </p:txBody>
      </p:sp>
      <p:sp>
        <p:nvSpPr>
          <p:cNvPr id="18" name="">
            <a:extLst xmlns:a="http://schemas.openxmlformats.org/drawingml/2006/main">
              <a:ext uri="{FF2B5EF4-FFF2-40B4-BE49-F238E27FC236}">
                <a16:creationId xmlns:a16="http://schemas.microsoft.com/office/drawing/2014/main" id="{DF1373C5-BA1C-4F06-B01B-1D80F1129354}"/>
              </a:ext>
            </a:extLst>
          </p:cNvPr>
          <p:cNvSpPr>
            <a:spLocks xmlns:a="http://schemas.openxmlformats.org/drawingml/2006/main" noGrp="1"/>
          </p:cNvSpPr>
          <p:nvPr/>
        </p:nvSpPr>
        <p:spPr>
          <a:xfrm xmlns:a="http://schemas.openxmlformats.org/drawingml/2006/main">
            <a:off x="5676900" y="4000500"/>
            <a:ext cx="5715000" cy="828675"/>
          </a:xfrm>
          <a:prstGeom xmlns:a="http://schemas.openxmlformats.org/drawingml/2006/main" prst="roundRect">
            <a:avLst>
              <a:gd name="adj" fmla="val 9195"/>
            </a:avLst>
          </a:prstGeom>
          <a:solidFill xmlns:a="http://schemas.openxmlformats.org/drawingml/2006/main">
            <a:srgbClr val="F7F9FC"/>
          </a:solidFill>
          <a:ln xmlns:a="http://schemas.openxmlformats.org/drawingml/2006/main" w="9525">
            <a:solidFill>
              <a:srgbClr val="E7EBF0"/>
            </a:solidFill>
          </a:ln>
        </p:spPr>
      </p:sp>
      <p:sp>
        <p:nvSpPr>
          <p:cNvPr id="19" name="">
            <a:extLst xmlns:a="http://schemas.openxmlformats.org/drawingml/2006/main">
              <a:ext uri="{FF2B5EF4-FFF2-40B4-BE49-F238E27FC236}">
                <a16:creationId xmlns:a16="http://schemas.microsoft.com/office/drawing/2014/main" id="{C42C7CC6-8EB3-4925-ACDA-75275B016A28}"/>
              </a:ext>
            </a:extLst>
          </p:cNvPr>
          <p:cNvSpPr>
            <a:spLocks xmlns:a="http://schemas.openxmlformats.org/drawingml/2006/main" noGrp="1"/>
          </p:cNvSpPr>
          <p:nvPr/>
        </p:nvSpPr>
        <p:spPr>
          <a:xfrm xmlns:a="http://schemas.openxmlformats.org/drawingml/2006/main">
            <a:off x="5905500" y="4086225"/>
            <a:ext cx="5257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Hiragino Sans"/>
                <a:ea typeface="Hiragino Sans"/>
                <a:cs typeface="Hiragino Sans"/>
              </a:defRPr>
            </a:pPr>
            <a:r>
              <a:rPr sz="1350" b="0">
                <a:solidFill>
                  <a:srgbClr val="17233D"/>
                </a:solidFill>
                <a:latin typeface="Hiragino Sans"/>
                <a:ea typeface="Hiragino Sans"/>
                <a:cs typeface="Hiragino Sans"/>
              </a:rPr>
              <a:t>OVRは全クラス分を学習するためCとともに増加。Top-1/Top-2の1ペアならC=10で約10分の1。</a:t>
            </a:r>
          </a:p>
        </p:txBody>
      </p:sp>
      <p:sp>
        <p:nvSpPr>
          <p:cNvPr id="20" name="">
            <a:extLst xmlns:a="http://schemas.openxmlformats.org/drawingml/2006/main">
              <a:ext uri="{FF2B5EF4-FFF2-40B4-BE49-F238E27FC236}">
                <a16:creationId xmlns:a16="http://schemas.microsoft.com/office/drawing/2014/main" id="{43C1EBC7-7066-42B2-A629-72182DDF5967}"/>
              </a:ext>
            </a:extLst>
          </p:cNvPr>
          <p:cNvSpPr>
            <a:spLocks xmlns:a="http://schemas.openxmlformats.org/drawingml/2006/main" noGrp="1"/>
          </p:cNvSpPr>
          <p:nvPr/>
        </p:nvSpPr>
        <p:spPr>
          <a:xfrm xmlns:a="http://schemas.openxmlformats.org/drawingml/2006/main">
            <a:off x="857250" y="5410200"/>
            <a:ext cx="10477500" cy="552450"/>
          </a:xfrm>
          <a:prstGeom xmlns:a="http://schemas.openxmlformats.org/drawingml/2006/main" prst="roundRect">
            <a:avLst>
              <a:gd name="adj" fmla="val 13793"/>
            </a:avLst>
          </a:prstGeom>
          <a:solidFill xmlns:a="http://schemas.openxmlformats.org/drawingml/2006/main">
            <a:srgbClr val="FFF4D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625886D-A26A-4C9F-BFA7-D48F5EA67F2F}"/>
              </a:ext>
            </a:extLst>
          </p:cNvPr>
          <p:cNvSpPr>
            <a:spLocks xmlns:a="http://schemas.openxmlformats.org/drawingml/2006/main" noGrp="1"/>
          </p:cNvSpPr>
          <p:nvPr/>
        </p:nvSpPr>
        <p:spPr>
          <a:xfrm xmlns:a="http://schemas.openxmlformats.org/drawingml/2006/main">
            <a:off x="1095375" y="5514975"/>
            <a:ext cx="1000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28C28"/>
                </a:solidFill>
                <a:latin typeface="Hiragino Sans"/>
                <a:ea typeface="Hiragino Sans"/>
                <a:cs typeface="Hiragino Sans"/>
              </a:defRPr>
            </a:pPr>
            <a:r>
              <a:rPr sz="1500" b="1">
                <a:solidFill>
                  <a:srgbClr val="F28C28"/>
                </a:solidFill>
                <a:latin typeface="Hiragino Sans"/>
                <a:ea typeface="Hiragino Sans"/>
                <a:cs typeface="Hiragino Sans"/>
              </a:rPr>
              <a:t>2クラス化の主な効果は、予測値の大幅改善より、A/Bを分ける局所特徴を限られた表示枠へ集めること</a:t>
            </a:r>
          </a:p>
        </p:txBody>
      </p:sp>
      <p:sp>
        <p:nvSpPr>
          <p:cNvPr id="22" name="">
            <a:extLst xmlns:a="http://schemas.openxmlformats.org/drawingml/2006/main">
              <a:ext uri="{FF2B5EF4-FFF2-40B4-BE49-F238E27FC236}">
                <a16:creationId xmlns:a16="http://schemas.microsoft.com/office/drawing/2014/main" id="{6A52FB7C-303A-4959-89BD-DB8B478F9570}"/>
              </a:ext>
            </a:extLst>
          </p:cNvPr>
          <p:cNvSpPr>
            <a:spLocks xmlns:a="http://schemas.openxmlformats.org/drawingml/2006/main" noGrp="1"/>
          </p:cNvSpPr>
          <p:nvPr/>
        </p:nvSpPr>
        <p:spPr>
          <a:xfrm xmlns:a="http://schemas.openxmlformats.org/drawingml/2006/main">
            <a:off x="762000" y="60388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B817F0E-871B-492A-A790-449BB5A8B05F}"/>
              </a:ext>
            </a:extLst>
          </p:cNvPr>
          <p:cNvSpPr>
            <a:spLocks xmlns:a="http://schemas.openxmlformats.org/drawingml/2006/main" noGrp="1"/>
          </p:cNvSpPr>
          <p:nvPr/>
        </p:nvSpPr>
        <p:spPr>
          <a:xfrm xmlns:a="http://schemas.openxmlformats.org/drawingml/2006/main">
            <a:off x="952500" y="60864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Hiragino Sans"/>
                <a:ea typeface="Hiragino Sans"/>
                <a:cs typeface="Hiragino Sans"/>
              </a:defRPr>
            </a:pPr>
            <a:r>
              <a:rPr sz="1350" b="1">
                <a:solidFill>
                  <a:srgbClr val="1479C9"/>
                </a:solidFill>
                <a:latin typeface="Hiragino Sans"/>
                <a:ea typeface="Hiragino Sans"/>
                <a:cs typeface="Hiragino Sans"/>
              </a:rPr>
              <a:t>このスライドの主張：特徴関連性の改善を中心に、忠実度の小幅改善と計算効率を併せて主張する</a:t>
            </a:r>
          </a:p>
        </p:txBody>
      </p:sp>
    </p:spTree>
    <p:extLst>
      <p:ext uri="{BB962C8B-B14F-4D97-AF65-F5344CB8AC3E}">
        <p14:creationId xmlns:p14="http://schemas.microsoft.com/office/powerpoint/2010/main" val="1089054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Hiragino Sans"/>
        <a:ea typeface="Hiragino Sans"/>
        <a:cs typeface="Hiragino Sans"/>
      </a:majorFont>
      <a:minorFont>
        <a:latin typeface="Hiragino Sans"/>
        <a:ea typeface="Hiragino Sans"/>
        <a:cs typeface="Hiragino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2026-09-10T07:17:01.5950000Z</dcterms:created>
  <dcterms:modified xsi:type="dcterms:W3CDTF">2026-09-10T07:17:01.5950000Z</dcterms:modified>
</coreProperties>
</file>