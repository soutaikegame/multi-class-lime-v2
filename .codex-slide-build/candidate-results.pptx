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slides/charts/chart1.xml" ContentType="application/vnd.openxmlformats-officedocument.drawingml.chart+xml"/>
  <Override PartName="/ppt/notesSlides/notesSlide13.xml" ContentType="application/vnd.openxmlformats-officedocument.presentationml.notesSlide+xml"/>
  <Override PartName="/ppt/slides/slide14.xml" ContentType="application/vnd.openxmlformats-officedocument.presentationml.slide+xml"/>
  <Override PartName="/ppt/slides/charts/chart2.xml" ContentType="application/vnd.openxmlformats-officedocument.drawingml.chart+xml"/>
  <Override PartName="/ppt/notesSlides/notesSlide14.xml" ContentType="application/vnd.openxmlformats-officedocument.presentationml.notesSlide+xml"/>
  <Override PartName="/ppt/slides/slide15.xml" ContentType="application/vnd.openxmlformats-officedocument.presentationml.slide+xml"/>
  <Override PartName="/ppt/slides/charts/chart3.xml" ContentType="application/vnd.openxmlformats-officedocument.drawingml.chart+xml"/>
  <Override PartName="/ppt/notesSlides/notesSlide15.xml" ContentType="application/vnd.openxmlformats-officedocument.presentationml.notesSlide+xml"/>
  <Override PartName="/ppt/slides/slide16.xml" ContentType="application/vnd.openxmlformats-officedocument.presentationml.slide+xml"/>
  <Override PartName="/ppt/slides/charts/chart4.xml" ContentType="application/vnd.openxmlformats-officedocument.drawingml.chart+xml"/>
  <Override PartName="/ppt/slides/charts/chart5.xml" ContentType="application/vnd.openxmlformats-officedocument.drawingml.chart+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97fe016a657c4bbc" /><Relationship Type="http://schemas.openxmlformats.org/officeDocument/2006/relationships/extended-properties" Target="/docProps/app.xml" Id="R8dabbdc0ed444ffd" /><Relationship Type="http://schemas.openxmlformats.org/officeDocument/2006/relationships/officeDocument" Target="/ppt/presentation.xml" Id="R67b6ad0c72124103" /></Relationships>
</file>

<file path=ppt/presentation.xml><?xml version="1.0" encoding="utf-8"?>
<p:presentation xmlns:p="http://schemas.openxmlformats.org/presentationml/2006/main">
  <p:sldMasterIdLst>
    <p:sldMasterId xmlns:r="http://schemas.openxmlformats.org/officeDocument/2006/relationships" id="2147483648" r:id="R82272124306b4c23"/>
  </p:sldMasterIdLst>
  <p:notesMasterIdLst>
    <p:notesMasterId xmlns:r="http://schemas.openxmlformats.org/officeDocument/2006/relationships" r:id="R161f50741b2a42da"/>
  </p:notesMasterIdLst>
  <p:sldIdLst>
    <p:sldId xmlns:r="http://schemas.openxmlformats.org/officeDocument/2006/relationships" id="256" r:id="Rd31196bf189643ca"/>
    <p:sldId xmlns:r="http://schemas.openxmlformats.org/officeDocument/2006/relationships" id="257" r:id="Re15b8e44fd36456e"/>
    <p:sldId xmlns:r="http://schemas.openxmlformats.org/officeDocument/2006/relationships" id="258" r:id="Rd801c12662f54f07"/>
    <p:sldId xmlns:r="http://schemas.openxmlformats.org/officeDocument/2006/relationships" id="259" r:id="R109ca8852ef74149"/>
    <p:sldId xmlns:r="http://schemas.openxmlformats.org/officeDocument/2006/relationships" id="260" r:id="R4ed4d61b6a464341"/>
    <p:sldId xmlns:r="http://schemas.openxmlformats.org/officeDocument/2006/relationships" id="261" r:id="R7eb358f780a74762"/>
    <p:sldId xmlns:r="http://schemas.openxmlformats.org/officeDocument/2006/relationships" id="262" r:id="R0446e938bc194909"/>
    <p:sldId xmlns:r="http://schemas.openxmlformats.org/officeDocument/2006/relationships" id="263" r:id="R0422d6573cbc49e9"/>
    <p:sldId xmlns:r="http://schemas.openxmlformats.org/officeDocument/2006/relationships" id="264" r:id="R8cfac57241234e40"/>
    <p:sldId xmlns:r="http://schemas.openxmlformats.org/officeDocument/2006/relationships" id="265" r:id="R80b5c388a11c471d"/>
    <p:sldId xmlns:r="http://schemas.openxmlformats.org/officeDocument/2006/relationships" id="266" r:id="Ref9fbf093b9d443f"/>
    <p:sldId xmlns:r="http://schemas.openxmlformats.org/officeDocument/2006/relationships" id="267" r:id="Re5b4e72251914714"/>
    <p:sldId xmlns:r="http://schemas.openxmlformats.org/officeDocument/2006/relationships" id="268" r:id="Rb8f26d90d3dc485a"/>
    <p:sldId xmlns:r="http://schemas.openxmlformats.org/officeDocument/2006/relationships" id="269" r:id="R8ba4aba32ddd42db"/>
    <p:sldId xmlns:r="http://schemas.openxmlformats.org/officeDocument/2006/relationships" id="270" r:id="R3b8aae61d82448b2"/>
    <p:sldId xmlns:r="http://schemas.openxmlformats.org/officeDocument/2006/relationships" id="271" r:id="Ref123304efd547e4"/>
    <p:sldId xmlns:r="http://schemas.openxmlformats.org/officeDocument/2006/relationships" id="272" r:id="Rf13552740b1546e4"/>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2008" cy="72008"/>
</p:viewPr>
</file>

<file path=ppt/_rels/presentation.xml.rels>&#65279;<?xml version="1.0" encoding="utf-8"?><Relationships xmlns="http://schemas.openxmlformats.org/package/2006/relationships"><Relationship Type="http://schemas.openxmlformats.org/officeDocument/2006/relationships/theme" Target="/ppt/theme/theme1.xml" Id="R10d4acb431c445ca" /><Relationship Type="http://schemas.openxmlformats.org/officeDocument/2006/relationships/slideMaster" Target="/ppt/slideMasters/slideMaster1.xml" Id="R82272124306b4c23" /><Relationship Type="http://schemas.openxmlformats.org/officeDocument/2006/relationships/notesMaster" Target="/ppt/notesMasters/notesMaster1.xml" Id="R161f50741b2a42da" /><Relationship Type="http://schemas.openxmlformats.org/officeDocument/2006/relationships/presProps" Target="/ppt/presProps.xml" Id="R18bffb1b0a794dc2" /><Relationship Type="http://schemas.openxmlformats.org/officeDocument/2006/relationships/viewProps" Target="/ppt/viewProps.xml" Id="R2c9c313aa20b4b4b" /><Relationship Type="http://schemas.openxmlformats.org/officeDocument/2006/relationships/tableStyles" Target="/ppt/tableStyles.xml" Id="R72c5477c896b4a26" /><Relationship Type="http://schemas.openxmlformats.org/officeDocument/2006/relationships/slide" Target="/ppt/slides/slide1.xml" Id="Rd31196bf189643ca" /><Relationship Type="http://schemas.openxmlformats.org/officeDocument/2006/relationships/slide" Target="/ppt/slides/slide2.xml" Id="Re15b8e44fd36456e" /><Relationship Type="http://schemas.openxmlformats.org/officeDocument/2006/relationships/slide" Target="/ppt/slides/slide3.xml" Id="Rd801c12662f54f07" /><Relationship Type="http://schemas.openxmlformats.org/officeDocument/2006/relationships/slide" Target="/ppt/slides/slide4.xml" Id="R109ca8852ef74149" /><Relationship Type="http://schemas.openxmlformats.org/officeDocument/2006/relationships/slide" Target="/ppt/slides/slide5.xml" Id="R4ed4d61b6a464341" /><Relationship Type="http://schemas.openxmlformats.org/officeDocument/2006/relationships/slide" Target="/ppt/slides/slide6.xml" Id="R7eb358f780a74762" /><Relationship Type="http://schemas.openxmlformats.org/officeDocument/2006/relationships/slide" Target="/ppt/slides/slide7.xml" Id="R0446e938bc194909" /><Relationship Type="http://schemas.openxmlformats.org/officeDocument/2006/relationships/slide" Target="/ppt/slides/slide8.xml" Id="R0422d6573cbc49e9" /><Relationship Type="http://schemas.openxmlformats.org/officeDocument/2006/relationships/slide" Target="/ppt/slides/slide9.xml" Id="R8cfac57241234e40" /><Relationship Type="http://schemas.openxmlformats.org/officeDocument/2006/relationships/slide" Target="/ppt/slides/slide10.xml" Id="R80b5c388a11c471d" /><Relationship Type="http://schemas.openxmlformats.org/officeDocument/2006/relationships/slide" Target="/ppt/slides/slide11.xml" Id="Ref9fbf093b9d443f" /><Relationship Type="http://schemas.openxmlformats.org/officeDocument/2006/relationships/slide" Target="/ppt/slides/slide12.xml" Id="Re5b4e72251914714" /><Relationship Type="http://schemas.openxmlformats.org/officeDocument/2006/relationships/slide" Target="/ppt/slides/slide13.xml" Id="Rb8f26d90d3dc485a" /><Relationship Type="http://schemas.openxmlformats.org/officeDocument/2006/relationships/slide" Target="/ppt/slides/slide14.xml" Id="R8ba4aba32ddd42db" /><Relationship Type="http://schemas.openxmlformats.org/officeDocument/2006/relationships/slide" Target="/ppt/slides/slide15.xml" Id="R3b8aae61d82448b2" /><Relationship Type="http://schemas.openxmlformats.org/officeDocument/2006/relationships/slide" Target="/ppt/slides/slide16.xml" Id="Ref123304efd547e4" /><Relationship Type="http://schemas.openxmlformats.org/officeDocument/2006/relationships/slide" Target="/ppt/slides/slide17.xml" Id="Rf13552740b1546e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1c0a92ae70843c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40ba3d2e97a4e5c" /><Relationship Type="http://schemas.openxmlformats.org/officeDocument/2006/relationships/notesMaster" Target="/ppt/notesMasters/notesMaster1.xml" Id="Rcc3110b97ef94bce" /></Relationships>
</file>

<file path=ppt/notesSlides/_rels/notesSlide2.xml.rels>&#65279;<?xml version="1.0" encoding="utf-8"?><Relationships xmlns="http://schemas.openxmlformats.org/package/2006/relationships"><Relationship Type="http://schemas.openxmlformats.org/officeDocument/2006/relationships/slide" Target="/ppt/slides/slide2.xml" Id="R8e774a9374364451" /><Relationship Type="http://schemas.openxmlformats.org/officeDocument/2006/relationships/notesMaster" Target="/ppt/notesMasters/notesMaster1.xml" Id="Rdf71126d785f4a69" /></Relationships>
</file>

<file path=ppt/notesSlides/_rels/notesSlide3.xml.rels>&#65279;<?xml version="1.0" encoding="utf-8"?><Relationships xmlns="http://schemas.openxmlformats.org/package/2006/relationships"><Relationship Type="http://schemas.openxmlformats.org/officeDocument/2006/relationships/slide" Target="/ppt/slides/slide3.xml" Id="R20584afc442d4655" /><Relationship Type="http://schemas.openxmlformats.org/officeDocument/2006/relationships/notesMaster" Target="/ppt/notesMasters/notesMaster1.xml" Id="R22f1b34555b342c3" /></Relationships>
</file>

<file path=ppt/notesSlides/_rels/notesSlide4.xml.rels>&#65279;<?xml version="1.0" encoding="utf-8"?><Relationships xmlns="http://schemas.openxmlformats.org/package/2006/relationships"><Relationship Type="http://schemas.openxmlformats.org/officeDocument/2006/relationships/slide" Target="/ppt/slides/slide4.xml" Id="Rad3602a56edf4a74" /><Relationship Type="http://schemas.openxmlformats.org/officeDocument/2006/relationships/notesMaster" Target="/ppt/notesMasters/notesMaster1.xml" Id="Re81e9ba106c84730" /></Relationships>
</file>

<file path=ppt/notesSlides/_rels/notesSlide5.xml.rels>&#65279;<?xml version="1.0" encoding="utf-8"?><Relationships xmlns="http://schemas.openxmlformats.org/package/2006/relationships"><Relationship Type="http://schemas.openxmlformats.org/officeDocument/2006/relationships/slide" Target="/ppt/slides/slide5.xml" Id="R71fd44c6864a4215" /><Relationship Type="http://schemas.openxmlformats.org/officeDocument/2006/relationships/notesMaster" Target="/ppt/notesMasters/notesMaster1.xml" Id="Ra4e7a48d3ef54222" /></Relationships>
</file>

<file path=ppt/notesSlides/_rels/notesSlide6.xml.rels>&#65279;<?xml version="1.0" encoding="utf-8"?><Relationships xmlns="http://schemas.openxmlformats.org/package/2006/relationships"><Relationship Type="http://schemas.openxmlformats.org/officeDocument/2006/relationships/slide" Target="/ppt/slides/slide6.xml" Id="Rebdf00d6e8e54732" /><Relationship Type="http://schemas.openxmlformats.org/officeDocument/2006/relationships/notesMaster" Target="/ppt/notesMasters/notesMaster1.xml" Id="R2125596062c14f56" /></Relationships>
</file>

<file path=ppt/notesSlides/_rels/notesSlide7.xml.rels>&#65279;<?xml version="1.0" encoding="utf-8"?><Relationships xmlns="http://schemas.openxmlformats.org/package/2006/relationships"><Relationship Type="http://schemas.openxmlformats.org/officeDocument/2006/relationships/slide" Target="/ppt/slides/slide7.xml" Id="Rb77cd1b71fa34664" /><Relationship Type="http://schemas.openxmlformats.org/officeDocument/2006/relationships/notesMaster" Target="/ppt/notesMasters/notesMaster1.xml" Id="R9b510a57cda44acc" /></Relationships>
</file>

<file path=ppt/notesSlides/_rels/notesSlide8.xml.rels>&#65279;<?xml version="1.0" encoding="utf-8"?><Relationships xmlns="http://schemas.openxmlformats.org/package/2006/relationships"><Relationship Type="http://schemas.openxmlformats.org/officeDocument/2006/relationships/slide" Target="/ppt/slides/slide8.xml" Id="Rc0d40683fe234d06" /><Relationship Type="http://schemas.openxmlformats.org/officeDocument/2006/relationships/notesMaster" Target="/ppt/notesMasters/notesMaster1.xml" Id="Rf9fa3f839b22444b" /></Relationships>
</file>

<file path=ppt/notesSlides/_rels/notesSlide9.xml.rels>&#65279;<?xml version="1.0" encoding="utf-8"?><Relationships xmlns="http://schemas.openxmlformats.org/package/2006/relationships"><Relationship Type="http://schemas.openxmlformats.org/officeDocument/2006/relationships/slide" Target="/ppt/slides/slide9.xml" Id="R109fea9cb3e740c9" /><Relationship Type="http://schemas.openxmlformats.org/officeDocument/2006/relationships/notesMaster" Target="/ppt/notesMasters/notesMaster1.xml" Id="R275a89c520f14d41"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255fd6007aab4dc1" /><Relationship Type="http://schemas.openxmlformats.org/officeDocument/2006/relationships/notesMaster" Target="/ppt/notesMasters/notesMaster1.xml" Id="R327ae139df2d400d"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ba60cad540324f07" /><Relationship Type="http://schemas.openxmlformats.org/officeDocument/2006/relationships/notesMaster" Target="/ppt/notesMasters/notesMaster1.xml" Id="Re4c3e2798e42409e"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c136dab2f28f4ff6" /><Relationship Type="http://schemas.openxmlformats.org/officeDocument/2006/relationships/notesMaster" Target="/ppt/notesMasters/notesMaster1.xml" Id="R2172d64ed87a45f2"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b4d7140314144dbd" /><Relationship Type="http://schemas.openxmlformats.org/officeDocument/2006/relationships/notesMaster" Target="/ppt/notesMasters/notesMaster1.xml" Id="R18939d5e6e3d488b"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29f80397c40b4b3a" /><Relationship Type="http://schemas.openxmlformats.org/officeDocument/2006/relationships/notesMaster" Target="/ppt/notesMasters/notesMaster1.xml" Id="R4995ecd0426b40b2"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951f5a8dbfda44b6" /><Relationship Type="http://schemas.openxmlformats.org/officeDocument/2006/relationships/notesMaster" Target="/ppt/notesMasters/notesMaster1.xml" Id="R87f9ddf734224509"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4603b8569d5e425d" /><Relationship Type="http://schemas.openxmlformats.org/officeDocument/2006/relationships/notesMaster" Target="/ppt/notesMasters/notesMaster1.xml" Id="R613beafe814d48af"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b6953eb7ef3c4225" /><Relationship Type="http://schemas.openxmlformats.org/officeDocument/2006/relationships/notesMaster" Target="/ppt/notesMasters/notesMaster1.xml" Id="R77a368c585e743e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LIMEの基本的な仕組みを二値分類の例から説明し、Slide 6以降で多クラス分類へ話を広げる。今回はFisherの提案手法や実験結果には踏み込まず、研究の出発点を整理する。</a:t>
            </a:r>
          </a:p>
          <a:p xmlns:a="http://schemas.openxmlformats.org/drawingml/2006/main">
            <a:endParaRPr/>
          </a:p>
          <a:p xmlns:a="http://schemas.openxmlformats.org/drawingml/2006/main">
            <a:r>
              <a:t>[Sources]</a:t>
            </a:r>
          </a:p>
          <a:p xmlns:a="http://schemas.openxmlformats.org/drawingml/2006/main">
            <a:r>
              <a:t>- https://arxiv.org/abs/1602.04938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XAIはExplainable Artificial Intelligenceの略。予測値だけでは分からない判断根拠を示し、予測の確認だけでなく、モデルが本質的でない特徴を学んでいないかを調べるデバッグにも役立つ。図の値は実験結果ではなく模式例。</a:t>
            </a:r>
          </a:p>
          <a:p xmlns:a="http://schemas.openxmlformats.org/drawingml/2006/main">
            <a:endParaRPr/>
          </a:p>
          <a:p xmlns:a="http://schemas.openxmlformats.org/drawingml/2006/main">
            <a:r>
              <a:t>[Sources]</a:t>
            </a:r>
          </a:p>
          <a:p xmlns:a="http://schemas.openxmlformats.org/drawingml/2006/main">
            <a:r>
              <a:t>- https://arxiv.org/abs/1602.04938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IMEはブラックボックス全体を一本の単純なモデルに置き換えるのではない。説明対象の入力周辺だけに重みを置き、その狭い範囲で元モデルと似た出力を返す解釈可能なモデルを学習する。したがって説明は局所的であり、別の入力では別の説明になりうる。</a:t>
            </a:r>
          </a:p>
          <a:p xmlns:a="http://schemas.openxmlformats.org/drawingml/2006/main">
            <a:endParaRPr/>
          </a:p>
          <a:p xmlns:a="http://schemas.openxmlformats.org/drawingml/2006/main">
            <a:r>
              <a:t>[Sources]</a:t>
            </a:r>
          </a:p>
          <a:p xmlns:a="http://schemas.openxmlformats.org/drawingml/2006/main">
            <a:r>
              <a:t>- https://arxiv.org/abs/1602.04938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件の入力を選び、周辺に人工サンプルを生成し、ブラックボックスの予測を取得する。元の入力に近いサンプルほど強く重み付けし、少数の特徴を使う局所モデルを学習する。目的関数の第1項は局所的な予測のずれ、第2項は説明モデルの複雑さを表す。</a:t>
            </a:r>
          </a:p>
          <a:p xmlns:a="http://schemas.openxmlformats.org/drawingml/2006/main">
            <a:endParaRPr/>
          </a:p>
          <a:p xmlns:a="http://schemas.openxmlformats.org/drawingml/2006/main">
            <a:r>
              <a:t>[Sources]</a:t>
            </a:r>
          </a:p>
          <a:p xmlns:a="http://schemas.openxmlformats.org/drawingml/2006/main">
            <a:r>
              <a:t>- https://arxiv.org/abs/1602.04938</a:t>
            </a:r>
          </a:p>
          <a:p xmlns:a="http://schemas.openxmlformats.org/drawingml/2006/main">
            <a:r>
              <a:t>- https://github.com/marcotcr/lime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IMEは指定した1クラスの予測確率を1本の局所モデルで近似する。2値分類では生存対非生存として直感的に読める。LIME自体は2値分類専用ではないが、公式実装では指定ラベルの確率列ごとに局所回帰を学習するため、基本の説明単位は対象クラス対その他に近い。</a:t>
            </a:r>
          </a:p>
          <a:p xmlns:a="http://schemas.openxmlformats.org/drawingml/2006/main">
            <a:endParaRPr/>
          </a:p>
          <a:p xmlns:a="http://schemas.openxmlformats.org/drawingml/2006/main">
            <a:r>
              <a:t>[Sources]</a:t>
            </a:r>
          </a:p>
          <a:p xmlns:a="http://schemas.openxmlformats.org/drawingml/2006/main">
            <a:r>
              <a:t>- https://arxiv.org/abs/1602.04938</a:t>
            </a:r>
          </a:p>
          <a:p xmlns:a="http://schemas.openxmlformats.org/drawingml/2006/main">
            <a:r>
              <a:t>- https://github.com/marcotcr/lime/blob/master/lime/lime_base.py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ここで初めて多クラス分類へ広げる。one-vs-restは各クラスについて、そのクラス対その他という二値問題を作る代表的な多クラス化戦略。LIMEも多クラス分類器へ適用できるが、指定したラベルの確率列をクラスごとに別々に近似する。近傍は共有できても、局所モデルと特徴選択は別々になる。</a:t>
            </a:r>
          </a:p>
          <a:p xmlns:a="http://schemas.openxmlformats.org/drawingml/2006/main">
            <a:endParaRPr/>
          </a:p>
          <a:p xmlns:a="http://schemas.openxmlformats.org/drawingml/2006/main">
            <a:r>
              <a:t>[Sources]</a:t>
            </a:r>
          </a:p>
          <a:p xmlns:a="http://schemas.openxmlformats.org/drawingml/2006/main">
            <a:r>
              <a:t>- https://arxiv.org/abs/1602.04938</a:t>
            </a:r>
          </a:p>
          <a:p xmlns:a="http://schemas.openxmlformats.org/drawingml/2006/main">
            <a:r>
              <a:t>- https://github.com/marcotcr/lime/blob/master/lime/lime_base.py</a:t>
            </a:r>
          </a:p>
          <a:p xmlns:a="http://schemas.openxmlformats.org/drawingml/2006/main">
            <a:r>
              <a:t>- https://scikit-learn.org/stable/modules/generated/sklearn.multiclass.OneVsRestClassifier.html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クラス別の説明それぞれには意味がある。しかし、クラスごとに選ばれる特徴、順位、符号が異なると、利用者は複数の説明を横断してAとBの違いを組み立てなければならない。ここで問題にしているのは数理的な矛盾ではなく、多クラス全体を読む負担である。</a:t>
            </a:r>
          </a:p>
          <a:p xmlns:a="http://schemas.openxmlformats.org/drawingml/2006/main">
            <a:endParaRPr/>
          </a:p>
          <a:p xmlns:a="http://schemas.openxmlformats.org/drawingml/2006/main">
            <a:r>
              <a:t>[Sources]</a:t>
            </a:r>
          </a:p>
          <a:p xmlns:a="http://schemas.openxmlformats.org/drawingml/2006/main">
            <a:r>
              <a:t>- https://arxiv.org/abs/2005.01427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IMEtreeは局所サロゲートとして多出力回帰木を用い、一つの木で全クラスの予測確率を同時に近似する。分岐条件を共有するため、同じ論理構造からクラス間を比較できる。出力形式はLIMEの特徴重みではなく、ルールや対比・反実仮想説明へ展開される。</a:t>
            </a:r>
          </a:p>
          <a:p xmlns:a="http://schemas.openxmlformats.org/drawingml/2006/main">
            <a:endParaRPr/>
          </a:p>
          <a:p xmlns:a="http://schemas.openxmlformats.org/drawingml/2006/main">
            <a:r>
              <a:t>[Sources]</a:t>
            </a:r>
          </a:p>
          <a:p xmlns:a="http://schemas.openxmlformats.org/drawingml/2006/main">
            <a:r>
              <a:t>- https://arxiv.org/abs/2005.01427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LIMEはクラス別、LIMEtreeは共通構造、LIPExは確率分布全体という異なる設計を取る。LIPExはHellinger距離に基づく回帰で特徴と各クラスの関係を行列として表すが、OpenReview上ではICLR 2024のWithdrawn Submissionである。bLIMEyは直接の多クラス解法ではなく、LIME型説明器を部品へ分解する設計枠組み。</a:t>
            </a:r>
          </a:p>
          <a:p xmlns:a="http://schemas.openxmlformats.org/drawingml/2006/main">
            <a:endParaRPr/>
          </a:p>
          <a:p xmlns:a="http://schemas.openxmlformats.org/drawingml/2006/main">
            <a:r>
              <a:t>[Sources]</a:t>
            </a:r>
          </a:p>
          <a:p xmlns:a="http://schemas.openxmlformats.org/drawingml/2006/main">
            <a:r>
              <a:t>- https://arxiv.org/abs/1602.04938</a:t>
            </a:r>
          </a:p>
          <a:p xmlns:a="http://schemas.openxmlformats.org/drawingml/2006/main">
            <a:r>
              <a:t>- https://arxiv.org/abs/2005.01427</a:t>
            </a:r>
          </a:p>
          <a:p xmlns:a="http://schemas.openxmlformats.org/drawingml/2006/main">
            <a:r>
              <a:t>- https://openreview.net/forum?id=R7946uagL2</a:t>
            </a:r>
          </a:p>
          <a:p xmlns:a="http://schemas.openxmlformats.org/drawingml/2006/main">
            <a:r>
              <a:t>- https://arxiv.org/abs/1910.13016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研究目的は一つの指標を上げることではなく、多クラス説明のどの性質を改善するかを定義すること。予測再現なら忠実性、説明の一貫性なら共有構造や安定性、対比の理解なら人を含む評価が必要になる。次の段階では同じ入力に対する複数手法の出力を比較し、主対象を決める。</a:t>
            </a:r>
          </a:p>
          <a:p xmlns:a="http://schemas.openxmlformats.org/drawingml/2006/main">
            <a:endParaRPr/>
          </a:p>
          <a:p xmlns:a="http://schemas.openxmlformats.org/drawingml/2006/main">
            <a:r>
              <a:t>[Sources]</a:t>
            </a:r>
          </a:p>
          <a:p xmlns:a="http://schemas.openxmlformats.org/drawingml/2006/main">
            <a:r>
              <a:t>- https://arxiv.org/abs/1602.04938</a:t>
            </a:r>
          </a:p>
          <a:p xmlns:a="http://schemas.openxmlformats.org/drawingml/2006/main">
            <a:r>
              <a:t>- https://arxiv.org/abs/2005.01427</a:t>
            </a:r>
          </a:p>
          <a:p xmlns:a="http://schemas.openxmlformats.org/drawingml/2006/main">
            <a:r>
              <a:t>- https://openreview.net/forum?id=R7946uagL2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評価設計の出典: docs/OVO_VS_OVR_EXPERIMENT_SUMMARY.md, src/fidelity.py, src/metrics.py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実験設定の出典: src/run_ovo_vs_ovr_experiment.py, src/run_blackbox_comparison_experiment.py, src/run_feature_role_experiment.py, src/run_timing_experiment.py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出典: results/pairwise_lime_baseline_summary.csv, results/pairwise_lime_baseline_overall_stats.csv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出典: results/blackbox_comparison_summary.csv, results/blackbox_comparison_stats.csv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出典: results/feature_role_summary.csv, results/feature_role_stats.csv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出典: results/timing_plot_summary.csv, results/timing_results.csv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考察の出典: docs/DISCUSSION.md。結論は今回の合成データ実験の範囲に限定する。</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5ad8abe9fb54af5"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d338922d44b4acb" /><Relationship Type="http://schemas.openxmlformats.org/officeDocument/2006/relationships/slideLayout" Target="/ppt/slideLayouts/slideLayout1.xml" Id="R16d92eea92b44a11"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6d92eea92b44a11"/>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4cd477ea16934b84" /><Relationship Type="http://schemas.openxmlformats.org/officeDocument/2006/relationships/notesSlide" Target="/ppt/notesSlides/notesSlide1.xml" Id="R9eb3d8ce36764b3f"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73a7f3a764a740b5" /><Relationship Type="http://schemas.openxmlformats.org/officeDocument/2006/relationships/notesSlide" Target="/ppt/notesSlides/notesSlide2.xml" Id="Rc3bf208a3f0a40ed"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0ae930882ac249dc" /><Relationship Type="http://schemas.openxmlformats.org/officeDocument/2006/relationships/notesSlide" Target="/ppt/notesSlides/notesSlide3.xml" Id="R4d26db1c49684dc9"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25ebac24d16d42b8" /><Relationship Type="http://schemas.openxmlformats.org/officeDocument/2006/relationships/notesSlide" Target="/ppt/notesSlides/notesSlide4.xml" Id="R9fecc1a7be65425a"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afb7d40638a546eb" /><Relationship Type="http://schemas.openxmlformats.org/officeDocument/2006/relationships/notesSlide" Target="/ppt/notesSlides/notesSlide5.xml" Id="R007f2187f60c4c8d"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fbcbe60fc6fc4288" /><Relationship Type="http://schemas.openxmlformats.org/officeDocument/2006/relationships/notesSlide" Target="/ppt/notesSlides/notesSlide6.xml" Id="R85f7e21a28d24bc2"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564e5831b3904700" /><Relationship Type="http://schemas.openxmlformats.org/officeDocument/2006/relationships/notesSlide" Target="/ppt/notesSlides/notesSlide7.xml" Id="R3a0355ca04db46f3"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5b4c511e40214fe4" /><Relationship Type="http://schemas.openxmlformats.org/officeDocument/2006/relationships/notesSlide" Target="/ppt/notesSlides/notesSlide8.xml" Id="Rc7cee3f2aed14eeb"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0c61e7e2e8db486c" /><Relationship Type="http://schemas.openxmlformats.org/officeDocument/2006/relationships/notesSlide" Target="/ppt/notesSlides/notesSlide9.xml" Id="Rbadcfeeab9454d7f"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d2e46970c7ee4038" /><Relationship Type="http://schemas.openxmlformats.org/officeDocument/2006/relationships/notesSlide" Target="/ppt/notesSlides/notesSlide10.xml" Id="R84545081cca44660"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4d3a19ad18c24d5c" /><Relationship Type="http://schemas.openxmlformats.org/officeDocument/2006/relationships/notesSlide" Target="/ppt/notesSlides/notesSlide11.xml" Id="R10a0761878d94380"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fd6f88b277644a78" /><Relationship Type="http://schemas.openxmlformats.org/officeDocument/2006/relationships/notesSlide" Target="/ppt/notesSlides/notesSlide12.xml" Id="R9465a3947f1f43c5"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8586d262bf9c40a7" /><Relationship Type="http://schemas.openxmlformats.org/officeDocument/2006/relationships/chart" Target="/ppt/slides/charts/chart1.xml" Id="R9edb2b33c39f4a70" /><Relationship Type="http://schemas.openxmlformats.org/officeDocument/2006/relationships/notesSlide" Target="/ppt/notesSlides/notesSlide13.xml" Id="Rf71567b71a634137"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a0d1a11477c54e41" /><Relationship Type="http://schemas.openxmlformats.org/officeDocument/2006/relationships/chart" Target="/ppt/slides/charts/chart2.xml" Id="Rcd41147f3cfd4f29" /><Relationship Type="http://schemas.openxmlformats.org/officeDocument/2006/relationships/notesSlide" Target="/ppt/notesSlides/notesSlide14.xml" Id="Rc8336259505b4f6c"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e0e1d33bc3424e41" /><Relationship Type="http://schemas.openxmlformats.org/officeDocument/2006/relationships/chart" Target="/ppt/slides/charts/chart3.xml" Id="Rd4f4ff27fe28405e" /><Relationship Type="http://schemas.openxmlformats.org/officeDocument/2006/relationships/notesSlide" Target="/ppt/notesSlides/notesSlide15.xml" Id="R0fd721cbfd104ebf"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708d2753e4234154" /><Relationship Type="http://schemas.openxmlformats.org/officeDocument/2006/relationships/chart" Target="/ppt/slides/charts/chart4.xml" Id="R99ce9dd4156a4337" /><Relationship Type="http://schemas.openxmlformats.org/officeDocument/2006/relationships/chart" Target="/ppt/slides/charts/chart5.xml" Id="Rbe9dc33c14334bc0" /><Relationship Type="http://schemas.openxmlformats.org/officeDocument/2006/relationships/notesSlide" Target="/ppt/notesSlides/notesSlide16.xml" Id="R7d7da63e1de34d9e"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2577dc6d18ad48d4" /><Relationship Type="http://schemas.openxmlformats.org/officeDocument/2006/relationships/notesSlide" Target="/ppt/notesSlides/notesSlide17.xml" Id="R5f7890d9640a401b" /></Relationships>
</file>

<file path=ppt/slides/charts/chart1.xml><?xml version="1.0" encoding="utf-8"?>
<c:chartSpace xmlns:c="http://schemas.openxmlformats.org/drawingml/2006/chart">
  <c:lang val="en-US"/>
  <c:chart>
    <c:title>
      <c:tx>
        <c:rich>
          <a:bodyPr xmlns:a="http://schemas.openxmlformats.org/drawingml/2006/main"/>
          <a:lstStyle xmlns:a="http://schemas.openxmlformats.org/drawingml/2006/main"/>
          <a:p xmlns:a="http://schemas.openxmlformats.org/drawingml/2006/main">
            <a:r>
              <a:rPr sz="1275" b="1">
                <a:solidFill>
                  <a:srgbClr val="1479C9"/>
                </a:solidFill>
                <a:latin typeface="YuGothic"/>
                <a:ea typeface="YuGothic"/>
                <a:cs typeface="YuGothic"/>
              </a:rPr>
              <a:t>ペア符号忠実度</a:t>
            </a:r>
          </a:p>
        </c:rich>
      </c:tx>
      <c:overlay val="0"/>
      <c:txPr>
        <a:bodyPr xmlns:a="http://schemas.openxmlformats.org/drawingml/2006/main" anchorCtr="1"/>
        <a:lstStyle xmlns:a="http://schemas.openxmlformats.org/drawingml/2006/main"/>
        <a:p xmlns:a="http://schemas.openxmlformats.org/drawingml/2006/main">
          <a:pPr>
            <a:defRPr sz="1275" b="1">
              <a:solidFill>
                <a:srgbClr val="1479C9"/>
              </a:solidFill>
              <a:latin typeface="YuGothic"/>
              <a:ea typeface="YuGothic"/>
              <a:cs typeface="YuGothic"/>
            </a:defRPr>
          </a:pPr>
        </a:p>
      </c:txPr>
    </c:title>
    <c:plotArea>
      <c:barChart>
        <c:barDir val="col"/>
        <c:grouping val="clustered"/>
        <c:varyColors val="1"/>
        <c:ser>
          <c:idx val="0"/>
          <c:order val="0"/>
          <c:tx>
            <c:v>ペア符号忠実度</c:v>
          </c:tx>
          <c:spPr>
            <a:solidFill xmlns:a="http://schemas.openxmlformats.org/drawingml/2006/main">
              <a:srgbClr val="1479C9"/>
            </a:solidFill>
          </c:spPr>
          <c:dPt>
            <c:idx val="0"/>
            <c:invertIfNegative val="0"/>
            <c:spPr>
              <a:solidFill xmlns:a="http://schemas.openxmlformats.org/drawingml/2006/main">
                <a:srgbClr val="687386"/>
              </a:solidFill>
            </c:spPr>
          </c:dPt>
          <c:dPt>
            <c:idx val="1"/>
            <c:invertIfNegative val="0"/>
            <c:spPr>
              <a:solidFill xmlns:a="http://schemas.openxmlformats.org/drawingml/2006/main">
                <a:srgbClr val="2AA876"/>
              </a:solidFill>
            </c:spPr>
          </c:dPt>
          <c:dPt>
            <c:idx val="2"/>
            <c:invertIfNegative val="0"/>
            <c:spPr>
              <a:solidFill xmlns:a="http://schemas.openxmlformats.org/drawingml/2006/main">
                <a:srgbClr val="F28C28"/>
              </a:solidFill>
            </c:spPr>
          </c:dPt>
          <c:dPt>
            <c:idx val="3"/>
            <c:invertIfNegative val="0"/>
            <c:spPr>
              <a:solidFill xmlns:a="http://schemas.openxmlformats.org/drawingml/2006/main">
                <a:srgbClr val="7B61A8"/>
              </a:solidFill>
            </c:spPr>
          </c:dPt>
          <c:cat>
            <c:strLit>
              <c:ptCount val="4"/>
              <c:pt idx="0">
                <c:v>OVR
exact-K</c:v>
              </c:pt>
              <c:pt idx="1">
                <c:v>2クラス
LIME</c:v>
              </c:pt>
              <c:pt idx="2">
                <c:v>Contrastive</c:v>
              </c:pt>
              <c:pt idx="3">
                <c:v>OVO
Logistic</c:v>
              </c:pt>
            </c:strLit>
          </c:cat>
          <c:val>
            <c:numLit>
              <c:formatCode>0.00</c:formatCode>
              <c:ptCount val="4"/>
              <c:pt idx="0">
                <c:v>0.7873022</c:v>
              </c:pt>
              <c:pt idx="1">
                <c:v>0.791367</c:v>
              </c:pt>
              <c:pt idx="2">
                <c:v>0.7889341</c:v>
              </c:pt>
              <c:pt idx="3">
                <c:v>0.7818017</c:v>
              </c:pt>
            </c:numLit>
          </c:val>
        </c:ser>
        <c:dLbls>
          <c:txPr>
            <a:bodyPr xmlns:a="http://schemas.openxmlformats.org/drawingml/2006/main" anchorCtr="1"/>
            <a:lstStyle xmlns:a="http://schemas.openxmlformats.org/drawingml/2006/main"/>
            <a:p xmlns:a="http://schemas.openxmlformats.org/drawingml/2006/main">
              <a:pPr>
                <a:defRPr sz="1125" b="1">
                  <a:solidFill>
                    <a:srgbClr val="17233D"/>
                  </a:solidFill>
                  <a:latin typeface="YuGothic"/>
                  <a:ea typeface="YuGothic"/>
                  <a:cs typeface="YuGothic"/>
                </a:defRPr>
              </a:pPr>
            </a:p>
          </c:txPr>
          <c:dLblPos val="outEnd"/>
          <c:showLegendKey val="0"/>
          <c:showVal val="1"/>
          <c:showCatName val="0"/>
          <c:showSerName val="0"/>
          <c:showPercent val="0"/>
          <c:showBubbleSize val="0"/>
          <c:showLeaderLines val="0"/>
        </c:dLbls>
        <c:gapWidth val="6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CBD2DC"/>
            </a:solidFill>
            <a:prstDash val="solid"/>
          </a:ln>
        </c:spPr>
        <c:txPr>
          <a:bodyPr xmlns:a="http://schemas.openxmlformats.org/drawingml/2006/main" anchorCtr="1"/>
          <a:lstStyle xmlns:a="http://schemas.openxmlformats.org/drawingml/2006/main"/>
          <a:p xmlns:a="http://schemas.openxmlformats.org/drawingml/2006/main">
            <a:pPr>
              <a:defRPr sz="975">
                <a:solidFill>
                  <a:srgbClr val="687386"/>
                </a:solidFill>
                <a:latin typeface="YuGothic"/>
                <a:ea typeface="YuGothic"/>
                <a:cs typeface="YuGothic"/>
              </a:defRPr>
            </a:pPr>
          </a:p>
        </c:txPr>
        <c:crossAx val="48672768"/>
      </c:catAx>
      <c:valAx>
        <c:axId val="48672768"/>
        <c:scaling>
          <c:orientation val="minMax"/>
          <c:max val="0.8"/>
          <c:min val="0.76"/>
        </c:scaling>
        <c:delete val="0"/>
        <c:axPos val="l"/>
        <c:majorGridlines>
          <c:spPr>
            <a:ln xmlns:a="http://schemas.openxmlformats.org/drawingml/2006/main" w="9525">
              <a:solidFill>
                <a:srgbClr val="E3E7ED"/>
              </a:solidFill>
              <a:prstDash val="solid"/>
            </a:ln>
          </c:spPr>
        </c:majorGridlines>
        <c:numFmt formatCode="0.00"/>
        <c:majorTickMark val="none"/>
        <c:minorTickMark val="none"/>
        <c:spPr>
          <a:ln xmlns:a="http://schemas.openxmlformats.org/drawingml/2006/main" w="9525">
            <a:solidFill>
              <a:srgbClr val="CBD2DC"/>
            </a:solidFill>
            <a:prstDash val="solid"/>
          </a:ln>
        </c:spPr>
        <c:txPr>
          <a:bodyPr xmlns:a="http://schemas.openxmlformats.org/drawingml/2006/main" anchorCtr="1"/>
          <a:lstStyle xmlns:a="http://schemas.openxmlformats.org/drawingml/2006/main"/>
          <a:p xmlns:a="http://schemas.openxmlformats.org/drawingml/2006/main">
            <a:pPr>
              <a:defRPr sz="975">
                <a:solidFill>
                  <a:srgbClr val="687386"/>
                </a:solidFill>
                <a:latin typeface="YuGothic"/>
                <a:ea typeface="YuGothic"/>
                <a:cs typeface="YuGothic"/>
              </a:defRPr>
            </a:pPr>
          </a:p>
        </c:txPr>
        <c:crossAx val="48650112"/>
        <c:crossBetween val="between"/>
        <c:majorUnit val="0.01"/>
      </c:valAx>
    </c:plotArea>
    <c:plotVisOnly val="1"/>
  </c:chart>
</c:chartSpace>
</file>

<file path=ppt/slides/charts/chart2.xml><?xml version="1.0" encoding="utf-8"?>
<c:chartSpace xmlns:c="http://schemas.openxmlformats.org/drawingml/2006/chart">
  <c:lang val="en-US"/>
  <c:chart>
    <c:title>
      <c:tx>
        <c:rich>
          <a:bodyPr xmlns:a="http://schemas.openxmlformats.org/drawingml/2006/main"/>
          <a:lstStyle xmlns:a="http://schemas.openxmlformats.org/drawingml/2006/main"/>
          <a:p xmlns:a="http://schemas.openxmlformats.org/drawingml/2006/main">
            <a:r>
              <a:rPr sz="1275" b="1">
                <a:solidFill>
                  <a:srgbClr val="1479C9"/>
                </a:solidFill>
                <a:latin typeface="YuGothic"/>
                <a:ea typeface="YuGothic"/>
                <a:cs typeface="YuGothic"/>
              </a:rPr>
              <a:t>BB別のペア符号忠実度</a:t>
            </a:r>
          </a:p>
        </c:rich>
      </c:tx>
      <c:overlay val="0"/>
      <c:txPr>
        <a:bodyPr xmlns:a="http://schemas.openxmlformats.org/drawingml/2006/main" anchorCtr="1"/>
        <a:lstStyle xmlns:a="http://schemas.openxmlformats.org/drawingml/2006/main"/>
        <a:p xmlns:a="http://schemas.openxmlformats.org/drawingml/2006/main">
          <a:pPr>
            <a:defRPr sz="1275" b="1">
              <a:solidFill>
                <a:srgbClr val="1479C9"/>
              </a:solidFill>
              <a:latin typeface="YuGothic"/>
              <a:ea typeface="YuGothic"/>
              <a:cs typeface="YuGothic"/>
            </a:defRPr>
          </a:pPr>
        </a:p>
      </c:txPr>
    </c:title>
    <c:plotArea>
      <c:barChart>
        <c:barDir val="col"/>
        <c:grouping val="clustered"/>
        <c:varyColors val="0"/>
        <c:ser>
          <c:idx val="0"/>
          <c:order val="0"/>
          <c:tx>
            <c:v>OVR exact-K</c:v>
          </c:tx>
          <c:spPr>
            <a:solidFill xmlns:a="http://schemas.openxmlformats.org/drawingml/2006/main">
              <a:srgbClr val="687386"/>
            </a:solidFill>
          </c:spPr>
          <c:cat>
            <c:strLit>
              <c:ptCount val="3"/>
              <c:pt idx="0">
                <c:v>線形
softmax</c:v>
              </c:pt>
              <c:pt idx="1">
                <c:v>非線形NN
softmax</c:v>
              </c:pt>
              <c:pt idx="2">
                <c:v>Random
Forest</c:v>
              </c:pt>
            </c:strLit>
          </c:cat>
          <c:val>
            <c:numLit>
              <c:formatCode>0.00</c:formatCode>
              <c:ptCount val="3"/>
              <c:pt idx="0">
                <c:v>0.84922</c:v>
              </c:pt>
              <c:pt idx="1">
                <c:v>0.77625</c:v>
              </c:pt>
              <c:pt idx="2">
                <c:v>0.78169</c:v>
              </c:pt>
            </c:numLit>
          </c:val>
        </c:ser>
        <c:ser>
          <c:idx val="1"/>
          <c:order val="1"/>
          <c:tx>
            <c:v>2クラスLIME</c:v>
          </c:tx>
          <c:spPr>
            <a:solidFill xmlns:a="http://schemas.openxmlformats.org/drawingml/2006/main">
              <a:srgbClr val="2AA876"/>
            </a:solidFill>
          </c:spPr>
          <c:cat>
            <c:strLit>
              <c:ptCount val="3"/>
              <c:pt idx="0">
                <c:v>線形
softmax</c:v>
              </c:pt>
              <c:pt idx="1">
                <c:v>非線形NN
softmax</c:v>
              </c:pt>
              <c:pt idx="2">
                <c:v>Random
Forest</c:v>
              </c:pt>
            </c:strLit>
          </c:cat>
          <c:val>
            <c:numLit>
              <c:formatCode>0.00</c:formatCode>
              <c:ptCount val="3"/>
              <c:pt idx="0">
                <c:v>0.86321</c:v>
              </c:pt>
              <c:pt idx="1">
                <c:v>0.78397</c:v>
              </c:pt>
              <c:pt idx="2">
                <c:v>0.78471</c:v>
              </c:pt>
            </c:numLit>
          </c:val>
        </c:ser>
        <c:ser>
          <c:idx val="2"/>
          <c:order val="2"/>
          <c:tx>
            <c:v>Contrastive</c:v>
          </c:tx>
          <c:spPr>
            <a:solidFill xmlns:a="http://schemas.openxmlformats.org/drawingml/2006/main">
              <a:srgbClr val="F28C28"/>
            </a:solidFill>
          </c:spPr>
          <c:cat>
            <c:strLit>
              <c:ptCount val="3"/>
              <c:pt idx="0">
                <c:v>線形
softmax</c:v>
              </c:pt>
              <c:pt idx="1">
                <c:v>非線形NN
softmax</c:v>
              </c:pt>
              <c:pt idx="2">
                <c:v>Random
Forest</c:v>
              </c:pt>
            </c:strLit>
          </c:cat>
          <c:val>
            <c:numLit>
              <c:formatCode>0.00</c:formatCode>
              <c:ptCount val="3"/>
              <c:pt idx="0">
                <c:v>0.86548</c:v>
              </c:pt>
              <c:pt idx="1">
                <c:v>0.78079</c:v>
              </c:pt>
              <c:pt idx="2">
                <c:v>0.78189</c:v>
              </c:pt>
            </c:numLit>
          </c:val>
        </c:ser>
        <c:ser>
          <c:idx val="3"/>
          <c:order val="3"/>
          <c:tx>
            <c:v>OVO Logistic</c:v>
          </c:tx>
          <c:spPr>
            <a:solidFill xmlns:a="http://schemas.openxmlformats.org/drawingml/2006/main">
              <a:srgbClr val="7B61A8"/>
            </a:solidFill>
          </c:spPr>
          <c:cat>
            <c:strLit>
              <c:ptCount val="3"/>
              <c:pt idx="0">
                <c:v>線形
softmax</c:v>
              </c:pt>
              <c:pt idx="1">
                <c:v>非線形NN
softmax</c:v>
              </c:pt>
              <c:pt idx="2">
                <c:v>Random
Forest</c:v>
              </c:pt>
            </c:strLit>
          </c:cat>
          <c:val>
            <c:numLit>
              <c:formatCode>0.00</c:formatCode>
              <c:ptCount val="3"/>
              <c:pt idx="0">
                <c:v>0.85602</c:v>
              </c:pt>
              <c:pt idx="1">
                <c:v>0.77618</c:v>
              </c:pt>
              <c:pt idx="2">
                <c:v>0.77453</c:v>
              </c:pt>
            </c:numLit>
          </c:val>
        </c:ser>
        <c:dLbls>
          <c:txPr>
            <a:bodyPr xmlns:a="http://schemas.openxmlformats.org/drawingml/2006/main" anchorCtr="1"/>
            <a:lstStyle xmlns:a="http://schemas.openxmlformats.org/drawingml/2006/main"/>
            <a:p xmlns:a="http://schemas.openxmlformats.org/drawingml/2006/main">
              <a:pPr>
                <a:defRPr>
                  <a:latin typeface="YuGothic"/>
                  <a:ea typeface="YuGothic"/>
                  <a:cs typeface="YuGothic"/>
                </a:defRPr>
              </a:pPr>
            </a:p>
          </c:txPr>
          <c:showLegendKey val="0"/>
          <c:showVal val="0"/>
          <c:showCatName val="0"/>
          <c:showSerName val="0"/>
          <c:showPercent val="0"/>
          <c:showBubbleSize val="0"/>
          <c:showLeaderLines val="0"/>
        </c:dLbls>
        <c:gapWidth val="5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CBD2DC"/>
            </a:solidFill>
            <a:prstDash val="solid"/>
          </a:ln>
        </c:spPr>
        <c:txPr>
          <a:bodyPr xmlns:a="http://schemas.openxmlformats.org/drawingml/2006/main" anchorCtr="1"/>
          <a:lstStyle xmlns:a="http://schemas.openxmlformats.org/drawingml/2006/main"/>
          <a:p xmlns:a="http://schemas.openxmlformats.org/drawingml/2006/main">
            <a:pPr>
              <a:defRPr sz="975">
                <a:solidFill>
                  <a:srgbClr val="687386"/>
                </a:solidFill>
                <a:latin typeface="YuGothic"/>
                <a:ea typeface="YuGothic"/>
                <a:cs typeface="YuGothic"/>
              </a:defRPr>
            </a:pPr>
          </a:p>
        </c:txPr>
        <c:crossAx val="48672768"/>
      </c:catAx>
      <c:valAx>
        <c:axId val="48672768"/>
        <c:scaling>
          <c:orientation val="minMax"/>
          <c:max val="0.88"/>
          <c:min val="0.74"/>
        </c:scaling>
        <c:delete val="0"/>
        <c:axPos val="l"/>
        <c:majorGridlines>
          <c:spPr>
            <a:ln xmlns:a="http://schemas.openxmlformats.org/drawingml/2006/main" w="9525">
              <a:solidFill>
                <a:srgbClr val="E3E7ED"/>
              </a:solidFill>
              <a:prstDash val="solid"/>
            </a:ln>
          </c:spPr>
        </c:majorGridlines>
        <c:numFmt formatCode="0.00"/>
        <c:majorTickMark val="none"/>
        <c:minorTickMark val="none"/>
        <c:spPr>
          <a:ln xmlns:a="http://schemas.openxmlformats.org/drawingml/2006/main" w="9525">
            <a:solidFill>
              <a:srgbClr val="CBD2DC"/>
            </a:solidFill>
            <a:prstDash val="solid"/>
          </a:ln>
        </c:spPr>
        <c:txPr>
          <a:bodyPr xmlns:a="http://schemas.openxmlformats.org/drawingml/2006/main" anchorCtr="1"/>
          <a:lstStyle xmlns:a="http://schemas.openxmlformats.org/drawingml/2006/main"/>
          <a:p xmlns:a="http://schemas.openxmlformats.org/drawingml/2006/main">
            <a:pPr>
              <a:defRPr sz="975">
                <a:solidFill>
                  <a:srgbClr val="687386"/>
                </a:solidFill>
                <a:latin typeface="YuGothic"/>
                <a:ea typeface="YuGothic"/>
                <a:cs typeface="YuGothic"/>
              </a:defRPr>
            </a:pPr>
          </a:p>
        </c:txPr>
        <c:crossAx val="48650112"/>
        <c:crossBetween val="between"/>
        <c:majorUnit val="0.02"/>
      </c:valAx>
    </c:plotArea>
    <c:legend>
      <c:legendPos val="b"/>
      <c:overlay val="0"/>
      <c:txPr>
        <a:bodyPr xmlns:a="http://schemas.openxmlformats.org/drawingml/2006/main" anchorCtr="1"/>
        <a:lstStyle xmlns:a="http://schemas.openxmlformats.org/drawingml/2006/main"/>
        <a:p xmlns:a="http://schemas.openxmlformats.org/drawingml/2006/main">
          <a:pPr>
            <a:defRPr sz="900">
              <a:solidFill>
                <a:srgbClr val="17233D"/>
              </a:solidFill>
              <a:latin typeface="YuGothic"/>
              <a:ea typeface="YuGothic"/>
              <a:cs typeface="YuGothic"/>
            </a:defRPr>
          </a:pPr>
        </a:p>
      </c:txPr>
    </c:legend>
    <c:plotVisOnly val="1"/>
  </c:chart>
</c:chartSpace>
</file>

<file path=ppt/slides/charts/chart3.xml><?xml version="1.0" encoding="utf-8"?>
<c:chartSpace xmlns:c="http://schemas.openxmlformats.org/drawingml/2006/chart">
  <c:lang val="en-US"/>
  <c:chart>
    <c:title>
      <c:tx>
        <c:rich>
          <a:bodyPr xmlns:a="http://schemas.openxmlformats.org/drawingml/2006/main"/>
          <a:lstStyle xmlns:a="http://schemas.openxmlformats.org/drawingml/2006/main"/>
          <a:p xmlns:a="http://schemas.openxmlformats.org/drawingml/2006/main">
            <a:r>
              <a:rPr sz="1275" b="1">
                <a:solidFill>
                  <a:srgbClr val="1479C9"/>
                </a:solidFill>
                <a:latin typeface="YuGothic"/>
                <a:ea typeface="YuGothic"/>
                <a:cs typeface="YuGothic"/>
              </a:rPr>
              <a:t>競合特徴再現率</a:t>
            </a:r>
          </a:p>
        </c:rich>
      </c:tx>
      <c:overlay val="0"/>
      <c:txPr>
        <a:bodyPr xmlns:a="http://schemas.openxmlformats.org/drawingml/2006/main" anchorCtr="1"/>
        <a:lstStyle xmlns:a="http://schemas.openxmlformats.org/drawingml/2006/main"/>
        <a:p xmlns:a="http://schemas.openxmlformats.org/drawingml/2006/main">
          <a:pPr>
            <a:defRPr sz="1275" b="1">
              <a:solidFill>
                <a:srgbClr val="1479C9"/>
              </a:solidFill>
              <a:latin typeface="YuGothic"/>
              <a:ea typeface="YuGothic"/>
              <a:cs typeface="YuGothic"/>
            </a:defRPr>
          </a:pPr>
        </a:p>
      </c:txPr>
    </c:title>
    <c:plotArea>
      <c:lineChart>
        <c:grouping val="standard"/>
        <c:varyColors val="0"/>
        <c:ser>
          <c:idx val="0"/>
          <c:order val="0"/>
          <c:tx>
            <c:v>TopクラスLIME</c:v>
          </c:tx>
          <c:spPr>
            <a:ln xmlns:a="http://schemas.openxmlformats.org/drawingml/2006/main" w="19050">
              <a:solidFill>
                <a:srgbClr val="9BA3AF"/>
              </a:solidFill>
              <a:prstDash val="solid"/>
            </a:ln>
          </c:spPr>
          <c:marker>
            <c:symbol val="circle"/>
            <c:size val="7"/>
            <c:spPr>
              <a:solidFill xmlns:a="http://schemas.openxmlformats.org/drawingml/2006/main">
                <a:srgbClr val="9BA3AF"/>
              </a:solidFill>
            </c:spPr>
          </c:marker>
          <c:cat>
            <c:numLit>
              <c:formatCode>General</c:formatCode>
              <c:ptCount val="4"/>
              <c:pt idx="0">
                <c:v>0</c:v>
              </c:pt>
              <c:pt idx="1">
                <c:v>1</c:v>
              </c:pt>
              <c:pt idx="2">
                <c:v>3</c:v>
              </c:pt>
              <c:pt idx="3">
                <c:v>5</c:v>
              </c:pt>
            </c:numLit>
          </c:cat>
          <c:val>
            <c:numLit>
              <c:formatCode>0%</c:formatCode>
              <c:ptCount val="4"/>
              <c:pt idx="0">
                <c:v>0.9958</c:v>
              </c:pt>
              <c:pt idx="1">
                <c:v>0.9885</c:v>
              </c:pt>
              <c:pt idx="2">
                <c:v>0.8448</c:v>
              </c:pt>
              <c:pt idx="3">
                <c:v>0.7802</c:v>
              </c:pt>
            </c:numLit>
          </c:val>
          <c:smooth val="0"/>
        </c:ser>
        <c:ser>
          <c:idx val="1"/>
          <c:order val="1"/>
          <c:tx>
            <c:v>OVR exact-K</c:v>
          </c:tx>
          <c:spPr>
            <a:ln xmlns:a="http://schemas.openxmlformats.org/drawingml/2006/main" w="28575">
              <a:solidFill>
                <a:srgbClr val="1479C9"/>
              </a:solidFill>
              <a:prstDash val="solid"/>
            </a:ln>
          </c:spPr>
          <c:marker>
            <c:symbol val="square"/>
            <c:size val="7"/>
            <c:spPr>
              <a:solidFill xmlns:a="http://schemas.openxmlformats.org/drawingml/2006/main">
                <a:srgbClr val="1479C9"/>
              </a:solidFill>
            </c:spPr>
          </c:marker>
          <c:cat>
            <c:numLit>
              <c:formatCode>General</c:formatCode>
              <c:ptCount val="4"/>
              <c:pt idx="0">
                <c:v>0</c:v>
              </c:pt>
              <c:pt idx="1">
                <c:v>1</c:v>
              </c:pt>
              <c:pt idx="2">
                <c:v>3</c:v>
              </c:pt>
              <c:pt idx="3">
                <c:v>5</c:v>
              </c:pt>
            </c:numLit>
          </c:cat>
          <c:val>
            <c:numLit>
              <c:formatCode>0%</c:formatCode>
              <c:ptCount val="4"/>
              <c:pt idx="0">
                <c:v>0.9958</c:v>
              </c:pt>
              <c:pt idx="1">
                <c:v>0.9979</c:v>
              </c:pt>
              <c:pt idx="2">
                <c:v>0.8698</c:v>
              </c:pt>
              <c:pt idx="3">
                <c:v>0.8073</c:v>
              </c:pt>
            </c:numLit>
          </c:val>
          <c:smooth val="0"/>
        </c:ser>
        <c:ser>
          <c:idx val="2"/>
          <c:order val="2"/>
          <c:tx>
            <c:v>2クラスLIME</c:v>
          </c:tx>
          <c:spPr>
            <a:ln xmlns:a="http://schemas.openxmlformats.org/drawingml/2006/main" w="28575">
              <a:solidFill>
                <a:srgbClr val="2AA876"/>
              </a:solidFill>
              <a:prstDash val="solid"/>
            </a:ln>
          </c:spPr>
          <c:marker>
            <c:symbol val="circle"/>
            <c:size val="7"/>
            <c:spPr>
              <a:solidFill xmlns:a="http://schemas.openxmlformats.org/drawingml/2006/main">
                <a:srgbClr val="2AA876"/>
              </a:solidFill>
            </c:spPr>
          </c:marker>
          <c:cat>
            <c:numLit>
              <c:formatCode>General</c:formatCode>
              <c:ptCount val="4"/>
              <c:pt idx="0">
                <c:v>0</c:v>
              </c:pt>
              <c:pt idx="1">
                <c:v>1</c:v>
              </c:pt>
              <c:pt idx="2">
                <c:v>3</c:v>
              </c:pt>
              <c:pt idx="3">
                <c:v>5</c:v>
              </c:pt>
            </c:numLit>
          </c:cat>
          <c:val>
            <c:numLit>
              <c:formatCode>0%</c:formatCode>
              <c:ptCount val="4"/>
              <c:pt idx="0">
                <c:v>1</c:v>
              </c:pt>
              <c:pt idx="1">
                <c:v>1</c:v>
              </c:pt>
              <c:pt idx="2">
                <c:v>1</c:v>
              </c:pt>
              <c:pt idx="3">
                <c:v>1</c:v>
              </c:pt>
            </c:numLit>
          </c:val>
          <c:smooth val="0"/>
        </c:ser>
        <c:ser>
          <c:idx val="3"/>
          <c:order val="3"/>
          <c:tx>
            <c:v>Contrastive</c:v>
          </c:tx>
          <c:spPr>
            <a:ln xmlns:a="http://schemas.openxmlformats.org/drawingml/2006/main" w="28575">
              <a:solidFill>
                <a:srgbClr val="F28C28"/>
              </a:solidFill>
              <a:prstDash val="solid"/>
            </a:ln>
          </c:spPr>
          <c:marker>
            <c:symbol val="diamond"/>
            <c:size val="7"/>
            <c:spPr>
              <a:solidFill xmlns:a="http://schemas.openxmlformats.org/drawingml/2006/main">
                <a:srgbClr val="F28C28"/>
              </a:solidFill>
            </c:spPr>
          </c:marker>
          <c:cat>
            <c:numLit>
              <c:formatCode>General</c:formatCode>
              <c:ptCount val="4"/>
              <c:pt idx="0">
                <c:v>0</c:v>
              </c:pt>
              <c:pt idx="1">
                <c:v>1</c:v>
              </c:pt>
              <c:pt idx="2">
                <c:v>3</c:v>
              </c:pt>
              <c:pt idx="3">
                <c:v>5</c:v>
              </c:pt>
            </c:numLit>
          </c:cat>
          <c:val>
            <c:numLit>
              <c:formatCode>0%</c:formatCode>
              <c:ptCount val="4"/>
              <c:pt idx="0">
                <c:v>1</c:v>
              </c:pt>
              <c:pt idx="1">
                <c:v>1</c:v>
              </c:pt>
              <c:pt idx="2">
                <c:v>1</c:v>
              </c:pt>
              <c:pt idx="3">
                <c:v>1</c:v>
              </c:pt>
            </c:numLit>
          </c:val>
          <c:smooth val="0"/>
        </c:ser>
        <c:ser>
          <c:idx val="4"/>
          <c:order val="4"/>
          <c:tx>
            <c:v>OVO Logistic</c:v>
          </c:tx>
          <c:spPr>
            <a:ln xmlns:a="http://schemas.openxmlformats.org/drawingml/2006/main" w="28575">
              <a:solidFill>
                <a:srgbClr val="7B61A8"/>
              </a:solidFill>
              <a:prstDash val="solid"/>
            </a:ln>
          </c:spPr>
          <c:marker>
            <c:symbol val="triangle"/>
            <c:size val="7"/>
            <c:spPr>
              <a:solidFill xmlns:a="http://schemas.openxmlformats.org/drawingml/2006/main">
                <a:srgbClr val="7B61A8"/>
              </a:solidFill>
            </c:spPr>
          </c:marker>
          <c:cat>
            <c:numLit>
              <c:formatCode>General</c:formatCode>
              <c:ptCount val="4"/>
              <c:pt idx="0">
                <c:v>0</c:v>
              </c:pt>
              <c:pt idx="1">
                <c:v>1</c:v>
              </c:pt>
              <c:pt idx="2">
                <c:v>3</c:v>
              </c:pt>
              <c:pt idx="3">
                <c:v>5</c:v>
              </c:pt>
            </c:numLit>
          </c:cat>
          <c:val>
            <c:numLit>
              <c:formatCode>0%</c:formatCode>
              <c:ptCount val="4"/>
              <c:pt idx="0">
                <c:v>1</c:v>
              </c:pt>
              <c:pt idx="1">
                <c:v>1</c:v>
              </c:pt>
              <c:pt idx="2">
                <c:v>1</c:v>
              </c:pt>
              <c:pt idx="3">
                <c:v>0.999</c:v>
              </c:pt>
            </c:numLit>
          </c:val>
          <c:smooth val="0"/>
        </c:ser>
        <c:dLbls>
          <c:txPr>
            <a:bodyPr xmlns:a="http://schemas.openxmlformats.org/drawingml/2006/main" anchorCtr="1"/>
            <a:lstStyle xmlns:a="http://schemas.openxmlformats.org/drawingml/2006/main"/>
            <a:p xmlns:a="http://schemas.openxmlformats.org/drawingml/2006/main">
              <a:pPr>
                <a:defRPr>
                  <a:latin typeface="YuGothic"/>
                  <a:ea typeface="YuGothic"/>
                  <a:cs typeface="YuGothic"/>
                </a:defRPr>
              </a:pPr>
            </a:p>
          </c:txPr>
          <c:showLegendKey val="0"/>
          <c:showVal val="0"/>
          <c:showCatName val="0"/>
          <c:showSerName val="0"/>
          <c:showPercent val="0"/>
          <c:showBubbleSize val="0"/>
          <c:showLeaderLines val="0"/>
        </c:dLbls>
        <c:smooth val="0"/>
        <c:axId val="48650112"/>
        <c:axId val="48672768"/>
      </c:line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sz="1050">
                    <a:solidFill>
                      <a:srgbClr val="687386"/>
                    </a:solidFill>
                    <a:latin typeface="YuGothic"/>
                    <a:ea typeface="YuGothic"/>
                    <a:cs typeface="YuGothic"/>
                  </a:rPr>
                  <a:t>共通特徴の強さ</a:t>
                </a:r>
              </a:p>
            </c:rich>
          </c:tx>
          <c:overlay val="0"/>
          <c:txPr>
            <a:bodyPr xmlns:a="http://schemas.openxmlformats.org/drawingml/2006/main" anchorCtr="1"/>
            <a:lstStyle xmlns:a="http://schemas.openxmlformats.org/drawingml/2006/main"/>
            <a:p xmlns:a="http://schemas.openxmlformats.org/drawingml/2006/main">
              <a:pPr>
                <a:defRPr sz="1050">
                  <a:solidFill>
                    <a:srgbClr val="687386"/>
                  </a:solidFill>
                  <a:latin typeface="YuGothic"/>
                  <a:ea typeface="YuGothic"/>
                  <a:cs typeface="YuGothic"/>
                </a:defRPr>
              </a:pPr>
            </a:p>
          </c:txPr>
        </c:title>
        <c:numFmt formatCode="General"/>
        <c:majorTickMark val="none"/>
        <c:minorTickMark val="none"/>
        <c:spPr>
          <a:ln xmlns:a="http://schemas.openxmlformats.org/drawingml/2006/main" w="9525">
            <a:solidFill>
              <a:srgbClr val="CBD2DC"/>
            </a:solidFill>
            <a:prstDash val="solid"/>
          </a:ln>
        </c:spPr>
        <c:txPr>
          <a:bodyPr xmlns:a="http://schemas.openxmlformats.org/drawingml/2006/main" anchorCtr="1"/>
          <a:lstStyle xmlns:a="http://schemas.openxmlformats.org/drawingml/2006/main"/>
          <a:p xmlns:a="http://schemas.openxmlformats.org/drawingml/2006/main">
            <a:pPr>
              <a:defRPr sz="975">
                <a:solidFill>
                  <a:srgbClr val="687386"/>
                </a:solidFill>
                <a:latin typeface="YuGothic"/>
                <a:ea typeface="YuGothic"/>
                <a:cs typeface="YuGothic"/>
              </a:defRPr>
            </a:pPr>
          </a:p>
        </c:txPr>
        <c:crossAx val="48672768"/>
      </c:catAx>
      <c:valAx>
        <c:axId val="48672768"/>
        <c:scaling>
          <c:orientation val="minMax"/>
          <c:max val="1.02"/>
          <c:min val="0.72"/>
        </c:scaling>
        <c:delete val="0"/>
        <c:axPos val="l"/>
        <c:majorGridlines>
          <c:spPr>
            <a:ln xmlns:a="http://schemas.openxmlformats.org/drawingml/2006/main" w="9525">
              <a:solidFill>
                <a:srgbClr val="E3E7ED"/>
              </a:solidFill>
              <a:prstDash val="solid"/>
            </a:ln>
          </c:spPr>
        </c:majorGridlines>
        <c:title>
          <c:tx>
            <c:rich>
              <a:bodyPr xmlns:a="http://schemas.openxmlformats.org/drawingml/2006/main"/>
              <a:lstStyle xmlns:a="http://schemas.openxmlformats.org/drawingml/2006/main"/>
              <a:p xmlns:a="http://schemas.openxmlformats.org/drawingml/2006/main">
                <a:r>
                  <a:rPr>
                    <a:latin typeface="YuGothic"/>
                    <a:ea typeface="YuGothic"/>
                    <a:cs typeface="YuGothic"/>
                  </a:rPr>
                  <a:t>競合特徴再現率</a:t>
                </a:r>
              </a:p>
            </c:rich>
          </c:tx>
          <c:overlay val="0"/>
          <c:txPr>
            <a:bodyPr xmlns:a="http://schemas.openxmlformats.org/drawingml/2006/main" anchorCtr="1"/>
            <a:lstStyle xmlns:a="http://schemas.openxmlformats.org/drawingml/2006/main"/>
            <a:p xmlns:a="http://schemas.openxmlformats.org/drawingml/2006/main">
              <a:pPr>
                <a:defRPr>
                  <a:latin typeface="YuGothic"/>
                  <a:ea typeface="YuGothic"/>
                  <a:cs typeface="YuGothic"/>
                </a:defRPr>
              </a:pPr>
            </a:p>
          </c:txPr>
        </c:title>
        <c:numFmt formatCode="0%"/>
        <c:majorTickMark val="none"/>
        <c:minorTickMark val="none"/>
        <c:spPr>
          <a:ln xmlns:a="http://schemas.openxmlformats.org/drawingml/2006/main" w="9525">
            <a:solidFill>
              <a:srgbClr val="CBD2DC"/>
            </a:solidFill>
            <a:prstDash val="solid"/>
          </a:ln>
        </c:spPr>
        <c:txPr>
          <a:bodyPr xmlns:a="http://schemas.openxmlformats.org/drawingml/2006/main" anchorCtr="1"/>
          <a:lstStyle xmlns:a="http://schemas.openxmlformats.org/drawingml/2006/main"/>
          <a:p xmlns:a="http://schemas.openxmlformats.org/drawingml/2006/main">
            <a:pPr>
              <a:defRPr sz="975">
                <a:solidFill>
                  <a:srgbClr val="687386"/>
                </a:solidFill>
                <a:latin typeface="YuGothic"/>
                <a:ea typeface="YuGothic"/>
                <a:cs typeface="YuGothic"/>
              </a:defRPr>
            </a:pPr>
          </a:p>
        </c:txPr>
        <c:crossAx val="48650112"/>
        <c:crossBetween val="between"/>
        <c:majorUnit val="0.05"/>
      </c:valAx>
    </c:plotArea>
    <c:legend>
      <c:legendPos val="b"/>
      <c:overlay val="0"/>
      <c:txPr>
        <a:bodyPr xmlns:a="http://schemas.openxmlformats.org/drawingml/2006/main" anchorCtr="1"/>
        <a:lstStyle xmlns:a="http://schemas.openxmlformats.org/drawingml/2006/main"/>
        <a:p xmlns:a="http://schemas.openxmlformats.org/drawingml/2006/main">
          <a:pPr>
            <a:defRPr sz="900">
              <a:solidFill>
                <a:srgbClr val="17233D"/>
              </a:solidFill>
              <a:latin typeface="YuGothic"/>
              <a:ea typeface="YuGothic"/>
              <a:cs typeface="YuGothic"/>
            </a:defRPr>
          </a:pPr>
        </a:p>
      </c:txPr>
    </c:legend>
    <c:plotVisOnly val="1"/>
  </c:chart>
</c:chartSpace>
</file>

<file path=ppt/slides/charts/chart4.xml><?xml version="1.0" encoding="utf-8"?>
<c:chartSpace xmlns:c="http://schemas.openxmlformats.org/drawingml/2006/chart">
  <c:lang val="en-US"/>
  <c:chart>
    <c:title>
      <c:tx>
        <c:rich>
          <a:bodyPr xmlns:a="http://schemas.openxmlformats.org/drawingml/2006/main"/>
          <a:lstStyle xmlns:a="http://schemas.openxmlformats.org/drawingml/2006/main"/>
          <a:p xmlns:a="http://schemas.openxmlformats.org/drawingml/2006/main">
            <a:r>
              <a:rPr sz="1275" b="1">
                <a:solidFill>
                  <a:srgbClr val="1479C9"/>
                </a:solidFill>
                <a:latin typeface="YuGothic"/>
                <a:ea typeface="YuGothic"/>
                <a:cs typeface="YuGothic"/>
              </a:rPr>
              <a:t>次元数を増やした場合</a:t>
            </a:r>
          </a:p>
        </c:rich>
      </c:tx>
      <c:overlay val="0"/>
      <c:txPr>
        <a:bodyPr xmlns:a="http://schemas.openxmlformats.org/drawingml/2006/main" anchorCtr="1"/>
        <a:lstStyle xmlns:a="http://schemas.openxmlformats.org/drawingml/2006/main"/>
        <a:p xmlns:a="http://schemas.openxmlformats.org/drawingml/2006/main">
          <a:pPr>
            <a:defRPr sz="1275" b="1">
              <a:solidFill>
                <a:srgbClr val="1479C9"/>
              </a:solidFill>
              <a:latin typeface="YuGothic"/>
              <a:ea typeface="YuGothic"/>
              <a:cs typeface="YuGothic"/>
            </a:defRPr>
          </a:pPr>
        </a:p>
      </c:txPr>
    </c:title>
    <c:plotArea>
      <c:lineChart>
        <c:grouping val="standard"/>
        <c:varyColors val="0"/>
        <c:ser>
          <c:idx val="0"/>
          <c:order val="0"/>
          <c:tx>
            <c:v>OVR exact-K</c:v>
          </c:tx>
          <c:spPr>
            <a:ln xmlns:a="http://schemas.openxmlformats.org/drawingml/2006/main" w="28575">
              <a:solidFill>
                <a:srgbClr val="687386"/>
              </a:solidFill>
              <a:prstDash val="solid"/>
            </a:ln>
          </c:spPr>
          <c:marker>
            <c:symbol val="square"/>
            <c:size val="7"/>
            <c:spPr>
              <a:solidFill xmlns:a="http://schemas.openxmlformats.org/drawingml/2006/main">
                <a:srgbClr val="687386"/>
              </a:solidFill>
            </c:spPr>
          </c:marker>
          <c:cat>
            <c:numLit>
              <c:formatCode>General</c:formatCode>
              <c:ptCount val="3"/>
              <c:pt idx="0">
                <c:v>8</c:v>
              </c:pt>
              <c:pt idx="1">
                <c:v>14</c:v>
              </c:pt>
              <c:pt idx="2">
                <c:v>20</c:v>
              </c:pt>
            </c:numLit>
          </c:cat>
          <c:val>
            <c:numLit>
              <c:formatCode>0</c:formatCode>
              <c:ptCount val="3"/>
              <c:pt idx="0">
                <c:v>39.095</c:v>
              </c:pt>
              <c:pt idx="1">
                <c:v>42.053</c:v>
              </c:pt>
              <c:pt idx="2">
                <c:v>43.185</c:v>
              </c:pt>
            </c:numLit>
          </c:val>
          <c:smooth val="0"/>
        </c:ser>
        <c:ser>
          <c:idx val="1"/>
          <c:order val="1"/>
          <c:tx>
            <c:v>2クラスLIME</c:v>
          </c:tx>
          <c:spPr>
            <a:ln xmlns:a="http://schemas.openxmlformats.org/drawingml/2006/main" w="28575">
              <a:solidFill>
                <a:srgbClr val="2AA876"/>
              </a:solidFill>
              <a:prstDash val="solid"/>
            </a:ln>
          </c:spPr>
          <c:marker>
            <c:symbol val="circle"/>
            <c:size val="7"/>
            <c:spPr>
              <a:solidFill xmlns:a="http://schemas.openxmlformats.org/drawingml/2006/main">
                <a:srgbClr val="2AA876"/>
              </a:solidFill>
            </c:spPr>
          </c:marker>
          <c:cat>
            <c:numLit>
              <c:formatCode>General</c:formatCode>
              <c:ptCount val="3"/>
              <c:pt idx="0">
                <c:v>8</c:v>
              </c:pt>
              <c:pt idx="1">
                <c:v>14</c:v>
              </c:pt>
              <c:pt idx="2">
                <c:v>20</c:v>
              </c:pt>
            </c:numLit>
          </c:cat>
          <c:val>
            <c:numLit>
              <c:formatCode>0</c:formatCode>
              <c:ptCount val="3"/>
              <c:pt idx="0">
                <c:v>6.185</c:v>
              </c:pt>
              <c:pt idx="1">
                <c:v>6.571</c:v>
              </c:pt>
              <c:pt idx="2">
                <c:v>6.875</c:v>
              </c:pt>
            </c:numLit>
          </c:val>
          <c:smooth val="0"/>
        </c:ser>
        <c:ser>
          <c:idx val="2"/>
          <c:order val="2"/>
          <c:tx>
            <c:v>Contrastive</c:v>
          </c:tx>
          <c:spPr>
            <a:ln xmlns:a="http://schemas.openxmlformats.org/drawingml/2006/main" w="28575">
              <a:solidFill>
                <a:srgbClr val="F28C28"/>
              </a:solidFill>
              <a:prstDash val="solid"/>
            </a:ln>
          </c:spPr>
          <c:marker>
            <c:symbol val="diamond"/>
            <c:size val="7"/>
            <c:spPr>
              <a:solidFill xmlns:a="http://schemas.openxmlformats.org/drawingml/2006/main">
                <a:srgbClr val="F28C28"/>
              </a:solidFill>
            </c:spPr>
          </c:marker>
          <c:cat>
            <c:numLit>
              <c:formatCode>General</c:formatCode>
              <c:ptCount val="3"/>
              <c:pt idx="0">
                <c:v>8</c:v>
              </c:pt>
              <c:pt idx="1">
                <c:v>14</c:v>
              </c:pt>
              <c:pt idx="2">
                <c:v>20</c:v>
              </c:pt>
            </c:numLit>
          </c:cat>
          <c:val>
            <c:numLit>
              <c:formatCode>0</c:formatCode>
              <c:ptCount val="3"/>
              <c:pt idx="0">
                <c:v>6.135</c:v>
              </c:pt>
              <c:pt idx="1">
                <c:v>6.529</c:v>
              </c:pt>
              <c:pt idx="2">
                <c:v>6.895</c:v>
              </c:pt>
            </c:numLit>
          </c:val>
          <c:smooth val="0"/>
        </c:ser>
        <c:ser>
          <c:idx val="3"/>
          <c:order val="3"/>
          <c:tx>
            <c:v>OVO Logistic</c:v>
          </c:tx>
          <c:spPr>
            <a:ln xmlns:a="http://schemas.openxmlformats.org/drawingml/2006/main" w="28575">
              <a:solidFill>
                <a:srgbClr val="7B61A8"/>
              </a:solidFill>
              <a:prstDash val="solid"/>
            </a:ln>
          </c:spPr>
          <c:marker>
            <c:symbol val="triangle"/>
            <c:size val="7"/>
            <c:spPr>
              <a:solidFill xmlns:a="http://schemas.openxmlformats.org/drawingml/2006/main">
                <a:srgbClr val="7B61A8"/>
              </a:solidFill>
            </c:spPr>
          </c:marker>
          <c:cat>
            <c:numLit>
              <c:formatCode>General</c:formatCode>
              <c:ptCount val="3"/>
              <c:pt idx="0">
                <c:v>8</c:v>
              </c:pt>
              <c:pt idx="1">
                <c:v>14</c:v>
              </c:pt>
              <c:pt idx="2">
                <c:v>20</c:v>
              </c:pt>
            </c:numLit>
          </c:cat>
          <c:val>
            <c:numLit>
              <c:formatCode>0</c:formatCode>
              <c:ptCount val="3"/>
              <c:pt idx="0">
                <c:v>11.94</c:v>
              </c:pt>
              <c:pt idx="1">
                <c:v>15.713</c:v>
              </c:pt>
              <c:pt idx="2">
                <c:v>20.028</c:v>
              </c:pt>
            </c:numLit>
          </c:val>
          <c:smooth val="0"/>
        </c:ser>
        <c:dLbls>
          <c:txPr>
            <a:bodyPr xmlns:a="http://schemas.openxmlformats.org/drawingml/2006/main" anchorCtr="1"/>
            <a:lstStyle xmlns:a="http://schemas.openxmlformats.org/drawingml/2006/main"/>
            <a:p xmlns:a="http://schemas.openxmlformats.org/drawingml/2006/main">
              <a:pPr>
                <a:defRPr>
                  <a:latin typeface="YuGothic"/>
                  <a:ea typeface="YuGothic"/>
                  <a:cs typeface="YuGothic"/>
                </a:defRPr>
              </a:pPr>
            </a:p>
          </c:txPr>
          <c:showLegendKey val="0"/>
          <c:showVal val="0"/>
          <c:showCatName val="0"/>
          <c:showSerName val="0"/>
          <c:showPercent val="0"/>
          <c:showBubbleSize val="0"/>
          <c:showLeaderLines val="0"/>
        </c:dLbls>
        <c:smooth val="0"/>
        <c:axId val="48650112"/>
        <c:axId val="48672768"/>
      </c:line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sz="1050">
                    <a:solidFill>
                      <a:srgbClr val="687386"/>
                    </a:solidFill>
                    <a:latin typeface="YuGothic"/>
                    <a:ea typeface="YuGothic"/>
                    <a:cs typeface="YuGothic"/>
                  </a:rPr>
                  <a:t>次元数 d</a:t>
                </a:r>
              </a:p>
            </c:rich>
          </c:tx>
          <c:overlay val="0"/>
          <c:txPr>
            <a:bodyPr xmlns:a="http://schemas.openxmlformats.org/drawingml/2006/main" anchorCtr="1"/>
            <a:lstStyle xmlns:a="http://schemas.openxmlformats.org/drawingml/2006/main"/>
            <a:p xmlns:a="http://schemas.openxmlformats.org/drawingml/2006/main">
              <a:pPr>
                <a:defRPr sz="1050">
                  <a:solidFill>
                    <a:srgbClr val="687386"/>
                  </a:solidFill>
                  <a:latin typeface="YuGothic"/>
                  <a:ea typeface="YuGothic"/>
                  <a:cs typeface="YuGothic"/>
                </a:defRPr>
              </a:pPr>
            </a:p>
          </c:txPr>
        </c:title>
        <c:numFmt formatCode="General"/>
        <c:majorTickMark val="none"/>
        <c:minorTickMark val="none"/>
        <c:spPr>
          <a:ln xmlns:a="http://schemas.openxmlformats.org/drawingml/2006/main" w="9525">
            <a:solidFill>
              <a:srgbClr val="CBD2DC"/>
            </a:solidFill>
            <a:prstDash val="solid"/>
          </a:ln>
        </c:spPr>
        <c:txPr>
          <a:bodyPr xmlns:a="http://schemas.openxmlformats.org/drawingml/2006/main" anchorCtr="1"/>
          <a:lstStyle xmlns:a="http://schemas.openxmlformats.org/drawingml/2006/main"/>
          <a:p xmlns:a="http://schemas.openxmlformats.org/drawingml/2006/main">
            <a:pPr>
              <a:defRPr sz="975">
                <a:solidFill>
                  <a:srgbClr val="687386"/>
                </a:solidFill>
                <a:latin typeface="YuGothic"/>
                <a:ea typeface="YuGothic"/>
                <a:cs typeface="YuGothic"/>
              </a:defRPr>
            </a:pPr>
          </a:p>
        </c:txPr>
        <c:crossAx val="48672768"/>
      </c:catAx>
      <c:valAx>
        <c:axId val="48672768"/>
        <c:scaling>
          <c:orientation val="minMax"/>
          <c:max val="70"/>
          <c:min val="0"/>
        </c:scaling>
        <c:delete val="0"/>
        <c:axPos val="l"/>
        <c:majorGridlines>
          <c:spPr>
            <a:ln xmlns:a="http://schemas.openxmlformats.org/drawingml/2006/main" w="9525">
              <a:solidFill>
                <a:srgbClr val="E3E7ED"/>
              </a:solidFill>
              <a:prstDash val="solid"/>
            </a:ln>
          </c:spPr>
        </c:majorGridlines>
        <c:title>
          <c:tx>
            <c:rich>
              <a:bodyPr xmlns:a="http://schemas.openxmlformats.org/drawingml/2006/main"/>
              <a:lstStyle xmlns:a="http://schemas.openxmlformats.org/drawingml/2006/main"/>
              <a:p xmlns:a="http://schemas.openxmlformats.org/drawingml/2006/main">
                <a:r>
                  <a:rPr sz="1050">
                    <a:solidFill>
                      <a:srgbClr val="687386"/>
                    </a:solidFill>
                    <a:latin typeface="YuGothic"/>
                    <a:ea typeface="YuGothic"/>
                    <a:cs typeface="YuGothic"/>
                  </a:rPr>
                  <a:t>時間 [ms]</a:t>
                </a:r>
              </a:p>
            </c:rich>
          </c:tx>
          <c:overlay val="0"/>
          <c:txPr>
            <a:bodyPr xmlns:a="http://schemas.openxmlformats.org/drawingml/2006/main" anchorCtr="1"/>
            <a:lstStyle xmlns:a="http://schemas.openxmlformats.org/drawingml/2006/main"/>
            <a:p xmlns:a="http://schemas.openxmlformats.org/drawingml/2006/main">
              <a:pPr>
                <a:defRPr sz="1050">
                  <a:solidFill>
                    <a:srgbClr val="687386"/>
                  </a:solidFill>
                  <a:latin typeface="YuGothic"/>
                  <a:ea typeface="YuGothic"/>
                  <a:cs typeface="YuGothic"/>
                </a:defRPr>
              </a:pPr>
            </a:p>
          </c:txPr>
        </c:title>
        <c:numFmt formatCode="0"/>
        <c:majorTickMark val="none"/>
        <c:minorTickMark val="none"/>
        <c:spPr>
          <a:ln xmlns:a="http://schemas.openxmlformats.org/drawingml/2006/main" w="9525">
            <a:solidFill>
              <a:srgbClr val="CBD2DC"/>
            </a:solidFill>
            <a:prstDash val="solid"/>
          </a:ln>
        </c:spPr>
        <c:txPr>
          <a:bodyPr xmlns:a="http://schemas.openxmlformats.org/drawingml/2006/main" anchorCtr="1"/>
          <a:lstStyle xmlns:a="http://schemas.openxmlformats.org/drawingml/2006/main"/>
          <a:p xmlns:a="http://schemas.openxmlformats.org/drawingml/2006/main">
            <a:pPr>
              <a:defRPr sz="975">
                <a:solidFill>
                  <a:srgbClr val="687386"/>
                </a:solidFill>
                <a:latin typeface="YuGothic"/>
                <a:ea typeface="YuGothic"/>
                <a:cs typeface="YuGothic"/>
              </a:defRPr>
            </a:pPr>
          </a:p>
        </c:txPr>
        <c:crossAx val="48650112"/>
        <c:crossBetween val="between"/>
        <c:majorUnit val="10"/>
      </c:valAx>
    </c:plotArea>
    <c:plotVisOnly val="1"/>
  </c:chart>
</c:chartSpace>
</file>

<file path=ppt/slides/charts/chart5.xml><?xml version="1.0" encoding="utf-8"?>
<c:chartSpace xmlns:c="http://schemas.openxmlformats.org/drawingml/2006/chart">
  <c:lang val="en-US"/>
  <c:chart>
    <c:title>
      <c:tx>
        <c:rich>
          <a:bodyPr xmlns:a="http://schemas.openxmlformats.org/drawingml/2006/main"/>
          <a:lstStyle xmlns:a="http://schemas.openxmlformats.org/drawingml/2006/main"/>
          <a:p xmlns:a="http://schemas.openxmlformats.org/drawingml/2006/main">
            <a:r>
              <a:rPr sz="1275" b="1">
                <a:solidFill>
                  <a:srgbClr val="1479C9"/>
                </a:solidFill>
                <a:latin typeface="YuGothic"/>
                <a:ea typeface="YuGothic"/>
                <a:cs typeface="YuGothic"/>
              </a:rPr>
              <a:t>クラス数を増やした場合</a:t>
            </a:r>
          </a:p>
        </c:rich>
      </c:tx>
      <c:overlay val="0"/>
      <c:txPr>
        <a:bodyPr xmlns:a="http://schemas.openxmlformats.org/drawingml/2006/main" anchorCtr="1"/>
        <a:lstStyle xmlns:a="http://schemas.openxmlformats.org/drawingml/2006/main"/>
        <a:p xmlns:a="http://schemas.openxmlformats.org/drawingml/2006/main">
          <a:pPr>
            <a:defRPr sz="1275" b="1">
              <a:solidFill>
                <a:srgbClr val="1479C9"/>
              </a:solidFill>
              <a:latin typeface="YuGothic"/>
              <a:ea typeface="YuGothic"/>
              <a:cs typeface="YuGothic"/>
            </a:defRPr>
          </a:pPr>
        </a:p>
      </c:txPr>
    </c:title>
    <c:plotArea>
      <c:lineChart>
        <c:grouping val="standard"/>
        <c:varyColors val="0"/>
        <c:ser>
          <c:idx val="0"/>
          <c:order val="0"/>
          <c:tx>
            <c:v>OVR exact-K</c:v>
          </c:tx>
          <c:spPr>
            <a:ln xmlns:a="http://schemas.openxmlformats.org/drawingml/2006/main" w="28575">
              <a:solidFill>
                <a:srgbClr val="687386"/>
              </a:solidFill>
              <a:prstDash val="solid"/>
            </a:ln>
          </c:spPr>
          <c:marker>
            <c:symbol val="square"/>
            <c:size val="6"/>
            <c:spPr>
              <a:solidFill xmlns:a="http://schemas.openxmlformats.org/drawingml/2006/main">
                <a:srgbClr val="687386"/>
              </a:solidFill>
            </c:spPr>
          </c:marker>
          <c:cat>
            <c:numLit>
              <c:formatCode>General</c:formatCode>
              <c:ptCount val="8"/>
              <c:pt idx="0">
                <c:v>3</c:v>
              </c:pt>
              <c:pt idx="1">
                <c:v>4</c:v>
              </c:pt>
              <c:pt idx="2">
                <c:v>5</c:v>
              </c:pt>
              <c:pt idx="3">
                <c:v>6</c:v>
              </c:pt>
              <c:pt idx="4">
                <c:v>7</c:v>
              </c:pt>
              <c:pt idx="5">
                <c:v>8</c:v>
              </c:pt>
              <c:pt idx="6">
                <c:v>9</c:v>
              </c:pt>
              <c:pt idx="7">
                <c:v>10</c:v>
              </c:pt>
            </c:numLit>
          </c:cat>
          <c:val>
            <c:numLit>
              <c:formatCode>0</c:formatCode>
              <c:ptCount val="8"/>
              <c:pt idx="0">
                <c:v>20.384</c:v>
              </c:pt>
              <c:pt idx="1">
                <c:v>26.826</c:v>
              </c:pt>
              <c:pt idx="2">
                <c:v>33.126</c:v>
              </c:pt>
              <c:pt idx="3">
                <c:v>38.839</c:v>
              </c:pt>
              <c:pt idx="4">
                <c:v>44.642</c:v>
              </c:pt>
              <c:pt idx="5">
                <c:v>49.744</c:v>
              </c:pt>
              <c:pt idx="6">
                <c:v>54.536</c:v>
              </c:pt>
              <c:pt idx="7">
                <c:v>63.457</c:v>
              </c:pt>
            </c:numLit>
          </c:val>
          <c:smooth val="0"/>
        </c:ser>
        <c:ser>
          <c:idx val="1"/>
          <c:order val="1"/>
          <c:tx>
            <c:v>2クラスLIME</c:v>
          </c:tx>
          <c:spPr>
            <a:ln xmlns:a="http://schemas.openxmlformats.org/drawingml/2006/main" w="28575">
              <a:solidFill>
                <a:srgbClr val="2AA876"/>
              </a:solidFill>
              <a:prstDash val="solid"/>
            </a:ln>
          </c:spPr>
          <c:marker>
            <c:symbol val="circle"/>
            <c:size val="6"/>
            <c:spPr>
              <a:solidFill xmlns:a="http://schemas.openxmlformats.org/drawingml/2006/main">
                <a:srgbClr val="2AA876"/>
              </a:solidFill>
            </c:spPr>
          </c:marker>
          <c:cat>
            <c:numLit>
              <c:formatCode>General</c:formatCode>
              <c:ptCount val="8"/>
              <c:pt idx="0">
                <c:v>3</c:v>
              </c:pt>
              <c:pt idx="1">
                <c:v>4</c:v>
              </c:pt>
              <c:pt idx="2">
                <c:v>5</c:v>
              </c:pt>
              <c:pt idx="3">
                <c:v>6</c:v>
              </c:pt>
              <c:pt idx="4">
                <c:v>7</c:v>
              </c:pt>
              <c:pt idx="5">
                <c:v>8</c:v>
              </c:pt>
              <c:pt idx="6">
                <c:v>9</c:v>
              </c:pt>
              <c:pt idx="7">
                <c:v>10</c:v>
              </c:pt>
            </c:numLit>
          </c:cat>
          <c:val>
            <c:numLit>
              <c:formatCode>0</c:formatCode>
              <c:ptCount val="8"/>
              <c:pt idx="0">
                <c:v>6.671</c:v>
              </c:pt>
              <c:pt idx="1">
                <c:v>6.555</c:v>
              </c:pt>
              <c:pt idx="2">
                <c:v>6.581</c:v>
              </c:pt>
              <c:pt idx="3">
                <c:v>6.553</c:v>
              </c:pt>
              <c:pt idx="4">
                <c:v>6.524</c:v>
              </c:pt>
              <c:pt idx="5">
                <c:v>6.651</c:v>
              </c:pt>
              <c:pt idx="6">
                <c:v>6.332</c:v>
              </c:pt>
              <c:pt idx="7">
                <c:v>6.478</c:v>
              </c:pt>
            </c:numLit>
          </c:val>
          <c:smooth val="0"/>
        </c:ser>
        <c:ser>
          <c:idx val="2"/>
          <c:order val="2"/>
          <c:tx>
            <c:v>Contrastive</c:v>
          </c:tx>
          <c:spPr>
            <a:ln xmlns:a="http://schemas.openxmlformats.org/drawingml/2006/main" w="28575">
              <a:solidFill>
                <a:srgbClr val="F28C28"/>
              </a:solidFill>
              <a:prstDash val="solid"/>
            </a:ln>
          </c:spPr>
          <c:marker>
            <c:symbol val="diamond"/>
            <c:size val="6"/>
            <c:spPr>
              <a:solidFill xmlns:a="http://schemas.openxmlformats.org/drawingml/2006/main">
                <a:srgbClr val="F28C28"/>
              </a:solidFill>
            </c:spPr>
          </c:marker>
          <c:cat>
            <c:numLit>
              <c:formatCode>General</c:formatCode>
              <c:ptCount val="8"/>
              <c:pt idx="0">
                <c:v>3</c:v>
              </c:pt>
              <c:pt idx="1">
                <c:v>4</c:v>
              </c:pt>
              <c:pt idx="2">
                <c:v>5</c:v>
              </c:pt>
              <c:pt idx="3">
                <c:v>6</c:v>
              </c:pt>
              <c:pt idx="4">
                <c:v>7</c:v>
              </c:pt>
              <c:pt idx="5">
                <c:v>8</c:v>
              </c:pt>
              <c:pt idx="6">
                <c:v>9</c:v>
              </c:pt>
              <c:pt idx="7">
                <c:v>10</c:v>
              </c:pt>
            </c:numLit>
          </c:cat>
          <c:val>
            <c:numLit>
              <c:formatCode>0</c:formatCode>
              <c:ptCount val="8"/>
              <c:pt idx="0">
                <c:v>6.544</c:v>
              </c:pt>
              <c:pt idx="1">
                <c:v>6.627</c:v>
              </c:pt>
              <c:pt idx="2">
                <c:v>6.494</c:v>
              </c:pt>
              <c:pt idx="3">
                <c:v>6.602</c:v>
              </c:pt>
              <c:pt idx="4">
                <c:v>6.405</c:v>
              </c:pt>
              <c:pt idx="5">
                <c:v>6.637</c:v>
              </c:pt>
              <c:pt idx="6">
                <c:v>6.34</c:v>
              </c:pt>
              <c:pt idx="7">
                <c:v>6.509</c:v>
              </c:pt>
            </c:numLit>
          </c:val>
          <c:smooth val="0"/>
        </c:ser>
        <c:ser>
          <c:idx val="3"/>
          <c:order val="3"/>
          <c:tx>
            <c:v>OVO Logistic</c:v>
          </c:tx>
          <c:spPr>
            <a:ln xmlns:a="http://schemas.openxmlformats.org/drawingml/2006/main" w="28575">
              <a:solidFill>
                <a:srgbClr val="7B61A8"/>
              </a:solidFill>
              <a:prstDash val="solid"/>
            </a:ln>
          </c:spPr>
          <c:marker>
            <c:symbol val="triangle"/>
            <c:size val="6"/>
            <c:spPr>
              <a:solidFill xmlns:a="http://schemas.openxmlformats.org/drawingml/2006/main">
                <a:srgbClr val="7B61A8"/>
              </a:solidFill>
            </c:spPr>
          </c:marker>
          <c:cat>
            <c:numLit>
              <c:formatCode>General</c:formatCode>
              <c:ptCount val="8"/>
              <c:pt idx="0">
                <c:v>3</c:v>
              </c:pt>
              <c:pt idx="1">
                <c:v>4</c:v>
              </c:pt>
              <c:pt idx="2">
                <c:v>5</c:v>
              </c:pt>
              <c:pt idx="3">
                <c:v>6</c:v>
              </c:pt>
              <c:pt idx="4">
                <c:v>7</c:v>
              </c:pt>
              <c:pt idx="5">
                <c:v>8</c:v>
              </c:pt>
              <c:pt idx="6">
                <c:v>9</c:v>
              </c:pt>
              <c:pt idx="7">
                <c:v>10</c:v>
              </c:pt>
            </c:numLit>
          </c:cat>
          <c:val>
            <c:numLit>
              <c:formatCode>0</c:formatCode>
              <c:ptCount val="8"/>
              <c:pt idx="0">
                <c:v>16.855</c:v>
              </c:pt>
              <c:pt idx="1">
                <c:v>16.294</c:v>
              </c:pt>
              <c:pt idx="2">
                <c:v>16.252</c:v>
              </c:pt>
              <c:pt idx="3">
                <c:v>16.161</c:v>
              </c:pt>
              <c:pt idx="4">
                <c:v>15.484</c:v>
              </c:pt>
              <c:pt idx="5">
                <c:v>15.651</c:v>
              </c:pt>
              <c:pt idx="6">
                <c:v>15.066</c:v>
              </c:pt>
              <c:pt idx="7">
                <c:v>15.388</c:v>
              </c:pt>
            </c:numLit>
          </c:val>
          <c:smooth val="0"/>
        </c:ser>
        <c:dLbls>
          <c:txPr>
            <a:bodyPr xmlns:a="http://schemas.openxmlformats.org/drawingml/2006/main" anchorCtr="1"/>
            <a:lstStyle xmlns:a="http://schemas.openxmlformats.org/drawingml/2006/main"/>
            <a:p xmlns:a="http://schemas.openxmlformats.org/drawingml/2006/main">
              <a:pPr>
                <a:defRPr>
                  <a:latin typeface="YuGothic"/>
                  <a:ea typeface="YuGothic"/>
                  <a:cs typeface="YuGothic"/>
                </a:defRPr>
              </a:pPr>
            </a:p>
          </c:txPr>
          <c:showLegendKey val="0"/>
          <c:showVal val="0"/>
          <c:showCatName val="0"/>
          <c:showSerName val="0"/>
          <c:showPercent val="0"/>
          <c:showBubbleSize val="0"/>
          <c:showLeaderLines val="0"/>
        </c:dLbls>
        <c:smooth val="0"/>
        <c:axId val="48650112"/>
        <c:axId val="48672768"/>
      </c:line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sz="1050">
                    <a:solidFill>
                      <a:srgbClr val="687386"/>
                    </a:solidFill>
                    <a:latin typeface="YuGothic"/>
                    <a:ea typeface="YuGothic"/>
                    <a:cs typeface="YuGothic"/>
                  </a:rPr>
                  <a:t>クラス数 C</a:t>
                </a:r>
              </a:p>
            </c:rich>
          </c:tx>
          <c:overlay val="0"/>
          <c:txPr>
            <a:bodyPr xmlns:a="http://schemas.openxmlformats.org/drawingml/2006/main" anchorCtr="1"/>
            <a:lstStyle xmlns:a="http://schemas.openxmlformats.org/drawingml/2006/main"/>
            <a:p xmlns:a="http://schemas.openxmlformats.org/drawingml/2006/main">
              <a:pPr>
                <a:defRPr sz="1050">
                  <a:solidFill>
                    <a:srgbClr val="687386"/>
                  </a:solidFill>
                  <a:latin typeface="YuGothic"/>
                  <a:ea typeface="YuGothic"/>
                  <a:cs typeface="YuGothic"/>
                </a:defRPr>
              </a:pPr>
            </a:p>
          </c:txPr>
        </c:title>
        <c:numFmt formatCode="General"/>
        <c:majorTickMark val="none"/>
        <c:minorTickMark val="none"/>
        <c:spPr>
          <a:ln xmlns:a="http://schemas.openxmlformats.org/drawingml/2006/main" w="9525">
            <a:solidFill>
              <a:srgbClr val="CBD2DC"/>
            </a:solidFill>
            <a:prstDash val="solid"/>
          </a:ln>
        </c:spPr>
        <c:txPr>
          <a:bodyPr xmlns:a="http://schemas.openxmlformats.org/drawingml/2006/main" anchorCtr="1"/>
          <a:lstStyle xmlns:a="http://schemas.openxmlformats.org/drawingml/2006/main"/>
          <a:p xmlns:a="http://schemas.openxmlformats.org/drawingml/2006/main">
            <a:pPr>
              <a:defRPr sz="975">
                <a:solidFill>
                  <a:srgbClr val="687386"/>
                </a:solidFill>
                <a:latin typeface="YuGothic"/>
                <a:ea typeface="YuGothic"/>
                <a:cs typeface="YuGothic"/>
              </a:defRPr>
            </a:pPr>
          </a:p>
        </c:txPr>
        <c:crossAx val="48672768"/>
      </c:catAx>
      <c:valAx>
        <c:axId val="48672768"/>
        <c:scaling>
          <c:orientation val="minMax"/>
          <c:max val="70"/>
          <c:min val="0"/>
        </c:scaling>
        <c:delete val="0"/>
        <c:axPos val="l"/>
        <c:majorGridlines>
          <c:spPr>
            <a:ln xmlns:a="http://schemas.openxmlformats.org/drawingml/2006/main" w="9525">
              <a:solidFill>
                <a:srgbClr val="E3E7ED"/>
              </a:solidFill>
              <a:prstDash val="solid"/>
            </a:ln>
          </c:spPr>
        </c:majorGridlines>
        <c:numFmt formatCode="0"/>
        <c:majorTickMark val="none"/>
        <c:minorTickMark val="none"/>
        <c:spPr>
          <a:ln xmlns:a="http://schemas.openxmlformats.org/drawingml/2006/main" w="9525">
            <a:solidFill>
              <a:srgbClr val="CBD2DC"/>
            </a:solidFill>
            <a:prstDash val="solid"/>
          </a:ln>
        </c:spPr>
        <c:txPr>
          <a:bodyPr xmlns:a="http://schemas.openxmlformats.org/drawingml/2006/main" anchorCtr="1"/>
          <a:lstStyle xmlns:a="http://schemas.openxmlformats.org/drawingml/2006/main"/>
          <a:p xmlns:a="http://schemas.openxmlformats.org/drawingml/2006/main">
            <a:pPr>
              <a:defRPr sz="975">
                <a:solidFill>
                  <a:srgbClr val="687386"/>
                </a:solidFill>
                <a:latin typeface="YuGothic"/>
                <a:ea typeface="YuGothic"/>
                <a:cs typeface="YuGothic"/>
              </a:defRPr>
            </a:pPr>
          </a:p>
        </c:txPr>
        <c:crossAx val="48650112"/>
        <c:crossBetween val="between"/>
        <c:majorUnit val="10"/>
      </c:valAx>
    </c:plotArea>
    <c:plotVisOnly val="1"/>
  </c:chart>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正方形/長方形 12">
            <a:extLst xmlns:a="http://schemas.openxmlformats.org/drawingml/2006/main">
              <a:ext uri="{FF2B5EF4-FFF2-40B4-BE49-F238E27FC236}">
                <a16:creationId xmlns:a16="http://schemas.microsoft.com/office/drawing/2014/main" id="{17A78FFF-9B69-4A91-AA42-579F155BBCE4}"/>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2563EB"/>
          </a:solidFill>
          <a:ln xmlns:a="http://schemas.openxmlformats.org/drawingml/2006/main" w="0">
            <a:solidFill>
              <a:srgbClr val="2563EB"/>
            </a:solidFill>
            <a:prstDash val="solid"/>
          </a:ln>
        </p:spPr>
        <p:txBody>
          <a:bodyPr xmlns:a="http://schemas.openxmlformats.org/drawingml/2006/main"/>
          <a:lstStyle xmlns:a="http://schemas.openxmlformats.org/drawingml/2006/main"/>
          <a:p xmlns:a="http://schemas.openxmlformats.org/drawingml/2006/main">
            <a:endParaRPr/>
          </a:p>
        </p:txBody>
      </p:sp>
      <p:sp>
        <p:nvSpPr>
          <p:cNvPr id="2" name="正方形/長方形 1">
            <a:extLst xmlns:a="http://schemas.openxmlformats.org/drawingml/2006/main">
              <a:ext uri="{FF2B5EF4-FFF2-40B4-BE49-F238E27FC236}">
                <a16:creationId xmlns:a16="http://schemas.microsoft.com/office/drawing/2014/main" id="{F84B2074-DAA8-4AAB-BEB3-2641FD2B8DD5}"/>
              </a:ext>
            </a:extLst>
          </p:cNvPr>
          <p:cNvSpPr>
            <a:spLocks xmlns:a="http://schemas.openxmlformats.org/drawingml/2006/main" noGrp="1"/>
          </p:cNvSpPr>
          <p:nvPr/>
        </p:nvSpPr>
        <p:spPr>
          <a:xfrm xmlns:a="http://schemas.openxmlformats.org/drawingml/2006/main">
            <a:off x="666750" y="609600"/>
            <a:ext cx="285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buNone/>
              <a:defRPr sz="1500" b="1">
                <a:solidFill>
                  <a:srgbClr val="2563EB"/>
                </a:solidFill>
                <a:latin typeface="Yu Gothic"/>
                <a:ea typeface="Yu Gothic"/>
                <a:cs typeface="Yu Gothic"/>
              </a:defRPr>
            </a:pPr>
            <a:r>
              <a:rPr sz="1500" b="1">
                <a:solidFill>
                  <a:srgbClr val="2563EB"/>
                </a:solidFill>
                <a:latin typeface="Yu Gothic"/>
                <a:ea typeface="Yu Gothic"/>
                <a:cs typeface="Yu Gothic"/>
              </a:rPr>
              <a:t>ゼミ中間発表</a:t>
            </a:r>
          </a:p>
        </p:txBody>
      </p:sp>
      <p:sp>
        <p:nvSpPr>
          <p:cNvPr id="3" name="cover-title">
            <a:extLst xmlns:a="http://schemas.openxmlformats.org/drawingml/2006/main">
              <a:ext uri="{FF2B5EF4-FFF2-40B4-BE49-F238E27FC236}">
                <a16:creationId xmlns:a16="http://schemas.microsoft.com/office/drawing/2014/main" id="{2E43AB2B-2427-4746-ABA1-9F8EF1095148}"/>
              </a:ext>
            </a:extLst>
          </p:cNvPr>
          <p:cNvSpPr>
            <a:spLocks xmlns:a="http://schemas.openxmlformats.org/drawingml/2006/main" noGrp="1"/>
          </p:cNvSpPr>
          <p:nvPr/>
        </p:nvSpPr>
        <p:spPr>
          <a:xfrm xmlns:a="http://schemas.openxmlformats.org/drawingml/2006/main">
            <a:off x="666750" y="1619250"/>
            <a:ext cx="7239000" cy="1714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buNone/>
              <a:defRPr sz="4050" b="1">
                <a:solidFill>
                  <a:srgbClr val="111827"/>
                </a:solidFill>
                <a:latin typeface="Yu Gothic"/>
                <a:ea typeface="Yu Gothic"/>
                <a:cs typeface="Yu Gothic"/>
              </a:defRPr>
            </a:pPr>
            <a:r>
              <a:rPr sz="4050" b="1">
                <a:solidFill>
                  <a:srgbClr val="111827"/>
                </a:solidFill>
                <a:latin typeface="Yu Gothic"/>
                <a:ea typeface="Yu Gothic"/>
                <a:cs typeface="Yu Gothic"/>
              </a:rPr>
              <a:t>多クラス分類における</a:t>
            </a:r>
          </a:p>
          <a:p xmlns:a="http://schemas.openxmlformats.org/drawingml/2006/main">
            <a:pPr algn="l">
              <a:buNone/>
              <a:defRPr sz="4050" b="1">
                <a:solidFill>
                  <a:srgbClr val="111827"/>
                </a:solidFill>
                <a:latin typeface="Yu Gothic"/>
                <a:ea typeface="Yu Gothic"/>
                <a:cs typeface="Yu Gothic"/>
              </a:defRPr>
            </a:pPr>
            <a:r>
              <a:rPr sz="4050" b="1">
                <a:solidFill>
                  <a:srgbClr val="111827"/>
                </a:solidFill>
                <a:latin typeface="Yu Gothic"/>
                <a:ea typeface="Yu Gothic"/>
                <a:cs typeface="Yu Gothic"/>
              </a:rPr>
              <a:t>LIMEの説明方法と課題</a:t>
            </a:r>
          </a:p>
        </p:txBody>
      </p:sp>
      <p:sp>
        <p:nvSpPr>
          <p:cNvPr id="4" name="正方形/長方形 3">
            <a:extLst xmlns:a="http://schemas.openxmlformats.org/drawingml/2006/main">
              <a:ext uri="{FF2B5EF4-FFF2-40B4-BE49-F238E27FC236}">
                <a16:creationId xmlns:a16="http://schemas.microsoft.com/office/drawing/2014/main" id="{DD823584-A1A7-42B0-BE35-733F5A94DD18}"/>
              </a:ext>
            </a:extLst>
          </p:cNvPr>
          <p:cNvSpPr>
            <a:spLocks xmlns:a="http://schemas.openxmlformats.org/drawingml/2006/main" noGrp="1"/>
          </p:cNvSpPr>
          <p:nvPr/>
        </p:nvSpPr>
        <p:spPr>
          <a:xfrm xmlns:a="http://schemas.openxmlformats.org/drawingml/2006/main">
            <a:off x="685800" y="3562350"/>
            <a:ext cx="6667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buNone/>
              <a:defRPr sz="1950" b="0">
                <a:solidFill>
                  <a:srgbClr val="64748B"/>
                </a:solidFill>
                <a:latin typeface="Yu Gothic"/>
                <a:ea typeface="Yu Gothic"/>
                <a:cs typeface="Yu Gothic"/>
              </a:defRPr>
            </a:pPr>
            <a:r>
              <a:rPr sz="1950" b="0">
                <a:solidFill>
                  <a:srgbClr val="64748B"/>
                </a:solidFill>
                <a:latin typeface="Yu Gothic"/>
                <a:ea typeface="Yu Gothic"/>
                <a:cs typeface="Yu Gothic"/>
              </a:rPr>
              <a:t>局所説明の基本から、説明方法の拡張へ</a:t>
            </a:r>
          </a:p>
        </p:txBody>
      </p:sp>
      <p:cxnSp>
        <p:nvCxnSpPr>
          <p:cNvPr id="28" name="直線矢印コネクタ 16"/>
          <p:cNvCxnSpPr/>
          <p:nvPr/>
        </p:nvCxnSpPr>
        <p:spPr>
          <a:xfrm xmlns:a="http://schemas.openxmlformats.org/drawingml/2006/main">
            <a:off x="685800" y="4476750"/>
            <a:ext cx="4572000" cy="0"/>
          </a:xfrm>
          <a:prstGeom xmlns:a="http://schemas.openxmlformats.org/drawingml/2006/main" prst="straightConnector1">
            <a:avLst/>
          </a:prstGeom>
          <a:ln xmlns:a="http://schemas.openxmlformats.org/drawingml/2006/main" w="19050">
            <a:solidFill>
              <a:srgbClr val="CBD5E1"/>
            </a:solidFill>
            <a:prstDash val="solid"/>
          </a:ln>
        </p:spPr>
      </p:cxnSp>
      <p:sp>
        <p:nvSpPr>
          <p:cNvPr id="6" name="正方形/長方形 5">
            <a:extLst xmlns:a="http://schemas.openxmlformats.org/drawingml/2006/main">
              <a:ext uri="{FF2B5EF4-FFF2-40B4-BE49-F238E27FC236}">
                <a16:creationId xmlns:a16="http://schemas.microsoft.com/office/drawing/2014/main" id="{E06F0708-AD48-42F5-B4AE-2EE952E453FE}"/>
              </a:ext>
            </a:extLst>
          </p:cNvPr>
          <p:cNvSpPr>
            <a:spLocks xmlns:a="http://schemas.openxmlformats.org/drawingml/2006/main" noGrp="1"/>
          </p:cNvSpPr>
          <p:nvPr/>
        </p:nvSpPr>
        <p:spPr>
          <a:xfrm xmlns:a="http://schemas.openxmlformats.org/drawingml/2006/main">
            <a:off x="685800" y="4762500"/>
            <a:ext cx="3810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buNone/>
              <a:defRPr sz="1800" b="1">
                <a:solidFill>
                  <a:srgbClr val="111827"/>
                </a:solidFill>
                <a:latin typeface="Yu Gothic"/>
                <a:ea typeface="Yu Gothic"/>
                <a:cs typeface="Yu Gothic"/>
              </a:defRPr>
            </a:pPr>
            <a:r>
              <a:rPr sz="1800" b="1">
                <a:solidFill>
                  <a:srgbClr val="111827"/>
                </a:solidFill>
                <a:latin typeface="Yu Gothic"/>
                <a:ea typeface="Yu Gothic"/>
                <a:cs typeface="Yu Gothic"/>
              </a:rPr>
              <a:t>池亀 颯太　M1</a:t>
            </a:r>
          </a:p>
        </p:txBody>
      </p:sp>
      <p:sp>
        <p:nvSpPr>
          <p:cNvPr id="7" name="正方形/長方形 6">
            <a:extLst xmlns:a="http://schemas.openxmlformats.org/drawingml/2006/main">
              <a:ext uri="{FF2B5EF4-FFF2-40B4-BE49-F238E27FC236}">
                <a16:creationId xmlns:a16="http://schemas.microsoft.com/office/drawing/2014/main" id="{5448BD7F-E594-4D25-AD2B-BAB2BB4E626A}"/>
              </a:ext>
            </a:extLst>
          </p:cNvPr>
          <p:cNvSpPr>
            <a:spLocks xmlns:a="http://schemas.openxmlformats.org/drawingml/2006/main" noGrp="1"/>
          </p:cNvSpPr>
          <p:nvPr/>
        </p:nvSpPr>
        <p:spPr>
          <a:xfrm xmlns:a="http://schemas.openxmlformats.org/drawingml/2006/main">
            <a:off x="685800" y="5219700"/>
            <a:ext cx="3810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buNone/>
              <a:defRPr sz="1500" b="0">
                <a:solidFill>
                  <a:srgbClr val="64748B"/>
                </a:solidFill>
                <a:latin typeface="Yu Gothic"/>
                <a:ea typeface="Yu Gothic"/>
                <a:cs typeface="Yu Gothic"/>
              </a:defRPr>
            </a:pPr>
            <a:r>
              <a:rPr sz="1500" b="0">
                <a:solidFill>
                  <a:srgbClr val="64748B"/>
                </a:solidFill>
                <a:latin typeface="Yu Gothic"/>
                <a:ea typeface="Yu Gothic"/>
                <a:cs typeface="Yu Gothic"/>
              </a:rPr>
              <a:t>2026年9月12日（土）</a:t>
            </a:r>
          </a:p>
        </p:txBody>
      </p:sp>
      <p:sp>
        <p:nvSpPr>
          <p:cNvPr id="8" name="正方形/長方形 7">
            <a:extLst xmlns:a="http://schemas.openxmlformats.org/drawingml/2006/main">
              <a:ext uri="{FF2B5EF4-FFF2-40B4-BE49-F238E27FC236}">
                <a16:creationId xmlns:a16="http://schemas.microsoft.com/office/drawing/2014/main" id="{C62058CD-3479-417F-9BC1-D611641D5421}"/>
              </a:ext>
            </a:extLst>
          </p:cNvPr>
          <p:cNvSpPr>
            <a:spLocks xmlns:a="http://schemas.openxmlformats.org/drawingml/2006/main" noGrp="1"/>
          </p:cNvSpPr>
          <p:nvPr/>
        </p:nvSpPr>
        <p:spPr>
          <a:xfrm xmlns:a="http://schemas.openxmlformats.org/drawingml/2006/main">
            <a:off x="8572500" y="952500"/>
            <a:ext cx="2190750" cy="2190750"/>
          </a:xfrm>
          <a:prstGeom xmlns:a="http://schemas.openxmlformats.org/drawingml/2006/main" prst="rect">
            <a:avLst/>
          </a:prstGeom>
          <a:solidFill xmlns:a="http://schemas.openxmlformats.org/drawingml/2006/main">
            <a:srgbClr val="DBEAFE"/>
          </a:solidFill>
          <a:ln xmlns:a="http://schemas.openxmlformats.org/drawingml/2006/main" w="0">
            <a:solidFill>
              <a:srgbClr val="DBEAFE"/>
            </a:solidFill>
            <a:prstDash val="solid"/>
          </a:ln>
        </p:spPr>
        <p:txBody>
          <a:bodyPr xmlns:a="http://schemas.openxmlformats.org/drawingml/2006/main"/>
          <a:lstStyle xmlns:a="http://schemas.openxmlformats.org/drawingml/2006/main"/>
          <a:p xmlns:a="http://schemas.openxmlformats.org/drawingml/2006/main">
            <a:endParaRPr/>
          </a:p>
        </p:txBody>
      </p:sp>
      <p:sp>
        <p:nvSpPr>
          <p:cNvPr id="9" name="正方形/長方形 8">
            <a:extLst xmlns:a="http://schemas.openxmlformats.org/drawingml/2006/main">
              <a:ext uri="{FF2B5EF4-FFF2-40B4-BE49-F238E27FC236}">
                <a16:creationId xmlns:a16="http://schemas.microsoft.com/office/drawing/2014/main" id="{96A1A3B2-198D-4521-AA9C-0FFF75F503BF}"/>
              </a:ext>
            </a:extLst>
          </p:cNvPr>
          <p:cNvSpPr>
            <a:spLocks xmlns:a="http://schemas.openxmlformats.org/drawingml/2006/main" noGrp="1"/>
          </p:cNvSpPr>
          <p:nvPr/>
        </p:nvSpPr>
        <p:spPr>
          <a:xfrm xmlns:a="http://schemas.openxmlformats.org/drawingml/2006/main">
            <a:off x="9667875" y="2047875"/>
            <a:ext cx="1619250" cy="1619250"/>
          </a:xfrm>
          <a:prstGeom xmlns:a="http://schemas.openxmlformats.org/drawingml/2006/main" prst="rect">
            <a:avLst/>
          </a:prstGeom>
          <a:solidFill xmlns:a="http://schemas.openxmlformats.org/drawingml/2006/main">
            <a:srgbClr val="2563EB"/>
          </a:solidFill>
          <a:ln xmlns:a="http://schemas.openxmlformats.org/drawingml/2006/main" w="0">
            <a:solidFill>
              <a:srgbClr val="2563EB"/>
            </a:solidFill>
            <a:prstDash val="solid"/>
          </a:ln>
        </p:spPr>
        <p:txBody>
          <a:bodyPr xmlns:a="http://schemas.openxmlformats.org/drawingml/2006/main"/>
          <a:lstStyle xmlns:a="http://schemas.openxmlformats.org/drawingml/2006/main"/>
          <a:p xmlns:a="http://schemas.openxmlformats.org/drawingml/2006/main">
            <a:endParaRPr/>
          </a:p>
        </p:txBody>
      </p:sp>
      <p:sp>
        <p:nvSpPr>
          <p:cNvPr id="10" name="円/楕円 9">
            <a:extLst xmlns:a="http://schemas.openxmlformats.org/drawingml/2006/main">
              <a:ext uri="{FF2B5EF4-FFF2-40B4-BE49-F238E27FC236}">
                <a16:creationId xmlns:a16="http://schemas.microsoft.com/office/drawing/2014/main" id="{4B530DD3-9326-4695-8040-633CCEAF4595}"/>
              </a:ext>
            </a:extLst>
          </p:cNvPr>
          <p:cNvSpPr>
            <a:spLocks xmlns:a="http://schemas.openxmlformats.org/drawingml/2006/main" noGrp="1"/>
          </p:cNvSpPr>
          <p:nvPr/>
        </p:nvSpPr>
        <p:spPr>
          <a:xfrm xmlns:a="http://schemas.openxmlformats.org/drawingml/2006/main">
            <a:off x="8096250" y="3381375"/>
            <a:ext cx="1714500" cy="1714500"/>
          </a:xfrm>
          <a:prstGeom xmlns:a="http://schemas.openxmlformats.org/drawingml/2006/main" prst="ellipse">
            <a:avLst/>
          </a:prstGeom>
          <a:solidFill xmlns:a="http://schemas.openxmlformats.org/drawingml/2006/main">
            <a:srgbClr val="FEF3C7"/>
          </a:solidFill>
          <a:ln xmlns:a="http://schemas.openxmlformats.org/drawingml/2006/main" w="28575">
            <a:solidFill>
              <a:srgbClr val="F59E0B"/>
            </a:solidFill>
            <a:prstDash val="solid"/>
          </a:ln>
        </p:spPr>
        <p:txBody>
          <a:bodyPr xmlns:a="http://schemas.openxmlformats.org/drawingml/2006/main"/>
          <a:lstStyle xmlns:a="http://schemas.openxmlformats.org/drawingml/2006/main"/>
          <a:p xmlns:a="http://schemas.openxmlformats.org/drawingml/2006/main">
            <a:endParaRPr/>
          </a:p>
        </p:txBody>
      </p:sp>
      <p:cxnSp>
        <p:nvCxnSpPr>
          <p:cNvPr id="34" name="直線矢印コネクタ 22"/>
          <p:cNvCxnSpPr/>
          <p:nvPr/>
        </p:nvCxnSpPr>
        <p:spPr>
          <a:xfrm xmlns:a="http://schemas.openxmlformats.org/drawingml/2006/main">
            <a:off x="7810500" y="5524500"/>
            <a:ext cx="3238500" cy="0"/>
          </a:xfrm>
          <a:prstGeom xmlns:a="http://schemas.openxmlformats.org/drawingml/2006/main" prst="straightConnector1">
            <a:avLst/>
          </a:prstGeom>
          <a:ln xmlns:a="http://schemas.openxmlformats.org/drawingml/2006/main" w="38100">
            <a:solidFill>
              <a:srgbClr val="111827"/>
            </a:solidFill>
            <a:prstDash val="solid"/>
          </a:ln>
        </p:spPr>
      </p:cxnSp>
      <p:sp>
        <p:nvSpPr>
          <p:cNvPr id="12" name="正方形/長方形 11">
            <a:extLst xmlns:a="http://schemas.openxmlformats.org/drawingml/2006/main">
              <a:ext uri="{FF2B5EF4-FFF2-40B4-BE49-F238E27FC236}">
                <a16:creationId xmlns:a16="http://schemas.microsoft.com/office/drawing/2014/main" id="{E437CF62-177A-4A4E-A45F-47597A0C13FA}"/>
              </a:ext>
            </a:extLst>
          </p:cNvPr>
          <p:cNvSpPr>
            <a:spLocks xmlns:a="http://schemas.openxmlformats.org/drawingml/2006/main" noGrp="1"/>
          </p:cNvSpPr>
          <p:nvPr/>
        </p:nvSpPr>
        <p:spPr>
          <a:xfrm xmlns:a="http://schemas.openxmlformats.org/drawingml/2006/main">
            <a:off x="7953375" y="5715000"/>
            <a:ext cx="3143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buNone/>
              <a:defRPr sz="1350" b="1">
                <a:solidFill>
                  <a:srgbClr val="111827"/>
                </a:solidFill>
                <a:latin typeface="Yu Gothic"/>
                <a:ea typeface="Yu Gothic"/>
                <a:cs typeface="Yu Gothic"/>
              </a:defRPr>
            </a:pPr>
            <a:r>
              <a:rPr sz="1350" b="1">
                <a:solidFill>
                  <a:srgbClr val="111827"/>
                </a:solidFill>
                <a:latin typeface="Yu Gothic"/>
                <a:ea typeface="Yu Gothic"/>
                <a:cs typeface="Yu Gothic"/>
              </a:rPr>
              <a:t>LOCAL  →  MULTI-CLASS</a:t>
            </a:r>
          </a:p>
        </p:txBody>
      </p:sp>
    </p:spTree>
    <p:extLst>
      <p:ext uri="{BB962C8B-B14F-4D97-AF65-F5344CB8AC3E}">
        <p14:creationId xmlns:p14="http://schemas.microsoft.com/office/powerpoint/2010/main" val="544476848"/>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5" name="正方形/長方形 34">
            <a:extLst xmlns:a="http://schemas.openxmlformats.org/drawingml/2006/main">
              <a:ext uri="{FF2B5EF4-FFF2-40B4-BE49-F238E27FC236}">
                <a16:creationId xmlns:a16="http://schemas.microsoft.com/office/drawing/2014/main" id="{2EC6FA3A-EF6E-4DD5-9F3D-8DE9357801F0}"/>
              </a:ext>
            </a:extLst>
          </p:cNvPr>
          <p:cNvSpPr>
            <a:spLocks xmlns:a="http://schemas.openxmlformats.org/drawingml/2006/main" noGrp="1"/>
          </p:cNvSpPr>
          <p:nvPr/>
        </p:nvSpPr>
        <p:spPr>
          <a:xfrm xmlns:a="http://schemas.openxmlformats.org/drawingml/2006/main">
            <a:off x="514350" y="419100"/>
            <a:ext cx="114300" cy="457200"/>
          </a:xfrm>
          <a:prstGeom xmlns:a="http://schemas.openxmlformats.org/drawingml/2006/main" prst="rect">
            <a:avLst/>
          </a:prstGeom>
          <a:solidFill xmlns:a="http://schemas.openxmlformats.org/drawingml/2006/main">
            <a:srgbClr val="2563EB"/>
          </a:solidFill>
          <a:ln xmlns:a="http://schemas.openxmlformats.org/drawingml/2006/main" w="0">
            <a:solidFill>
              <a:srgbClr val="2563EB"/>
            </a:solidFill>
            <a:prstDash val="solid"/>
          </a:ln>
        </p:spPr>
        <p:txBody>
          <a:bodyPr xmlns:a="http://schemas.openxmlformats.org/drawingml/2006/main"/>
          <a:lstStyle xmlns:a="http://schemas.openxmlformats.org/drawingml/2006/main"/>
          <a:p xmlns:a="http://schemas.openxmlformats.org/drawingml/2006/main">
            <a:endParaRPr/>
          </a:p>
        </p:txBody>
      </p:sp>
      <p:sp>
        <p:nvSpPr>
          <p:cNvPr id="2" name="slide-2-title">
            <a:extLst xmlns:a="http://schemas.openxmlformats.org/drawingml/2006/main">
              <a:ext uri="{FF2B5EF4-FFF2-40B4-BE49-F238E27FC236}">
                <a16:creationId xmlns:a16="http://schemas.microsoft.com/office/drawing/2014/main" id="{C7DA64B8-E76C-44F5-86D4-3ED7FAD1A7A0}"/>
              </a:ext>
            </a:extLst>
          </p:cNvPr>
          <p:cNvSpPr>
            <a:spLocks xmlns:a="http://schemas.openxmlformats.org/drawingml/2006/main" noGrp="1"/>
          </p:cNvSpPr>
          <p:nvPr/>
        </p:nvSpPr>
        <p:spPr>
          <a:xfrm xmlns:a="http://schemas.openxmlformats.org/drawingml/2006/main">
            <a:off x="800100" y="361950"/>
            <a:ext cx="10572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buNone/>
              <a:defRPr sz="2850" b="1">
                <a:solidFill>
                  <a:srgbClr val="111827"/>
                </a:solidFill>
                <a:latin typeface="Yu Gothic"/>
                <a:ea typeface="Yu Gothic"/>
                <a:cs typeface="Yu Gothic"/>
              </a:defRPr>
            </a:pPr>
            <a:r>
              <a:rPr sz="2850" b="1">
                <a:solidFill>
                  <a:srgbClr val="111827"/>
                </a:solidFill>
                <a:latin typeface="Yu Gothic"/>
                <a:ea typeface="Yu Gothic"/>
                <a:cs typeface="Yu Gothic"/>
              </a:rPr>
              <a:t>XAIは予測理由を見える形にする</a:t>
            </a:r>
          </a:p>
        </p:txBody>
      </p:sp>
      <p:sp>
        <p:nvSpPr>
          <p:cNvPr id="3" name="slide-2-subtitle">
            <a:extLst xmlns:a="http://schemas.openxmlformats.org/drawingml/2006/main">
              <a:ext uri="{FF2B5EF4-FFF2-40B4-BE49-F238E27FC236}">
                <a16:creationId xmlns:a16="http://schemas.microsoft.com/office/drawing/2014/main" id="{B92EE467-49A5-4CC4-9081-5A2A737A860D}"/>
              </a:ext>
            </a:extLst>
          </p:cNvPr>
          <p:cNvSpPr>
            <a:spLocks xmlns:a="http://schemas.openxmlformats.org/drawingml/2006/main" noGrp="1"/>
          </p:cNvSpPr>
          <p:nvPr/>
        </p:nvSpPr>
        <p:spPr>
          <a:xfrm xmlns:a="http://schemas.openxmlformats.org/drawingml/2006/main">
            <a:off x="800100" y="962025"/>
            <a:ext cx="1057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buNone/>
              <a:defRPr sz="1500" b="0">
                <a:solidFill>
                  <a:srgbClr val="64748B"/>
                </a:solidFill>
                <a:latin typeface="Yu Gothic"/>
                <a:ea typeface="Yu Gothic"/>
                <a:cs typeface="Yu Gothic"/>
              </a:defRPr>
            </a:pPr>
            <a:r>
              <a:rPr sz="1500" b="0">
                <a:solidFill>
                  <a:srgbClr val="64748B"/>
                </a:solidFill>
                <a:latin typeface="Yu Gothic"/>
                <a:ea typeface="Yu Gothic"/>
                <a:cs typeface="Yu Gothic"/>
              </a:rPr>
              <a:t>モデルを理解するだけでなく、誤学習を見つけるデバッグにも使える</a:t>
            </a:r>
          </a:p>
        </p:txBody>
      </p:sp>
      <p:sp>
        <p:nvSpPr>
          <p:cNvPr id="4" name="正方形/長方形 3">
            <a:extLst xmlns:a="http://schemas.openxmlformats.org/drawingml/2006/main">
              <a:ext uri="{FF2B5EF4-FFF2-40B4-BE49-F238E27FC236}">
                <a16:creationId xmlns:a16="http://schemas.microsoft.com/office/drawing/2014/main" id="{5D6EAD04-DBFB-4E59-A369-82788477E7BE}"/>
              </a:ext>
            </a:extLst>
          </p:cNvPr>
          <p:cNvSpPr>
            <a:spLocks xmlns:a="http://schemas.openxmlformats.org/drawingml/2006/main" noGrp="1"/>
          </p:cNvSpPr>
          <p:nvPr/>
        </p:nvSpPr>
        <p:spPr>
          <a:xfrm xmlns:a="http://schemas.openxmlformats.org/drawingml/2006/main">
            <a:off x="11239500" y="6438900"/>
            <a:ext cx="476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buNone/>
              <a:defRPr sz="1050" b="0">
                <a:solidFill>
                  <a:srgbClr val="64748B"/>
                </a:solidFill>
                <a:latin typeface="Yu Gothic"/>
                <a:ea typeface="Yu Gothic"/>
                <a:cs typeface="Yu Gothic"/>
              </a:defRPr>
            </a:pPr>
            <a:r>
              <a:rPr sz="1050" b="0">
                <a:solidFill>
                  <a:srgbClr val="64748B"/>
                </a:solidFill>
                <a:latin typeface="Yu Gothic"/>
                <a:ea typeface="Yu Gothic"/>
                <a:cs typeface="Yu Gothic"/>
              </a:rPr>
              <a:t>02</a:t>
            </a:r>
          </a:p>
        </p:txBody>
      </p:sp>
      <p:sp>
        <p:nvSpPr>
          <p:cNvPr id="5" name="右矢印 4">
            <a:extLst xmlns:a="http://schemas.openxmlformats.org/drawingml/2006/main">
              <a:ext uri="{FF2B5EF4-FFF2-40B4-BE49-F238E27FC236}">
                <a16:creationId xmlns:a16="http://schemas.microsoft.com/office/drawing/2014/main" id="{CF7D41FF-F54C-48C5-8774-3500F56DD139}"/>
              </a:ext>
            </a:extLst>
          </p:cNvPr>
          <p:cNvSpPr>
            <a:spLocks xmlns:a="http://schemas.openxmlformats.org/drawingml/2006/main" noGrp="1"/>
          </p:cNvSpPr>
          <p:nvPr/>
        </p:nvSpPr>
        <p:spPr>
          <a:xfrm xmlns:a="http://schemas.openxmlformats.org/drawingml/2006/main">
            <a:off x="3048000" y="2647950"/>
            <a:ext cx="647700" cy="323850"/>
          </a:xfrm>
          <a:prstGeom xmlns:a="http://schemas.openxmlformats.org/drawingml/2006/main" prst="rightArrow">
            <a:avLst/>
          </a:prstGeom>
          <a:solidFill xmlns:a="http://schemas.openxmlformats.org/drawingml/2006/main">
            <a:srgbClr val="2563EB"/>
          </a:solidFill>
          <a:ln xmlns:a="http://schemas.openxmlformats.org/drawingml/2006/main" w="0">
            <a:solidFill>
              <a:srgbClr val="2563EB"/>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右矢印 5">
            <a:extLst xmlns:a="http://schemas.openxmlformats.org/drawingml/2006/main">
              <a:ext uri="{FF2B5EF4-FFF2-40B4-BE49-F238E27FC236}">
                <a16:creationId xmlns:a16="http://schemas.microsoft.com/office/drawing/2014/main" id="{AE686193-47DB-4E76-AAF1-B08B45F64CF7}"/>
              </a:ext>
            </a:extLst>
          </p:cNvPr>
          <p:cNvSpPr>
            <a:spLocks xmlns:a="http://schemas.openxmlformats.org/drawingml/2006/main" noGrp="1"/>
          </p:cNvSpPr>
          <p:nvPr/>
        </p:nvSpPr>
        <p:spPr>
          <a:xfrm xmlns:a="http://schemas.openxmlformats.org/drawingml/2006/main">
            <a:off x="5810250" y="2647950"/>
            <a:ext cx="647700" cy="323850"/>
          </a:xfrm>
          <a:prstGeom xmlns:a="http://schemas.openxmlformats.org/drawingml/2006/main" prst="rightArrow">
            <a:avLst/>
          </a:prstGeom>
          <a:solidFill xmlns:a="http://schemas.openxmlformats.org/drawingml/2006/main">
            <a:srgbClr val="2563EB"/>
          </a:solidFill>
          <a:ln xmlns:a="http://schemas.openxmlformats.org/drawingml/2006/main" w="0">
            <a:solidFill>
              <a:srgbClr val="2563EB"/>
            </a:solidFill>
            <a:prstDash val="solid"/>
          </a:ln>
        </p:spPr>
        <p:txBody>
          <a:bodyPr xmlns:a="http://schemas.openxmlformats.org/drawingml/2006/main"/>
          <a:lstStyle xmlns:a="http://schemas.openxmlformats.org/drawingml/2006/main"/>
          <a:p xmlns:a="http://schemas.openxmlformats.org/drawingml/2006/main">
            <a:endParaRPr/>
          </a:p>
        </p:txBody>
      </p:sp>
      <p:sp>
        <p:nvSpPr>
          <p:cNvPr id="7" name="右矢印 6">
            <a:extLst xmlns:a="http://schemas.openxmlformats.org/drawingml/2006/main">
              <a:ext uri="{FF2B5EF4-FFF2-40B4-BE49-F238E27FC236}">
                <a16:creationId xmlns:a16="http://schemas.microsoft.com/office/drawing/2014/main" id="{05D53959-0A81-4317-BE94-1983CE1DBD8B}"/>
              </a:ext>
            </a:extLst>
          </p:cNvPr>
          <p:cNvSpPr>
            <a:spLocks xmlns:a="http://schemas.openxmlformats.org/drawingml/2006/main" noGrp="1"/>
          </p:cNvSpPr>
          <p:nvPr/>
        </p:nvSpPr>
        <p:spPr>
          <a:xfrm xmlns:a="http://schemas.openxmlformats.org/drawingml/2006/main">
            <a:off x="8239125" y="2647950"/>
            <a:ext cx="647700" cy="323850"/>
          </a:xfrm>
          <a:prstGeom xmlns:a="http://schemas.openxmlformats.org/drawingml/2006/main" prst="rightArrow">
            <a:avLst/>
          </a:prstGeom>
          <a:solidFill xmlns:a="http://schemas.openxmlformats.org/drawingml/2006/main">
            <a:srgbClr val="10B981"/>
          </a:solidFill>
          <a:ln xmlns:a="http://schemas.openxmlformats.org/drawingml/2006/main" w="0">
            <a:solidFill>
              <a:srgbClr val="10B981"/>
            </a:solidFill>
            <a:prstDash val="solid"/>
          </a:ln>
        </p:spPr>
        <p:txBody>
          <a:bodyPr xmlns:a="http://schemas.openxmlformats.org/drawingml/2006/main"/>
          <a:lstStyle xmlns:a="http://schemas.openxmlformats.org/drawingml/2006/main"/>
          <a:p xmlns:a="http://schemas.openxmlformats.org/drawingml/2006/main">
            <a:endParaRPr/>
          </a:p>
        </p:txBody>
      </p:sp>
      <p:sp>
        <p:nvSpPr>
          <p:cNvPr id="8" name="正方形/長方形 7">
            <a:extLst xmlns:a="http://schemas.openxmlformats.org/drawingml/2006/main">
              <a:ext uri="{FF2B5EF4-FFF2-40B4-BE49-F238E27FC236}">
                <a16:creationId xmlns:a16="http://schemas.microsoft.com/office/drawing/2014/main" id="{8931164E-CF90-4AF3-9564-5B9A9BED57A7}"/>
              </a:ext>
            </a:extLst>
          </p:cNvPr>
          <p:cNvSpPr>
            <a:spLocks xmlns:a="http://schemas.openxmlformats.org/drawingml/2006/main" noGrp="1"/>
          </p:cNvSpPr>
          <p:nvPr/>
        </p:nvSpPr>
        <p:spPr>
          <a:xfrm xmlns:a="http://schemas.openxmlformats.org/drawingml/2006/main">
            <a:off x="571500" y="1571625"/>
            <a:ext cx="2381250" cy="3333750"/>
          </a:xfrm>
          <a:prstGeom xmlns:a="http://schemas.openxmlformats.org/drawingml/2006/main" prst="rect">
            <a:avLst/>
          </a:prstGeom>
          <a:solidFill xmlns:a="http://schemas.openxmlformats.org/drawingml/2006/main">
            <a:srgbClr val="F3F4F6"/>
          </a:solidFill>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endParaRPr/>
          </a:p>
        </p:txBody>
      </p:sp>
      <p:sp>
        <p:nvSpPr>
          <p:cNvPr id="9" name="正方形/長方形 8">
            <a:extLst xmlns:a="http://schemas.openxmlformats.org/drawingml/2006/main">
              <a:ext uri="{FF2B5EF4-FFF2-40B4-BE49-F238E27FC236}">
                <a16:creationId xmlns:a16="http://schemas.microsoft.com/office/drawing/2014/main" id="{B497D0B8-981D-4543-BB62-3F998F6DBDE6}"/>
              </a:ext>
            </a:extLst>
          </p:cNvPr>
          <p:cNvSpPr>
            <a:spLocks xmlns:a="http://schemas.openxmlformats.org/drawingml/2006/main" noGrp="1"/>
          </p:cNvSpPr>
          <p:nvPr/>
        </p:nvSpPr>
        <p:spPr>
          <a:xfrm xmlns:a="http://schemas.openxmlformats.org/drawingml/2006/main">
            <a:off x="800100" y="1790700"/>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buNone/>
              <a:defRPr sz="1800" b="1">
                <a:solidFill>
                  <a:srgbClr val="111827"/>
                </a:solidFill>
                <a:latin typeface="Yu Gothic"/>
                <a:ea typeface="Yu Gothic"/>
                <a:cs typeface="Yu Gothic"/>
              </a:defRPr>
            </a:pPr>
            <a:r>
              <a:rPr sz="1800" b="1">
                <a:solidFill>
                  <a:srgbClr val="111827"/>
                </a:solidFill>
                <a:latin typeface="Yu Gothic"/>
                <a:ea typeface="Yu Gothic"/>
                <a:cs typeface="Yu Gothic"/>
              </a:rPr>
              <a:t>乗客データ</a:t>
            </a:r>
          </a:p>
        </p:txBody>
      </p:sp>
      <p:cxnSp>
        <p:nvCxnSpPr>
          <p:cNvPr id="54" name="直線矢印コネクタ 43"/>
          <p:cNvCxnSpPr/>
          <p:nvPr/>
        </p:nvCxnSpPr>
        <p:spPr>
          <a:xfrm xmlns:a="http://schemas.openxmlformats.org/drawingml/2006/main">
            <a:off x="800100" y="2209800"/>
            <a:ext cx="1714500" cy="0"/>
          </a:xfrm>
          <a:prstGeom xmlns:a="http://schemas.openxmlformats.org/drawingml/2006/main" prst="straightConnector1">
            <a:avLst/>
          </a:prstGeom>
          <a:ln xmlns:a="http://schemas.openxmlformats.org/drawingml/2006/main" w="9525">
            <a:solidFill>
              <a:srgbClr val="CBD5E1"/>
            </a:solidFill>
            <a:prstDash val="solid"/>
          </a:ln>
        </p:spPr>
      </p:cxnSp>
      <p:sp>
        <p:nvSpPr>
          <p:cNvPr id="11" name="正方形/長方形 10">
            <a:extLst xmlns:a="http://schemas.openxmlformats.org/drawingml/2006/main">
              <a:ext uri="{FF2B5EF4-FFF2-40B4-BE49-F238E27FC236}">
                <a16:creationId xmlns:a16="http://schemas.microsoft.com/office/drawing/2014/main" id="{44B44796-4A5A-41BF-88C4-D8E9392134C4}"/>
              </a:ext>
            </a:extLst>
          </p:cNvPr>
          <p:cNvSpPr>
            <a:spLocks xmlns:a="http://schemas.openxmlformats.org/drawingml/2006/main" noGrp="1"/>
          </p:cNvSpPr>
          <p:nvPr/>
        </p:nvSpPr>
        <p:spPr>
          <a:xfrm xmlns:a="http://schemas.openxmlformats.org/drawingml/2006/main">
            <a:off x="800100" y="2428875"/>
            <a:ext cx="1809750"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buNone/>
              <a:defRPr sz="1575" b="0">
                <a:solidFill>
                  <a:srgbClr val="111827"/>
                </a:solidFill>
                <a:latin typeface="Yu Gothic"/>
                <a:ea typeface="Yu Gothic"/>
                <a:cs typeface="Yu Gothic"/>
              </a:defRPr>
            </a:pPr>
            <a:r>
              <a:rPr sz="1575" b="0">
                <a:solidFill>
                  <a:srgbClr val="111827"/>
                </a:solidFill>
                <a:latin typeface="Yu Gothic"/>
                <a:ea typeface="Yu Gothic"/>
                <a:cs typeface="Yu Gothic"/>
              </a:rPr>
              <a:t>年齢</a:t>
            </a:r>
            <a:r>
              <a:rPr sz="1575" b="0">
                <a:solidFill>
                  <a:srgbClr val="111827"/>
                </a:solidFill>
                <a:latin typeface="Yu Gothic"/>
                <a:ea typeface="Yu Gothic"/>
                <a:cs typeface="Yu Gothic"/>
              </a:rPr>
              <a:t>　　　 22歳</a:t>
            </a:r>
          </a:p>
          <a:p xmlns:a="http://schemas.openxmlformats.org/drawingml/2006/main">
            <a:pPr algn="l">
              <a:buNone/>
              <a:defRPr sz="1575" b="0">
                <a:solidFill>
                  <a:srgbClr val="111827"/>
                </a:solidFill>
                <a:latin typeface="Yu Gothic"/>
                <a:ea typeface="Yu Gothic"/>
                <a:cs typeface="Yu Gothic"/>
              </a:defRPr>
            </a:pPr>
            <a:r>
              <a:rPr sz="1575" b="0">
                <a:solidFill>
                  <a:srgbClr val="111827"/>
                </a:solidFill>
                <a:latin typeface="Yu Gothic"/>
                <a:ea typeface="Yu Gothic"/>
                <a:cs typeface="Yu Gothic"/>
              </a:rPr>
              <a:t>性別</a:t>
            </a:r>
            <a:r>
              <a:rPr sz="1575" b="0">
                <a:solidFill>
                  <a:srgbClr val="111827"/>
                </a:solidFill>
                <a:latin typeface="Yu Gothic"/>
                <a:ea typeface="Yu Gothic"/>
                <a:cs typeface="Yu Gothic"/>
              </a:rPr>
              <a:t>　　　 </a:t>
            </a:r>
            <a:r>
              <a:rPr sz="1575" b="0">
                <a:solidFill>
                  <a:srgbClr val="111827"/>
                </a:solidFill>
                <a:latin typeface="Yu Gothic"/>
                <a:ea typeface="Yu Gothic"/>
                <a:cs typeface="Yu Gothic"/>
              </a:rPr>
              <a:t>女性</a:t>
            </a:r>
            <a:endParaRPr sz="1575" b="0">
              <a:solidFill>
                <a:srgbClr val="111827"/>
              </a:solidFill>
              <a:latin typeface="Yu Gothic"/>
              <a:ea typeface="Yu Gothic"/>
              <a:cs typeface="Yu Gothic"/>
            </a:endParaRPr>
          </a:p>
          <a:p xmlns:a="http://schemas.openxmlformats.org/drawingml/2006/main">
            <a:pPr algn="l">
              <a:buNone/>
              <a:defRPr sz="1575" b="0">
                <a:solidFill>
                  <a:srgbClr val="111827"/>
                </a:solidFill>
                <a:latin typeface="Yu Gothic"/>
                <a:ea typeface="Yu Gothic"/>
                <a:cs typeface="Yu Gothic"/>
              </a:defRPr>
            </a:pPr>
            <a:r>
              <a:rPr sz="1575" b="0">
                <a:solidFill>
                  <a:srgbClr val="111827"/>
                </a:solidFill>
                <a:latin typeface="Yu Gothic"/>
                <a:ea typeface="Yu Gothic"/>
                <a:cs typeface="Yu Gothic"/>
              </a:rPr>
              <a:t>客室等級</a:t>
            </a:r>
            <a:r>
              <a:rPr sz="1575" b="0">
                <a:solidFill>
                  <a:srgbClr val="111827"/>
                </a:solidFill>
                <a:latin typeface="Yu Gothic"/>
                <a:ea typeface="Yu Gothic"/>
                <a:cs typeface="Yu Gothic"/>
              </a:rPr>
              <a:t>　 1等</a:t>
            </a:r>
          </a:p>
          <a:p xmlns:a="http://schemas.openxmlformats.org/drawingml/2006/main">
            <a:pPr algn="l">
              <a:buNone/>
              <a:defRPr sz="1575" b="0">
                <a:solidFill>
                  <a:srgbClr val="111827"/>
                </a:solidFill>
                <a:latin typeface="Yu Gothic"/>
                <a:ea typeface="Yu Gothic"/>
                <a:cs typeface="Yu Gothic"/>
              </a:defRPr>
            </a:pPr>
            <a:r>
              <a:rPr sz="1575" b="0">
                <a:solidFill>
                  <a:srgbClr val="111827"/>
                </a:solidFill>
                <a:latin typeface="Yu Gothic"/>
                <a:ea typeface="Yu Gothic"/>
                <a:cs typeface="Yu Gothic"/>
              </a:rPr>
              <a:t>運賃</a:t>
            </a:r>
            <a:r>
              <a:rPr sz="1575" b="0">
                <a:solidFill>
                  <a:srgbClr val="111827"/>
                </a:solidFill>
                <a:latin typeface="Yu Gothic"/>
                <a:ea typeface="Yu Gothic"/>
                <a:cs typeface="Yu Gothic"/>
              </a:rPr>
              <a:t>　　　 71</a:t>
            </a:r>
          </a:p>
          <a:p xmlns:a="http://schemas.openxmlformats.org/drawingml/2006/main">
            <a:pPr algn="l">
              <a:buNone/>
              <a:defRPr sz="1575" b="0">
                <a:solidFill>
                  <a:srgbClr val="111827"/>
                </a:solidFill>
                <a:latin typeface="Yu Gothic"/>
                <a:ea typeface="Yu Gothic"/>
                <a:cs typeface="Yu Gothic"/>
              </a:defRPr>
            </a:pPr>
            <a:r>
              <a:rPr sz="1575" b="0">
                <a:solidFill>
                  <a:srgbClr val="111827"/>
                </a:solidFill>
                <a:latin typeface="Yu Gothic"/>
                <a:ea typeface="Yu Gothic"/>
                <a:cs typeface="Yu Gothic"/>
              </a:rPr>
              <a:t>同乗家族</a:t>
            </a:r>
            <a:r>
              <a:rPr sz="1575" b="0">
                <a:solidFill>
                  <a:srgbClr val="111827"/>
                </a:solidFill>
                <a:latin typeface="Yu Gothic"/>
                <a:ea typeface="Yu Gothic"/>
                <a:cs typeface="Yu Gothic"/>
              </a:rPr>
              <a:t>　 1人</a:t>
            </a:r>
          </a:p>
        </p:txBody>
      </p:sp>
      <p:sp>
        <p:nvSpPr>
          <p:cNvPr id="12" name="正方形/長方形 11">
            <a:extLst xmlns:a="http://schemas.openxmlformats.org/drawingml/2006/main">
              <a:ext uri="{FF2B5EF4-FFF2-40B4-BE49-F238E27FC236}">
                <a16:creationId xmlns:a16="http://schemas.microsoft.com/office/drawing/2014/main" id="{A768E5A7-47A4-4A91-9213-ADCE22691679}"/>
              </a:ext>
            </a:extLst>
          </p:cNvPr>
          <p:cNvSpPr>
            <a:spLocks xmlns:a="http://schemas.openxmlformats.org/drawingml/2006/main" noGrp="1"/>
          </p:cNvSpPr>
          <p:nvPr/>
        </p:nvSpPr>
        <p:spPr>
          <a:xfrm xmlns:a="http://schemas.openxmlformats.org/drawingml/2006/main">
            <a:off x="800100" y="4438650"/>
            <a:ext cx="1714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buNone/>
              <a:defRPr sz="1125" b="0">
                <a:solidFill>
                  <a:srgbClr val="64748B"/>
                </a:solidFill>
                <a:latin typeface="Yu Gothic"/>
                <a:ea typeface="Yu Gothic"/>
                <a:cs typeface="Yu Gothic"/>
              </a:defRPr>
            </a:pPr>
            <a:r>
              <a:rPr sz="1125" b="0">
                <a:solidFill>
                  <a:srgbClr val="64748B"/>
                </a:solidFill>
                <a:latin typeface="Yu Gothic"/>
                <a:ea typeface="Yu Gothic"/>
                <a:cs typeface="Yu Gothic"/>
              </a:rPr>
              <a:t>Titanic：模式例</a:t>
            </a:r>
          </a:p>
        </p:txBody>
      </p:sp>
      <p:sp>
        <p:nvSpPr>
          <p:cNvPr id="13" name="正方形/長方形 12">
            <a:extLst xmlns:a="http://schemas.openxmlformats.org/drawingml/2006/main">
              <a:ext uri="{FF2B5EF4-FFF2-40B4-BE49-F238E27FC236}">
                <a16:creationId xmlns:a16="http://schemas.microsoft.com/office/drawing/2014/main" id="{86FE31E9-A27A-4303-A695-EBD1BE89B854}"/>
              </a:ext>
            </a:extLst>
          </p:cNvPr>
          <p:cNvSpPr>
            <a:spLocks xmlns:a="http://schemas.openxmlformats.org/drawingml/2006/main" noGrp="1"/>
          </p:cNvSpPr>
          <p:nvPr/>
        </p:nvSpPr>
        <p:spPr>
          <a:xfrm xmlns:a="http://schemas.openxmlformats.org/drawingml/2006/main">
            <a:off x="3714750" y="2143125"/>
            <a:ext cx="2000250" cy="1333500"/>
          </a:xfrm>
          <a:prstGeom xmlns:a="http://schemas.openxmlformats.org/drawingml/2006/main" prst="rect">
            <a:avLst/>
          </a:prstGeom>
          <a:solidFill xmlns:a="http://schemas.openxmlformats.org/drawingml/2006/main">
            <a:srgbClr val="111827"/>
          </a:solidFill>
          <a:ln xmlns:a="http://schemas.openxmlformats.org/drawingml/2006/main" w="0">
            <a:solidFill>
              <a:srgbClr val="111827"/>
            </a:solidFill>
            <a:prstDash val="solid"/>
          </a:ln>
        </p:spPr>
        <p:txBody>
          <a:bodyPr xmlns:a="http://schemas.openxmlformats.org/drawingml/2006/main"/>
          <a:lstStyle xmlns:a="http://schemas.openxmlformats.org/drawingml/2006/main"/>
          <a:p xmlns:a="http://schemas.openxmlformats.org/drawingml/2006/main">
            <a:endParaRPr/>
          </a:p>
        </p:txBody>
      </p:sp>
      <p:sp>
        <p:nvSpPr>
          <p:cNvPr id="14" name="正方形/長方形 13">
            <a:extLst xmlns:a="http://schemas.openxmlformats.org/drawingml/2006/main">
              <a:ext uri="{FF2B5EF4-FFF2-40B4-BE49-F238E27FC236}">
                <a16:creationId xmlns:a16="http://schemas.microsoft.com/office/drawing/2014/main" id="{5AC9DA3E-7593-4816-9049-050F7332A8C4}"/>
              </a:ext>
            </a:extLst>
          </p:cNvPr>
          <p:cNvSpPr>
            <a:spLocks xmlns:a="http://schemas.openxmlformats.org/drawingml/2006/main" noGrp="1"/>
          </p:cNvSpPr>
          <p:nvPr/>
        </p:nvSpPr>
        <p:spPr>
          <a:xfrm xmlns:a="http://schemas.openxmlformats.org/drawingml/2006/main">
            <a:off x="3714750" y="2400300"/>
            <a:ext cx="200025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ctr">
              <a:buNone/>
              <a:defRPr sz="2250" b="1">
                <a:solidFill>
                  <a:srgbClr val="FFFFFF"/>
                </a:solidFill>
                <a:latin typeface="Yu Gothic"/>
                <a:ea typeface="Yu Gothic"/>
                <a:cs typeface="Yu Gothic"/>
              </a:defRPr>
            </a:pPr>
            <a:r>
              <a:rPr sz="2250" b="1">
                <a:solidFill>
                  <a:srgbClr val="FFFFFF"/>
                </a:solidFill>
                <a:latin typeface="Yu Gothic"/>
                <a:ea typeface="Yu Gothic"/>
                <a:cs typeface="Yu Gothic"/>
              </a:rPr>
              <a:t>BLACK</a:t>
            </a:r>
          </a:p>
          <a:p xmlns:a="http://schemas.openxmlformats.org/drawingml/2006/main">
            <a:pPr algn="ctr">
              <a:buNone/>
              <a:defRPr sz="2250" b="1">
                <a:solidFill>
                  <a:srgbClr val="FFFFFF"/>
                </a:solidFill>
                <a:latin typeface="Yu Gothic"/>
                <a:ea typeface="Yu Gothic"/>
                <a:cs typeface="Yu Gothic"/>
              </a:defRPr>
            </a:pPr>
            <a:r>
              <a:rPr sz="2250" b="1">
                <a:solidFill>
                  <a:srgbClr val="FFFFFF"/>
                </a:solidFill>
                <a:latin typeface="Yu Gothic"/>
                <a:ea typeface="Yu Gothic"/>
                <a:cs typeface="Yu Gothic"/>
              </a:rPr>
              <a:t>BOX</a:t>
            </a:r>
          </a:p>
        </p:txBody>
      </p:sp>
      <p:sp>
        <p:nvSpPr>
          <p:cNvPr id="15" name="正方形/長方形 14">
            <a:extLst xmlns:a="http://schemas.openxmlformats.org/drawingml/2006/main">
              <a:ext uri="{FF2B5EF4-FFF2-40B4-BE49-F238E27FC236}">
                <a16:creationId xmlns:a16="http://schemas.microsoft.com/office/drawing/2014/main" id="{8BFB6DB6-9605-4D71-A280-1CBC05DB5B75}"/>
              </a:ext>
            </a:extLst>
          </p:cNvPr>
          <p:cNvSpPr>
            <a:spLocks xmlns:a="http://schemas.openxmlformats.org/drawingml/2006/main" noGrp="1"/>
          </p:cNvSpPr>
          <p:nvPr/>
        </p:nvSpPr>
        <p:spPr>
          <a:xfrm xmlns:a="http://schemas.openxmlformats.org/drawingml/2006/main">
            <a:off x="6477000" y="1952625"/>
            <a:ext cx="1666875" cy="1714500"/>
          </a:xfrm>
          <a:prstGeom xmlns:a="http://schemas.openxmlformats.org/drawingml/2006/main" prst="rect">
            <a:avLst/>
          </a:prstGeom>
          <a:solidFill xmlns:a="http://schemas.openxmlformats.org/drawingml/2006/main">
            <a:srgbClr val="DBEA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endParaRPr/>
          </a:p>
        </p:txBody>
      </p:sp>
      <p:sp>
        <p:nvSpPr>
          <p:cNvPr id="16" name="正方形/長方形 15">
            <a:extLst xmlns:a="http://schemas.openxmlformats.org/drawingml/2006/main">
              <a:ext uri="{FF2B5EF4-FFF2-40B4-BE49-F238E27FC236}">
                <a16:creationId xmlns:a16="http://schemas.microsoft.com/office/drawing/2014/main" id="{3049682F-0280-4316-BDBB-8BDF1272EFE5}"/>
              </a:ext>
            </a:extLst>
          </p:cNvPr>
          <p:cNvSpPr>
            <a:spLocks xmlns:a="http://schemas.openxmlformats.org/drawingml/2006/main" noGrp="1"/>
          </p:cNvSpPr>
          <p:nvPr/>
        </p:nvSpPr>
        <p:spPr>
          <a:xfrm xmlns:a="http://schemas.openxmlformats.org/drawingml/2006/main">
            <a:off x="6705600" y="2171700"/>
            <a:ext cx="1238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buNone/>
              <a:defRPr sz="1650" b="1">
                <a:solidFill>
                  <a:srgbClr val="2563EB"/>
                </a:solidFill>
                <a:latin typeface="Yu Gothic"/>
                <a:ea typeface="Yu Gothic"/>
                <a:cs typeface="Yu Gothic"/>
              </a:defRPr>
            </a:pPr>
            <a:r>
              <a:rPr sz="1650" b="1">
                <a:solidFill>
                  <a:srgbClr val="2563EB"/>
                </a:solidFill>
                <a:latin typeface="Yu Gothic"/>
                <a:ea typeface="Yu Gothic"/>
                <a:cs typeface="Yu Gothic"/>
              </a:rPr>
              <a:t>予測</a:t>
            </a:r>
          </a:p>
        </p:txBody>
      </p:sp>
      <p:sp>
        <p:nvSpPr>
          <p:cNvPr id="17" name="正方形/長方形 16">
            <a:extLst xmlns:a="http://schemas.openxmlformats.org/drawingml/2006/main">
              <a:ext uri="{FF2B5EF4-FFF2-40B4-BE49-F238E27FC236}">
                <a16:creationId xmlns:a16="http://schemas.microsoft.com/office/drawing/2014/main" id="{D8C1BE27-8892-4CD9-8EFA-DFB9BB0FD15F}"/>
              </a:ext>
            </a:extLst>
          </p:cNvPr>
          <p:cNvSpPr>
            <a:spLocks xmlns:a="http://schemas.openxmlformats.org/drawingml/2006/main" noGrp="1"/>
          </p:cNvSpPr>
          <p:nvPr/>
        </p:nvSpPr>
        <p:spPr>
          <a:xfrm xmlns:a="http://schemas.openxmlformats.org/drawingml/2006/main">
            <a:off x="6705600" y="2609850"/>
            <a:ext cx="1238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buNone/>
              <a:defRPr sz="1500" b="0">
                <a:solidFill>
                  <a:srgbClr val="111827"/>
                </a:solidFill>
                <a:latin typeface="Yu Gothic"/>
                <a:ea typeface="Yu Gothic"/>
                <a:cs typeface="Yu Gothic"/>
              </a:defRPr>
            </a:pPr>
            <a:r>
              <a:rPr sz="1500" b="0">
                <a:solidFill>
                  <a:srgbClr val="111827"/>
                </a:solidFill>
                <a:latin typeface="Yu Gothic"/>
                <a:ea typeface="Yu Gothic"/>
                <a:cs typeface="Yu Gothic"/>
              </a:rPr>
              <a:t>生存確率</a:t>
            </a:r>
          </a:p>
        </p:txBody>
      </p:sp>
      <p:sp>
        <p:nvSpPr>
          <p:cNvPr id="18" name="正方形/長方形 17">
            <a:extLst xmlns:a="http://schemas.openxmlformats.org/drawingml/2006/main">
              <a:ext uri="{FF2B5EF4-FFF2-40B4-BE49-F238E27FC236}">
                <a16:creationId xmlns:a16="http://schemas.microsoft.com/office/drawing/2014/main" id="{46A41101-F07F-4960-89B3-8AF86D00DFB1}"/>
              </a:ext>
            </a:extLst>
          </p:cNvPr>
          <p:cNvSpPr>
            <a:spLocks xmlns:a="http://schemas.openxmlformats.org/drawingml/2006/main" noGrp="1"/>
          </p:cNvSpPr>
          <p:nvPr/>
        </p:nvSpPr>
        <p:spPr>
          <a:xfrm xmlns:a="http://schemas.openxmlformats.org/drawingml/2006/main">
            <a:off x="6705600" y="2905125"/>
            <a:ext cx="1238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buNone/>
              <a:defRPr sz="2850" b="1">
                <a:solidFill>
                  <a:srgbClr val="2563EB"/>
                </a:solidFill>
                <a:latin typeface="Yu Gothic"/>
                <a:ea typeface="Yu Gothic"/>
                <a:cs typeface="Yu Gothic"/>
              </a:defRPr>
            </a:pPr>
            <a:r>
              <a:rPr sz="2850" b="1">
                <a:solidFill>
                  <a:srgbClr val="2563EB"/>
                </a:solidFill>
                <a:latin typeface="Yu Gothic"/>
                <a:ea typeface="Yu Gothic"/>
                <a:cs typeface="Yu Gothic"/>
              </a:rPr>
              <a:t>0.78</a:t>
            </a:r>
          </a:p>
        </p:txBody>
      </p:sp>
      <p:sp>
        <p:nvSpPr>
          <p:cNvPr id="19" name="正方形/長方形 18">
            <a:extLst xmlns:a="http://schemas.openxmlformats.org/drawingml/2006/main">
              <a:ext uri="{FF2B5EF4-FFF2-40B4-BE49-F238E27FC236}">
                <a16:creationId xmlns:a16="http://schemas.microsoft.com/office/drawing/2014/main" id="{F5C34359-50FF-461B-9A77-DFC05B55AC31}"/>
              </a:ext>
            </a:extLst>
          </p:cNvPr>
          <p:cNvSpPr>
            <a:spLocks xmlns:a="http://schemas.openxmlformats.org/drawingml/2006/main" noGrp="1"/>
          </p:cNvSpPr>
          <p:nvPr/>
        </p:nvSpPr>
        <p:spPr>
          <a:xfrm xmlns:a="http://schemas.openxmlformats.org/drawingml/2006/main">
            <a:off x="9096375" y="1592226"/>
            <a:ext cx="2667000" cy="3333750"/>
          </a:xfrm>
          <a:prstGeom xmlns:a="http://schemas.openxmlformats.org/drawingml/2006/main" prst="rect">
            <a:avLst/>
          </a:prstGeom>
          <a:solidFill xmlns:a="http://schemas.openxmlformats.org/drawingml/2006/main">
            <a:srgbClr val="D1FAE5"/>
          </a:solidFill>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a:endParaRPr/>
          </a:p>
        </p:txBody>
      </p:sp>
      <p:sp>
        <p:nvSpPr>
          <p:cNvPr id="20" name="正方形/長方形 19">
            <a:extLst xmlns:a="http://schemas.openxmlformats.org/drawingml/2006/main">
              <a:ext uri="{FF2B5EF4-FFF2-40B4-BE49-F238E27FC236}">
                <a16:creationId xmlns:a16="http://schemas.microsoft.com/office/drawing/2014/main" id="{3D791531-0807-49A4-AD7B-AF6394293BA8}"/>
              </a:ext>
            </a:extLst>
          </p:cNvPr>
          <p:cNvSpPr>
            <a:spLocks xmlns:a="http://schemas.openxmlformats.org/drawingml/2006/main" noGrp="1"/>
          </p:cNvSpPr>
          <p:nvPr/>
        </p:nvSpPr>
        <p:spPr>
          <a:xfrm xmlns:a="http://schemas.openxmlformats.org/drawingml/2006/main">
            <a:off x="9201150" y="1790700"/>
            <a:ext cx="21717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buNone/>
              <a:defRPr sz="1800" b="1">
                <a:solidFill>
                  <a:srgbClr val="10B981"/>
                </a:solidFill>
                <a:latin typeface="Yu Gothic"/>
                <a:ea typeface="Yu Gothic"/>
                <a:cs typeface="Yu Gothic"/>
              </a:defRPr>
            </a:pPr>
            <a:r>
              <a:rPr sz="1800" b="1">
                <a:solidFill>
                  <a:srgbClr val="10B981"/>
                </a:solidFill>
                <a:latin typeface="Yu Gothic"/>
                <a:ea typeface="Yu Gothic"/>
                <a:cs typeface="Yu Gothic"/>
              </a:rPr>
              <a:t>XAIによる説明</a:t>
            </a:r>
          </a:p>
        </p:txBody>
      </p:sp>
      <p:sp>
        <p:nvSpPr>
          <p:cNvPr id="21" name="正方形/長方形 20">
            <a:extLst xmlns:a="http://schemas.openxmlformats.org/drawingml/2006/main">
              <a:ext uri="{FF2B5EF4-FFF2-40B4-BE49-F238E27FC236}">
                <a16:creationId xmlns:a16="http://schemas.microsoft.com/office/drawing/2014/main" id="{B2CDACAB-B32A-48B2-B151-45CF7238AAFB}"/>
              </a:ext>
            </a:extLst>
          </p:cNvPr>
          <p:cNvSpPr>
            <a:spLocks xmlns:a="http://schemas.openxmlformats.org/drawingml/2006/main" noGrp="1"/>
          </p:cNvSpPr>
          <p:nvPr/>
        </p:nvSpPr>
        <p:spPr>
          <a:xfrm xmlns:a="http://schemas.openxmlformats.org/drawingml/2006/main">
            <a:off x="9201150" y="2381250"/>
            <a:ext cx="857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buNone/>
              <a:defRPr sz="1425" b="1">
                <a:solidFill>
                  <a:srgbClr val="111827"/>
                </a:solidFill>
                <a:latin typeface="Yu Gothic"/>
                <a:ea typeface="Yu Gothic"/>
                <a:cs typeface="Yu Gothic"/>
              </a:defRPr>
            </a:pPr>
            <a:r>
              <a:rPr sz="1425" b="1">
                <a:solidFill>
                  <a:srgbClr val="111827"/>
                </a:solidFill>
                <a:latin typeface="Yu Gothic"/>
                <a:ea typeface="Yu Gothic"/>
                <a:cs typeface="Yu Gothic"/>
              </a:rPr>
              <a:t>運賃</a:t>
            </a:r>
          </a:p>
        </p:txBody>
      </p:sp>
      <p:sp>
        <p:nvSpPr>
          <p:cNvPr id="22" name="正方形/長方形 21">
            <a:extLst xmlns:a="http://schemas.openxmlformats.org/drawingml/2006/main">
              <a:ext uri="{FF2B5EF4-FFF2-40B4-BE49-F238E27FC236}">
                <a16:creationId xmlns:a16="http://schemas.microsoft.com/office/drawing/2014/main" id="{F97DFCA5-FDF9-4F44-8E7D-2216B29BCB65}"/>
              </a:ext>
            </a:extLst>
          </p:cNvPr>
          <p:cNvSpPr>
            <a:spLocks xmlns:a="http://schemas.openxmlformats.org/drawingml/2006/main" noGrp="1"/>
          </p:cNvSpPr>
          <p:nvPr/>
        </p:nvSpPr>
        <p:spPr>
          <a:xfrm xmlns:a="http://schemas.openxmlformats.org/drawingml/2006/main">
            <a:off x="10001250" y="2400300"/>
            <a:ext cx="1095375" cy="190500"/>
          </a:xfrm>
          <a:prstGeom xmlns:a="http://schemas.openxmlformats.org/drawingml/2006/main" prst="rect">
            <a:avLst/>
          </a:prstGeom>
          <a:solidFill xmlns:a="http://schemas.openxmlformats.org/drawingml/2006/main">
            <a:srgbClr val="10B981"/>
          </a:solidFill>
          <a:ln xmlns:a="http://schemas.openxmlformats.org/drawingml/2006/main" w="0">
            <a:solidFill>
              <a:srgbClr val="10B981"/>
            </a:solidFill>
            <a:prstDash val="solid"/>
          </a:ln>
        </p:spPr>
        <p:txBody>
          <a:bodyPr xmlns:a="http://schemas.openxmlformats.org/drawingml/2006/main"/>
          <a:lstStyle xmlns:a="http://schemas.openxmlformats.org/drawingml/2006/main"/>
          <a:p xmlns:a="http://schemas.openxmlformats.org/drawingml/2006/main">
            <a:endParaRPr/>
          </a:p>
        </p:txBody>
      </p:sp>
      <p:sp>
        <p:nvSpPr>
          <p:cNvPr id="23" name="正方形/長方形 22">
            <a:extLst xmlns:a="http://schemas.openxmlformats.org/drawingml/2006/main">
              <a:ext uri="{FF2B5EF4-FFF2-40B4-BE49-F238E27FC236}">
                <a16:creationId xmlns:a16="http://schemas.microsoft.com/office/drawing/2014/main" id="{E70AD3E5-E73D-443A-822E-19D877E007F7}"/>
              </a:ext>
            </a:extLst>
          </p:cNvPr>
          <p:cNvSpPr>
            <a:spLocks xmlns:a="http://schemas.openxmlformats.org/drawingml/2006/main" noGrp="1"/>
          </p:cNvSpPr>
          <p:nvPr/>
        </p:nvSpPr>
        <p:spPr>
          <a:xfrm xmlns:a="http://schemas.openxmlformats.org/drawingml/2006/main">
            <a:off x="11049000" y="2352675"/>
            <a:ext cx="571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buNone/>
              <a:defRPr sz="1275" b="1">
                <a:solidFill>
                  <a:srgbClr val="10B981"/>
                </a:solidFill>
                <a:latin typeface="Yu Gothic"/>
                <a:ea typeface="Yu Gothic"/>
                <a:cs typeface="Yu Gothic"/>
              </a:defRPr>
            </a:pPr>
            <a:r>
              <a:rPr sz="1275" b="1">
                <a:solidFill>
                  <a:srgbClr val="10B981"/>
                </a:solidFill>
                <a:latin typeface="Yu Gothic"/>
                <a:ea typeface="Yu Gothic"/>
                <a:cs typeface="Yu Gothic"/>
              </a:rPr>
              <a:t>+0.50</a:t>
            </a:r>
          </a:p>
        </p:txBody>
      </p:sp>
      <p:sp>
        <p:nvSpPr>
          <p:cNvPr id="24" name="正方形/長方形 23">
            <a:extLst xmlns:a="http://schemas.openxmlformats.org/drawingml/2006/main">
              <a:ext uri="{FF2B5EF4-FFF2-40B4-BE49-F238E27FC236}">
                <a16:creationId xmlns:a16="http://schemas.microsoft.com/office/drawing/2014/main" id="{40B6ED12-1C8F-4CBA-8199-C5EC46BA698C}"/>
              </a:ext>
            </a:extLst>
          </p:cNvPr>
          <p:cNvSpPr>
            <a:spLocks xmlns:a="http://schemas.openxmlformats.org/drawingml/2006/main" noGrp="1"/>
          </p:cNvSpPr>
          <p:nvPr/>
        </p:nvSpPr>
        <p:spPr>
          <a:xfrm xmlns:a="http://schemas.openxmlformats.org/drawingml/2006/main">
            <a:off x="9201150" y="2876550"/>
            <a:ext cx="857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buNone/>
              <a:defRPr sz="1425" b="1">
                <a:solidFill>
                  <a:srgbClr val="111827"/>
                </a:solidFill>
                <a:latin typeface="Yu Gothic"/>
                <a:ea typeface="Yu Gothic"/>
                <a:cs typeface="Yu Gothic"/>
              </a:defRPr>
            </a:pPr>
            <a:r>
              <a:rPr sz="1425" b="1">
                <a:solidFill>
                  <a:srgbClr val="111827"/>
                </a:solidFill>
                <a:latin typeface="Yu Gothic"/>
                <a:ea typeface="Yu Gothic"/>
                <a:cs typeface="Yu Gothic"/>
              </a:rPr>
              <a:t>年齢</a:t>
            </a:r>
          </a:p>
        </p:txBody>
      </p:sp>
      <p:sp>
        <p:nvSpPr>
          <p:cNvPr id="25" name="正方形/長方形 24">
            <a:extLst xmlns:a="http://schemas.openxmlformats.org/drawingml/2006/main">
              <a:ext uri="{FF2B5EF4-FFF2-40B4-BE49-F238E27FC236}">
                <a16:creationId xmlns:a16="http://schemas.microsoft.com/office/drawing/2014/main" id="{D45AEC52-0ABD-4519-86DA-4DC459446CC6}"/>
              </a:ext>
            </a:extLst>
          </p:cNvPr>
          <p:cNvSpPr>
            <a:spLocks xmlns:a="http://schemas.openxmlformats.org/drawingml/2006/main" noGrp="1"/>
          </p:cNvSpPr>
          <p:nvPr/>
        </p:nvSpPr>
        <p:spPr>
          <a:xfrm xmlns:a="http://schemas.openxmlformats.org/drawingml/2006/main">
            <a:off x="10001250" y="2895600"/>
            <a:ext cx="428625" cy="190500"/>
          </a:xfrm>
          <a:prstGeom xmlns:a="http://schemas.openxmlformats.org/drawingml/2006/main" prst="rect">
            <a:avLst/>
          </a:prstGeom>
          <a:solidFill xmlns:a="http://schemas.openxmlformats.org/drawingml/2006/main">
            <a:srgbClr val="EF4444"/>
          </a:solidFill>
          <a:ln xmlns:a="http://schemas.openxmlformats.org/drawingml/2006/main" w="0">
            <a:solidFill>
              <a:srgbClr val="EF4444"/>
            </a:solidFill>
            <a:prstDash val="solid"/>
          </a:ln>
        </p:spPr>
        <p:txBody>
          <a:bodyPr xmlns:a="http://schemas.openxmlformats.org/drawingml/2006/main"/>
          <a:lstStyle xmlns:a="http://schemas.openxmlformats.org/drawingml/2006/main"/>
          <a:p xmlns:a="http://schemas.openxmlformats.org/drawingml/2006/main">
            <a:endParaRPr/>
          </a:p>
        </p:txBody>
      </p:sp>
      <p:sp>
        <p:nvSpPr>
          <p:cNvPr id="26" name="正方形/長方形 25">
            <a:extLst xmlns:a="http://schemas.openxmlformats.org/drawingml/2006/main">
              <a:ext uri="{FF2B5EF4-FFF2-40B4-BE49-F238E27FC236}">
                <a16:creationId xmlns:a16="http://schemas.microsoft.com/office/drawing/2014/main" id="{ED9954F1-D07B-40B3-B38A-262D2E4FBC7B}"/>
              </a:ext>
            </a:extLst>
          </p:cNvPr>
          <p:cNvSpPr>
            <a:spLocks xmlns:a="http://schemas.openxmlformats.org/drawingml/2006/main" noGrp="1"/>
          </p:cNvSpPr>
          <p:nvPr/>
        </p:nvSpPr>
        <p:spPr>
          <a:xfrm xmlns:a="http://schemas.openxmlformats.org/drawingml/2006/main">
            <a:off x="11049000" y="2847975"/>
            <a:ext cx="571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buNone/>
              <a:defRPr sz="1275" b="1">
                <a:solidFill>
                  <a:srgbClr val="EF4444"/>
                </a:solidFill>
                <a:latin typeface="Yu Gothic"/>
                <a:ea typeface="Yu Gothic"/>
                <a:cs typeface="Yu Gothic"/>
              </a:defRPr>
            </a:pPr>
            <a:r>
              <a:rPr sz="1275" b="1">
                <a:solidFill>
                  <a:srgbClr val="EF4444"/>
                </a:solidFill>
                <a:latin typeface="Yu Gothic"/>
                <a:ea typeface="Yu Gothic"/>
                <a:cs typeface="Yu Gothic"/>
              </a:rPr>
              <a:t>−0.20</a:t>
            </a:r>
          </a:p>
        </p:txBody>
      </p:sp>
      <p:sp>
        <p:nvSpPr>
          <p:cNvPr id="27" name="正方形/長方形 26">
            <a:extLst xmlns:a="http://schemas.openxmlformats.org/drawingml/2006/main">
              <a:ext uri="{FF2B5EF4-FFF2-40B4-BE49-F238E27FC236}">
                <a16:creationId xmlns:a16="http://schemas.microsoft.com/office/drawing/2014/main" id="{A5E6283C-2E00-489B-ABF3-5A35906836CD}"/>
              </a:ext>
            </a:extLst>
          </p:cNvPr>
          <p:cNvSpPr>
            <a:spLocks xmlns:a="http://schemas.openxmlformats.org/drawingml/2006/main" noGrp="1"/>
          </p:cNvSpPr>
          <p:nvPr/>
        </p:nvSpPr>
        <p:spPr>
          <a:xfrm xmlns:a="http://schemas.openxmlformats.org/drawingml/2006/main">
            <a:off x="9201150" y="3371850"/>
            <a:ext cx="857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buNone/>
              <a:defRPr sz="1425" b="1">
                <a:solidFill>
                  <a:srgbClr val="111827"/>
                </a:solidFill>
                <a:latin typeface="Yu Gothic"/>
                <a:ea typeface="Yu Gothic"/>
                <a:cs typeface="Yu Gothic"/>
              </a:defRPr>
            </a:pPr>
            <a:r>
              <a:rPr sz="1425" b="1">
                <a:solidFill>
                  <a:srgbClr val="111827"/>
                </a:solidFill>
                <a:latin typeface="Yu Gothic"/>
                <a:ea typeface="Yu Gothic"/>
                <a:cs typeface="Yu Gothic"/>
              </a:rPr>
              <a:t>客室等級</a:t>
            </a:r>
          </a:p>
        </p:txBody>
      </p:sp>
      <p:sp>
        <p:nvSpPr>
          <p:cNvPr id="28" name="正方形/長方形 27">
            <a:extLst xmlns:a="http://schemas.openxmlformats.org/drawingml/2006/main">
              <a:ext uri="{FF2B5EF4-FFF2-40B4-BE49-F238E27FC236}">
                <a16:creationId xmlns:a16="http://schemas.microsoft.com/office/drawing/2014/main" id="{D34BE9C8-4D23-410F-B238-3B064869BB24}"/>
              </a:ext>
            </a:extLst>
          </p:cNvPr>
          <p:cNvSpPr>
            <a:spLocks xmlns:a="http://schemas.openxmlformats.org/drawingml/2006/main" noGrp="1"/>
          </p:cNvSpPr>
          <p:nvPr/>
        </p:nvSpPr>
        <p:spPr>
          <a:xfrm xmlns:a="http://schemas.openxmlformats.org/drawingml/2006/main">
            <a:off x="10001250" y="3390900"/>
            <a:ext cx="666750" cy="190500"/>
          </a:xfrm>
          <a:prstGeom xmlns:a="http://schemas.openxmlformats.org/drawingml/2006/main" prst="rect">
            <a:avLst/>
          </a:prstGeom>
          <a:solidFill xmlns:a="http://schemas.openxmlformats.org/drawingml/2006/main">
            <a:srgbClr val="10B981"/>
          </a:solidFill>
          <a:ln xmlns:a="http://schemas.openxmlformats.org/drawingml/2006/main" w="0">
            <a:solidFill>
              <a:srgbClr val="10B981"/>
            </a:solidFill>
            <a:prstDash val="solid"/>
          </a:ln>
        </p:spPr>
        <p:txBody>
          <a:bodyPr xmlns:a="http://schemas.openxmlformats.org/drawingml/2006/main"/>
          <a:lstStyle xmlns:a="http://schemas.openxmlformats.org/drawingml/2006/main"/>
          <a:p xmlns:a="http://schemas.openxmlformats.org/drawingml/2006/main">
            <a:endParaRPr/>
          </a:p>
        </p:txBody>
      </p:sp>
      <p:sp>
        <p:nvSpPr>
          <p:cNvPr id="29" name="正方形/長方形 28">
            <a:extLst xmlns:a="http://schemas.openxmlformats.org/drawingml/2006/main">
              <a:ext uri="{FF2B5EF4-FFF2-40B4-BE49-F238E27FC236}">
                <a16:creationId xmlns:a16="http://schemas.microsoft.com/office/drawing/2014/main" id="{3F26D98E-9165-4B33-AAD0-E42B6CE4B5A8}"/>
              </a:ext>
            </a:extLst>
          </p:cNvPr>
          <p:cNvSpPr>
            <a:spLocks xmlns:a="http://schemas.openxmlformats.org/drawingml/2006/main" noGrp="1"/>
          </p:cNvSpPr>
          <p:nvPr/>
        </p:nvSpPr>
        <p:spPr>
          <a:xfrm xmlns:a="http://schemas.openxmlformats.org/drawingml/2006/main">
            <a:off x="11049000" y="3343275"/>
            <a:ext cx="571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buNone/>
              <a:defRPr sz="1275" b="1">
                <a:solidFill>
                  <a:srgbClr val="10B981"/>
                </a:solidFill>
                <a:latin typeface="Yu Gothic"/>
                <a:ea typeface="Yu Gothic"/>
                <a:cs typeface="Yu Gothic"/>
              </a:defRPr>
            </a:pPr>
            <a:r>
              <a:rPr sz="1275" b="1">
                <a:solidFill>
                  <a:srgbClr val="10B981"/>
                </a:solidFill>
                <a:latin typeface="Yu Gothic"/>
                <a:ea typeface="Yu Gothic"/>
                <a:cs typeface="Yu Gothic"/>
              </a:rPr>
              <a:t>+0.15</a:t>
            </a:r>
          </a:p>
        </p:txBody>
      </p:sp>
      <p:sp>
        <p:nvSpPr>
          <p:cNvPr id="30" name="正方形/長方形 29">
            <a:extLst xmlns:a="http://schemas.openxmlformats.org/drawingml/2006/main">
              <a:ext uri="{FF2B5EF4-FFF2-40B4-BE49-F238E27FC236}">
                <a16:creationId xmlns:a16="http://schemas.microsoft.com/office/drawing/2014/main" id="{9BB0A2F1-247F-49FA-AF82-3E41CB5F342A}"/>
              </a:ext>
            </a:extLst>
          </p:cNvPr>
          <p:cNvSpPr>
            <a:spLocks xmlns:a="http://schemas.openxmlformats.org/drawingml/2006/main" noGrp="1"/>
          </p:cNvSpPr>
          <p:nvPr/>
        </p:nvSpPr>
        <p:spPr>
          <a:xfrm xmlns:a="http://schemas.openxmlformats.org/drawingml/2006/main">
            <a:off x="9201150" y="4171950"/>
            <a:ext cx="21717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buNone/>
              <a:defRPr sz="1500" b="1">
                <a:solidFill>
                  <a:srgbClr val="10B981"/>
                </a:solidFill>
                <a:latin typeface="Yu Gothic"/>
                <a:ea typeface="Yu Gothic"/>
                <a:cs typeface="Yu Gothic"/>
              </a:defRPr>
            </a:pPr>
            <a:r>
              <a:rPr sz="1500" b="1">
                <a:solidFill>
                  <a:srgbClr val="10B981"/>
                </a:solidFill>
                <a:latin typeface="Yu Gothic"/>
                <a:ea typeface="Yu Gothic"/>
                <a:cs typeface="Yu Gothic"/>
              </a:rPr>
              <a:t>理由を検査できる</a:t>
            </a:r>
          </a:p>
        </p:txBody>
      </p:sp>
      <p:sp>
        <p:nvSpPr>
          <p:cNvPr id="31" name="正方形/長方形 30">
            <a:extLst xmlns:a="http://schemas.openxmlformats.org/drawingml/2006/main">
              <a:ext uri="{FF2B5EF4-FFF2-40B4-BE49-F238E27FC236}">
                <a16:creationId xmlns:a16="http://schemas.microsoft.com/office/drawing/2014/main" id="{CA1414C5-B0B9-4050-AC86-9658D8697E9E}"/>
              </a:ext>
            </a:extLst>
          </p:cNvPr>
          <p:cNvSpPr>
            <a:spLocks xmlns:a="http://schemas.openxmlformats.org/drawingml/2006/main" noGrp="1"/>
          </p:cNvSpPr>
          <p:nvPr/>
        </p:nvSpPr>
        <p:spPr>
          <a:xfrm xmlns:a="http://schemas.openxmlformats.org/drawingml/2006/main">
            <a:off x="571500" y="5286375"/>
            <a:ext cx="11049000" cy="876300"/>
          </a:xfrm>
          <a:prstGeom xmlns:a="http://schemas.openxmlformats.org/drawingml/2006/main" prst="rect">
            <a:avLst/>
          </a:prstGeom>
          <a:solidFill xmlns:a="http://schemas.openxmlformats.org/drawingml/2006/main">
            <a:srgbClr val="FEF3C7"/>
          </a:solidFill>
          <a:ln xmlns:a="http://schemas.openxmlformats.org/drawingml/2006/main" w="19050">
            <a:solidFill>
              <a:srgbClr val="F59E0B"/>
            </a:solidFill>
            <a:prstDash val="solid"/>
          </a:ln>
        </p:spPr>
        <p:txBody>
          <a:bodyPr xmlns:a="http://schemas.openxmlformats.org/drawingml/2006/main"/>
          <a:lstStyle xmlns:a="http://schemas.openxmlformats.org/drawingml/2006/main"/>
          <a:p xmlns:a="http://schemas.openxmlformats.org/drawingml/2006/main">
            <a:endParaRPr/>
          </a:p>
        </p:txBody>
      </p:sp>
      <p:sp>
        <p:nvSpPr>
          <p:cNvPr id="32" name="正方形/長方形 31">
            <a:extLst xmlns:a="http://schemas.openxmlformats.org/drawingml/2006/main">
              <a:ext uri="{FF2B5EF4-FFF2-40B4-BE49-F238E27FC236}">
                <a16:creationId xmlns:a16="http://schemas.microsoft.com/office/drawing/2014/main" id="{9063D5BB-7A88-41D7-9D51-F2AED88E2C24}"/>
              </a:ext>
            </a:extLst>
          </p:cNvPr>
          <p:cNvSpPr>
            <a:spLocks xmlns:a="http://schemas.openxmlformats.org/drawingml/2006/main" noGrp="1"/>
          </p:cNvSpPr>
          <p:nvPr/>
        </p:nvSpPr>
        <p:spPr>
          <a:xfrm xmlns:a="http://schemas.openxmlformats.org/drawingml/2006/main">
            <a:off x="800100" y="5524500"/>
            <a:ext cx="10953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buNone/>
              <a:defRPr sz="1650" b="1">
                <a:solidFill>
                  <a:srgbClr val="F59E0B"/>
                </a:solidFill>
                <a:latin typeface="Yu Gothic"/>
                <a:ea typeface="Yu Gothic"/>
                <a:cs typeface="Yu Gothic"/>
              </a:defRPr>
            </a:pPr>
            <a:r>
              <a:rPr sz="1650" b="1">
                <a:solidFill>
                  <a:srgbClr val="F59E0B"/>
                </a:solidFill>
                <a:latin typeface="Yu Gothic"/>
                <a:ea typeface="Yu Gothic"/>
                <a:cs typeface="Yu Gothic"/>
              </a:rPr>
              <a:t>DEBUG</a:t>
            </a:r>
          </a:p>
        </p:txBody>
      </p:sp>
      <p:sp>
        <p:nvSpPr>
          <p:cNvPr id="33" name="正方形/長方形 32">
            <a:extLst xmlns:a="http://schemas.openxmlformats.org/drawingml/2006/main">
              <a:ext uri="{FF2B5EF4-FFF2-40B4-BE49-F238E27FC236}">
                <a16:creationId xmlns:a16="http://schemas.microsoft.com/office/drawing/2014/main" id="{9D98D46C-BD72-4EEC-B32D-66DE409B6D0D}"/>
              </a:ext>
            </a:extLst>
          </p:cNvPr>
          <p:cNvSpPr>
            <a:spLocks xmlns:a="http://schemas.openxmlformats.org/drawingml/2006/main" noGrp="1"/>
          </p:cNvSpPr>
          <p:nvPr/>
        </p:nvSpPr>
        <p:spPr>
          <a:xfrm xmlns:a="http://schemas.openxmlformats.org/drawingml/2006/main">
            <a:off x="2000250" y="5467350"/>
            <a:ext cx="9191625"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buNone/>
              <a:defRPr sz="1650" b="1">
                <a:solidFill>
                  <a:srgbClr val="111827"/>
                </a:solidFill>
                <a:latin typeface="Yu Gothic"/>
                <a:ea typeface="Yu Gothic"/>
                <a:cs typeface="Yu Gothic"/>
              </a:defRPr>
            </a:pPr>
            <a:r>
              <a:rPr sz="1650" b="1">
                <a:solidFill>
                  <a:srgbClr val="111827"/>
                </a:solidFill>
                <a:latin typeface="Yu Gothic"/>
                <a:ea typeface="Yu Gothic"/>
                <a:cs typeface="Yu Gothic"/>
              </a:rPr>
              <a:t>説明に「乗客ID」など本質的でない特徴が大きく現れたら、モデルの誤学習を疑う</a:t>
            </a:r>
          </a:p>
        </p:txBody>
      </p:sp>
      <p:sp>
        <p:nvSpPr>
          <p:cNvPr id="34" name="正方形/長方形 33">
            <a:extLst xmlns:a="http://schemas.openxmlformats.org/drawingml/2006/main">
              <a:ext uri="{FF2B5EF4-FFF2-40B4-BE49-F238E27FC236}">
                <a16:creationId xmlns:a16="http://schemas.microsoft.com/office/drawing/2014/main" id="{97DD4A5F-769E-452E-9F41-363E0F8CEAEA}"/>
              </a:ext>
            </a:extLst>
          </p:cNvPr>
          <p:cNvSpPr>
            <a:spLocks xmlns:a="http://schemas.openxmlformats.org/drawingml/2006/main" noGrp="1"/>
          </p:cNvSpPr>
          <p:nvPr/>
        </p:nvSpPr>
        <p:spPr>
          <a:xfrm xmlns:a="http://schemas.openxmlformats.org/drawingml/2006/main">
            <a:off x="7953375" y="6191250"/>
            <a:ext cx="3238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buNone/>
              <a:defRPr sz="1050" b="0">
                <a:solidFill>
                  <a:srgbClr val="64748B"/>
                </a:solidFill>
                <a:latin typeface="Yu Gothic"/>
                <a:ea typeface="Yu Gothic"/>
                <a:cs typeface="Yu Gothic"/>
              </a:defRPr>
            </a:pPr>
            <a:r>
              <a:rPr sz="1050" b="0">
                <a:solidFill>
                  <a:srgbClr val="64748B"/>
                </a:solidFill>
                <a:latin typeface="Yu Gothic"/>
                <a:ea typeface="Yu Gothic"/>
                <a:cs typeface="Yu Gothic"/>
              </a:rPr>
              <a:t>※ 確率と特徴量の重みは説明用の模式値</a:t>
            </a:r>
          </a:p>
        </p:txBody>
      </p:sp>
    </p:spTree>
    <p:extLst>
      <p:ext uri="{BB962C8B-B14F-4D97-AF65-F5344CB8AC3E}">
        <p14:creationId xmlns:p14="http://schemas.microsoft.com/office/powerpoint/2010/main" val="1565908014"/>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8" name="正方形/長方形 37">
            <a:extLst xmlns:a="http://schemas.openxmlformats.org/drawingml/2006/main">
              <a:ext uri="{FF2B5EF4-FFF2-40B4-BE49-F238E27FC236}">
                <a16:creationId xmlns:a16="http://schemas.microsoft.com/office/drawing/2014/main" id="{A5CABAE7-EE96-43F6-8798-508681155297}"/>
              </a:ext>
            </a:extLst>
          </p:cNvPr>
          <p:cNvSpPr>
            <a:spLocks xmlns:a="http://schemas.openxmlformats.org/drawingml/2006/main" noGrp="1"/>
          </p:cNvSpPr>
          <p:nvPr/>
        </p:nvSpPr>
        <p:spPr>
          <a:xfrm xmlns:a="http://schemas.openxmlformats.org/drawingml/2006/main">
            <a:off x="514350" y="419100"/>
            <a:ext cx="114300" cy="457200"/>
          </a:xfrm>
          <a:prstGeom xmlns:a="http://schemas.openxmlformats.org/drawingml/2006/main" prst="rect">
            <a:avLst/>
          </a:prstGeom>
          <a:solidFill xmlns:a="http://schemas.openxmlformats.org/drawingml/2006/main">
            <a:srgbClr val="2563EB"/>
          </a:solidFill>
          <a:ln xmlns:a="http://schemas.openxmlformats.org/drawingml/2006/main" w="0">
            <a:solidFill>
              <a:srgbClr val="2563EB"/>
            </a:solidFill>
            <a:prstDash val="solid"/>
          </a:ln>
        </p:spPr>
        <p:txBody>
          <a:bodyPr xmlns:a="http://schemas.openxmlformats.org/drawingml/2006/main"/>
          <a:lstStyle xmlns:a="http://schemas.openxmlformats.org/drawingml/2006/main"/>
          <a:p xmlns:a="http://schemas.openxmlformats.org/drawingml/2006/main">
            <a:endParaRPr/>
          </a:p>
        </p:txBody>
      </p:sp>
      <p:sp>
        <p:nvSpPr>
          <p:cNvPr id="2" name="slide-3-title">
            <a:extLst xmlns:a="http://schemas.openxmlformats.org/drawingml/2006/main">
              <a:ext uri="{FF2B5EF4-FFF2-40B4-BE49-F238E27FC236}">
                <a16:creationId xmlns:a16="http://schemas.microsoft.com/office/drawing/2014/main" id="{F2977694-D0B3-41BB-BD59-7C652764FDBD}"/>
              </a:ext>
            </a:extLst>
          </p:cNvPr>
          <p:cNvSpPr>
            <a:spLocks xmlns:a="http://schemas.openxmlformats.org/drawingml/2006/main" noGrp="1"/>
          </p:cNvSpPr>
          <p:nvPr/>
        </p:nvSpPr>
        <p:spPr>
          <a:xfrm xmlns:a="http://schemas.openxmlformats.org/drawingml/2006/main">
            <a:off x="800100" y="361950"/>
            <a:ext cx="10572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buNone/>
              <a:defRPr sz="2850" b="1">
                <a:solidFill>
                  <a:srgbClr val="111827"/>
                </a:solidFill>
                <a:latin typeface="Yu Gothic"/>
                <a:ea typeface="Yu Gothic"/>
                <a:cs typeface="Yu Gothic"/>
              </a:defRPr>
            </a:pPr>
            <a:r>
              <a:rPr sz="2850" b="1">
                <a:solidFill>
                  <a:srgbClr val="111827"/>
                </a:solidFill>
                <a:latin typeface="Yu Gothic"/>
                <a:ea typeface="Yu Gothic"/>
                <a:cs typeface="Yu Gothic"/>
              </a:rPr>
              <a:t>LIMEは予測点の周辺だけを単純化する</a:t>
            </a:r>
          </a:p>
        </p:txBody>
      </p:sp>
      <p:sp>
        <p:nvSpPr>
          <p:cNvPr id="3" name="slide-3-subtitle">
            <a:extLst xmlns:a="http://schemas.openxmlformats.org/drawingml/2006/main">
              <a:ext uri="{FF2B5EF4-FFF2-40B4-BE49-F238E27FC236}">
                <a16:creationId xmlns:a16="http://schemas.microsoft.com/office/drawing/2014/main" id="{6B6655B7-CD93-4875-A1A0-9D941BBD9EA5}"/>
              </a:ext>
            </a:extLst>
          </p:cNvPr>
          <p:cNvSpPr>
            <a:spLocks xmlns:a="http://schemas.openxmlformats.org/drawingml/2006/main" noGrp="1"/>
          </p:cNvSpPr>
          <p:nvPr/>
        </p:nvSpPr>
        <p:spPr>
          <a:xfrm xmlns:a="http://schemas.openxmlformats.org/drawingml/2006/main">
            <a:off x="800100" y="962025"/>
            <a:ext cx="1057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buNone/>
              <a:defRPr sz="1500" b="0">
                <a:solidFill>
                  <a:srgbClr val="64748B"/>
                </a:solidFill>
                <a:latin typeface="Yu Gothic"/>
                <a:ea typeface="Yu Gothic"/>
                <a:cs typeface="Yu Gothic"/>
              </a:defRPr>
            </a:pPr>
            <a:r>
              <a:rPr sz="1500" b="0">
                <a:solidFill>
                  <a:srgbClr val="64748B"/>
                </a:solidFill>
                <a:latin typeface="Yu Gothic"/>
                <a:ea typeface="Yu Gothic"/>
                <a:cs typeface="Yu Gothic"/>
              </a:rPr>
              <a:t>複雑なモデル全体ではなく、説明したい入力の近くを近似する</a:t>
            </a:r>
          </a:p>
        </p:txBody>
      </p:sp>
      <p:sp>
        <p:nvSpPr>
          <p:cNvPr id="4" name="正方形/長方形 3">
            <a:extLst xmlns:a="http://schemas.openxmlformats.org/drawingml/2006/main">
              <a:ext uri="{FF2B5EF4-FFF2-40B4-BE49-F238E27FC236}">
                <a16:creationId xmlns:a16="http://schemas.microsoft.com/office/drawing/2014/main" id="{E1E3F606-8356-4F3F-B718-A0BD268112BC}"/>
              </a:ext>
            </a:extLst>
          </p:cNvPr>
          <p:cNvSpPr>
            <a:spLocks xmlns:a="http://schemas.openxmlformats.org/drawingml/2006/main" noGrp="1"/>
          </p:cNvSpPr>
          <p:nvPr/>
        </p:nvSpPr>
        <p:spPr>
          <a:xfrm xmlns:a="http://schemas.openxmlformats.org/drawingml/2006/main">
            <a:off x="11239500" y="6438900"/>
            <a:ext cx="476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buNone/>
              <a:defRPr sz="1050" b="0">
                <a:solidFill>
                  <a:srgbClr val="64748B"/>
                </a:solidFill>
                <a:latin typeface="Yu Gothic"/>
                <a:ea typeface="Yu Gothic"/>
                <a:cs typeface="Yu Gothic"/>
              </a:defRPr>
            </a:pPr>
            <a:r>
              <a:rPr sz="1050" b="0">
                <a:solidFill>
                  <a:srgbClr val="64748B"/>
                </a:solidFill>
                <a:latin typeface="Yu Gothic"/>
                <a:ea typeface="Yu Gothic"/>
                <a:cs typeface="Yu Gothic"/>
              </a:rPr>
              <a:t>03</a:t>
            </a:r>
          </a:p>
        </p:txBody>
      </p:sp>
      <p:sp>
        <p:nvSpPr>
          <p:cNvPr id="5" name="正方形/長方形 4">
            <a:extLst xmlns:a="http://schemas.openxmlformats.org/drawingml/2006/main">
              <a:ext uri="{FF2B5EF4-FFF2-40B4-BE49-F238E27FC236}">
                <a16:creationId xmlns:a16="http://schemas.microsoft.com/office/drawing/2014/main" id="{74BDF188-2E3E-46A9-8518-B56A08BC8684}"/>
              </a:ext>
            </a:extLst>
          </p:cNvPr>
          <p:cNvSpPr>
            <a:spLocks xmlns:a="http://schemas.openxmlformats.org/drawingml/2006/main" noGrp="1"/>
          </p:cNvSpPr>
          <p:nvPr/>
        </p:nvSpPr>
        <p:spPr>
          <a:xfrm xmlns:a="http://schemas.openxmlformats.org/drawingml/2006/main">
            <a:off x="590550" y="1657350"/>
            <a:ext cx="2857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buNone/>
              <a:defRPr sz="2550" b="1">
                <a:solidFill>
                  <a:srgbClr val="2563EB"/>
                </a:solidFill>
                <a:latin typeface="Yu Gothic"/>
                <a:ea typeface="Yu Gothic"/>
                <a:cs typeface="Yu Gothic"/>
              </a:defRPr>
            </a:pPr>
            <a:r>
              <a:rPr sz="2550" b="1">
                <a:solidFill>
                  <a:srgbClr val="2563EB"/>
                </a:solidFill>
                <a:latin typeface="Yu Gothic"/>
                <a:ea typeface="Yu Gothic"/>
                <a:cs typeface="Yu Gothic"/>
              </a:rPr>
              <a:t>LIME</a:t>
            </a:r>
          </a:p>
        </p:txBody>
      </p:sp>
      <p:sp>
        <p:nvSpPr>
          <p:cNvPr id="6" name="正方形/長方形 5">
            <a:extLst xmlns:a="http://schemas.openxmlformats.org/drawingml/2006/main">
              <a:ext uri="{FF2B5EF4-FFF2-40B4-BE49-F238E27FC236}">
                <a16:creationId xmlns:a16="http://schemas.microsoft.com/office/drawing/2014/main" id="{25BC8E6A-AD03-4BC1-8F71-70EF8E678E5D}"/>
              </a:ext>
            </a:extLst>
          </p:cNvPr>
          <p:cNvSpPr>
            <a:spLocks xmlns:a="http://schemas.openxmlformats.org/drawingml/2006/main" noGrp="1"/>
          </p:cNvSpPr>
          <p:nvPr/>
        </p:nvSpPr>
        <p:spPr>
          <a:xfrm xmlns:a="http://schemas.openxmlformats.org/drawingml/2006/main">
            <a:off x="590550" y="2238375"/>
            <a:ext cx="3238500" cy="1714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buNone/>
              <a:defRPr sz="2100" b="1">
                <a:solidFill>
                  <a:srgbClr val="111827"/>
                </a:solidFill>
                <a:latin typeface="Yu Gothic"/>
                <a:ea typeface="Yu Gothic"/>
                <a:cs typeface="Yu Gothic"/>
              </a:defRPr>
            </a:pPr>
            <a:r>
              <a:rPr sz="2100" b="1">
                <a:solidFill>
                  <a:srgbClr val="111827"/>
                </a:solidFill>
                <a:latin typeface="Yu Gothic"/>
                <a:ea typeface="Yu Gothic"/>
                <a:cs typeface="Yu Gothic"/>
              </a:rPr>
              <a:t>Local</a:t>
            </a:r>
          </a:p>
          <a:p xmlns:a="http://schemas.openxmlformats.org/drawingml/2006/main">
            <a:pPr algn="l">
              <a:buNone/>
              <a:defRPr sz="2100" b="1">
                <a:solidFill>
                  <a:srgbClr val="111827"/>
                </a:solidFill>
                <a:latin typeface="Yu Gothic"/>
                <a:ea typeface="Yu Gothic"/>
                <a:cs typeface="Yu Gothic"/>
              </a:defRPr>
            </a:pPr>
            <a:r>
              <a:rPr sz="2100" b="1">
                <a:solidFill>
                  <a:srgbClr val="111827"/>
                </a:solidFill>
                <a:latin typeface="Yu Gothic"/>
                <a:ea typeface="Yu Gothic"/>
                <a:cs typeface="Yu Gothic"/>
              </a:rPr>
              <a:t>Interpretable</a:t>
            </a:r>
          </a:p>
          <a:p xmlns:a="http://schemas.openxmlformats.org/drawingml/2006/main">
            <a:pPr algn="l">
              <a:buNone/>
              <a:defRPr sz="2100" b="1">
                <a:solidFill>
                  <a:srgbClr val="111827"/>
                </a:solidFill>
                <a:latin typeface="Yu Gothic"/>
                <a:ea typeface="Yu Gothic"/>
                <a:cs typeface="Yu Gothic"/>
              </a:defRPr>
            </a:pPr>
            <a:r>
              <a:rPr sz="2100" b="1">
                <a:solidFill>
                  <a:srgbClr val="111827"/>
                </a:solidFill>
                <a:latin typeface="Yu Gothic"/>
                <a:ea typeface="Yu Gothic"/>
                <a:cs typeface="Yu Gothic"/>
              </a:rPr>
              <a:t>Model-agnostic</a:t>
            </a:r>
          </a:p>
          <a:p xmlns:a="http://schemas.openxmlformats.org/drawingml/2006/main">
            <a:pPr algn="l">
              <a:buNone/>
              <a:defRPr sz="2100" b="1">
                <a:solidFill>
                  <a:srgbClr val="111827"/>
                </a:solidFill>
                <a:latin typeface="Yu Gothic"/>
                <a:ea typeface="Yu Gothic"/>
                <a:cs typeface="Yu Gothic"/>
              </a:defRPr>
            </a:pPr>
            <a:r>
              <a:rPr sz="2100" b="1">
                <a:solidFill>
                  <a:srgbClr val="111827"/>
                </a:solidFill>
                <a:latin typeface="Yu Gothic"/>
                <a:ea typeface="Yu Gothic"/>
                <a:cs typeface="Yu Gothic"/>
              </a:rPr>
              <a:t>Explanations</a:t>
            </a:r>
          </a:p>
        </p:txBody>
      </p:sp>
      <p:sp>
        <p:nvSpPr>
          <p:cNvPr id="7" name="正方形/長方形 6">
            <a:extLst xmlns:a="http://schemas.openxmlformats.org/drawingml/2006/main">
              <a:ext uri="{FF2B5EF4-FFF2-40B4-BE49-F238E27FC236}">
                <a16:creationId xmlns:a16="http://schemas.microsoft.com/office/drawing/2014/main" id="{2A29B0FF-82CB-4F7C-913D-7E72B0F562E5}"/>
              </a:ext>
            </a:extLst>
          </p:cNvPr>
          <p:cNvSpPr>
            <a:spLocks xmlns:a="http://schemas.openxmlformats.org/drawingml/2006/main" noGrp="1"/>
          </p:cNvSpPr>
          <p:nvPr/>
        </p:nvSpPr>
        <p:spPr>
          <a:xfrm xmlns:a="http://schemas.openxmlformats.org/drawingml/2006/main">
            <a:off x="590550" y="4286250"/>
            <a:ext cx="3238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buNone/>
              <a:defRPr sz="1575" b="0">
                <a:solidFill>
                  <a:srgbClr val="64748B"/>
                </a:solidFill>
                <a:latin typeface="Yu Gothic"/>
                <a:ea typeface="Yu Gothic"/>
                <a:cs typeface="Yu Gothic"/>
              </a:defRPr>
            </a:pPr>
            <a:r>
              <a:rPr sz="1575" b="0">
                <a:solidFill>
                  <a:srgbClr val="64748B"/>
                </a:solidFill>
                <a:latin typeface="Yu Gothic"/>
                <a:ea typeface="Yu Gothic"/>
                <a:cs typeface="Yu Gothic"/>
              </a:rPr>
              <a:t>モデル内部を見ず、入力と予測だけを使う</a:t>
            </a:r>
          </a:p>
        </p:txBody>
      </p:sp>
      <p:sp>
        <p:nvSpPr>
          <p:cNvPr id="8" name="正方形/長方形 7">
            <a:extLst xmlns:a="http://schemas.openxmlformats.org/drawingml/2006/main">
              <a:ext uri="{FF2B5EF4-FFF2-40B4-BE49-F238E27FC236}">
                <a16:creationId xmlns:a16="http://schemas.microsoft.com/office/drawing/2014/main" id="{3FA594C4-CFE0-46A6-8F9C-D5C892E743A1}"/>
              </a:ext>
            </a:extLst>
          </p:cNvPr>
          <p:cNvSpPr>
            <a:spLocks xmlns:a="http://schemas.openxmlformats.org/drawingml/2006/main" noGrp="1"/>
          </p:cNvSpPr>
          <p:nvPr/>
        </p:nvSpPr>
        <p:spPr>
          <a:xfrm xmlns:a="http://schemas.openxmlformats.org/drawingml/2006/main">
            <a:off x="590550" y="5257800"/>
            <a:ext cx="3238500" cy="704850"/>
          </a:xfrm>
          <a:prstGeom xmlns:a="http://schemas.openxmlformats.org/drawingml/2006/main" prst="rect">
            <a:avLst/>
          </a:prstGeom>
          <a:solidFill xmlns:a="http://schemas.openxmlformats.org/drawingml/2006/main">
            <a:srgbClr val="DBEAFE"/>
          </a:solidFill>
          <a:ln xmlns:a="http://schemas.openxmlformats.org/drawingml/2006/main" w="0">
            <a:solidFill>
              <a:srgbClr val="2563EB"/>
            </a:solidFill>
            <a:prstDash val="solid"/>
          </a:ln>
        </p:spPr>
        <p:txBody>
          <a:bodyPr xmlns:a="http://schemas.openxmlformats.org/drawingml/2006/main"/>
          <a:lstStyle xmlns:a="http://schemas.openxmlformats.org/drawingml/2006/main"/>
          <a:p xmlns:a="http://schemas.openxmlformats.org/drawingml/2006/main">
            <a:endParaRPr/>
          </a:p>
        </p:txBody>
      </p:sp>
      <p:sp>
        <p:nvSpPr>
          <p:cNvPr id="9" name="正方形/長方形 8">
            <a:extLst xmlns:a="http://schemas.openxmlformats.org/drawingml/2006/main">
              <a:ext uri="{FF2B5EF4-FFF2-40B4-BE49-F238E27FC236}">
                <a16:creationId xmlns:a16="http://schemas.microsoft.com/office/drawing/2014/main" id="{973EB8BF-E788-4D82-9F27-54B8EA346B29}"/>
              </a:ext>
            </a:extLst>
          </p:cNvPr>
          <p:cNvSpPr>
            <a:spLocks xmlns:a="http://schemas.openxmlformats.org/drawingml/2006/main" noGrp="1"/>
          </p:cNvSpPr>
          <p:nvPr/>
        </p:nvSpPr>
        <p:spPr>
          <a:xfrm xmlns:a="http://schemas.openxmlformats.org/drawingml/2006/main">
            <a:off x="781050" y="5381625"/>
            <a:ext cx="2857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buNone/>
              <a:defRPr sz="1575" b="1">
                <a:solidFill>
                  <a:srgbClr val="2563EB"/>
                </a:solidFill>
                <a:latin typeface="Yu Gothic"/>
                <a:ea typeface="Yu Gothic"/>
                <a:cs typeface="Yu Gothic"/>
              </a:defRPr>
            </a:pPr>
            <a:r>
              <a:rPr sz="1575" b="1">
                <a:solidFill>
                  <a:srgbClr val="2563EB"/>
                </a:solidFill>
                <a:latin typeface="Yu Gothic"/>
                <a:ea typeface="Yu Gothic"/>
                <a:cs typeface="Yu Gothic"/>
              </a:rPr>
              <a:t>全体は複雑でも、</a:t>
            </a:r>
          </a:p>
          <a:p xmlns:a="http://schemas.openxmlformats.org/drawingml/2006/main">
            <a:pPr algn="ctr">
              <a:buNone/>
              <a:defRPr sz="1575" b="1">
                <a:solidFill>
                  <a:srgbClr val="2563EB"/>
                </a:solidFill>
                <a:latin typeface="Yu Gothic"/>
                <a:ea typeface="Yu Gothic"/>
                <a:cs typeface="Yu Gothic"/>
              </a:defRPr>
            </a:pPr>
            <a:r>
              <a:rPr sz="1575" b="1">
                <a:solidFill>
                  <a:srgbClr val="2563EB"/>
                </a:solidFill>
                <a:latin typeface="Yu Gothic"/>
                <a:ea typeface="Yu Gothic"/>
                <a:cs typeface="Yu Gothic"/>
              </a:rPr>
              <a:t>狭い範囲なら単純化できる</a:t>
            </a:r>
          </a:p>
        </p:txBody>
      </p:sp>
      <p:sp>
        <p:nvSpPr>
          <p:cNvPr id="10" name="正方形/長方形 9">
            <a:extLst xmlns:a="http://schemas.openxmlformats.org/drawingml/2006/main">
              <a:ext uri="{FF2B5EF4-FFF2-40B4-BE49-F238E27FC236}">
                <a16:creationId xmlns:a16="http://schemas.microsoft.com/office/drawing/2014/main" id="{0D408E5D-3E87-4D65-B788-D73044DD9B08}"/>
              </a:ext>
            </a:extLst>
          </p:cNvPr>
          <p:cNvSpPr>
            <a:spLocks xmlns:a="http://schemas.openxmlformats.org/drawingml/2006/main" noGrp="1"/>
          </p:cNvSpPr>
          <p:nvPr/>
        </p:nvSpPr>
        <p:spPr>
          <a:xfrm xmlns:a="http://schemas.openxmlformats.org/drawingml/2006/main">
            <a:off x="4333875" y="1524000"/>
            <a:ext cx="7239000" cy="4572000"/>
          </a:xfrm>
          <a:prstGeom xmlns:a="http://schemas.openxmlformats.org/drawingml/2006/main" prst="rect">
            <a:avLst/>
          </a:prstGeom>
          <a:solidFill xmlns:a="http://schemas.openxmlformats.org/drawingml/2006/main">
            <a:srgbClr val="FAFAFA"/>
          </a:solidFill>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endParaRPr/>
          </a:p>
        </p:txBody>
      </p:sp>
      <p:cxnSp>
        <p:nvCxnSpPr>
          <p:cNvPr id="83" name="直線矢印コネクタ 47"/>
          <p:cNvCxnSpPr/>
          <p:nvPr/>
        </p:nvCxnSpPr>
        <p:spPr>
          <a:xfrm xmlns:a="http://schemas.openxmlformats.org/drawingml/2006/main">
            <a:off x="4953000" y="4476750"/>
            <a:ext cx="1143000" cy="666750"/>
          </a:xfrm>
          <a:prstGeom xmlns:a="http://schemas.openxmlformats.org/drawingml/2006/main" prst="straightConnector1">
            <a:avLst/>
          </a:prstGeom>
          <a:ln xmlns:a="http://schemas.openxmlformats.org/drawingml/2006/main" w="38100">
            <a:solidFill>
              <a:srgbClr val="111827"/>
            </a:solidFill>
            <a:prstDash val="solid"/>
          </a:ln>
        </p:spPr>
      </p:cxnSp>
      <p:cxnSp>
        <p:nvCxnSpPr>
          <p:cNvPr id="84" name="直線矢印コネクタ 48"/>
          <p:cNvCxnSpPr/>
          <p:nvPr/>
        </p:nvCxnSpPr>
        <p:spPr>
          <a:xfrm xmlns:a="http://schemas.openxmlformats.org/drawingml/2006/main">
            <a:off x="6096000" y="3143250"/>
            <a:ext cx="857250" cy="1333500"/>
          </a:xfrm>
          <a:prstGeom xmlns:a="http://schemas.openxmlformats.org/drawingml/2006/main" prst="straightConnector1">
            <a:avLst/>
          </a:prstGeom>
          <a:ln xmlns:a="http://schemas.openxmlformats.org/drawingml/2006/main" w="38100">
            <a:solidFill>
              <a:srgbClr val="111827"/>
            </a:solidFill>
            <a:prstDash val="solid"/>
          </a:ln>
        </p:spPr>
      </p:cxnSp>
      <p:cxnSp>
        <p:nvCxnSpPr>
          <p:cNvPr id="85" name="直線矢印コネクタ 49"/>
          <p:cNvCxnSpPr/>
          <p:nvPr/>
        </p:nvCxnSpPr>
        <p:spPr>
          <a:xfrm xmlns:a="http://schemas.openxmlformats.org/drawingml/2006/main">
            <a:off x="6953250" y="3143250"/>
            <a:ext cx="1000125" cy="523875"/>
          </a:xfrm>
          <a:prstGeom xmlns:a="http://schemas.openxmlformats.org/drawingml/2006/main" prst="straightConnector1">
            <a:avLst/>
          </a:prstGeom>
          <a:ln xmlns:a="http://schemas.openxmlformats.org/drawingml/2006/main" w="38100">
            <a:solidFill>
              <a:srgbClr val="111827"/>
            </a:solidFill>
            <a:prstDash val="solid"/>
          </a:ln>
        </p:spPr>
      </p:cxnSp>
      <p:cxnSp>
        <p:nvCxnSpPr>
          <p:cNvPr id="86" name="直線矢印コネクタ 50"/>
          <p:cNvCxnSpPr/>
          <p:nvPr/>
        </p:nvCxnSpPr>
        <p:spPr>
          <a:xfrm xmlns:a="http://schemas.openxmlformats.org/drawingml/2006/main">
            <a:off x="7953375" y="2809875"/>
            <a:ext cx="1047750" cy="857250"/>
          </a:xfrm>
          <a:prstGeom xmlns:a="http://schemas.openxmlformats.org/drawingml/2006/main" prst="straightConnector1">
            <a:avLst/>
          </a:prstGeom>
          <a:ln xmlns:a="http://schemas.openxmlformats.org/drawingml/2006/main" w="38100">
            <a:solidFill>
              <a:srgbClr val="111827"/>
            </a:solidFill>
            <a:prstDash val="solid"/>
          </a:ln>
        </p:spPr>
      </p:cxnSp>
      <p:cxnSp>
        <p:nvCxnSpPr>
          <p:cNvPr id="87" name="直線矢印コネクタ 51"/>
          <p:cNvCxnSpPr/>
          <p:nvPr/>
        </p:nvCxnSpPr>
        <p:spPr>
          <a:xfrm xmlns:a="http://schemas.openxmlformats.org/drawingml/2006/main">
            <a:off x="9001125" y="2809875"/>
            <a:ext cx="1428750" cy="1381125"/>
          </a:xfrm>
          <a:prstGeom xmlns:a="http://schemas.openxmlformats.org/drawingml/2006/main" prst="straightConnector1">
            <a:avLst/>
          </a:prstGeom>
          <a:ln xmlns:a="http://schemas.openxmlformats.org/drawingml/2006/main" w="38100">
            <a:solidFill>
              <a:srgbClr val="111827"/>
            </a:solidFill>
            <a:prstDash val="solid"/>
          </a:ln>
        </p:spPr>
      </p:cxnSp>
      <p:sp>
        <p:nvSpPr>
          <p:cNvPr id="16" name="正方形/長方形 15">
            <a:extLst xmlns:a="http://schemas.openxmlformats.org/drawingml/2006/main">
              <a:ext uri="{FF2B5EF4-FFF2-40B4-BE49-F238E27FC236}">
                <a16:creationId xmlns:a16="http://schemas.microsoft.com/office/drawing/2014/main" id="{51BD7BE0-EDA5-450D-A538-7F046DD9212E}"/>
              </a:ext>
            </a:extLst>
          </p:cNvPr>
          <p:cNvSpPr>
            <a:spLocks xmlns:a="http://schemas.openxmlformats.org/drawingml/2006/main" noGrp="1"/>
          </p:cNvSpPr>
          <p:nvPr/>
        </p:nvSpPr>
        <p:spPr>
          <a:xfrm xmlns:a="http://schemas.openxmlformats.org/drawingml/2006/main">
            <a:off x="8048625" y="1771650"/>
            <a:ext cx="285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buNone/>
              <a:defRPr sz="1350" b="1">
                <a:solidFill>
                  <a:srgbClr val="111827"/>
                </a:solidFill>
                <a:latin typeface="Yu Gothic"/>
                <a:ea typeface="Yu Gothic"/>
                <a:cs typeface="Yu Gothic"/>
              </a:defRPr>
            </a:pPr>
            <a:r>
              <a:rPr sz="1350" b="1">
                <a:solidFill>
                  <a:srgbClr val="111827"/>
                </a:solidFill>
                <a:latin typeface="Yu Gothic"/>
                <a:ea typeface="Yu Gothic"/>
                <a:cs typeface="Yu Gothic"/>
              </a:rPr>
              <a:t>ブラックボックスの複雑な境界</a:t>
            </a:r>
          </a:p>
        </p:txBody>
      </p:sp>
      <p:sp>
        <p:nvSpPr>
          <p:cNvPr id="17" name="円/楕円 16">
            <a:extLst xmlns:a="http://schemas.openxmlformats.org/drawingml/2006/main">
              <a:ext uri="{FF2B5EF4-FFF2-40B4-BE49-F238E27FC236}">
                <a16:creationId xmlns:a16="http://schemas.microsoft.com/office/drawing/2014/main" id="{959B9725-2B54-4860-BF59-A0AB259A1B73}"/>
              </a:ext>
            </a:extLst>
          </p:cNvPr>
          <p:cNvSpPr>
            <a:spLocks xmlns:a="http://schemas.openxmlformats.org/drawingml/2006/main" noGrp="1"/>
          </p:cNvSpPr>
          <p:nvPr/>
        </p:nvSpPr>
        <p:spPr>
          <a:xfrm xmlns:a="http://schemas.openxmlformats.org/drawingml/2006/main">
            <a:off x="4857750" y="2095500"/>
            <a:ext cx="152400" cy="152400"/>
          </a:xfrm>
          <a:prstGeom xmlns:a="http://schemas.openxmlformats.org/drawingml/2006/main" prst="ellipse">
            <a:avLst/>
          </a:prstGeom>
          <a:solidFill xmlns:a="http://schemas.openxmlformats.org/drawingml/2006/main">
            <a:srgbClr val="2563EB"/>
          </a:solidFill>
          <a:ln xmlns:a="http://schemas.openxmlformats.org/drawingml/2006/main" w="0">
            <a:solidFill>
              <a:srgbClr val="2563EB"/>
            </a:solidFill>
            <a:prstDash val="solid"/>
          </a:ln>
        </p:spPr>
        <p:txBody>
          <a:bodyPr xmlns:a="http://schemas.openxmlformats.org/drawingml/2006/main"/>
          <a:lstStyle xmlns:a="http://schemas.openxmlformats.org/drawingml/2006/main"/>
          <a:p xmlns:a="http://schemas.openxmlformats.org/drawingml/2006/main">
            <a:endParaRPr/>
          </a:p>
        </p:txBody>
      </p:sp>
      <p:sp>
        <p:nvSpPr>
          <p:cNvPr id="18" name="円/楕円 17">
            <a:extLst xmlns:a="http://schemas.openxmlformats.org/drawingml/2006/main">
              <a:ext uri="{FF2B5EF4-FFF2-40B4-BE49-F238E27FC236}">
                <a16:creationId xmlns:a16="http://schemas.microsoft.com/office/drawing/2014/main" id="{6EDE501B-E40D-42B8-9331-E3DB0366D1A6}"/>
              </a:ext>
            </a:extLst>
          </p:cNvPr>
          <p:cNvSpPr>
            <a:spLocks xmlns:a="http://schemas.openxmlformats.org/drawingml/2006/main" noGrp="1"/>
          </p:cNvSpPr>
          <p:nvPr/>
        </p:nvSpPr>
        <p:spPr>
          <a:xfrm xmlns:a="http://schemas.openxmlformats.org/drawingml/2006/main">
            <a:off x="5476875" y="2476500"/>
            <a:ext cx="152400" cy="152400"/>
          </a:xfrm>
          <a:prstGeom xmlns:a="http://schemas.openxmlformats.org/drawingml/2006/main" prst="ellipse">
            <a:avLst/>
          </a:prstGeom>
          <a:solidFill xmlns:a="http://schemas.openxmlformats.org/drawingml/2006/main">
            <a:srgbClr val="2563EB"/>
          </a:solidFill>
          <a:ln xmlns:a="http://schemas.openxmlformats.org/drawingml/2006/main" w="0">
            <a:solidFill>
              <a:srgbClr val="2563EB"/>
            </a:solidFill>
            <a:prstDash val="solid"/>
          </a:ln>
        </p:spPr>
        <p:txBody>
          <a:bodyPr xmlns:a="http://schemas.openxmlformats.org/drawingml/2006/main"/>
          <a:lstStyle xmlns:a="http://schemas.openxmlformats.org/drawingml/2006/main"/>
          <a:p xmlns:a="http://schemas.openxmlformats.org/drawingml/2006/main">
            <a:endParaRPr/>
          </a:p>
        </p:txBody>
      </p:sp>
      <p:sp>
        <p:nvSpPr>
          <p:cNvPr id="19" name="円/楕円 18">
            <a:extLst xmlns:a="http://schemas.openxmlformats.org/drawingml/2006/main">
              <a:ext uri="{FF2B5EF4-FFF2-40B4-BE49-F238E27FC236}">
                <a16:creationId xmlns:a16="http://schemas.microsoft.com/office/drawing/2014/main" id="{BDA72FE6-6BAA-4F3F-9AF6-60191DDF9586}"/>
              </a:ext>
            </a:extLst>
          </p:cNvPr>
          <p:cNvSpPr>
            <a:spLocks xmlns:a="http://schemas.openxmlformats.org/drawingml/2006/main" noGrp="1"/>
          </p:cNvSpPr>
          <p:nvPr/>
        </p:nvSpPr>
        <p:spPr>
          <a:xfrm xmlns:a="http://schemas.openxmlformats.org/drawingml/2006/main">
            <a:off x="5953125" y="1952625"/>
            <a:ext cx="152400" cy="152400"/>
          </a:xfrm>
          <a:prstGeom xmlns:a="http://schemas.openxmlformats.org/drawingml/2006/main" prst="ellipse">
            <a:avLst/>
          </a:prstGeom>
          <a:solidFill xmlns:a="http://schemas.openxmlformats.org/drawingml/2006/main">
            <a:srgbClr val="2563EB"/>
          </a:solidFill>
          <a:ln xmlns:a="http://schemas.openxmlformats.org/drawingml/2006/main" w="0">
            <a:solidFill>
              <a:srgbClr val="2563EB"/>
            </a:solidFill>
            <a:prstDash val="solid"/>
          </a:ln>
        </p:spPr>
        <p:txBody>
          <a:bodyPr xmlns:a="http://schemas.openxmlformats.org/drawingml/2006/main"/>
          <a:lstStyle xmlns:a="http://schemas.openxmlformats.org/drawingml/2006/main"/>
          <a:p xmlns:a="http://schemas.openxmlformats.org/drawingml/2006/main">
            <a:endParaRPr/>
          </a:p>
        </p:txBody>
      </p:sp>
      <p:sp>
        <p:nvSpPr>
          <p:cNvPr id="20" name="円/楕円 19">
            <a:extLst xmlns:a="http://schemas.openxmlformats.org/drawingml/2006/main">
              <a:ext uri="{FF2B5EF4-FFF2-40B4-BE49-F238E27FC236}">
                <a16:creationId xmlns:a16="http://schemas.microsoft.com/office/drawing/2014/main" id="{ECB20593-CA60-435D-9D74-5FE2FF56E77D}"/>
              </a:ext>
            </a:extLst>
          </p:cNvPr>
          <p:cNvSpPr>
            <a:spLocks xmlns:a="http://schemas.openxmlformats.org/drawingml/2006/main" noGrp="1"/>
          </p:cNvSpPr>
          <p:nvPr/>
        </p:nvSpPr>
        <p:spPr>
          <a:xfrm xmlns:a="http://schemas.openxmlformats.org/drawingml/2006/main">
            <a:off x="6429375" y="2714625"/>
            <a:ext cx="152400" cy="152400"/>
          </a:xfrm>
          <a:prstGeom xmlns:a="http://schemas.openxmlformats.org/drawingml/2006/main" prst="ellipse">
            <a:avLst/>
          </a:prstGeom>
          <a:solidFill xmlns:a="http://schemas.openxmlformats.org/drawingml/2006/main">
            <a:srgbClr val="2563EB"/>
          </a:solidFill>
          <a:ln xmlns:a="http://schemas.openxmlformats.org/drawingml/2006/main" w="0">
            <a:solidFill>
              <a:srgbClr val="2563EB"/>
            </a:solidFill>
            <a:prstDash val="solid"/>
          </a:ln>
        </p:spPr>
        <p:txBody>
          <a:bodyPr xmlns:a="http://schemas.openxmlformats.org/drawingml/2006/main"/>
          <a:lstStyle xmlns:a="http://schemas.openxmlformats.org/drawingml/2006/main"/>
          <a:p xmlns:a="http://schemas.openxmlformats.org/drawingml/2006/main">
            <a:endParaRPr/>
          </a:p>
        </p:txBody>
      </p:sp>
      <p:sp>
        <p:nvSpPr>
          <p:cNvPr id="21" name="円/楕円 20">
            <a:extLst xmlns:a="http://schemas.openxmlformats.org/drawingml/2006/main">
              <a:ext uri="{FF2B5EF4-FFF2-40B4-BE49-F238E27FC236}">
                <a16:creationId xmlns:a16="http://schemas.microsoft.com/office/drawing/2014/main" id="{262887E8-5B4E-4A38-BFF2-4CA177F02170}"/>
              </a:ext>
            </a:extLst>
          </p:cNvPr>
          <p:cNvSpPr>
            <a:spLocks xmlns:a="http://schemas.openxmlformats.org/drawingml/2006/main" noGrp="1"/>
          </p:cNvSpPr>
          <p:nvPr/>
        </p:nvSpPr>
        <p:spPr>
          <a:xfrm xmlns:a="http://schemas.openxmlformats.org/drawingml/2006/main">
            <a:off x="5381625" y="3571875"/>
            <a:ext cx="152400" cy="152400"/>
          </a:xfrm>
          <a:prstGeom xmlns:a="http://schemas.openxmlformats.org/drawingml/2006/main" prst="ellipse">
            <a:avLst/>
          </a:prstGeom>
          <a:solidFill xmlns:a="http://schemas.openxmlformats.org/drawingml/2006/main">
            <a:srgbClr val="2563EB"/>
          </a:solidFill>
          <a:ln xmlns:a="http://schemas.openxmlformats.org/drawingml/2006/main" w="0">
            <a:solidFill>
              <a:srgbClr val="2563EB"/>
            </a:solidFill>
            <a:prstDash val="solid"/>
          </a:ln>
        </p:spPr>
        <p:txBody>
          <a:bodyPr xmlns:a="http://schemas.openxmlformats.org/drawingml/2006/main"/>
          <a:lstStyle xmlns:a="http://schemas.openxmlformats.org/drawingml/2006/main"/>
          <a:p xmlns:a="http://schemas.openxmlformats.org/drawingml/2006/main">
            <a:endParaRPr/>
          </a:p>
        </p:txBody>
      </p:sp>
      <p:sp>
        <p:nvSpPr>
          <p:cNvPr id="22" name="円/楕円 21">
            <a:extLst xmlns:a="http://schemas.openxmlformats.org/drawingml/2006/main">
              <a:ext uri="{FF2B5EF4-FFF2-40B4-BE49-F238E27FC236}">
                <a16:creationId xmlns:a16="http://schemas.microsoft.com/office/drawing/2014/main" id="{B8D01379-98FA-4F2F-A7F9-8A572BA50F95}"/>
              </a:ext>
            </a:extLst>
          </p:cNvPr>
          <p:cNvSpPr>
            <a:spLocks xmlns:a="http://schemas.openxmlformats.org/drawingml/2006/main" noGrp="1"/>
          </p:cNvSpPr>
          <p:nvPr/>
        </p:nvSpPr>
        <p:spPr>
          <a:xfrm xmlns:a="http://schemas.openxmlformats.org/drawingml/2006/main">
            <a:off x="6191250" y="3905250"/>
            <a:ext cx="152400" cy="152400"/>
          </a:xfrm>
          <a:prstGeom xmlns:a="http://schemas.openxmlformats.org/drawingml/2006/main" prst="ellipse">
            <a:avLst/>
          </a:prstGeom>
          <a:solidFill xmlns:a="http://schemas.openxmlformats.org/drawingml/2006/main">
            <a:srgbClr val="2563EB"/>
          </a:solidFill>
          <a:ln xmlns:a="http://schemas.openxmlformats.org/drawingml/2006/main" w="0">
            <a:solidFill>
              <a:srgbClr val="2563EB"/>
            </a:solidFill>
            <a:prstDash val="solid"/>
          </a:ln>
        </p:spPr>
        <p:txBody>
          <a:bodyPr xmlns:a="http://schemas.openxmlformats.org/drawingml/2006/main"/>
          <a:lstStyle xmlns:a="http://schemas.openxmlformats.org/drawingml/2006/main"/>
          <a:p xmlns:a="http://schemas.openxmlformats.org/drawingml/2006/main">
            <a:endParaRPr/>
          </a:p>
        </p:txBody>
      </p:sp>
      <p:sp>
        <p:nvSpPr>
          <p:cNvPr id="23" name="円/楕円 22">
            <a:extLst xmlns:a="http://schemas.openxmlformats.org/drawingml/2006/main">
              <a:ext uri="{FF2B5EF4-FFF2-40B4-BE49-F238E27FC236}">
                <a16:creationId xmlns:a16="http://schemas.microsoft.com/office/drawing/2014/main" id="{1C3E0228-A1B8-4C12-81E1-AA472EC4B893}"/>
              </a:ext>
            </a:extLst>
          </p:cNvPr>
          <p:cNvSpPr>
            <a:spLocks xmlns:a="http://schemas.openxmlformats.org/drawingml/2006/main" noGrp="1"/>
          </p:cNvSpPr>
          <p:nvPr/>
        </p:nvSpPr>
        <p:spPr>
          <a:xfrm xmlns:a="http://schemas.openxmlformats.org/drawingml/2006/main">
            <a:off x="7239000" y="2095500"/>
            <a:ext cx="152400" cy="152400"/>
          </a:xfrm>
          <a:prstGeom xmlns:a="http://schemas.openxmlformats.org/drawingml/2006/main" prst="ellipse">
            <a:avLst/>
          </a:prstGeom>
          <a:solidFill xmlns:a="http://schemas.openxmlformats.org/drawingml/2006/main">
            <a:srgbClr val="2563EB"/>
          </a:solidFill>
          <a:ln xmlns:a="http://schemas.openxmlformats.org/drawingml/2006/main" w="0">
            <a:solidFill>
              <a:srgbClr val="2563EB"/>
            </a:solidFill>
            <a:prstDash val="solid"/>
          </a:ln>
        </p:spPr>
        <p:txBody>
          <a:bodyPr xmlns:a="http://schemas.openxmlformats.org/drawingml/2006/main"/>
          <a:lstStyle xmlns:a="http://schemas.openxmlformats.org/drawingml/2006/main"/>
          <a:p xmlns:a="http://schemas.openxmlformats.org/drawingml/2006/main">
            <a:endParaRPr/>
          </a:p>
        </p:txBody>
      </p:sp>
      <p:sp>
        <p:nvSpPr>
          <p:cNvPr id="24" name="円/楕円 23">
            <a:extLst xmlns:a="http://schemas.openxmlformats.org/drawingml/2006/main">
              <a:ext uri="{FF2B5EF4-FFF2-40B4-BE49-F238E27FC236}">
                <a16:creationId xmlns:a16="http://schemas.microsoft.com/office/drawing/2014/main" id="{4CDC1679-DE97-4B13-A85A-4B3F8AED8C59}"/>
              </a:ext>
            </a:extLst>
          </p:cNvPr>
          <p:cNvSpPr>
            <a:spLocks xmlns:a="http://schemas.openxmlformats.org/drawingml/2006/main" noGrp="1"/>
          </p:cNvSpPr>
          <p:nvPr/>
        </p:nvSpPr>
        <p:spPr>
          <a:xfrm xmlns:a="http://schemas.openxmlformats.org/drawingml/2006/main">
            <a:off x="7667625" y="2619375"/>
            <a:ext cx="152400" cy="152400"/>
          </a:xfrm>
          <a:prstGeom xmlns:a="http://schemas.openxmlformats.org/drawingml/2006/main" prst="ellipse">
            <a:avLst/>
          </a:prstGeom>
          <a:solidFill xmlns:a="http://schemas.openxmlformats.org/drawingml/2006/main">
            <a:srgbClr val="2563EB"/>
          </a:solidFill>
          <a:ln xmlns:a="http://schemas.openxmlformats.org/drawingml/2006/main" w="0">
            <a:solidFill>
              <a:srgbClr val="2563EB"/>
            </a:solidFill>
            <a:prstDash val="solid"/>
          </a:ln>
        </p:spPr>
        <p:txBody>
          <a:bodyPr xmlns:a="http://schemas.openxmlformats.org/drawingml/2006/main"/>
          <a:lstStyle xmlns:a="http://schemas.openxmlformats.org/drawingml/2006/main"/>
          <a:p xmlns:a="http://schemas.openxmlformats.org/drawingml/2006/main">
            <a:endParaRPr/>
          </a:p>
        </p:txBody>
      </p:sp>
      <p:sp>
        <p:nvSpPr>
          <p:cNvPr id="25" name="円/楕円 24">
            <a:extLst xmlns:a="http://schemas.openxmlformats.org/drawingml/2006/main">
              <a:ext uri="{FF2B5EF4-FFF2-40B4-BE49-F238E27FC236}">
                <a16:creationId xmlns:a16="http://schemas.microsoft.com/office/drawing/2014/main" id="{F9047993-DE26-4FF0-ADD4-4730F68C277D}"/>
              </a:ext>
            </a:extLst>
          </p:cNvPr>
          <p:cNvSpPr>
            <a:spLocks xmlns:a="http://schemas.openxmlformats.org/drawingml/2006/main" noGrp="1"/>
          </p:cNvSpPr>
          <p:nvPr/>
        </p:nvSpPr>
        <p:spPr>
          <a:xfrm xmlns:a="http://schemas.openxmlformats.org/drawingml/2006/main">
            <a:off x="8763000" y="4810125"/>
            <a:ext cx="152400" cy="152400"/>
          </a:xfrm>
          <a:prstGeom xmlns:a="http://schemas.openxmlformats.org/drawingml/2006/main" prst="ellipse">
            <a:avLst/>
          </a:prstGeom>
          <a:solidFill xmlns:a="http://schemas.openxmlformats.org/drawingml/2006/main">
            <a:srgbClr val="94A3B8"/>
          </a:solidFill>
          <a:ln xmlns:a="http://schemas.openxmlformats.org/drawingml/2006/main" w="0">
            <a:solidFill>
              <a:srgbClr val="94A3B8"/>
            </a:solidFill>
            <a:prstDash val="solid"/>
          </a:ln>
        </p:spPr>
        <p:txBody>
          <a:bodyPr xmlns:a="http://schemas.openxmlformats.org/drawingml/2006/main"/>
          <a:lstStyle xmlns:a="http://schemas.openxmlformats.org/drawingml/2006/main"/>
          <a:p xmlns:a="http://schemas.openxmlformats.org/drawingml/2006/main">
            <a:endParaRPr/>
          </a:p>
        </p:txBody>
      </p:sp>
      <p:sp>
        <p:nvSpPr>
          <p:cNvPr id="26" name="円/楕円 25">
            <a:extLst xmlns:a="http://schemas.openxmlformats.org/drawingml/2006/main">
              <a:ext uri="{FF2B5EF4-FFF2-40B4-BE49-F238E27FC236}">
                <a16:creationId xmlns:a16="http://schemas.microsoft.com/office/drawing/2014/main" id="{60495F0E-05D8-47E4-90F0-39D2CFF09C6E}"/>
              </a:ext>
            </a:extLst>
          </p:cNvPr>
          <p:cNvSpPr>
            <a:spLocks xmlns:a="http://schemas.openxmlformats.org/drawingml/2006/main" noGrp="1"/>
          </p:cNvSpPr>
          <p:nvPr/>
        </p:nvSpPr>
        <p:spPr>
          <a:xfrm xmlns:a="http://schemas.openxmlformats.org/drawingml/2006/main">
            <a:off x="9525000" y="4381500"/>
            <a:ext cx="152400" cy="152400"/>
          </a:xfrm>
          <a:prstGeom xmlns:a="http://schemas.openxmlformats.org/drawingml/2006/main" prst="ellipse">
            <a:avLst/>
          </a:prstGeom>
          <a:solidFill xmlns:a="http://schemas.openxmlformats.org/drawingml/2006/main">
            <a:srgbClr val="94A3B8"/>
          </a:solidFill>
          <a:ln xmlns:a="http://schemas.openxmlformats.org/drawingml/2006/main" w="0">
            <a:solidFill>
              <a:srgbClr val="94A3B8"/>
            </a:solidFill>
            <a:prstDash val="solid"/>
          </a:ln>
        </p:spPr>
        <p:txBody>
          <a:bodyPr xmlns:a="http://schemas.openxmlformats.org/drawingml/2006/main"/>
          <a:lstStyle xmlns:a="http://schemas.openxmlformats.org/drawingml/2006/main"/>
          <a:p xmlns:a="http://schemas.openxmlformats.org/drawingml/2006/main">
            <a:endParaRPr/>
          </a:p>
        </p:txBody>
      </p:sp>
      <p:sp>
        <p:nvSpPr>
          <p:cNvPr id="27" name="円/楕円 26">
            <a:extLst xmlns:a="http://schemas.openxmlformats.org/drawingml/2006/main">
              <a:ext uri="{FF2B5EF4-FFF2-40B4-BE49-F238E27FC236}">
                <a16:creationId xmlns:a16="http://schemas.microsoft.com/office/drawing/2014/main" id="{FBB3C434-0248-418E-8A1C-1545FB2ED517}"/>
              </a:ext>
            </a:extLst>
          </p:cNvPr>
          <p:cNvSpPr>
            <a:spLocks xmlns:a="http://schemas.openxmlformats.org/drawingml/2006/main" noGrp="1"/>
          </p:cNvSpPr>
          <p:nvPr/>
        </p:nvSpPr>
        <p:spPr>
          <a:xfrm xmlns:a="http://schemas.openxmlformats.org/drawingml/2006/main">
            <a:off x="10287000" y="4953000"/>
            <a:ext cx="152400" cy="152400"/>
          </a:xfrm>
          <a:prstGeom xmlns:a="http://schemas.openxmlformats.org/drawingml/2006/main" prst="ellipse">
            <a:avLst/>
          </a:prstGeom>
          <a:solidFill xmlns:a="http://schemas.openxmlformats.org/drawingml/2006/main">
            <a:srgbClr val="94A3B8"/>
          </a:solidFill>
          <a:ln xmlns:a="http://schemas.openxmlformats.org/drawingml/2006/main" w="0">
            <a:solidFill>
              <a:srgbClr val="94A3B8"/>
            </a:solidFill>
            <a:prstDash val="solid"/>
          </a:ln>
        </p:spPr>
        <p:txBody>
          <a:bodyPr xmlns:a="http://schemas.openxmlformats.org/drawingml/2006/main"/>
          <a:lstStyle xmlns:a="http://schemas.openxmlformats.org/drawingml/2006/main"/>
          <a:p xmlns:a="http://schemas.openxmlformats.org/drawingml/2006/main">
            <a:endParaRPr/>
          </a:p>
        </p:txBody>
      </p:sp>
      <p:sp>
        <p:nvSpPr>
          <p:cNvPr id="28" name="円/楕円 27">
            <a:extLst xmlns:a="http://schemas.openxmlformats.org/drawingml/2006/main">
              <a:ext uri="{FF2B5EF4-FFF2-40B4-BE49-F238E27FC236}">
                <a16:creationId xmlns:a16="http://schemas.microsoft.com/office/drawing/2014/main" id="{F327EDAF-4261-48B9-9F5A-6241D492AB02}"/>
              </a:ext>
            </a:extLst>
          </p:cNvPr>
          <p:cNvSpPr>
            <a:spLocks xmlns:a="http://schemas.openxmlformats.org/drawingml/2006/main" noGrp="1"/>
          </p:cNvSpPr>
          <p:nvPr/>
        </p:nvSpPr>
        <p:spPr>
          <a:xfrm xmlns:a="http://schemas.openxmlformats.org/drawingml/2006/main">
            <a:off x="10668000" y="3857625"/>
            <a:ext cx="152400" cy="152400"/>
          </a:xfrm>
          <a:prstGeom xmlns:a="http://schemas.openxmlformats.org/drawingml/2006/main" prst="ellipse">
            <a:avLst/>
          </a:prstGeom>
          <a:solidFill xmlns:a="http://schemas.openxmlformats.org/drawingml/2006/main">
            <a:srgbClr val="94A3B8"/>
          </a:solidFill>
          <a:ln xmlns:a="http://schemas.openxmlformats.org/drawingml/2006/main" w="0">
            <a:solidFill>
              <a:srgbClr val="94A3B8"/>
            </a:solidFill>
            <a:prstDash val="solid"/>
          </a:ln>
        </p:spPr>
        <p:txBody>
          <a:bodyPr xmlns:a="http://schemas.openxmlformats.org/drawingml/2006/main"/>
          <a:lstStyle xmlns:a="http://schemas.openxmlformats.org/drawingml/2006/main"/>
          <a:p xmlns:a="http://schemas.openxmlformats.org/drawingml/2006/main">
            <a:endParaRPr/>
          </a:p>
        </p:txBody>
      </p:sp>
      <p:sp>
        <p:nvSpPr>
          <p:cNvPr id="29" name="円/楕円 28">
            <a:extLst xmlns:a="http://schemas.openxmlformats.org/drawingml/2006/main">
              <a:ext uri="{FF2B5EF4-FFF2-40B4-BE49-F238E27FC236}">
                <a16:creationId xmlns:a16="http://schemas.microsoft.com/office/drawing/2014/main" id="{E60295FE-AE74-479C-B25C-6DF6C0AA109E}"/>
              </a:ext>
            </a:extLst>
          </p:cNvPr>
          <p:cNvSpPr>
            <a:spLocks xmlns:a="http://schemas.openxmlformats.org/drawingml/2006/main" noGrp="1"/>
          </p:cNvSpPr>
          <p:nvPr/>
        </p:nvSpPr>
        <p:spPr>
          <a:xfrm xmlns:a="http://schemas.openxmlformats.org/drawingml/2006/main">
            <a:off x="9334500" y="3476625"/>
            <a:ext cx="152400" cy="152400"/>
          </a:xfrm>
          <a:prstGeom xmlns:a="http://schemas.openxmlformats.org/drawingml/2006/main" prst="ellipse">
            <a:avLst/>
          </a:prstGeom>
          <a:solidFill xmlns:a="http://schemas.openxmlformats.org/drawingml/2006/main">
            <a:srgbClr val="94A3B8"/>
          </a:solidFill>
          <a:ln xmlns:a="http://schemas.openxmlformats.org/drawingml/2006/main" w="0">
            <a:solidFill>
              <a:srgbClr val="94A3B8"/>
            </a:solidFill>
            <a:prstDash val="solid"/>
          </a:ln>
        </p:spPr>
        <p:txBody>
          <a:bodyPr xmlns:a="http://schemas.openxmlformats.org/drawingml/2006/main"/>
          <a:lstStyle xmlns:a="http://schemas.openxmlformats.org/drawingml/2006/main"/>
          <a:p xmlns:a="http://schemas.openxmlformats.org/drawingml/2006/main">
            <a:endParaRPr/>
          </a:p>
        </p:txBody>
      </p:sp>
      <p:sp>
        <p:nvSpPr>
          <p:cNvPr id="30" name="円/楕円 29">
            <a:extLst xmlns:a="http://schemas.openxmlformats.org/drawingml/2006/main">
              <a:ext uri="{FF2B5EF4-FFF2-40B4-BE49-F238E27FC236}">
                <a16:creationId xmlns:a16="http://schemas.microsoft.com/office/drawing/2014/main" id="{83305B92-F4FA-48F9-B457-AB71F8F39CBB}"/>
              </a:ext>
            </a:extLst>
          </p:cNvPr>
          <p:cNvSpPr>
            <a:spLocks xmlns:a="http://schemas.openxmlformats.org/drawingml/2006/main" noGrp="1"/>
          </p:cNvSpPr>
          <p:nvPr/>
        </p:nvSpPr>
        <p:spPr>
          <a:xfrm xmlns:a="http://schemas.openxmlformats.org/drawingml/2006/main">
            <a:off x="8286750" y="4476750"/>
            <a:ext cx="152400" cy="152400"/>
          </a:xfrm>
          <a:prstGeom xmlns:a="http://schemas.openxmlformats.org/drawingml/2006/main" prst="ellipse">
            <a:avLst/>
          </a:prstGeom>
          <a:solidFill xmlns:a="http://schemas.openxmlformats.org/drawingml/2006/main">
            <a:srgbClr val="94A3B8"/>
          </a:solidFill>
          <a:ln xmlns:a="http://schemas.openxmlformats.org/drawingml/2006/main" w="0">
            <a:solidFill>
              <a:srgbClr val="94A3B8"/>
            </a:solidFill>
            <a:prstDash val="solid"/>
          </a:ln>
        </p:spPr>
        <p:txBody>
          <a:bodyPr xmlns:a="http://schemas.openxmlformats.org/drawingml/2006/main"/>
          <a:lstStyle xmlns:a="http://schemas.openxmlformats.org/drawingml/2006/main"/>
          <a:p xmlns:a="http://schemas.openxmlformats.org/drawingml/2006/main">
            <a:endParaRPr/>
          </a:p>
        </p:txBody>
      </p:sp>
      <p:sp>
        <p:nvSpPr>
          <p:cNvPr id="31" name="円/楕円 30">
            <a:extLst xmlns:a="http://schemas.openxmlformats.org/drawingml/2006/main">
              <a:ext uri="{FF2B5EF4-FFF2-40B4-BE49-F238E27FC236}">
                <a16:creationId xmlns:a16="http://schemas.microsoft.com/office/drawing/2014/main" id="{A3B35A44-407C-45B1-95B8-585D6C11D531}"/>
              </a:ext>
            </a:extLst>
          </p:cNvPr>
          <p:cNvSpPr>
            <a:spLocks xmlns:a="http://schemas.openxmlformats.org/drawingml/2006/main" noGrp="1"/>
          </p:cNvSpPr>
          <p:nvPr/>
        </p:nvSpPr>
        <p:spPr>
          <a:xfrm xmlns:a="http://schemas.openxmlformats.org/drawingml/2006/main">
            <a:off x="7143750" y="5143500"/>
            <a:ext cx="152400" cy="152400"/>
          </a:xfrm>
          <a:prstGeom xmlns:a="http://schemas.openxmlformats.org/drawingml/2006/main" prst="ellipse">
            <a:avLst/>
          </a:prstGeom>
          <a:solidFill xmlns:a="http://schemas.openxmlformats.org/drawingml/2006/main">
            <a:srgbClr val="94A3B8"/>
          </a:solidFill>
          <a:ln xmlns:a="http://schemas.openxmlformats.org/drawingml/2006/main" w="0">
            <a:solidFill>
              <a:srgbClr val="94A3B8"/>
            </a:solidFill>
            <a:prstDash val="solid"/>
          </a:ln>
        </p:spPr>
        <p:txBody>
          <a:bodyPr xmlns:a="http://schemas.openxmlformats.org/drawingml/2006/main"/>
          <a:lstStyle xmlns:a="http://schemas.openxmlformats.org/drawingml/2006/main"/>
          <a:p xmlns:a="http://schemas.openxmlformats.org/drawingml/2006/main">
            <a:endParaRPr/>
          </a:p>
        </p:txBody>
      </p:sp>
      <p:sp>
        <p:nvSpPr>
          <p:cNvPr id="32" name="円/楕円 31">
            <a:extLst xmlns:a="http://schemas.openxmlformats.org/drawingml/2006/main">
              <a:ext uri="{FF2B5EF4-FFF2-40B4-BE49-F238E27FC236}">
                <a16:creationId xmlns:a16="http://schemas.microsoft.com/office/drawing/2014/main" id="{AF558A9B-1DC5-40ED-AA92-02A818F2C3FF}"/>
              </a:ext>
            </a:extLst>
          </p:cNvPr>
          <p:cNvSpPr>
            <a:spLocks xmlns:a="http://schemas.openxmlformats.org/drawingml/2006/main" noGrp="1"/>
          </p:cNvSpPr>
          <p:nvPr/>
        </p:nvSpPr>
        <p:spPr>
          <a:xfrm xmlns:a="http://schemas.openxmlformats.org/drawingml/2006/main">
            <a:off x="6667500" y="3000375"/>
            <a:ext cx="2381250" cy="2095500"/>
          </a:xfrm>
          <a:prstGeom xmlns:a="http://schemas.openxmlformats.org/drawingml/2006/main" prst="ellipse">
            <a:avLst/>
          </a:prstGeom>
          <a:noFill xmlns:a="http://schemas.openxmlformats.org/drawingml/2006/main"/>
          <a:ln xmlns:a="http://schemas.openxmlformats.org/drawingml/2006/main" w="38100">
            <a:solidFill>
              <a:srgbClr val="F59E0B"/>
            </a:solidFill>
            <a:prstDash val="solid"/>
          </a:ln>
        </p:spPr>
        <p:txBody>
          <a:bodyPr xmlns:a="http://schemas.openxmlformats.org/drawingml/2006/main"/>
          <a:lstStyle xmlns:a="http://schemas.openxmlformats.org/drawingml/2006/main"/>
          <a:p xmlns:a="http://schemas.openxmlformats.org/drawingml/2006/main">
            <a:endParaRPr/>
          </a:p>
        </p:txBody>
      </p:sp>
      <p:sp>
        <p:nvSpPr>
          <p:cNvPr id="33" name="円/楕円 32">
            <a:extLst xmlns:a="http://schemas.openxmlformats.org/drawingml/2006/main">
              <a:ext uri="{FF2B5EF4-FFF2-40B4-BE49-F238E27FC236}">
                <a16:creationId xmlns:a16="http://schemas.microsoft.com/office/drawing/2014/main" id="{AF3663B5-E0B0-4E17-854B-8BA44B415779}"/>
              </a:ext>
            </a:extLst>
          </p:cNvPr>
          <p:cNvSpPr>
            <a:spLocks xmlns:a="http://schemas.openxmlformats.org/drawingml/2006/main" noGrp="1"/>
          </p:cNvSpPr>
          <p:nvPr/>
        </p:nvSpPr>
        <p:spPr>
          <a:xfrm xmlns:a="http://schemas.openxmlformats.org/drawingml/2006/main">
            <a:off x="7734300" y="3905250"/>
            <a:ext cx="228600" cy="228600"/>
          </a:xfrm>
          <a:prstGeom xmlns:a="http://schemas.openxmlformats.org/drawingml/2006/main" prst="ellipse">
            <a:avLst/>
          </a:prstGeom>
          <a:solidFill xmlns:a="http://schemas.openxmlformats.org/drawingml/2006/main">
            <a:srgbClr val="F59E0B"/>
          </a:solidFill>
          <a:ln xmlns:a="http://schemas.openxmlformats.org/drawingml/2006/main" w="0">
            <a:solidFill>
              <a:srgbClr val="F59E0B"/>
            </a:solidFill>
            <a:prstDash val="solid"/>
          </a:ln>
        </p:spPr>
        <p:txBody>
          <a:bodyPr xmlns:a="http://schemas.openxmlformats.org/drawingml/2006/main"/>
          <a:lstStyle xmlns:a="http://schemas.openxmlformats.org/drawingml/2006/main"/>
          <a:p xmlns:a="http://schemas.openxmlformats.org/drawingml/2006/main">
            <a:endParaRPr/>
          </a:p>
        </p:txBody>
      </p:sp>
      <p:sp>
        <p:nvSpPr>
          <p:cNvPr id="34" name="正方形/長方形 33">
            <a:extLst xmlns:a="http://schemas.openxmlformats.org/drawingml/2006/main">
              <a:ext uri="{FF2B5EF4-FFF2-40B4-BE49-F238E27FC236}">
                <a16:creationId xmlns:a16="http://schemas.microsoft.com/office/drawing/2014/main" id="{24B9E606-BFA3-41AE-82E9-9A30F7ECEB1F}"/>
              </a:ext>
            </a:extLst>
          </p:cNvPr>
          <p:cNvSpPr>
            <a:spLocks xmlns:a="http://schemas.openxmlformats.org/drawingml/2006/main" noGrp="1"/>
          </p:cNvSpPr>
          <p:nvPr/>
        </p:nvSpPr>
        <p:spPr>
          <a:xfrm xmlns:a="http://schemas.openxmlformats.org/drawingml/2006/main">
            <a:off x="8001000" y="3905250"/>
            <a:ext cx="1238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buNone/>
              <a:defRPr sz="1350" b="1">
                <a:solidFill>
                  <a:srgbClr val="F59E0B"/>
                </a:solidFill>
                <a:latin typeface="Yu Gothic"/>
                <a:ea typeface="Yu Gothic"/>
                <a:cs typeface="Yu Gothic"/>
              </a:defRPr>
            </a:pPr>
            <a:r>
              <a:rPr sz="1350" b="1">
                <a:solidFill>
                  <a:srgbClr val="F59E0B"/>
                </a:solidFill>
                <a:latin typeface="Yu Gothic"/>
                <a:ea typeface="Yu Gothic"/>
                <a:cs typeface="Yu Gothic"/>
              </a:rPr>
              <a:t>説明対象 x</a:t>
            </a:r>
          </a:p>
        </p:txBody>
      </p:sp>
      <p:cxnSp>
        <p:nvCxnSpPr>
          <p:cNvPr id="107" name="直線矢印コネクタ 71"/>
          <p:cNvCxnSpPr/>
          <p:nvPr/>
        </p:nvCxnSpPr>
        <p:spPr>
          <a:xfrm xmlns:a="http://schemas.openxmlformats.org/drawingml/2006/main">
            <a:off x="7000875" y="3571875"/>
            <a:ext cx="1762125" cy="1000125"/>
          </a:xfrm>
          <a:prstGeom xmlns:a="http://schemas.openxmlformats.org/drawingml/2006/main" prst="straightConnector1">
            <a:avLst/>
          </a:prstGeom>
          <a:ln xmlns:a="http://schemas.openxmlformats.org/drawingml/2006/main" w="57150">
            <a:solidFill>
              <a:srgbClr val="10B981"/>
            </a:solidFill>
            <a:prstDash val="solid"/>
          </a:ln>
        </p:spPr>
      </p:cxnSp>
      <p:sp>
        <p:nvSpPr>
          <p:cNvPr id="36" name="正方形/長方形 35">
            <a:extLst xmlns:a="http://schemas.openxmlformats.org/drawingml/2006/main">
              <a:ext uri="{FF2B5EF4-FFF2-40B4-BE49-F238E27FC236}">
                <a16:creationId xmlns:a16="http://schemas.microsoft.com/office/drawing/2014/main" id="{A5740B5C-ED12-4E43-B827-B09C808C38BB}"/>
              </a:ext>
            </a:extLst>
          </p:cNvPr>
          <p:cNvSpPr>
            <a:spLocks xmlns:a="http://schemas.openxmlformats.org/drawingml/2006/main" noGrp="1"/>
          </p:cNvSpPr>
          <p:nvPr/>
        </p:nvSpPr>
        <p:spPr>
          <a:xfrm xmlns:a="http://schemas.openxmlformats.org/drawingml/2006/main">
            <a:off x="6715125" y="5219700"/>
            <a:ext cx="200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buNone/>
              <a:defRPr sz="1425" b="1">
                <a:solidFill>
                  <a:srgbClr val="10B981"/>
                </a:solidFill>
                <a:latin typeface="Yu Gothic"/>
                <a:ea typeface="Yu Gothic"/>
                <a:cs typeface="Yu Gothic"/>
              </a:defRPr>
            </a:pPr>
            <a:r>
              <a:rPr sz="1425" b="1">
                <a:solidFill>
                  <a:srgbClr val="10B981"/>
                </a:solidFill>
                <a:latin typeface="Yu Gothic"/>
                <a:ea typeface="Yu Gothic"/>
                <a:cs typeface="Yu Gothic"/>
              </a:rPr>
              <a:t>局所サロゲート</a:t>
            </a:r>
          </a:p>
        </p:txBody>
      </p:sp>
      <p:sp>
        <p:nvSpPr>
          <p:cNvPr id="37" name="正方形/長方形 36">
            <a:extLst xmlns:a="http://schemas.openxmlformats.org/drawingml/2006/main">
              <a:ext uri="{FF2B5EF4-FFF2-40B4-BE49-F238E27FC236}">
                <a16:creationId xmlns:a16="http://schemas.microsoft.com/office/drawing/2014/main" id="{F282E9F2-A0B3-40E7-AB33-F83BA5CFF58D}"/>
              </a:ext>
            </a:extLst>
          </p:cNvPr>
          <p:cNvSpPr>
            <a:spLocks xmlns:a="http://schemas.openxmlformats.org/drawingml/2006/main" noGrp="1"/>
          </p:cNvSpPr>
          <p:nvPr/>
        </p:nvSpPr>
        <p:spPr>
          <a:xfrm xmlns:a="http://schemas.openxmlformats.org/drawingml/2006/main">
            <a:off x="8229600" y="5524500"/>
            <a:ext cx="285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buNone/>
              <a:defRPr sz="1425" b="0">
                <a:solidFill>
                  <a:srgbClr val="64748B"/>
                </a:solidFill>
                <a:latin typeface="Yu Gothic"/>
                <a:ea typeface="Yu Gothic"/>
                <a:cs typeface="Yu Gothic"/>
              </a:defRPr>
            </a:pPr>
            <a:r>
              <a:rPr sz="1425" b="0">
                <a:solidFill>
                  <a:srgbClr val="64748B"/>
                </a:solidFill>
                <a:latin typeface="Yu Gothic"/>
                <a:ea typeface="Yu Gothic"/>
                <a:cs typeface="Yu Gothic"/>
              </a:rPr>
              <a:t>この円の中で元モデルをまねる</a:t>
            </a:r>
          </a:p>
        </p:txBody>
      </p:sp>
    </p:spTree>
    <p:extLst>
      <p:ext uri="{BB962C8B-B14F-4D97-AF65-F5344CB8AC3E}">
        <p14:creationId xmlns:p14="http://schemas.microsoft.com/office/powerpoint/2010/main" val="1985531158"/>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6" name="正方形/長方形 35">
            <a:extLst xmlns:a="http://schemas.openxmlformats.org/drawingml/2006/main">
              <a:ext uri="{FF2B5EF4-FFF2-40B4-BE49-F238E27FC236}">
                <a16:creationId xmlns:a16="http://schemas.microsoft.com/office/drawing/2014/main" id="{E9A51388-D423-448C-A9E4-BF0E5CC22FD1}"/>
              </a:ext>
            </a:extLst>
          </p:cNvPr>
          <p:cNvSpPr>
            <a:spLocks xmlns:a="http://schemas.openxmlformats.org/drawingml/2006/main" noGrp="1"/>
          </p:cNvSpPr>
          <p:nvPr/>
        </p:nvSpPr>
        <p:spPr>
          <a:xfrm xmlns:a="http://schemas.openxmlformats.org/drawingml/2006/main">
            <a:off x="514350" y="419100"/>
            <a:ext cx="114300" cy="457200"/>
          </a:xfrm>
          <a:prstGeom xmlns:a="http://schemas.openxmlformats.org/drawingml/2006/main" prst="rect">
            <a:avLst/>
          </a:prstGeom>
          <a:solidFill xmlns:a="http://schemas.openxmlformats.org/drawingml/2006/main">
            <a:srgbClr val="2563EB"/>
          </a:solidFill>
          <a:ln xmlns:a="http://schemas.openxmlformats.org/drawingml/2006/main" w="0">
            <a:solidFill>
              <a:srgbClr val="2563EB"/>
            </a:solidFill>
            <a:prstDash val="solid"/>
          </a:ln>
        </p:spPr>
        <p:txBody>
          <a:bodyPr xmlns:a="http://schemas.openxmlformats.org/drawingml/2006/main"/>
          <a:lstStyle xmlns:a="http://schemas.openxmlformats.org/drawingml/2006/main"/>
          <a:p xmlns:a="http://schemas.openxmlformats.org/drawingml/2006/main">
            <a:endParaRPr/>
          </a:p>
        </p:txBody>
      </p:sp>
      <p:sp>
        <p:nvSpPr>
          <p:cNvPr id="2" name="slide-4-title">
            <a:extLst xmlns:a="http://schemas.openxmlformats.org/drawingml/2006/main">
              <a:ext uri="{FF2B5EF4-FFF2-40B4-BE49-F238E27FC236}">
                <a16:creationId xmlns:a16="http://schemas.microsoft.com/office/drawing/2014/main" id="{B88F81F8-218A-4596-BD6E-9744D41A4A20}"/>
              </a:ext>
            </a:extLst>
          </p:cNvPr>
          <p:cNvSpPr>
            <a:spLocks xmlns:a="http://schemas.openxmlformats.org/drawingml/2006/main" noGrp="1"/>
          </p:cNvSpPr>
          <p:nvPr/>
        </p:nvSpPr>
        <p:spPr>
          <a:xfrm xmlns:a="http://schemas.openxmlformats.org/drawingml/2006/main">
            <a:off x="800100" y="361950"/>
            <a:ext cx="10572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buNone/>
              <a:defRPr sz="2850" b="1">
                <a:solidFill>
                  <a:srgbClr val="111827"/>
                </a:solidFill>
                <a:latin typeface="Yu Gothic"/>
                <a:ea typeface="Yu Gothic"/>
                <a:cs typeface="Yu Gothic"/>
              </a:defRPr>
            </a:pPr>
            <a:r>
              <a:rPr sz="2850" b="1">
                <a:solidFill>
                  <a:srgbClr val="111827"/>
                </a:solidFill>
                <a:latin typeface="Yu Gothic"/>
                <a:ea typeface="Yu Gothic"/>
                <a:cs typeface="Yu Gothic"/>
              </a:rPr>
              <a:t>LIMEは5段階で局所説明を作る</a:t>
            </a:r>
          </a:p>
        </p:txBody>
      </p:sp>
      <p:sp>
        <p:nvSpPr>
          <p:cNvPr id="3" name="slide-4-subtitle">
            <a:extLst xmlns:a="http://schemas.openxmlformats.org/drawingml/2006/main">
              <a:ext uri="{FF2B5EF4-FFF2-40B4-BE49-F238E27FC236}">
                <a16:creationId xmlns:a16="http://schemas.microsoft.com/office/drawing/2014/main" id="{7F011AFF-F82E-4056-8755-E60B9484F856}"/>
              </a:ext>
            </a:extLst>
          </p:cNvPr>
          <p:cNvSpPr>
            <a:spLocks xmlns:a="http://schemas.openxmlformats.org/drawingml/2006/main" noGrp="1"/>
          </p:cNvSpPr>
          <p:nvPr/>
        </p:nvSpPr>
        <p:spPr>
          <a:xfrm xmlns:a="http://schemas.openxmlformats.org/drawingml/2006/main">
            <a:off x="800100" y="962025"/>
            <a:ext cx="1057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buNone/>
              <a:defRPr sz="1500" b="0">
                <a:solidFill>
                  <a:srgbClr val="64748B"/>
                </a:solidFill>
                <a:latin typeface="Yu Gothic"/>
                <a:ea typeface="Yu Gothic"/>
                <a:cs typeface="Yu Gothic"/>
              </a:defRPr>
            </a:pPr>
            <a:r>
              <a:rPr sz="1500" b="0">
                <a:solidFill>
                  <a:srgbClr val="64748B"/>
                </a:solidFill>
                <a:latin typeface="Yu Gothic"/>
                <a:ea typeface="Yu Gothic"/>
                <a:cs typeface="Yu Gothic"/>
              </a:rPr>
              <a:t>処理の流れと目的関数は「忠実性」と「単純さ」でつながる</a:t>
            </a:r>
          </a:p>
        </p:txBody>
      </p:sp>
      <p:sp>
        <p:nvSpPr>
          <p:cNvPr id="4" name="正方形/長方形 3">
            <a:extLst xmlns:a="http://schemas.openxmlformats.org/drawingml/2006/main">
              <a:ext uri="{FF2B5EF4-FFF2-40B4-BE49-F238E27FC236}">
                <a16:creationId xmlns:a16="http://schemas.microsoft.com/office/drawing/2014/main" id="{C47FC940-5C55-479C-A6B6-34DB59601FC4}"/>
              </a:ext>
            </a:extLst>
          </p:cNvPr>
          <p:cNvSpPr>
            <a:spLocks xmlns:a="http://schemas.openxmlformats.org/drawingml/2006/main" noGrp="1"/>
          </p:cNvSpPr>
          <p:nvPr/>
        </p:nvSpPr>
        <p:spPr>
          <a:xfrm xmlns:a="http://schemas.openxmlformats.org/drawingml/2006/main">
            <a:off x="11239500" y="6438900"/>
            <a:ext cx="476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buNone/>
              <a:defRPr sz="1050" b="0">
                <a:solidFill>
                  <a:srgbClr val="64748B"/>
                </a:solidFill>
                <a:latin typeface="Yu Gothic"/>
                <a:ea typeface="Yu Gothic"/>
                <a:cs typeface="Yu Gothic"/>
              </a:defRPr>
            </a:pPr>
            <a:r>
              <a:rPr sz="1050" b="0">
                <a:solidFill>
                  <a:srgbClr val="64748B"/>
                </a:solidFill>
                <a:latin typeface="Yu Gothic"/>
                <a:ea typeface="Yu Gothic"/>
                <a:cs typeface="Yu Gothic"/>
              </a:rPr>
              <a:t>04</a:t>
            </a:r>
          </a:p>
        </p:txBody>
      </p:sp>
      <p:sp>
        <p:nvSpPr>
          <p:cNvPr id="5" name="右矢印 4">
            <a:extLst xmlns:a="http://schemas.openxmlformats.org/drawingml/2006/main">
              <a:ext uri="{FF2B5EF4-FFF2-40B4-BE49-F238E27FC236}">
                <a16:creationId xmlns:a16="http://schemas.microsoft.com/office/drawing/2014/main" id="{6B8844ED-9B4C-4FD8-B3C7-0C35C419C242}"/>
              </a:ext>
            </a:extLst>
          </p:cNvPr>
          <p:cNvSpPr>
            <a:spLocks xmlns:a="http://schemas.openxmlformats.org/drawingml/2006/main" noGrp="1"/>
          </p:cNvSpPr>
          <p:nvPr/>
        </p:nvSpPr>
        <p:spPr>
          <a:xfrm xmlns:a="http://schemas.openxmlformats.org/drawingml/2006/main">
            <a:off x="2466975" y="2143125"/>
            <a:ext cx="666750" cy="266700"/>
          </a:xfrm>
          <a:prstGeom xmlns:a="http://schemas.openxmlformats.org/drawingml/2006/main" prst="rightArrow">
            <a:avLst/>
          </a:prstGeom>
          <a:solidFill xmlns:a="http://schemas.openxmlformats.org/drawingml/2006/main">
            <a:srgbClr val="2563EB"/>
          </a:solidFill>
          <a:ln xmlns:a="http://schemas.openxmlformats.org/drawingml/2006/main" w="0">
            <a:solidFill>
              <a:srgbClr val="2563EB"/>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右矢印 5">
            <a:extLst xmlns:a="http://schemas.openxmlformats.org/drawingml/2006/main">
              <a:ext uri="{FF2B5EF4-FFF2-40B4-BE49-F238E27FC236}">
                <a16:creationId xmlns:a16="http://schemas.microsoft.com/office/drawing/2014/main" id="{67C2B32D-8EF8-4A7C-8154-1888A139DE4C}"/>
              </a:ext>
            </a:extLst>
          </p:cNvPr>
          <p:cNvSpPr>
            <a:spLocks xmlns:a="http://schemas.openxmlformats.org/drawingml/2006/main" noGrp="1"/>
          </p:cNvSpPr>
          <p:nvPr/>
        </p:nvSpPr>
        <p:spPr>
          <a:xfrm xmlns:a="http://schemas.openxmlformats.org/drawingml/2006/main">
            <a:off x="4752975" y="2143125"/>
            <a:ext cx="666750" cy="266700"/>
          </a:xfrm>
          <a:prstGeom xmlns:a="http://schemas.openxmlformats.org/drawingml/2006/main" prst="rightArrow">
            <a:avLst/>
          </a:prstGeom>
          <a:solidFill xmlns:a="http://schemas.openxmlformats.org/drawingml/2006/main">
            <a:srgbClr val="2563EB"/>
          </a:solidFill>
          <a:ln xmlns:a="http://schemas.openxmlformats.org/drawingml/2006/main" w="0">
            <a:solidFill>
              <a:srgbClr val="2563EB"/>
            </a:solidFill>
            <a:prstDash val="solid"/>
          </a:ln>
        </p:spPr>
        <p:txBody>
          <a:bodyPr xmlns:a="http://schemas.openxmlformats.org/drawingml/2006/main"/>
          <a:lstStyle xmlns:a="http://schemas.openxmlformats.org/drawingml/2006/main"/>
          <a:p xmlns:a="http://schemas.openxmlformats.org/drawingml/2006/main">
            <a:endParaRPr/>
          </a:p>
        </p:txBody>
      </p:sp>
      <p:sp>
        <p:nvSpPr>
          <p:cNvPr id="7" name="右矢印 6">
            <a:extLst xmlns:a="http://schemas.openxmlformats.org/drawingml/2006/main">
              <a:ext uri="{FF2B5EF4-FFF2-40B4-BE49-F238E27FC236}">
                <a16:creationId xmlns:a16="http://schemas.microsoft.com/office/drawing/2014/main" id="{BBE321E7-6135-48F1-9E66-4280517DA3C0}"/>
              </a:ext>
            </a:extLst>
          </p:cNvPr>
          <p:cNvSpPr>
            <a:spLocks xmlns:a="http://schemas.openxmlformats.org/drawingml/2006/main" noGrp="1"/>
          </p:cNvSpPr>
          <p:nvPr/>
        </p:nvSpPr>
        <p:spPr>
          <a:xfrm xmlns:a="http://schemas.openxmlformats.org/drawingml/2006/main">
            <a:off x="7038975" y="2143125"/>
            <a:ext cx="666750" cy="266700"/>
          </a:xfrm>
          <a:prstGeom xmlns:a="http://schemas.openxmlformats.org/drawingml/2006/main" prst="rightArrow">
            <a:avLst/>
          </a:prstGeom>
          <a:solidFill xmlns:a="http://schemas.openxmlformats.org/drawingml/2006/main">
            <a:srgbClr val="2563EB"/>
          </a:solidFill>
          <a:ln xmlns:a="http://schemas.openxmlformats.org/drawingml/2006/main" w="0">
            <a:solidFill>
              <a:srgbClr val="2563EB"/>
            </a:solidFill>
            <a:prstDash val="solid"/>
          </a:ln>
        </p:spPr>
        <p:txBody>
          <a:bodyPr xmlns:a="http://schemas.openxmlformats.org/drawingml/2006/main"/>
          <a:lstStyle xmlns:a="http://schemas.openxmlformats.org/drawingml/2006/main"/>
          <a:p xmlns:a="http://schemas.openxmlformats.org/drawingml/2006/main">
            <a:endParaRPr/>
          </a:p>
        </p:txBody>
      </p:sp>
      <p:sp>
        <p:nvSpPr>
          <p:cNvPr id="8" name="右矢印 7">
            <a:extLst xmlns:a="http://schemas.openxmlformats.org/drawingml/2006/main">
              <a:ext uri="{FF2B5EF4-FFF2-40B4-BE49-F238E27FC236}">
                <a16:creationId xmlns:a16="http://schemas.microsoft.com/office/drawing/2014/main" id="{E4BF2AAE-ABE2-4360-99D9-6B9B2A8A3003}"/>
              </a:ext>
            </a:extLst>
          </p:cNvPr>
          <p:cNvSpPr>
            <a:spLocks xmlns:a="http://schemas.openxmlformats.org/drawingml/2006/main" noGrp="1"/>
          </p:cNvSpPr>
          <p:nvPr/>
        </p:nvSpPr>
        <p:spPr>
          <a:xfrm xmlns:a="http://schemas.openxmlformats.org/drawingml/2006/main">
            <a:off x="9324975" y="2143125"/>
            <a:ext cx="666750" cy="266700"/>
          </a:xfrm>
          <a:prstGeom xmlns:a="http://schemas.openxmlformats.org/drawingml/2006/main" prst="rightArrow">
            <a:avLst/>
          </a:prstGeom>
          <a:solidFill xmlns:a="http://schemas.openxmlformats.org/drawingml/2006/main">
            <a:srgbClr val="2563EB"/>
          </a:solidFill>
          <a:ln xmlns:a="http://schemas.openxmlformats.org/drawingml/2006/main" w="0">
            <a:solidFill>
              <a:srgbClr val="2563EB"/>
            </a:solidFill>
            <a:prstDash val="solid"/>
          </a:ln>
        </p:spPr>
        <p:txBody>
          <a:bodyPr xmlns:a="http://schemas.openxmlformats.org/drawingml/2006/main"/>
          <a:lstStyle xmlns:a="http://schemas.openxmlformats.org/drawingml/2006/main"/>
          <a:p xmlns:a="http://schemas.openxmlformats.org/drawingml/2006/main">
            <a:endParaRPr/>
          </a:p>
        </p:txBody>
      </p:sp>
      <p:sp>
        <p:nvSpPr>
          <p:cNvPr id="9" name="正方形/長方形 8">
            <a:extLst xmlns:a="http://schemas.openxmlformats.org/drawingml/2006/main">
              <a:ext uri="{FF2B5EF4-FFF2-40B4-BE49-F238E27FC236}">
                <a16:creationId xmlns:a16="http://schemas.microsoft.com/office/drawing/2014/main" id="{803CF79B-E99E-4B55-AE67-BA4C56704DB4}"/>
              </a:ext>
            </a:extLst>
          </p:cNvPr>
          <p:cNvSpPr>
            <a:spLocks xmlns:a="http://schemas.openxmlformats.org/drawingml/2006/main" noGrp="1"/>
          </p:cNvSpPr>
          <p:nvPr/>
        </p:nvSpPr>
        <p:spPr>
          <a:xfrm xmlns:a="http://schemas.openxmlformats.org/drawingml/2006/main">
            <a:off x="514350" y="1600200"/>
            <a:ext cx="1952625" cy="1381125"/>
          </a:xfrm>
          <a:prstGeom xmlns:a="http://schemas.openxmlformats.org/drawingml/2006/main" prst="rect">
            <a:avLst/>
          </a:prstGeom>
          <a:solidFill xmlns:a="http://schemas.openxmlformats.org/drawingml/2006/main">
            <a:srgbClr val="F3F4F6"/>
          </a:solidFill>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endParaRPr/>
          </a:p>
        </p:txBody>
      </p:sp>
      <p:sp>
        <p:nvSpPr>
          <p:cNvPr id="10" name="正方形/長方形 9">
            <a:extLst xmlns:a="http://schemas.openxmlformats.org/drawingml/2006/main">
              <a:ext uri="{FF2B5EF4-FFF2-40B4-BE49-F238E27FC236}">
                <a16:creationId xmlns:a16="http://schemas.microsoft.com/office/drawing/2014/main" id="{3C100994-F9AB-40C7-899C-AACB47AB9CCC}"/>
              </a:ext>
            </a:extLst>
          </p:cNvPr>
          <p:cNvSpPr>
            <a:spLocks xmlns:a="http://schemas.openxmlformats.org/drawingml/2006/main" noGrp="1"/>
          </p:cNvSpPr>
          <p:nvPr/>
        </p:nvSpPr>
        <p:spPr>
          <a:xfrm xmlns:a="http://schemas.openxmlformats.org/drawingml/2006/main">
            <a:off x="685800" y="1752600"/>
            <a:ext cx="476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buNone/>
              <a:defRPr sz="1275" b="1">
                <a:solidFill>
                  <a:srgbClr val="2563EB"/>
                </a:solidFill>
                <a:latin typeface="Yu Gothic"/>
                <a:ea typeface="Yu Gothic"/>
                <a:cs typeface="Yu Gothic"/>
              </a:defRPr>
            </a:pPr>
            <a:r>
              <a:rPr sz="1275" b="1">
                <a:solidFill>
                  <a:srgbClr val="2563EB"/>
                </a:solidFill>
                <a:latin typeface="Yu Gothic"/>
                <a:ea typeface="Yu Gothic"/>
                <a:cs typeface="Yu Gothic"/>
              </a:rPr>
              <a:t>01</a:t>
            </a:r>
          </a:p>
        </p:txBody>
      </p:sp>
      <p:sp>
        <p:nvSpPr>
          <p:cNvPr id="11" name="正方形/長方形 10">
            <a:extLst xmlns:a="http://schemas.openxmlformats.org/drawingml/2006/main">
              <a:ext uri="{FF2B5EF4-FFF2-40B4-BE49-F238E27FC236}">
                <a16:creationId xmlns:a16="http://schemas.microsoft.com/office/drawing/2014/main" id="{36A6719D-46B1-4863-B69E-E4D5F12A458D}"/>
              </a:ext>
            </a:extLst>
          </p:cNvPr>
          <p:cNvSpPr>
            <a:spLocks xmlns:a="http://schemas.openxmlformats.org/drawingml/2006/main" noGrp="1"/>
          </p:cNvSpPr>
          <p:nvPr/>
        </p:nvSpPr>
        <p:spPr>
          <a:xfrm xmlns:a="http://schemas.openxmlformats.org/drawingml/2006/main">
            <a:off x="685800" y="2114550"/>
            <a:ext cx="1609725"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buNone/>
              <a:defRPr sz="1500" b="1">
                <a:solidFill>
                  <a:srgbClr val="111827"/>
                </a:solidFill>
                <a:latin typeface="Yu Gothic"/>
                <a:ea typeface="Yu Gothic"/>
                <a:cs typeface="Yu Gothic"/>
              </a:defRPr>
            </a:pPr>
            <a:r>
              <a:rPr sz="1500" b="1">
                <a:solidFill>
                  <a:srgbClr val="111827"/>
                </a:solidFill>
                <a:latin typeface="Yu Gothic"/>
                <a:ea typeface="Yu Gothic"/>
                <a:cs typeface="Yu Gothic"/>
              </a:rPr>
              <a:t>説明対象を</a:t>
            </a:r>
          </a:p>
          <a:p xmlns:a="http://schemas.openxmlformats.org/drawingml/2006/main">
            <a:pPr algn="ctr">
              <a:buNone/>
              <a:defRPr sz="1500" b="1">
                <a:solidFill>
                  <a:srgbClr val="111827"/>
                </a:solidFill>
                <a:latin typeface="Yu Gothic"/>
                <a:ea typeface="Yu Gothic"/>
                <a:cs typeface="Yu Gothic"/>
              </a:defRPr>
            </a:pPr>
            <a:r>
              <a:rPr sz="1500" b="1">
                <a:solidFill>
                  <a:srgbClr val="111827"/>
                </a:solidFill>
                <a:latin typeface="Yu Gothic"/>
                <a:ea typeface="Yu Gothic"/>
                <a:cs typeface="Yu Gothic"/>
              </a:rPr>
              <a:t>1つ選ぶ</a:t>
            </a:r>
          </a:p>
        </p:txBody>
      </p:sp>
      <p:sp>
        <p:nvSpPr>
          <p:cNvPr id="12" name="正方形/長方形 11">
            <a:extLst xmlns:a="http://schemas.openxmlformats.org/drawingml/2006/main">
              <a:ext uri="{FF2B5EF4-FFF2-40B4-BE49-F238E27FC236}">
                <a16:creationId xmlns:a16="http://schemas.microsoft.com/office/drawing/2014/main" id="{C839CFBB-15B4-41BC-9B25-7A14C64A2BEC}"/>
              </a:ext>
            </a:extLst>
          </p:cNvPr>
          <p:cNvSpPr>
            <a:spLocks xmlns:a="http://schemas.openxmlformats.org/drawingml/2006/main" noGrp="1"/>
          </p:cNvSpPr>
          <p:nvPr/>
        </p:nvSpPr>
        <p:spPr>
          <a:xfrm xmlns:a="http://schemas.openxmlformats.org/drawingml/2006/main">
            <a:off x="2800350" y="1600200"/>
            <a:ext cx="1952625" cy="1381125"/>
          </a:xfrm>
          <a:prstGeom xmlns:a="http://schemas.openxmlformats.org/drawingml/2006/main" prst="rect">
            <a:avLst/>
          </a:prstGeom>
          <a:solidFill xmlns:a="http://schemas.openxmlformats.org/drawingml/2006/main">
            <a:srgbClr val="F3F4F6"/>
          </a:solidFill>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endParaRPr/>
          </a:p>
        </p:txBody>
      </p:sp>
      <p:sp>
        <p:nvSpPr>
          <p:cNvPr id="13" name="正方形/長方形 12">
            <a:extLst xmlns:a="http://schemas.openxmlformats.org/drawingml/2006/main">
              <a:ext uri="{FF2B5EF4-FFF2-40B4-BE49-F238E27FC236}">
                <a16:creationId xmlns:a16="http://schemas.microsoft.com/office/drawing/2014/main" id="{0E56D9E4-5496-473E-BB29-D0567A20BC36}"/>
              </a:ext>
            </a:extLst>
          </p:cNvPr>
          <p:cNvSpPr>
            <a:spLocks xmlns:a="http://schemas.openxmlformats.org/drawingml/2006/main" noGrp="1"/>
          </p:cNvSpPr>
          <p:nvPr/>
        </p:nvSpPr>
        <p:spPr>
          <a:xfrm xmlns:a="http://schemas.openxmlformats.org/drawingml/2006/main">
            <a:off x="2971800" y="1752600"/>
            <a:ext cx="476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buNone/>
              <a:defRPr sz="1275" b="1">
                <a:solidFill>
                  <a:srgbClr val="2563EB"/>
                </a:solidFill>
                <a:latin typeface="Yu Gothic"/>
                <a:ea typeface="Yu Gothic"/>
                <a:cs typeface="Yu Gothic"/>
              </a:defRPr>
            </a:pPr>
            <a:r>
              <a:rPr sz="1275" b="1">
                <a:solidFill>
                  <a:srgbClr val="2563EB"/>
                </a:solidFill>
                <a:latin typeface="Yu Gothic"/>
                <a:ea typeface="Yu Gothic"/>
                <a:cs typeface="Yu Gothic"/>
              </a:rPr>
              <a:t>02</a:t>
            </a:r>
          </a:p>
        </p:txBody>
      </p:sp>
      <p:sp>
        <p:nvSpPr>
          <p:cNvPr id="14" name="正方形/長方形 13">
            <a:extLst xmlns:a="http://schemas.openxmlformats.org/drawingml/2006/main">
              <a:ext uri="{FF2B5EF4-FFF2-40B4-BE49-F238E27FC236}">
                <a16:creationId xmlns:a16="http://schemas.microsoft.com/office/drawing/2014/main" id="{79C05803-1C44-4C10-AB37-D683DA88F741}"/>
              </a:ext>
            </a:extLst>
          </p:cNvPr>
          <p:cNvSpPr>
            <a:spLocks xmlns:a="http://schemas.openxmlformats.org/drawingml/2006/main" noGrp="1"/>
          </p:cNvSpPr>
          <p:nvPr/>
        </p:nvSpPr>
        <p:spPr>
          <a:xfrm xmlns:a="http://schemas.openxmlformats.org/drawingml/2006/main">
            <a:off x="2971800" y="2114550"/>
            <a:ext cx="1609725"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buNone/>
              <a:defRPr sz="1500" b="1">
                <a:solidFill>
                  <a:srgbClr val="111827"/>
                </a:solidFill>
                <a:latin typeface="Yu Gothic"/>
                <a:ea typeface="Yu Gothic"/>
                <a:cs typeface="Yu Gothic"/>
              </a:defRPr>
            </a:pPr>
            <a:r>
              <a:rPr sz="1500" b="1">
                <a:solidFill>
                  <a:srgbClr val="111827"/>
                </a:solidFill>
                <a:latin typeface="Yu Gothic"/>
                <a:ea typeface="Yu Gothic"/>
                <a:cs typeface="Yu Gothic"/>
              </a:rPr>
              <a:t>近傍サンプルを</a:t>
            </a:r>
          </a:p>
          <a:p xmlns:a="http://schemas.openxmlformats.org/drawingml/2006/main">
            <a:pPr algn="ctr">
              <a:buNone/>
              <a:defRPr sz="1500" b="1">
                <a:solidFill>
                  <a:srgbClr val="111827"/>
                </a:solidFill>
                <a:latin typeface="Yu Gothic"/>
                <a:ea typeface="Yu Gothic"/>
                <a:cs typeface="Yu Gothic"/>
              </a:defRPr>
            </a:pPr>
            <a:r>
              <a:rPr sz="1500" b="1">
                <a:solidFill>
                  <a:srgbClr val="111827"/>
                </a:solidFill>
                <a:latin typeface="Yu Gothic"/>
                <a:ea typeface="Yu Gothic"/>
                <a:cs typeface="Yu Gothic"/>
              </a:rPr>
              <a:t>多数作る</a:t>
            </a:r>
          </a:p>
        </p:txBody>
      </p:sp>
      <p:sp>
        <p:nvSpPr>
          <p:cNvPr id="15" name="正方形/長方形 14">
            <a:extLst xmlns:a="http://schemas.openxmlformats.org/drawingml/2006/main">
              <a:ext uri="{FF2B5EF4-FFF2-40B4-BE49-F238E27FC236}">
                <a16:creationId xmlns:a16="http://schemas.microsoft.com/office/drawing/2014/main" id="{1A9597DE-D3C9-49E6-B9E8-9CF1432A6438}"/>
              </a:ext>
            </a:extLst>
          </p:cNvPr>
          <p:cNvSpPr>
            <a:spLocks xmlns:a="http://schemas.openxmlformats.org/drawingml/2006/main" noGrp="1"/>
          </p:cNvSpPr>
          <p:nvPr/>
        </p:nvSpPr>
        <p:spPr>
          <a:xfrm xmlns:a="http://schemas.openxmlformats.org/drawingml/2006/main">
            <a:off x="5086350" y="1600200"/>
            <a:ext cx="1952625" cy="1381125"/>
          </a:xfrm>
          <a:prstGeom xmlns:a="http://schemas.openxmlformats.org/drawingml/2006/main" prst="rect">
            <a:avLst/>
          </a:prstGeom>
          <a:solidFill xmlns:a="http://schemas.openxmlformats.org/drawingml/2006/main">
            <a:srgbClr val="F3F4F6"/>
          </a:solidFill>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endParaRPr/>
          </a:p>
        </p:txBody>
      </p:sp>
      <p:sp>
        <p:nvSpPr>
          <p:cNvPr id="16" name="正方形/長方形 15">
            <a:extLst xmlns:a="http://schemas.openxmlformats.org/drawingml/2006/main">
              <a:ext uri="{FF2B5EF4-FFF2-40B4-BE49-F238E27FC236}">
                <a16:creationId xmlns:a16="http://schemas.microsoft.com/office/drawing/2014/main" id="{707F0283-81BB-4D64-837A-AE24550C7FDC}"/>
              </a:ext>
            </a:extLst>
          </p:cNvPr>
          <p:cNvSpPr>
            <a:spLocks xmlns:a="http://schemas.openxmlformats.org/drawingml/2006/main" noGrp="1"/>
          </p:cNvSpPr>
          <p:nvPr/>
        </p:nvSpPr>
        <p:spPr>
          <a:xfrm xmlns:a="http://schemas.openxmlformats.org/drawingml/2006/main">
            <a:off x="5257800" y="1752600"/>
            <a:ext cx="476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buNone/>
              <a:defRPr sz="1275" b="1">
                <a:solidFill>
                  <a:srgbClr val="2563EB"/>
                </a:solidFill>
                <a:latin typeface="Yu Gothic"/>
                <a:ea typeface="Yu Gothic"/>
                <a:cs typeface="Yu Gothic"/>
              </a:defRPr>
            </a:pPr>
            <a:r>
              <a:rPr sz="1275" b="1">
                <a:solidFill>
                  <a:srgbClr val="2563EB"/>
                </a:solidFill>
                <a:latin typeface="Yu Gothic"/>
                <a:ea typeface="Yu Gothic"/>
                <a:cs typeface="Yu Gothic"/>
              </a:rPr>
              <a:t>03</a:t>
            </a:r>
          </a:p>
        </p:txBody>
      </p:sp>
      <p:sp>
        <p:nvSpPr>
          <p:cNvPr id="17" name="正方形/長方形 16">
            <a:extLst xmlns:a="http://schemas.openxmlformats.org/drawingml/2006/main">
              <a:ext uri="{FF2B5EF4-FFF2-40B4-BE49-F238E27FC236}">
                <a16:creationId xmlns:a16="http://schemas.microsoft.com/office/drawing/2014/main" id="{0BE24583-8266-43EE-9569-8E14A7E8F2DE}"/>
              </a:ext>
            </a:extLst>
          </p:cNvPr>
          <p:cNvSpPr>
            <a:spLocks xmlns:a="http://schemas.openxmlformats.org/drawingml/2006/main" noGrp="1"/>
          </p:cNvSpPr>
          <p:nvPr/>
        </p:nvSpPr>
        <p:spPr>
          <a:xfrm xmlns:a="http://schemas.openxmlformats.org/drawingml/2006/main">
            <a:off x="5257800" y="2114550"/>
            <a:ext cx="1609725"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buNone/>
              <a:defRPr sz="1500" b="1">
                <a:solidFill>
                  <a:srgbClr val="111827"/>
                </a:solidFill>
                <a:latin typeface="Yu Gothic"/>
                <a:ea typeface="Yu Gothic"/>
                <a:cs typeface="Yu Gothic"/>
              </a:defRPr>
            </a:pPr>
            <a:r>
              <a:rPr sz="1500" b="1">
                <a:solidFill>
                  <a:srgbClr val="111827"/>
                </a:solidFill>
                <a:latin typeface="Yu Gothic"/>
                <a:ea typeface="Yu Gothic"/>
                <a:cs typeface="Yu Gothic"/>
              </a:rPr>
              <a:t>ブラックボックスの</a:t>
            </a:r>
          </a:p>
          <a:p xmlns:a="http://schemas.openxmlformats.org/drawingml/2006/main">
            <a:pPr algn="ctr">
              <a:buNone/>
              <a:defRPr sz="1500" b="1">
                <a:solidFill>
                  <a:srgbClr val="111827"/>
                </a:solidFill>
                <a:latin typeface="Yu Gothic"/>
                <a:ea typeface="Yu Gothic"/>
                <a:cs typeface="Yu Gothic"/>
              </a:defRPr>
            </a:pPr>
            <a:r>
              <a:rPr sz="1500" b="1">
                <a:solidFill>
                  <a:srgbClr val="111827"/>
                </a:solidFill>
                <a:latin typeface="Yu Gothic"/>
                <a:ea typeface="Yu Gothic"/>
                <a:cs typeface="Yu Gothic"/>
              </a:rPr>
              <a:t>予測を得る</a:t>
            </a:r>
          </a:p>
        </p:txBody>
      </p:sp>
      <p:sp>
        <p:nvSpPr>
          <p:cNvPr id="18" name="正方形/長方形 17">
            <a:extLst xmlns:a="http://schemas.openxmlformats.org/drawingml/2006/main">
              <a:ext uri="{FF2B5EF4-FFF2-40B4-BE49-F238E27FC236}">
                <a16:creationId xmlns:a16="http://schemas.microsoft.com/office/drawing/2014/main" id="{B87BCA31-032B-40B5-B864-3F5D99033DC7}"/>
              </a:ext>
            </a:extLst>
          </p:cNvPr>
          <p:cNvSpPr>
            <a:spLocks xmlns:a="http://schemas.openxmlformats.org/drawingml/2006/main" noGrp="1"/>
          </p:cNvSpPr>
          <p:nvPr/>
        </p:nvSpPr>
        <p:spPr>
          <a:xfrm xmlns:a="http://schemas.openxmlformats.org/drawingml/2006/main">
            <a:off x="7372350" y="1600200"/>
            <a:ext cx="1952625" cy="1381125"/>
          </a:xfrm>
          <a:prstGeom xmlns:a="http://schemas.openxmlformats.org/drawingml/2006/main" prst="rect">
            <a:avLst/>
          </a:prstGeom>
          <a:solidFill xmlns:a="http://schemas.openxmlformats.org/drawingml/2006/main">
            <a:srgbClr val="F3F4F6"/>
          </a:solidFill>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endParaRPr/>
          </a:p>
        </p:txBody>
      </p:sp>
      <p:sp>
        <p:nvSpPr>
          <p:cNvPr id="19" name="正方形/長方形 18">
            <a:extLst xmlns:a="http://schemas.openxmlformats.org/drawingml/2006/main">
              <a:ext uri="{FF2B5EF4-FFF2-40B4-BE49-F238E27FC236}">
                <a16:creationId xmlns:a16="http://schemas.microsoft.com/office/drawing/2014/main" id="{0E68EC00-BE7D-427A-AECF-BDECEA00EA02}"/>
              </a:ext>
            </a:extLst>
          </p:cNvPr>
          <p:cNvSpPr>
            <a:spLocks xmlns:a="http://schemas.openxmlformats.org/drawingml/2006/main" noGrp="1"/>
          </p:cNvSpPr>
          <p:nvPr/>
        </p:nvSpPr>
        <p:spPr>
          <a:xfrm xmlns:a="http://schemas.openxmlformats.org/drawingml/2006/main">
            <a:off x="7543800" y="1752600"/>
            <a:ext cx="476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buNone/>
              <a:defRPr sz="1275" b="1">
                <a:solidFill>
                  <a:srgbClr val="2563EB"/>
                </a:solidFill>
                <a:latin typeface="Yu Gothic"/>
                <a:ea typeface="Yu Gothic"/>
                <a:cs typeface="Yu Gothic"/>
              </a:defRPr>
            </a:pPr>
            <a:r>
              <a:rPr sz="1275" b="1">
                <a:solidFill>
                  <a:srgbClr val="2563EB"/>
                </a:solidFill>
                <a:latin typeface="Yu Gothic"/>
                <a:ea typeface="Yu Gothic"/>
                <a:cs typeface="Yu Gothic"/>
              </a:rPr>
              <a:t>04</a:t>
            </a:r>
          </a:p>
        </p:txBody>
      </p:sp>
      <p:sp>
        <p:nvSpPr>
          <p:cNvPr id="20" name="正方形/長方形 19">
            <a:extLst xmlns:a="http://schemas.openxmlformats.org/drawingml/2006/main">
              <a:ext uri="{FF2B5EF4-FFF2-40B4-BE49-F238E27FC236}">
                <a16:creationId xmlns:a16="http://schemas.microsoft.com/office/drawing/2014/main" id="{99234844-DF1C-46D6-B875-BEDA4551C528}"/>
              </a:ext>
            </a:extLst>
          </p:cNvPr>
          <p:cNvSpPr>
            <a:spLocks xmlns:a="http://schemas.openxmlformats.org/drawingml/2006/main" noGrp="1"/>
          </p:cNvSpPr>
          <p:nvPr/>
        </p:nvSpPr>
        <p:spPr>
          <a:xfrm xmlns:a="http://schemas.openxmlformats.org/drawingml/2006/main">
            <a:off x="7543800" y="2114550"/>
            <a:ext cx="1609725"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buNone/>
              <a:defRPr sz="1500" b="1">
                <a:solidFill>
                  <a:srgbClr val="111827"/>
                </a:solidFill>
                <a:latin typeface="Yu Gothic"/>
                <a:ea typeface="Yu Gothic"/>
                <a:cs typeface="Yu Gothic"/>
              </a:defRPr>
            </a:pPr>
            <a:r>
              <a:rPr sz="1500" b="1">
                <a:solidFill>
                  <a:srgbClr val="111827"/>
                </a:solidFill>
                <a:latin typeface="Yu Gothic"/>
                <a:ea typeface="Yu Gothic"/>
                <a:cs typeface="Yu Gothic"/>
              </a:rPr>
              <a:t>近いサンプルを</a:t>
            </a:r>
          </a:p>
          <a:p xmlns:a="http://schemas.openxmlformats.org/drawingml/2006/main">
            <a:pPr algn="ctr">
              <a:buNone/>
              <a:defRPr sz="1500" b="1">
                <a:solidFill>
                  <a:srgbClr val="111827"/>
                </a:solidFill>
                <a:latin typeface="Yu Gothic"/>
                <a:ea typeface="Yu Gothic"/>
                <a:cs typeface="Yu Gothic"/>
              </a:defRPr>
            </a:pPr>
            <a:r>
              <a:rPr sz="1500" b="1">
                <a:solidFill>
                  <a:srgbClr val="111827"/>
                </a:solidFill>
                <a:latin typeface="Yu Gothic"/>
                <a:ea typeface="Yu Gothic"/>
                <a:cs typeface="Yu Gothic"/>
              </a:rPr>
              <a:t>強く重み付け</a:t>
            </a:r>
          </a:p>
        </p:txBody>
      </p:sp>
      <p:sp>
        <p:nvSpPr>
          <p:cNvPr id="21" name="正方形/長方形 20">
            <a:extLst xmlns:a="http://schemas.openxmlformats.org/drawingml/2006/main">
              <a:ext uri="{FF2B5EF4-FFF2-40B4-BE49-F238E27FC236}">
                <a16:creationId xmlns:a16="http://schemas.microsoft.com/office/drawing/2014/main" id="{1D073FBD-B191-4B1C-A83B-0FF5ED0650F7}"/>
              </a:ext>
            </a:extLst>
          </p:cNvPr>
          <p:cNvSpPr>
            <a:spLocks xmlns:a="http://schemas.openxmlformats.org/drawingml/2006/main" noGrp="1"/>
          </p:cNvSpPr>
          <p:nvPr/>
        </p:nvSpPr>
        <p:spPr>
          <a:xfrm xmlns:a="http://schemas.openxmlformats.org/drawingml/2006/main">
            <a:off x="9658350" y="1600200"/>
            <a:ext cx="1952625" cy="1381125"/>
          </a:xfrm>
          <a:prstGeom xmlns:a="http://schemas.openxmlformats.org/drawingml/2006/main" prst="rect">
            <a:avLst/>
          </a:prstGeom>
          <a:solidFill xmlns:a="http://schemas.openxmlformats.org/drawingml/2006/main">
            <a:srgbClr val="D1FAE5"/>
          </a:solidFill>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a:endParaRPr/>
          </a:p>
        </p:txBody>
      </p:sp>
      <p:sp>
        <p:nvSpPr>
          <p:cNvPr id="22" name="正方形/長方形 21">
            <a:extLst xmlns:a="http://schemas.openxmlformats.org/drawingml/2006/main">
              <a:ext uri="{FF2B5EF4-FFF2-40B4-BE49-F238E27FC236}">
                <a16:creationId xmlns:a16="http://schemas.microsoft.com/office/drawing/2014/main" id="{96538127-B9A1-44C0-B12F-9AB935469740}"/>
              </a:ext>
            </a:extLst>
          </p:cNvPr>
          <p:cNvSpPr>
            <a:spLocks xmlns:a="http://schemas.openxmlformats.org/drawingml/2006/main" noGrp="1"/>
          </p:cNvSpPr>
          <p:nvPr/>
        </p:nvSpPr>
        <p:spPr>
          <a:xfrm xmlns:a="http://schemas.openxmlformats.org/drawingml/2006/main">
            <a:off x="9829800" y="1752600"/>
            <a:ext cx="476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buNone/>
              <a:defRPr sz="1275" b="1">
                <a:solidFill>
                  <a:srgbClr val="10B981"/>
                </a:solidFill>
                <a:latin typeface="Yu Gothic"/>
                <a:ea typeface="Yu Gothic"/>
                <a:cs typeface="Yu Gothic"/>
              </a:defRPr>
            </a:pPr>
            <a:r>
              <a:rPr sz="1275" b="1">
                <a:solidFill>
                  <a:srgbClr val="10B981"/>
                </a:solidFill>
                <a:latin typeface="Yu Gothic"/>
                <a:ea typeface="Yu Gothic"/>
                <a:cs typeface="Yu Gothic"/>
              </a:rPr>
              <a:t>05</a:t>
            </a:r>
          </a:p>
        </p:txBody>
      </p:sp>
      <p:sp>
        <p:nvSpPr>
          <p:cNvPr id="23" name="正方形/長方形 22">
            <a:extLst xmlns:a="http://schemas.openxmlformats.org/drawingml/2006/main">
              <a:ext uri="{FF2B5EF4-FFF2-40B4-BE49-F238E27FC236}">
                <a16:creationId xmlns:a16="http://schemas.microsoft.com/office/drawing/2014/main" id="{5C38DA0D-55F7-486D-823A-59D68EB35847}"/>
              </a:ext>
            </a:extLst>
          </p:cNvPr>
          <p:cNvSpPr>
            <a:spLocks xmlns:a="http://schemas.openxmlformats.org/drawingml/2006/main" noGrp="1"/>
          </p:cNvSpPr>
          <p:nvPr/>
        </p:nvSpPr>
        <p:spPr>
          <a:xfrm xmlns:a="http://schemas.openxmlformats.org/drawingml/2006/main">
            <a:off x="9829800" y="2114550"/>
            <a:ext cx="1609725"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buNone/>
              <a:defRPr sz="1500" b="1">
                <a:solidFill>
                  <a:srgbClr val="111827"/>
                </a:solidFill>
                <a:latin typeface="Yu Gothic"/>
                <a:ea typeface="Yu Gothic"/>
                <a:cs typeface="Yu Gothic"/>
              </a:defRPr>
            </a:pPr>
            <a:r>
              <a:rPr sz="1500" b="1">
                <a:solidFill>
                  <a:srgbClr val="111827"/>
                </a:solidFill>
                <a:latin typeface="Yu Gothic"/>
                <a:ea typeface="Yu Gothic"/>
                <a:cs typeface="Yu Gothic"/>
              </a:rPr>
              <a:t>単純な局所モデルを</a:t>
            </a:r>
          </a:p>
          <a:p xmlns:a="http://schemas.openxmlformats.org/drawingml/2006/main">
            <a:pPr algn="ctr">
              <a:buNone/>
              <a:defRPr sz="1500" b="1">
                <a:solidFill>
                  <a:srgbClr val="111827"/>
                </a:solidFill>
                <a:latin typeface="Yu Gothic"/>
                <a:ea typeface="Yu Gothic"/>
                <a:cs typeface="Yu Gothic"/>
              </a:defRPr>
            </a:pPr>
            <a:r>
              <a:rPr sz="1500" b="1">
                <a:solidFill>
                  <a:srgbClr val="111827"/>
                </a:solidFill>
                <a:latin typeface="Yu Gothic"/>
                <a:ea typeface="Yu Gothic"/>
                <a:cs typeface="Yu Gothic"/>
              </a:rPr>
              <a:t>学習する</a:t>
            </a:r>
          </a:p>
        </p:txBody>
      </p:sp>
      <p:cxnSp>
        <p:nvCxnSpPr>
          <p:cNvPr id="83" name="直線矢印コネクタ 58"/>
          <p:cNvCxnSpPr/>
          <p:nvPr/>
        </p:nvCxnSpPr>
        <p:spPr>
          <a:xfrm xmlns:a="http://schemas.openxmlformats.org/drawingml/2006/main">
            <a:off x="523875" y="3362325"/>
            <a:ext cx="11049000" cy="0"/>
          </a:xfrm>
          <a:prstGeom xmlns:a="http://schemas.openxmlformats.org/drawingml/2006/main" prst="straightConnector1">
            <a:avLst/>
          </a:prstGeom>
          <a:ln xmlns:a="http://schemas.openxmlformats.org/drawingml/2006/main" w="19050">
            <a:solidFill>
              <a:srgbClr val="CBD5E1"/>
            </a:solidFill>
            <a:prstDash val="solid"/>
          </a:ln>
        </p:spPr>
      </p:cxnSp>
      <p:sp>
        <p:nvSpPr>
          <p:cNvPr id="25" name="正方形/長方形 24">
            <a:extLst xmlns:a="http://schemas.openxmlformats.org/drawingml/2006/main">
              <a:ext uri="{FF2B5EF4-FFF2-40B4-BE49-F238E27FC236}">
                <a16:creationId xmlns:a16="http://schemas.microsoft.com/office/drawing/2014/main" id="{F978DE0E-8795-4644-A05E-64B77F5DF41C}"/>
              </a:ext>
            </a:extLst>
          </p:cNvPr>
          <p:cNvSpPr>
            <a:spLocks xmlns:a="http://schemas.openxmlformats.org/drawingml/2006/main" noGrp="1"/>
          </p:cNvSpPr>
          <p:nvPr/>
        </p:nvSpPr>
        <p:spPr>
          <a:xfrm xmlns:a="http://schemas.openxmlformats.org/drawingml/2006/main">
            <a:off x="666750" y="3667125"/>
            <a:ext cx="2476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buNone/>
              <a:defRPr sz="1800" b="1">
                <a:solidFill>
                  <a:srgbClr val="2563EB"/>
                </a:solidFill>
                <a:latin typeface="Yu Gothic"/>
                <a:ea typeface="Yu Gothic"/>
                <a:cs typeface="Yu Gothic"/>
              </a:defRPr>
            </a:pPr>
            <a:r>
              <a:rPr sz="1800" b="1">
                <a:solidFill>
                  <a:srgbClr val="2563EB"/>
                </a:solidFill>
                <a:latin typeface="Yu Gothic"/>
                <a:ea typeface="Yu Gothic"/>
                <a:cs typeface="Yu Gothic"/>
              </a:rPr>
              <a:t>LIMEの目的関数</a:t>
            </a:r>
          </a:p>
        </p:txBody>
      </p:sp>
      <p:sp>
        <p:nvSpPr>
          <p:cNvPr id="26" name="正方形/長方形 25">
            <a:extLst xmlns:a="http://schemas.openxmlformats.org/drawingml/2006/main">
              <a:ext uri="{FF2B5EF4-FFF2-40B4-BE49-F238E27FC236}">
                <a16:creationId xmlns:a16="http://schemas.microsoft.com/office/drawing/2014/main" id="{F09652C9-8153-4244-83C0-D400D15A0ADE}"/>
              </a:ext>
            </a:extLst>
          </p:cNvPr>
          <p:cNvSpPr>
            <a:spLocks xmlns:a="http://schemas.openxmlformats.org/drawingml/2006/main" noGrp="1"/>
          </p:cNvSpPr>
          <p:nvPr/>
        </p:nvSpPr>
        <p:spPr>
          <a:xfrm xmlns:a="http://schemas.openxmlformats.org/drawingml/2006/main">
            <a:off x="2476500" y="4238625"/>
            <a:ext cx="14287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buNone/>
              <a:defRPr sz="2550" b="1">
                <a:solidFill>
                  <a:srgbClr val="111827"/>
                </a:solidFill>
                <a:latin typeface="Cambria Math"/>
                <a:ea typeface="Cambria Math"/>
                <a:cs typeface="Cambria Math"/>
              </a:defRPr>
            </a:pPr>
            <a:r>
              <a:rPr sz="2550" b="1">
                <a:solidFill>
                  <a:srgbClr val="111827"/>
                </a:solidFill>
                <a:latin typeface="Cambria Math"/>
                <a:ea typeface="Cambria Math"/>
                <a:cs typeface="Cambria Math"/>
              </a:rPr>
              <a:t>ξ(x) =</a:t>
            </a:r>
          </a:p>
        </p:txBody>
      </p:sp>
      <p:sp>
        <p:nvSpPr>
          <p:cNvPr id="27" name="正方形/長方形 26">
            <a:extLst xmlns:a="http://schemas.openxmlformats.org/drawingml/2006/main">
              <a:ext uri="{FF2B5EF4-FFF2-40B4-BE49-F238E27FC236}">
                <a16:creationId xmlns:a16="http://schemas.microsoft.com/office/drawing/2014/main" id="{DD816D76-BD5E-4936-8F81-8DE16ECCD1CB}"/>
              </a:ext>
            </a:extLst>
          </p:cNvPr>
          <p:cNvSpPr>
            <a:spLocks xmlns:a="http://schemas.openxmlformats.org/drawingml/2006/main" noGrp="1"/>
          </p:cNvSpPr>
          <p:nvPr/>
        </p:nvSpPr>
        <p:spPr>
          <a:xfrm xmlns:a="http://schemas.openxmlformats.org/drawingml/2006/main">
            <a:off x="3905250" y="4133850"/>
            <a:ext cx="1524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buNone/>
              <a:defRPr sz="2550" b="1">
                <a:solidFill>
                  <a:srgbClr val="111827"/>
                </a:solidFill>
                <a:latin typeface="Cambria Math"/>
                <a:ea typeface="Cambria Math"/>
                <a:cs typeface="Cambria Math"/>
              </a:defRPr>
            </a:pPr>
            <a:r>
              <a:rPr sz="2550" b="1">
                <a:solidFill>
                  <a:srgbClr val="111827"/>
                </a:solidFill>
                <a:latin typeface="Cambria Math"/>
                <a:ea typeface="Cambria Math"/>
                <a:cs typeface="Cambria Math"/>
              </a:rPr>
              <a:t>arg</a:t>
            </a:r>
            <a:r>
              <a:rPr sz="2550" b="1">
                <a:solidFill>
                  <a:srgbClr val="111827"/>
                </a:solidFill>
                <a:latin typeface="Cambria Math"/>
                <a:ea typeface="Cambria Math"/>
                <a:cs typeface="Cambria Math"/>
              </a:rPr>
              <a:t> min</a:t>
            </a:r>
          </a:p>
        </p:txBody>
      </p:sp>
      <p:sp>
        <p:nvSpPr>
          <p:cNvPr id="28" name="正方形/長方形 27">
            <a:extLst xmlns:a="http://schemas.openxmlformats.org/drawingml/2006/main">
              <a:ext uri="{FF2B5EF4-FFF2-40B4-BE49-F238E27FC236}">
                <a16:creationId xmlns:a16="http://schemas.microsoft.com/office/drawing/2014/main" id="{2287E875-21D8-45D1-8938-217819775223}"/>
              </a:ext>
            </a:extLst>
          </p:cNvPr>
          <p:cNvSpPr>
            <a:spLocks xmlns:a="http://schemas.openxmlformats.org/drawingml/2006/main" noGrp="1"/>
          </p:cNvSpPr>
          <p:nvPr/>
        </p:nvSpPr>
        <p:spPr>
          <a:xfrm xmlns:a="http://schemas.openxmlformats.org/drawingml/2006/main">
            <a:off x="4143375" y="4552950"/>
            <a:ext cx="1047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buNone/>
              <a:defRPr sz="1350" b="0">
                <a:solidFill>
                  <a:srgbClr val="111827"/>
                </a:solidFill>
                <a:latin typeface="Cambria Math"/>
                <a:ea typeface="Cambria Math"/>
                <a:cs typeface="Cambria Math"/>
              </a:defRPr>
            </a:pPr>
            <a:r>
              <a:rPr sz="1350" b="0">
                <a:solidFill>
                  <a:srgbClr val="111827"/>
                </a:solidFill>
                <a:latin typeface="Cambria Math"/>
                <a:ea typeface="Cambria Math"/>
                <a:cs typeface="Cambria Math"/>
              </a:rPr>
              <a:t>g ∈ G</a:t>
            </a:r>
          </a:p>
        </p:txBody>
      </p:sp>
      <p:sp>
        <p:nvSpPr>
          <p:cNvPr id="29" name="正方形/長方形 28">
            <a:extLst xmlns:a="http://schemas.openxmlformats.org/drawingml/2006/main">
              <a:ext uri="{FF2B5EF4-FFF2-40B4-BE49-F238E27FC236}">
                <a16:creationId xmlns:a16="http://schemas.microsoft.com/office/drawing/2014/main" id="{D5B2C96D-C8AF-4E11-9BD9-FE8F82D3D24E}"/>
              </a:ext>
            </a:extLst>
          </p:cNvPr>
          <p:cNvSpPr>
            <a:spLocks xmlns:a="http://schemas.openxmlformats.org/drawingml/2006/main" noGrp="1"/>
          </p:cNvSpPr>
          <p:nvPr/>
        </p:nvSpPr>
        <p:spPr>
          <a:xfrm xmlns:a="http://schemas.openxmlformats.org/drawingml/2006/main">
            <a:off x="5429250" y="4238625"/>
            <a:ext cx="44767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buNone/>
              <a:defRPr sz="2550" b="1">
                <a:solidFill>
                  <a:srgbClr val="111827"/>
                </a:solidFill>
                <a:latin typeface="Cambria Math"/>
                <a:ea typeface="Cambria Math"/>
                <a:cs typeface="Cambria Math"/>
              </a:defRPr>
            </a:pPr>
            <a:r>
              <a:rPr sz="2550" b="1">
                <a:solidFill>
                  <a:srgbClr val="111827"/>
                </a:solidFill>
                <a:latin typeface="Cambria Math"/>
                <a:ea typeface="Cambria Math"/>
                <a:cs typeface="Cambria Math"/>
              </a:rPr>
              <a:t>{ L(f, g, πₓ) + </a:t>
            </a:r>
            <a:r>
              <a:rPr sz="2550" b="1">
                <a:solidFill>
                  <a:srgbClr val="111827"/>
                </a:solidFill>
                <a:latin typeface="Cambria Math"/>
                <a:ea typeface="Cambria Math"/>
                <a:cs typeface="Cambria Math"/>
              </a:rPr>
              <a:t>Ω</a:t>
            </a:r>
            <a:r>
              <a:rPr sz="2550" b="1">
                <a:solidFill>
                  <a:srgbClr val="111827"/>
                </a:solidFill>
                <a:latin typeface="Cambria Math"/>
                <a:ea typeface="Cambria Math"/>
                <a:cs typeface="Cambria Math"/>
              </a:rPr>
              <a:t>(g) }</a:t>
            </a:r>
          </a:p>
        </p:txBody>
      </p:sp>
      <p:sp>
        <p:nvSpPr>
          <p:cNvPr id="30" name="正方形/長方形 29">
            <a:extLst xmlns:a="http://schemas.openxmlformats.org/drawingml/2006/main">
              <a:ext uri="{FF2B5EF4-FFF2-40B4-BE49-F238E27FC236}">
                <a16:creationId xmlns:a16="http://schemas.microsoft.com/office/drawing/2014/main" id="{ADC570E3-8068-49BC-8287-8DBD23FB616F}"/>
              </a:ext>
            </a:extLst>
          </p:cNvPr>
          <p:cNvSpPr>
            <a:spLocks xmlns:a="http://schemas.openxmlformats.org/drawingml/2006/main" noGrp="1"/>
          </p:cNvSpPr>
          <p:nvPr/>
        </p:nvSpPr>
        <p:spPr>
          <a:xfrm xmlns:a="http://schemas.openxmlformats.org/drawingml/2006/main">
            <a:off x="1524000" y="5048250"/>
            <a:ext cx="4000500" cy="742950"/>
          </a:xfrm>
          <a:prstGeom xmlns:a="http://schemas.openxmlformats.org/drawingml/2006/main" prst="rect">
            <a:avLst/>
          </a:prstGeom>
          <a:solidFill xmlns:a="http://schemas.openxmlformats.org/drawingml/2006/main">
            <a:srgbClr val="DBEAFE"/>
          </a:solidFill>
          <a:ln xmlns:a="http://schemas.openxmlformats.org/drawingml/2006/main" w="0">
            <a:solidFill>
              <a:srgbClr val="2563EB"/>
            </a:solidFill>
            <a:prstDash val="solid"/>
          </a:ln>
        </p:spPr>
        <p:txBody>
          <a:bodyPr xmlns:a="http://schemas.openxmlformats.org/drawingml/2006/main"/>
          <a:lstStyle xmlns:a="http://schemas.openxmlformats.org/drawingml/2006/main"/>
          <a:p xmlns:a="http://schemas.openxmlformats.org/drawingml/2006/main">
            <a:endParaRPr/>
          </a:p>
        </p:txBody>
      </p:sp>
      <p:sp>
        <p:nvSpPr>
          <p:cNvPr id="31" name="正方形/長方形 30">
            <a:extLst xmlns:a="http://schemas.openxmlformats.org/drawingml/2006/main">
              <a:ext uri="{FF2B5EF4-FFF2-40B4-BE49-F238E27FC236}">
                <a16:creationId xmlns:a16="http://schemas.microsoft.com/office/drawing/2014/main" id="{44DF11AC-6EF3-4048-8180-BFB46459E624}"/>
              </a:ext>
            </a:extLst>
          </p:cNvPr>
          <p:cNvSpPr>
            <a:spLocks xmlns:a="http://schemas.openxmlformats.org/drawingml/2006/main" noGrp="1"/>
          </p:cNvSpPr>
          <p:nvPr/>
        </p:nvSpPr>
        <p:spPr>
          <a:xfrm xmlns:a="http://schemas.openxmlformats.org/drawingml/2006/main">
            <a:off x="1714500" y="5153025"/>
            <a:ext cx="3619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buNone/>
              <a:defRPr sz="1575" b="1">
                <a:solidFill>
                  <a:srgbClr val="2563EB"/>
                </a:solidFill>
                <a:latin typeface="Yu Gothic"/>
                <a:ea typeface="Yu Gothic"/>
                <a:cs typeface="Yu Gothic"/>
              </a:defRPr>
            </a:pPr>
            <a:r>
              <a:rPr sz="1575" b="1">
                <a:solidFill>
                  <a:srgbClr val="2563EB"/>
                </a:solidFill>
                <a:latin typeface="Yu Gothic"/>
                <a:ea typeface="Yu Gothic"/>
                <a:cs typeface="Yu Gothic"/>
              </a:rPr>
              <a:t>L(f, g, πₓ)</a:t>
            </a:r>
          </a:p>
          <a:p xmlns:a="http://schemas.openxmlformats.org/drawingml/2006/main">
            <a:pPr algn="ctr">
              <a:buNone/>
              <a:defRPr sz="1575" b="1">
                <a:solidFill>
                  <a:srgbClr val="2563EB"/>
                </a:solidFill>
                <a:latin typeface="Yu Gothic"/>
                <a:ea typeface="Yu Gothic"/>
                <a:cs typeface="Yu Gothic"/>
              </a:defRPr>
            </a:pPr>
            <a:r>
              <a:rPr sz="1575" b="1">
                <a:solidFill>
                  <a:srgbClr val="2563EB"/>
                </a:solidFill>
                <a:latin typeface="Yu Gothic"/>
                <a:ea typeface="Yu Gothic"/>
                <a:cs typeface="Yu Gothic"/>
              </a:rPr>
              <a:t>対象点の近くで予測を再現</a:t>
            </a:r>
          </a:p>
        </p:txBody>
      </p:sp>
      <p:sp>
        <p:nvSpPr>
          <p:cNvPr id="32" name="正方形/長方形 31">
            <a:extLst xmlns:a="http://schemas.openxmlformats.org/drawingml/2006/main">
              <a:ext uri="{FF2B5EF4-FFF2-40B4-BE49-F238E27FC236}">
                <a16:creationId xmlns:a16="http://schemas.microsoft.com/office/drawing/2014/main" id="{B08EA841-27BB-487C-AD94-F0AB9A1BA6B1}"/>
              </a:ext>
            </a:extLst>
          </p:cNvPr>
          <p:cNvSpPr>
            <a:spLocks xmlns:a="http://schemas.openxmlformats.org/drawingml/2006/main" noGrp="1"/>
          </p:cNvSpPr>
          <p:nvPr/>
        </p:nvSpPr>
        <p:spPr>
          <a:xfrm xmlns:a="http://schemas.openxmlformats.org/drawingml/2006/main">
            <a:off x="5791200" y="5191125"/>
            <a:ext cx="5524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buNone/>
              <a:defRPr sz="2400" b="1">
                <a:solidFill>
                  <a:srgbClr val="111827"/>
                </a:solidFill>
                <a:latin typeface="Yu Gothic"/>
                <a:ea typeface="Yu Gothic"/>
                <a:cs typeface="Yu Gothic"/>
              </a:defRPr>
            </a:pPr>
            <a:r>
              <a:rPr sz="2400" b="1">
                <a:solidFill>
                  <a:srgbClr val="111827"/>
                </a:solidFill>
                <a:latin typeface="Yu Gothic"/>
                <a:ea typeface="Yu Gothic"/>
                <a:cs typeface="Yu Gothic"/>
              </a:rPr>
              <a:t>＋</a:t>
            </a:r>
          </a:p>
        </p:txBody>
      </p:sp>
      <p:sp>
        <p:nvSpPr>
          <p:cNvPr id="33" name="正方形/長方形 32">
            <a:extLst xmlns:a="http://schemas.openxmlformats.org/drawingml/2006/main">
              <a:ext uri="{FF2B5EF4-FFF2-40B4-BE49-F238E27FC236}">
                <a16:creationId xmlns:a16="http://schemas.microsoft.com/office/drawing/2014/main" id="{BA684434-869B-46F4-9C4F-52D923F007E0}"/>
              </a:ext>
            </a:extLst>
          </p:cNvPr>
          <p:cNvSpPr>
            <a:spLocks xmlns:a="http://schemas.openxmlformats.org/drawingml/2006/main" noGrp="1"/>
          </p:cNvSpPr>
          <p:nvPr/>
        </p:nvSpPr>
        <p:spPr>
          <a:xfrm xmlns:a="http://schemas.openxmlformats.org/drawingml/2006/main">
            <a:off x="6572250" y="5048250"/>
            <a:ext cx="4000500" cy="742950"/>
          </a:xfrm>
          <a:prstGeom xmlns:a="http://schemas.openxmlformats.org/drawingml/2006/main" prst="rect">
            <a:avLst/>
          </a:prstGeom>
          <a:solidFill xmlns:a="http://schemas.openxmlformats.org/drawingml/2006/main">
            <a:srgbClr val="D1FAE5"/>
          </a:solidFill>
          <a:ln xmlns:a="http://schemas.openxmlformats.org/drawingml/2006/main" w="0">
            <a:solidFill>
              <a:srgbClr val="10B981"/>
            </a:solidFill>
            <a:prstDash val="solid"/>
          </a:ln>
        </p:spPr>
        <p:txBody>
          <a:bodyPr xmlns:a="http://schemas.openxmlformats.org/drawingml/2006/main"/>
          <a:lstStyle xmlns:a="http://schemas.openxmlformats.org/drawingml/2006/main"/>
          <a:p xmlns:a="http://schemas.openxmlformats.org/drawingml/2006/main">
            <a:endParaRPr/>
          </a:p>
        </p:txBody>
      </p:sp>
      <p:sp>
        <p:nvSpPr>
          <p:cNvPr id="34" name="正方形/長方形 33">
            <a:extLst xmlns:a="http://schemas.openxmlformats.org/drawingml/2006/main">
              <a:ext uri="{FF2B5EF4-FFF2-40B4-BE49-F238E27FC236}">
                <a16:creationId xmlns:a16="http://schemas.microsoft.com/office/drawing/2014/main" id="{6E00E308-AD4A-4754-94BA-164218CABF44}"/>
              </a:ext>
            </a:extLst>
          </p:cNvPr>
          <p:cNvSpPr>
            <a:spLocks xmlns:a="http://schemas.openxmlformats.org/drawingml/2006/main" noGrp="1"/>
          </p:cNvSpPr>
          <p:nvPr/>
        </p:nvSpPr>
        <p:spPr>
          <a:xfrm xmlns:a="http://schemas.openxmlformats.org/drawingml/2006/main">
            <a:off x="6762750" y="5153025"/>
            <a:ext cx="3619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buNone/>
              <a:defRPr sz="1575" b="1">
                <a:solidFill>
                  <a:srgbClr val="10B981"/>
                </a:solidFill>
                <a:latin typeface="Yu Gothic"/>
                <a:ea typeface="Yu Gothic"/>
                <a:cs typeface="Yu Gothic"/>
              </a:defRPr>
            </a:pPr>
            <a:r>
              <a:rPr sz="1575" b="1">
                <a:solidFill>
                  <a:srgbClr val="10B981"/>
                </a:solidFill>
                <a:latin typeface="Yu Gothic"/>
                <a:ea typeface="Yu Gothic"/>
                <a:cs typeface="Yu Gothic"/>
              </a:rPr>
              <a:t>Ω(g)</a:t>
            </a:r>
          </a:p>
          <a:p xmlns:a="http://schemas.openxmlformats.org/drawingml/2006/main">
            <a:pPr algn="ctr">
              <a:buNone/>
              <a:defRPr sz="1575" b="1">
                <a:solidFill>
                  <a:srgbClr val="10B981"/>
                </a:solidFill>
                <a:latin typeface="Yu Gothic"/>
                <a:ea typeface="Yu Gothic"/>
                <a:cs typeface="Yu Gothic"/>
              </a:defRPr>
            </a:pPr>
            <a:r>
              <a:rPr sz="1575" b="1">
                <a:solidFill>
                  <a:srgbClr val="10B981"/>
                </a:solidFill>
                <a:latin typeface="Yu Gothic"/>
                <a:ea typeface="Yu Gothic"/>
                <a:cs typeface="Yu Gothic"/>
              </a:rPr>
              <a:t>人が理解できる程度に単純</a:t>
            </a:r>
          </a:p>
        </p:txBody>
      </p:sp>
      <p:sp>
        <p:nvSpPr>
          <p:cNvPr id="35" name="正方形/長方形 34">
            <a:extLst xmlns:a="http://schemas.openxmlformats.org/drawingml/2006/main">
              <a:ext uri="{FF2B5EF4-FFF2-40B4-BE49-F238E27FC236}">
                <a16:creationId xmlns:a16="http://schemas.microsoft.com/office/drawing/2014/main" id="{B2AE5D1C-8582-4703-94A3-93C7DA5A4462}"/>
              </a:ext>
            </a:extLst>
          </p:cNvPr>
          <p:cNvSpPr>
            <a:spLocks xmlns:a="http://schemas.openxmlformats.org/drawingml/2006/main" noGrp="1"/>
          </p:cNvSpPr>
          <p:nvPr/>
        </p:nvSpPr>
        <p:spPr>
          <a:xfrm xmlns:a="http://schemas.openxmlformats.org/drawingml/2006/main">
            <a:off x="3333750" y="6019800"/>
            <a:ext cx="5524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buNone/>
              <a:defRPr sz="1650" b="1">
                <a:solidFill>
                  <a:srgbClr val="111827"/>
                </a:solidFill>
                <a:latin typeface="Yu Gothic"/>
                <a:ea typeface="Yu Gothic"/>
                <a:cs typeface="Yu Gothic"/>
              </a:defRPr>
            </a:pPr>
            <a:r>
              <a:rPr sz="1650" b="1">
                <a:solidFill>
                  <a:srgbClr val="111827"/>
                </a:solidFill>
                <a:latin typeface="Yu Gothic"/>
                <a:ea typeface="Yu Gothic"/>
                <a:cs typeface="Yu Gothic"/>
              </a:rPr>
              <a:t>良い説明 ＝ 局所的な再現性 ＋ 説明の単純さ</a:t>
            </a:r>
          </a:p>
        </p:txBody>
      </p:sp>
    </p:spTree>
    <p:extLst>
      <p:ext uri="{BB962C8B-B14F-4D97-AF65-F5344CB8AC3E}">
        <p14:creationId xmlns:p14="http://schemas.microsoft.com/office/powerpoint/2010/main" val="1263146687"/>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8" name="正方形/長方形 27">
            <a:extLst xmlns:a="http://schemas.openxmlformats.org/drawingml/2006/main">
              <a:ext uri="{FF2B5EF4-FFF2-40B4-BE49-F238E27FC236}">
                <a16:creationId xmlns:a16="http://schemas.microsoft.com/office/drawing/2014/main" id="{0E5513AE-D463-432D-A0C5-9022E7C37BAE}"/>
              </a:ext>
            </a:extLst>
          </p:cNvPr>
          <p:cNvSpPr>
            <a:spLocks xmlns:a="http://schemas.openxmlformats.org/drawingml/2006/main" noGrp="1"/>
          </p:cNvSpPr>
          <p:nvPr/>
        </p:nvSpPr>
        <p:spPr>
          <a:xfrm xmlns:a="http://schemas.openxmlformats.org/drawingml/2006/main">
            <a:off x="514350" y="419100"/>
            <a:ext cx="114300" cy="457200"/>
          </a:xfrm>
          <a:prstGeom xmlns:a="http://schemas.openxmlformats.org/drawingml/2006/main" prst="rect">
            <a:avLst/>
          </a:prstGeom>
          <a:solidFill xmlns:a="http://schemas.openxmlformats.org/drawingml/2006/main">
            <a:srgbClr val="2563EB"/>
          </a:solidFill>
          <a:ln xmlns:a="http://schemas.openxmlformats.org/drawingml/2006/main" w="0">
            <a:solidFill>
              <a:srgbClr val="2563EB"/>
            </a:solidFill>
            <a:prstDash val="solid"/>
          </a:ln>
        </p:spPr>
        <p:txBody>
          <a:bodyPr xmlns:a="http://schemas.openxmlformats.org/drawingml/2006/main"/>
          <a:lstStyle xmlns:a="http://schemas.openxmlformats.org/drawingml/2006/main"/>
          <a:p xmlns:a="http://schemas.openxmlformats.org/drawingml/2006/main">
            <a:endParaRPr/>
          </a:p>
        </p:txBody>
      </p:sp>
      <p:sp>
        <p:nvSpPr>
          <p:cNvPr id="2" name="slide-5-title">
            <a:extLst xmlns:a="http://schemas.openxmlformats.org/drawingml/2006/main">
              <a:ext uri="{FF2B5EF4-FFF2-40B4-BE49-F238E27FC236}">
                <a16:creationId xmlns:a16="http://schemas.microsoft.com/office/drawing/2014/main" id="{772F1BB3-F6ED-4F4A-B5AD-6C57B9A7C460}"/>
              </a:ext>
            </a:extLst>
          </p:cNvPr>
          <p:cNvSpPr>
            <a:spLocks xmlns:a="http://schemas.openxmlformats.org/drawingml/2006/main" noGrp="1"/>
          </p:cNvSpPr>
          <p:nvPr/>
        </p:nvSpPr>
        <p:spPr>
          <a:xfrm xmlns:a="http://schemas.openxmlformats.org/drawingml/2006/main">
            <a:off x="800100" y="361950"/>
            <a:ext cx="10572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buNone/>
              <a:defRPr sz="2850" b="1">
                <a:solidFill>
                  <a:srgbClr val="111827"/>
                </a:solidFill>
                <a:latin typeface="Yu Gothic"/>
                <a:ea typeface="Yu Gothic"/>
                <a:cs typeface="Yu Gothic"/>
              </a:defRPr>
            </a:pPr>
            <a:r>
              <a:rPr sz="2850" b="1">
                <a:solidFill>
                  <a:srgbClr val="111827"/>
                </a:solidFill>
                <a:latin typeface="Yu Gothic"/>
                <a:ea typeface="Yu Gothic"/>
                <a:cs typeface="Yu Gothic"/>
              </a:rPr>
              <a:t>LIMEは「対象クラス vs その他」を説明する</a:t>
            </a:r>
          </a:p>
        </p:txBody>
      </p:sp>
      <p:sp>
        <p:nvSpPr>
          <p:cNvPr id="3" name="slide-5-subtitle">
            <a:extLst xmlns:a="http://schemas.openxmlformats.org/drawingml/2006/main">
              <a:ext uri="{FF2B5EF4-FFF2-40B4-BE49-F238E27FC236}">
                <a16:creationId xmlns:a16="http://schemas.microsoft.com/office/drawing/2014/main" id="{B835CB3E-DA0D-4FCC-8945-0F6CE70ED1BB}"/>
              </a:ext>
            </a:extLst>
          </p:cNvPr>
          <p:cNvSpPr>
            <a:spLocks xmlns:a="http://schemas.openxmlformats.org/drawingml/2006/main" noGrp="1"/>
          </p:cNvSpPr>
          <p:nvPr/>
        </p:nvSpPr>
        <p:spPr>
          <a:xfrm xmlns:a="http://schemas.openxmlformats.org/drawingml/2006/main">
            <a:off x="800100" y="962025"/>
            <a:ext cx="1057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buNone/>
              <a:defRPr sz="1500" b="0">
                <a:solidFill>
                  <a:srgbClr val="64748B"/>
                </a:solidFill>
                <a:latin typeface="Yu Gothic"/>
                <a:ea typeface="Yu Gothic"/>
                <a:cs typeface="Yu Gothic"/>
              </a:defRPr>
            </a:pPr>
            <a:r>
              <a:rPr sz="1500" b="0">
                <a:solidFill>
                  <a:srgbClr val="64748B"/>
                </a:solidFill>
                <a:latin typeface="Yu Gothic"/>
                <a:ea typeface="Yu Gothic"/>
                <a:cs typeface="Yu Gothic"/>
              </a:rPr>
              <a:t>まずは生存・非生存の2値分類として読む</a:t>
            </a:r>
          </a:p>
        </p:txBody>
      </p:sp>
      <p:sp>
        <p:nvSpPr>
          <p:cNvPr id="4" name="正方形/長方形 3">
            <a:extLst xmlns:a="http://schemas.openxmlformats.org/drawingml/2006/main">
              <a:ext uri="{FF2B5EF4-FFF2-40B4-BE49-F238E27FC236}">
                <a16:creationId xmlns:a16="http://schemas.microsoft.com/office/drawing/2014/main" id="{B84E8C3F-4873-4A78-855A-F2F549C3353C}"/>
              </a:ext>
            </a:extLst>
          </p:cNvPr>
          <p:cNvSpPr>
            <a:spLocks xmlns:a="http://schemas.openxmlformats.org/drawingml/2006/main" noGrp="1"/>
          </p:cNvSpPr>
          <p:nvPr/>
        </p:nvSpPr>
        <p:spPr>
          <a:xfrm xmlns:a="http://schemas.openxmlformats.org/drawingml/2006/main">
            <a:off x="11239500" y="6438900"/>
            <a:ext cx="476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buNone/>
              <a:defRPr sz="1050" b="0">
                <a:solidFill>
                  <a:srgbClr val="64748B"/>
                </a:solidFill>
                <a:latin typeface="Yu Gothic"/>
                <a:ea typeface="Yu Gothic"/>
                <a:cs typeface="Yu Gothic"/>
              </a:defRPr>
            </a:pPr>
            <a:r>
              <a:rPr sz="1050" b="0">
                <a:solidFill>
                  <a:srgbClr val="64748B"/>
                </a:solidFill>
                <a:latin typeface="Yu Gothic"/>
                <a:ea typeface="Yu Gothic"/>
                <a:cs typeface="Yu Gothic"/>
              </a:rPr>
              <a:t>05</a:t>
            </a:r>
          </a:p>
        </p:txBody>
      </p:sp>
      <p:sp>
        <p:nvSpPr>
          <p:cNvPr id="5" name="正方形/長方形 4">
            <a:extLst xmlns:a="http://schemas.openxmlformats.org/drawingml/2006/main">
              <a:ext uri="{FF2B5EF4-FFF2-40B4-BE49-F238E27FC236}">
                <a16:creationId xmlns:a16="http://schemas.microsoft.com/office/drawing/2014/main" id="{2FFA0381-F443-4D97-80EF-57478058C8E2}"/>
              </a:ext>
            </a:extLst>
          </p:cNvPr>
          <p:cNvSpPr>
            <a:spLocks xmlns:a="http://schemas.openxmlformats.org/drawingml/2006/main" noGrp="1"/>
          </p:cNvSpPr>
          <p:nvPr/>
        </p:nvSpPr>
        <p:spPr>
          <a:xfrm xmlns:a="http://schemas.openxmlformats.org/drawingml/2006/main">
            <a:off x="762000" y="1524000"/>
            <a:ext cx="6572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buNone/>
              <a:defRPr sz="1800" b="1">
                <a:solidFill>
                  <a:srgbClr val="111827"/>
                </a:solidFill>
                <a:latin typeface="Yu Gothic"/>
                <a:ea typeface="Yu Gothic"/>
                <a:cs typeface="Yu Gothic"/>
              </a:defRPr>
            </a:pPr>
            <a:r>
              <a:rPr sz="1800" b="1">
                <a:solidFill>
                  <a:srgbClr val="111827"/>
                </a:solidFill>
                <a:latin typeface="Yu Gothic"/>
                <a:ea typeface="Yu Gothic"/>
                <a:cs typeface="Yu Gothic"/>
              </a:rPr>
              <a:t>「生存」に対する局所的な特徴の重み</a:t>
            </a:r>
          </a:p>
        </p:txBody>
      </p:sp>
      <p:cxnSp>
        <p:nvCxnSpPr>
          <p:cNvPr id="39" name="直線矢印コネクタ 32"/>
          <p:cNvCxnSpPr/>
          <p:nvPr/>
        </p:nvCxnSpPr>
        <p:spPr>
          <a:xfrm xmlns:a="http://schemas.openxmlformats.org/drawingml/2006/main">
            <a:off x="4095750" y="1952625"/>
            <a:ext cx="0" cy="2952750"/>
          </a:xfrm>
          <a:prstGeom xmlns:a="http://schemas.openxmlformats.org/drawingml/2006/main" prst="straightConnector1">
            <a:avLst/>
          </a:prstGeom>
          <a:ln xmlns:a="http://schemas.openxmlformats.org/drawingml/2006/main" w="19050">
            <a:solidFill>
              <a:srgbClr val="111827"/>
            </a:solidFill>
            <a:prstDash val="solid"/>
          </a:ln>
        </p:spPr>
      </p:cxnSp>
      <p:sp>
        <p:nvSpPr>
          <p:cNvPr id="7" name="正方形/長方形 6">
            <a:extLst xmlns:a="http://schemas.openxmlformats.org/drawingml/2006/main">
              <a:ext uri="{FF2B5EF4-FFF2-40B4-BE49-F238E27FC236}">
                <a16:creationId xmlns:a16="http://schemas.microsoft.com/office/drawing/2014/main" id="{5CF82F03-FAB6-4E07-A512-61D6874CD037}"/>
              </a:ext>
            </a:extLst>
          </p:cNvPr>
          <p:cNvSpPr>
            <a:spLocks xmlns:a="http://schemas.openxmlformats.org/drawingml/2006/main" noGrp="1"/>
          </p:cNvSpPr>
          <p:nvPr/>
        </p:nvSpPr>
        <p:spPr>
          <a:xfrm xmlns:a="http://schemas.openxmlformats.org/drawingml/2006/main">
            <a:off x="2381250" y="1952625"/>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buNone/>
              <a:defRPr sz="1275" b="1">
                <a:solidFill>
                  <a:srgbClr val="EF4444"/>
                </a:solidFill>
                <a:latin typeface="Yu Gothic"/>
                <a:ea typeface="Yu Gothic"/>
                <a:cs typeface="Yu Gothic"/>
              </a:defRPr>
            </a:pPr>
            <a:r>
              <a:rPr sz="1275" b="1">
                <a:solidFill>
                  <a:srgbClr val="EF4444"/>
                </a:solidFill>
                <a:latin typeface="Yu Gothic"/>
                <a:ea typeface="Yu Gothic"/>
                <a:cs typeface="Yu Gothic"/>
              </a:rPr>
              <a:t>生存を抑える</a:t>
            </a:r>
          </a:p>
        </p:txBody>
      </p:sp>
      <p:sp>
        <p:nvSpPr>
          <p:cNvPr id="8" name="正方形/長方形 7">
            <a:extLst xmlns:a="http://schemas.openxmlformats.org/drawingml/2006/main">
              <a:ext uri="{FF2B5EF4-FFF2-40B4-BE49-F238E27FC236}">
                <a16:creationId xmlns:a16="http://schemas.microsoft.com/office/drawing/2014/main" id="{94CDEB06-5BB9-45A8-84D1-81A7E02CBE63}"/>
              </a:ext>
            </a:extLst>
          </p:cNvPr>
          <p:cNvSpPr>
            <a:spLocks xmlns:a="http://schemas.openxmlformats.org/drawingml/2006/main" noGrp="1"/>
          </p:cNvSpPr>
          <p:nvPr/>
        </p:nvSpPr>
        <p:spPr>
          <a:xfrm xmlns:a="http://schemas.openxmlformats.org/drawingml/2006/main">
            <a:off x="4286250" y="1952625"/>
            <a:ext cx="1714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buNone/>
              <a:defRPr sz="1275" b="1">
                <a:solidFill>
                  <a:srgbClr val="10B981"/>
                </a:solidFill>
                <a:latin typeface="Yu Gothic"/>
                <a:ea typeface="Yu Gothic"/>
                <a:cs typeface="Yu Gothic"/>
              </a:defRPr>
            </a:pPr>
            <a:r>
              <a:rPr sz="1275" b="1">
                <a:solidFill>
                  <a:srgbClr val="10B981"/>
                </a:solidFill>
                <a:latin typeface="Yu Gothic"/>
                <a:ea typeface="Yu Gothic"/>
                <a:cs typeface="Yu Gothic"/>
              </a:rPr>
              <a:t>生存を支持する</a:t>
            </a:r>
          </a:p>
        </p:txBody>
      </p:sp>
      <p:sp>
        <p:nvSpPr>
          <p:cNvPr id="9" name="正方形/長方形 8">
            <a:extLst xmlns:a="http://schemas.openxmlformats.org/drawingml/2006/main">
              <a:ext uri="{FF2B5EF4-FFF2-40B4-BE49-F238E27FC236}">
                <a16:creationId xmlns:a16="http://schemas.microsoft.com/office/drawing/2014/main" id="{34BCD538-98B7-463F-B7A0-A8A9CEAD0692}"/>
              </a:ext>
            </a:extLst>
          </p:cNvPr>
          <p:cNvSpPr>
            <a:spLocks xmlns:a="http://schemas.openxmlformats.org/drawingml/2006/main" noGrp="1"/>
          </p:cNvSpPr>
          <p:nvPr/>
        </p:nvSpPr>
        <p:spPr>
          <a:xfrm xmlns:a="http://schemas.openxmlformats.org/drawingml/2006/main">
            <a:off x="762000" y="2428875"/>
            <a:ext cx="22383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buNone/>
              <a:defRPr sz="1500" b="1">
                <a:solidFill>
                  <a:srgbClr val="111827"/>
                </a:solidFill>
                <a:latin typeface="Yu Gothic"/>
                <a:ea typeface="Yu Gothic"/>
                <a:cs typeface="Yu Gothic"/>
              </a:defRPr>
            </a:pPr>
            <a:r>
              <a:rPr sz="1500" b="1">
                <a:solidFill>
                  <a:srgbClr val="111827"/>
                </a:solidFill>
                <a:latin typeface="Yu Gothic"/>
                <a:ea typeface="Yu Gothic"/>
                <a:cs typeface="Yu Gothic"/>
              </a:rPr>
              <a:t>運賃</a:t>
            </a:r>
          </a:p>
        </p:txBody>
      </p:sp>
      <p:sp>
        <p:nvSpPr>
          <p:cNvPr id="10" name="正方形/長方形 9">
            <a:extLst xmlns:a="http://schemas.openxmlformats.org/drawingml/2006/main">
              <a:ext uri="{FF2B5EF4-FFF2-40B4-BE49-F238E27FC236}">
                <a16:creationId xmlns:a16="http://schemas.microsoft.com/office/drawing/2014/main" id="{0713D208-9C0A-4E2E-BD42-4D57C9BA6648}"/>
              </a:ext>
            </a:extLst>
          </p:cNvPr>
          <p:cNvSpPr>
            <a:spLocks xmlns:a="http://schemas.openxmlformats.org/drawingml/2006/main" noGrp="1"/>
          </p:cNvSpPr>
          <p:nvPr/>
        </p:nvSpPr>
        <p:spPr>
          <a:xfrm xmlns:a="http://schemas.openxmlformats.org/drawingml/2006/main">
            <a:off x="4095750" y="2476500"/>
            <a:ext cx="1714500" cy="209550"/>
          </a:xfrm>
          <a:prstGeom xmlns:a="http://schemas.openxmlformats.org/drawingml/2006/main" prst="rect">
            <a:avLst/>
          </a:prstGeom>
          <a:solidFill xmlns:a="http://schemas.openxmlformats.org/drawingml/2006/main">
            <a:srgbClr val="10B981"/>
          </a:solidFill>
          <a:ln xmlns:a="http://schemas.openxmlformats.org/drawingml/2006/main" w="0">
            <a:solidFill>
              <a:srgbClr val="10B981"/>
            </a:solidFill>
            <a:prstDash val="solid"/>
          </a:ln>
        </p:spPr>
        <p:txBody>
          <a:bodyPr xmlns:a="http://schemas.openxmlformats.org/drawingml/2006/main"/>
          <a:lstStyle xmlns:a="http://schemas.openxmlformats.org/drawingml/2006/main"/>
          <a:p xmlns:a="http://schemas.openxmlformats.org/drawingml/2006/main">
            <a:endParaRPr/>
          </a:p>
        </p:txBody>
      </p:sp>
      <p:sp>
        <p:nvSpPr>
          <p:cNvPr id="11" name="正方形/長方形 10">
            <a:extLst xmlns:a="http://schemas.openxmlformats.org/drawingml/2006/main">
              <a:ext uri="{FF2B5EF4-FFF2-40B4-BE49-F238E27FC236}">
                <a16:creationId xmlns:a16="http://schemas.microsoft.com/office/drawing/2014/main" id="{A89A6A5C-24F3-4C74-9F06-CF1B00891BE8}"/>
              </a:ext>
            </a:extLst>
          </p:cNvPr>
          <p:cNvSpPr>
            <a:spLocks xmlns:a="http://schemas.openxmlformats.org/drawingml/2006/main" noGrp="1"/>
          </p:cNvSpPr>
          <p:nvPr/>
        </p:nvSpPr>
        <p:spPr>
          <a:xfrm xmlns:a="http://schemas.openxmlformats.org/drawingml/2006/main">
            <a:off x="5905500" y="2428875"/>
            <a:ext cx="7048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buNone/>
              <a:defRPr sz="1350" b="1">
                <a:solidFill>
                  <a:srgbClr val="10B981"/>
                </a:solidFill>
                <a:latin typeface="Yu Gothic"/>
                <a:ea typeface="Yu Gothic"/>
                <a:cs typeface="Yu Gothic"/>
              </a:defRPr>
            </a:pPr>
            <a:r>
              <a:rPr sz="1350" b="1">
                <a:solidFill>
                  <a:srgbClr val="10B981"/>
                </a:solidFill>
                <a:latin typeface="Yu Gothic"/>
                <a:ea typeface="Yu Gothic"/>
                <a:cs typeface="Yu Gothic"/>
              </a:rPr>
              <a:t>+0.50</a:t>
            </a:r>
          </a:p>
        </p:txBody>
      </p:sp>
      <p:sp>
        <p:nvSpPr>
          <p:cNvPr id="12" name="正方形/長方形 11">
            <a:extLst xmlns:a="http://schemas.openxmlformats.org/drawingml/2006/main">
              <a:ext uri="{FF2B5EF4-FFF2-40B4-BE49-F238E27FC236}">
                <a16:creationId xmlns:a16="http://schemas.microsoft.com/office/drawing/2014/main" id="{A49E7958-33D5-4B7F-B95E-892F13EA4029}"/>
              </a:ext>
            </a:extLst>
          </p:cNvPr>
          <p:cNvSpPr>
            <a:spLocks xmlns:a="http://schemas.openxmlformats.org/drawingml/2006/main" noGrp="1"/>
          </p:cNvSpPr>
          <p:nvPr/>
        </p:nvSpPr>
        <p:spPr>
          <a:xfrm xmlns:a="http://schemas.openxmlformats.org/drawingml/2006/main">
            <a:off x="762000" y="3048000"/>
            <a:ext cx="22383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buNone/>
              <a:defRPr sz="1500" b="1">
                <a:solidFill>
                  <a:srgbClr val="111827"/>
                </a:solidFill>
                <a:latin typeface="Yu Gothic"/>
                <a:ea typeface="Yu Gothic"/>
                <a:cs typeface="Yu Gothic"/>
              </a:defRPr>
            </a:pPr>
            <a:r>
              <a:rPr sz="1500" b="1">
                <a:solidFill>
                  <a:srgbClr val="111827"/>
                </a:solidFill>
                <a:latin typeface="Yu Gothic"/>
                <a:ea typeface="Yu Gothic"/>
                <a:cs typeface="Yu Gothic"/>
              </a:rPr>
              <a:t>客室等級</a:t>
            </a:r>
          </a:p>
        </p:txBody>
      </p:sp>
      <p:sp>
        <p:nvSpPr>
          <p:cNvPr id="13" name="正方形/長方形 12">
            <a:extLst xmlns:a="http://schemas.openxmlformats.org/drawingml/2006/main">
              <a:ext uri="{FF2B5EF4-FFF2-40B4-BE49-F238E27FC236}">
                <a16:creationId xmlns:a16="http://schemas.microsoft.com/office/drawing/2014/main" id="{1781A06F-A67B-4D8C-BC86-A6E99E2B2123}"/>
              </a:ext>
            </a:extLst>
          </p:cNvPr>
          <p:cNvSpPr>
            <a:spLocks xmlns:a="http://schemas.openxmlformats.org/drawingml/2006/main" noGrp="1"/>
          </p:cNvSpPr>
          <p:nvPr/>
        </p:nvSpPr>
        <p:spPr>
          <a:xfrm xmlns:a="http://schemas.openxmlformats.org/drawingml/2006/main">
            <a:off x="4095750" y="3095625"/>
            <a:ext cx="1097280" cy="209550"/>
          </a:xfrm>
          <a:prstGeom xmlns:a="http://schemas.openxmlformats.org/drawingml/2006/main" prst="rect">
            <a:avLst/>
          </a:prstGeom>
          <a:solidFill xmlns:a="http://schemas.openxmlformats.org/drawingml/2006/main">
            <a:srgbClr val="10B981"/>
          </a:solidFill>
          <a:ln xmlns:a="http://schemas.openxmlformats.org/drawingml/2006/main" w="0">
            <a:solidFill>
              <a:srgbClr val="10B981"/>
            </a:solidFill>
            <a:prstDash val="solid"/>
          </a:ln>
        </p:spPr>
        <p:txBody>
          <a:bodyPr xmlns:a="http://schemas.openxmlformats.org/drawingml/2006/main"/>
          <a:lstStyle xmlns:a="http://schemas.openxmlformats.org/drawingml/2006/main"/>
          <a:p xmlns:a="http://schemas.openxmlformats.org/drawingml/2006/main">
            <a:endParaRPr/>
          </a:p>
        </p:txBody>
      </p:sp>
      <p:sp>
        <p:nvSpPr>
          <p:cNvPr id="14" name="正方形/長方形 13">
            <a:extLst xmlns:a="http://schemas.openxmlformats.org/drawingml/2006/main">
              <a:ext uri="{FF2B5EF4-FFF2-40B4-BE49-F238E27FC236}">
                <a16:creationId xmlns:a16="http://schemas.microsoft.com/office/drawing/2014/main" id="{E3D05D17-30BA-42DB-AB8B-5E0BCAA54B17}"/>
              </a:ext>
            </a:extLst>
          </p:cNvPr>
          <p:cNvSpPr>
            <a:spLocks xmlns:a="http://schemas.openxmlformats.org/drawingml/2006/main" noGrp="1"/>
          </p:cNvSpPr>
          <p:nvPr/>
        </p:nvSpPr>
        <p:spPr>
          <a:xfrm xmlns:a="http://schemas.openxmlformats.org/drawingml/2006/main">
            <a:off x="5288280" y="3048000"/>
            <a:ext cx="7048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buNone/>
              <a:defRPr sz="1350" b="1">
                <a:solidFill>
                  <a:srgbClr val="10B981"/>
                </a:solidFill>
                <a:latin typeface="Yu Gothic"/>
                <a:ea typeface="Yu Gothic"/>
                <a:cs typeface="Yu Gothic"/>
              </a:defRPr>
            </a:pPr>
            <a:r>
              <a:rPr sz="1350" b="1">
                <a:solidFill>
                  <a:srgbClr val="10B981"/>
                </a:solidFill>
                <a:latin typeface="Yu Gothic"/>
                <a:ea typeface="Yu Gothic"/>
                <a:cs typeface="Yu Gothic"/>
              </a:rPr>
              <a:t>+0.32</a:t>
            </a:r>
          </a:p>
        </p:txBody>
      </p:sp>
      <p:sp>
        <p:nvSpPr>
          <p:cNvPr id="15" name="正方形/長方形 14">
            <a:extLst xmlns:a="http://schemas.openxmlformats.org/drawingml/2006/main">
              <a:ext uri="{FF2B5EF4-FFF2-40B4-BE49-F238E27FC236}">
                <a16:creationId xmlns:a16="http://schemas.microsoft.com/office/drawing/2014/main" id="{AF6A6FA5-C386-4106-B3F1-2B0ED03C0CE4}"/>
              </a:ext>
            </a:extLst>
          </p:cNvPr>
          <p:cNvSpPr>
            <a:spLocks xmlns:a="http://schemas.openxmlformats.org/drawingml/2006/main" noGrp="1"/>
          </p:cNvSpPr>
          <p:nvPr/>
        </p:nvSpPr>
        <p:spPr>
          <a:xfrm xmlns:a="http://schemas.openxmlformats.org/drawingml/2006/main">
            <a:off x="762000" y="3667125"/>
            <a:ext cx="22383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buNone/>
              <a:defRPr sz="1500" b="1">
                <a:solidFill>
                  <a:srgbClr val="111827"/>
                </a:solidFill>
                <a:latin typeface="Yu Gothic"/>
                <a:ea typeface="Yu Gothic"/>
                <a:cs typeface="Yu Gothic"/>
              </a:defRPr>
            </a:pPr>
            <a:r>
              <a:rPr sz="1500" b="1">
                <a:solidFill>
                  <a:srgbClr val="111827"/>
                </a:solidFill>
                <a:latin typeface="Yu Gothic"/>
                <a:ea typeface="Yu Gothic"/>
                <a:cs typeface="Yu Gothic"/>
              </a:rPr>
              <a:t>年齢</a:t>
            </a:r>
          </a:p>
        </p:txBody>
      </p:sp>
      <p:sp>
        <p:nvSpPr>
          <p:cNvPr id="16" name="正方形/長方形 15">
            <a:extLst xmlns:a="http://schemas.openxmlformats.org/drawingml/2006/main">
              <a:ext uri="{FF2B5EF4-FFF2-40B4-BE49-F238E27FC236}">
                <a16:creationId xmlns:a16="http://schemas.microsoft.com/office/drawing/2014/main" id="{D8ED2191-57D5-45FF-BB18-9F13383E8342}"/>
              </a:ext>
            </a:extLst>
          </p:cNvPr>
          <p:cNvSpPr>
            <a:spLocks xmlns:a="http://schemas.openxmlformats.org/drawingml/2006/main" noGrp="1"/>
          </p:cNvSpPr>
          <p:nvPr/>
        </p:nvSpPr>
        <p:spPr>
          <a:xfrm xmlns:a="http://schemas.openxmlformats.org/drawingml/2006/main">
            <a:off x="3409950" y="3714750"/>
            <a:ext cx="685800" cy="209550"/>
          </a:xfrm>
          <a:prstGeom xmlns:a="http://schemas.openxmlformats.org/drawingml/2006/main" prst="rect">
            <a:avLst/>
          </a:prstGeom>
          <a:solidFill xmlns:a="http://schemas.openxmlformats.org/drawingml/2006/main">
            <a:srgbClr val="EF4444"/>
          </a:solidFill>
          <a:ln xmlns:a="http://schemas.openxmlformats.org/drawingml/2006/main" w="0">
            <a:solidFill>
              <a:srgbClr val="EF4444"/>
            </a:solidFill>
            <a:prstDash val="solid"/>
          </a:ln>
        </p:spPr>
        <p:txBody>
          <a:bodyPr xmlns:a="http://schemas.openxmlformats.org/drawingml/2006/main"/>
          <a:lstStyle xmlns:a="http://schemas.openxmlformats.org/drawingml/2006/main"/>
          <a:p xmlns:a="http://schemas.openxmlformats.org/drawingml/2006/main">
            <a:endParaRPr/>
          </a:p>
        </p:txBody>
      </p:sp>
      <p:sp>
        <p:nvSpPr>
          <p:cNvPr id="17" name="正方形/長方形 16">
            <a:extLst xmlns:a="http://schemas.openxmlformats.org/drawingml/2006/main">
              <a:ext uri="{FF2B5EF4-FFF2-40B4-BE49-F238E27FC236}">
                <a16:creationId xmlns:a16="http://schemas.microsoft.com/office/drawing/2014/main" id="{F84C2A86-339C-4BF0-AEA3-990CE0B29CF1}"/>
              </a:ext>
            </a:extLst>
          </p:cNvPr>
          <p:cNvSpPr>
            <a:spLocks xmlns:a="http://schemas.openxmlformats.org/drawingml/2006/main" noGrp="1"/>
          </p:cNvSpPr>
          <p:nvPr/>
        </p:nvSpPr>
        <p:spPr>
          <a:xfrm xmlns:a="http://schemas.openxmlformats.org/drawingml/2006/main">
            <a:off x="2724150" y="3667125"/>
            <a:ext cx="6096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buNone/>
              <a:defRPr sz="1350" b="1">
                <a:solidFill>
                  <a:srgbClr val="EF4444"/>
                </a:solidFill>
                <a:latin typeface="Yu Gothic"/>
                <a:ea typeface="Yu Gothic"/>
                <a:cs typeface="Yu Gothic"/>
              </a:defRPr>
            </a:pPr>
            <a:r>
              <a:rPr sz="1350" b="1">
                <a:solidFill>
                  <a:srgbClr val="EF4444"/>
                </a:solidFill>
                <a:latin typeface="Yu Gothic"/>
                <a:ea typeface="Yu Gothic"/>
                <a:cs typeface="Yu Gothic"/>
              </a:rPr>
              <a:t>-0.20</a:t>
            </a:r>
          </a:p>
        </p:txBody>
      </p:sp>
      <p:sp>
        <p:nvSpPr>
          <p:cNvPr id="18" name="正方形/長方形 17">
            <a:extLst xmlns:a="http://schemas.openxmlformats.org/drawingml/2006/main">
              <a:ext uri="{FF2B5EF4-FFF2-40B4-BE49-F238E27FC236}">
                <a16:creationId xmlns:a16="http://schemas.microsoft.com/office/drawing/2014/main" id="{DFA0442F-6DA2-4030-AFBA-6938DB5A0443}"/>
              </a:ext>
            </a:extLst>
          </p:cNvPr>
          <p:cNvSpPr>
            <a:spLocks xmlns:a="http://schemas.openxmlformats.org/drawingml/2006/main" noGrp="1"/>
          </p:cNvSpPr>
          <p:nvPr/>
        </p:nvSpPr>
        <p:spPr>
          <a:xfrm xmlns:a="http://schemas.openxmlformats.org/drawingml/2006/main">
            <a:off x="762000" y="4286250"/>
            <a:ext cx="22383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buNone/>
              <a:defRPr sz="1500" b="1">
                <a:solidFill>
                  <a:srgbClr val="111827"/>
                </a:solidFill>
                <a:latin typeface="Yu Gothic"/>
                <a:ea typeface="Yu Gothic"/>
                <a:cs typeface="Yu Gothic"/>
              </a:defRPr>
            </a:pPr>
            <a:r>
              <a:rPr sz="1500" b="1">
                <a:solidFill>
                  <a:srgbClr val="111827"/>
                </a:solidFill>
                <a:latin typeface="Yu Gothic"/>
                <a:ea typeface="Yu Gothic"/>
                <a:cs typeface="Yu Gothic"/>
              </a:rPr>
              <a:t>同乗家族数</a:t>
            </a:r>
          </a:p>
        </p:txBody>
      </p:sp>
      <p:sp>
        <p:nvSpPr>
          <p:cNvPr id="19" name="正方形/長方形 18">
            <a:extLst xmlns:a="http://schemas.openxmlformats.org/drawingml/2006/main">
              <a:ext uri="{FF2B5EF4-FFF2-40B4-BE49-F238E27FC236}">
                <a16:creationId xmlns:a16="http://schemas.microsoft.com/office/drawing/2014/main" id="{9D4E03A3-0D49-4664-98CE-A54FC98DCBEA}"/>
              </a:ext>
            </a:extLst>
          </p:cNvPr>
          <p:cNvSpPr>
            <a:spLocks xmlns:a="http://schemas.openxmlformats.org/drawingml/2006/main" noGrp="1"/>
          </p:cNvSpPr>
          <p:nvPr/>
        </p:nvSpPr>
        <p:spPr>
          <a:xfrm xmlns:a="http://schemas.openxmlformats.org/drawingml/2006/main">
            <a:off x="3615690" y="4333875"/>
            <a:ext cx="480060" cy="209550"/>
          </a:xfrm>
          <a:prstGeom xmlns:a="http://schemas.openxmlformats.org/drawingml/2006/main" prst="rect">
            <a:avLst/>
          </a:prstGeom>
          <a:solidFill xmlns:a="http://schemas.openxmlformats.org/drawingml/2006/main">
            <a:srgbClr val="EF4444"/>
          </a:solidFill>
          <a:ln xmlns:a="http://schemas.openxmlformats.org/drawingml/2006/main" w="0">
            <a:solidFill>
              <a:srgbClr val="EF4444"/>
            </a:solidFill>
            <a:prstDash val="solid"/>
          </a:ln>
        </p:spPr>
        <p:txBody>
          <a:bodyPr xmlns:a="http://schemas.openxmlformats.org/drawingml/2006/main"/>
          <a:lstStyle xmlns:a="http://schemas.openxmlformats.org/drawingml/2006/main"/>
          <a:p xmlns:a="http://schemas.openxmlformats.org/drawingml/2006/main">
            <a:endParaRPr/>
          </a:p>
        </p:txBody>
      </p:sp>
      <p:sp>
        <p:nvSpPr>
          <p:cNvPr id="20" name="正方形/長方形 19">
            <a:extLst xmlns:a="http://schemas.openxmlformats.org/drawingml/2006/main">
              <a:ext uri="{FF2B5EF4-FFF2-40B4-BE49-F238E27FC236}">
                <a16:creationId xmlns:a16="http://schemas.microsoft.com/office/drawing/2014/main" id="{02A6C754-C464-4D15-8D2F-071611C8579B}"/>
              </a:ext>
            </a:extLst>
          </p:cNvPr>
          <p:cNvSpPr>
            <a:spLocks xmlns:a="http://schemas.openxmlformats.org/drawingml/2006/main" noGrp="1"/>
          </p:cNvSpPr>
          <p:nvPr/>
        </p:nvSpPr>
        <p:spPr>
          <a:xfrm xmlns:a="http://schemas.openxmlformats.org/drawingml/2006/main">
            <a:off x="2929890" y="4286250"/>
            <a:ext cx="6096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buNone/>
              <a:defRPr sz="1350" b="1">
                <a:solidFill>
                  <a:srgbClr val="EF4444"/>
                </a:solidFill>
                <a:latin typeface="Yu Gothic"/>
                <a:ea typeface="Yu Gothic"/>
                <a:cs typeface="Yu Gothic"/>
              </a:defRPr>
            </a:pPr>
            <a:r>
              <a:rPr sz="1350" b="1">
                <a:solidFill>
                  <a:srgbClr val="EF4444"/>
                </a:solidFill>
                <a:latin typeface="Yu Gothic"/>
                <a:ea typeface="Yu Gothic"/>
                <a:cs typeface="Yu Gothic"/>
              </a:rPr>
              <a:t>-0.14</a:t>
            </a:r>
          </a:p>
        </p:txBody>
      </p:sp>
      <p:sp>
        <p:nvSpPr>
          <p:cNvPr id="21" name="正方形/長方形 20">
            <a:extLst xmlns:a="http://schemas.openxmlformats.org/drawingml/2006/main">
              <a:ext uri="{FF2B5EF4-FFF2-40B4-BE49-F238E27FC236}">
                <a16:creationId xmlns:a16="http://schemas.microsoft.com/office/drawing/2014/main" id="{643FFE7E-2B8C-4A6B-8BE9-333255CE586C}"/>
              </a:ext>
            </a:extLst>
          </p:cNvPr>
          <p:cNvSpPr>
            <a:spLocks xmlns:a="http://schemas.openxmlformats.org/drawingml/2006/main" noGrp="1"/>
          </p:cNvSpPr>
          <p:nvPr/>
        </p:nvSpPr>
        <p:spPr>
          <a:xfrm xmlns:a="http://schemas.openxmlformats.org/drawingml/2006/main">
            <a:off x="8096250" y="1666875"/>
            <a:ext cx="3143250" cy="2952750"/>
          </a:xfrm>
          <a:prstGeom xmlns:a="http://schemas.openxmlformats.org/drawingml/2006/main" prst="rect">
            <a:avLst/>
          </a:prstGeom>
          <a:solidFill xmlns:a="http://schemas.openxmlformats.org/drawingml/2006/main">
            <a:srgbClr val="F3F4F6"/>
          </a:solidFill>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endParaRPr/>
          </a:p>
        </p:txBody>
      </p:sp>
      <p:sp>
        <p:nvSpPr>
          <p:cNvPr id="22" name="正方形/長方形 21">
            <a:extLst xmlns:a="http://schemas.openxmlformats.org/drawingml/2006/main">
              <a:ext uri="{FF2B5EF4-FFF2-40B4-BE49-F238E27FC236}">
                <a16:creationId xmlns:a16="http://schemas.microsoft.com/office/drawing/2014/main" id="{2BDF7ECF-5C71-423B-A0CF-8F041754E4ED}"/>
              </a:ext>
            </a:extLst>
          </p:cNvPr>
          <p:cNvSpPr>
            <a:spLocks xmlns:a="http://schemas.openxmlformats.org/drawingml/2006/main" noGrp="1"/>
          </p:cNvSpPr>
          <p:nvPr/>
        </p:nvSpPr>
        <p:spPr>
          <a:xfrm xmlns:a="http://schemas.openxmlformats.org/drawingml/2006/main">
            <a:off x="8382000" y="1924050"/>
            <a:ext cx="2571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buNone/>
              <a:defRPr sz="1800" b="1">
                <a:solidFill>
                  <a:srgbClr val="111827"/>
                </a:solidFill>
                <a:latin typeface="Yu Gothic"/>
                <a:ea typeface="Yu Gothic"/>
                <a:cs typeface="Yu Gothic"/>
              </a:defRPr>
            </a:pPr>
            <a:r>
              <a:rPr sz="1800" b="1">
                <a:solidFill>
                  <a:srgbClr val="111827"/>
                </a:solidFill>
                <a:latin typeface="Yu Gothic"/>
                <a:ea typeface="Yu Gothic"/>
                <a:cs typeface="Yu Gothic"/>
              </a:rPr>
              <a:t>説明の読み方</a:t>
            </a:r>
          </a:p>
        </p:txBody>
      </p:sp>
      <p:sp>
        <p:nvSpPr>
          <p:cNvPr id="23" name="正方形/長方形 22">
            <a:extLst xmlns:a="http://schemas.openxmlformats.org/drawingml/2006/main">
              <a:ext uri="{FF2B5EF4-FFF2-40B4-BE49-F238E27FC236}">
                <a16:creationId xmlns:a16="http://schemas.microsoft.com/office/drawing/2014/main" id="{160BA7B5-A568-46B7-8122-0BEB4DAAF8CF}"/>
              </a:ext>
            </a:extLst>
          </p:cNvPr>
          <p:cNvSpPr>
            <a:spLocks xmlns:a="http://schemas.openxmlformats.org/drawingml/2006/main" noGrp="1"/>
          </p:cNvSpPr>
          <p:nvPr/>
        </p:nvSpPr>
        <p:spPr>
          <a:xfrm xmlns:a="http://schemas.openxmlformats.org/drawingml/2006/main">
            <a:off x="8382000" y="2457450"/>
            <a:ext cx="2571750"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buNone/>
              <a:defRPr sz="1500" b="0">
                <a:solidFill>
                  <a:srgbClr val="111827"/>
                </a:solidFill>
                <a:latin typeface="Yu Gothic"/>
                <a:ea typeface="Yu Gothic"/>
                <a:cs typeface="Yu Gothic"/>
              </a:defRPr>
            </a:pPr>
            <a:r>
              <a:rPr sz="1500" b="0">
                <a:solidFill>
                  <a:srgbClr val="111827"/>
                </a:solidFill>
                <a:latin typeface="Yu Gothic"/>
                <a:ea typeface="Yu Gothic"/>
                <a:cs typeface="Yu Gothic"/>
              </a:rPr>
              <a:t>正の重み</a:t>
            </a:r>
          </a:p>
          <a:p xmlns:a="http://schemas.openxmlformats.org/drawingml/2006/main">
            <a:pPr algn="l">
              <a:buNone/>
              <a:defRPr sz="1500" b="0">
                <a:solidFill>
                  <a:srgbClr val="111827"/>
                </a:solidFill>
                <a:latin typeface="Yu Gothic"/>
                <a:ea typeface="Yu Gothic"/>
                <a:cs typeface="Yu Gothic"/>
              </a:defRPr>
            </a:pPr>
            <a:r>
              <a:rPr sz="1500" b="0">
                <a:solidFill>
                  <a:srgbClr val="111827"/>
                </a:solidFill>
                <a:latin typeface="Yu Gothic"/>
                <a:ea typeface="Yu Gothic"/>
                <a:cs typeface="Yu Gothic"/>
              </a:rPr>
              <a:t>生存確率を上げる方向</a:t>
            </a:r>
          </a:p>
          <a:p xmlns:a="http://schemas.openxmlformats.org/drawingml/2006/main">
            <a:endParaRPr sz="1500" b="0">
              <a:solidFill>
                <a:srgbClr val="111827"/>
              </a:solidFill>
              <a:latin typeface="Yu Gothic"/>
              <a:ea typeface="Yu Gothic"/>
              <a:cs typeface="Yu Gothic"/>
            </a:endParaRPr>
          </a:p>
          <a:p xmlns:a="http://schemas.openxmlformats.org/drawingml/2006/main">
            <a:pPr algn="l">
              <a:buNone/>
              <a:defRPr sz="1500" b="0">
                <a:solidFill>
                  <a:srgbClr val="111827"/>
                </a:solidFill>
                <a:latin typeface="Yu Gothic"/>
                <a:ea typeface="Yu Gothic"/>
                <a:cs typeface="Yu Gothic"/>
              </a:defRPr>
            </a:pPr>
            <a:r>
              <a:rPr sz="1500" b="0">
                <a:solidFill>
                  <a:srgbClr val="111827"/>
                </a:solidFill>
                <a:latin typeface="Yu Gothic"/>
                <a:ea typeface="Yu Gothic"/>
                <a:cs typeface="Yu Gothic"/>
              </a:rPr>
              <a:t>負の重み</a:t>
            </a:r>
          </a:p>
          <a:p xmlns:a="http://schemas.openxmlformats.org/drawingml/2006/main">
            <a:pPr algn="l">
              <a:buNone/>
              <a:defRPr sz="1500" b="0">
                <a:solidFill>
                  <a:srgbClr val="111827"/>
                </a:solidFill>
                <a:latin typeface="Yu Gothic"/>
                <a:ea typeface="Yu Gothic"/>
                <a:cs typeface="Yu Gothic"/>
              </a:defRPr>
            </a:pPr>
            <a:r>
              <a:rPr sz="1500" b="0">
                <a:solidFill>
                  <a:srgbClr val="111827"/>
                </a:solidFill>
                <a:latin typeface="Yu Gothic"/>
                <a:ea typeface="Yu Gothic"/>
                <a:cs typeface="Yu Gothic"/>
              </a:rPr>
              <a:t>生存確率を下げる方向</a:t>
            </a:r>
          </a:p>
          <a:p xmlns:a="http://schemas.openxmlformats.org/drawingml/2006/main">
            <a:endParaRPr sz="1500" b="0">
              <a:solidFill>
                <a:srgbClr val="111827"/>
              </a:solidFill>
              <a:latin typeface="Yu Gothic"/>
              <a:ea typeface="Yu Gothic"/>
              <a:cs typeface="Yu Gothic"/>
            </a:endParaRPr>
          </a:p>
          <a:p xmlns:a="http://schemas.openxmlformats.org/drawingml/2006/main">
            <a:pPr algn="l">
              <a:buNone/>
              <a:defRPr sz="1500" b="0">
                <a:solidFill>
                  <a:srgbClr val="111827"/>
                </a:solidFill>
                <a:latin typeface="Yu Gothic"/>
                <a:ea typeface="Yu Gothic"/>
                <a:cs typeface="Yu Gothic"/>
              </a:defRPr>
            </a:pPr>
            <a:r>
              <a:rPr sz="1500" b="0">
                <a:solidFill>
                  <a:srgbClr val="111827"/>
                </a:solidFill>
                <a:latin typeface="Yu Gothic"/>
                <a:ea typeface="Yu Gothic"/>
                <a:cs typeface="Yu Gothic"/>
              </a:rPr>
              <a:t>絶対値</a:t>
            </a:r>
          </a:p>
          <a:p xmlns:a="http://schemas.openxmlformats.org/drawingml/2006/main">
            <a:pPr algn="l">
              <a:buNone/>
              <a:defRPr sz="1500" b="0">
                <a:solidFill>
                  <a:srgbClr val="111827"/>
                </a:solidFill>
                <a:latin typeface="Yu Gothic"/>
                <a:ea typeface="Yu Gothic"/>
                <a:cs typeface="Yu Gothic"/>
              </a:defRPr>
            </a:pPr>
            <a:r>
              <a:rPr sz="1500" b="0">
                <a:solidFill>
                  <a:srgbClr val="111827"/>
                </a:solidFill>
                <a:latin typeface="Yu Gothic"/>
                <a:ea typeface="Yu Gothic"/>
                <a:cs typeface="Yu Gothic"/>
              </a:rPr>
              <a:t>局所モデル内の影響の強さ</a:t>
            </a:r>
          </a:p>
        </p:txBody>
      </p:sp>
      <p:sp>
        <p:nvSpPr>
          <p:cNvPr id="24" name="正方形/長方形 23">
            <a:extLst xmlns:a="http://schemas.openxmlformats.org/drawingml/2006/main">
              <a:ext uri="{FF2B5EF4-FFF2-40B4-BE49-F238E27FC236}">
                <a16:creationId xmlns:a16="http://schemas.microsoft.com/office/drawing/2014/main" id="{99B07350-28A1-46AE-B6FF-848A2BD91F12}"/>
              </a:ext>
            </a:extLst>
          </p:cNvPr>
          <p:cNvSpPr>
            <a:spLocks xmlns:a="http://schemas.openxmlformats.org/drawingml/2006/main" noGrp="1"/>
          </p:cNvSpPr>
          <p:nvPr/>
        </p:nvSpPr>
        <p:spPr>
          <a:xfrm xmlns:a="http://schemas.openxmlformats.org/drawingml/2006/main">
            <a:off x="762000" y="5286375"/>
            <a:ext cx="10477500" cy="781050"/>
          </a:xfrm>
          <a:prstGeom xmlns:a="http://schemas.openxmlformats.org/drawingml/2006/main" prst="rect">
            <a:avLst/>
          </a:prstGeom>
          <a:solidFill xmlns:a="http://schemas.openxmlformats.org/drawingml/2006/main">
            <a:srgbClr val="FEF3C7"/>
          </a:solidFill>
          <a:ln xmlns:a="http://schemas.openxmlformats.org/drawingml/2006/main" w="19050">
            <a:solidFill>
              <a:srgbClr val="F59E0B"/>
            </a:solidFill>
            <a:prstDash val="solid"/>
          </a:ln>
        </p:spPr>
        <p:txBody>
          <a:bodyPr xmlns:a="http://schemas.openxmlformats.org/drawingml/2006/main"/>
          <a:lstStyle xmlns:a="http://schemas.openxmlformats.org/drawingml/2006/main"/>
          <a:p xmlns:a="http://schemas.openxmlformats.org/drawingml/2006/main">
            <a:endParaRPr/>
          </a:p>
        </p:txBody>
      </p:sp>
      <p:sp>
        <p:nvSpPr>
          <p:cNvPr id="25" name="正方形/長方形 24">
            <a:extLst xmlns:a="http://schemas.openxmlformats.org/drawingml/2006/main">
              <a:ext uri="{FF2B5EF4-FFF2-40B4-BE49-F238E27FC236}">
                <a16:creationId xmlns:a16="http://schemas.microsoft.com/office/drawing/2014/main" id="{5C46EEA6-1C21-46B8-A2C2-1C4069F04841}"/>
              </a:ext>
            </a:extLst>
          </p:cNvPr>
          <p:cNvSpPr>
            <a:spLocks xmlns:a="http://schemas.openxmlformats.org/drawingml/2006/main" noGrp="1"/>
          </p:cNvSpPr>
          <p:nvPr/>
        </p:nvSpPr>
        <p:spPr>
          <a:xfrm xmlns:a="http://schemas.openxmlformats.org/drawingml/2006/main">
            <a:off x="971550" y="5524500"/>
            <a:ext cx="857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buNone/>
              <a:defRPr sz="1575" b="1">
                <a:solidFill>
                  <a:srgbClr val="F59E0B"/>
                </a:solidFill>
                <a:latin typeface="Yu Gothic"/>
                <a:ea typeface="Yu Gothic"/>
                <a:cs typeface="Yu Gothic"/>
              </a:defRPr>
            </a:pPr>
            <a:r>
              <a:rPr sz="1575" b="1">
                <a:solidFill>
                  <a:srgbClr val="F59E0B"/>
                </a:solidFill>
                <a:latin typeface="Yu Gothic"/>
                <a:ea typeface="Yu Gothic"/>
                <a:cs typeface="Yu Gothic"/>
              </a:rPr>
              <a:t>注意</a:t>
            </a:r>
          </a:p>
        </p:txBody>
      </p:sp>
      <p:sp>
        <p:nvSpPr>
          <p:cNvPr id="26" name="正方形/長方形 25">
            <a:extLst xmlns:a="http://schemas.openxmlformats.org/drawingml/2006/main">
              <a:ext uri="{FF2B5EF4-FFF2-40B4-BE49-F238E27FC236}">
                <a16:creationId xmlns:a16="http://schemas.microsoft.com/office/drawing/2014/main" id="{4FBF4291-F190-4EC8-A787-7E3448B4E9D8}"/>
              </a:ext>
            </a:extLst>
          </p:cNvPr>
          <p:cNvSpPr>
            <a:spLocks xmlns:a="http://schemas.openxmlformats.org/drawingml/2006/main" noGrp="1"/>
          </p:cNvSpPr>
          <p:nvPr/>
        </p:nvSpPr>
        <p:spPr>
          <a:xfrm xmlns:a="http://schemas.openxmlformats.org/drawingml/2006/main">
            <a:off x="1981200" y="5467350"/>
            <a:ext cx="8763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buNone/>
              <a:defRPr sz="1575" b="1">
                <a:solidFill>
                  <a:srgbClr val="111827"/>
                </a:solidFill>
                <a:latin typeface="Yu Gothic"/>
                <a:ea typeface="Yu Gothic"/>
                <a:cs typeface="Yu Gothic"/>
              </a:defRPr>
            </a:pPr>
            <a:r>
              <a:rPr sz="1575" b="1">
                <a:solidFill>
                  <a:srgbClr val="111827"/>
                </a:solidFill>
                <a:latin typeface="Yu Gothic"/>
                <a:ea typeface="Yu Gothic"/>
                <a:cs typeface="Yu Gothic"/>
              </a:rPr>
              <a:t>重みは因果効果ではなく、この乗客・生存クラス・この近傍だけの近似結果</a:t>
            </a:r>
          </a:p>
        </p:txBody>
      </p:sp>
      <p:sp>
        <p:nvSpPr>
          <p:cNvPr id="27" name="正方形/長方形 26">
            <a:extLst xmlns:a="http://schemas.openxmlformats.org/drawingml/2006/main">
              <a:ext uri="{FF2B5EF4-FFF2-40B4-BE49-F238E27FC236}">
                <a16:creationId xmlns:a16="http://schemas.microsoft.com/office/drawing/2014/main" id="{2DEDBB1A-F4A2-4523-A68B-703180D190BC}"/>
              </a:ext>
            </a:extLst>
          </p:cNvPr>
          <p:cNvSpPr>
            <a:spLocks xmlns:a="http://schemas.openxmlformats.org/drawingml/2006/main" noGrp="1"/>
          </p:cNvSpPr>
          <p:nvPr/>
        </p:nvSpPr>
        <p:spPr>
          <a:xfrm xmlns:a="http://schemas.openxmlformats.org/drawingml/2006/main">
            <a:off x="8572500" y="6191250"/>
            <a:ext cx="2667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buNone/>
              <a:defRPr sz="1050" b="0">
                <a:solidFill>
                  <a:srgbClr val="64748B"/>
                </a:solidFill>
                <a:latin typeface="Yu Gothic"/>
                <a:ea typeface="Yu Gothic"/>
                <a:cs typeface="Yu Gothic"/>
              </a:defRPr>
            </a:pPr>
            <a:r>
              <a:rPr sz="1050" b="0">
                <a:solidFill>
                  <a:srgbClr val="64748B"/>
                </a:solidFill>
                <a:latin typeface="Yu Gothic"/>
                <a:ea typeface="Yu Gothic"/>
                <a:cs typeface="Yu Gothic"/>
              </a:rPr>
              <a:t>※ 棒の値は説明用の模式値</a:t>
            </a:r>
          </a:p>
        </p:txBody>
      </p:sp>
    </p:spTree>
    <p:extLst>
      <p:ext uri="{BB962C8B-B14F-4D97-AF65-F5344CB8AC3E}">
        <p14:creationId xmlns:p14="http://schemas.microsoft.com/office/powerpoint/2010/main" val="2019542921"/>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3" name="正方形/長方形 42">
            <a:extLst xmlns:a="http://schemas.openxmlformats.org/drawingml/2006/main">
              <a:ext uri="{FF2B5EF4-FFF2-40B4-BE49-F238E27FC236}">
                <a16:creationId xmlns:a16="http://schemas.microsoft.com/office/drawing/2014/main" id="{75B03E4F-669E-46AD-8995-B735FDE175D7}"/>
              </a:ext>
            </a:extLst>
          </p:cNvPr>
          <p:cNvSpPr>
            <a:spLocks xmlns:a="http://schemas.openxmlformats.org/drawingml/2006/main" noGrp="1"/>
          </p:cNvSpPr>
          <p:nvPr/>
        </p:nvSpPr>
        <p:spPr>
          <a:xfrm xmlns:a="http://schemas.openxmlformats.org/drawingml/2006/main">
            <a:off x="514350" y="419100"/>
            <a:ext cx="114300" cy="457200"/>
          </a:xfrm>
          <a:prstGeom xmlns:a="http://schemas.openxmlformats.org/drawingml/2006/main" prst="rect">
            <a:avLst/>
          </a:prstGeom>
          <a:solidFill xmlns:a="http://schemas.openxmlformats.org/drawingml/2006/main">
            <a:srgbClr val="2563EB"/>
          </a:solidFill>
          <a:ln xmlns:a="http://schemas.openxmlformats.org/drawingml/2006/main" w="0">
            <a:solidFill>
              <a:srgbClr val="2563EB"/>
            </a:solidFill>
            <a:prstDash val="solid"/>
          </a:ln>
        </p:spPr>
        <p:txBody>
          <a:bodyPr xmlns:a="http://schemas.openxmlformats.org/drawingml/2006/main"/>
          <a:lstStyle xmlns:a="http://schemas.openxmlformats.org/drawingml/2006/main"/>
          <a:p xmlns:a="http://schemas.openxmlformats.org/drawingml/2006/main">
            <a:endParaRPr/>
          </a:p>
        </p:txBody>
      </p:sp>
      <p:sp>
        <p:nvSpPr>
          <p:cNvPr id="2" name="slide-6-title">
            <a:extLst xmlns:a="http://schemas.openxmlformats.org/drawingml/2006/main">
              <a:ext uri="{FF2B5EF4-FFF2-40B4-BE49-F238E27FC236}">
                <a16:creationId xmlns:a16="http://schemas.microsoft.com/office/drawing/2014/main" id="{EAE8545E-ADD6-41B6-B78C-F298C201E6FC}"/>
              </a:ext>
            </a:extLst>
          </p:cNvPr>
          <p:cNvSpPr>
            <a:spLocks xmlns:a="http://schemas.openxmlformats.org/drawingml/2006/main" noGrp="1"/>
          </p:cNvSpPr>
          <p:nvPr/>
        </p:nvSpPr>
        <p:spPr>
          <a:xfrm xmlns:a="http://schemas.openxmlformats.org/drawingml/2006/main">
            <a:off x="800100" y="361950"/>
            <a:ext cx="10572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buNone/>
              <a:defRPr sz="2850" b="1">
                <a:solidFill>
                  <a:srgbClr val="111827"/>
                </a:solidFill>
                <a:latin typeface="Yu Gothic"/>
                <a:ea typeface="Yu Gothic"/>
                <a:cs typeface="Yu Gothic"/>
              </a:defRPr>
            </a:pPr>
            <a:r>
              <a:rPr sz="2850" b="1">
                <a:solidFill>
                  <a:srgbClr val="111827"/>
                </a:solidFill>
                <a:latin typeface="Yu Gothic"/>
                <a:ea typeface="Yu Gothic"/>
                <a:cs typeface="Yu Gothic"/>
              </a:rPr>
              <a:t>多クラスLIMEでは、クラスごとに説明モデルを作る</a:t>
            </a:r>
          </a:p>
        </p:txBody>
      </p:sp>
      <p:sp>
        <p:nvSpPr>
          <p:cNvPr id="3" name="slide-6-subtitle">
            <a:extLst xmlns:a="http://schemas.openxmlformats.org/drawingml/2006/main">
              <a:ext uri="{FF2B5EF4-FFF2-40B4-BE49-F238E27FC236}">
                <a16:creationId xmlns:a16="http://schemas.microsoft.com/office/drawing/2014/main" id="{7D7A67F1-99D4-4FF0-9338-FD431E7F19B9}"/>
              </a:ext>
            </a:extLst>
          </p:cNvPr>
          <p:cNvSpPr>
            <a:spLocks xmlns:a="http://schemas.openxmlformats.org/drawingml/2006/main" noGrp="1"/>
          </p:cNvSpPr>
          <p:nvPr/>
        </p:nvSpPr>
        <p:spPr>
          <a:xfrm xmlns:a="http://schemas.openxmlformats.org/drawingml/2006/main">
            <a:off x="800100" y="962025"/>
            <a:ext cx="1057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buNone/>
              <a:defRPr sz="1500" b="0">
                <a:solidFill>
                  <a:srgbClr val="64748B"/>
                </a:solidFill>
                <a:latin typeface="Yu Gothic"/>
                <a:ea typeface="Yu Gothic"/>
                <a:cs typeface="Yu Gothic"/>
              </a:defRPr>
            </a:pPr>
            <a:r>
              <a:rPr sz="1500" b="0">
                <a:solidFill>
                  <a:srgbClr val="64748B"/>
                </a:solidFill>
                <a:latin typeface="Yu Gothic"/>
                <a:ea typeface="Yu Gothic"/>
                <a:cs typeface="Yu Gothic"/>
              </a:rPr>
              <a:t>2値的な説明を繰り返す、one-vs-rest型の展開</a:t>
            </a:r>
          </a:p>
        </p:txBody>
      </p:sp>
      <p:sp>
        <p:nvSpPr>
          <p:cNvPr id="4" name="正方形/長方形 3">
            <a:extLst xmlns:a="http://schemas.openxmlformats.org/drawingml/2006/main">
              <a:ext uri="{FF2B5EF4-FFF2-40B4-BE49-F238E27FC236}">
                <a16:creationId xmlns:a16="http://schemas.microsoft.com/office/drawing/2014/main" id="{74CF5398-4DDE-4122-95C2-612147B033A7}"/>
              </a:ext>
            </a:extLst>
          </p:cNvPr>
          <p:cNvSpPr>
            <a:spLocks xmlns:a="http://schemas.openxmlformats.org/drawingml/2006/main" noGrp="1"/>
          </p:cNvSpPr>
          <p:nvPr/>
        </p:nvSpPr>
        <p:spPr>
          <a:xfrm xmlns:a="http://schemas.openxmlformats.org/drawingml/2006/main">
            <a:off x="11239500" y="6438900"/>
            <a:ext cx="476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buNone/>
              <a:defRPr sz="1050" b="0">
                <a:solidFill>
                  <a:srgbClr val="64748B"/>
                </a:solidFill>
                <a:latin typeface="Yu Gothic"/>
                <a:ea typeface="Yu Gothic"/>
                <a:cs typeface="Yu Gothic"/>
              </a:defRPr>
            </a:pPr>
            <a:r>
              <a:rPr sz="1050" b="0">
                <a:solidFill>
                  <a:srgbClr val="64748B"/>
                </a:solidFill>
                <a:latin typeface="Yu Gothic"/>
                <a:ea typeface="Yu Gothic"/>
                <a:cs typeface="Yu Gothic"/>
              </a:rPr>
              <a:t>06</a:t>
            </a:r>
          </a:p>
        </p:txBody>
      </p:sp>
      <p:sp>
        <p:nvSpPr>
          <p:cNvPr id="5" name="右矢印 4">
            <a:extLst xmlns:a="http://schemas.openxmlformats.org/drawingml/2006/main">
              <a:ext uri="{FF2B5EF4-FFF2-40B4-BE49-F238E27FC236}">
                <a16:creationId xmlns:a16="http://schemas.microsoft.com/office/drawing/2014/main" id="{5ACB84A2-B2FD-41BB-A309-5E19CCC1E01F}"/>
              </a:ext>
            </a:extLst>
          </p:cNvPr>
          <p:cNvSpPr>
            <a:spLocks xmlns:a="http://schemas.openxmlformats.org/drawingml/2006/main" noGrp="1"/>
          </p:cNvSpPr>
          <p:nvPr/>
        </p:nvSpPr>
        <p:spPr>
          <a:xfrm xmlns:a="http://schemas.openxmlformats.org/drawingml/2006/main">
            <a:off x="2857500" y="2886075"/>
            <a:ext cx="723900" cy="285750"/>
          </a:xfrm>
          <a:prstGeom xmlns:a="http://schemas.openxmlformats.org/drawingml/2006/main" prst="rightArrow">
            <a:avLst/>
          </a:prstGeom>
          <a:solidFill xmlns:a="http://schemas.openxmlformats.org/drawingml/2006/main">
            <a:srgbClr val="2563EB"/>
          </a:solidFill>
          <a:ln xmlns:a="http://schemas.openxmlformats.org/drawingml/2006/main" w="0">
            <a:solidFill>
              <a:srgbClr val="2563EB"/>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右矢印 5">
            <a:extLst xmlns:a="http://schemas.openxmlformats.org/drawingml/2006/main">
              <a:ext uri="{FF2B5EF4-FFF2-40B4-BE49-F238E27FC236}">
                <a16:creationId xmlns:a16="http://schemas.microsoft.com/office/drawing/2014/main" id="{A392FB28-107F-4343-B6F4-C01FC65427E6}"/>
              </a:ext>
            </a:extLst>
          </p:cNvPr>
          <p:cNvSpPr>
            <a:spLocks xmlns:a="http://schemas.openxmlformats.org/drawingml/2006/main" noGrp="1"/>
          </p:cNvSpPr>
          <p:nvPr/>
        </p:nvSpPr>
        <p:spPr>
          <a:xfrm xmlns:a="http://schemas.openxmlformats.org/drawingml/2006/main">
            <a:off x="5572125" y="1857375"/>
            <a:ext cx="781050" cy="228600"/>
          </a:xfrm>
          <a:prstGeom xmlns:a="http://schemas.openxmlformats.org/drawingml/2006/main" prst="rightArrow">
            <a:avLst/>
          </a:prstGeom>
          <a:solidFill xmlns:a="http://schemas.openxmlformats.org/drawingml/2006/main">
            <a:srgbClr val="2563EB"/>
          </a:solidFill>
          <a:ln xmlns:a="http://schemas.openxmlformats.org/drawingml/2006/main" w="0">
            <a:solidFill>
              <a:srgbClr val="2563EB"/>
            </a:solidFill>
            <a:prstDash val="solid"/>
          </a:ln>
        </p:spPr>
        <p:txBody>
          <a:bodyPr xmlns:a="http://schemas.openxmlformats.org/drawingml/2006/main"/>
          <a:lstStyle xmlns:a="http://schemas.openxmlformats.org/drawingml/2006/main"/>
          <a:p xmlns:a="http://schemas.openxmlformats.org/drawingml/2006/main">
            <a:endParaRPr/>
          </a:p>
        </p:txBody>
      </p:sp>
      <p:sp>
        <p:nvSpPr>
          <p:cNvPr id="7" name="右矢印 6">
            <a:extLst xmlns:a="http://schemas.openxmlformats.org/drawingml/2006/main">
              <a:ext uri="{FF2B5EF4-FFF2-40B4-BE49-F238E27FC236}">
                <a16:creationId xmlns:a16="http://schemas.microsoft.com/office/drawing/2014/main" id="{2C44CEEF-A69A-4B94-B7C1-F1084EEA7A7D}"/>
              </a:ext>
            </a:extLst>
          </p:cNvPr>
          <p:cNvSpPr>
            <a:spLocks xmlns:a="http://schemas.openxmlformats.org/drawingml/2006/main" noGrp="1"/>
          </p:cNvSpPr>
          <p:nvPr/>
        </p:nvSpPr>
        <p:spPr>
          <a:xfrm xmlns:a="http://schemas.openxmlformats.org/drawingml/2006/main">
            <a:off x="5572125" y="3076575"/>
            <a:ext cx="781050" cy="228600"/>
          </a:xfrm>
          <a:prstGeom xmlns:a="http://schemas.openxmlformats.org/drawingml/2006/main" prst="rightArrow">
            <a:avLst/>
          </a:prstGeom>
          <a:solidFill xmlns:a="http://schemas.openxmlformats.org/drawingml/2006/main">
            <a:srgbClr val="2563EB"/>
          </a:solidFill>
          <a:ln xmlns:a="http://schemas.openxmlformats.org/drawingml/2006/main" w="0">
            <a:solidFill>
              <a:srgbClr val="2563EB"/>
            </a:solidFill>
            <a:prstDash val="solid"/>
          </a:ln>
        </p:spPr>
        <p:txBody>
          <a:bodyPr xmlns:a="http://schemas.openxmlformats.org/drawingml/2006/main"/>
          <a:lstStyle xmlns:a="http://schemas.openxmlformats.org/drawingml/2006/main"/>
          <a:p xmlns:a="http://schemas.openxmlformats.org/drawingml/2006/main">
            <a:endParaRPr/>
          </a:p>
        </p:txBody>
      </p:sp>
      <p:sp>
        <p:nvSpPr>
          <p:cNvPr id="8" name="右矢印 7">
            <a:extLst xmlns:a="http://schemas.openxmlformats.org/drawingml/2006/main">
              <a:ext uri="{FF2B5EF4-FFF2-40B4-BE49-F238E27FC236}">
                <a16:creationId xmlns:a16="http://schemas.microsoft.com/office/drawing/2014/main" id="{165C1FB6-07EB-4CB8-A00E-804DB69EC155}"/>
              </a:ext>
            </a:extLst>
          </p:cNvPr>
          <p:cNvSpPr>
            <a:spLocks xmlns:a="http://schemas.openxmlformats.org/drawingml/2006/main" noGrp="1"/>
          </p:cNvSpPr>
          <p:nvPr/>
        </p:nvSpPr>
        <p:spPr>
          <a:xfrm xmlns:a="http://schemas.openxmlformats.org/drawingml/2006/main">
            <a:off x="5572125" y="4295775"/>
            <a:ext cx="781050" cy="228600"/>
          </a:xfrm>
          <a:prstGeom xmlns:a="http://schemas.openxmlformats.org/drawingml/2006/main" prst="rightArrow">
            <a:avLst/>
          </a:prstGeom>
          <a:solidFill xmlns:a="http://schemas.openxmlformats.org/drawingml/2006/main">
            <a:srgbClr val="2563EB"/>
          </a:solidFill>
          <a:ln xmlns:a="http://schemas.openxmlformats.org/drawingml/2006/main" w="0">
            <a:solidFill>
              <a:srgbClr val="2563EB"/>
            </a:solidFill>
            <a:prstDash val="solid"/>
          </a:ln>
        </p:spPr>
        <p:txBody>
          <a:bodyPr xmlns:a="http://schemas.openxmlformats.org/drawingml/2006/main"/>
          <a:lstStyle xmlns:a="http://schemas.openxmlformats.org/drawingml/2006/main"/>
          <a:p xmlns:a="http://schemas.openxmlformats.org/drawingml/2006/main">
            <a:endParaRPr/>
          </a:p>
        </p:txBody>
      </p:sp>
      <p:sp>
        <p:nvSpPr>
          <p:cNvPr id="9" name="正方形/長方形 8">
            <a:extLst xmlns:a="http://schemas.openxmlformats.org/drawingml/2006/main">
              <a:ext uri="{FF2B5EF4-FFF2-40B4-BE49-F238E27FC236}">
                <a16:creationId xmlns:a16="http://schemas.microsoft.com/office/drawing/2014/main" id="{B39B1DB8-1FB2-471E-B6F3-89D503FC4611}"/>
              </a:ext>
            </a:extLst>
          </p:cNvPr>
          <p:cNvSpPr>
            <a:spLocks xmlns:a="http://schemas.openxmlformats.org/drawingml/2006/main" noGrp="1"/>
          </p:cNvSpPr>
          <p:nvPr/>
        </p:nvSpPr>
        <p:spPr>
          <a:xfrm xmlns:a="http://schemas.openxmlformats.org/drawingml/2006/main">
            <a:off x="523875" y="1857375"/>
            <a:ext cx="2286000" cy="3143250"/>
          </a:xfrm>
          <a:prstGeom xmlns:a="http://schemas.openxmlformats.org/drawingml/2006/main" prst="rect">
            <a:avLst/>
          </a:prstGeom>
          <a:solidFill xmlns:a="http://schemas.openxmlformats.org/drawingml/2006/main">
            <a:srgbClr val="F3F4F6"/>
          </a:solidFill>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endParaRPr/>
          </a:p>
        </p:txBody>
      </p:sp>
      <p:sp>
        <p:nvSpPr>
          <p:cNvPr id="10" name="正方形/長方形 9">
            <a:extLst xmlns:a="http://schemas.openxmlformats.org/drawingml/2006/main">
              <a:ext uri="{FF2B5EF4-FFF2-40B4-BE49-F238E27FC236}">
                <a16:creationId xmlns:a16="http://schemas.microsoft.com/office/drawing/2014/main" id="{ECC3310B-ED7E-41DB-8E88-B208F1B965FD}"/>
              </a:ext>
            </a:extLst>
          </p:cNvPr>
          <p:cNvSpPr>
            <a:spLocks xmlns:a="http://schemas.openxmlformats.org/drawingml/2006/main" noGrp="1"/>
          </p:cNvSpPr>
          <p:nvPr/>
        </p:nvSpPr>
        <p:spPr>
          <a:xfrm xmlns:a="http://schemas.openxmlformats.org/drawingml/2006/main">
            <a:off x="762000" y="2076450"/>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buNone/>
              <a:defRPr sz="1800" b="1">
                <a:solidFill>
                  <a:srgbClr val="111827"/>
                </a:solidFill>
                <a:latin typeface="Yu Gothic"/>
                <a:ea typeface="Yu Gothic"/>
                <a:cs typeface="Yu Gothic"/>
              </a:defRPr>
            </a:pPr>
            <a:r>
              <a:rPr sz="1800" b="1">
                <a:solidFill>
                  <a:srgbClr val="111827"/>
                </a:solidFill>
                <a:latin typeface="Yu Gothic"/>
                <a:ea typeface="Yu Gothic"/>
                <a:cs typeface="Yu Gothic"/>
              </a:rPr>
              <a:t>共通の近傍</a:t>
            </a:r>
          </a:p>
        </p:txBody>
      </p:sp>
      <p:sp>
        <p:nvSpPr>
          <p:cNvPr id="11" name="円/楕円 10">
            <a:extLst xmlns:a="http://schemas.openxmlformats.org/drawingml/2006/main">
              <a:ext uri="{FF2B5EF4-FFF2-40B4-BE49-F238E27FC236}">
                <a16:creationId xmlns:a16="http://schemas.microsoft.com/office/drawing/2014/main" id="{01B85A78-2D60-48C7-A83B-A0DC863F63B7}"/>
              </a:ext>
            </a:extLst>
          </p:cNvPr>
          <p:cNvSpPr>
            <a:spLocks xmlns:a="http://schemas.openxmlformats.org/drawingml/2006/main" noGrp="1"/>
          </p:cNvSpPr>
          <p:nvPr/>
        </p:nvSpPr>
        <p:spPr>
          <a:xfrm xmlns:a="http://schemas.openxmlformats.org/drawingml/2006/main">
            <a:off x="876300" y="2714625"/>
            <a:ext cx="133350" cy="133350"/>
          </a:xfrm>
          <a:prstGeom xmlns:a="http://schemas.openxmlformats.org/drawingml/2006/main" prst="ellipse">
            <a:avLst/>
          </a:prstGeom>
          <a:solidFill xmlns:a="http://schemas.openxmlformats.org/drawingml/2006/main">
            <a:srgbClr val="94A3B8"/>
          </a:solidFill>
          <a:ln xmlns:a="http://schemas.openxmlformats.org/drawingml/2006/main" w="0">
            <a:solidFill>
              <a:srgbClr val="94A3B8"/>
            </a:solidFill>
            <a:prstDash val="solid"/>
          </a:ln>
        </p:spPr>
        <p:txBody>
          <a:bodyPr xmlns:a="http://schemas.openxmlformats.org/drawingml/2006/main"/>
          <a:lstStyle xmlns:a="http://schemas.openxmlformats.org/drawingml/2006/main"/>
          <a:p xmlns:a="http://schemas.openxmlformats.org/drawingml/2006/main">
            <a:endParaRPr/>
          </a:p>
        </p:txBody>
      </p:sp>
      <p:sp>
        <p:nvSpPr>
          <p:cNvPr id="12" name="円/楕円 11">
            <a:extLst xmlns:a="http://schemas.openxmlformats.org/drawingml/2006/main">
              <a:ext uri="{FF2B5EF4-FFF2-40B4-BE49-F238E27FC236}">
                <a16:creationId xmlns:a16="http://schemas.microsoft.com/office/drawing/2014/main" id="{6CBDA8EC-D3BF-4CE2-976C-79E5688F6167}"/>
              </a:ext>
            </a:extLst>
          </p:cNvPr>
          <p:cNvSpPr>
            <a:spLocks xmlns:a="http://schemas.openxmlformats.org/drawingml/2006/main" noGrp="1"/>
          </p:cNvSpPr>
          <p:nvPr/>
        </p:nvSpPr>
        <p:spPr>
          <a:xfrm xmlns:a="http://schemas.openxmlformats.org/drawingml/2006/main">
            <a:off x="1381125" y="2543175"/>
            <a:ext cx="133350" cy="133350"/>
          </a:xfrm>
          <a:prstGeom xmlns:a="http://schemas.openxmlformats.org/drawingml/2006/main" prst="ellipse">
            <a:avLst/>
          </a:prstGeom>
          <a:solidFill xmlns:a="http://schemas.openxmlformats.org/drawingml/2006/main">
            <a:srgbClr val="94A3B8"/>
          </a:solidFill>
          <a:ln xmlns:a="http://schemas.openxmlformats.org/drawingml/2006/main" w="0">
            <a:solidFill>
              <a:srgbClr val="94A3B8"/>
            </a:solidFill>
            <a:prstDash val="solid"/>
          </a:ln>
        </p:spPr>
        <p:txBody>
          <a:bodyPr xmlns:a="http://schemas.openxmlformats.org/drawingml/2006/main"/>
          <a:lstStyle xmlns:a="http://schemas.openxmlformats.org/drawingml/2006/main"/>
          <a:p xmlns:a="http://schemas.openxmlformats.org/drawingml/2006/main">
            <a:endParaRPr/>
          </a:p>
        </p:txBody>
      </p:sp>
      <p:sp>
        <p:nvSpPr>
          <p:cNvPr id="13" name="円/楕円 12">
            <a:extLst xmlns:a="http://schemas.openxmlformats.org/drawingml/2006/main">
              <a:ext uri="{FF2B5EF4-FFF2-40B4-BE49-F238E27FC236}">
                <a16:creationId xmlns:a16="http://schemas.microsoft.com/office/drawing/2014/main" id="{026CD661-73C3-443A-A206-C05145151C63}"/>
              </a:ext>
            </a:extLst>
          </p:cNvPr>
          <p:cNvSpPr>
            <a:spLocks xmlns:a="http://schemas.openxmlformats.org/drawingml/2006/main" noGrp="1"/>
          </p:cNvSpPr>
          <p:nvPr/>
        </p:nvSpPr>
        <p:spPr>
          <a:xfrm xmlns:a="http://schemas.openxmlformats.org/drawingml/2006/main">
            <a:off x="1857375" y="2809875"/>
            <a:ext cx="133350" cy="133350"/>
          </a:xfrm>
          <a:prstGeom xmlns:a="http://schemas.openxmlformats.org/drawingml/2006/main" prst="ellipse">
            <a:avLst/>
          </a:prstGeom>
          <a:solidFill xmlns:a="http://schemas.openxmlformats.org/drawingml/2006/main">
            <a:srgbClr val="94A3B8"/>
          </a:solidFill>
          <a:ln xmlns:a="http://schemas.openxmlformats.org/drawingml/2006/main" w="0">
            <a:solidFill>
              <a:srgbClr val="94A3B8"/>
            </a:solidFill>
            <a:prstDash val="solid"/>
          </a:ln>
        </p:spPr>
        <p:txBody>
          <a:bodyPr xmlns:a="http://schemas.openxmlformats.org/drawingml/2006/main"/>
          <a:lstStyle xmlns:a="http://schemas.openxmlformats.org/drawingml/2006/main"/>
          <a:p xmlns:a="http://schemas.openxmlformats.org/drawingml/2006/main">
            <a:endParaRPr/>
          </a:p>
        </p:txBody>
      </p:sp>
      <p:sp>
        <p:nvSpPr>
          <p:cNvPr id="14" name="円/楕円 13">
            <a:extLst xmlns:a="http://schemas.openxmlformats.org/drawingml/2006/main">
              <a:ext uri="{FF2B5EF4-FFF2-40B4-BE49-F238E27FC236}">
                <a16:creationId xmlns:a16="http://schemas.microsoft.com/office/drawing/2014/main" id="{F1EC58DC-F218-4D0C-A358-C41509E3EE9E}"/>
              </a:ext>
            </a:extLst>
          </p:cNvPr>
          <p:cNvSpPr>
            <a:spLocks xmlns:a="http://schemas.openxmlformats.org/drawingml/2006/main" noGrp="1"/>
          </p:cNvSpPr>
          <p:nvPr/>
        </p:nvSpPr>
        <p:spPr>
          <a:xfrm xmlns:a="http://schemas.openxmlformats.org/drawingml/2006/main">
            <a:off x="1047750" y="3333750"/>
            <a:ext cx="133350" cy="133350"/>
          </a:xfrm>
          <a:prstGeom xmlns:a="http://schemas.openxmlformats.org/drawingml/2006/main" prst="ellipse">
            <a:avLst/>
          </a:prstGeom>
          <a:solidFill xmlns:a="http://schemas.openxmlformats.org/drawingml/2006/main">
            <a:srgbClr val="94A3B8"/>
          </a:solidFill>
          <a:ln xmlns:a="http://schemas.openxmlformats.org/drawingml/2006/main" w="0">
            <a:solidFill>
              <a:srgbClr val="94A3B8"/>
            </a:solidFill>
            <a:prstDash val="solid"/>
          </a:ln>
        </p:spPr>
        <p:txBody>
          <a:bodyPr xmlns:a="http://schemas.openxmlformats.org/drawingml/2006/main"/>
          <a:lstStyle xmlns:a="http://schemas.openxmlformats.org/drawingml/2006/main"/>
          <a:p xmlns:a="http://schemas.openxmlformats.org/drawingml/2006/main">
            <a:endParaRPr/>
          </a:p>
        </p:txBody>
      </p:sp>
      <p:sp>
        <p:nvSpPr>
          <p:cNvPr id="15" name="円/楕円 14">
            <a:extLst xmlns:a="http://schemas.openxmlformats.org/drawingml/2006/main">
              <a:ext uri="{FF2B5EF4-FFF2-40B4-BE49-F238E27FC236}">
                <a16:creationId xmlns:a16="http://schemas.microsoft.com/office/drawing/2014/main" id="{934DBD67-38F1-4FBE-A736-EB420663EFC3}"/>
              </a:ext>
            </a:extLst>
          </p:cNvPr>
          <p:cNvSpPr>
            <a:spLocks xmlns:a="http://schemas.openxmlformats.org/drawingml/2006/main" noGrp="1"/>
          </p:cNvSpPr>
          <p:nvPr/>
        </p:nvSpPr>
        <p:spPr>
          <a:xfrm xmlns:a="http://schemas.openxmlformats.org/drawingml/2006/main">
            <a:off x="1619250" y="3190875"/>
            <a:ext cx="209550" cy="209550"/>
          </a:xfrm>
          <a:prstGeom xmlns:a="http://schemas.openxmlformats.org/drawingml/2006/main" prst="ellipse">
            <a:avLst/>
          </a:prstGeom>
          <a:solidFill xmlns:a="http://schemas.openxmlformats.org/drawingml/2006/main">
            <a:srgbClr val="F59E0B"/>
          </a:solidFill>
          <a:ln xmlns:a="http://schemas.openxmlformats.org/drawingml/2006/main" w="0">
            <a:solidFill>
              <a:srgbClr val="F59E0B"/>
            </a:solidFill>
            <a:prstDash val="solid"/>
          </a:ln>
        </p:spPr>
        <p:txBody>
          <a:bodyPr xmlns:a="http://schemas.openxmlformats.org/drawingml/2006/main"/>
          <a:lstStyle xmlns:a="http://schemas.openxmlformats.org/drawingml/2006/main"/>
          <a:p xmlns:a="http://schemas.openxmlformats.org/drawingml/2006/main">
            <a:endParaRPr/>
          </a:p>
        </p:txBody>
      </p:sp>
      <p:sp>
        <p:nvSpPr>
          <p:cNvPr id="16" name="円/楕円 15">
            <a:extLst xmlns:a="http://schemas.openxmlformats.org/drawingml/2006/main">
              <a:ext uri="{FF2B5EF4-FFF2-40B4-BE49-F238E27FC236}">
                <a16:creationId xmlns:a16="http://schemas.microsoft.com/office/drawing/2014/main" id="{D578EFED-1FD7-4D4E-A728-4ACE43991B88}"/>
              </a:ext>
            </a:extLst>
          </p:cNvPr>
          <p:cNvSpPr>
            <a:spLocks xmlns:a="http://schemas.openxmlformats.org/drawingml/2006/main" noGrp="1"/>
          </p:cNvSpPr>
          <p:nvPr/>
        </p:nvSpPr>
        <p:spPr>
          <a:xfrm xmlns:a="http://schemas.openxmlformats.org/drawingml/2006/main">
            <a:off x="2143125" y="3476625"/>
            <a:ext cx="133350" cy="133350"/>
          </a:xfrm>
          <a:prstGeom xmlns:a="http://schemas.openxmlformats.org/drawingml/2006/main" prst="ellipse">
            <a:avLst/>
          </a:prstGeom>
          <a:solidFill xmlns:a="http://schemas.openxmlformats.org/drawingml/2006/main">
            <a:srgbClr val="94A3B8"/>
          </a:solidFill>
          <a:ln xmlns:a="http://schemas.openxmlformats.org/drawingml/2006/main" w="0">
            <a:solidFill>
              <a:srgbClr val="94A3B8"/>
            </a:solidFill>
            <a:prstDash val="solid"/>
          </a:ln>
        </p:spPr>
        <p:txBody>
          <a:bodyPr xmlns:a="http://schemas.openxmlformats.org/drawingml/2006/main"/>
          <a:lstStyle xmlns:a="http://schemas.openxmlformats.org/drawingml/2006/main"/>
          <a:p xmlns:a="http://schemas.openxmlformats.org/drawingml/2006/main">
            <a:endParaRPr/>
          </a:p>
        </p:txBody>
      </p:sp>
      <p:sp>
        <p:nvSpPr>
          <p:cNvPr id="17" name="円/楕円 16">
            <a:extLst xmlns:a="http://schemas.openxmlformats.org/drawingml/2006/main">
              <a:ext uri="{FF2B5EF4-FFF2-40B4-BE49-F238E27FC236}">
                <a16:creationId xmlns:a16="http://schemas.microsoft.com/office/drawing/2014/main" id="{E23878D3-1F65-4C95-B888-CF9837DCBC37}"/>
              </a:ext>
            </a:extLst>
          </p:cNvPr>
          <p:cNvSpPr>
            <a:spLocks xmlns:a="http://schemas.openxmlformats.org/drawingml/2006/main" noGrp="1"/>
          </p:cNvSpPr>
          <p:nvPr/>
        </p:nvSpPr>
        <p:spPr>
          <a:xfrm xmlns:a="http://schemas.openxmlformats.org/drawingml/2006/main">
            <a:off x="1238250" y="4000500"/>
            <a:ext cx="133350" cy="133350"/>
          </a:xfrm>
          <a:prstGeom xmlns:a="http://schemas.openxmlformats.org/drawingml/2006/main" prst="ellipse">
            <a:avLst/>
          </a:prstGeom>
          <a:solidFill xmlns:a="http://schemas.openxmlformats.org/drawingml/2006/main">
            <a:srgbClr val="94A3B8"/>
          </a:solidFill>
          <a:ln xmlns:a="http://schemas.openxmlformats.org/drawingml/2006/main" w="0">
            <a:solidFill>
              <a:srgbClr val="94A3B8"/>
            </a:solidFill>
            <a:prstDash val="solid"/>
          </a:ln>
        </p:spPr>
        <p:txBody>
          <a:bodyPr xmlns:a="http://schemas.openxmlformats.org/drawingml/2006/main"/>
          <a:lstStyle xmlns:a="http://schemas.openxmlformats.org/drawingml/2006/main"/>
          <a:p xmlns:a="http://schemas.openxmlformats.org/drawingml/2006/main">
            <a:endParaRPr/>
          </a:p>
        </p:txBody>
      </p:sp>
      <p:sp>
        <p:nvSpPr>
          <p:cNvPr id="18" name="円/楕円 17">
            <a:extLst xmlns:a="http://schemas.openxmlformats.org/drawingml/2006/main">
              <a:ext uri="{FF2B5EF4-FFF2-40B4-BE49-F238E27FC236}">
                <a16:creationId xmlns:a16="http://schemas.microsoft.com/office/drawing/2014/main" id="{5100B1EE-BF39-4B7B-A678-827873C70574}"/>
              </a:ext>
            </a:extLst>
          </p:cNvPr>
          <p:cNvSpPr>
            <a:spLocks xmlns:a="http://schemas.openxmlformats.org/drawingml/2006/main" noGrp="1"/>
          </p:cNvSpPr>
          <p:nvPr/>
        </p:nvSpPr>
        <p:spPr>
          <a:xfrm xmlns:a="http://schemas.openxmlformats.org/drawingml/2006/main">
            <a:off x="1952625" y="4191000"/>
            <a:ext cx="133350" cy="133350"/>
          </a:xfrm>
          <a:prstGeom xmlns:a="http://schemas.openxmlformats.org/drawingml/2006/main" prst="ellipse">
            <a:avLst/>
          </a:prstGeom>
          <a:solidFill xmlns:a="http://schemas.openxmlformats.org/drawingml/2006/main">
            <a:srgbClr val="94A3B8"/>
          </a:solidFill>
          <a:ln xmlns:a="http://schemas.openxmlformats.org/drawingml/2006/main" w="0">
            <a:solidFill>
              <a:srgbClr val="94A3B8"/>
            </a:solidFill>
            <a:prstDash val="solid"/>
          </a:ln>
        </p:spPr>
        <p:txBody>
          <a:bodyPr xmlns:a="http://schemas.openxmlformats.org/drawingml/2006/main"/>
          <a:lstStyle xmlns:a="http://schemas.openxmlformats.org/drawingml/2006/main"/>
          <a:p xmlns:a="http://schemas.openxmlformats.org/drawingml/2006/main">
            <a:endParaRPr/>
          </a:p>
        </p:txBody>
      </p:sp>
      <p:sp>
        <p:nvSpPr>
          <p:cNvPr id="19" name="円/楕円 18">
            <a:extLst xmlns:a="http://schemas.openxmlformats.org/drawingml/2006/main">
              <a:ext uri="{FF2B5EF4-FFF2-40B4-BE49-F238E27FC236}">
                <a16:creationId xmlns:a16="http://schemas.microsoft.com/office/drawing/2014/main" id="{1C309830-12CF-47B5-8846-6EFD0A3BA2B1}"/>
              </a:ext>
            </a:extLst>
          </p:cNvPr>
          <p:cNvSpPr>
            <a:spLocks xmlns:a="http://schemas.openxmlformats.org/drawingml/2006/main" noGrp="1"/>
          </p:cNvSpPr>
          <p:nvPr/>
        </p:nvSpPr>
        <p:spPr>
          <a:xfrm xmlns:a="http://schemas.openxmlformats.org/drawingml/2006/main">
            <a:off x="857250" y="4429125"/>
            <a:ext cx="133350" cy="133350"/>
          </a:xfrm>
          <a:prstGeom xmlns:a="http://schemas.openxmlformats.org/drawingml/2006/main" prst="ellipse">
            <a:avLst/>
          </a:prstGeom>
          <a:solidFill xmlns:a="http://schemas.openxmlformats.org/drawingml/2006/main">
            <a:srgbClr val="94A3B8"/>
          </a:solidFill>
          <a:ln xmlns:a="http://schemas.openxmlformats.org/drawingml/2006/main" w="0">
            <a:solidFill>
              <a:srgbClr val="94A3B8"/>
            </a:solidFill>
            <a:prstDash val="solid"/>
          </a:ln>
        </p:spPr>
        <p:txBody>
          <a:bodyPr xmlns:a="http://schemas.openxmlformats.org/drawingml/2006/main"/>
          <a:lstStyle xmlns:a="http://schemas.openxmlformats.org/drawingml/2006/main"/>
          <a:p xmlns:a="http://schemas.openxmlformats.org/drawingml/2006/main">
            <a:endParaRPr/>
          </a:p>
        </p:txBody>
      </p:sp>
      <p:sp>
        <p:nvSpPr>
          <p:cNvPr id="20" name="正方形/長方形 19">
            <a:extLst xmlns:a="http://schemas.openxmlformats.org/drawingml/2006/main">
              <a:ext uri="{FF2B5EF4-FFF2-40B4-BE49-F238E27FC236}">
                <a16:creationId xmlns:a16="http://schemas.microsoft.com/office/drawing/2014/main" id="{6EB69FA6-29D6-4F32-B3CD-AFB9F1E8896A}"/>
              </a:ext>
            </a:extLst>
          </p:cNvPr>
          <p:cNvSpPr>
            <a:spLocks xmlns:a="http://schemas.openxmlformats.org/drawingml/2006/main" noGrp="1"/>
          </p:cNvSpPr>
          <p:nvPr/>
        </p:nvSpPr>
        <p:spPr>
          <a:xfrm xmlns:a="http://schemas.openxmlformats.org/drawingml/2006/main">
            <a:off x="742950" y="4619625"/>
            <a:ext cx="18573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buNone/>
              <a:defRPr sz="1200" b="0">
                <a:solidFill>
                  <a:srgbClr val="64748B"/>
                </a:solidFill>
                <a:latin typeface="Yu Gothic"/>
                <a:ea typeface="Yu Gothic"/>
                <a:cs typeface="Yu Gothic"/>
              </a:defRPr>
            </a:pPr>
            <a:r>
              <a:rPr sz="1200" b="0">
                <a:solidFill>
                  <a:srgbClr val="64748B"/>
                </a:solidFill>
                <a:latin typeface="Yu Gothic"/>
                <a:ea typeface="Yu Gothic"/>
                <a:cs typeface="Yu Gothic"/>
              </a:rPr>
              <a:t>同じサンプル群を使う</a:t>
            </a:r>
          </a:p>
        </p:txBody>
      </p:sp>
      <p:sp>
        <p:nvSpPr>
          <p:cNvPr id="21" name="正方形/長方形 20">
            <a:extLst xmlns:a="http://schemas.openxmlformats.org/drawingml/2006/main">
              <a:ext uri="{FF2B5EF4-FFF2-40B4-BE49-F238E27FC236}">
                <a16:creationId xmlns:a16="http://schemas.microsoft.com/office/drawing/2014/main" id="{EC800AE9-FCD9-4B0D-BC1D-B489750278D8}"/>
              </a:ext>
            </a:extLst>
          </p:cNvPr>
          <p:cNvSpPr>
            <a:spLocks xmlns:a="http://schemas.openxmlformats.org/drawingml/2006/main" noGrp="1"/>
          </p:cNvSpPr>
          <p:nvPr/>
        </p:nvSpPr>
        <p:spPr>
          <a:xfrm xmlns:a="http://schemas.openxmlformats.org/drawingml/2006/main">
            <a:off x="3619500" y="2428875"/>
            <a:ext cx="1905000" cy="1219200"/>
          </a:xfrm>
          <a:prstGeom xmlns:a="http://schemas.openxmlformats.org/drawingml/2006/main" prst="rect">
            <a:avLst/>
          </a:prstGeom>
          <a:solidFill xmlns:a="http://schemas.openxmlformats.org/drawingml/2006/main">
            <a:srgbClr val="111827"/>
          </a:solidFill>
          <a:ln xmlns:a="http://schemas.openxmlformats.org/drawingml/2006/main" w="0">
            <a:solidFill>
              <a:srgbClr val="111827"/>
            </a:solidFill>
            <a:prstDash val="solid"/>
          </a:ln>
        </p:spPr>
        <p:txBody>
          <a:bodyPr xmlns:a="http://schemas.openxmlformats.org/drawingml/2006/main"/>
          <a:lstStyle xmlns:a="http://schemas.openxmlformats.org/drawingml/2006/main"/>
          <a:p xmlns:a="http://schemas.openxmlformats.org/drawingml/2006/main">
            <a:endParaRPr/>
          </a:p>
        </p:txBody>
      </p:sp>
      <p:sp>
        <p:nvSpPr>
          <p:cNvPr id="22" name="正方形/長方形 21">
            <a:extLst xmlns:a="http://schemas.openxmlformats.org/drawingml/2006/main">
              <a:ext uri="{FF2B5EF4-FFF2-40B4-BE49-F238E27FC236}">
                <a16:creationId xmlns:a16="http://schemas.microsoft.com/office/drawing/2014/main" id="{B87FBE58-0834-42B8-8F43-85E76B45EFEB}"/>
              </a:ext>
            </a:extLst>
          </p:cNvPr>
          <p:cNvSpPr>
            <a:spLocks xmlns:a="http://schemas.openxmlformats.org/drawingml/2006/main" noGrp="1"/>
          </p:cNvSpPr>
          <p:nvPr/>
        </p:nvSpPr>
        <p:spPr>
          <a:xfrm xmlns:a="http://schemas.openxmlformats.org/drawingml/2006/main">
            <a:off x="3619500" y="2609850"/>
            <a:ext cx="19050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ctr">
              <a:buNone/>
              <a:defRPr sz="2100" b="1">
                <a:solidFill>
                  <a:srgbClr val="FFFFFF"/>
                </a:solidFill>
                <a:latin typeface="Yu Gothic"/>
                <a:ea typeface="Yu Gothic"/>
                <a:cs typeface="Yu Gothic"/>
              </a:defRPr>
            </a:pPr>
            <a:r>
              <a:rPr sz="2100" b="1">
                <a:solidFill>
                  <a:srgbClr val="FFFFFF"/>
                </a:solidFill>
                <a:latin typeface="Yu Gothic"/>
                <a:ea typeface="Yu Gothic"/>
                <a:cs typeface="Yu Gothic"/>
              </a:rPr>
              <a:t>BLACK</a:t>
            </a:r>
          </a:p>
          <a:p xmlns:a="http://schemas.openxmlformats.org/drawingml/2006/main">
            <a:pPr algn="ctr">
              <a:buNone/>
              <a:defRPr sz="2100" b="1">
                <a:solidFill>
                  <a:srgbClr val="FFFFFF"/>
                </a:solidFill>
                <a:latin typeface="Yu Gothic"/>
                <a:ea typeface="Yu Gothic"/>
                <a:cs typeface="Yu Gothic"/>
              </a:defRPr>
            </a:pPr>
            <a:r>
              <a:rPr sz="2100" b="1">
                <a:solidFill>
                  <a:srgbClr val="FFFFFF"/>
                </a:solidFill>
                <a:latin typeface="Yu Gothic"/>
                <a:ea typeface="Yu Gothic"/>
                <a:cs typeface="Yu Gothic"/>
              </a:rPr>
              <a:t>BOX</a:t>
            </a:r>
          </a:p>
        </p:txBody>
      </p:sp>
      <p:sp>
        <p:nvSpPr>
          <p:cNvPr id="23" name="正方形/長方形 22">
            <a:extLst xmlns:a="http://schemas.openxmlformats.org/drawingml/2006/main">
              <a:ext uri="{FF2B5EF4-FFF2-40B4-BE49-F238E27FC236}">
                <a16:creationId xmlns:a16="http://schemas.microsoft.com/office/drawing/2014/main" id="{1BA368D7-7D39-4F06-AD92-EA6E8938B8EF}"/>
              </a:ext>
            </a:extLst>
          </p:cNvPr>
          <p:cNvSpPr>
            <a:spLocks xmlns:a="http://schemas.openxmlformats.org/drawingml/2006/main" noGrp="1"/>
          </p:cNvSpPr>
          <p:nvPr/>
        </p:nvSpPr>
        <p:spPr>
          <a:xfrm xmlns:a="http://schemas.openxmlformats.org/drawingml/2006/main">
            <a:off x="6429375" y="1428750"/>
            <a:ext cx="4953000" cy="952500"/>
          </a:xfrm>
          <a:prstGeom xmlns:a="http://schemas.openxmlformats.org/drawingml/2006/main" prst="rect">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endParaRPr/>
          </a:p>
        </p:txBody>
      </p:sp>
      <p:sp>
        <p:nvSpPr>
          <p:cNvPr id="24" name="正方形/長方形 23">
            <a:extLst xmlns:a="http://schemas.openxmlformats.org/drawingml/2006/main">
              <a:ext uri="{FF2B5EF4-FFF2-40B4-BE49-F238E27FC236}">
                <a16:creationId xmlns:a16="http://schemas.microsoft.com/office/drawing/2014/main" id="{B9595C5D-93F3-4C71-8E12-DC56FE107BBF}"/>
              </a:ext>
            </a:extLst>
          </p:cNvPr>
          <p:cNvSpPr>
            <a:spLocks xmlns:a="http://schemas.openxmlformats.org/drawingml/2006/main" noGrp="1"/>
          </p:cNvSpPr>
          <p:nvPr/>
        </p:nvSpPr>
        <p:spPr>
          <a:xfrm xmlns:a="http://schemas.openxmlformats.org/drawingml/2006/main">
            <a:off x="6629400" y="1600200"/>
            <a:ext cx="1190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buNone/>
              <a:defRPr sz="1725" b="1">
                <a:solidFill>
                  <a:srgbClr val="2563EB"/>
                </a:solidFill>
                <a:latin typeface="Yu Gothic"/>
                <a:ea typeface="Yu Gothic"/>
                <a:cs typeface="Yu Gothic"/>
              </a:defRPr>
            </a:pPr>
            <a:r>
              <a:rPr sz="1725" b="1">
                <a:solidFill>
                  <a:srgbClr val="2563EB"/>
                </a:solidFill>
                <a:latin typeface="Yu Gothic"/>
                <a:ea typeface="Yu Gothic"/>
                <a:cs typeface="Yu Gothic"/>
              </a:rPr>
              <a:t>クラス A</a:t>
            </a:r>
          </a:p>
        </p:txBody>
      </p:sp>
      <p:sp>
        <p:nvSpPr>
          <p:cNvPr id="25" name="正方形/長方形 24">
            <a:extLst xmlns:a="http://schemas.openxmlformats.org/drawingml/2006/main">
              <a:ext uri="{FF2B5EF4-FFF2-40B4-BE49-F238E27FC236}">
                <a16:creationId xmlns:a16="http://schemas.microsoft.com/office/drawing/2014/main" id="{53C72F9A-DDAE-404F-8C03-5AE57AA8BA27}"/>
              </a:ext>
            </a:extLst>
          </p:cNvPr>
          <p:cNvSpPr>
            <a:spLocks xmlns:a="http://schemas.openxmlformats.org/drawingml/2006/main" noGrp="1"/>
          </p:cNvSpPr>
          <p:nvPr/>
        </p:nvSpPr>
        <p:spPr>
          <a:xfrm xmlns:a="http://schemas.openxmlformats.org/drawingml/2006/main">
            <a:off x="6629400" y="1933575"/>
            <a:ext cx="1428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buNone/>
              <a:defRPr sz="1200" b="0">
                <a:solidFill>
                  <a:srgbClr val="64748B"/>
                </a:solidFill>
                <a:latin typeface="Yu Gothic"/>
                <a:ea typeface="Yu Gothic"/>
                <a:cs typeface="Yu Gothic"/>
              </a:defRPr>
            </a:pPr>
            <a:r>
              <a:rPr sz="1200" b="0">
                <a:solidFill>
                  <a:srgbClr val="64748B"/>
                </a:solidFill>
                <a:latin typeface="Yu Gothic"/>
                <a:ea typeface="Yu Gothic"/>
                <a:cs typeface="Yu Gothic"/>
              </a:rPr>
              <a:t>用の局所モデル</a:t>
            </a:r>
          </a:p>
        </p:txBody>
      </p:sp>
      <p:sp>
        <p:nvSpPr>
          <p:cNvPr id="26" name="正方形/長方形 25">
            <a:extLst xmlns:a="http://schemas.openxmlformats.org/drawingml/2006/main">
              <a:ext uri="{FF2B5EF4-FFF2-40B4-BE49-F238E27FC236}">
                <a16:creationId xmlns:a16="http://schemas.microsoft.com/office/drawing/2014/main" id="{869E9EB9-411B-4B32-91F9-88B41FF2A2B7}"/>
              </a:ext>
            </a:extLst>
          </p:cNvPr>
          <p:cNvSpPr>
            <a:spLocks xmlns:a="http://schemas.openxmlformats.org/drawingml/2006/main" noGrp="1"/>
          </p:cNvSpPr>
          <p:nvPr/>
        </p:nvSpPr>
        <p:spPr>
          <a:xfrm xmlns:a="http://schemas.openxmlformats.org/drawingml/2006/main">
            <a:off x="8429625" y="1600200"/>
            <a:ext cx="1714500" cy="123825"/>
          </a:xfrm>
          <a:prstGeom xmlns:a="http://schemas.openxmlformats.org/drawingml/2006/main" prst="rect">
            <a:avLst/>
          </a:prstGeom>
          <a:solidFill xmlns:a="http://schemas.openxmlformats.org/drawingml/2006/main">
            <a:srgbClr val="2563EB"/>
          </a:solidFill>
          <a:ln xmlns:a="http://schemas.openxmlformats.org/drawingml/2006/main" w="0">
            <a:solidFill>
              <a:srgbClr val="2563EB"/>
            </a:solidFill>
            <a:prstDash val="solid"/>
          </a:ln>
        </p:spPr>
        <p:txBody>
          <a:bodyPr xmlns:a="http://schemas.openxmlformats.org/drawingml/2006/main"/>
          <a:lstStyle xmlns:a="http://schemas.openxmlformats.org/drawingml/2006/main"/>
          <a:p xmlns:a="http://schemas.openxmlformats.org/drawingml/2006/main">
            <a:endParaRPr/>
          </a:p>
        </p:txBody>
      </p:sp>
      <p:sp>
        <p:nvSpPr>
          <p:cNvPr id="27" name="正方形/長方形 26">
            <a:extLst xmlns:a="http://schemas.openxmlformats.org/drawingml/2006/main">
              <a:ext uri="{FF2B5EF4-FFF2-40B4-BE49-F238E27FC236}">
                <a16:creationId xmlns:a16="http://schemas.microsoft.com/office/drawing/2014/main" id="{15BAD9F4-2728-4449-9113-6BB31670F490}"/>
              </a:ext>
            </a:extLst>
          </p:cNvPr>
          <p:cNvSpPr>
            <a:spLocks xmlns:a="http://schemas.openxmlformats.org/drawingml/2006/main" noGrp="1"/>
          </p:cNvSpPr>
          <p:nvPr/>
        </p:nvSpPr>
        <p:spPr>
          <a:xfrm xmlns:a="http://schemas.openxmlformats.org/drawingml/2006/main">
            <a:off x="8429625" y="1819275"/>
            <a:ext cx="1028700" cy="123825"/>
          </a:xfrm>
          <a:prstGeom xmlns:a="http://schemas.openxmlformats.org/drawingml/2006/main" prst="rect">
            <a:avLst/>
          </a:prstGeom>
          <a:solidFill xmlns:a="http://schemas.openxmlformats.org/drawingml/2006/main">
            <a:srgbClr val="2563EB"/>
          </a:solidFill>
          <a:ln xmlns:a="http://schemas.openxmlformats.org/drawingml/2006/main" w="0">
            <a:solidFill>
              <a:srgbClr val="2563EB"/>
            </a:solidFill>
            <a:prstDash val="solid"/>
          </a:ln>
        </p:spPr>
        <p:txBody>
          <a:bodyPr xmlns:a="http://schemas.openxmlformats.org/drawingml/2006/main"/>
          <a:lstStyle xmlns:a="http://schemas.openxmlformats.org/drawingml/2006/main"/>
          <a:p xmlns:a="http://schemas.openxmlformats.org/drawingml/2006/main">
            <a:endParaRPr/>
          </a:p>
        </p:txBody>
      </p:sp>
      <p:sp>
        <p:nvSpPr>
          <p:cNvPr id="28" name="正方形/長方形 27">
            <a:extLst xmlns:a="http://schemas.openxmlformats.org/drawingml/2006/main">
              <a:ext uri="{FF2B5EF4-FFF2-40B4-BE49-F238E27FC236}">
                <a16:creationId xmlns:a16="http://schemas.microsoft.com/office/drawing/2014/main" id="{BBDE719E-8423-4658-9822-7F007DB5C20A}"/>
              </a:ext>
            </a:extLst>
          </p:cNvPr>
          <p:cNvSpPr>
            <a:spLocks xmlns:a="http://schemas.openxmlformats.org/drawingml/2006/main" noGrp="1"/>
          </p:cNvSpPr>
          <p:nvPr/>
        </p:nvSpPr>
        <p:spPr>
          <a:xfrm xmlns:a="http://schemas.openxmlformats.org/drawingml/2006/main">
            <a:off x="8429625" y="2038350"/>
            <a:ext cx="457200" cy="123825"/>
          </a:xfrm>
          <a:prstGeom xmlns:a="http://schemas.openxmlformats.org/drawingml/2006/main" prst="rect">
            <a:avLst/>
          </a:prstGeom>
          <a:solidFill xmlns:a="http://schemas.openxmlformats.org/drawingml/2006/main">
            <a:srgbClr val="2563EB"/>
          </a:solidFill>
          <a:ln xmlns:a="http://schemas.openxmlformats.org/drawingml/2006/main" w="0">
            <a:solidFill>
              <a:srgbClr val="2563EB"/>
            </a:solidFill>
            <a:prstDash val="solid"/>
          </a:ln>
        </p:spPr>
        <p:txBody>
          <a:bodyPr xmlns:a="http://schemas.openxmlformats.org/drawingml/2006/main"/>
          <a:lstStyle xmlns:a="http://schemas.openxmlformats.org/drawingml/2006/main"/>
          <a:p xmlns:a="http://schemas.openxmlformats.org/drawingml/2006/main">
            <a:endParaRPr/>
          </a:p>
        </p:txBody>
      </p:sp>
      <p:sp>
        <p:nvSpPr>
          <p:cNvPr id="29" name="正方形/長方形 28">
            <a:extLst xmlns:a="http://schemas.openxmlformats.org/drawingml/2006/main">
              <a:ext uri="{FF2B5EF4-FFF2-40B4-BE49-F238E27FC236}">
                <a16:creationId xmlns:a16="http://schemas.microsoft.com/office/drawing/2014/main" id="{F05E33A5-6337-46C8-A697-3CC64A56C71E}"/>
              </a:ext>
            </a:extLst>
          </p:cNvPr>
          <p:cNvSpPr>
            <a:spLocks xmlns:a="http://schemas.openxmlformats.org/drawingml/2006/main" noGrp="1"/>
          </p:cNvSpPr>
          <p:nvPr/>
        </p:nvSpPr>
        <p:spPr>
          <a:xfrm xmlns:a="http://schemas.openxmlformats.org/drawingml/2006/main">
            <a:off x="6429375" y="2647950"/>
            <a:ext cx="4953000" cy="952500"/>
          </a:xfrm>
          <a:prstGeom xmlns:a="http://schemas.openxmlformats.org/drawingml/2006/main" prst="rect">
            <a:avLst/>
          </a:prstGeom>
          <a:solidFill xmlns:a="http://schemas.openxmlformats.org/drawingml/2006/main">
            <a:srgbClr val="FFFFFF"/>
          </a:solidFill>
          <a:ln xmlns:a="http://schemas.openxmlformats.org/drawingml/2006/main" w="19050">
            <a:solidFill>
              <a:srgbClr val="F59E0B"/>
            </a:solidFill>
            <a:prstDash val="solid"/>
          </a:ln>
        </p:spPr>
        <p:txBody>
          <a:bodyPr xmlns:a="http://schemas.openxmlformats.org/drawingml/2006/main"/>
          <a:lstStyle xmlns:a="http://schemas.openxmlformats.org/drawingml/2006/main"/>
          <a:p xmlns:a="http://schemas.openxmlformats.org/drawingml/2006/main">
            <a:endParaRPr/>
          </a:p>
        </p:txBody>
      </p:sp>
      <p:sp>
        <p:nvSpPr>
          <p:cNvPr id="30" name="正方形/長方形 29">
            <a:extLst xmlns:a="http://schemas.openxmlformats.org/drawingml/2006/main">
              <a:ext uri="{FF2B5EF4-FFF2-40B4-BE49-F238E27FC236}">
                <a16:creationId xmlns:a16="http://schemas.microsoft.com/office/drawing/2014/main" id="{0233DA84-5507-4676-9075-EC0D3D2A57B2}"/>
              </a:ext>
            </a:extLst>
          </p:cNvPr>
          <p:cNvSpPr>
            <a:spLocks xmlns:a="http://schemas.openxmlformats.org/drawingml/2006/main" noGrp="1"/>
          </p:cNvSpPr>
          <p:nvPr/>
        </p:nvSpPr>
        <p:spPr>
          <a:xfrm xmlns:a="http://schemas.openxmlformats.org/drawingml/2006/main">
            <a:off x="6629400" y="2819400"/>
            <a:ext cx="1190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buNone/>
              <a:defRPr sz="1725" b="1">
                <a:solidFill>
                  <a:srgbClr val="F59E0B"/>
                </a:solidFill>
                <a:latin typeface="Yu Gothic"/>
                <a:ea typeface="Yu Gothic"/>
                <a:cs typeface="Yu Gothic"/>
              </a:defRPr>
            </a:pPr>
            <a:r>
              <a:rPr sz="1725" b="1">
                <a:solidFill>
                  <a:srgbClr val="F59E0B"/>
                </a:solidFill>
                <a:latin typeface="Yu Gothic"/>
                <a:ea typeface="Yu Gothic"/>
                <a:cs typeface="Yu Gothic"/>
              </a:rPr>
              <a:t>クラス B</a:t>
            </a:r>
          </a:p>
        </p:txBody>
      </p:sp>
      <p:sp>
        <p:nvSpPr>
          <p:cNvPr id="31" name="正方形/長方形 30">
            <a:extLst xmlns:a="http://schemas.openxmlformats.org/drawingml/2006/main">
              <a:ext uri="{FF2B5EF4-FFF2-40B4-BE49-F238E27FC236}">
                <a16:creationId xmlns:a16="http://schemas.microsoft.com/office/drawing/2014/main" id="{A0CA7D15-AECC-4F6C-B49B-95AB56E28B78}"/>
              </a:ext>
            </a:extLst>
          </p:cNvPr>
          <p:cNvSpPr>
            <a:spLocks xmlns:a="http://schemas.openxmlformats.org/drawingml/2006/main" noGrp="1"/>
          </p:cNvSpPr>
          <p:nvPr/>
        </p:nvSpPr>
        <p:spPr>
          <a:xfrm xmlns:a="http://schemas.openxmlformats.org/drawingml/2006/main">
            <a:off x="6629400" y="3152775"/>
            <a:ext cx="1428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buNone/>
              <a:defRPr sz="1200" b="0">
                <a:solidFill>
                  <a:srgbClr val="64748B"/>
                </a:solidFill>
                <a:latin typeface="Yu Gothic"/>
                <a:ea typeface="Yu Gothic"/>
                <a:cs typeface="Yu Gothic"/>
              </a:defRPr>
            </a:pPr>
            <a:r>
              <a:rPr sz="1200" b="0">
                <a:solidFill>
                  <a:srgbClr val="64748B"/>
                </a:solidFill>
                <a:latin typeface="Yu Gothic"/>
                <a:ea typeface="Yu Gothic"/>
                <a:cs typeface="Yu Gothic"/>
              </a:rPr>
              <a:t>用の局所モデル</a:t>
            </a:r>
          </a:p>
        </p:txBody>
      </p:sp>
      <p:sp>
        <p:nvSpPr>
          <p:cNvPr id="32" name="正方形/長方形 31">
            <a:extLst xmlns:a="http://schemas.openxmlformats.org/drawingml/2006/main">
              <a:ext uri="{FF2B5EF4-FFF2-40B4-BE49-F238E27FC236}">
                <a16:creationId xmlns:a16="http://schemas.microsoft.com/office/drawing/2014/main" id="{65C0F17B-9EB7-443F-8448-75A8535C4BAC}"/>
              </a:ext>
            </a:extLst>
          </p:cNvPr>
          <p:cNvSpPr>
            <a:spLocks xmlns:a="http://schemas.openxmlformats.org/drawingml/2006/main" noGrp="1"/>
          </p:cNvSpPr>
          <p:nvPr/>
        </p:nvSpPr>
        <p:spPr>
          <a:xfrm xmlns:a="http://schemas.openxmlformats.org/drawingml/2006/main">
            <a:off x="8429625" y="2819400"/>
            <a:ext cx="571500" cy="123825"/>
          </a:xfrm>
          <a:prstGeom xmlns:a="http://schemas.openxmlformats.org/drawingml/2006/main" prst="rect">
            <a:avLst/>
          </a:prstGeom>
          <a:solidFill xmlns:a="http://schemas.openxmlformats.org/drawingml/2006/main">
            <a:srgbClr val="F59E0B"/>
          </a:solidFill>
          <a:ln xmlns:a="http://schemas.openxmlformats.org/drawingml/2006/main" w="0">
            <a:solidFill>
              <a:srgbClr val="F59E0B"/>
            </a:solidFill>
            <a:prstDash val="solid"/>
          </a:ln>
        </p:spPr>
        <p:txBody>
          <a:bodyPr xmlns:a="http://schemas.openxmlformats.org/drawingml/2006/main"/>
          <a:lstStyle xmlns:a="http://schemas.openxmlformats.org/drawingml/2006/main"/>
          <a:p xmlns:a="http://schemas.openxmlformats.org/drawingml/2006/main">
            <a:endParaRPr/>
          </a:p>
        </p:txBody>
      </p:sp>
      <p:sp>
        <p:nvSpPr>
          <p:cNvPr id="33" name="正方形/長方形 32">
            <a:extLst xmlns:a="http://schemas.openxmlformats.org/drawingml/2006/main">
              <a:ext uri="{FF2B5EF4-FFF2-40B4-BE49-F238E27FC236}">
                <a16:creationId xmlns:a16="http://schemas.microsoft.com/office/drawing/2014/main" id="{9E523358-D415-4E7C-9C0D-60FB900D39EC}"/>
              </a:ext>
            </a:extLst>
          </p:cNvPr>
          <p:cNvSpPr>
            <a:spLocks xmlns:a="http://schemas.openxmlformats.org/drawingml/2006/main" noGrp="1"/>
          </p:cNvSpPr>
          <p:nvPr/>
        </p:nvSpPr>
        <p:spPr>
          <a:xfrm xmlns:a="http://schemas.openxmlformats.org/drawingml/2006/main">
            <a:off x="8429625" y="3038475"/>
            <a:ext cx="1371600" cy="123825"/>
          </a:xfrm>
          <a:prstGeom xmlns:a="http://schemas.openxmlformats.org/drawingml/2006/main" prst="rect">
            <a:avLst/>
          </a:prstGeom>
          <a:solidFill xmlns:a="http://schemas.openxmlformats.org/drawingml/2006/main">
            <a:srgbClr val="F59E0B"/>
          </a:solidFill>
          <a:ln xmlns:a="http://schemas.openxmlformats.org/drawingml/2006/main" w="0">
            <a:solidFill>
              <a:srgbClr val="F59E0B"/>
            </a:solidFill>
            <a:prstDash val="solid"/>
          </a:ln>
        </p:spPr>
        <p:txBody>
          <a:bodyPr xmlns:a="http://schemas.openxmlformats.org/drawingml/2006/main"/>
          <a:lstStyle xmlns:a="http://schemas.openxmlformats.org/drawingml/2006/main"/>
          <a:p xmlns:a="http://schemas.openxmlformats.org/drawingml/2006/main">
            <a:endParaRPr/>
          </a:p>
        </p:txBody>
      </p:sp>
      <p:sp>
        <p:nvSpPr>
          <p:cNvPr id="34" name="正方形/長方形 33">
            <a:extLst xmlns:a="http://schemas.openxmlformats.org/drawingml/2006/main">
              <a:ext uri="{FF2B5EF4-FFF2-40B4-BE49-F238E27FC236}">
                <a16:creationId xmlns:a16="http://schemas.microsoft.com/office/drawing/2014/main" id="{6EC4F42B-8CAB-48F0-81A3-7B57981EFB0B}"/>
              </a:ext>
            </a:extLst>
          </p:cNvPr>
          <p:cNvSpPr>
            <a:spLocks xmlns:a="http://schemas.openxmlformats.org/drawingml/2006/main" noGrp="1"/>
          </p:cNvSpPr>
          <p:nvPr/>
        </p:nvSpPr>
        <p:spPr>
          <a:xfrm xmlns:a="http://schemas.openxmlformats.org/drawingml/2006/main">
            <a:off x="8429625" y="3257550"/>
            <a:ext cx="800100" cy="123825"/>
          </a:xfrm>
          <a:prstGeom xmlns:a="http://schemas.openxmlformats.org/drawingml/2006/main" prst="rect">
            <a:avLst/>
          </a:prstGeom>
          <a:solidFill xmlns:a="http://schemas.openxmlformats.org/drawingml/2006/main">
            <a:srgbClr val="F59E0B"/>
          </a:solidFill>
          <a:ln xmlns:a="http://schemas.openxmlformats.org/drawingml/2006/main" w="0">
            <a:solidFill>
              <a:srgbClr val="F59E0B"/>
            </a:solidFill>
            <a:prstDash val="solid"/>
          </a:ln>
        </p:spPr>
        <p:txBody>
          <a:bodyPr xmlns:a="http://schemas.openxmlformats.org/drawingml/2006/main"/>
          <a:lstStyle xmlns:a="http://schemas.openxmlformats.org/drawingml/2006/main"/>
          <a:p xmlns:a="http://schemas.openxmlformats.org/drawingml/2006/main">
            <a:endParaRPr/>
          </a:p>
        </p:txBody>
      </p:sp>
      <p:sp>
        <p:nvSpPr>
          <p:cNvPr id="35" name="正方形/長方形 34">
            <a:extLst xmlns:a="http://schemas.openxmlformats.org/drawingml/2006/main">
              <a:ext uri="{FF2B5EF4-FFF2-40B4-BE49-F238E27FC236}">
                <a16:creationId xmlns:a16="http://schemas.microsoft.com/office/drawing/2014/main" id="{61343C36-DD80-4A40-B644-C6A5D90368CA}"/>
              </a:ext>
            </a:extLst>
          </p:cNvPr>
          <p:cNvSpPr>
            <a:spLocks xmlns:a="http://schemas.openxmlformats.org/drawingml/2006/main" noGrp="1"/>
          </p:cNvSpPr>
          <p:nvPr/>
        </p:nvSpPr>
        <p:spPr>
          <a:xfrm xmlns:a="http://schemas.openxmlformats.org/drawingml/2006/main">
            <a:off x="6429375" y="3867150"/>
            <a:ext cx="4953000" cy="952500"/>
          </a:xfrm>
          <a:prstGeom xmlns:a="http://schemas.openxmlformats.org/drawingml/2006/main" prst="rect">
            <a:avLst/>
          </a:prstGeom>
          <a:solidFill xmlns:a="http://schemas.openxmlformats.org/drawingml/2006/main">
            <a:srgbClr val="FFFFFF"/>
          </a:solidFill>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a:endParaRPr/>
          </a:p>
        </p:txBody>
      </p:sp>
      <p:sp>
        <p:nvSpPr>
          <p:cNvPr id="36" name="正方形/長方形 35">
            <a:extLst xmlns:a="http://schemas.openxmlformats.org/drawingml/2006/main">
              <a:ext uri="{FF2B5EF4-FFF2-40B4-BE49-F238E27FC236}">
                <a16:creationId xmlns:a16="http://schemas.microsoft.com/office/drawing/2014/main" id="{876F2BB5-5140-4BEE-A399-C9C075340F18}"/>
              </a:ext>
            </a:extLst>
          </p:cNvPr>
          <p:cNvSpPr>
            <a:spLocks xmlns:a="http://schemas.openxmlformats.org/drawingml/2006/main" noGrp="1"/>
          </p:cNvSpPr>
          <p:nvPr/>
        </p:nvSpPr>
        <p:spPr>
          <a:xfrm xmlns:a="http://schemas.openxmlformats.org/drawingml/2006/main">
            <a:off x="6629400" y="4038600"/>
            <a:ext cx="1190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buNone/>
              <a:defRPr sz="1725" b="1">
                <a:solidFill>
                  <a:srgbClr val="10B981"/>
                </a:solidFill>
                <a:latin typeface="Yu Gothic"/>
                <a:ea typeface="Yu Gothic"/>
                <a:cs typeface="Yu Gothic"/>
              </a:defRPr>
            </a:pPr>
            <a:r>
              <a:rPr sz="1725" b="1">
                <a:solidFill>
                  <a:srgbClr val="10B981"/>
                </a:solidFill>
                <a:latin typeface="Yu Gothic"/>
                <a:ea typeface="Yu Gothic"/>
                <a:cs typeface="Yu Gothic"/>
              </a:rPr>
              <a:t>クラス C</a:t>
            </a:r>
          </a:p>
        </p:txBody>
      </p:sp>
      <p:sp>
        <p:nvSpPr>
          <p:cNvPr id="37" name="正方形/長方形 36">
            <a:extLst xmlns:a="http://schemas.openxmlformats.org/drawingml/2006/main">
              <a:ext uri="{FF2B5EF4-FFF2-40B4-BE49-F238E27FC236}">
                <a16:creationId xmlns:a16="http://schemas.microsoft.com/office/drawing/2014/main" id="{39749FDB-1EC5-444E-BFD6-65A7D136F1DD}"/>
              </a:ext>
            </a:extLst>
          </p:cNvPr>
          <p:cNvSpPr>
            <a:spLocks xmlns:a="http://schemas.openxmlformats.org/drawingml/2006/main" noGrp="1"/>
          </p:cNvSpPr>
          <p:nvPr/>
        </p:nvSpPr>
        <p:spPr>
          <a:xfrm xmlns:a="http://schemas.openxmlformats.org/drawingml/2006/main">
            <a:off x="6629400" y="4371975"/>
            <a:ext cx="1428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buNone/>
              <a:defRPr sz="1200" b="0">
                <a:solidFill>
                  <a:srgbClr val="64748B"/>
                </a:solidFill>
                <a:latin typeface="Yu Gothic"/>
                <a:ea typeface="Yu Gothic"/>
                <a:cs typeface="Yu Gothic"/>
              </a:defRPr>
            </a:pPr>
            <a:r>
              <a:rPr sz="1200" b="0">
                <a:solidFill>
                  <a:srgbClr val="64748B"/>
                </a:solidFill>
                <a:latin typeface="Yu Gothic"/>
                <a:ea typeface="Yu Gothic"/>
                <a:cs typeface="Yu Gothic"/>
              </a:rPr>
              <a:t>用の局所モデル</a:t>
            </a:r>
          </a:p>
        </p:txBody>
      </p:sp>
      <p:sp>
        <p:nvSpPr>
          <p:cNvPr id="38" name="正方形/長方形 37">
            <a:extLst xmlns:a="http://schemas.openxmlformats.org/drawingml/2006/main">
              <a:ext uri="{FF2B5EF4-FFF2-40B4-BE49-F238E27FC236}">
                <a16:creationId xmlns:a16="http://schemas.microsoft.com/office/drawing/2014/main" id="{8E6D069A-8B08-4A7F-B5BB-0EDCE823FEBD}"/>
              </a:ext>
            </a:extLst>
          </p:cNvPr>
          <p:cNvSpPr>
            <a:spLocks xmlns:a="http://schemas.openxmlformats.org/drawingml/2006/main" noGrp="1"/>
          </p:cNvSpPr>
          <p:nvPr/>
        </p:nvSpPr>
        <p:spPr>
          <a:xfrm xmlns:a="http://schemas.openxmlformats.org/drawingml/2006/main">
            <a:off x="8429625" y="4038600"/>
            <a:ext cx="800100" cy="123825"/>
          </a:xfrm>
          <a:prstGeom xmlns:a="http://schemas.openxmlformats.org/drawingml/2006/main" prst="rect">
            <a:avLst/>
          </a:prstGeom>
          <a:solidFill xmlns:a="http://schemas.openxmlformats.org/drawingml/2006/main">
            <a:srgbClr val="10B981"/>
          </a:solidFill>
          <a:ln xmlns:a="http://schemas.openxmlformats.org/drawingml/2006/main" w="0">
            <a:solidFill>
              <a:srgbClr val="10B981"/>
            </a:solidFill>
            <a:prstDash val="solid"/>
          </a:ln>
        </p:spPr>
        <p:txBody>
          <a:bodyPr xmlns:a="http://schemas.openxmlformats.org/drawingml/2006/main"/>
          <a:lstStyle xmlns:a="http://schemas.openxmlformats.org/drawingml/2006/main"/>
          <a:p xmlns:a="http://schemas.openxmlformats.org/drawingml/2006/main">
            <a:endParaRPr/>
          </a:p>
        </p:txBody>
      </p:sp>
      <p:sp>
        <p:nvSpPr>
          <p:cNvPr id="39" name="正方形/長方形 38">
            <a:extLst xmlns:a="http://schemas.openxmlformats.org/drawingml/2006/main">
              <a:ext uri="{FF2B5EF4-FFF2-40B4-BE49-F238E27FC236}">
                <a16:creationId xmlns:a16="http://schemas.microsoft.com/office/drawing/2014/main" id="{4C76D4E7-6335-44B6-B375-06A055E1D4DD}"/>
              </a:ext>
            </a:extLst>
          </p:cNvPr>
          <p:cNvSpPr>
            <a:spLocks xmlns:a="http://schemas.openxmlformats.org/drawingml/2006/main" noGrp="1"/>
          </p:cNvSpPr>
          <p:nvPr/>
        </p:nvSpPr>
        <p:spPr>
          <a:xfrm xmlns:a="http://schemas.openxmlformats.org/drawingml/2006/main">
            <a:off x="8429625" y="4257675"/>
            <a:ext cx="411480" cy="123825"/>
          </a:xfrm>
          <a:prstGeom xmlns:a="http://schemas.openxmlformats.org/drawingml/2006/main" prst="rect">
            <a:avLst/>
          </a:prstGeom>
          <a:solidFill xmlns:a="http://schemas.openxmlformats.org/drawingml/2006/main">
            <a:srgbClr val="10B981"/>
          </a:solidFill>
          <a:ln xmlns:a="http://schemas.openxmlformats.org/drawingml/2006/main" w="0">
            <a:solidFill>
              <a:srgbClr val="10B981"/>
            </a:solidFill>
            <a:prstDash val="solid"/>
          </a:ln>
        </p:spPr>
        <p:txBody>
          <a:bodyPr xmlns:a="http://schemas.openxmlformats.org/drawingml/2006/main"/>
          <a:lstStyle xmlns:a="http://schemas.openxmlformats.org/drawingml/2006/main"/>
          <a:p xmlns:a="http://schemas.openxmlformats.org/drawingml/2006/main">
            <a:endParaRPr/>
          </a:p>
        </p:txBody>
      </p:sp>
      <p:sp>
        <p:nvSpPr>
          <p:cNvPr id="40" name="正方形/長方形 39">
            <a:extLst xmlns:a="http://schemas.openxmlformats.org/drawingml/2006/main">
              <a:ext uri="{FF2B5EF4-FFF2-40B4-BE49-F238E27FC236}">
                <a16:creationId xmlns:a16="http://schemas.microsoft.com/office/drawing/2014/main" id="{AD140A8D-F1CB-49DA-94F1-6C5BE4CF732C}"/>
              </a:ext>
            </a:extLst>
          </p:cNvPr>
          <p:cNvSpPr>
            <a:spLocks xmlns:a="http://schemas.openxmlformats.org/drawingml/2006/main" noGrp="1"/>
          </p:cNvSpPr>
          <p:nvPr/>
        </p:nvSpPr>
        <p:spPr>
          <a:xfrm xmlns:a="http://schemas.openxmlformats.org/drawingml/2006/main">
            <a:off x="8429625" y="4476750"/>
            <a:ext cx="1485900" cy="123825"/>
          </a:xfrm>
          <a:prstGeom xmlns:a="http://schemas.openxmlformats.org/drawingml/2006/main" prst="rect">
            <a:avLst/>
          </a:prstGeom>
          <a:solidFill xmlns:a="http://schemas.openxmlformats.org/drawingml/2006/main">
            <a:srgbClr val="10B981"/>
          </a:solidFill>
          <a:ln xmlns:a="http://schemas.openxmlformats.org/drawingml/2006/main" w="0">
            <a:solidFill>
              <a:srgbClr val="10B981"/>
            </a:solidFill>
            <a:prstDash val="solid"/>
          </a:ln>
        </p:spPr>
        <p:txBody>
          <a:bodyPr xmlns:a="http://schemas.openxmlformats.org/drawingml/2006/main"/>
          <a:lstStyle xmlns:a="http://schemas.openxmlformats.org/drawingml/2006/main"/>
          <a:p xmlns:a="http://schemas.openxmlformats.org/drawingml/2006/main">
            <a:endParaRPr/>
          </a:p>
        </p:txBody>
      </p:sp>
      <p:sp>
        <p:nvSpPr>
          <p:cNvPr id="41" name="正方形/長方形 40">
            <a:extLst xmlns:a="http://schemas.openxmlformats.org/drawingml/2006/main">
              <a:ext uri="{FF2B5EF4-FFF2-40B4-BE49-F238E27FC236}">
                <a16:creationId xmlns:a16="http://schemas.microsoft.com/office/drawing/2014/main" id="{8D7010F4-A13D-4FB8-AC05-8F21D85A9FCE}"/>
              </a:ext>
            </a:extLst>
          </p:cNvPr>
          <p:cNvSpPr>
            <a:spLocks xmlns:a="http://schemas.openxmlformats.org/drawingml/2006/main" noGrp="1"/>
          </p:cNvSpPr>
          <p:nvPr/>
        </p:nvSpPr>
        <p:spPr>
          <a:xfrm xmlns:a="http://schemas.openxmlformats.org/drawingml/2006/main">
            <a:off x="2381250" y="5381625"/>
            <a:ext cx="7429500" cy="628650"/>
          </a:xfrm>
          <a:prstGeom xmlns:a="http://schemas.openxmlformats.org/drawingml/2006/main" prst="rect">
            <a:avLst/>
          </a:prstGeom>
          <a:solidFill xmlns:a="http://schemas.openxmlformats.org/drawingml/2006/main">
            <a:srgbClr val="DBEAFE"/>
          </a:solidFill>
          <a:ln xmlns:a="http://schemas.openxmlformats.org/drawingml/2006/main" w="0">
            <a:solidFill>
              <a:srgbClr val="2563EB"/>
            </a:solidFill>
            <a:prstDash val="solid"/>
          </a:ln>
        </p:spPr>
        <p:txBody>
          <a:bodyPr xmlns:a="http://schemas.openxmlformats.org/drawingml/2006/main"/>
          <a:lstStyle xmlns:a="http://schemas.openxmlformats.org/drawingml/2006/main"/>
          <a:p xmlns:a="http://schemas.openxmlformats.org/drawingml/2006/main">
            <a:endParaRPr/>
          </a:p>
        </p:txBody>
      </p:sp>
      <p:sp>
        <p:nvSpPr>
          <p:cNvPr id="42" name="正方形/長方形 41">
            <a:extLst xmlns:a="http://schemas.openxmlformats.org/drawingml/2006/main">
              <a:ext uri="{FF2B5EF4-FFF2-40B4-BE49-F238E27FC236}">
                <a16:creationId xmlns:a16="http://schemas.microsoft.com/office/drawing/2014/main" id="{70B56764-D335-4F13-A2C8-9F44B37DAFED}"/>
              </a:ext>
            </a:extLst>
          </p:cNvPr>
          <p:cNvSpPr>
            <a:spLocks xmlns:a="http://schemas.openxmlformats.org/drawingml/2006/main" noGrp="1"/>
          </p:cNvSpPr>
          <p:nvPr/>
        </p:nvSpPr>
        <p:spPr>
          <a:xfrm xmlns:a="http://schemas.openxmlformats.org/drawingml/2006/main">
            <a:off x="2619375" y="5543550"/>
            <a:ext cx="6953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buNone/>
              <a:defRPr sz="1650" b="1">
                <a:solidFill>
                  <a:srgbClr val="2563EB"/>
                </a:solidFill>
                <a:latin typeface="Yu Gothic"/>
                <a:ea typeface="Yu Gothic"/>
                <a:cs typeface="Yu Gothic"/>
              </a:defRPr>
            </a:pPr>
            <a:r>
              <a:rPr sz="1650" b="1">
                <a:solidFill>
                  <a:srgbClr val="2563EB"/>
                </a:solidFill>
                <a:latin typeface="Yu Gothic"/>
                <a:ea typeface="Yu Gothic"/>
                <a:cs typeface="Yu Gothic"/>
              </a:rPr>
              <a:t>近傍は共有できるが、説明モデルと特徴重みはクラス別に学習される</a:t>
            </a:r>
          </a:p>
        </p:txBody>
      </p:sp>
    </p:spTree>
    <p:extLst>
      <p:ext uri="{BB962C8B-B14F-4D97-AF65-F5344CB8AC3E}">
        <p14:creationId xmlns:p14="http://schemas.microsoft.com/office/powerpoint/2010/main" val="709646130"/>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正方形/長方形 33">
            <a:extLst xmlns:a="http://schemas.openxmlformats.org/drawingml/2006/main">
              <a:ext uri="{FF2B5EF4-FFF2-40B4-BE49-F238E27FC236}">
                <a16:creationId xmlns:a16="http://schemas.microsoft.com/office/drawing/2014/main" id="{F1AA4A81-65D9-4460-9C50-8B2A4FA09904}"/>
              </a:ext>
            </a:extLst>
          </p:cNvPr>
          <p:cNvSpPr>
            <a:spLocks xmlns:a="http://schemas.openxmlformats.org/drawingml/2006/main" noGrp="1"/>
          </p:cNvSpPr>
          <p:nvPr/>
        </p:nvSpPr>
        <p:spPr>
          <a:xfrm xmlns:a="http://schemas.openxmlformats.org/drawingml/2006/main">
            <a:off x="514350" y="419100"/>
            <a:ext cx="114300" cy="457200"/>
          </a:xfrm>
          <a:prstGeom xmlns:a="http://schemas.openxmlformats.org/drawingml/2006/main" prst="rect">
            <a:avLst/>
          </a:prstGeom>
          <a:solidFill xmlns:a="http://schemas.openxmlformats.org/drawingml/2006/main">
            <a:srgbClr val="2563EB"/>
          </a:solidFill>
          <a:ln xmlns:a="http://schemas.openxmlformats.org/drawingml/2006/main" w="0">
            <a:solidFill>
              <a:srgbClr val="2563EB"/>
            </a:solidFill>
            <a:prstDash val="solid"/>
          </a:ln>
        </p:spPr>
        <p:txBody>
          <a:bodyPr xmlns:a="http://schemas.openxmlformats.org/drawingml/2006/main"/>
          <a:lstStyle xmlns:a="http://schemas.openxmlformats.org/drawingml/2006/main"/>
          <a:p xmlns:a="http://schemas.openxmlformats.org/drawingml/2006/main">
            <a:endParaRPr/>
          </a:p>
        </p:txBody>
      </p:sp>
      <p:sp>
        <p:nvSpPr>
          <p:cNvPr id="2" name="slide-7-title">
            <a:extLst xmlns:a="http://schemas.openxmlformats.org/drawingml/2006/main">
              <a:ext uri="{FF2B5EF4-FFF2-40B4-BE49-F238E27FC236}">
                <a16:creationId xmlns:a16="http://schemas.microsoft.com/office/drawing/2014/main" id="{EE8FC56C-8321-46EA-BF49-FD7A05980B28}"/>
              </a:ext>
            </a:extLst>
          </p:cNvPr>
          <p:cNvSpPr>
            <a:spLocks xmlns:a="http://schemas.openxmlformats.org/drawingml/2006/main" noGrp="1"/>
          </p:cNvSpPr>
          <p:nvPr/>
        </p:nvSpPr>
        <p:spPr>
          <a:xfrm xmlns:a="http://schemas.openxmlformats.org/drawingml/2006/main">
            <a:off x="800100" y="361950"/>
            <a:ext cx="10572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buNone/>
              <a:defRPr sz="2850" b="1">
                <a:solidFill>
                  <a:srgbClr val="111827"/>
                </a:solidFill>
                <a:latin typeface="Yu Gothic"/>
                <a:ea typeface="Yu Gothic"/>
                <a:cs typeface="Yu Gothic"/>
              </a:defRPr>
            </a:pPr>
            <a:r>
              <a:rPr sz="2850" b="1">
                <a:solidFill>
                  <a:srgbClr val="111827"/>
                </a:solidFill>
                <a:latin typeface="Yu Gothic"/>
                <a:ea typeface="Yu Gothic"/>
                <a:cs typeface="Yu Gothic"/>
              </a:rPr>
              <a:t>クラス別説明を並べるだけでは、全体像を読み取りにくい</a:t>
            </a:r>
          </a:p>
        </p:txBody>
      </p:sp>
      <p:sp>
        <p:nvSpPr>
          <p:cNvPr id="3" name="slide-7-subtitle">
            <a:extLst xmlns:a="http://schemas.openxmlformats.org/drawingml/2006/main">
              <a:ext uri="{FF2B5EF4-FFF2-40B4-BE49-F238E27FC236}">
                <a16:creationId xmlns:a16="http://schemas.microsoft.com/office/drawing/2014/main" id="{55DDF937-5F97-4BE9-89E5-0215A329B51D}"/>
              </a:ext>
            </a:extLst>
          </p:cNvPr>
          <p:cNvSpPr>
            <a:spLocks xmlns:a="http://schemas.openxmlformats.org/drawingml/2006/main" noGrp="1"/>
          </p:cNvSpPr>
          <p:nvPr/>
        </p:nvSpPr>
        <p:spPr>
          <a:xfrm xmlns:a="http://schemas.openxmlformats.org/drawingml/2006/main">
            <a:off x="800100" y="962025"/>
            <a:ext cx="1057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buNone/>
              <a:defRPr sz="1500" b="0">
                <a:solidFill>
                  <a:srgbClr val="64748B"/>
                </a:solidFill>
                <a:latin typeface="Yu Gothic"/>
                <a:ea typeface="Yu Gothic"/>
                <a:cs typeface="Yu Gothic"/>
              </a:defRPr>
            </a:pPr>
            <a:r>
              <a:rPr sz="1500" b="0">
                <a:solidFill>
                  <a:srgbClr val="64748B"/>
                </a:solidFill>
                <a:latin typeface="Yu Gothic"/>
                <a:ea typeface="Yu Gothic"/>
                <a:cs typeface="Yu Gothic"/>
              </a:rPr>
              <a:t>利用者が複数の特徴集合を見比べ、クラス差を再構成する必要がある</a:t>
            </a:r>
          </a:p>
        </p:txBody>
      </p:sp>
      <p:sp>
        <p:nvSpPr>
          <p:cNvPr id="4" name="正方形/長方形 3">
            <a:extLst xmlns:a="http://schemas.openxmlformats.org/drawingml/2006/main">
              <a:ext uri="{FF2B5EF4-FFF2-40B4-BE49-F238E27FC236}">
                <a16:creationId xmlns:a16="http://schemas.microsoft.com/office/drawing/2014/main" id="{EA4DFCDA-FFA0-41E5-BDF2-AA92D69DF5F4}"/>
              </a:ext>
            </a:extLst>
          </p:cNvPr>
          <p:cNvSpPr>
            <a:spLocks xmlns:a="http://schemas.openxmlformats.org/drawingml/2006/main" noGrp="1"/>
          </p:cNvSpPr>
          <p:nvPr/>
        </p:nvSpPr>
        <p:spPr>
          <a:xfrm xmlns:a="http://schemas.openxmlformats.org/drawingml/2006/main">
            <a:off x="11239500" y="6438900"/>
            <a:ext cx="476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buNone/>
              <a:defRPr sz="1050" b="0">
                <a:solidFill>
                  <a:srgbClr val="64748B"/>
                </a:solidFill>
                <a:latin typeface="Yu Gothic"/>
                <a:ea typeface="Yu Gothic"/>
                <a:cs typeface="Yu Gothic"/>
              </a:defRPr>
            </a:pPr>
            <a:r>
              <a:rPr sz="1050" b="0">
                <a:solidFill>
                  <a:srgbClr val="64748B"/>
                </a:solidFill>
                <a:latin typeface="Yu Gothic"/>
                <a:ea typeface="Yu Gothic"/>
                <a:cs typeface="Yu Gothic"/>
              </a:rPr>
              <a:t>07</a:t>
            </a:r>
          </a:p>
        </p:txBody>
      </p:sp>
      <p:sp>
        <p:nvSpPr>
          <p:cNvPr id="5" name="正方形/長方形 4">
            <a:extLst xmlns:a="http://schemas.openxmlformats.org/drawingml/2006/main">
              <a:ext uri="{FF2B5EF4-FFF2-40B4-BE49-F238E27FC236}">
                <a16:creationId xmlns:a16="http://schemas.microsoft.com/office/drawing/2014/main" id="{FC56ABC9-862C-4B19-95D1-AB0DB3DD6C8D}"/>
              </a:ext>
            </a:extLst>
          </p:cNvPr>
          <p:cNvSpPr>
            <a:spLocks xmlns:a="http://schemas.openxmlformats.org/drawingml/2006/main" noGrp="1"/>
          </p:cNvSpPr>
          <p:nvPr/>
        </p:nvSpPr>
        <p:spPr>
          <a:xfrm xmlns:a="http://schemas.openxmlformats.org/drawingml/2006/main">
            <a:off x="523875" y="1666875"/>
            <a:ext cx="22383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buNone/>
              <a:defRPr sz="1875" b="1">
                <a:solidFill>
                  <a:srgbClr val="2563EB"/>
                </a:solidFill>
                <a:latin typeface="Yu Gothic"/>
                <a:ea typeface="Yu Gothic"/>
                <a:cs typeface="Yu Gothic"/>
              </a:defRPr>
            </a:pPr>
            <a:r>
              <a:rPr sz="1875" b="1">
                <a:solidFill>
                  <a:srgbClr val="2563EB"/>
                </a:solidFill>
                <a:latin typeface="Yu Gothic"/>
                <a:ea typeface="Yu Gothic"/>
                <a:cs typeface="Yu Gothic"/>
              </a:rPr>
              <a:t>クラス A</a:t>
            </a:r>
          </a:p>
        </p:txBody>
      </p:sp>
      <p:cxnSp>
        <p:nvCxnSpPr>
          <p:cNvPr id="68" name="直線矢印コネクタ 38"/>
          <p:cNvCxnSpPr/>
          <p:nvPr/>
        </p:nvCxnSpPr>
        <p:spPr>
          <a:xfrm xmlns:a="http://schemas.openxmlformats.org/drawingml/2006/main">
            <a:off x="523875" y="2076450"/>
            <a:ext cx="2190750" cy="0"/>
          </a:xfrm>
          <a:prstGeom xmlns:a="http://schemas.openxmlformats.org/drawingml/2006/main" prst="straightConnector1">
            <a:avLst/>
          </a:prstGeom>
          <a:ln xmlns:a="http://schemas.openxmlformats.org/drawingml/2006/main" w="9525">
            <a:solidFill>
              <a:srgbClr val="CBD5E1"/>
            </a:solidFill>
            <a:prstDash val="solid"/>
          </a:ln>
        </p:spPr>
      </p:cxnSp>
      <p:sp>
        <p:nvSpPr>
          <p:cNvPr id="7" name="正方形/長方形 6">
            <a:extLst xmlns:a="http://schemas.openxmlformats.org/drawingml/2006/main">
              <a:ext uri="{FF2B5EF4-FFF2-40B4-BE49-F238E27FC236}">
                <a16:creationId xmlns:a16="http://schemas.microsoft.com/office/drawing/2014/main" id="{ED5842F6-5493-49D7-941C-5E46F4D892A7}"/>
              </a:ext>
            </a:extLst>
          </p:cNvPr>
          <p:cNvSpPr>
            <a:spLocks xmlns:a="http://schemas.openxmlformats.org/drawingml/2006/main" noGrp="1"/>
          </p:cNvSpPr>
          <p:nvPr/>
        </p:nvSpPr>
        <p:spPr>
          <a:xfrm xmlns:a="http://schemas.openxmlformats.org/drawingml/2006/main">
            <a:off x="523875" y="2381250"/>
            <a:ext cx="8096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buNone/>
              <a:defRPr sz="1350" b="1">
                <a:solidFill>
                  <a:srgbClr val="111827"/>
                </a:solidFill>
                <a:latin typeface="Yu Gothic"/>
                <a:ea typeface="Yu Gothic"/>
                <a:cs typeface="Yu Gothic"/>
              </a:defRPr>
            </a:pPr>
            <a:r>
              <a:rPr sz="1350" b="1">
                <a:solidFill>
                  <a:srgbClr val="111827"/>
                </a:solidFill>
                <a:latin typeface="Yu Gothic"/>
                <a:ea typeface="Yu Gothic"/>
                <a:cs typeface="Yu Gothic"/>
              </a:rPr>
              <a:t>特徴1</a:t>
            </a:r>
          </a:p>
        </p:txBody>
      </p:sp>
      <p:sp>
        <p:nvSpPr>
          <p:cNvPr id="8" name="正方形/長方形 7">
            <a:extLst xmlns:a="http://schemas.openxmlformats.org/drawingml/2006/main">
              <a:ext uri="{FF2B5EF4-FFF2-40B4-BE49-F238E27FC236}">
                <a16:creationId xmlns:a16="http://schemas.microsoft.com/office/drawing/2014/main" id="{F97AF587-3C0A-4485-B6F9-3B77943077DA}"/>
              </a:ext>
            </a:extLst>
          </p:cNvPr>
          <p:cNvSpPr>
            <a:spLocks xmlns:a="http://schemas.openxmlformats.org/drawingml/2006/main" noGrp="1"/>
          </p:cNvSpPr>
          <p:nvPr/>
        </p:nvSpPr>
        <p:spPr>
          <a:xfrm xmlns:a="http://schemas.openxmlformats.org/drawingml/2006/main">
            <a:off x="1381125" y="2400300"/>
            <a:ext cx="1200150" cy="180975"/>
          </a:xfrm>
          <a:prstGeom xmlns:a="http://schemas.openxmlformats.org/drawingml/2006/main" prst="rect">
            <a:avLst/>
          </a:prstGeom>
          <a:solidFill xmlns:a="http://schemas.openxmlformats.org/drawingml/2006/main">
            <a:srgbClr val="2563EB"/>
          </a:solidFill>
          <a:ln xmlns:a="http://schemas.openxmlformats.org/drawingml/2006/main" w="0">
            <a:solidFill>
              <a:srgbClr val="2563EB"/>
            </a:solidFill>
            <a:prstDash val="solid"/>
          </a:ln>
        </p:spPr>
        <p:txBody>
          <a:bodyPr xmlns:a="http://schemas.openxmlformats.org/drawingml/2006/main"/>
          <a:lstStyle xmlns:a="http://schemas.openxmlformats.org/drawingml/2006/main"/>
          <a:p xmlns:a="http://schemas.openxmlformats.org/drawingml/2006/main">
            <a:endParaRPr/>
          </a:p>
        </p:txBody>
      </p:sp>
      <p:sp>
        <p:nvSpPr>
          <p:cNvPr id="9" name="正方形/長方形 8">
            <a:extLst xmlns:a="http://schemas.openxmlformats.org/drawingml/2006/main">
              <a:ext uri="{FF2B5EF4-FFF2-40B4-BE49-F238E27FC236}">
                <a16:creationId xmlns:a16="http://schemas.microsoft.com/office/drawing/2014/main" id="{D810D807-BBBD-475D-B2D6-CE31F15E5E50}"/>
              </a:ext>
            </a:extLst>
          </p:cNvPr>
          <p:cNvSpPr>
            <a:spLocks xmlns:a="http://schemas.openxmlformats.org/drawingml/2006/main" noGrp="1"/>
          </p:cNvSpPr>
          <p:nvPr/>
        </p:nvSpPr>
        <p:spPr>
          <a:xfrm xmlns:a="http://schemas.openxmlformats.org/drawingml/2006/main">
            <a:off x="523875" y="3190875"/>
            <a:ext cx="8096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buNone/>
              <a:defRPr sz="1350" b="1">
                <a:solidFill>
                  <a:srgbClr val="111827"/>
                </a:solidFill>
                <a:latin typeface="Yu Gothic"/>
                <a:ea typeface="Yu Gothic"/>
                <a:cs typeface="Yu Gothic"/>
              </a:defRPr>
            </a:pPr>
            <a:r>
              <a:rPr sz="1350" b="1">
                <a:solidFill>
                  <a:srgbClr val="111827"/>
                </a:solidFill>
                <a:latin typeface="Yu Gothic"/>
                <a:ea typeface="Yu Gothic"/>
                <a:cs typeface="Yu Gothic"/>
              </a:rPr>
              <a:t>特徴2</a:t>
            </a:r>
          </a:p>
        </p:txBody>
      </p:sp>
      <p:sp>
        <p:nvSpPr>
          <p:cNvPr id="10" name="正方形/長方形 9">
            <a:extLst xmlns:a="http://schemas.openxmlformats.org/drawingml/2006/main">
              <a:ext uri="{FF2B5EF4-FFF2-40B4-BE49-F238E27FC236}">
                <a16:creationId xmlns:a16="http://schemas.microsoft.com/office/drawing/2014/main" id="{7CB2A021-E301-40E1-932C-F2A563C6F7F3}"/>
              </a:ext>
            </a:extLst>
          </p:cNvPr>
          <p:cNvSpPr>
            <a:spLocks xmlns:a="http://schemas.openxmlformats.org/drawingml/2006/main" noGrp="1"/>
          </p:cNvSpPr>
          <p:nvPr/>
        </p:nvSpPr>
        <p:spPr>
          <a:xfrm xmlns:a="http://schemas.openxmlformats.org/drawingml/2006/main">
            <a:off x="1381125" y="3209925"/>
            <a:ext cx="866775" cy="180975"/>
          </a:xfrm>
          <a:prstGeom xmlns:a="http://schemas.openxmlformats.org/drawingml/2006/main" prst="rect">
            <a:avLst/>
          </a:prstGeom>
          <a:solidFill xmlns:a="http://schemas.openxmlformats.org/drawingml/2006/main">
            <a:srgbClr val="2563EB"/>
          </a:solidFill>
          <a:ln xmlns:a="http://schemas.openxmlformats.org/drawingml/2006/main" w="0">
            <a:solidFill>
              <a:srgbClr val="2563EB"/>
            </a:solidFill>
            <a:prstDash val="solid"/>
          </a:ln>
        </p:spPr>
        <p:txBody>
          <a:bodyPr xmlns:a="http://schemas.openxmlformats.org/drawingml/2006/main"/>
          <a:lstStyle xmlns:a="http://schemas.openxmlformats.org/drawingml/2006/main"/>
          <a:p xmlns:a="http://schemas.openxmlformats.org/drawingml/2006/main">
            <a:endParaRPr/>
          </a:p>
        </p:txBody>
      </p:sp>
      <p:sp>
        <p:nvSpPr>
          <p:cNvPr id="11" name="正方形/長方形 10">
            <a:extLst xmlns:a="http://schemas.openxmlformats.org/drawingml/2006/main">
              <a:ext uri="{FF2B5EF4-FFF2-40B4-BE49-F238E27FC236}">
                <a16:creationId xmlns:a16="http://schemas.microsoft.com/office/drawing/2014/main" id="{84B6F764-0125-4677-B9FA-03472D8464F6}"/>
              </a:ext>
            </a:extLst>
          </p:cNvPr>
          <p:cNvSpPr>
            <a:spLocks xmlns:a="http://schemas.openxmlformats.org/drawingml/2006/main" noGrp="1"/>
          </p:cNvSpPr>
          <p:nvPr/>
        </p:nvSpPr>
        <p:spPr>
          <a:xfrm xmlns:a="http://schemas.openxmlformats.org/drawingml/2006/main">
            <a:off x="523875" y="4000500"/>
            <a:ext cx="8096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buNone/>
              <a:defRPr sz="1350" b="1">
                <a:solidFill>
                  <a:srgbClr val="111827"/>
                </a:solidFill>
                <a:latin typeface="Yu Gothic"/>
                <a:ea typeface="Yu Gothic"/>
                <a:cs typeface="Yu Gothic"/>
              </a:defRPr>
            </a:pPr>
            <a:r>
              <a:rPr sz="1350" b="1">
                <a:solidFill>
                  <a:srgbClr val="111827"/>
                </a:solidFill>
                <a:latin typeface="Yu Gothic"/>
                <a:ea typeface="Yu Gothic"/>
                <a:cs typeface="Yu Gothic"/>
              </a:rPr>
              <a:t>特徴5</a:t>
            </a:r>
          </a:p>
        </p:txBody>
      </p:sp>
      <p:sp>
        <p:nvSpPr>
          <p:cNvPr id="12" name="正方形/長方形 11">
            <a:extLst xmlns:a="http://schemas.openxmlformats.org/drawingml/2006/main">
              <a:ext uri="{FF2B5EF4-FFF2-40B4-BE49-F238E27FC236}">
                <a16:creationId xmlns:a16="http://schemas.microsoft.com/office/drawing/2014/main" id="{57EC35DB-808D-42CC-B235-AD0C023ABEA4}"/>
              </a:ext>
            </a:extLst>
          </p:cNvPr>
          <p:cNvSpPr>
            <a:spLocks xmlns:a="http://schemas.openxmlformats.org/drawingml/2006/main" noGrp="1"/>
          </p:cNvSpPr>
          <p:nvPr/>
        </p:nvSpPr>
        <p:spPr>
          <a:xfrm xmlns:a="http://schemas.openxmlformats.org/drawingml/2006/main">
            <a:off x="1381125" y="4019550"/>
            <a:ext cx="466725" cy="180975"/>
          </a:xfrm>
          <a:prstGeom xmlns:a="http://schemas.openxmlformats.org/drawingml/2006/main" prst="rect">
            <a:avLst/>
          </a:prstGeom>
          <a:solidFill xmlns:a="http://schemas.openxmlformats.org/drawingml/2006/main">
            <a:srgbClr val="2563EB"/>
          </a:solidFill>
          <a:ln xmlns:a="http://schemas.openxmlformats.org/drawingml/2006/main" w="0">
            <a:solidFill>
              <a:srgbClr val="2563EB"/>
            </a:solidFill>
            <a:prstDash val="solid"/>
          </a:ln>
        </p:spPr>
        <p:txBody>
          <a:bodyPr xmlns:a="http://schemas.openxmlformats.org/drawingml/2006/main"/>
          <a:lstStyle xmlns:a="http://schemas.openxmlformats.org/drawingml/2006/main"/>
          <a:p xmlns:a="http://schemas.openxmlformats.org/drawingml/2006/main">
            <a:endParaRPr/>
          </a:p>
        </p:txBody>
      </p:sp>
      <p:sp>
        <p:nvSpPr>
          <p:cNvPr id="13" name="正方形/長方形 12">
            <a:extLst xmlns:a="http://schemas.openxmlformats.org/drawingml/2006/main">
              <a:ext uri="{FF2B5EF4-FFF2-40B4-BE49-F238E27FC236}">
                <a16:creationId xmlns:a16="http://schemas.microsoft.com/office/drawing/2014/main" id="{963193BD-CCD1-4C01-AFAC-6D24CB059705}"/>
              </a:ext>
            </a:extLst>
          </p:cNvPr>
          <p:cNvSpPr>
            <a:spLocks xmlns:a="http://schemas.openxmlformats.org/drawingml/2006/main" noGrp="1"/>
          </p:cNvSpPr>
          <p:nvPr/>
        </p:nvSpPr>
        <p:spPr>
          <a:xfrm xmlns:a="http://schemas.openxmlformats.org/drawingml/2006/main">
            <a:off x="3238500" y="1666875"/>
            <a:ext cx="22383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buNone/>
              <a:defRPr sz="1875" b="1">
                <a:solidFill>
                  <a:srgbClr val="F59E0B"/>
                </a:solidFill>
                <a:latin typeface="Yu Gothic"/>
                <a:ea typeface="Yu Gothic"/>
                <a:cs typeface="Yu Gothic"/>
              </a:defRPr>
            </a:pPr>
            <a:r>
              <a:rPr sz="1875" b="1">
                <a:solidFill>
                  <a:srgbClr val="F59E0B"/>
                </a:solidFill>
                <a:latin typeface="Yu Gothic"/>
                <a:ea typeface="Yu Gothic"/>
                <a:cs typeface="Yu Gothic"/>
              </a:rPr>
              <a:t>クラス B</a:t>
            </a:r>
          </a:p>
        </p:txBody>
      </p:sp>
      <p:cxnSp>
        <p:nvCxnSpPr>
          <p:cNvPr id="76" name="直線矢印コネクタ 46"/>
          <p:cNvCxnSpPr/>
          <p:nvPr/>
        </p:nvCxnSpPr>
        <p:spPr>
          <a:xfrm xmlns:a="http://schemas.openxmlformats.org/drawingml/2006/main">
            <a:off x="3238500" y="2076450"/>
            <a:ext cx="2190750" cy="0"/>
          </a:xfrm>
          <a:prstGeom xmlns:a="http://schemas.openxmlformats.org/drawingml/2006/main" prst="straightConnector1">
            <a:avLst/>
          </a:prstGeom>
          <a:ln xmlns:a="http://schemas.openxmlformats.org/drawingml/2006/main" w="9525">
            <a:solidFill>
              <a:srgbClr val="CBD5E1"/>
            </a:solidFill>
            <a:prstDash val="solid"/>
          </a:ln>
        </p:spPr>
      </p:cxnSp>
      <p:sp>
        <p:nvSpPr>
          <p:cNvPr id="15" name="正方形/長方形 14">
            <a:extLst xmlns:a="http://schemas.openxmlformats.org/drawingml/2006/main">
              <a:ext uri="{FF2B5EF4-FFF2-40B4-BE49-F238E27FC236}">
                <a16:creationId xmlns:a16="http://schemas.microsoft.com/office/drawing/2014/main" id="{B653A798-C88C-4C36-97B5-105BC4AE163B}"/>
              </a:ext>
            </a:extLst>
          </p:cNvPr>
          <p:cNvSpPr>
            <a:spLocks xmlns:a="http://schemas.openxmlformats.org/drawingml/2006/main" noGrp="1"/>
          </p:cNvSpPr>
          <p:nvPr/>
        </p:nvSpPr>
        <p:spPr>
          <a:xfrm xmlns:a="http://schemas.openxmlformats.org/drawingml/2006/main">
            <a:off x="3238500" y="2381250"/>
            <a:ext cx="8096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buNone/>
              <a:defRPr sz="1350" b="1">
                <a:solidFill>
                  <a:srgbClr val="111827"/>
                </a:solidFill>
                <a:latin typeface="Yu Gothic"/>
                <a:ea typeface="Yu Gothic"/>
                <a:cs typeface="Yu Gothic"/>
              </a:defRPr>
            </a:pPr>
            <a:r>
              <a:rPr sz="1350" b="1">
                <a:solidFill>
                  <a:srgbClr val="111827"/>
                </a:solidFill>
                <a:latin typeface="Yu Gothic"/>
                <a:ea typeface="Yu Gothic"/>
                <a:cs typeface="Yu Gothic"/>
              </a:rPr>
              <a:t>特徴2</a:t>
            </a:r>
          </a:p>
        </p:txBody>
      </p:sp>
      <p:sp>
        <p:nvSpPr>
          <p:cNvPr id="16" name="正方形/長方形 15">
            <a:extLst xmlns:a="http://schemas.openxmlformats.org/drawingml/2006/main">
              <a:ext uri="{FF2B5EF4-FFF2-40B4-BE49-F238E27FC236}">
                <a16:creationId xmlns:a16="http://schemas.microsoft.com/office/drawing/2014/main" id="{E3410C17-715A-4214-8732-67432B3875B8}"/>
              </a:ext>
            </a:extLst>
          </p:cNvPr>
          <p:cNvSpPr>
            <a:spLocks xmlns:a="http://schemas.openxmlformats.org/drawingml/2006/main" noGrp="1"/>
          </p:cNvSpPr>
          <p:nvPr/>
        </p:nvSpPr>
        <p:spPr>
          <a:xfrm xmlns:a="http://schemas.openxmlformats.org/drawingml/2006/main">
            <a:off x="4095750" y="2400300"/>
            <a:ext cx="1133475" cy="180975"/>
          </a:xfrm>
          <a:prstGeom xmlns:a="http://schemas.openxmlformats.org/drawingml/2006/main" prst="rect">
            <a:avLst/>
          </a:prstGeom>
          <a:solidFill xmlns:a="http://schemas.openxmlformats.org/drawingml/2006/main">
            <a:srgbClr val="F59E0B"/>
          </a:solidFill>
          <a:ln xmlns:a="http://schemas.openxmlformats.org/drawingml/2006/main" w="0">
            <a:solidFill>
              <a:srgbClr val="F59E0B"/>
            </a:solidFill>
            <a:prstDash val="solid"/>
          </a:ln>
        </p:spPr>
        <p:txBody>
          <a:bodyPr xmlns:a="http://schemas.openxmlformats.org/drawingml/2006/main"/>
          <a:lstStyle xmlns:a="http://schemas.openxmlformats.org/drawingml/2006/main"/>
          <a:p xmlns:a="http://schemas.openxmlformats.org/drawingml/2006/main">
            <a:endParaRPr/>
          </a:p>
        </p:txBody>
      </p:sp>
      <p:sp>
        <p:nvSpPr>
          <p:cNvPr id="17" name="正方形/長方形 16">
            <a:extLst xmlns:a="http://schemas.openxmlformats.org/drawingml/2006/main">
              <a:ext uri="{FF2B5EF4-FFF2-40B4-BE49-F238E27FC236}">
                <a16:creationId xmlns:a16="http://schemas.microsoft.com/office/drawing/2014/main" id="{DEE74ADC-DC9D-41F5-BD0B-5D0113AC2E11}"/>
              </a:ext>
            </a:extLst>
          </p:cNvPr>
          <p:cNvSpPr>
            <a:spLocks xmlns:a="http://schemas.openxmlformats.org/drawingml/2006/main" noGrp="1"/>
          </p:cNvSpPr>
          <p:nvPr/>
        </p:nvSpPr>
        <p:spPr>
          <a:xfrm xmlns:a="http://schemas.openxmlformats.org/drawingml/2006/main">
            <a:off x="3238500" y="3190875"/>
            <a:ext cx="8096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buNone/>
              <a:defRPr sz="1350" b="1">
                <a:solidFill>
                  <a:srgbClr val="111827"/>
                </a:solidFill>
                <a:latin typeface="Yu Gothic"/>
                <a:ea typeface="Yu Gothic"/>
                <a:cs typeface="Yu Gothic"/>
              </a:defRPr>
            </a:pPr>
            <a:r>
              <a:rPr sz="1350" b="1">
                <a:solidFill>
                  <a:srgbClr val="111827"/>
                </a:solidFill>
                <a:latin typeface="Yu Gothic"/>
                <a:ea typeface="Yu Gothic"/>
                <a:cs typeface="Yu Gothic"/>
              </a:rPr>
              <a:t>特徴4</a:t>
            </a:r>
          </a:p>
        </p:txBody>
      </p:sp>
      <p:sp>
        <p:nvSpPr>
          <p:cNvPr id="18" name="正方形/長方形 17">
            <a:extLst xmlns:a="http://schemas.openxmlformats.org/drawingml/2006/main">
              <a:ext uri="{FF2B5EF4-FFF2-40B4-BE49-F238E27FC236}">
                <a16:creationId xmlns:a16="http://schemas.microsoft.com/office/drawing/2014/main" id="{7F6DB0B6-878A-480F-8D5F-AFD141AED6BD}"/>
              </a:ext>
            </a:extLst>
          </p:cNvPr>
          <p:cNvSpPr>
            <a:spLocks xmlns:a="http://schemas.openxmlformats.org/drawingml/2006/main" noGrp="1"/>
          </p:cNvSpPr>
          <p:nvPr/>
        </p:nvSpPr>
        <p:spPr>
          <a:xfrm xmlns:a="http://schemas.openxmlformats.org/drawingml/2006/main">
            <a:off x="4095750" y="3209925"/>
            <a:ext cx="773430" cy="180975"/>
          </a:xfrm>
          <a:prstGeom xmlns:a="http://schemas.openxmlformats.org/drawingml/2006/main" prst="rect">
            <a:avLst/>
          </a:prstGeom>
          <a:solidFill xmlns:a="http://schemas.openxmlformats.org/drawingml/2006/main">
            <a:srgbClr val="F59E0B"/>
          </a:solidFill>
          <a:ln xmlns:a="http://schemas.openxmlformats.org/drawingml/2006/main" w="0">
            <a:solidFill>
              <a:srgbClr val="F59E0B"/>
            </a:solidFill>
            <a:prstDash val="solid"/>
          </a:ln>
        </p:spPr>
        <p:txBody>
          <a:bodyPr xmlns:a="http://schemas.openxmlformats.org/drawingml/2006/main"/>
          <a:lstStyle xmlns:a="http://schemas.openxmlformats.org/drawingml/2006/main"/>
          <a:p xmlns:a="http://schemas.openxmlformats.org/drawingml/2006/main">
            <a:endParaRPr/>
          </a:p>
        </p:txBody>
      </p:sp>
      <p:sp>
        <p:nvSpPr>
          <p:cNvPr id="19" name="正方形/長方形 18">
            <a:extLst xmlns:a="http://schemas.openxmlformats.org/drawingml/2006/main">
              <a:ext uri="{FF2B5EF4-FFF2-40B4-BE49-F238E27FC236}">
                <a16:creationId xmlns:a16="http://schemas.microsoft.com/office/drawing/2014/main" id="{0E8E1109-0AEF-4C79-B3CF-2C16FDFCA934}"/>
              </a:ext>
            </a:extLst>
          </p:cNvPr>
          <p:cNvSpPr>
            <a:spLocks xmlns:a="http://schemas.openxmlformats.org/drawingml/2006/main" noGrp="1"/>
          </p:cNvSpPr>
          <p:nvPr/>
        </p:nvSpPr>
        <p:spPr>
          <a:xfrm xmlns:a="http://schemas.openxmlformats.org/drawingml/2006/main">
            <a:off x="3238500" y="4000500"/>
            <a:ext cx="8096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buNone/>
              <a:defRPr sz="1350" b="1">
                <a:solidFill>
                  <a:srgbClr val="111827"/>
                </a:solidFill>
                <a:latin typeface="Yu Gothic"/>
                <a:ea typeface="Yu Gothic"/>
                <a:cs typeface="Yu Gothic"/>
              </a:defRPr>
            </a:pPr>
            <a:r>
              <a:rPr sz="1350" b="1">
                <a:solidFill>
                  <a:srgbClr val="111827"/>
                </a:solidFill>
                <a:latin typeface="Yu Gothic"/>
                <a:ea typeface="Yu Gothic"/>
                <a:cs typeface="Yu Gothic"/>
              </a:rPr>
              <a:t>特徴1</a:t>
            </a:r>
          </a:p>
        </p:txBody>
      </p:sp>
      <p:sp>
        <p:nvSpPr>
          <p:cNvPr id="20" name="正方形/長方形 19">
            <a:extLst xmlns:a="http://schemas.openxmlformats.org/drawingml/2006/main">
              <a:ext uri="{FF2B5EF4-FFF2-40B4-BE49-F238E27FC236}">
                <a16:creationId xmlns:a16="http://schemas.microsoft.com/office/drawing/2014/main" id="{1EC67A9D-E3B4-49EC-97EA-F71D28646910}"/>
              </a:ext>
            </a:extLst>
          </p:cNvPr>
          <p:cNvSpPr>
            <a:spLocks xmlns:a="http://schemas.openxmlformats.org/drawingml/2006/main" noGrp="1"/>
          </p:cNvSpPr>
          <p:nvPr/>
        </p:nvSpPr>
        <p:spPr>
          <a:xfrm xmlns:a="http://schemas.openxmlformats.org/drawingml/2006/main">
            <a:off x="4095750" y="4019550"/>
            <a:ext cx="400050" cy="180975"/>
          </a:xfrm>
          <a:prstGeom xmlns:a="http://schemas.openxmlformats.org/drawingml/2006/main" prst="rect">
            <a:avLst/>
          </a:prstGeom>
          <a:solidFill xmlns:a="http://schemas.openxmlformats.org/drawingml/2006/main">
            <a:srgbClr val="F59E0B"/>
          </a:solidFill>
          <a:ln xmlns:a="http://schemas.openxmlformats.org/drawingml/2006/main" w="0">
            <a:solidFill>
              <a:srgbClr val="F59E0B"/>
            </a:solidFill>
            <a:prstDash val="solid"/>
          </a:ln>
        </p:spPr>
        <p:txBody>
          <a:bodyPr xmlns:a="http://schemas.openxmlformats.org/drawingml/2006/main"/>
          <a:lstStyle xmlns:a="http://schemas.openxmlformats.org/drawingml/2006/main"/>
          <a:p xmlns:a="http://schemas.openxmlformats.org/drawingml/2006/main">
            <a:endParaRPr/>
          </a:p>
        </p:txBody>
      </p:sp>
      <p:sp>
        <p:nvSpPr>
          <p:cNvPr id="21" name="正方形/長方形 20">
            <a:extLst xmlns:a="http://schemas.openxmlformats.org/drawingml/2006/main">
              <a:ext uri="{FF2B5EF4-FFF2-40B4-BE49-F238E27FC236}">
                <a16:creationId xmlns:a16="http://schemas.microsoft.com/office/drawing/2014/main" id="{E9DCC125-2D2A-4ECB-8715-5A08507D6CCB}"/>
              </a:ext>
            </a:extLst>
          </p:cNvPr>
          <p:cNvSpPr>
            <a:spLocks xmlns:a="http://schemas.openxmlformats.org/drawingml/2006/main" noGrp="1"/>
          </p:cNvSpPr>
          <p:nvPr/>
        </p:nvSpPr>
        <p:spPr>
          <a:xfrm xmlns:a="http://schemas.openxmlformats.org/drawingml/2006/main">
            <a:off x="5953125" y="1666875"/>
            <a:ext cx="22383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buNone/>
              <a:defRPr sz="1875" b="1">
                <a:solidFill>
                  <a:srgbClr val="10B981"/>
                </a:solidFill>
                <a:latin typeface="Yu Gothic"/>
                <a:ea typeface="Yu Gothic"/>
                <a:cs typeface="Yu Gothic"/>
              </a:defRPr>
            </a:pPr>
            <a:r>
              <a:rPr sz="1875" b="1">
                <a:solidFill>
                  <a:srgbClr val="10B981"/>
                </a:solidFill>
                <a:latin typeface="Yu Gothic"/>
                <a:ea typeface="Yu Gothic"/>
                <a:cs typeface="Yu Gothic"/>
              </a:rPr>
              <a:t>クラス C</a:t>
            </a:r>
          </a:p>
        </p:txBody>
      </p:sp>
      <p:cxnSp>
        <p:nvCxnSpPr>
          <p:cNvPr id="84" name="直線矢印コネクタ 54"/>
          <p:cNvCxnSpPr/>
          <p:nvPr/>
        </p:nvCxnSpPr>
        <p:spPr>
          <a:xfrm xmlns:a="http://schemas.openxmlformats.org/drawingml/2006/main">
            <a:off x="5953125" y="2076450"/>
            <a:ext cx="2190750" cy="0"/>
          </a:xfrm>
          <a:prstGeom xmlns:a="http://schemas.openxmlformats.org/drawingml/2006/main" prst="straightConnector1">
            <a:avLst/>
          </a:prstGeom>
          <a:ln xmlns:a="http://schemas.openxmlformats.org/drawingml/2006/main" w="9525">
            <a:solidFill>
              <a:srgbClr val="CBD5E1"/>
            </a:solidFill>
            <a:prstDash val="solid"/>
          </a:ln>
        </p:spPr>
      </p:cxnSp>
      <p:sp>
        <p:nvSpPr>
          <p:cNvPr id="23" name="正方形/長方形 22">
            <a:extLst xmlns:a="http://schemas.openxmlformats.org/drawingml/2006/main">
              <a:ext uri="{FF2B5EF4-FFF2-40B4-BE49-F238E27FC236}">
                <a16:creationId xmlns:a16="http://schemas.microsoft.com/office/drawing/2014/main" id="{3A099ABE-CC82-4F2F-B8F4-3425531D59E5}"/>
              </a:ext>
            </a:extLst>
          </p:cNvPr>
          <p:cNvSpPr>
            <a:spLocks xmlns:a="http://schemas.openxmlformats.org/drawingml/2006/main" noGrp="1"/>
          </p:cNvSpPr>
          <p:nvPr/>
        </p:nvSpPr>
        <p:spPr>
          <a:xfrm xmlns:a="http://schemas.openxmlformats.org/drawingml/2006/main">
            <a:off x="5953125" y="2381250"/>
            <a:ext cx="8096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buNone/>
              <a:defRPr sz="1350" b="1">
                <a:solidFill>
                  <a:srgbClr val="111827"/>
                </a:solidFill>
                <a:latin typeface="Yu Gothic"/>
                <a:ea typeface="Yu Gothic"/>
                <a:cs typeface="Yu Gothic"/>
              </a:defRPr>
            </a:pPr>
            <a:r>
              <a:rPr sz="1350" b="1">
                <a:solidFill>
                  <a:srgbClr val="111827"/>
                </a:solidFill>
                <a:latin typeface="Yu Gothic"/>
                <a:ea typeface="Yu Gothic"/>
                <a:cs typeface="Yu Gothic"/>
              </a:rPr>
              <a:t>特徴3</a:t>
            </a:r>
          </a:p>
        </p:txBody>
      </p:sp>
      <p:sp>
        <p:nvSpPr>
          <p:cNvPr id="24" name="正方形/長方形 23">
            <a:extLst xmlns:a="http://schemas.openxmlformats.org/drawingml/2006/main">
              <a:ext uri="{FF2B5EF4-FFF2-40B4-BE49-F238E27FC236}">
                <a16:creationId xmlns:a16="http://schemas.microsoft.com/office/drawing/2014/main" id="{F412E6F8-0E49-4E21-A372-2DC40E5788FF}"/>
              </a:ext>
            </a:extLst>
          </p:cNvPr>
          <p:cNvSpPr>
            <a:spLocks xmlns:a="http://schemas.openxmlformats.org/drawingml/2006/main" noGrp="1"/>
          </p:cNvSpPr>
          <p:nvPr/>
        </p:nvSpPr>
        <p:spPr>
          <a:xfrm xmlns:a="http://schemas.openxmlformats.org/drawingml/2006/main">
            <a:off x="6810375" y="2400300"/>
            <a:ext cx="1226820" cy="180975"/>
          </a:xfrm>
          <a:prstGeom xmlns:a="http://schemas.openxmlformats.org/drawingml/2006/main" prst="rect">
            <a:avLst/>
          </a:prstGeom>
          <a:solidFill xmlns:a="http://schemas.openxmlformats.org/drawingml/2006/main">
            <a:srgbClr val="10B981"/>
          </a:solidFill>
          <a:ln xmlns:a="http://schemas.openxmlformats.org/drawingml/2006/main" w="0">
            <a:solidFill>
              <a:srgbClr val="10B981"/>
            </a:solidFill>
            <a:prstDash val="solid"/>
          </a:ln>
        </p:spPr>
        <p:txBody>
          <a:bodyPr xmlns:a="http://schemas.openxmlformats.org/drawingml/2006/main"/>
          <a:lstStyle xmlns:a="http://schemas.openxmlformats.org/drawingml/2006/main"/>
          <a:p xmlns:a="http://schemas.openxmlformats.org/drawingml/2006/main">
            <a:endParaRPr/>
          </a:p>
        </p:txBody>
      </p:sp>
      <p:sp>
        <p:nvSpPr>
          <p:cNvPr id="25" name="正方形/長方形 24">
            <a:extLst xmlns:a="http://schemas.openxmlformats.org/drawingml/2006/main">
              <a:ext uri="{FF2B5EF4-FFF2-40B4-BE49-F238E27FC236}">
                <a16:creationId xmlns:a16="http://schemas.microsoft.com/office/drawing/2014/main" id="{6AA202A1-C7AF-4C74-A8C1-E0A1B8170D90}"/>
              </a:ext>
            </a:extLst>
          </p:cNvPr>
          <p:cNvSpPr>
            <a:spLocks xmlns:a="http://schemas.openxmlformats.org/drawingml/2006/main" noGrp="1"/>
          </p:cNvSpPr>
          <p:nvPr/>
        </p:nvSpPr>
        <p:spPr>
          <a:xfrm xmlns:a="http://schemas.openxmlformats.org/drawingml/2006/main">
            <a:off x="5953125" y="3190875"/>
            <a:ext cx="8096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buNone/>
              <a:defRPr sz="1350" b="1">
                <a:solidFill>
                  <a:srgbClr val="111827"/>
                </a:solidFill>
                <a:latin typeface="Yu Gothic"/>
                <a:ea typeface="Yu Gothic"/>
                <a:cs typeface="Yu Gothic"/>
              </a:defRPr>
            </a:pPr>
            <a:r>
              <a:rPr sz="1350" b="1">
                <a:solidFill>
                  <a:srgbClr val="111827"/>
                </a:solidFill>
                <a:latin typeface="Yu Gothic"/>
                <a:ea typeface="Yu Gothic"/>
                <a:cs typeface="Yu Gothic"/>
              </a:rPr>
              <a:t>特徴5</a:t>
            </a:r>
          </a:p>
        </p:txBody>
      </p:sp>
      <p:sp>
        <p:nvSpPr>
          <p:cNvPr id="26" name="正方形/長方形 25">
            <a:extLst xmlns:a="http://schemas.openxmlformats.org/drawingml/2006/main">
              <a:ext uri="{FF2B5EF4-FFF2-40B4-BE49-F238E27FC236}">
                <a16:creationId xmlns:a16="http://schemas.microsoft.com/office/drawing/2014/main" id="{174943F7-D308-4363-B917-01F17FD95837}"/>
              </a:ext>
            </a:extLst>
          </p:cNvPr>
          <p:cNvSpPr>
            <a:spLocks xmlns:a="http://schemas.openxmlformats.org/drawingml/2006/main" noGrp="1"/>
          </p:cNvSpPr>
          <p:nvPr/>
        </p:nvSpPr>
        <p:spPr>
          <a:xfrm xmlns:a="http://schemas.openxmlformats.org/drawingml/2006/main">
            <a:off x="6810375" y="3209925"/>
            <a:ext cx="826770" cy="180975"/>
          </a:xfrm>
          <a:prstGeom xmlns:a="http://schemas.openxmlformats.org/drawingml/2006/main" prst="rect">
            <a:avLst/>
          </a:prstGeom>
          <a:solidFill xmlns:a="http://schemas.openxmlformats.org/drawingml/2006/main">
            <a:srgbClr val="10B981"/>
          </a:solidFill>
          <a:ln xmlns:a="http://schemas.openxmlformats.org/drawingml/2006/main" w="0">
            <a:solidFill>
              <a:srgbClr val="10B981"/>
            </a:solidFill>
            <a:prstDash val="solid"/>
          </a:ln>
        </p:spPr>
        <p:txBody>
          <a:bodyPr xmlns:a="http://schemas.openxmlformats.org/drawingml/2006/main"/>
          <a:lstStyle xmlns:a="http://schemas.openxmlformats.org/drawingml/2006/main"/>
          <a:p xmlns:a="http://schemas.openxmlformats.org/drawingml/2006/main">
            <a:endParaRPr/>
          </a:p>
        </p:txBody>
      </p:sp>
      <p:sp>
        <p:nvSpPr>
          <p:cNvPr id="27" name="正方形/長方形 26">
            <a:extLst xmlns:a="http://schemas.openxmlformats.org/drawingml/2006/main">
              <a:ext uri="{FF2B5EF4-FFF2-40B4-BE49-F238E27FC236}">
                <a16:creationId xmlns:a16="http://schemas.microsoft.com/office/drawing/2014/main" id="{A5138BC3-7C1A-42EE-9E64-69586F44F6E9}"/>
              </a:ext>
            </a:extLst>
          </p:cNvPr>
          <p:cNvSpPr>
            <a:spLocks xmlns:a="http://schemas.openxmlformats.org/drawingml/2006/main" noGrp="1"/>
          </p:cNvSpPr>
          <p:nvPr/>
        </p:nvSpPr>
        <p:spPr>
          <a:xfrm xmlns:a="http://schemas.openxmlformats.org/drawingml/2006/main">
            <a:off x="5953125" y="4000500"/>
            <a:ext cx="8096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buNone/>
              <a:defRPr sz="1350" b="1">
                <a:solidFill>
                  <a:srgbClr val="111827"/>
                </a:solidFill>
                <a:latin typeface="Yu Gothic"/>
                <a:ea typeface="Yu Gothic"/>
                <a:cs typeface="Yu Gothic"/>
              </a:defRPr>
            </a:pPr>
            <a:r>
              <a:rPr sz="1350" b="1">
                <a:solidFill>
                  <a:srgbClr val="111827"/>
                </a:solidFill>
                <a:latin typeface="Yu Gothic"/>
                <a:ea typeface="Yu Gothic"/>
                <a:cs typeface="Yu Gothic"/>
              </a:rPr>
              <a:t>特徴2</a:t>
            </a:r>
          </a:p>
        </p:txBody>
      </p:sp>
      <p:sp>
        <p:nvSpPr>
          <p:cNvPr id="28" name="正方形/長方形 27">
            <a:extLst xmlns:a="http://schemas.openxmlformats.org/drawingml/2006/main">
              <a:ext uri="{FF2B5EF4-FFF2-40B4-BE49-F238E27FC236}">
                <a16:creationId xmlns:a16="http://schemas.microsoft.com/office/drawing/2014/main" id="{614BDDEF-52A9-4FE2-9F66-D5F7AA69E784}"/>
              </a:ext>
            </a:extLst>
          </p:cNvPr>
          <p:cNvSpPr>
            <a:spLocks xmlns:a="http://schemas.openxmlformats.org/drawingml/2006/main" noGrp="1"/>
          </p:cNvSpPr>
          <p:nvPr/>
        </p:nvSpPr>
        <p:spPr>
          <a:xfrm xmlns:a="http://schemas.openxmlformats.org/drawingml/2006/main">
            <a:off x="6810375" y="4019550"/>
            <a:ext cx="373380" cy="180975"/>
          </a:xfrm>
          <a:prstGeom xmlns:a="http://schemas.openxmlformats.org/drawingml/2006/main" prst="rect">
            <a:avLst/>
          </a:prstGeom>
          <a:solidFill xmlns:a="http://schemas.openxmlformats.org/drawingml/2006/main">
            <a:srgbClr val="10B981"/>
          </a:solidFill>
          <a:ln xmlns:a="http://schemas.openxmlformats.org/drawingml/2006/main" w="0">
            <a:solidFill>
              <a:srgbClr val="10B981"/>
            </a:solidFill>
            <a:prstDash val="solid"/>
          </a:ln>
        </p:spPr>
        <p:txBody>
          <a:bodyPr xmlns:a="http://schemas.openxmlformats.org/drawingml/2006/main"/>
          <a:lstStyle xmlns:a="http://schemas.openxmlformats.org/drawingml/2006/main"/>
          <a:p xmlns:a="http://schemas.openxmlformats.org/drawingml/2006/main">
            <a:endParaRPr/>
          </a:p>
        </p:txBody>
      </p:sp>
      <p:cxnSp>
        <p:nvCxnSpPr>
          <p:cNvPr id="91" name="直線矢印コネクタ 61"/>
          <p:cNvCxnSpPr/>
          <p:nvPr/>
        </p:nvCxnSpPr>
        <p:spPr>
          <a:xfrm xmlns:a="http://schemas.openxmlformats.org/drawingml/2006/main">
            <a:off x="8763000" y="1571625"/>
            <a:ext cx="0" cy="3714750"/>
          </a:xfrm>
          <a:prstGeom xmlns:a="http://schemas.openxmlformats.org/drawingml/2006/main" prst="straightConnector1">
            <a:avLst/>
          </a:prstGeom>
          <a:ln xmlns:a="http://schemas.openxmlformats.org/drawingml/2006/main" w="19050">
            <a:solidFill>
              <a:srgbClr val="CBD5E1"/>
            </a:solidFill>
            <a:prstDash val="solid"/>
          </a:ln>
        </p:spPr>
      </p:cxnSp>
      <p:sp>
        <p:nvSpPr>
          <p:cNvPr id="30" name="正方形/長方形 29">
            <a:extLst xmlns:a="http://schemas.openxmlformats.org/drawingml/2006/main">
              <a:ext uri="{FF2B5EF4-FFF2-40B4-BE49-F238E27FC236}">
                <a16:creationId xmlns:a16="http://schemas.microsoft.com/office/drawing/2014/main" id="{7232231D-4BA4-47E1-9658-6CC3BCF63FB7}"/>
              </a:ext>
            </a:extLst>
          </p:cNvPr>
          <p:cNvSpPr>
            <a:spLocks xmlns:a="http://schemas.openxmlformats.org/drawingml/2006/main" noGrp="1"/>
          </p:cNvSpPr>
          <p:nvPr/>
        </p:nvSpPr>
        <p:spPr>
          <a:xfrm xmlns:a="http://schemas.openxmlformats.org/drawingml/2006/main">
            <a:off x="9191625" y="1714500"/>
            <a:ext cx="228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buNone/>
              <a:defRPr sz="1800" b="1">
                <a:solidFill>
                  <a:srgbClr val="111827"/>
                </a:solidFill>
                <a:latin typeface="Yu Gothic"/>
                <a:ea typeface="Yu Gothic"/>
                <a:cs typeface="Yu Gothic"/>
              </a:defRPr>
            </a:pPr>
            <a:r>
              <a:rPr sz="1800" b="1">
                <a:solidFill>
                  <a:srgbClr val="111827"/>
                </a:solidFill>
                <a:latin typeface="Yu Gothic"/>
                <a:ea typeface="Yu Gothic"/>
                <a:cs typeface="Yu Gothic"/>
              </a:rPr>
              <a:t>利用者の問い</a:t>
            </a:r>
          </a:p>
        </p:txBody>
      </p:sp>
      <p:sp>
        <p:nvSpPr>
          <p:cNvPr id="31" name="正方形/長方形 30">
            <a:extLst xmlns:a="http://schemas.openxmlformats.org/drawingml/2006/main">
              <a:ext uri="{FF2B5EF4-FFF2-40B4-BE49-F238E27FC236}">
                <a16:creationId xmlns:a16="http://schemas.microsoft.com/office/drawing/2014/main" id="{9F56DB97-490B-4830-9353-CE920E8C62DC}"/>
              </a:ext>
            </a:extLst>
          </p:cNvPr>
          <p:cNvSpPr>
            <a:spLocks xmlns:a="http://schemas.openxmlformats.org/drawingml/2006/main" noGrp="1"/>
          </p:cNvSpPr>
          <p:nvPr/>
        </p:nvSpPr>
        <p:spPr>
          <a:xfrm xmlns:a="http://schemas.openxmlformats.org/drawingml/2006/main">
            <a:off x="9191625" y="2333625"/>
            <a:ext cx="2286000" cy="2476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buNone/>
              <a:defRPr sz="1875" b="1">
                <a:solidFill>
                  <a:srgbClr val="111827"/>
                </a:solidFill>
                <a:latin typeface="Yu Gothic"/>
                <a:ea typeface="Yu Gothic"/>
                <a:cs typeface="Yu Gothic"/>
              </a:defRPr>
            </a:pPr>
            <a:r>
              <a:rPr sz="1875" b="1">
                <a:solidFill>
                  <a:srgbClr val="111827"/>
                </a:solidFill>
                <a:latin typeface="Yu Gothic"/>
                <a:ea typeface="Yu Gothic"/>
                <a:cs typeface="Yu Gothic"/>
              </a:rPr>
              <a:t>Aに重要な特徴は</a:t>
            </a:r>
          </a:p>
          <a:p xmlns:a="http://schemas.openxmlformats.org/drawingml/2006/main">
            <a:pPr algn="l">
              <a:buNone/>
              <a:defRPr sz="1875" b="1">
                <a:solidFill>
                  <a:srgbClr val="111827"/>
                </a:solidFill>
                <a:latin typeface="Yu Gothic"/>
                <a:ea typeface="Yu Gothic"/>
                <a:cs typeface="Yu Gothic"/>
              </a:defRPr>
            </a:pPr>
            <a:r>
              <a:rPr sz="1875" b="1">
                <a:solidFill>
                  <a:srgbClr val="111827"/>
                </a:solidFill>
                <a:latin typeface="Yu Gothic"/>
                <a:ea typeface="Yu Gothic"/>
                <a:cs typeface="Yu Gothic"/>
              </a:rPr>
              <a:t>分かった。</a:t>
            </a:r>
          </a:p>
          <a:p xmlns:a="http://schemas.openxmlformats.org/drawingml/2006/main">
            <a:endParaRPr sz="1875" b="1">
              <a:solidFill>
                <a:srgbClr val="111827"/>
              </a:solidFill>
              <a:latin typeface="Yu Gothic"/>
              <a:ea typeface="Yu Gothic"/>
              <a:cs typeface="Yu Gothic"/>
            </a:endParaRPr>
          </a:p>
          <a:p xmlns:a="http://schemas.openxmlformats.org/drawingml/2006/main">
            <a:pPr algn="l">
              <a:buNone/>
              <a:defRPr sz="1875" b="1">
                <a:solidFill>
                  <a:srgbClr val="111827"/>
                </a:solidFill>
                <a:latin typeface="Yu Gothic"/>
                <a:ea typeface="Yu Gothic"/>
                <a:cs typeface="Yu Gothic"/>
              </a:defRPr>
            </a:pPr>
            <a:r>
              <a:rPr sz="1875" b="1">
                <a:solidFill>
                  <a:srgbClr val="111827"/>
                </a:solidFill>
                <a:latin typeface="Yu Gothic"/>
                <a:ea typeface="Yu Gothic"/>
                <a:cs typeface="Yu Gothic"/>
              </a:rPr>
              <a:t>では、AとBを</a:t>
            </a:r>
          </a:p>
          <a:p xmlns:a="http://schemas.openxmlformats.org/drawingml/2006/main">
            <a:pPr algn="l">
              <a:buNone/>
              <a:defRPr sz="1875" b="1">
                <a:solidFill>
                  <a:srgbClr val="111827"/>
                </a:solidFill>
                <a:latin typeface="Yu Gothic"/>
                <a:ea typeface="Yu Gothic"/>
                <a:cs typeface="Yu Gothic"/>
              </a:defRPr>
            </a:pPr>
            <a:r>
              <a:rPr sz="1875" b="1">
                <a:solidFill>
                  <a:srgbClr val="111827"/>
                </a:solidFill>
                <a:latin typeface="Yu Gothic"/>
                <a:ea typeface="Yu Gothic"/>
                <a:cs typeface="Yu Gothic"/>
              </a:rPr>
              <a:t>分けた特徴は？</a:t>
            </a:r>
          </a:p>
          <a:p xmlns:a="http://schemas.openxmlformats.org/drawingml/2006/main">
            <a:endParaRPr sz="1875" b="1">
              <a:solidFill>
                <a:srgbClr val="111827"/>
              </a:solidFill>
              <a:latin typeface="Yu Gothic"/>
              <a:ea typeface="Yu Gothic"/>
              <a:cs typeface="Yu Gothic"/>
            </a:endParaRPr>
          </a:p>
          <a:p xmlns:a="http://schemas.openxmlformats.org/drawingml/2006/main">
            <a:pPr algn="l">
              <a:buNone/>
              <a:defRPr sz="1875" b="1">
                <a:solidFill>
                  <a:srgbClr val="111827"/>
                </a:solidFill>
                <a:latin typeface="Yu Gothic"/>
                <a:ea typeface="Yu Gothic"/>
                <a:cs typeface="Yu Gothic"/>
              </a:defRPr>
            </a:pPr>
            <a:r>
              <a:rPr sz="1875" b="1">
                <a:solidFill>
                  <a:srgbClr val="111827"/>
                </a:solidFill>
                <a:latin typeface="Yu Gothic"/>
                <a:ea typeface="Yu Gothic"/>
                <a:cs typeface="Yu Gothic"/>
              </a:rPr>
              <a:t>3つの説明を</a:t>
            </a:r>
          </a:p>
          <a:p xmlns:a="http://schemas.openxmlformats.org/drawingml/2006/main">
            <a:pPr algn="l">
              <a:buNone/>
              <a:defRPr sz="1875" b="1">
                <a:solidFill>
                  <a:srgbClr val="111827"/>
                </a:solidFill>
                <a:latin typeface="Yu Gothic"/>
                <a:ea typeface="Yu Gothic"/>
                <a:cs typeface="Yu Gothic"/>
              </a:defRPr>
            </a:pPr>
            <a:r>
              <a:rPr sz="1875" b="1">
                <a:solidFill>
                  <a:srgbClr val="111827"/>
                </a:solidFill>
                <a:latin typeface="Yu Gothic"/>
                <a:ea typeface="Yu Gothic"/>
                <a:cs typeface="Yu Gothic"/>
              </a:rPr>
              <a:t>どう統合する？</a:t>
            </a:r>
          </a:p>
        </p:txBody>
      </p:sp>
      <p:sp>
        <p:nvSpPr>
          <p:cNvPr id="32" name="正方形/長方形 31">
            <a:extLst xmlns:a="http://schemas.openxmlformats.org/drawingml/2006/main">
              <a:ext uri="{FF2B5EF4-FFF2-40B4-BE49-F238E27FC236}">
                <a16:creationId xmlns:a16="http://schemas.microsoft.com/office/drawing/2014/main" id="{E95F6C0E-BC0D-4324-B70F-DCDFBA841217}"/>
              </a:ext>
            </a:extLst>
          </p:cNvPr>
          <p:cNvSpPr>
            <a:spLocks xmlns:a="http://schemas.openxmlformats.org/drawingml/2006/main" noGrp="1"/>
          </p:cNvSpPr>
          <p:nvPr/>
        </p:nvSpPr>
        <p:spPr>
          <a:xfrm xmlns:a="http://schemas.openxmlformats.org/drawingml/2006/main">
            <a:off x="523875" y="5286375"/>
            <a:ext cx="10953750" cy="723900"/>
          </a:xfrm>
          <a:prstGeom xmlns:a="http://schemas.openxmlformats.org/drawingml/2006/main" prst="rect">
            <a:avLst/>
          </a:prstGeom>
          <a:solidFill xmlns:a="http://schemas.openxmlformats.org/drawingml/2006/main">
            <a:srgbClr val="FEF3C7"/>
          </a:solidFill>
          <a:ln xmlns:a="http://schemas.openxmlformats.org/drawingml/2006/main" w="0">
            <a:solidFill>
              <a:srgbClr val="F59E0B"/>
            </a:solidFill>
            <a:prstDash val="solid"/>
          </a:ln>
        </p:spPr>
        <p:txBody>
          <a:bodyPr xmlns:a="http://schemas.openxmlformats.org/drawingml/2006/main"/>
          <a:lstStyle xmlns:a="http://schemas.openxmlformats.org/drawingml/2006/main"/>
          <a:p xmlns:a="http://schemas.openxmlformats.org/drawingml/2006/main">
            <a:endParaRPr/>
          </a:p>
        </p:txBody>
      </p:sp>
      <p:sp>
        <p:nvSpPr>
          <p:cNvPr id="33" name="正方形/長方形 32">
            <a:extLst xmlns:a="http://schemas.openxmlformats.org/drawingml/2006/main">
              <a:ext uri="{FF2B5EF4-FFF2-40B4-BE49-F238E27FC236}">
                <a16:creationId xmlns:a16="http://schemas.microsoft.com/office/drawing/2014/main" id="{CB536421-6262-49CC-89E1-3DC517AE4966}"/>
              </a:ext>
            </a:extLst>
          </p:cNvPr>
          <p:cNvSpPr>
            <a:spLocks xmlns:a="http://schemas.openxmlformats.org/drawingml/2006/main" noGrp="1"/>
          </p:cNvSpPr>
          <p:nvPr/>
        </p:nvSpPr>
        <p:spPr>
          <a:xfrm xmlns:a="http://schemas.openxmlformats.org/drawingml/2006/main">
            <a:off x="1095375" y="5486400"/>
            <a:ext cx="9810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buNone/>
              <a:defRPr sz="1725" b="1">
                <a:solidFill>
                  <a:srgbClr val="111827"/>
                </a:solidFill>
                <a:latin typeface="Yu Gothic"/>
                <a:ea typeface="Yu Gothic"/>
                <a:cs typeface="Yu Gothic"/>
              </a:defRPr>
            </a:pPr>
            <a:r>
              <a:rPr sz="1725" b="1">
                <a:solidFill>
                  <a:srgbClr val="111827"/>
                </a:solidFill>
                <a:latin typeface="Yu Gothic"/>
                <a:ea typeface="Yu Gothic"/>
                <a:cs typeface="Yu Gothic"/>
              </a:rPr>
              <a:t>問題は「各説明が誤り」ではなく、クラス間の関係を読む認知的負担</a:t>
            </a:r>
          </a:p>
        </p:txBody>
      </p:sp>
    </p:spTree>
    <p:extLst>
      <p:ext uri="{BB962C8B-B14F-4D97-AF65-F5344CB8AC3E}">
        <p14:creationId xmlns:p14="http://schemas.microsoft.com/office/powerpoint/2010/main" val="97829039"/>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6" name="正方形/長方形 45">
            <a:extLst xmlns:a="http://schemas.openxmlformats.org/drawingml/2006/main">
              <a:ext uri="{FF2B5EF4-FFF2-40B4-BE49-F238E27FC236}">
                <a16:creationId xmlns:a16="http://schemas.microsoft.com/office/drawing/2014/main" id="{59738E81-F6C4-4531-AB19-9EDA5ABBC955}"/>
              </a:ext>
            </a:extLst>
          </p:cNvPr>
          <p:cNvSpPr>
            <a:spLocks xmlns:a="http://schemas.openxmlformats.org/drawingml/2006/main" noGrp="1"/>
          </p:cNvSpPr>
          <p:nvPr/>
        </p:nvSpPr>
        <p:spPr>
          <a:xfrm xmlns:a="http://schemas.openxmlformats.org/drawingml/2006/main">
            <a:off x="514350" y="419100"/>
            <a:ext cx="114300" cy="457200"/>
          </a:xfrm>
          <a:prstGeom xmlns:a="http://schemas.openxmlformats.org/drawingml/2006/main" prst="rect">
            <a:avLst/>
          </a:prstGeom>
          <a:solidFill xmlns:a="http://schemas.openxmlformats.org/drawingml/2006/main">
            <a:srgbClr val="2563EB"/>
          </a:solidFill>
          <a:ln xmlns:a="http://schemas.openxmlformats.org/drawingml/2006/main" w="0">
            <a:solidFill>
              <a:srgbClr val="2563EB"/>
            </a:solidFill>
            <a:prstDash val="solid"/>
          </a:ln>
        </p:spPr>
        <p:txBody>
          <a:bodyPr xmlns:a="http://schemas.openxmlformats.org/drawingml/2006/main"/>
          <a:lstStyle xmlns:a="http://schemas.openxmlformats.org/drawingml/2006/main"/>
          <a:p xmlns:a="http://schemas.openxmlformats.org/drawingml/2006/main">
            <a:endParaRPr/>
          </a:p>
        </p:txBody>
      </p:sp>
      <p:sp>
        <p:nvSpPr>
          <p:cNvPr id="2" name="slide-8-title">
            <a:extLst xmlns:a="http://schemas.openxmlformats.org/drawingml/2006/main">
              <a:ext uri="{FF2B5EF4-FFF2-40B4-BE49-F238E27FC236}">
                <a16:creationId xmlns:a16="http://schemas.microsoft.com/office/drawing/2014/main" id="{F3FD66B9-7430-420A-B2A9-041FF42B49FC}"/>
              </a:ext>
            </a:extLst>
          </p:cNvPr>
          <p:cNvSpPr>
            <a:spLocks xmlns:a="http://schemas.openxmlformats.org/drawingml/2006/main" noGrp="1"/>
          </p:cNvSpPr>
          <p:nvPr/>
        </p:nvSpPr>
        <p:spPr>
          <a:xfrm xmlns:a="http://schemas.openxmlformats.org/drawingml/2006/main">
            <a:off x="800100" y="361950"/>
            <a:ext cx="10572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buNone/>
              <a:defRPr sz="2850" b="1">
                <a:solidFill>
                  <a:srgbClr val="111827"/>
                </a:solidFill>
                <a:latin typeface="Yu Gothic"/>
                <a:ea typeface="Yu Gothic"/>
                <a:cs typeface="Yu Gothic"/>
              </a:defRPr>
            </a:pPr>
            <a:r>
              <a:rPr sz="2850" b="1">
                <a:solidFill>
                  <a:srgbClr val="111827"/>
                </a:solidFill>
                <a:latin typeface="Yu Gothic"/>
                <a:ea typeface="Yu Gothic"/>
                <a:cs typeface="Yu Gothic"/>
              </a:rPr>
              <a:t>LIMEtreeは一つの木で複数クラスを説明する</a:t>
            </a:r>
          </a:p>
        </p:txBody>
      </p:sp>
      <p:sp>
        <p:nvSpPr>
          <p:cNvPr id="3" name="slide-8-subtitle">
            <a:extLst xmlns:a="http://schemas.openxmlformats.org/drawingml/2006/main">
              <a:ext uri="{FF2B5EF4-FFF2-40B4-BE49-F238E27FC236}">
                <a16:creationId xmlns:a16="http://schemas.microsoft.com/office/drawing/2014/main" id="{52BD7DA0-187B-43DF-904F-DC9474E23FF4}"/>
              </a:ext>
            </a:extLst>
          </p:cNvPr>
          <p:cNvSpPr>
            <a:spLocks xmlns:a="http://schemas.openxmlformats.org/drawingml/2006/main" noGrp="1"/>
          </p:cNvSpPr>
          <p:nvPr/>
        </p:nvSpPr>
        <p:spPr>
          <a:xfrm xmlns:a="http://schemas.openxmlformats.org/drawingml/2006/main">
            <a:off x="800100" y="962025"/>
            <a:ext cx="1057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buNone/>
              <a:defRPr sz="1500" b="0">
                <a:solidFill>
                  <a:srgbClr val="64748B"/>
                </a:solidFill>
                <a:latin typeface="Yu Gothic"/>
                <a:ea typeface="Yu Gothic"/>
                <a:cs typeface="Yu Gothic"/>
              </a:defRPr>
            </a:pPr>
            <a:r>
              <a:rPr sz="1500" b="0">
                <a:solidFill>
                  <a:srgbClr val="64748B"/>
                </a:solidFill>
                <a:latin typeface="Yu Gothic"/>
                <a:ea typeface="Yu Gothic"/>
                <a:cs typeface="Yu Gothic"/>
              </a:rPr>
              <a:t>クラス別のモデルではなく、全クラスで共通の分岐構造を使う</a:t>
            </a:r>
          </a:p>
        </p:txBody>
      </p:sp>
      <p:sp>
        <p:nvSpPr>
          <p:cNvPr id="4" name="正方形/長方形 3">
            <a:extLst xmlns:a="http://schemas.openxmlformats.org/drawingml/2006/main">
              <a:ext uri="{FF2B5EF4-FFF2-40B4-BE49-F238E27FC236}">
                <a16:creationId xmlns:a16="http://schemas.microsoft.com/office/drawing/2014/main" id="{D0E8DFFC-C374-49A4-A807-F55BC0E12193}"/>
              </a:ext>
            </a:extLst>
          </p:cNvPr>
          <p:cNvSpPr>
            <a:spLocks xmlns:a="http://schemas.openxmlformats.org/drawingml/2006/main" noGrp="1"/>
          </p:cNvSpPr>
          <p:nvPr/>
        </p:nvSpPr>
        <p:spPr>
          <a:xfrm xmlns:a="http://schemas.openxmlformats.org/drawingml/2006/main">
            <a:off x="11239500" y="6438900"/>
            <a:ext cx="476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buNone/>
              <a:defRPr sz="1050" b="0">
                <a:solidFill>
                  <a:srgbClr val="64748B"/>
                </a:solidFill>
                <a:latin typeface="Yu Gothic"/>
                <a:ea typeface="Yu Gothic"/>
                <a:cs typeface="Yu Gothic"/>
              </a:defRPr>
            </a:pPr>
            <a:r>
              <a:rPr sz="1050" b="0">
                <a:solidFill>
                  <a:srgbClr val="64748B"/>
                </a:solidFill>
                <a:latin typeface="Yu Gothic"/>
                <a:ea typeface="Yu Gothic"/>
                <a:cs typeface="Yu Gothic"/>
              </a:rPr>
              <a:t>08</a:t>
            </a:r>
          </a:p>
        </p:txBody>
      </p:sp>
      <p:sp>
        <p:nvSpPr>
          <p:cNvPr id="5" name="正方形/長方形 4">
            <a:extLst xmlns:a="http://schemas.openxmlformats.org/drawingml/2006/main">
              <a:ext uri="{FF2B5EF4-FFF2-40B4-BE49-F238E27FC236}">
                <a16:creationId xmlns:a16="http://schemas.microsoft.com/office/drawing/2014/main" id="{24FE4798-00C3-4FDA-8D41-7047733B5770}"/>
              </a:ext>
            </a:extLst>
          </p:cNvPr>
          <p:cNvSpPr>
            <a:spLocks xmlns:a="http://schemas.openxmlformats.org/drawingml/2006/main" noGrp="1"/>
          </p:cNvSpPr>
          <p:nvPr/>
        </p:nvSpPr>
        <p:spPr>
          <a:xfrm xmlns:a="http://schemas.openxmlformats.org/drawingml/2006/main">
            <a:off x="666750" y="1524000"/>
            <a:ext cx="428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buNone/>
              <a:defRPr sz="2025" b="1">
                <a:solidFill>
                  <a:srgbClr val="2563EB"/>
                </a:solidFill>
                <a:latin typeface="Yu Gothic"/>
                <a:ea typeface="Yu Gothic"/>
                <a:cs typeface="Yu Gothic"/>
              </a:defRPr>
            </a:pPr>
            <a:r>
              <a:rPr sz="2025" b="1">
                <a:solidFill>
                  <a:srgbClr val="2563EB"/>
                </a:solidFill>
                <a:latin typeface="Yu Gothic"/>
                <a:ea typeface="Yu Gothic"/>
                <a:cs typeface="Yu Gothic"/>
              </a:rPr>
              <a:t>LIME</a:t>
            </a:r>
          </a:p>
        </p:txBody>
      </p:sp>
      <p:sp>
        <p:nvSpPr>
          <p:cNvPr id="6" name="正方形/長方形 5">
            <a:extLst xmlns:a="http://schemas.openxmlformats.org/drawingml/2006/main">
              <a:ext uri="{FF2B5EF4-FFF2-40B4-BE49-F238E27FC236}">
                <a16:creationId xmlns:a16="http://schemas.microsoft.com/office/drawing/2014/main" id="{1E95490E-C233-43BF-81F4-EF0B677F0237}"/>
              </a:ext>
            </a:extLst>
          </p:cNvPr>
          <p:cNvSpPr>
            <a:spLocks xmlns:a="http://schemas.openxmlformats.org/drawingml/2006/main" noGrp="1"/>
          </p:cNvSpPr>
          <p:nvPr/>
        </p:nvSpPr>
        <p:spPr>
          <a:xfrm xmlns:a="http://schemas.openxmlformats.org/drawingml/2006/main">
            <a:off x="666750" y="1885950"/>
            <a:ext cx="4286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buNone/>
              <a:defRPr sz="1350" b="0">
                <a:solidFill>
                  <a:srgbClr val="64748B"/>
                </a:solidFill>
                <a:latin typeface="Yu Gothic"/>
                <a:ea typeface="Yu Gothic"/>
                <a:cs typeface="Yu Gothic"/>
              </a:defRPr>
            </a:pPr>
            <a:r>
              <a:rPr sz="1350" b="0">
                <a:solidFill>
                  <a:srgbClr val="64748B"/>
                </a:solidFill>
                <a:latin typeface="Yu Gothic"/>
                <a:ea typeface="Yu Gothic"/>
                <a:cs typeface="Yu Gothic"/>
              </a:rPr>
              <a:t>別々の構造</a:t>
            </a:r>
          </a:p>
        </p:txBody>
      </p:sp>
      <p:sp>
        <p:nvSpPr>
          <p:cNvPr id="7" name="正方形/長方形 6">
            <a:extLst xmlns:a="http://schemas.openxmlformats.org/drawingml/2006/main">
              <a:ext uri="{FF2B5EF4-FFF2-40B4-BE49-F238E27FC236}">
                <a16:creationId xmlns:a16="http://schemas.microsoft.com/office/drawing/2014/main" id="{96AFA24C-0106-4CAE-BEC4-22632775EF74}"/>
              </a:ext>
            </a:extLst>
          </p:cNvPr>
          <p:cNvSpPr>
            <a:spLocks xmlns:a="http://schemas.openxmlformats.org/drawingml/2006/main" noGrp="1"/>
          </p:cNvSpPr>
          <p:nvPr/>
        </p:nvSpPr>
        <p:spPr>
          <a:xfrm xmlns:a="http://schemas.openxmlformats.org/drawingml/2006/main">
            <a:off x="762000" y="2362200"/>
            <a:ext cx="4000500" cy="781050"/>
          </a:xfrm>
          <a:prstGeom xmlns:a="http://schemas.openxmlformats.org/drawingml/2006/main" prst="rect">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endParaRPr/>
          </a:p>
        </p:txBody>
      </p:sp>
      <p:sp>
        <p:nvSpPr>
          <p:cNvPr id="8" name="正方形/長方形 7">
            <a:extLst xmlns:a="http://schemas.openxmlformats.org/drawingml/2006/main">
              <a:ext uri="{FF2B5EF4-FFF2-40B4-BE49-F238E27FC236}">
                <a16:creationId xmlns:a16="http://schemas.microsoft.com/office/drawing/2014/main" id="{BD7001C6-2696-4206-A863-5E21CEC1DA4C}"/>
              </a:ext>
            </a:extLst>
          </p:cNvPr>
          <p:cNvSpPr>
            <a:spLocks xmlns:a="http://schemas.openxmlformats.org/drawingml/2006/main" noGrp="1"/>
          </p:cNvSpPr>
          <p:nvPr/>
        </p:nvSpPr>
        <p:spPr>
          <a:xfrm xmlns:a="http://schemas.openxmlformats.org/drawingml/2006/main">
            <a:off x="933450" y="2600325"/>
            <a:ext cx="11906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buNone/>
              <a:defRPr sz="1500" b="1">
                <a:solidFill>
                  <a:srgbClr val="2563EB"/>
                </a:solidFill>
                <a:latin typeface="Yu Gothic"/>
                <a:ea typeface="Yu Gothic"/>
                <a:cs typeface="Yu Gothic"/>
              </a:defRPr>
            </a:pPr>
            <a:r>
              <a:rPr sz="1500" b="1">
                <a:solidFill>
                  <a:srgbClr val="2563EB"/>
                </a:solidFill>
                <a:latin typeface="Yu Gothic"/>
                <a:ea typeface="Yu Gothic"/>
                <a:cs typeface="Yu Gothic"/>
              </a:rPr>
              <a:t>A用モデル</a:t>
            </a:r>
          </a:p>
        </p:txBody>
      </p:sp>
      <p:sp>
        <p:nvSpPr>
          <p:cNvPr id="9" name="正方形/長方形 8">
            <a:extLst xmlns:a="http://schemas.openxmlformats.org/drawingml/2006/main">
              <a:ext uri="{FF2B5EF4-FFF2-40B4-BE49-F238E27FC236}">
                <a16:creationId xmlns:a16="http://schemas.microsoft.com/office/drawing/2014/main" id="{F922B255-D477-45A3-B820-F36EFA6A2AF5}"/>
              </a:ext>
            </a:extLst>
          </p:cNvPr>
          <p:cNvSpPr>
            <a:spLocks xmlns:a="http://schemas.openxmlformats.org/drawingml/2006/main" noGrp="1"/>
          </p:cNvSpPr>
          <p:nvPr/>
        </p:nvSpPr>
        <p:spPr>
          <a:xfrm xmlns:a="http://schemas.openxmlformats.org/drawingml/2006/main">
            <a:off x="2333625" y="2505075"/>
            <a:ext cx="1752600" cy="104775"/>
          </a:xfrm>
          <a:prstGeom xmlns:a="http://schemas.openxmlformats.org/drawingml/2006/main" prst="rect">
            <a:avLst/>
          </a:prstGeom>
          <a:solidFill xmlns:a="http://schemas.openxmlformats.org/drawingml/2006/main">
            <a:srgbClr val="2563EB"/>
          </a:solidFill>
          <a:ln xmlns:a="http://schemas.openxmlformats.org/drawingml/2006/main" w="0">
            <a:solidFill>
              <a:srgbClr val="2563EB"/>
            </a:solidFill>
            <a:prstDash val="solid"/>
          </a:ln>
        </p:spPr>
        <p:txBody>
          <a:bodyPr xmlns:a="http://schemas.openxmlformats.org/drawingml/2006/main"/>
          <a:lstStyle xmlns:a="http://schemas.openxmlformats.org/drawingml/2006/main"/>
          <a:p xmlns:a="http://schemas.openxmlformats.org/drawingml/2006/main">
            <a:endParaRPr/>
          </a:p>
        </p:txBody>
      </p:sp>
      <p:sp>
        <p:nvSpPr>
          <p:cNvPr id="10" name="正方形/長方形 9">
            <a:extLst xmlns:a="http://schemas.openxmlformats.org/drawingml/2006/main">
              <a:ext uri="{FF2B5EF4-FFF2-40B4-BE49-F238E27FC236}">
                <a16:creationId xmlns:a16="http://schemas.microsoft.com/office/drawing/2014/main" id="{269A3289-7FE4-4444-ACF2-DFBC8BED8F4F}"/>
              </a:ext>
            </a:extLst>
          </p:cNvPr>
          <p:cNvSpPr>
            <a:spLocks xmlns:a="http://schemas.openxmlformats.org/drawingml/2006/main" noGrp="1"/>
          </p:cNvSpPr>
          <p:nvPr/>
        </p:nvSpPr>
        <p:spPr>
          <a:xfrm xmlns:a="http://schemas.openxmlformats.org/drawingml/2006/main">
            <a:off x="2333625" y="2695575"/>
            <a:ext cx="1095375" cy="104775"/>
          </a:xfrm>
          <a:prstGeom xmlns:a="http://schemas.openxmlformats.org/drawingml/2006/main" prst="rect">
            <a:avLst/>
          </a:prstGeom>
          <a:solidFill xmlns:a="http://schemas.openxmlformats.org/drawingml/2006/main">
            <a:srgbClr val="2563EB"/>
          </a:solidFill>
          <a:ln xmlns:a="http://schemas.openxmlformats.org/drawingml/2006/main" w="0">
            <a:solidFill>
              <a:srgbClr val="2563EB"/>
            </a:solidFill>
            <a:prstDash val="solid"/>
          </a:ln>
        </p:spPr>
        <p:txBody>
          <a:bodyPr xmlns:a="http://schemas.openxmlformats.org/drawingml/2006/main"/>
          <a:lstStyle xmlns:a="http://schemas.openxmlformats.org/drawingml/2006/main"/>
          <a:p xmlns:a="http://schemas.openxmlformats.org/drawingml/2006/main">
            <a:endParaRPr/>
          </a:p>
        </p:txBody>
      </p:sp>
      <p:sp>
        <p:nvSpPr>
          <p:cNvPr id="11" name="正方形/長方形 10">
            <a:extLst xmlns:a="http://schemas.openxmlformats.org/drawingml/2006/main">
              <a:ext uri="{FF2B5EF4-FFF2-40B4-BE49-F238E27FC236}">
                <a16:creationId xmlns:a16="http://schemas.microsoft.com/office/drawing/2014/main" id="{5BC46850-0B41-4677-B6EC-6855531A5A3F}"/>
              </a:ext>
            </a:extLst>
          </p:cNvPr>
          <p:cNvSpPr>
            <a:spLocks xmlns:a="http://schemas.openxmlformats.org/drawingml/2006/main" noGrp="1"/>
          </p:cNvSpPr>
          <p:nvPr/>
        </p:nvSpPr>
        <p:spPr>
          <a:xfrm xmlns:a="http://schemas.openxmlformats.org/drawingml/2006/main">
            <a:off x="2333625" y="2886075"/>
            <a:ext cx="547688" cy="104775"/>
          </a:xfrm>
          <a:prstGeom xmlns:a="http://schemas.openxmlformats.org/drawingml/2006/main" prst="rect">
            <a:avLst/>
          </a:prstGeom>
          <a:solidFill xmlns:a="http://schemas.openxmlformats.org/drawingml/2006/main">
            <a:srgbClr val="2563EB"/>
          </a:solidFill>
          <a:ln xmlns:a="http://schemas.openxmlformats.org/drawingml/2006/main" w="0">
            <a:solidFill>
              <a:srgbClr val="2563EB"/>
            </a:solidFill>
            <a:prstDash val="solid"/>
          </a:ln>
        </p:spPr>
        <p:txBody>
          <a:bodyPr xmlns:a="http://schemas.openxmlformats.org/drawingml/2006/main"/>
          <a:lstStyle xmlns:a="http://schemas.openxmlformats.org/drawingml/2006/main"/>
          <a:p xmlns:a="http://schemas.openxmlformats.org/drawingml/2006/main">
            <a:endParaRPr/>
          </a:p>
        </p:txBody>
      </p:sp>
      <p:sp>
        <p:nvSpPr>
          <p:cNvPr id="12" name="正方形/長方形 11">
            <a:extLst xmlns:a="http://schemas.openxmlformats.org/drawingml/2006/main">
              <a:ext uri="{FF2B5EF4-FFF2-40B4-BE49-F238E27FC236}">
                <a16:creationId xmlns:a16="http://schemas.microsoft.com/office/drawing/2014/main" id="{46F30386-DA56-4F9B-BDC1-E6BF75B6D642}"/>
              </a:ext>
            </a:extLst>
          </p:cNvPr>
          <p:cNvSpPr>
            <a:spLocks xmlns:a="http://schemas.openxmlformats.org/drawingml/2006/main" noGrp="1"/>
          </p:cNvSpPr>
          <p:nvPr/>
        </p:nvSpPr>
        <p:spPr>
          <a:xfrm xmlns:a="http://schemas.openxmlformats.org/drawingml/2006/main">
            <a:off x="762000" y="3429000"/>
            <a:ext cx="4000500" cy="781050"/>
          </a:xfrm>
          <a:prstGeom xmlns:a="http://schemas.openxmlformats.org/drawingml/2006/main" prst="rect">
            <a:avLst/>
          </a:prstGeom>
          <a:solidFill xmlns:a="http://schemas.openxmlformats.org/drawingml/2006/main">
            <a:srgbClr val="FFFFFF"/>
          </a:solidFill>
          <a:ln xmlns:a="http://schemas.openxmlformats.org/drawingml/2006/main" w="19050">
            <a:solidFill>
              <a:srgbClr val="F59E0B"/>
            </a:solidFill>
            <a:prstDash val="solid"/>
          </a:ln>
        </p:spPr>
        <p:txBody>
          <a:bodyPr xmlns:a="http://schemas.openxmlformats.org/drawingml/2006/main"/>
          <a:lstStyle xmlns:a="http://schemas.openxmlformats.org/drawingml/2006/main"/>
          <a:p xmlns:a="http://schemas.openxmlformats.org/drawingml/2006/main">
            <a:endParaRPr/>
          </a:p>
        </p:txBody>
      </p:sp>
      <p:sp>
        <p:nvSpPr>
          <p:cNvPr id="13" name="正方形/長方形 12">
            <a:extLst xmlns:a="http://schemas.openxmlformats.org/drawingml/2006/main">
              <a:ext uri="{FF2B5EF4-FFF2-40B4-BE49-F238E27FC236}">
                <a16:creationId xmlns:a16="http://schemas.microsoft.com/office/drawing/2014/main" id="{1ED1AE1D-7C8A-4A06-81D1-CDE2C5072AD5}"/>
              </a:ext>
            </a:extLst>
          </p:cNvPr>
          <p:cNvSpPr>
            <a:spLocks xmlns:a="http://schemas.openxmlformats.org/drawingml/2006/main" noGrp="1"/>
          </p:cNvSpPr>
          <p:nvPr/>
        </p:nvSpPr>
        <p:spPr>
          <a:xfrm xmlns:a="http://schemas.openxmlformats.org/drawingml/2006/main">
            <a:off x="933450" y="3667125"/>
            <a:ext cx="11906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buNone/>
              <a:defRPr sz="1500" b="1">
                <a:solidFill>
                  <a:srgbClr val="F59E0B"/>
                </a:solidFill>
                <a:latin typeface="Yu Gothic"/>
                <a:ea typeface="Yu Gothic"/>
                <a:cs typeface="Yu Gothic"/>
              </a:defRPr>
            </a:pPr>
            <a:r>
              <a:rPr sz="1500" b="1">
                <a:solidFill>
                  <a:srgbClr val="F59E0B"/>
                </a:solidFill>
                <a:latin typeface="Yu Gothic"/>
                <a:ea typeface="Yu Gothic"/>
                <a:cs typeface="Yu Gothic"/>
              </a:rPr>
              <a:t>B用モデル</a:t>
            </a:r>
          </a:p>
        </p:txBody>
      </p:sp>
      <p:sp>
        <p:nvSpPr>
          <p:cNvPr id="14" name="正方形/長方形 13">
            <a:extLst xmlns:a="http://schemas.openxmlformats.org/drawingml/2006/main">
              <a:ext uri="{FF2B5EF4-FFF2-40B4-BE49-F238E27FC236}">
                <a16:creationId xmlns:a16="http://schemas.microsoft.com/office/drawing/2014/main" id="{E94A470E-B142-4A8D-BD95-9433DCD30B46}"/>
              </a:ext>
            </a:extLst>
          </p:cNvPr>
          <p:cNvSpPr>
            <a:spLocks xmlns:a="http://schemas.openxmlformats.org/drawingml/2006/main" noGrp="1"/>
          </p:cNvSpPr>
          <p:nvPr/>
        </p:nvSpPr>
        <p:spPr>
          <a:xfrm xmlns:a="http://schemas.openxmlformats.org/drawingml/2006/main">
            <a:off x="2333625" y="3571875"/>
            <a:ext cx="547688" cy="104775"/>
          </a:xfrm>
          <a:prstGeom xmlns:a="http://schemas.openxmlformats.org/drawingml/2006/main" prst="rect">
            <a:avLst/>
          </a:prstGeom>
          <a:solidFill xmlns:a="http://schemas.openxmlformats.org/drawingml/2006/main">
            <a:srgbClr val="F59E0B"/>
          </a:solidFill>
          <a:ln xmlns:a="http://schemas.openxmlformats.org/drawingml/2006/main" w="0">
            <a:solidFill>
              <a:srgbClr val="F59E0B"/>
            </a:solidFill>
            <a:prstDash val="solid"/>
          </a:ln>
        </p:spPr>
        <p:txBody>
          <a:bodyPr xmlns:a="http://schemas.openxmlformats.org/drawingml/2006/main"/>
          <a:lstStyle xmlns:a="http://schemas.openxmlformats.org/drawingml/2006/main"/>
          <a:p xmlns:a="http://schemas.openxmlformats.org/drawingml/2006/main">
            <a:endParaRPr/>
          </a:p>
        </p:txBody>
      </p:sp>
      <p:sp>
        <p:nvSpPr>
          <p:cNvPr id="15" name="正方形/長方形 14">
            <a:extLst xmlns:a="http://schemas.openxmlformats.org/drawingml/2006/main">
              <a:ext uri="{FF2B5EF4-FFF2-40B4-BE49-F238E27FC236}">
                <a16:creationId xmlns:a16="http://schemas.microsoft.com/office/drawing/2014/main" id="{A18886E4-3FF2-477F-B3A8-72267898E19A}"/>
              </a:ext>
            </a:extLst>
          </p:cNvPr>
          <p:cNvSpPr>
            <a:spLocks xmlns:a="http://schemas.openxmlformats.org/drawingml/2006/main" noGrp="1"/>
          </p:cNvSpPr>
          <p:nvPr/>
        </p:nvSpPr>
        <p:spPr>
          <a:xfrm xmlns:a="http://schemas.openxmlformats.org/drawingml/2006/main">
            <a:off x="2333625" y="3762375"/>
            <a:ext cx="1533525" cy="104775"/>
          </a:xfrm>
          <a:prstGeom xmlns:a="http://schemas.openxmlformats.org/drawingml/2006/main" prst="rect">
            <a:avLst/>
          </a:prstGeom>
          <a:solidFill xmlns:a="http://schemas.openxmlformats.org/drawingml/2006/main">
            <a:srgbClr val="F59E0B"/>
          </a:solidFill>
          <a:ln xmlns:a="http://schemas.openxmlformats.org/drawingml/2006/main" w="0">
            <a:solidFill>
              <a:srgbClr val="F59E0B"/>
            </a:solidFill>
            <a:prstDash val="solid"/>
          </a:ln>
        </p:spPr>
        <p:txBody>
          <a:bodyPr xmlns:a="http://schemas.openxmlformats.org/drawingml/2006/main"/>
          <a:lstStyle xmlns:a="http://schemas.openxmlformats.org/drawingml/2006/main"/>
          <a:p xmlns:a="http://schemas.openxmlformats.org/drawingml/2006/main">
            <a:endParaRPr/>
          </a:p>
        </p:txBody>
      </p:sp>
      <p:sp>
        <p:nvSpPr>
          <p:cNvPr id="16" name="正方形/長方形 15">
            <a:extLst xmlns:a="http://schemas.openxmlformats.org/drawingml/2006/main">
              <a:ext uri="{FF2B5EF4-FFF2-40B4-BE49-F238E27FC236}">
                <a16:creationId xmlns:a16="http://schemas.microsoft.com/office/drawing/2014/main" id="{67DB2A10-1F68-4345-B56C-D061B2194964}"/>
              </a:ext>
            </a:extLst>
          </p:cNvPr>
          <p:cNvSpPr>
            <a:spLocks xmlns:a="http://schemas.openxmlformats.org/drawingml/2006/main" noGrp="1"/>
          </p:cNvSpPr>
          <p:nvPr/>
        </p:nvSpPr>
        <p:spPr>
          <a:xfrm xmlns:a="http://schemas.openxmlformats.org/drawingml/2006/main">
            <a:off x="2333625" y="3952875"/>
            <a:ext cx="920115" cy="104775"/>
          </a:xfrm>
          <a:prstGeom xmlns:a="http://schemas.openxmlformats.org/drawingml/2006/main" prst="rect">
            <a:avLst/>
          </a:prstGeom>
          <a:solidFill xmlns:a="http://schemas.openxmlformats.org/drawingml/2006/main">
            <a:srgbClr val="F59E0B"/>
          </a:solidFill>
          <a:ln xmlns:a="http://schemas.openxmlformats.org/drawingml/2006/main" w="0">
            <a:solidFill>
              <a:srgbClr val="F59E0B"/>
            </a:solidFill>
            <a:prstDash val="solid"/>
          </a:ln>
        </p:spPr>
        <p:txBody>
          <a:bodyPr xmlns:a="http://schemas.openxmlformats.org/drawingml/2006/main"/>
          <a:lstStyle xmlns:a="http://schemas.openxmlformats.org/drawingml/2006/main"/>
          <a:p xmlns:a="http://schemas.openxmlformats.org/drawingml/2006/main">
            <a:endParaRPr/>
          </a:p>
        </p:txBody>
      </p:sp>
      <p:sp>
        <p:nvSpPr>
          <p:cNvPr id="17" name="正方形/長方形 16">
            <a:extLst xmlns:a="http://schemas.openxmlformats.org/drawingml/2006/main">
              <a:ext uri="{FF2B5EF4-FFF2-40B4-BE49-F238E27FC236}">
                <a16:creationId xmlns:a16="http://schemas.microsoft.com/office/drawing/2014/main" id="{7DFD5146-FC10-475F-B6A6-09B8BFD73D5A}"/>
              </a:ext>
            </a:extLst>
          </p:cNvPr>
          <p:cNvSpPr>
            <a:spLocks xmlns:a="http://schemas.openxmlformats.org/drawingml/2006/main" noGrp="1"/>
          </p:cNvSpPr>
          <p:nvPr/>
        </p:nvSpPr>
        <p:spPr>
          <a:xfrm xmlns:a="http://schemas.openxmlformats.org/drawingml/2006/main">
            <a:off x="762000" y="4495800"/>
            <a:ext cx="4000500" cy="781050"/>
          </a:xfrm>
          <a:prstGeom xmlns:a="http://schemas.openxmlformats.org/drawingml/2006/main" prst="rect">
            <a:avLst/>
          </a:prstGeom>
          <a:solidFill xmlns:a="http://schemas.openxmlformats.org/drawingml/2006/main">
            <a:srgbClr val="FFFFFF"/>
          </a:solidFill>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a:endParaRPr/>
          </a:p>
        </p:txBody>
      </p:sp>
      <p:sp>
        <p:nvSpPr>
          <p:cNvPr id="18" name="正方形/長方形 17">
            <a:extLst xmlns:a="http://schemas.openxmlformats.org/drawingml/2006/main">
              <a:ext uri="{FF2B5EF4-FFF2-40B4-BE49-F238E27FC236}">
                <a16:creationId xmlns:a16="http://schemas.microsoft.com/office/drawing/2014/main" id="{CC6EFBC9-ADCD-4D5F-8470-0BCD98783CA9}"/>
              </a:ext>
            </a:extLst>
          </p:cNvPr>
          <p:cNvSpPr>
            <a:spLocks xmlns:a="http://schemas.openxmlformats.org/drawingml/2006/main" noGrp="1"/>
          </p:cNvSpPr>
          <p:nvPr/>
        </p:nvSpPr>
        <p:spPr>
          <a:xfrm xmlns:a="http://schemas.openxmlformats.org/drawingml/2006/main">
            <a:off x="933450" y="4733925"/>
            <a:ext cx="11906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buNone/>
              <a:defRPr sz="1500" b="1">
                <a:solidFill>
                  <a:srgbClr val="10B981"/>
                </a:solidFill>
                <a:latin typeface="Yu Gothic"/>
                <a:ea typeface="Yu Gothic"/>
                <a:cs typeface="Yu Gothic"/>
              </a:defRPr>
            </a:pPr>
            <a:r>
              <a:rPr sz="1500" b="1">
                <a:solidFill>
                  <a:srgbClr val="10B981"/>
                </a:solidFill>
                <a:latin typeface="Yu Gothic"/>
                <a:ea typeface="Yu Gothic"/>
                <a:cs typeface="Yu Gothic"/>
              </a:rPr>
              <a:t>C用モデル</a:t>
            </a:r>
          </a:p>
        </p:txBody>
      </p:sp>
      <p:sp>
        <p:nvSpPr>
          <p:cNvPr id="19" name="正方形/長方形 18">
            <a:extLst xmlns:a="http://schemas.openxmlformats.org/drawingml/2006/main">
              <a:ext uri="{FF2B5EF4-FFF2-40B4-BE49-F238E27FC236}">
                <a16:creationId xmlns:a16="http://schemas.microsoft.com/office/drawing/2014/main" id="{67F49C43-B343-467A-9FCF-E8F6C644638A}"/>
              </a:ext>
            </a:extLst>
          </p:cNvPr>
          <p:cNvSpPr>
            <a:spLocks xmlns:a="http://schemas.openxmlformats.org/drawingml/2006/main" noGrp="1"/>
          </p:cNvSpPr>
          <p:nvPr/>
        </p:nvSpPr>
        <p:spPr>
          <a:xfrm xmlns:a="http://schemas.openxmlformats.org/drawingml/2006/main">
            <a:off x="2333625" y="4638675"/>
            <a:ext cx="1204913" cy="104775"/>
          </a:xfrm>
          <a:prstGeom xmlns:a="http://schemas.openxmlformats.org/drawingml/2006/main" prst="rect">
            <a:avLst/>
          </a:prstGeom>
          <a:solidFill xmlns:a="http://schemas.openxmlformats.org/drawingml/2006/main">
            <a:srgbClr val="10B981"/>
          </a:solidFill>
          <a:ln xmlns:a="http://schemas.openxmlformats.org/drawingml/2006/main" w="0">
            <a:solidFill>
              <a:srgbClr val="10B981"/>
            </a:solidFill>
            <a:prstDash val="solid"/>
          </a:ln>
        </p:spPr>
        <p:txBody>
          <a:bodyPr xmlns:a="http://schemas.openxmlformats.org/drawingml/2006/main"/>
          <a:lstStyle xmlns:a="http://schemas.openxmlformats.org/drawingml/2006/main"/>
          <a:p xmlns:a="http://schemas.openxmlformats.org/drawingml/2006/main">
            <a:endParaRPr/>
          </a:p>
        </p:txBody>
      </p:sp>
      <p:sp>
        <p:nvSpPr>
          <p:cNvPr id="20" name="正方形/長方形 19">
            <a:extLst xmlns:a="http://schemas.openxmlformats.org/drawingml/2006/main">
              <a:ext uri="{FF2B5EF4-FFF2-40B4-BE49-F238E27FC236}">
                <a16:creationId xmlns:a16="http://schemas.microsoft.com/office/drawing/2014/main" id="{64123C47-94FC-43AA-B7DC-4F54D515A355}"/>
              </a:ext>
            </a:extLst>
          </p:cNvPr>
          <p:cNvSpPr>
            <a:spLocks xmlns:a="http://schemas.openxmlformats.org/drawingml/2006/main" noGrp="1"/>
          </p:cNvSpPr>
          <p:nvPr/>
        </p:nvSpPr>
        <p:spPr>
          <a:xfrm xmlns:a="http://schemas.openxmlformats.org/drawingml/2006/main">
            <a:off x="2333625" y="4829175"/>
            <a:ext cx="438150" cy="104775"/>
          </a:xfrm>
          <a:prstGeom xmlns:a="http://schemas.openxmlformats.org/drawingml/2006/main" prst="rect">
            <a:avLst/>
          </a:prstGeom>
          <a:solidFill xmlns:a="http://schemas.openxmlformats.org/drawingml/2006/main">
            <a:srgbClr val="10B981"/>
          </a:solidFill>
          <a:ln xmlns:a="http://schemas.openxmlformats.org/drawingml/2006/main" w="0">
            <a:solidFill>
              <a:srgbClr val="10B981"/>
            </a:solidFill>
            <a:prstDash val="solid"/>
          </a:ln>
        </p:spPr>
        <p:txBody>
          <a:bodyPr xmlns:a="http://schemas.openxmlformats.org/drawingml/2006/main"/>
          <a:lstStyle xmlns:a="http://schemas.openxmlformats.org/drawingml/2006/main"/>
          <a:p xmlns:a="http://schemas.openxmlformats.org/drawingml/2006/main">
            <a:endParaRPr/>
          </a:p>
        </p:txBody>
      </p:sp>
      <p:sp>
        <p:nvSpPr>
          <p:cNvPr id="21" name="正方形/長方形 20">
            <a:extLst xmlns:a="http://schemas.openxmlformats.org/drawingml/2006/main">
              <a:ext uri="{FF2B5EF4-FFF2-40B4-BE49-F238E27FC236}">
                <a16:creationId xmlns:a16="http://schemas.microsoft.com/office/drawing/2014/main" id="{C5461A91-FD87-4690-AB81-B3346262672A}"/>
              </a:ext>
            </a:extLst>
          </p:cNvPr>
          <p:cNvSpPr>
            <a:spLocks xmlns:a="http://schemas.openxmlformats.org/drawingml/2006/main" noGrp="1"/>
          </p:cNvSpPr>
          <p:nvPr/>
        </p:nvSpPr>
        <p:spPr>
          <a:xfrm xmlns:a="http://schemas.openxmlformats.org/drawingml/2006/main">
            <a:off x="2333625" y="5019675"/>
            <a:ext cx="1643063" cy="104775"/>
          </a:xfrm>
          <a:prstGeom xmlns:a="http://schemas.openxmlformats.org/drawingml/2006/main" prst="rect">
            <a:avLst/>
          </a:prstGeom>
          <a:solidFill xmlns:a="http://schemas.openxmlformats.org/drawingml/2006/main">
            <a:srgbClr val="10B981"/>
          </a:solidFill>
          <a:ln xmlns:a="http://schemas.openxmlformats.org/drawingml/2006/main" w="0">
            <a:solidFill>
              <a:srgbClr val="10B981"/>
            </a:solidFill>
            <a:prstDash val="solid"/>
          </a:ln>
        </p:spPr>
        <p:txBody>
          <a:bodyPr xmlns:a="http://schemas.openxmlformats.org/drawingml/2006/main"/>
          <a:lstStyle xmlns:a="http://schemas.openxmlformats.org/drawingml/2006/main"/>
          <a:p xmlns:a="http://schemas.openxmlformats.org/drawingml/2006/main">
            <a:endParaRPr/>
          </a:p>
        </p:txBody>
      </p:sp>
      <p:cxnSp>
        <p:nvCxnSpPr>
          <p:cNvPr id="97" name="直線矢印コネクタ 66"/>
          <p:cNvCxnSpPr/>
          <p:nvPr/>
        </p:nvCxnSpPr>
        <p:spPr>
          <a:xfrm xmlns:a="http://schemas.openxmlformats.org/drawingml/2006/main">
            <a:off x="5810250" y="1476375"/>
            <a:ext cx="0" cy="4238625"/>
          </a:xfrm>
          <a:prstGeom xmlns:a="http://schemas.openxmlformats.org/drawingml/2006/main" prst="straightConnector1">
            <a:avLst/>
          </a:prstGeom>
          <a:ln xmlns:a="http://schemas.openxmlformats.org/drawingml/2006/main" w="19050">
            <a:solidFill>
              <a:srgbClr val="CBD5E1"/>
            </a:solidFill>
            <a:prstDash val="solid"/>
          </a:ln>
        </p:spPr>
      </p:cxnSp>
      <p:sp>
        <p:nvSpPr>
          <p:cNvPr id="23" name="正方形/長方形 22">
            <a:extLst xmlns:a="http://schemas.openxmlformats.org/drawingml/2006/main">
              <a:ext uri="{FF2B5EF4-FFF2-40B4-BE49-F238E27FC236}">
                <a16:creationId xmlns:a16="http://schemas.microsoft.com/office/drawing/2014/main" id="{5C81591A-8791-493C-BF74-743E2783A23D}"/>
              </a:ext>
            </a:extLst>
          </p:cNvPr>
          <p:cNvSpPr>
            <a:spLocks xmlns:a="http://schemas.openxmlformats.org/drawingml/2006/main" noGrp="1"/>
          </p:cNvSpPr>
          <p:nvPr/>
        </p:nvSpPr>
        <p:spPr>
          <a:xfrm xmlns:a="http://schemas.openxmlformats.org/drawingml/2006/main">
            <a:off x="6572250" y="1524000"/>
            <a:ext cx="4572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buNone/>
              <a:defRPr sz="2025" b="1">
                <a:solidFill>
                  <a:srgbClr val="10B981"/>
                </a:solidFill>
                <a:latin typeface="Yu Gothic"/>
                <a:ea typeface="Yu Gothic"/>
                <a:cs typeface="Yu Gothic"/>
              </a:defRPr>
            </a:pPr>
            <a:r>
              <a:rPr sz="2025" b="1">
                <a:solidFill>
                  <a:srgbClr val="10B981"/>
                </a:solidFill>
                <a:latin typeface="Yu Gothic"/>
                <a:ea typeface="Yu Gothic"/>
                <a:cs typeface="Yu Gothic"/>
              </a:rPr>
              <a:t>LIMEtree</a:t>
            </a:r>
          </a:p>
        </p:txBody>
      </p:sp>
      <p:sp>
        <p:nvSpPr>
          <p:cNvPr id="24" name="正方形/長方形 23">
            <a:extLst xmlns:a="http://schemas.openxmlformats.org/drawingml/2006/main">
              <a:ext uri="{FF2B5EF4-FFF2-40B4-BE49-F238E27FC236}">
                <a16:creationId xmlns:a16="http://schemas.microsoft.com/office/drawing/2014/main" id="{86CDF51C-45AC-449E-AB42-5386FD1D2C56}"/>
              </a:ext>
            </a:extLst>
          </p:cNvPr>
          <p:cNvSpPr>
            <a:spLocks xmlns:a="http://schemas.openxmlformats.org/drawingml/2006/main" noGrp="1"/>
          </p:cNvSpPr>
          <p:nvPr/>
        </p:nvSpPr>
        <p:spPr>
          <a:xfrm xmlns:a="http://schemas.openxmlformats.org/drawingml/2006/main">
            <a:off x="6572250" y="1885950"/>
            <a:ext cx="4572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buNone/>
              <a:defRPr sz="1350" b="0">
                <a:solidFill>
                  <a:srgbClr val="64748B"/>
                </a:solidFill>
                <a:latin typeface="Yu Gothic"/>
                <a:ea typeface="Yu Gothic"/>
                <a:cs typeface="Yu Gothic"/>
              </a:defRPr>
            </a:pPr>
            <a:r>
              <a:rPr sz="1350" b="0">
                <a:solidFill>
                  <a:srgbClr val="64748B"/>
                </a:solidFill>
                <a:latin typeface="Yu Gothic"/>
                <a:ea typeface="Yu Gothic"/>
                <a:cs typeface="Yu Gothic"/>
              </a:rPr>
              <a:t>共通の構造</a:t>
            </a:r>
          </a:p>
        </p:txBody>
      </p:sp>
      <p:cxnSp>
        <p:nvCxnSpPr>
          <p:cNvPr id="100" name="直線矢印コネクタ 69"/>
          <p:cNvCxnSpPr/>
          <p:nvPr/>
        </p:nvCxnSpPr>
        <p:spPr>
          <a:xfrm xmlns:a="http://schemas.openxmlformats.org/drawingml/2006/main">
            <a:off x="7620000" y="3067050"/>
            <a:ext cx="1190625" cy="457200"/>
          </a:xfrm>
          <a:prstGeom xmlns:a="http://schemas.openxmlformats.org/drawingml/2006/main" prst="straightConnector1">
            <a:avLst/>
          </a:prstGeom>
          <a:ln xmlns:a="http://schemas.openxmlformats.org/drawingml/2006/main" w="28575">
            <a:solidFill>
              <a:srgbClr val="111827"/>
            </a:solidFill>
            <a:prstDash val="solid"/>
          </a:ln>
        </p:spPr>
      </p:cxnSp>
      <p:cxnSp>
        <p:nvCxnSpPr>
          <p:cNvPr id="101" name="直線矢印コネクタ 70"/>
          <p:cNvCxnSpPr/>
          <p:nvPr/>
        </p:nvCxnSpPr>
        <p:spPr>
          <a:xfrm xmlns:a="http://schemas.openxmlformats.org/drawingml/2006/main">
            <a:off x="8810625" y="3067050"/>
            <a:ext cx="1190625" cy="457200"/>
          </a:xfrm>
          <a:prstGeom xmlns:a="http://schemas.openxmlformats.org/drawingml/2006/main" prst="straightConnector1">
            <a:avLst/>
          </a:prstGeom>
          <a:ln xmlns:a="http://schemas.openxmlformats.org/drawingml/2006/main" w="28575">
            <a:solidFill>
              <a:srgbClr val="111827"/>
            </a:solidFill>
            <a:prstDash val="solid"/>
          </a:ln>
        </p:spPr>
      </p:cxnSp>
      <p:cxnSp>
        <p:nvCxnSpPr>
          <p:cNvPr id="102" name="直線矢印コネクタ 71"/>
          <p:cNvCxnSpPr/>
          <p:nvPr/>
        </p:nvCxnSpPr>
        <p:spPr>
          <a:xfrm xmlns:a="http://schemas.openxmlformats.org/drawingml/2006/main">
            <a:off x="6934200" y="4133850"/>
            <a:ext cx="685800" cy="485775"/>
          </a:xfrm>
          <a:prstGeom xmlns:a="http://schemas.openxmlformats.org/drawingml/2006/main" prst="straightConnector1">
            <a:avLst/>
          </a:prstGeom>
          <a:ln xmlns:a="http://schemas.openxmlformats.org/drawingml/2006/main" w="28575">
            <a:solidFill>
              <a:srgbClr val="111827"/>
            </a:solidFill>
            <a:prstDash val="solid"/>
          </a:ln>
        </p:spPr>
      </p:cxnSp>
      <p:cxnSp>
        <p:nvCxnSpPr>
          <p:cNvPr id="103" name="直線矢印コネクタ 72"/>
          <p:cNvCxnSpPr/>
          <p:nvPr/>
        </p:nvCxnSpPr>
        <p:spPr>
          <a:xfrm xmlns:a="http://schemas.openxmlformats.org/drawingml/2006/main">
            <a:off x="7620000" y="4133850"/>
            <a:ext cx="685800" cy="485775"/>
          </a:xfrm>
          <a:prstGeom xmlns:a="http://schemas.openxmlformats.org/drawingml/2006/main" prst="straightConnector1">
            <a:avLst/>
          </a:prstGeom>
          <a:ln xmlns:a="http://schemas.openxmlformats.org/drawingml/2006/main" w="28575">
            <a:solidFill>
              <a:srgbClr val="111827"/>
            </a:solidFill>
            <a:prstDash val="solid"/>
          </a:ln>
        </p:spPr>
      </p:cxnSp>
      <p:cxnSp>
        <p:nvCxnSpPr>
          <p:cNvPr id="104" name="直線矢印コネクタ 73"/>
          <p:cNvCxnSpPr/>
          <p:nvPr/>
        </p:nvCxnSpPr>
        <p:spPr>
          <a:xfrm xmlns:a="http://schemas.openxmlformats.org/drawingml/2006/main">
            <a:off x="9315450" y="4133850"/>
            <a:ext cx="685800" cy="485775"/>
          </a:xfrm>
          <a:prstGeom xmlns:a="http://schemas.openxmlformats.org/drawingml/2006/main" prst="straightConnector1">
            <a:avLst/>
          </a:prstGeom>
          <a:ln xmlns:a="http://schemas.openxmlformats.org/drawingml/2006/main" w="28575">
            <a:solidFill>
              <a:srgbClr val="111827"/>
            </a:solidFill>
            <a:prstDash val="solid"/>
          </a:ln>
        </p:spPr>
      </p:cxnSp>
      <p:cxnSp>
        <p:nvCxnSpPr>
          <p:cNvPr id="105" name="直線矢印コネクタ 74"/>
          <p:cNvCxnSpPr/>
          <p:nvPr/>
        </p:nvCxnSpPr>
        <p:spPr>
          <a:xfrm xmlns:a="http://schemas.openxmlformats.org/drawingml/2006/main">
            <a:off x="10001250" y="4133850"/>
            <a:ext cx="685800" cy="485775"/>
          </a:xfrm>
          <a:prstGeom xmlns:a="http://schemas.openxmlformats.org/drawingml/2006/main" prst="straightConnector1">
            <a:avLst/>
          </a:prstGeom>
          <a:ln xmlns:a="http://schemas.openxmlformats.org/drawingml/2006/main" w="28575">
            <a:solidFill>
              <a:srgbClr val="111827"/>
            </a:solidFill>
            <a:prstDash val="solid"/>
          </a:ln>
        </p:spPr>
      </p:cxnSp>
      <p:sp>
        <p:nvSpPr>
          <p:cNvPr id="31" name="正方形/長方形 30">
            <a:extLst xmlns:a="http://schemas.openxmlformats.org/drawingml/2006/main">
              <a:ext uri="{FF2B5EF4-FFF2-40B4-BE49-F238E27FC236}">
                <a16:creationId xmlns:a16="http://schemas.microsoft.com/office/drawing/2014/main" id="{241569BD-7DE1-4F50-B813-1CE3F2D27CC3}"/>
              </a:ext>
            </a:extLst>
          </p:cNvPr>
          <p:cNvSpPr>
            <a:spLocks xmlns:a="http://schemas.openxmlformats.org/drawingml/2006/main" noGrp="1"/>
          </p:cNvSpPr>
          <p:nvPr/>
        </p:nvSpPr>
        <p:spPr>
          <a:xfrm xmlns:a="http://schemas.openxmlformats.org/drawingml/2006/main">
            <a:off x="8048625" y="2381250"/>
            <a:ext cx="1524000" cy="685800"/>
          </a:xfrm>
          <a:prstGeom xmlns:a="http://schemas.openxmlformats.org/drawingml/2006/main" prst="rect">
            <a:avLst/>
          </a:prstGeom>
          <a:solidFill xmlns:a="http://schemas.openxmlformats.org/drawingml/2006/main">
            <a:srgbClr val="111827"/>
          </a:solidFill>
          <a:ln xmlns:a="http://schemas.openxmlformats.org/drawingml/2006/main" w="0">
            <a:solidFill>
              <a:srgbClr val="111827"/>
            </a:solidFill>
            <a:prstDash val="solid"/>
          </a:ln>
        </p:spPr>
        <p:txBody>
          <a:bodyPr xmlns:a="http://schemas.openxmlformats.org/drawingml/2006/main"/>
          <a:lstStyle xmlns:a="http://schemas.openxmlformats.org/drawingml/2006/main"/>
          <a:p xmlns:a="http://schemas.openxmlformats.org/drawingml/2006/main">
            <a:endParaRPr/>
          </a:p>
        </p:txBody>
      </p:sp>
      <p:sp>
        <p:nvSpPr>
          <p:cNvPr id="32" name="正方形/長方形 31">
            <a:extLst xmlns:a="http://schemas.openxmlformats.org/drawingml/2006/main">
              <a:ext uri="{FF2B5EF4-FFF2-40B4-BE49-F238E27FC236}">
                <a16:creationId xmlns:a16="http://schemas.microsoft.com/office/drawing/2014/main" id="{63476F83-8D2F-4C17-AE28-3F7BFB29225F}"/>
              </a:ext>
            </a:extLst>
          </p:cNvPr>
          <p:cNvSpPr>
            <a:spLocks xmlns:a="http://schemas.openxmlformats.org/drawingml/2006/main" noGrp="1"/>
          </p:cNvSpPr>
          <p:nvPr/>
        </p:nvSpPr>
        <p:spPr>
          <a:xfrm xmlns:a="http://schemas.openxmlformats.org/drawingml/2006/main">
            <a:off x="8048625" y="2562225"/>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buNone/>
              <a:defRPr sz="1575" b="1">
                <a:solidFill>
                  <a:srgbClr val="FFFFFF"/>
                </a:solidFill>
                <a:latin typeface="Yu Gothic"/>
                <a:ea typeface="Yu Gothic"/>
                <a:cs typeface="Yu Gothic"/>
              </a:defRPr>
            </a:pPr>
            <a:r>
              <a:rPr sz="1575" b="1">
                <a:solidFill>
                  <a:srgbClr val="FFFFFF"/>
                </a:solidFill>
                <a:latin typeface="Yu Gothic"/>
                <a:ea typeface="Yu Gothic"/>
                <a:cs typeface="Yu Gothic"/>
              </a:rPr>
              <a:t>特徴1 &gt; ?</a:t>
            </a:r>
          </a:p>
        </p:txBody>
      </p:sp>
      <p:sp>
        <p:nvSpPr>
          <p:cNvPr id="33" name="正方形/長方形 32">
            <a:extLst xmlns:a="http://schemas.openxmlformats.org/drawingml/2006/main">
              <a:ext uri="{FF2B5EF4-FFF2-40B4-BE49-F238E27FC236}">
                <a16:creationId xmlns:a16="http://schemas.microsoft.com/office/drawing/2014/main" id="{47DE8A59-4CBB-4F98-88E1-936175E3BD77}"/>
              </a:ext>
            </a:extLst>
          </p:cNvPr>
          <p:cNvSpPr>
            <a:spLocks xmlns:a="http://schemas.openxmlformats.org/drawingml/2006/main" noGrp="1"/>
          </p:cNvSpPr>
          <p:nvPr/>
        </p:nvSpPr>
        <p:spPr>
          <a:xfrm xmlns:a="http://schemas.openxmlformats.org/drawingml/2006/main">
            <a:off x="7000875" y="3524250"/>
            <a:ext cx="1238250" cy="609600"/>
          </a:xfrm>
          <a:prstGeom xmlns:a="http://schemas.openxmlformats.org/drawingml/2006/main" prst="rect">
            <a:avLst/>
          </a:prstGeom>
          <a:solidFill xmlns:a="http://schemas.openxmlformats.org/drawingml/2006/main">
            <a:srgbClr val="F3F4F6"/>
          </a:solidFill>
          <a:ln xmlns:a="http://schemas.openxmlformats.org/drawingml/2006/main" w="19050">
            <a:solidFill>
              <a:srgbClr val="111827"/>
            </a:solidFill>
            <a:prstDash val="solid"/>
          </a:ln>
        </p:spPr>
        <p:txBody>
          <a:bodyPr xmlns:a="http://schemas.openxmlformats.org/drawingml/2006/main"/>
          <a:lstStyle xmlns:a="http://schemas.openxmlformats.org/drawingml/2006/main"/>
          <a:p xmlns:a="http://schemas.openxmlformats.org/drawingml/2006/main">
            <a:endParaRPr/>
          </a:p>
        </p:txBody>
      </p:sp>
      <p:sp>
        <p:nvSpPr>
          <p:cNvPr id="34" name="正方形/長方形 33">
            <a:extLst xmlns:a="http://schemas.openxmlformats.org/drawingml/2006/main">
              <a:ext uri="{FF2B5EF4-FFF2-40B4-BE49-F238E27FC236}">
                <a16:creationId xmlns:a16="http://schemas.microsoft.com/office/drawing/2014/main" id="{71FB4C63-408C-471B-8CFE-3410D779EAA5}"/>
              </a:ext>
            </a:extLst>
          </p:cNvPr>
          <p:cNvSpPr>
            <a:spLocks xmlns:a="http://schemas.openxmlformats.org/drawingml/2006/main" noGrp="1"/>
          </p:cNvSpPr>
          <p:nvPr/>
        </p:nvSpPr>
        <p:spPr>
          <a:xfrm xmlns:a="http://schemas.openxmlformats.org/drawingml/2006/main">
            <a:off x="7000875" y="3695700"/>
            <a:ext cx="1238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buNone/>
              <a:defRPr sz="1350" b="1">
                <a:solidFill>
                  <a:srgbClr val="111827"/>
                </a:solidFill>
                <a:latin typeface="Yu Gothic"/>
                <a:ea typeface="Yu Gothic"/>
                <a:cs typeface="Yu Gothic"/>
              </a:defRPr>
            </a:pPr>
            <a:r>
              <a:rPr sz="1350" b="1">
                <a:solidFill>
                  <a:srgbClr val="111827"/>
                </a:solidFill>
                <a:latin typeface="Yu Gothic"/>
                <a:ea typeface="Yu Gothic"/>
                <a:cs typeface="Yu Gothic"/>
              </a:rPr>
              <a:t>特徴2 &gt; ?</a:t>
            </a:r>
          </a:p>
        </p:txBody>
      </p:sp>
      <p:sp>
        <p:nvSpPr>
          <p:cNvPr id="35" name="正方形/長方形 34">
            <a:extLst xmlns:a="http://schemas.openxmlformats.org/drawingml/2006/main">
              <a:ext uri="{FF2B5EF4-FFF2-40B4-BE49-F238E27FC236}">
                <a16:creationId xmlns:a16="http://schemas.microsoft.com/office/drawing/2014/main" id="{F1DD4D9C-4CBB-4CD2-B8EB-96859020A933}"/>
              </a:ext>
            </a:extLst>
          </p:cNvPr>
          <p:cNvSpPr>
            <a:spLocks xmlns:a="http://schemas.openxmlformats.org/drawingml/2006/main" noGrp="1"/>
          </p:cNvSpPr>
          <p:nvPr/>
        </p:nvSpPr>
        <p:spPr>
          <a:xfrm xmlns:a="http://schemas.openxmlformats.org/drawingml/2006/main">
            <a:off x="9382125" y="3524250"/>
            <a:ext cx="1238250" cy="609600"/>
          </a:xfrm>
          <a:prstGeom xmlns:a="http://schemas.openxmlformats.org/drawingml/2006/main" prst="rect">
            <a:avLst/>
          </a:prstGeom>
          <a:solidFill xmlns:a="http://schemas.openxmlformats.org/drawingml/2006/main">
            <a:srgbClr val="F3F4F6"/>
          </a:solidFill>
          <a:ln xmlns:a="http://schemas.openxmlformats.org/drawingml/2006/main" w="19050">
            <a:solidFill>
              <a:srgbClr val="111827"/>
            </a:solidFill>
            <a:prstDash val="solid"/>
          </a:ln>
        </p:spPr>
        <p:txBody>
          <a:bodyPr xmlns:a="http://schemas.openxmlformats.org/drawingml/2006/main"/>
          <a:lstStyle xmlns:a="http://schemas.openxmlformats.org/drawingml/2006/main"/>
          <a:p xmlns:a="http://schemas.openxmlformats.org/drawingml/2006/main">
            <a:endParaRPr/>
          </a:p>
        </p:txBody>
      </p:sp>
      <p:sp>
        <p:nvSpPr>
          <p:cNvPr id="36" name="正方形/長方形 35">
            <a:extLst xmlns:a="http://schemas.openxmlformats.org/drawingml/2006/main">
              <a:ext uri="{FF2B5EF4-FFF2-40B4-BE49-F238E27FC236}">
                <a16:creationId xmlns:a16="http://schemas.microsoft.com/office/drawing/2014/main" id="{23086ECD-78AC-4A54-9536-F22FADF8FB06}"/>
              </a:ext>
            </a:extLst>
          </p:cNvPr>
          <p:cNvSpPr>
            <a:spLocks xmlns:a="http://schemas.openxmlformats.org/drawingml/2006/main" noGrp="1"/>
          </p:cNvSpPr>
          <p:nvPr/>
        </p:nvSpPr>
        <p:spPr>
          <a:xfrm xmlns:a="http://schemas.openxmlformats.org/drawingml/2006/main">
            <a:off x="9382125" y="3695700"/>
            <a:ext cx="1238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buNone/>
              <a:defRPr sz="1350" b="1">
                <a:solidFill>
                  <a:srgbClr val="111827"/>
                </a:solidFill>
                <a:latin typeface="Yu Gothic"/>
                <a:ea typeface="Yu Gothic"/>
                <a:cs typeface="Yu Gothic"/>
              </a:defRPr>
            </a:pPr>
            <a:r>
              <a:rPr sz="1350" b="1">
                <a:solidFill>
                  <a:srgbClr val="111827"/>
                </a:solidFill>
                <a:latin typeface="Yu Gothic"/>
                <a:ea typeface="Yu Gothic"/>
                <a:cs typeface="Yu Gothic"/>
              </a:rPr>
              <a:t>特徴3 &gt; ?</a:t>
            </a:r>
          </a:p>
        </p:txBody>
      </p:sp>
      <p:sp>
        <p:nvSpPr>
          <p:cNvPr id="37" name="正方形/長方形 36">
            <a:extLst xmlns:a="http://schemas.openxmlformats.org/drawingml/2006/main">
              <a:ext uri="{FF2B5EF4-FFF2-40B4-BE49-F238E27FC236}">
                <a16:creationId xmlns:a16="http://schemas.microsoft.com/office/drawing/2014/main" id="{94B366E1-9524-4D61-81F4-4869403BAE70}"/>
              </a:ext>
            </a:extLst>
          </p:cNvPr>
          <p:cNvSpPr>
            <a:spLocks xmlns:a="http://schemas.openxmlformats.org/drawingml/2006/main" noGrp="1"/>
          </p:cNvSpPr>
          <p:nvPr/>
        </p:nvSpPr>
        <p:spPr>
          <a:xfrm xmlns:a="http://schemas.openxmlformats.org/drawingml/2006/main">
            <a:off x="6334125" y="4619625"/>
            <a:ext cx="1190625" cy="704850"/>
          </a:xfrm>
          <a:prstGeom xmlns:a="http://schemas.openxmlformats.org/drawingml/2006/main" prst="rect">
            <a:avLst/>
          </a:prstGeom>
          <a:solidFill xmlns:a="http://schemas.openxmlformats.org/drawingml/2006/main">
            <a:srgbClr val="D1FAE5"/>
          </a:solidFill>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a:endParaRPr/>
          </a:p>
        </p:txBody>
      </p:sp>
      <p:sp>
        <p:nvSpPr>
          <p:cNvPr id="38" name="正方形/長方形 37">
            <a:extLst xmlns:a="http://schemas.openxmlformats.org/drawingml/2006/main">
              <a:ext uri="{FF2B5EF4-FFF2-40B4-BE49-F238E27FC236}">
                <a16:creationId xmlns:a16="http://schemas.microsoft.com/office/drawing/2014/main" id="{0B60CBD8-0CB4-4F77-B839-546454B31F06}"/>
              </a:ext>
            </a:extLst>
          </p:cNvPr>
          <p:cNvSpPr>
            <a:spLocks xmlns:a="http://schemas.openxmlformats.org/drawingml/2006/main" noGrp="1"/>
          </p:cNvSpPr>
          <p:nvPr/>
        </p:nvSpPr>
        <p:spPr>
          <a:xfrm xmlns:a="http://schemas.openxmlformats.org/drawingml/2006/main">
            <a:off x="6410325" y="4695825"/>
            <a:ext cx="10382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buNone/>
              <a:defRPr sz="1125" b="1">
                <a:solidFill>
                  <a:srgbClr val="111827"/>
                </a:solidFill>
                <a:latin typeface="Yu Gothic"/>
                <a:ea typeface="Yu Gothic"/>
                <a:cs typeface="Yu Gothic"/>
              </a:defRPr>
            </a:pPr>
            <a:r>
              <a:rPr sz="1125" b="1">
                <a:solidFill>
                  <a:srgbClr val="111827"/>
                </a:solidFill>
                <a:latin typeface="Yu Gothic"/>
                <a:ea typeface="Yu Gothic"/>
                <a:cs typeface="Yu Gothic"/>
              </a:rPr>
              <a:t>A .72</a:t>
            </a:r>
          </a:p>
          <a:p xmlns:a="http://schemas.openxmlformats.org/drawingml/2006/main">
            <a:pPr algn="ctr">
              <a:buNone/>
              <a:defRPr sz="1125" b="1">
                <a:solidFill>
                  <a:srgbClr val="111827"/>
                </a:solidFill>
                <a:latin typeface="Yu Gothic"/>
                <a:ea typeface="Yu Gothic"/>
                <a:cs typeface="Yu Gothic"/>
              </a:defRPr>
            </a:pPr>
            <a:r>
              <a:rPr sz="1125" b="1">
                <a:solidFill>
                  <a:srgbClr val="111827"/>
                </a:solidFill>
                <a:latin typeface="Yu Gothic"/>
                <a:ea typeface="Yu Gothic"/>
                <a:cs typeface="Yu Gothic"/>
              </a:rPr>
              <a:t>B .18</a:t>
            </a:r>
          </a:p>
          <a:p xmlns:a="http://schemas.openxmlformats.org/drawingml/2006/main">
            <a:pPr algn="ctr">
              <a:buNone/>
              <a:defRPr sz="1125" b="1">
                <a:solidFill>
                  <a:srgbClr val="111827"/>
                </a:solidFill>
                <a:latin typeface="Yu Gothic"/>
                <a:ea typeface="Yu Gothic"/>
                <a:cs typeface="Yu Gothic"/>
              </a:defRPr>
            </a:pPr>
            <a:r>
              <a:rPr sz="1125" b="1">
                <a:solidFill>
                  <a:srgbClr val="111827"/>
                </a:solidFill>
                <a:latin typeface="Yu Gothic"/>
                <a:ea typeface="Yu Gothic"/>
                <a:cs typeface="Yu Gothic"/>
              </a:rPr>
              <a:t>C .10</a:t>
            </a:r>
          </a:p>
        </p:txBody>
      </p:sp>
      <p:sp>
        <p:nvSpPr>
          <p:cNvPr id="39" name="正方形/長方形 38">
            <a:extLst xmlns:a="http://schemas.openxmlformats.org/drawingml/2006/main">
              <a:ext uri="{FF2B5EF4-FFF2-40B4-BE49-F238E27FC236}">
                <a16:creationId xmlns:a16="http://schemas.microsoft.com/office/drawing/2014/main" id="{21424594-4107-4386-BAC6-04DBC3B7BECC}"/>
              </a:ext>
            </a:extLst>
          </p:cNvPr>
          <p:cNvSpPr>
            <a:spLocks xmlns:a="http://schemas.openxmlformats.org/drawingml/2006/main" noGrp="1"/>
          </p:cNvSpPr>
          <p:nvPr/>
        </p:nvSpPr>
        <p:spPr>
          <a:xfrm xmlns:a="http://schemas.openxmlformats.org/drawingml/2006/main">
            <a:off x="7667625" y="4619625"/>
            <a:ext cx="1190625" cy="704850"/>
          </a:xfrm>
          <a:prstGeom xmlns:a="http://schemas.openxmlformats.org/drawingml/2006/main" prst="rect">
            <a:avLst/>
          </a:prstGeom>
          <a:solidFill xmlns:a="http://schemas.openxmlformats.org/drawingml/2006/main">
            <a:srgbClr val="D1FAE5"/>
          </a:solidFill>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a:endParaRPr/>
          </a:p>
        </p:txBody>
      </p:sp>
      <p:sp>
        <p:nvSpPr>
          <p:cNvPr id="40" name="正方形/長方形 39">
            <a:extLst xmlns:a="http://schemas.openxmlformats.org/drawingml/2006/main">
              <a:ext uri="{FF2B5EF4-FFF2-40B4-BE49-F238E27FC236}">
                <a16:creationId xmlns:a16="http://schemas.microsoft.com/office/drawing/2014/main" id="{8553EA08-8B58-4B76-A385-58AB7522E458}"/>
              </a:ext>
            </a:extLst>
          </p:cNvPr>
          <p:cNvSpPr>
            <a:spLocks xmlns:a="http://schemas.openxmlformats.org/drawingml/2006/main" noGrp="1"/>
          </p:cNvSpPr>
          <p:nvPr/>
        </p:nvSpPr>
        <p:spPr>
          <a:xfrm xmlns:a="http://schemas.openxmlformats.org/drawingml/2006/main">
            <a:off x="7743825" y="4695825"/>
            <a:ext cx="10382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buNone/>
              <a:defRPr sz="1125" b="1">
                <a:solidFill>
                  <a:srgbClr val="111827"/>
                </a:solidFill>
                <a:latin typeface="Yu Gothic"/>
                <a:ea typeface="Yu Gothic"/>
                <a:cs typeface="Yu Gothic"/>
              </a:defRPr>
            </a:pPr>
            <a:r>
              <a:rPr sz="1125" b="1">
                <a:solidFill>
                  <a:srgbClr val="111827"/>
                </a:solidFill>
                <a:latin typeface="Yu Gothic"/>
                <a:ea typeface="Yu Gothic"/>
                <a:cs typeface="Yu Gothic"/>
              </a:rPr>
              <a:t>A .40</a:t>
            </a:r>
          </a:p>
          <a:p xmlns:a="http://schemas.openxmlformats.org/drawingml/2006/main">
            <a:pPr algn="ctr">
              <a:buNone/>
              <a:defRPr sz="1125" b="1">
                <a:solidFill>
                  <a:srgbClr val="111827"/>
                </a:solidFill>
                <a:latin typeface="Yu Gothic"/>
                <a:ea typeface="Yu Gothic"/>
                <a:cs typeface="Yu Gothic"/>
              </a:defRPr>
            </a:pPr>
            <a:r>
              <a:rPr sz="1125" b="1">
                <a:solidFill>
                  <a:srgbClr val="111827"/>
                </a:solidFill>
                <a:latin typeface="Yu Gothic"/>
                <a:ea typeface="Yu Gothic"/>
                <a:cs typeface="Yu Gothic"/>
              </a:rPr>
              <a:t>B .45</a:t>
            </a:r>
          </a:p>
          <a:p xmlns:a="http://schemas.openxmlformats.org/drawingml/2006/main">
            <a:pPr algn="ctr">
              <a:buNone/>
              <a:defRPr sz="1125" b="1">
                <a:solidFill>
                  <a:srgbClr val="111827"/>
                </a:solidFill>
                <a:latin typeface="Yu Gothic"/>
                <a:ea typeface="Yu Gothic"/>
                <a:cs typeface="Yu Gothic"/>
              </a:defRPr>
            </a:pPr>
            <a:r>
              <a:rPr sz="1125" b="1">
                <a:solidFill>
                  <a:srgbClr val="111827"/>
                </a:solidFill>
                <a:latin typeface="Yu Gothic"/>
                <a:ea typeface="Yu Gothic"/>
                <a:cs typeface="Yu Gothic"/>
              </a:rPr>
              <a:t>C .15</a:t>
            </a:r>
          </a:p>
        </p:txBody>
      </p:sp>
      <p:sp>
        <p:nvSpPr>
          <p:cNvPr id="41" name="正方形/長方形 40">
            <a:extLst xmlns:a="http://schemas.openxmlformats.org/drawingml/2006/main">
              <a:ext uri="{FF2B5EF4-FFF2-40B4-BE49-F238E27FC236}">
                <a16:creationId xmlns:a16="http://schemas.microsoft.com/office/drawing/2014/main" id="{2FF2BCC5-E777-4122-8F96-0132B8C6794D}"/>
              </a:ext>
            </a:extLst>
          </p:cNvPr>
          <p:cNvSpPr>
            <a:spLocks xmlns:a="http://schemas.openxmlformats.org/drawingml/2006/main" noGrp="1"/>
          </p:cNvSpPr>
          <p:nvPr/>
        </p:nvSpPr>
        <p:spPr>
          <a:xfrm xmlns:a="http://schemas.openxmlformats.org/drawingml/2006/main">
            <a:off x="9001125" y="4619625"/>
            <a:ext cx="1190625" cy="704850"/>
          </a:xfrm>
          <a:prstGeom xmlns:a="http://schemas.openxmlformats.org/drawingml/2006/main" prst="rect">
            <a:avLst/>
          </a:prstGeom>
          <a:solidFill xmlns:a="http://schemas.openxmlformats.org/drawingml/2006/main">
            <a:srgbClr val="D1FAE5"/>
          </a:solidFill>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a:endParaRPr/>
          </a:p>
        </p:txBody>
      </p:sp>
      <p:sp>
        <p:nvSpPr>
          <p:cNvPr id="42" name="正方形/長方形 41">
            <a:extLst xmlns:a="http://schemas.openxmlformats.org/drawingml/2006/main">
              <a:ext uri="{FF2B5EF4-FFF2-40B4-BE49-F238E27FC236}">
                <a16:creationId xmlns:a16="http://schemas.microsoft.com/office/drawing/2014/main" id="{3DC81512-0412-4115-A7B2-555646E45022}"/>
              </a:ext>
            </a:extLst>
          </p:cNvPr>
          <p:cNvSpPr>
            <a:spLocks xmlns:a="http://schemas.openxmlformats.org/drawingml/2006/main" noGrp="1"/>
          </p:cNvSpPr>
          <p:nvPr/>
        </p:nvSpPr>
        <p:spPr>
          <a:xfrm xmlns:a="http://schemas.openxmlformats.org/drawingml/2006/main">
            <a:off x="9077325" y="4695825"/>
            <a:ext cx="10382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buNone/>
              <a:defRPr sz="1125" b="1">
                <a:solidFill>
                  <a:srgbClr val="111827"/>
                </a:solidFill>
                <a:latin typeface="Yu Gothic"/>
                <a:ea typeface="Yu Gothic"/>
                <a:cs typeface="Yu Gothic"/>
              </a:defRPr>
            </a:pPr>
            <a:r>
              <a:rPr sz="1125" b="1">
                <a:solidFill>
                  <a:srgbClr val="111827"/>
                </a:solidFill>
                <a:latin typeface="Yu Gothic"/>
                <a:ea typeface="Yu Gothic"/>
                <a:cs typeface="Yu Gothic"/>
              </a:rPr>
              <a:t>A .15</a:t>
            </a:r>
          </a:p>
          <a:p xmlns:a="http://schemas.openxmlformats.org/drawingml/2006/main">
            <a:pPr algn="ctr">
              <a:buNone/>
              <a:defRPr sz="1125" b="1">
                <a:solidFill>
                  <a:srgbClr val="111827"/>
                </a:solidFill>
                <a:latin typeface="Yu Gothic"/>
                <a:ea typeface="Yu Gothic"/>
                <a:cs typeface="Yu Gothic"/>
              </a:defRPr>
            </a:pPr>
            <a:r>
              <a:rPr sz="1125" b="1">
                <a:solidFill>
                  <a:srgbClr val="111827"/>
                </a:solidFill>
                <a:latin typeface="Yu Gothic"/>
                <a:ea typeface="Yu Gothic"/>
                <a:cs typeface="Yu Gothic"/>
              </a:rPr>
              <a:t>B .25</a:t>
            </a:r>
          </a:p>
          <a:p xmlns:a="http://schemas.openxmlformats.org/drawingml/2006/main">
            <a:pPr algn="ctr">
              <a:buNone/>
              <a:defRPr sz="1125" b="1">
                <a:solidFill>
                  <a:srgbClr val="111827"/>
                </a:solidFill>
                <a:latin typeface="Yu Gothic"/>
                <a:ea typeface="Yu Gothic"/>
                <a:cs typeface="Yu Gothic"/>
              </a:defRPr>
            </a:pPr>
            <a:r>
              <a:rPr sz="1125" b="1">
                <a:solidFill>
                  <a:srgbClr val="111827"/>
                </a:solidFill>
                <a:latin typeface="Yu Gothic"/>
                <a:ea typeface="Yu Gothic"/>
                <a:cs typeface="Yu Gothic"/>
              </a:rPr>
              <a:t>C .60</a:t>
            </a:r>
          </a:p>
        </p:txBody>
      </p:sp>
      <p:sp>
        <p:nvSpPr>
          <p:cNvPr id="43" name="正方形/長方形 42">
            <a:extLst xmlns:a="http://schemas.openxmlformats.org/drawingml/2006/main">
              <a:ext uri="{FF2B5EF4-FFF2-40B4-BE49-F238E27FC236}">
                <a16:creationId xmlns:a16="http://schemas.microsoft.com/office/drawing/2014/main" id="{A7A2A6F5-F102-4B88-BEC3-E469581E8AF5}"/>
              </a:ext>
            </a:extLst>
          </p:cNvPr>
          <p:cNvSpPr>
            <a:spLocks xmlns:a="http://schemas.openxmlformats.org/drawingml/2006/main" noGrp="1"/>
          </p:cNvSpPr>
          <p:nvPr/>
        </p:nvSpPr>
        <p:spPr>
          <a:xfrm xmlns:a="http://schemas.openxmlformats.org/drawingml/2006/main">
            <a:off x="10334625" y="4619625"/>
            <a:ext cx="1190625" cy="704850"/>
          </a:xfrm>
          <a:prstGeom xmlns:a="http://schemas.openxmlformats.org/drawingml/2006/main" prst="rect">
            <a:avLst/>
          </a:prstGeom>
          <a:solidFill xmlns:a="http://schemas.openxmlformats.org/drawingml/2006/main">
            <a:srgbClr val="D1FAE5"/>
          </a:solidFill>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a:endParaRPr/>
          </a:p>
        </p:txBody>
      </p:sp>
      <p:sp>
        <p:nvSpPr>
          <p:cNvPr id="44" name="正方形/長方形 43">
            <a:extLst xmlns:a="http://schemas.openxmlformats.org/drawingml/2006/main">
              <a:ext uri="{FF2B5EF4-FFF2-40B4-BE49-F238E27FC236}">
                <a16:creationId xmlns:a16="http://schemas.microsoft.com/office/drawing/2014/main" id="{AD5E0527-42AA-49AB-940E-1F7E0BB8BFC2}"/>
              </a:ext>
            </a:extLst>
          </p:cNvPr>
          <p:cNvSpPr>
            <a:spLocks xmlns:a="http://schemas.openxmlformats.org/drawingml/2006/main" noGrp="1"/>
          </p:cNvSpPr>
          <p:nvPr/>
        </p:nvSpPr>
        <p:spPr>
          <a:xfrm xmlns:a="http://schemas.openxmlformats.org/drawingml/2006/main">
            <a:off x="10410825" y="4695825"/>
            <a:ext cx="10382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buNone/>
              <a:defRPr sz="1125" b="1">
                <a:solidFill>
                  <a:srgbClr val="111827"/>
                </a:solidFill>
                <a:latin typeface="Yu Gothic"/>
                <a:ea typeface="Yu Gothic"/>
                <a:cs typeface="Yu Gothic"/>
              </a:defRPr>
            </a:pPr>
            <a:r>
              <a:rPr sz="1125" b="1">
                <a:solidFill>
                  <a:srgbClr val="111827"/>
                </a:solidFill>
                <a:latin typeface="Yu Gothic"/>
                <a:ea typeface="Yu Gothic"/>
                <a:cs typeface="Yu Gothic"/>
              </a:rPr>
              <a:t>A .08</a:t>
            </a:r>
          </a:p>
          <a:p xmlns:a="http://schemas.openxmlformats.org/drawingml/2006/main">
            <a:pPr algn="ctr">
              <a:buNone/>
              <a:defRPr sz="1125" b="1">
                <a:solidFill>
                  <a:srgbClr val="111827"/>
                </a:solidFill>
                <a:latin typeface="Yu Gothic"/>
                <a:ea typeface="Yu Gothic"/>
                <a:cs typeface="Yu Gothic"/>
              </a:defRPr>
            </a:pPr>
            <a:r>
              <a:rPr sz="1125" b="1">
                <a:solidFill>
                  <a:srgbClr val="111827"/>
                </a:solidFill>
                <a:latin typeface="Yu Gothic"/>
                <a:ea typeface="Yu Gothic"/>
                <a:cs typeface="Yu Gothic"/>
              </a:rPr>
              <a:t>B .22</a:t>
            </a:r>
          </a:p>
          <a:p xmlns:a="http://schemas.openxmlformats.org/drawingml/2006/main">
            <a:pPr algn="ctr">
              <a:buNone/>
              <a:defRPr sz="1125" b="1">
                <a:solidFill>
                  <a:srgbClr val="111827"/>
                </a:solidFill>
                <a:latin typeface="Yu Gothic"/>
                <a:ea typeface="Yu Gothic"/>
                <a:cs typeface="Yu Gothic"/>
              </a:defRPr>
            </a:pPr>
            <a:r>
              <a:rPr sz="1125" b="1">
                <a:solidFill>
                  <a:srgbClr val="111827"/>
                </a:solidFill>
                <a:latin typeface="Yu Gothic"/>
                <a:ea typeface="Yu Gothic"/>
                <a:cs typeface="Yu Gothic"/>
              </a:rPr>
              <a:t>C .70</a:t>
            </a:r>
          </a:p>
        </p:txBody>
      </p:sp>
      <p:sp>
        <p:nvSpPr>
          <p:cNvPr id="45" name="正方形/長方形 44">
            <a:extLst xmlns:a="http://schemas.openxmlformats.org/drawingml/2006/main">
              <a:ext uri="{FF2B5EF4-FFF2-40B4-BE49-F238E27FC236}">
                <a16:creationId xmlns:a16="http://schemas.microsoft.com/office/drawing/2014/main" id="{284C58AC-DFB3-4E5D-9D5E-E0C09364374F}"/>
              </a:ext>
            </a:extLst>
          </p:cNvPr>
          <p:cNvSpPr>
            <a:spLocks xmlns:a="http://schemas.openxmlformats.org/drawingml/2006/main" noGrp="1"/>
          </p:cNvSpPr>
          <p:nvPr/>
        </p:nvSpPr>
        <p:spPr>
          <a:xfrm xmlns:a="http://schemas.openxmlformats.org/drawingml/2006/main">
            <a:off x="7143750" y="5667375"/>
            <a:ext cx="3714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buNone/>
              <a:defRPr sz="1575" b="1">
                <a:solidFill>
                  <a:srgbClr val="10B981"/>
                </a:solidFill>
                <a:latin typeface="Yu Gothic"/>
                <a:ea typeface="Yu Gothic"/>
                <a:cs typeface="Yu Gothic"/>
              </a:defRPr>
            </a:pPr>
            <a:r>
              <a:rPr sz="1575" b="1">
                <a:solidFill>
                  <a:srgbClr val="10B981"/>
                </a:solidFill>
                <a:latin typeface="Yu Gothic"/>
                <a:ea typeface="Yu Gothic"/>
                <a:cs typeface="Yu Gothic"/>
              </a:rPr>
              <a:t>1本の木が全クラスの確率を同時に近似</a:t>
            </a:r>
          </a:p>
        </p:txBody>
      </p:sp>
    </p:spTree>
    <p:extLst>
      <p:ext uri="{BB962C8B-B14F-4D97-AF65-F5344CB8AC3E}">
        <p14:creationId xmlns:p14="http://schemas.microsoft.com/office/powerpoint/2010/main" val="1881205438"/>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1" name="正方形/長方形 40">
            <a:extLst xmlns:a="http://schemas.openxmlformats.org/drawingml/2006/main">
              <a:ext uri="{FF2B5EF4-FFF2-40B4-BE49-F238E27FC236}">
                <a16:creationId xmlns:a16="http://schemas.microsoft.com/office/drawing/2014/main" id="{0BE822AC-6A52-43A9-9769-2929C222BA8A}"/>
              </a:ext>
            </a:extLst>
          </p:cNvPr>
          <p:cNvSpPr>
            <a:spLocks xmlns:a="http://schemas.openxmlformats.org/drawingml/2006/main" noGrp="1"/>
          </p:cNvSpPr>
          <p:nvPr/>
        </p:nvSpPr>
        <p:spPr>
          <a:xfrm xmlns:a="http://schemas.openxmlformats.org/drawingml/2006/main">
            <a:off x="514350" y="419100"/>
            <a:ext cx="114300" cy="457200"/>
          </a:xfrm>
          <a:prstGeom xmlns:a="http://schemas.openxmlformats.org/drawingml/2006/main" prst="rect">
            <a:avLst/>
          </a:prstGeom>
          <a:solidFill xmlns:a="http://schemas.openxmlformats.org/drawingml/2006/main">
            <a:srgbClr val="2563EB"/>
          </a:solidFill>
          <a:ln xmlns:a="http://schemas.openxmlformats.org/drawingml/2006/main" w="0">
            <a:solidFill>
              <a:srgbClr val="2563EB"/>
            </a:solidFill>
            <a:prstDash val="solid"/>
          </a:ln>
        </p:spPr>
        <p:txBody>
          <a:bodyPr xmlns:a="http://schemas.openxmlformats.org/drawingml/2006/main"/>
          <a:lstStyle xmlns:a="http://schemas.openxmlformats.org/drawingml/2006/main"/>
          <a:p xmlns:a="http://schemas.openxmlformats.org/drawingml/2006/main">
            <a:endParaRPr/>
          </a:p>
        </p:txBody>
      </p:sp>
      <p:sp>
        <p:nvSpPr>
          <p:cNvPr id="2" name="slide-9-title">
            <a:extLst xmlns:a="http://schemas.openxmlformats.org/drawingml/2006/main">
              <a:ext uri="{FF2B5EF4-FFF2-40B4-BE49-F238E27FC236}">
                <a16:creationId xmlns:a16="http://schemas.microsoft.com/office/drawing/2014/main" id="{15CB36DB-A1A3-47C4-A579-78618D83F0BB}"/>
              </a:ext>
            </a:extLst>
          </p:cNvPr>
          <p:cNvSpPr>
            <a:spLocks xmlns:a="http://schemas.openxmlformats.org/drawingml/2006/main" noGrp="1"/>
          </p:cNvSpPr>
          <p:nvPr/>
        </p:nvSpPr>
        <p:spPr>
          <a:xfrm xmlns:a="http://schemas.openxmlformats.org/drawingml/2006/main">
            <a:off x="800100" y="361950"/>
            <a:ext cx="10572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buNone/>
              <a:defRPr sz="2850" b="1">
                <a:solidFill>
                  <a:srgbClr val="111827"/>
                </a:solidFill>
                <a:latin typeface="Yu Gothic"/>
                <a:ea typeface="Yu Gothic"/>
                <a:cs typeface="Yu Gothic"/>
              </a:defRPr>
            </a:pPr>
            <a:r>
              <a:rPr sz="2850" b="1">
                <a:solidFill>
                  <a:srgbClr val="111827"/>
                </a:solidFill>
                <a:latin typeface="Yu Gothic"/>
                <a:ea typeface="Yu Gothic"/>
                <a:cs typeface="Yu Gothic"/>
              </a:rPr>
              <a:t>多クラスの扱い方には複数の設計がある</a:t>
            </a:r>
          </a:p>
        </p:txBody>
      </p:sp>
      <p:sp>
        <p:nvSpPr>
          <p:cNvPr id="3" name="slide-9-subtitle">
            <a:extLst xmlns:a="http://schemas.openxmlformats.org/drawingml/2006/main">
              <a:ext uri="{FF2B5EF4-FFF2-40B4-BE49-F238E27FC236}">
                <a16:creationId xmlns:a16="http://schemas.microsoft.com/office/drawing/2014/main" id="{6FCB2562-5F26-418B-B37F-96F300F7242B}"/>
              </a:ext>
            </a:extLst>
          </p:cNvPr>
          <p:cNvSpPr>
            <a:spLocks xmlns:a="http://schemas.openxmlformats.org/drawingml/2006/main" noGrp="1"/>
          </p:cNvSpPr>
          <p:nvPr/>
        </p:nvSpPr>
        <p:spPr>
          <a:xfrm xmlns:a="http://schemas.openxmlformats.org/drawingml/2006/main">
            <a:off x="800100" y="962025"/>
            <a:ext cx="1057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buNone/>
              <a:defRPr sz="1500" b="0">
                <a:solidFill>
                  <a:srgbClr val="64748B"/>
                </a:solidFill>
                <a:latin typeface="Yu Gothic"/>
                <a:ea typeface="Yu Gothic"/>
                <a:cs typeface="Yu Gothic"/>
              </a:defRPr>
            </a:pPr>
            <a:r>
              <a:rPr sz="1500" b="0">
                <a:solidFill>
                  <a:srgbClr val="64748B"/>
                </a:solidFill>
                <a:latin typeface="Yu Gothic"/>
                <a:ea typeface="Yu Gothic"/>
                <a:cs typeface="Yu Gothic"/>
              </a:rPr>
              <a:t>何を一つにまとめるかで、説明の意味が変わる</a:t>
            </a:r>
          </a:p>
        </p:txBody>
      </p:sp>
      <p:sp>
        <p:nvSpPr>
          <p:cNvPr id="4" name="正方形/長方形 3">
            <a:extLst xmlns:a="http://schemas.openxmlformats.org/drawingml/2006/main">
              <a:ext uri="{FF2B5EF4-FFF2-40B4-BE49-F238E27FC236}">
                <a16:creationId xmlns:a16="http://schemas.microsoft.com/office/drawing/2014/main" id="{9BFD2635-1598-4C40-B53C-5B7C0BFFD01C}"/>
              </a:ext>
            </a:extLst>
          </p:cNvPr>
          <p:cNvSpPr>
            <a:spLocks xmlns:a="http://schemas.openxmlformats.org/drawingml/2006/main" noGrp="1"/>
          </p:cNvSpPr>
          <p:nvPr/>
        </p:nvSpPr>
        <p:spPr>
          <a:xfrm xmlns:a="http://schemas.openxmlformats.org/drawingml/2006/main">
            <a:off x="11239500" y="6438900"/>
            <a:ext cx="476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buNone/>
              <a:defRPr sz="1050" b="0">
                <a:solidFill>
                  <a:srgbClr val="64748B"/>
                </a:solidFill>
                <a:latin typeface="Yu Gothic"/>
                <a:ea typeface="Yu Gothic"/>
                <a:cs typeface="Yu Gothic"/>
              </a:defRPr>
            </a:pPr>
            <a:r>
              <a:rPr sz="1050" b="0">
                <a:solidFill>
                  <a:srgbClr val="64748B"/>
                </a:solidFill>
                <a:latin typeface="Yu Gothic"/>
                <a:ea typeface="Yu Gothic"/>
                <a:cs typeface="Yu Gothic"/>
              </a:rPr>
              <a:t>09</a:t>
            </a:r>
          </a:p>
        </p:txBody>
      </p:sp>
      <p:sp>
        <p:nvSpPr>
          <p:cNvPr id="5" name="正方形/長方形 4">
            <a:extLst xmlns:a="http://schemas.openxmlformats.org/drawingml/2006/main">
              <a:ext uri="{FF2B5EF4-FFF2-40B4-BE49-F238E27FC236}">
                <a16:creationId xmlns:a16="http://schemas.microsoft.com/office/drawing/2014/main" id="{55675721-5956-4010-B057-006B3D9E3858}"/>
              </a:ext>
            </a:extLst>
          </p:cNvPr>
          <p:cNvSpPr>
            <a:spLocks xmlns:a="http://schemas.openxmlformats.org/drawingml/2006/main" noGrp="1"/>
          </p:cNvSpPr>
          <p:nvPr/>
        </p:nvSpPr>
        <p:spPr>
          <a:xfrm xmlns:a="http://schemas.openxmlformats.org/drawingml/2006/main">
            <a:off x="523875" y="1571625"/>
            <a:ext cx="1619250" cy="590550"/>
          </a:xfrm>
          <a:prstGeom xmlns:a="http://schemas.openxmlformats.org/drawingml/2006/main" prst="rect">
            <a:avLst/>
          </a:prstGeom>
          <a:solidFill xmlns:a="http://schemas.openxmlformats.org/drawingml/2006/main">
            <a:srgbClr val="111827"/>
          </a:solidFill>
          <a:ln xmlns:a="http://schemas.openxmlformats.org/drawingml/2006/main" w="9525">
            <a:solidFill>
              <a:srgbClr val="FFFFFF"/>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正方形/長方形 5">
            <a:extLst xmlns:a="http://schemas.openxmlformats.org/drawingml/2006/main">
              <a:ext uri="{FF2B5EF4-FFF2-40B4-BE49-F238E27FC236}">
                <a16:creationId xmlns:a16="http://schemas.microsoft.com/office/drawing/2014/main" id="{56356787-F203-4153-A461-95C96AF03091}"/>
              </a:ext>
            </a:extLst>
          </p:cNvPr>
          <p:cNvSpPr>
            <a:spLocks xmlns:a="http://schemas.openxmlformats.org/drawingml/2006/main" noGrp="1"/>
          </p:cNvSpPr>
          <p:nvPr/>
        </p:nvSpPr>
        <p:spPr>
          <a:xfrm xmlns:a="http://schemas.openxmlformats.org/drawingml/2006/main">
            <a:off x="619125" y="1743075"/>
            <a:ext cx="1428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buNone/>
              <a:defRPr sz="1425" b="1">
                <a:solidFill>
                  <a:srgbClr val="FFFFFF"/>
                </a:solidFill>
                <a:latin typeface="Yu Gothic"/>
                <a:ea typeface="Yu Gothic"/>
                <a:cs typeface="Yu Gothic"/>
              </a:defRPr>
            </a:pPr>
            <a:r>
              <a:rPr sz="1425" b="1">
                <a:solidFill>
                  <a:srgbClr val="FFFFFF"/>
                </a:solidFill>
                <a:latin typeface="Yu Gothic"/>
                <a:ea typeface="Yu Gothic"/>
                <a:cs typeface="Yu Gothic"/>
              </a:rPr>
              <a:t>手法</a:t>
            </a:r>
          </a:p>
        </p:txBody>
      </p:sp>
      <p:sp>
        <p:nvSpPr>
          <p:cNvPr id="7" name="正方形/長方形 6">
            <a:extLst xmlns:a="http://schemas.openxmlformats.org/drawingml/2006/main">
              <a:ext uri="{FF2B5EF4-FFF2-40B4-BE49-F238E27FC236}">
                <a16:creationId xmlns:a16="http://schemas.microsoft.com/office/drawing/2014/main" id="{D8804883-DF71-4119-A93F-131B711FB307}"/>
              </a:ext>
            </a:extLst>
          </p:cNvPr>
          <p:cNvSpPr>
            <a:spLocks xmlns:a="http://schemas.openxmlformats.org/drawingml/2006/main" noGrp="1"/>
          </p:cNvSpPr>
          <p:nvPr/>
        </p:nvSpPr>
        <p:spPr>
          <a:xfrm xmlns:a="http://schemas.openxmlformats.org/drawingml/2006/main">
            <a:off x="2143125" y="1571625"/>
            <a:ext cx="2571750" cy="590550"/>
          </a:xfrm>
          <a:prstGeom xmlns:a="http://schemas.openxmlformats.org/drawingml/2006/main" prst="rect">
            <a:avLst/>
          </a:prstGeom>
          <a:solidFill xmlns:a="http://schemas.openxmlformats.org/drawingml/2006/main">
            <a:srgbClr val="111827"/>
          </a:solidFill>
          <a:ln xmlns:a="http://schemas.openxmlformats.org/drawingml/2006/main" w="9525">
            <a:solidFill>
              <a:srgbClr val="FFFFFF"/>
            </a:solidFill>
            <a:prstDash val="solid"/>
          </a:ln>
        </p:spPr>
        <p:txBody>
          <a:bodyPr xmlns:a="http://schemas.openxmlformats.org/drawingml/2006/main"/>
          <a:lstStyle xmlns:a="http://schemas.openxmlformats.org/drawingml/2006/main"/>
          <a:p xmlns:a="http://schemas.openxmlformats.org/drawingml/2006/main">
            <a:endParaRPr/>
          </a:p>
        </p:txBody>
      </p:sp>
      <p:sp>
        <p:nvSpPr>
          <p:cNvPr id="8" name="正方形/長方形 7">
            <a:extLst xmlns:a="http://schemas.openxmlformats.org/drawingml/2006/main">
              <a:ext uri="{FF2B5EF4-FFF2-40B4-BE49-F238E27FC236}">
                <a16:creationId xmlns:a16="http://schemas.microsoft.com/office/drawing/2014/main" id="{E0A6DA7F-2750-40FE-9E83-D8D82C6A1DE3}"/>
              </a:ext>
            </a:extLst>
          </p:cNvPr>
          <p:cNvSpPr>
            <a:spLocks xmlns:a="http://schemas.openxmlformats.org/drawingml/2006/main" noGrp="1"/>
          </p:cNvSpPr>
          <p:nvPr/>
        </p:nvSpPr>
        <p:spPr>
          <a:xfrm xmlns:a="http://schemas.openxmlformats.org/drawingml/2006/main">
            <a:off x="2238375" y="1743075"/>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buNone/>
              <a:defRPr sz="1425" b="1">
                <a:solidFill>
                  <a:srgbClr val="FFFFFF"/>
                </a:solidFill>
                <a:latin typeface="Yu Gothic"/>
                <a:ea typeface="Yu Gothic"/>
                <a:cs typeface="Yu Gothic"/>
              </a:defRPr>
            </a:pPr>
            <a:r>
              <a:rPr sz="1425" b="1">
                <a:solidFill>
                  <a:srgbClr val="FFFFFF"/>
                </a:solidFill>
                <a:latin typeface="Yu Gothic"/>
                <a:ea typeface="Yu Gothic"/>
                <a:cs typeface="Yu Gothic"/>
              </a:rPr>
              <a:t>近似する対象</a:t>
            </a:r>
          </a:p>
        </p:txBody>
      </p:sp>
      <p:sp>
        <p:nvSpPr>
          <p:cNvPr id="9" name="正方形/長方形 8">
            <a:extLst xmlns:a="http://schemas.openxmlformats.org/drawingml/2006/main">
              <a:ext uri="{FF2B5EF4-FFF2-40B4-BE49-F238E27FC236}">
                <a16:creationId xmlns:a16="http://schemas.microsoft.com/office/drawing/2014/main" id="{68600862-B8E0-4072-BA55-484D110B04F5}"/>
              </a:ext>
            </a:extLst>
          </p:cNvPr>
          <p:cNvSpPr>
            <a:spLocks xmlns:a="http://schemas.openxmlformats.org/drawingml/2006/main" noGrp="1"/>
          </p:cNvSpPr>
          <p:nvPr/>
        </p:nvSpPr>
        <p:spPr>
          <a:xfrm xmlns:a="http://schemas.openxmlformats.org/drawingml/2006/main">
            <a:off x="4714875" y="1571625"/>
            <a:ext cx="3143250" cy="590550"/>
          </a:xfrm>
          <a:prstGeom xmlns:a="http://schemas.openxmlformats.org/drawingml/2006/main" prst="rect">
            <a:avLst/>
          </a:prstGeom>
          <a:solidFill xmlns:a="http://schemas.openxmlformats.org/drawingml/2006/main">
            <a:srgbClr val="111827"/>
          </a:solidFill>
          <a:ln xmlns:a="http://schemas.openxmlformats.org/drawingml/2006/main" w="9525">
            <a:solidFill>
              <a:srgbClr val="FFFFFF"/>
            </a:solidFill>
            <a:prstDash val="solid"/>
          </a:ln>
        </p:spPr>
        <p:txBody>
          <a:bodyPr xmlns:a="http://schemas.openxmlformats.org/drawingml/2006/main"/>
          <a:lstStyle xmlns:a="http://schemas.openxmlformats.org/drawingml/2006/main"/>
          <a:p xmlns:a="http://schemas.openxmlformats.org/drawingml/2006/main">
            <a:endParaRPr/>
          </a:p>
        </p:txBody>
      </p:sp>
      <p:sp>
        <p:nvSpPr>
          <p:cNvPr id="10" name="正方形/長方形 9">
            <a:extLst xmlns:a="http://schemas.openxmlformats.org/drawingml/2006/main">
              <a:ext uri="{FF2B5EF4-FFF2-40B4-BE49-F238E27FC236}">
                <a16:creationId xmlns:a16="http://schemas.microsoft.com/office/drawing/2014/main" id="{7599ABB1-4E90-405D-91BA-39D9355E7AB8}"/>
              </a:ext>
            </a:extLst>
          </p:cNvPr>
          <p:cNvSpPr>
            <a:spLocks xmlns:a="http://schemas.openxmlformats.org/drawingml/2006/main" noGrp="1"/>
          </p:cNvSpPr>
          <p:nvPr/>
        </p:nvSpPr>
        <p:spPr>
          <a:xfrm xmlns:a="http://schemas.openxmlformats.org/drawingml/2006/main">
            <a:off x="4810125" y="1743075"/>
            <a:ext cx="2952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buNone/>
              <a:defRPr sz="1425" b="1">
                <a:solidFill>
                  <a:srgbClr val="FFFFFF"/>
                </a:solidFill>
                <a:latin typeface="Yu Gothic"/>
                <a:ea typeface="Yu Gothic"/>
                <a:cs typeface="Yu Gothic"/>
              </a:defRPr>
            </a:pPr>
            <a:r>
              <a:rPr sz="1425" b="1">
                <a:solidFill>
                  <a:srgbClr val="FFFFFF"/>
                </a:solidFill>
                <a:latin typeface="Yu Gothic"/>
                <a:ea typeface="Yu Gothic"/>
                <a:cs typeface="Yu Gothic"/>
              </a:rPr>
              <a:t>多クラスの扱い</a:t>
            </a:r>
          </a:p>
        </p:txBody>
      </p:sp>
      <p:sp>
        <p:nvSpPr>
          <p:cNvPr id="11" name="正方形/長方形 10">
            <a:extLst xmlns:a="http://schemas.openxmlformats.org/drawingml/2006/main">
              <a:ext uri="{FF2B5EF4-FFF2-40B4-BE49-F238E27FC236}">
                <a16:creationId xmlns:a16="http://schemas.microsoft.com/office/drawing/2014/main" id="{99FC902F-EF5F-4D40-885A-308E1DC6322C}"/>
              </a:ext>
            </a:extLst>
          </p:cNvPr>
          <p:cNvSpPr>
            <a:spLocks xmlns:a="http://schemas.openxmlformats.org/drawingml/2006/main" noGrp="1"/>
          </p:cNvSpPr>
          <p:nvPr/>
        </p:nvSpPr>
        <p:spPr>
          <a:xfrm xmlns:a="http://schemas.openxmlformats.org/drawingml/2006/main">
            <a:off x="7858125" y="1571625"/>
            <a:ext cx="3571875" cy="590550"/>
          </a:xfrm>
          <a:prstGeom xmlns:a="http://schemas.openxmlformats.org/drawingml/2006/main" prst="rect">
            <a:avLst/>
          </a:prstGeom>
          <a:solidFill xmlns:a="http://schemas.openxmlformats.org/drawingml/2006/main">
            <a:srgbClr val="111827"/>
          </a:solidFill>
          <a:ln xmlns:a="http://schemas.openxmlformats.org/drawingml/2006/main" w="9525">
            <a:solidFill>
              <a:srgbClr val="FFFFFF"/>
            </a:solidFill>
            <a:prstDash val="solid"/>
          </a:ln>
        </p:spPr>
        <p:txBody>
          <a:bodyPr xmlns:a="http://schemas.openxmlformats.org/drawingml/2006/main"/>
          <a:lstStyle xmlns:a="http://schemas.openxmlformats.org/drawingml/2006/main"/>
          <a:p xmlns:a="http://schemas.openxmlformats.org/drawingml/2006/main">
            <a:endParaRPr/>
          </a:p>
        </p:txBody>
      </p:sp>
      <p:sp>
        <p:nvSpPr>
          <p:cNvPr id="12" name="正方形/長方形 11">
            <a:extLst xmlns:a="http://schemas.openxmlformats.org/drawingml/2006/main">
              <a:ext uri="{FF2B5EF4-FFF2-40B4-BE49-F238E27FC236}">
                <a16:creationId xmlns:a16="http://schemas.microsoft.com/office/drawing/2014/main" id="{B0446379-3A8C-4223-B07F-EE8F68D545EF}"/>
              </a:ext>
            </a:extLst>
          </p:cNvPr>
          <p:cNvSpPr>
            <a:spLocks xmlns:a="http://schemas.openxmlformats.org/drawingml/2006/main" noGrp="1"/>
          </p:cNvSpPr>
          <p:nvPr/>
        </p:nvSpPr>
        <p:spPr>
          <a:xfrm xmlns:a="http://schemas.openxmlformats.org/drawingml/2006/main">
            <a:off x="7953375" y="1743075"/>
            <a:ext cx="33813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buNone/>
              <a:defRPr sz="1425" b="1">
                <a:solidFill>
                  <a:srgbClr val="FFFFFF"/>
                </a:solidFill>
                <a:latin typeface="Yu Gothic"/>
                <a:ea typeface="Yu Gothic"/>
                <a:cs typeface="Yu Gothic"/>
              </a:defRPr>
            </a:pPr>
            <a:r>
              <a:rPr sz="1425" b="1">
                <a:solidFill>
                  <a:srgbClr val="FFFFFF"/>
                </a:solidFill>
                <a:latin typeface="Yu Gothic"/>
                <a:ea typeface="Yu Gothic"/>
                <a:cs typeface="Yu Gothic"/>
              </a:rPr>
              <a:t>主な出力</a:t>
            </a:r>
          </a:p>
        </p:txBody>
      </p:sp>
      <p:sp>
        <p:nvSpPr>
          <p:cNvPr id="13" name="正方形/長方形 12">
            <a:extLst xmlns:a="http://schemas.openxmlformats.org/drawingml/2006/main">
              <a:ext uri="{FF2B5EF4-FFF2-40B4-BE49-F238E27FC236}">
                <a16:creationId xmlns:a16="http://schemas.microsoft.com/office/drawing/2014/main" id="{BDA4E495-E36F-4466-A7D3-AD120EF08254}"/>
              </a:ext>
            </a:extLst>
          </p:cNvPr>
          <p:cNvSpPr>
            <a:spLocks xmlns:a="http://schemas.openxmlformats.org/drawingml/2006/main" noGrp="1"/>
          </p:cNvSpPr>
          <p:nvPr/>
        </p:nvSpPr>
        <p:spPr>
          <a:xfrm xmlns:a="http://schemas.openxmlformats.org/drawingml/2006/main">
            <a:off x="523875" y="2162175"/>
            <a:ext cx="1619250" cy="1028700"/>
          </a:xfrm>
          <a:prstGeom xmlns:a="http://schemas.openxmlformats.org/drawingml/2006/main" prst="rect">
            <a:avLst/>
          </a:prstGeom>
          <a:solidFill xmlns:a="http://schemas.openxmlformats.org/drawingml/2006/main">
            <a:srgbClr val="DBEAFE"/>
          </a:solidFill>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endParaRPr/>
          </a:p>
        </p:txBody>
      </p:sp>
      <p:sp>
        <p:nvSpPr>
          <p:cNvPr id="14" name="正方形/長方形 13">
            <a:extLst xmlns:a="http://schemas.openxmlformats.org/drawingml/2006/main">
              <a:ext uri="{FF2B5EF4-FFF2-40B4-BE49-F238E27FC236}">
                <a16:creationId xmlns:a16="http://schemas.microsoft.com/office/drawing/2014/main" id="{985BBEC6-E716-46E9-9C35-10DF6FC0D35C}"/>
              </a:ext>
            </a:extLst>
          </p:cNvPr>
          <p:cNvSpPr>
            <a:spLocks xmlns:a="http://schemas.openxmlformats.org/drawingml/2006/main" noGrp="1"/>
          </p:cNvSpPr>
          <p:nvPr/>
        </p:nvSpPr>
        <p:spPr>
          <a:xfrm xmlns:a="http://schemas.openxmlformats.org/drawingml/2006/main">
            <a:off x="657225" y="2314575"/>
            <a:ext cx="13525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ctr">
              <a:buNone/>
              <a:defRPr sz="1575" b="1">
                <a:solidFill>
                  <a:srgbClr val="111827"/>
                </a:solidFill>
                <a:latin typeface="Yu Gothic"/>
                <a:ea typeface="Yu Gothic"/>
                <a:cs typeface="Yu Gothic"/>
              </a:defRPr>
            </a:pPr>
            <a:r>
              <a:rPr sz="1575" b="1">
                <a:solidFill>
                  <a:srgbClr val="111827"/>
                </a:solidFill>
                <a:latin typeface="Yu Gothic"/>
                <a:ea typeface="Yu Gothic"/>
                <a:cs typeface="Yu Gothic"/>
              </a:rPr>
              <a:t>LIME</a:t>
            </a:r>
          </a:p>
        </p:txBody>
      </p:sp>
      <p:sp>
        <p:nvSpPr>
          <p:cNvPr id="15" name="正方形/長方形 14">
            <a:extLst xmlns:a="http://schemas.openxmlformats.org/drawingml/2006/main">
              <a:ext uri="{FF2B5EF4-FFF2-40B4-BE49-F238E27FC236}">
                <a16:creationId xmlns:a16="http://schemas.microsoft.com/office/drawing/2014/main" id="{E61ADC5E-0110-46E5-97DC-1189DC88BB69}"/>
              </a:ext>
            </a:extLst>
          </p:cNvPr>
          <p:cNvSpPr>
            <a:spLocks xmlns:a="http://schemas.openxmlformats.org/drawingml/2006/main" noGrp="1"/>
          </p:cNvSpPr>
          <p:nvPr/>
        </p:nvSpPr>
        <p:spPr>
          <a:xfrm xmlns:a="http://schemas.openxmlformats.org/drawingml/2006/main">
            <a:off x="2143125" y="2162175"/>
            <a:ext cx="2571750" cy="1028700"/>
          </a:xfrm>
          <a:prstGeom xmlns:a="http://schemas.openxmlformats.org/drawingml/2006/main" prst="rect">
            <a:avLst/>
          </a:prstGeom>
          <a:solidFill xmlns:a="http://schemas.openxmlformats.org/drawingml/2006/main">
            <a:srgbClr val="FFFFFF"/>
          </a:solidFill>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endParaRPr/>
          </a:p>
        </p:txBody>
      </p:sp>
      <p:sp>
        <p:nvSpPr>
          <p:cNvPr id="16" name="正方形/長方形 15">
            <a:extLst xmlns:a="http://schemas.openxmlformats.org/drawingml/2006/main">
              <a:ext uri="{FF2B5EF4-FFF2-40B4-BE49-F238E27FC236}">
                <a16:creationId xmlns:a16="http://schemas.microsoft.com/office/drawing/2014/main" id="{EB29DA4B-BBFD-4BF0-A82D-6D0B02EBC78B}"/>
              </a:ext>
            </a:extLst>
          </p:cNvPr>
          <p:cNvSpPr>
            <a:spLocks xmlns:a="http://schemas.openxmlformats.org/drawingml/2006/main" noGrp="1"/>
          </p:cNvSpPr>
          <p:nvPr/>
        </p:nvSpPr>
        <p:spPr>
          <a:xfrm xmlns:a="http://schemas.openxmlformats.org/drawingml/2006/main">
            <a:off x="2276475" y="2314575"/>
            <a:ext cx="23050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buNone/>
              <a:defRPr sz="1350" b="0">
                <a:solidFill>
                  <a:srgbClr val="111827"/>
                </a:solidFill>
                <a:latin typeface="Yu Gothic"/>
                <a:ea typeface="Yu Gothic"/>
                <a:cs typeface="Yu Gothic"/>
              </a:defRPr>
            </a:pPr>
            <a:r>
              <a:rPr sz="1350" b="0">
                <a:solidFill>
                  <a:srgbClr val="111827"/>
                </a:solidFill>
                <a:latin typeface="Yu Gothic"/>
                <a:ea typeface="Yu Gothic"/>
                <a:cs typeface="Yu Gothic"/>
              </a:rPr>
              <a:t>各クラスの予測確率</a:t>
            </a:r>
          </a:p>
        </p:txBody>
      </p:sp>
      <p:sp>
        <p:nvSpPr>
          <p:cNvPr id="17" name="正方形/長方形 16">
            <a:extLst xmlns:a="http://schemas.openxmlformats.org/drawingml/2006/main">
              <a:ext uri="{FF2B5EF4-FFF2-40B4-BE49-F238E27FC236}">
                <a16:creationId xmlns:a16="http://schemas.microsoft.com/office/drawing/2014/main" id="{DB212EE6-E345-48BB-BA9E-E244CD8C7C89}"/>
              </a:ext>
            </a:extLst>
          </p:cNvPr>
          <p:cNvSpPr>
            <a:spLocks xmlns:a="http://schemas.openxmlformats.org/drawingml/2006/main" noGrp="1"/>
          </p:cNvSpPr>
          <p:nvPr/>
        </p:nvSpPr>
        <p:spPr>
          <a:xfrm xmlns:a="http://schemas.openxmlformats.org/drawingml/2006/main">
            <a:off x="4714875" y="2162175"/>
            <a:ext cx="3143250" cy="1028700"/>
          </a:xfrm>
          <a:prstGeom xmlns:a="http://schemas.openxmlformats.org/drawingml/2006/main" prst="rect">
            <a:avLst/>
          </a:prstGeom>
          <a:solidFill xmlns:a="http://schemas.openxmlformats.org/drawingml/2006/main">
            <a:srgbClr val="FFFFFF"/>
          </a:solidFill>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endParaRPr/>
          </a:p>
        </p:txBody>
      </p:sp>
      <p:sp>
        <p:nvSpPr>
          <p:cNvPr id="18" name="正方形/長方形 17">
            <a:extLst xmlns:a="http://schemas.openxmlformats.org/drawingml/2006/main">
              <a:ext uri="{FF2B5EF4-FFF2-40B4-BE49-F238E27FC236}">
                <a16:creationId xmlns:a16="http://schemas.microsoft.com/office/drawing/2014/main" id="{1755179E-27EC-4FA0-A501-3D5D4A8B178B}"/>
              </a:ext>
            </a:extLst>
          </p:cNvPr>
          <p:cNvSpPr>
            <a:spLocks xmlns:a="http://schemas.openxmlformats.org/drawingml/2006/main" noGrp="1"/>
          </p:cNvSpPr>
          <p:nvPr/>
        </p:nvSpPr>
        <p:spPr>
          <a:xfrm xmlns:a="http://schemas.openxmlformats.org/drawingml/2006/main">
            <a:off x="4848225" y="2314575"/>
            <a:ext cx="28765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buNone/>
              <a:defRPr sz="1350" b="0">
                <a:solidFill>
                  <a:srgbClr val="111827"/>
                </a:solidFill>
                <a:latin typeface="Yu Gothic"/>
                <a:ea typeface="Yu Gothic"/>
                <a:cs typeface="Yu Gothic"/>
              </a:defRPr>
            </a:pPr>
            <a:r>
              <a:rPr sz="1350" b="0">
                <a:solidFill>
                  <a:srgbClr val="111827"/>
                </a:solidFill>
                <a:latin typeface="Yu Gothic"/>
                <a:ea typeface="Yu Gothic"/>
                <a:cs typeface="Yu Gothic"/>
              </a:rPr>
              <a:t>クラスごとに別々</a:t>
            </a:r>
          </a:p>
        </p:txBody>
      </p:sp>
      <p:sp>
        <p:nvSpPr>
          <p:cNvPr id="19" name="正方形/長方形 18">
            <a:extLst xmlns:a="http://schemas.openxmlformats.org/drawingml/2006/main">
              <a:ext uri="{FF2B5EF4-FFF2-40B4-BE49-F238E27FC236}">
                <a16:creationId xmlns:a16="http://schemas.microsoft.com/office/drawing/2014/main" id="{74DE4212-3E73-4EE4-86FD-038BFF1A603B}"/>
              </a:ext>
            </a:extLst>
          </p:cNvPr>
          <p:cNvSpPr>
            <a:spLocks xmlns:a="http://schemas.openxmlformats.org/drawingml/2006/main" noGrp="1"/>
          </p:cNvSpPr>
          <p:nvPr/>
        </p:nvSpPr>
        <p:spPr>
          <a:xfrm xmlns:a="http://schemas.openxmlformats.org/drawingml/2006/main">
            <a:off x="7858125" y="2162175"/>
            <a:ext cx="3571875" cy="1028700"/>
          </a:xfrm>
          <a:prstGeom xmlns:a="http://schemas.openxmlformats.org/drawingml/2006/main" prst="rect">
            <a:avLst/>
          </a:prstGeom>
          <a:solidFill xmlns:a="http://schemas.openxmlformats.org/drawingml/2006/main">
            <a:srgbClr val="FFFFFF"/>
          </a:solidFill>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endParaRPr/>
          </a:p>
        </p:txBody>
      </p:sp>
      <p:sp>
        <p:nvSpPr>
          <p:cNvPr id="20" name="正方形/長方形 19">
            <a:extLst xmlns:a="http://schemas.openxmlformats.org/drawingml/2006/main">
              <a:ext uri="{FF2B5EF4-FFF2-40B4-BE49-F238E27FC236}">
                <a16:creationId xmlns:a16="http://schemas.microsoft.com/office/drawing/2014/main" id="{E6D535A0-010C-433D-94C3-908060270314}"/>
              </a:ext>
            </a:extLst>
          </p:cNvPr>
          <p:cNvSpPr>
            <a:spLocks xmlns:a="http://schemas.openxmlformats.org/drawingml/2006/main" noGrp="1"/>
          </p:cNvSpPr>
          <p:nvPr/>
        </p:nvSpPr>
        <p:spPr>
          <a:xfrm xmlns:a="http://schemas.openxmlformats.org/drawingml/2006/main">
            <a:off x="7991475" y="2314575"/>
            <a:ext cx="3305175"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buNone/>
              <a:defRPr sz="1350" b="0">
                <a:solidFill>
                  <a:srgbClr val="111827"/>
                </a:solidFill>
                <a:latin typeface="Yu Gothic"/>
                <a:ea typeface="Yu Gothic"/>
                <a:cs typeface="Yu Gothic"/>
              </a:defRPr>
            </a:pPr>
            <a:r>
              <a:rPr sz="1350" b="0">
                <a:solidFill>
                  <a:srgbClr val="111827"/>
                </a:solidFill>
                <a:latin typeface="Yu Gothic"/>
                <a:ea typeface="Yu Gothic"/>
                <a:cs typeface="Yu Gothic"/>
              </a:rPr>
              <a:t>特徴量の重み</a:t>
            </a:r>
          </a:p>
        </p:txBody>
      </p:sp>
      <p:sp>
        <p:nvSpPr>
          <p:cNvPr id="21" name="正方形/長方形 20">
            <a:extLst xmlns:a="http://schemas.openxmlformats.org/drawingml/2006/main">
              <a:ext uri="{FF2B5EF4-FFF2-40B4-BE49-F238E27FC236}">
                <a16:creationId xmlns:a16="http://schemas.microsoft.com/office/drawing/2014/main" id="{A932A79C-934D-4589-9953-9F864025BF60}"/>
              </a:ext>
            </a:extLst>
          </p:cNvPr>
          <p:cNvSpPr>
            <a:spLocks xmlns:a="http://schemas.openxmlformats.org/drawingml/2006/main" noGrp="1"/>
          </p:cNvSpPr>
          <p:nvPr/>
        </p:nvSpPr>
        <p:spPr>
          <a:xfrm xmlns:a="http://schemas.openxmlformats.org/drawingml/2006/main">
            <a:off x="523875" y="3190875"/>
            <a:ext cx="1619250" cy="1028700"/>
          </a:xfrm>
          <a:prstGeom xmlns:a="http://schemas.openxmlformats.org/drawingml/2006/main" prst="rect">
            <a:avLst/>
          </a:prstGeom>
          <a:solidFill xmlns:a="http://schemas.openxmlformats.org/drawingml/2006/main">
            <a:srgbClr val="D1FAE5"/>
          </a:solidFill>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endParaRPr/>
          </a:p>
        </p:txBody>
      </p:sp>
      <p:sp>
        <p:nvSpPr>
          <p:cNvPr id="22" name="正方形/長方形 21">
            <a:extLst xmlns:a="http://schemas.openxmlformats.org/drawingml/2006/main">
              <a:ext uri="{FF2B5EF4-FFF2-40B4-BE49-F238E27FC236}">
                <a16:creationId xmlns:a16="http://schemas.microsoft.com/office/drawing/2014/main" id="{BAFE2D53-7C86-46CA-82B9-AE3C99E45B9D}"/>
              </a:ext>
            </a:extLst>
          </p:cNvPr>
          <p:cNvSpPr>
            <a:spLocks xmlns:a="http://schemas.openxmlformats.org/drawingml/2006/main" noGrp="1"/>
          </p:cNvSpPr>
          <p:nvPr/>
        </p:nvSpPr>
        <p:spPr>
          <a:xfrm xmlns:a="http://schemas.openxmlformats.org/drawingml/2006/main">
            <a:off x="657225" y="3343275"/>
            <a:ext cx="13525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ctr">
              <a:buNone/>
              <a:defRPr sz="1575" b="1">
                <a:solidFill>
                  <a:srgbClr val="111827"/>
                </a:solidFill>
                <a:latin typeface="Yu Gothic"/>
                <a:ea typeface="Yu Gothic"/>
                <a:cs typeface="Yu Gothic"/>
              </a:defRPr>
            </a:pPr>
            <a:r>
              <a:rPr sz="1575" b="1">
                <a:solidFill>
                  <a:srgbClr val="111827"/>
                </a:solidFill>
                <a:latin typeface="Yu Gothic"/>
                <a:ea typeface="Yu Gothic"/>
                <a:cs typeface="Yu Gothic"/>
              </a:rPr>
              <a:t>LIMEtree</a:t>
            </a:r>
          </a:p>
        </p:txBody>
      </p:sp>
      <p:sp>
        <p:nvSpPr>
          <p:cNvPr id="23" name="正方形/長方形 22">
            <a:extLst xmlns:a="http://schemas.openxmlformats.org/drawingml/2006/main">
              <a:ext uri="{FF2B5EF4-FFF2-40B4-BE49-F238E27FC236}">
                <a16:creationId xmlns:a16="http://schemas.microsoft.com/office/drawing/2014/main" id="{88E230D1-3706-4FA9-B52E-4C049D33DAEF}"/>
              </a:ext>
            </a:extLst>
          </p:cNvPr>
          <p:cNvSpPr>
            <a:spLocks xmlns:a="http://schemas.openxmlformats.org/drawingml/2006/main" noGrp="1"/>
          </p:cNvSpPr>
          <p:nvPr/>
        </p:nvSpPr>
        <p:spPr>
          <a:xfrm xmlns:a="http://schemas.openxmlformats.org/drawingml/2006/main">
            <a:off x="2143125" y="3190875"/>
            <a:ext cx="2571750" cy="1028700"/>
          </a:xfrm>
          <a:prstGeom xmlns:a="http://schemas.openxmlformats.org/drawingml/2006/main" prst="rect">
            <a:avLst/>
          </a:prstGeom>
          <a:solidFill xmlns:a="http://schemas.openxmlformats.org/drawingml/2006/main">
            <a:srgbClr val="FFFFFF"/>
          </a:solidFill>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endParaRPr/>
          </a:p>
        </p:txBody>
      </p:sp>
      <p:sp>
        <p:nvSpPr>
          <p:cNvPr id="24" name="正方形/長方形 23">
            <a:extLst xmlns:a="http://schemas.openxmlformats.org/drawingml/2006/main">
              <a:ext uri="{FF2B5EF4-FFF2-40B4-BE49-F238E27FC236}">
                <a16:creationId xmlns:a16="http://schemas.microsoft.com/office/drawing/2014/main" id="{37AAAD17-B781-4071-B646-D8F7E3E236B0}"/>
              </a:ext>
            </a:extLst>
          </p:cNvPr>
          <p:cNvSpPr>
            <a:spLocks xmlns:a="http://schemas.openxmlformats.org/drawingml/2006/main" noGrp="1"/>
          </p:cNvSpPr>
          <p:nvPr/>
        </p:nvSpPr>
        <p:spPr>
          <a:xfrm xmlns:a="http://schemas.openxmlformats.org/drawingml/2006/main">
            <a:off x="2276475" y="3343275"/>
            <a:ext cx="23050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buNone/>
              <a:defRPr sz="1350" b="0">
                <a:solidFill>
                  <a:srgbClr val="111827"/>
                </a:solidFill>
                <a:latin typeface="Yu Gothic"/>
                <a:ea typeface="Yu Gothic"/>
                <a:cs typeface="Yu Gothic"/>
              </a:defRPr>
            </a:pPr>
            <a:r>
              <a:rPr sz="1350" b="0">
                <a:solidFill>
                  <a:srgbClr val="111827"/>
                </a:solidFill>
                <a:latin typeface="Yu Gothic"/>
                <a:ea typeface="Yu Gothic"/>
                <a:cs typeface="Yu Gothic"/>
              </a:rPr>
              <a:t>全クラスの予測確率</a:t>
            </a:r>
          </a:p>
        </p:txBody>
      </p:sp>
      <p:sp>
        <p:nvSpPr>
          <p:cNvPr id="25" name="正方形/長方形 24">
            <a:extLst xmlns:a="http://schemas.openxmlformats.org/drawingml/2006/main">
              <a:ext uri="{FF2B5EF4-FFF2-40B4-BE49-F238E27FC236}">
                <a16:creationId xmlns:a16="http://schemas.microsoft.com/office/drawing/2014/main" id="{1140082C-77EA-474B-92C8-59911E4F65E4}"/>
              </a:ext>
            </a:extLst>
          </p:cNvPr>
          <p:cNvSpPr>
            <a:spLocks xmlns:a="http://schemas.openxmlformats.org/drawingml/2006/main" noGrp="1"/>
          </p:cNvSpPr>
          <p:nvPr/>
        </p:nvSpPr>
        <p:spPr>
          <a:xfrm xmlns:a="http://schemas.openxmlformats.org/drawingml/2006/main">
            <a:off x="4714875" y="3190875"/>
            <a:ext cx="3143250" cy="1028700"/>
          </a:xfrm>
          <a:prstGeom xmlns:a="http://schemas.openxmlformats.org/drawingml/2006/main" prst="rect">
            <a:avLst/>
          </a:prstGeom>
          <a:solidFill xmlns:a="http://schemas.openxmlformats.org/drawingml/2006/main">
            <a:srgbClr val="FFFFFF"/>
          </a:solidFill>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endParaRPr/>
          </a:p>
        </p:txBody>
      </p:sp>
      <p:sp>
        <p:nvSpPr>
          <p:cNvPr id="26" name="正方形/長方形 25">
            <a:extLst xmlns:a="http://schemas.openxmlformats.org/drawingml/2006/main">
              <a:ext uri="{FF2B5EF4-FFF2-40B4-BE49-F238E27FC236}">
                <a16:creationId xmlns:a16="http://schemas.microsoft.com/office/drawing/2014/main" id="{7745459C-1285-43F1-87CD-49527390771C}"/>
              </a:ext>
            </a:extLst>
          </p:cNvPr>
          <p:cNvSpPr>
            <a:spLocks xmlns:a="http://schemas.openxmlformats.org/drawingml/2006/main" noGrp="1"/>
          </p:cNvSpPr>
          <p:nvPr/>
        </p:nvSpPr>
        <p:spPr>
          <a:xfrm xmlns:a="http://schemas.openxmlformats.org/drawingml/2006/main">
            <a:off x="4848225" y="3343275"/>
            <a:ext cx="28765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buNone/>
              <a:defRPr sz="1350" b="0">
                <a:solidFill>
                  <a:srgbClr val="111827"/>
                </a:solidFill>
                <a:latin typeface="Yu Gothic"/>
                <a:ea typeface="Yu Gothic"/>
                <a:cs typeface="Yu Gothic"/>
              </a:defRPr>
            </a:pPr>
            <a:r>
              <a:rPr sz="1350" b="0">
                <a:solidFill>
                  <a:srgbClr val="111827"/>
                </a:solidFill>
                <a:latin typeface="Yu Gothic"/>
                <a:ea typeface="Yu Gothic"/>
                <a:cs typeface="Yu Gothic"/>
              </a:rPr>
              <a:t>共通の木で同時に扱う</a:t>
            </a:r>
          </a:p>
        </p:txBody>
      </p:sp>
      <p:sp>
        <p:nvSpPr>
          <p:cNvPr id="27" name="正方形/長方形 26">
            <a:extLst xmlns:a="http://schemas.openxmlformats.org/drawingml/2006/main">
              <a:ext uri="{FF2B5EF4-FFF2-40B4-BE49-F238E27FC236}">
                <a16:creationId xmlns:a16="http://schemas.microsoft.com/office/drawing/2014/main" id="{19D7643C-DC88-4F4C-8DD3-CAFE1825AB8F}"/>
              </a:ext>
            </a:extLst>
          </p:cNvPr>
          <p:cNvSpPr>
            <a:spLocks xmlns:a="http://schemas.openxmlformats.org/drawingml/2006/main" noGrp="1"/>
          </p:cNvSpPr>
          <p:nvPr/>
        </p:nvSpPr>
        <p:spPr>
          <a:xfrm xmlns:a="http://schemas.openxmlformats.org/drawingml/2006/main">
            <a:off x="7858125" y="3190875"/>
            <a:ext cx="3571875" cy="1028700"/>
          </a:xfrm>
          <a:prstGeom xmlns:a="http://schemas.openxmlformats.org/drawingml/2006/main" prst="rect">
            <a:avLst/>
          </a:prstGeom>
          <a:solidFill xmlns:a="http://schemas.openxmlformats.org/drawingml/2006/main">
            <a:srgbClr val="FFFFFF"/>
          </a:solidFill>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endParaRPr/>
          </a:p>
        </p:txBody>
      </p:sp>
      <p:sp>
        <p:nvSpPr>
          <p:cNvPr id="28" name="正方形/長方形 27">
            <a:extLst xmlns:a="http://schemas.openxmlformats.org/drawingml/2006/main">
              <a:ext uri="{FF2B5EF4-FFF2-40B4-BE49-F238E27FC236}">
                <a16:creationId xmlns:a16="http://schemas.microsoft.com/office/drawing/2014/main" id="{3959273A-3770-4787-BC0E-F196F33A4FF8}"/>
              </a:ext>
            </a:extLst>
          </p:cNvPr>
          <p:cNvSpPr>
            <a:spLocks xmlns:a="http://schemas.openxmlformats.org/drawingml/2006/main" noGrp="1"/>
          </p:cNvSpPr>
          <p:nvPr/>
        </p:nvSpPr>
        <p:spPr>
          <a:xfrm xmlns:a="http://schemas.openxmlformats.org/drawingml/2006/main">
            <a:off x="7991475" y="3343275"/>
            <a:ext cx="3305175"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buNone/>
              <a:defRPr sz="1350" b="0">
                <a:solidFill>
                  <a:srgbClr val="111827"/>
                </a:solidFill>
                <a:latin typeface="Yu Gothic"/>
                <a:ea typeface="Yu Gothic"/>
                <a:cs typeface="Yu Gothic"/>
              </a:defRPr>
            </a:pPr>
            <a:r>
              <a:rPr sz="1350" b="0">
                <a:solidFill>
                  <a:srgbClr val="111827"/>
                </a:solidFill>
                <a:latin typeface="Yu Gothic"/>
                <a:ea typeface="Yu Gothic"/>
                <a:cs typeface="Yu Gothic"/>
              </a:rPr>
              <a:t>ルール・対比・反実仮想</a:t>
            </a:r>
          </a:p>
        </p:txBody>
      </p:sp>
      <p:sp>
        <p:nvSpPr>
          <p:cNvPr id="29" name="正方形/長方形 28">
            <a:extLst xmlns:a="http://schemas.openxmlformats.org/drawingml/2006/main">
              <a:ext uri="{FF2B5EF4-FFF2-40B4-BE49-F238E27FC236}">
                <a16:creationId xmlns:a16="http://schemas.microsoft.com/office/drawing/2014/main" id="{E9B7CD27-4623-4ECE-A24A-58AEEF8E593D}"/>
              </a:ext>
            </a:extLst>
          </p:cNvPr>
          <p:cNvSpPr>
            <a:spLocks xmlns:a="http://schemas.openxmlformats.org/drawingml/2006/main" noGrp="1"/>
          </p:cNvSpPr>
          <p:nvPr/>
        </p:nvSpPr>
        <p:spPr>
          <a:xfrm xmlns:a="http://schemas.openxmlformats.org/drawingml/2006/main">
            <a:off x="523875" y="4219575"/>
            <a:ext cx="1619250" cy="1028700"/>
          </a:xfrm>
          <a:prstGeom xmlns:a="http://schemas.openxmlformats.org/drawingml/2006/main" prst="rect">
            <a:avLst/>
          </a:prstGeom>
          <a:solidFill xmlns:a="http://schemas.openxmlformats.org/drawingml/2006/main">
            <a:srgbClr val="FEF3C7"/>
          </a:solidFill>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endParaRPr/>
          </a:p>
        </p:txBody>
      </p:sp>
      <p:sp>
        <p:nvSpPr>
          <p:cNvPr id="30" name="正方形/長方形 29">
            <a:extLst xmlns:a="http://schemas.openxmlformats.org/drawingml/2006/main">
              <a:ext uri="{FF2B5EF4-FFF2-40B4-BE49-F238E27FC236}">
                <a16:creationId xmlns:a16="http://schemas.microsoft.com/office/drawing/2014/main" id="{DE7CD972-6192-46BE-BF6A-0B66DAD0F84C}"/>
              </a:ext>
            </a:extLst>
          </p:cNvPr>
          <p:cNvSpPr>
            <a:spLocks xmlns:a="http://schemas.openxmlformats.org/drawingml/2006/main" noGrp="1"/>
          </p:cNvSpPr>
          <p:nvPr/>
        </p:nvSpPr>
        <p:spPr>
          <a:xfrm xmlns:a="http://schemas.openxmlformats.org/drawingml/2006/main">
            <a:off x="657225" y="4371975"/>
            <a:ext cx="13525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ctr">
              <a:buNone/>
              <a:defRPr sz="1575" b="1">
                <a:solidFill>
                  <a:srgbClr val="111827"/>
                </a:solidFill>
                <a:latin typeface="Yu Gothic"/>
                <a:ea typeface="Yu Gothic"/>
                <a:cs typeface="Yu Gothic"/>
              </a:defRPr>
            </a:pPr>
            <a:r>
              <a:rPr sz="1575" b="1">
                <a:solidFill>
                  <a:srgbClr val="111827"/>
                </a:solidFill>
                <a:latin typeface="Yu Gothic"/>
                <a:ea typeface="Yu Gothic"/>
                <a:cs typeface="Yu Gothic"/>
              </a:rPr>
              <a:t>LIPEx</a:t>
            </a:r>
          </a:p>
        </p:txBody>
      </p:sp>
      <p:sp>
        <p:nvSpPr>
          <p:cNvPr id="31" name="正方形/長方形 30">
            <a:extLst xmlns:a="http://schemas.openxmlformats.org/drawingml/2006/main">
              <a:ext uri="{FF2B5EF4-FFF2-40B4-BE49-F238E27FC236}">
                <a16:creationId xmlns:a16="http://schemas.microsoft.com/office/drawing/2014/main" id="{0DBDD7D3-A7AA-4A5D-92E8-EB777A985D3C}"/>
              </a:ext>
            </a:extLst>
          </p:cNvPr>
          <p:cNvSpPr>
            <a:spLocks xmlns:a="http://schemas.openxmlformats.org/drawingml/2006/main" noGrp="1"/>
          </p:cNvSpPr>
          <p:nvPr/>
        </p:nvSpPr>
        <p:spPr>
          <a:xfrm xmlns:a="http://schemas.openxmlformats.org/drawingml/2006/main">
            <a:off x="2143125" y="4219575"/>
            <a:ext cx="2571750" cy="1028700"/>
          </a:xfrm>
          <a:prstGeom xmlns:a="http://schemas.openxmlformats.org/drawingml/2006/main" prst="rect">
            <a:avLst/>
          </a:prstGeom>
          <a:solidFill xmlns:a="http://schemas.openxmlformats.org/drawingml/2006/main">
            <a:srgbClr val="FFFFFF"/>
          </a:solidFill>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endParaRPr/>
          </a:p>
        </p:txBody>
      </p:sp>
      <p:sp>
        <p:nvSpPr>
          <p:cNvPr id="32" name="正方形/長方形 31">
            <a:extLst xmlns:a="http://schemas.openxmlformats.org/drawingml/2006/main">
              <a:ext uri="{FF2B5EF4-FFF2-40B4-BE49-F238E27FC236}">
                <a16:creationId xmlns:a16="http://schemas.microsoft.com/office/drawing/2014/main" id="{991755C1-80E7-4510-A38D-90743F515748}"/>
              </a:ext>
            </a:extLst>
          </p:cNvPr>
          <p:cNvSpPr>
            <a:spLocks xmlns:a="http://schemas.openxmlformats.org/drawingml/2006/main" noGrp="1"/>
          </p:cNvSpPr>
          <p:nvPr/>
        </p:nvSpPr>
        <p:spPr>
          <a:xfrm xmlns:a="http://schemas.openxmlformats.org/drawingml/2006/main">
            <a:off x="2276475" y="4371975"/>
            <a:ext cx="23050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buNone/>
              <a:defRPr sz="1350" b="0">
                <a:solidFill>
                  <a:srgbClr val="111827"/>
                </a:solidFill>
                <a:latin typeface="Yu Gothic"/>
                <a:ea typeface="Yu Gothic"/>
                <a:cs typeface="Yu Gothic"/>
              </a:defRPr>
            </a:pPr>
            <a:r>
              <a:rPr sz="1350" b="0">
                <a:solidFill>
                  <a:srgbClr val="111827"/>
                </a:solidFill>
                <a:latin typeface="Yu Gothic"/>
                <a:ea typeface="Yu Gothic"/>
                <a:cs typeface="Yu Gothic"/>
              </a:rPr>
              <a:t>予測確率分布全体</a:t>
            </a:r>
          </a:p>
        </p:txBody>
      </p:sp>
      <p:sp>
        <p:nvSpPr>
          <p:cNvPr id="33" name="正方形/長方形 32">
            <a:extLst xmlns:a="http://schemas.openxmlformats.org/drawingml/2006/main">
              <a:ext uri="{FF2B5EF4-FFF2-40B4-BE49-F238E27FC236}">
                <a16:creationId xmlns:a16="http://schemas.microsoft.com/office/drawing/2014/main" id="{378C570D-D256-4D3B-A6CB-78284E156250}"/>
              </a:ext>
            </a:extLst>
          </p:cNvPr>
          <p:cNvSpPr>
            <a:spLocks xmlns:a="http://schemas.openxmlformats.org/drawingml/2006/main" noGrp="1"/>
          </p:cNvSpPr>
          <p:nvPr/>
        </p:nvSpPr>
        <p:spPr>
          <a:xfrm xmlns:a="http://schemas.openxmlformats.org/drawingml/2006/main">
            <a:off x="4714875" y="4219575"/>
            <a:ext cx="3143250" cy="1028700"/>
          </a:xfrm>
          <a:prstGeom xmlns:a="http://schemas.openxmlformats.org/drawingml/2006/main" prst="rect">
            <a:avLst/>
          </a:prstGeom>
          <a:solidFill xmlns:a="http://schemas.openxmlformats.org/drawingml/2006/main">
            <a:srgbClr val="FFFFFF"/>
          </a:solidFill>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endParaRPr/>
          </a:p>
        </p:txBody>
      </p:sp>
      <p:sp>
        <p:nvSpPr>
          <p:cNvPr id="34" name="正方形/長方形 33">
            <a:extLst xmlns:a="http://schemas.openxmlformats.org/drawingml/2006/main">
              <a:ext uri="{FF2B5EF4-FFF2-40B4-BE49-F238E27FC236}">
                <a16:creationId xmlns:a16="http://schemas.microsoft.com/office/drawing/2014/main" id="{0FD0D3DD-A4E3-4181-9223-EF74967310AA}"/>
              </a:ext>
            </a:extLst>
          </p:cNvPr>
          <p:cNvSpPr>
            <a:spLocks xmlns:a="http://schemas.openxmlformats.org/drawingml/2006/main" noGrp="1"/>
          </p:cNvSpPr>
          <p:nvPr/>
        </p:nvSpPr>
        <p:spPr>
          <a:xfrm xmlns:a="http://schemas.openxmlformats.org/drawingml/2006/main">
            <a:off x="4848225" y="4371975"/>
            <a:ext cx="28765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buNone/>
              <a:defRPr sz="1350" b="0">
                <a:solidFill>
                  <a:srgbClr val="111827"/>
                </a:solidFill>
                <a:latin typeface="Yu Gothic"/>
                <a:ea typeface="Yu Gothic"/>
                <a:cs typeface="Yu Gothic"/>
              </a:defRPr>
            </a:pPr>
            <a:r>
              <a:rPr sz="1350" b="0">
                <a:solidFill>
                  <a:srgbClr val="111827"/>
                </a:solidFill>
                <a:latin typeface="Yu Gothic"/>
                <a:ea typeface="Yu Gothic"/>
                <a:cs typeface="Yu Gothic"/>
              </a:rPr>
              <a:t>分布として一体に扱う</a:t>
            </a:r>
          </a:p>
        </p:txBody>
      </p:sp>
      <p:sp>
        <p:nvSpPr>
          <p:cNvPr id="35" name="正方形/長方形 34">
            <a:extLst xmlns:a="http://schemas.openxmlformats.org/drawingml/2006/main">
              <a:ext uri="{FF2B5EF4-FFF2-40B4-BE49-F238E27FC236}">
                <a16:creationId xmlns:a16="http://schemas.microsoft.com/office/drawing/2014/main" id="{FFBC04BF-B02D-47BD-8614-512374CCC983}"/>
              </a:ext>
            </a:extLst>
          </p:cNvPr>
          <p:cNvSpPr>
            <a:spLocks xmlns:a="http://schemas.openxmlformats.org/drawingml/2006/main" noGrp="1"/>
          </p:cNvSpPr>
          <p:nvPr/>
        </p:nvSpPr>
        <p:spPr>
          <a:xfrm xmlns:a="http://schemas.openxmlformats.org/drawingml/2006/main">
            <a:off x="7858125" y="4219575"/>
            <a:ext cx="3571875" cy="1028700"/>
          </a:xfrm>
          <a:prstGeom xmlns:a="http://schemas.openxmlformats.org/drawingml/2006/main" prst="rect">
            <a:avLst/>
          </a:prstGeom>
          <a:solidFill xmlns:a="http://schemas.openxmlformats.org/drawingml/2006/main">
            <a:srgbClr val="FFFFFF"/>
          </a:solidFill>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endParaRPr/>
          </a:p>
        </p:txBody>
      </p:sp>
      <p:sp>
        <p:nvSpPr>
          <p:cNvPr id="36" name="正方形/長方形 35">
            <a:extLst xmlns:a="http://schemas.openxmlformats.org/drawingml/2006/main">
              <a:ext uri="{FF2B5EF4-FFF2-40B4-BE49-F238E27FC236}">
                <a16:creationId xmlns:a16="http://schemas.microsoft.com/office/drawing/2014/main" id="{845196F1-9367-4B55-977B-ADA3968E5717}"/>
              </a:ext>
            </a:extLst>
          </p:cNvPr>
          <p:cNvSpPr>
            <a:spLocks xmlns:a="http://schemas.openxmlformats.org/drawingml/2006/main" noGrp="1"/>
          </p:cNvSpPr>
          <p:nvPr/>
        </p:nvSpPr>
        <p:spPr>
          <a:xfrm xmlns:a="http://schemas.openxmlformats.org/drawingml/2006/main">
            <a:off x="7991475" y="4371975"/>
            <a:ext cx="3305175"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buNone/>
              <a:defRPr sz="1350" b="0">
                <a:solidFill>
                  <a:srgbClr val="111827"/>
                </a:solidFill>
                <a:latin typeface="Yu Gothic"/>
                <a:ea typeface="Yu Gothic"/>
                <a:cs typeface="Yu Gothic"/>
              </a:defRPr>
            </a:pPr>
            <a:r>
              <a:rPr sz="1350" b="0">
                <a:solidFill>
                  <a:srgbClr val="111827"/>
                </a:solidFill>
                <a:latin typeface="Yu Gothic"/>
                <a:ea typeface="Yu Gothic"/>
                <a:cs typeface="Yu Gothic"/>
              </a:rPr>
              <a:t>特徴×クラスの説明行列</a:t>
            </a:r>
          </a:p>
        </p:txBody>
      </p:sp>
      <p:sp>
        <p:nvSpPr>
          <p:cNvPr id="37" name="正方形/長方形 36">
            <a:extLst xmlns:a="http://schemas.openxmlformats.org/drawingml/2006/main">
              <a:ext uri="{FF2B5EF4-FFF2-40B4-BE49-F238E27FC236}">
                <a16:creationId xmlns:a16="http://schemas.microsoft.com/office/drawing/2014/main" id="{8BFD742A-B2BE-428B-88F4-4EA497D5FD82}"/>
              </a:ext>
            </a:extLst>
          </p:cNvPr>
          <p:cNvSpPr>
            <a:spLocks xmlns:a="http://schemas.openxmlformats.org/drawingml/2006/main" noGrp="1"/>
          </p:cNvSpPr>
          <p:nvPr/>
        </p:nvSpPr>
        <p:spPr>
          <a:xfrm xmlns:a="http://schemas.openxmlformats.org/drawingml/2006/main">
            <a:off x="523875" y="5476875"/>
            <a:ext cx="10906125" cy="571500"/>
          </a:xfrm>
          <a:prstGeom xmlns:a="http://schemas.openxmlformats.org/drawingml/2006/main" prst="rect">
            <a:avLst/>
          </a:prstGeom>
          <a:solidFill xmlns:a="http://schemas.openxmlformats.org/drawingml/2006/main">
            <a:srgbClr val="F3F4F6"/>
          </a:solidFill>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endParaRPr/>
          </a:p>
        </p:txBody>
      </p:sp>
      <p:sp>
        <p:nvSpPr>
          <p:cNvPr id="38" name="正方形/長方形 37">
            <a:extLst xmlns:a="http://schemas.openxmlformats.org/drawingml/2006/main">
              <a:ext uri="{FF2B5EF4-FFF2-40B4-BE49-F238E27FC236}">
                <a16:creationId xmlns:a16="http://schemas.microsoft.com/office/drawing/2014/main" id="{FCEF841D-31A1-4CCC-ACC3-CB78D95F58FA}"/>
              </a:ext>
            </a:extLst>
          </p:cNvPr>
          <p:cNvSpPr>
            <a:spLocks xmlns:a="http://schemas.openxmlformats.org/drawingml/2006/main" noGrp="1"/>
          </p:cNvSpPr>
          <p:nvPr/>
        </p:nvSpPr>
        <p:spPr>
          <a:xfrm xmlns:a="http://schemas.openxmlformats.org/drawingml/2006/main">
            <a:off x="742950" y="5638800"/>
            <a:ext cx="1047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buNone/>
              <a:defRPr sz="1425" b="1">
                <a:solidFill>
                  <a:srgbClr val="2563EB"/>
                </a:solidFill>
                <a:latin typeface="Yu Gothic"/>
                <a:ea typeface="Yu Gothic"/>
                <a:cs typeface="Yu Gothic"/>
              </a:defRPr>
            </a:pPr>
            <a:r>
              <a:rPr sz="1425" b="1">
                <a:solidFill>
                  <a:srgbClr val="2563EB"/>
                </a:solidFill>
                <a:latin typeface="Yu Gothic"/>
                <a:ea typeface="Yu Gothic"/>
                <a:cs typeface="Yu Gothic"/>
              </a:rPr>
              <a:t>bLIMEy</a:t>
            </a:r>
          </a:p>
        </p:txBody>
      </p:sp>
      <p:sp>
        <p:nvSpPr>
          <p:cNvPr id="39" name="正方形/長方形 38">
            <a:extLst xmlns:a="http://schemas.openxmlformats.org/drawingml/2006/main">
              <a:ext uri="{FF2B5EF4-FFF2-40B4-BE49-F238E27FC236}">
                <a16:creationId xmlns:a16="http://schemas.microsoft.com/office/drawing/2014/main" id="{373C36D6-962F-4A4D-B7C2-D149B088272F}"/>
              </a:ext>
            </a:extLst>
          </p:cNvPr>
          <p:cNvSpPr>
            <a:spLocks xmlns:a="http://schemas.openxmlformats.org/drawingml/2006/main" noGrp="1"/>
          </p:cNvSpPr>
          <p:nvPr/>
        </p:nvSpPr>
        <p:spPr>
          <a:xfrm xmlns:a="http://schemas.openxmlformats.org/drawingml/2006/main">
            <a:off x="1857375" y="5600700"/>
            <a:ext cx="9191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buNone/>
              <a:defRPr sz="1425" b="0">
                <a:solidFill>
                  <a:srgbClr val="111827"/>
                </a:solidFill>
                <a:latin typeface="Yu Gothic"/>
                <a:ea typeface="Yu Gothic"/>
                <a:cs typeface="Yu Gothic"/>
              </a:defRPr>
            </a:pPr>
            <a:r>
              <a:rPr sz="1425" b="0">
                <a:solidFill>
                  <a:srgbClr val="111827"/>
                </a:solidFill>
                <a:latin typeface="Yu Gothic"/>
                <a:ea typeface="Yu Gothic"/>
                <a:cs typeface="Yu Gothic"/>
              </a:rPr>
              <a:t>近傍生成・表現・特徴選択・サロゲートを分解し、LIME型説明器を設計する枠組み</a:t>
            </a:r>
          </a:p>
        </p:txBody>
      </p:sp>
      <p:sp>
        <p:nvSpPr>
          <p:cNvPr id="40" name="正方形/長方形 39">
            <a:extLst xmlns:a="http://schemas.openxmlformats.org/drawingml/2006/main">
              <a:ext uri="{FF2B5EF4-FFF2-40B4-BE49-F238E27FC236}">
                <a16:creationId xmlns:a16="http://schemas.microsoft.com/office/drawing/2014/main" id="{1BC43030-B548-43C0-8E1D-9A5378EE811A}"/>
              </a:ext>
            </a:extLst>
          </p:cNvPr>
          <p:cNvSpPr>
            <a:spLocks xmlns:a="http://schemas.openxmlformats.org/drawingml/2006/main" noGrp="1"/>
          </p:cNvSpPr>
          <p:nvPr/>
        </p:nvSpPr>
        <p:spPr>
          <a:xfrm xmlns:a="http://schemas.openxmlformats.org/drawingml/2006/main">
            <a:off x="7810500" y="6172200"/>
            <a:ext cx="3619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buNone/>
              <a:defRPr sz="975" b="0">
                <a:solidFill>
                  <a:srgbClr val="64748B"/>
                </a:solidFill>
                <a:latin typeface="Yu Gothic"/>
                <a:ea typeface="Yu Gothic"/>
                <a:cs typeface="Yu Gothic"/>
              </a:defRPr>
            </a:pPr>
            <a:r>
              <a:rPr sz="975" b="0">
                <a:solidFill>
                  <a:srgbClr val="64748B"/>
                </a:solidFill>
                <a:latin typeface="Yu Gothic"/>
                <a:ea typeface="Yu Gothic"/>
                <a:cs typeface="Yu Gothic"/>
              </a:rPr>
              <a:t>※ LIPExはICLR 2024 Withdrawn Submission</a:t>
            </a:r>
          </a:p>
        </p:txBody>
      </p:sp>
    </p:spTree>
    <p:extLst>
      <p:ext uri="{BB962C8B-B14F-4D97-AF65-F5344CB8AC3E}">
        <p14:creationId xmlns:p14="http://schemas.microsoft.com/office/powerpoint/2010/main" val="125363173"/>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8" name="正方形/長方形 27">
            <a:extLst xmlns:a="http://schemas.openxmlformats.org/drawingml/2006/main">
              <a:ext uri="{FF2B5EF4-FFF2-40B4-BE49-F238E27FC236}">
                <a16:creationId xmlns:a16="http://schemas.microsoft.com/office/drawing/2014/main" id="{9F8F6CF5-6E34-4103-9083-D040B96B1DEE}"/>
              </a:ext>
            </a:extLst>
          </p:cNvPr>
          <p:cNvSpPr>
            <a:spLocks xmlns:a="http://schemas.openxmlformats.org/drawingml/2006/main" noGrp="1"/>
          </p:cNvSpPr>
          <p:nvPr/>
        </p:nvSpPr>
        <p:spPr>
          <a:xfrm xmlns:a="http://schemas.openxmlformats.org/drawingml/2006/main">
            <a:off x="514350" y="419100"/>
            <a:ext cx="114300" cy="457200"/>
          </a:xfrm>
          <a:prstGeom xmlns:a="http://schemas.openxmlformats.org/drawingml/2006/main" prst="rect">
            <a:avLst/>
          </a:prstGeom>
          <a:solidFill xmlns:a="http://schemas.openxmlformats.org/drawingml/2006/main">
            <a:srgbClr val="2563EB"/>
          </a:solidFill>
          <a:ln xmlns:a="http://schemas.openxmlformats.org/drawingml/2006/main" w="0">
            <a:solidFill>
              <a:srgbClr val="2563EB"/>
            </a:solidFill>
            <a:prstDash val="solid"/>
          </a:ln>
        </p:spPr>
        <p:txBody>
          <a:bodyPr xmlns:a="http://schemas.openxmlformats.org/drawingml/2006/main"/>
          <a:lstStyle xmlns:a="http://schemas.openxmlformats.org/drawingml/2006/main"/>
          <a:p xmlns:a="http://schemas.openxmlformats.org/drawingml/2006/main">
            <a:endParaRPr/>
          </a:p>
        </p:txBody>
      </p:sp>
      <p:sp>
        <p:nvSpPr>
          <p:cNvPr id="2" name="slide-10-title">
            <a:extLst xmlns:a="http://schemas.openxmlformats.org/drawingml/2006/main">
              <a:ext uri="{FF2B5EF4-FFF2-40B4-BE49-F238E27FC236}">
                <a16:creationId xmlns:a16="http://schemas.microsoft.com/office/drawing/2014/main" id="{902FA16F-4B14-4A30-87C1-D2DC55940F28}"/>
              </a:ext>
            </a:extLst>
          </p:cNvPr>
          <p:cNvSpPr>
            <a:spLocks xmlns:a="http://schemas.openxmlformats.org/drawingml/2006/main" noGrp="1"/>
          </p:cNvSpPr>
          <p:nvPr/>
        </p:nvSpPr>
        <p:spPr>
          <a:xfrm xmlns:a="http://schemas.openxmlformats.org/drawingml/2006/main">
            <a:off x="800100" y="361950"/>
            <a:ext cx="10572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buNone/>
              <a:defRPr sz="2850" b="1">
                <a:solidFill>
                  <a:srgbClr val="111827"/>
                </a:solidFill>
                <a:latin typeface="Yu Gothic"/>
                <a:ea typeface="Yu Gothic"/>
                <a:cs typeface="Yu Gothic"/>
              </a:defRPr>
            </a:pPr>
            <a:r>
              <a:rPr sz="2850" b="1">
                <a:solidFill>
                  <a:srgbClr val="111827"/>
                </a:solidFill>
                <a:latin typeface="Yu Gothic"/>
                <a:ea typeface="Yu Gothic"/>
                <a:cs typeface="Yu Gothic"/>
              </a:rPr>
              <a:t>まず「多クラス説明の何を良くするか」を定義する</a:t>
            </a:r>
          </a:p>
        </p:txBody>
      </p:sp>
      <p:sp>
        <p:nvSpPr>
          <p:cNvPr id="3" name="slide-10-subtitle">
            <a:extLst xmlns:a="http://schemas.openxmlformats.org/drawingml/2006/main">
              <a:ext uri="{FF2B5EF4-FFF2-40B4-BE49-F238E27FC236}">
                <a16:creationId xmlns:a16="http://schemas.microsoft.com/office/drawing/2014/main" id="{EDE29819-D1C9-478F-9833-A7B608B0B3CF}"/>
              </a:ext>
            </a:extLst>
          </p:cNvPr>
          <p:cNvSpPr>
            <a:spLocks xmlns:a="http://schemas.openxmlformats.org/drawingml/2006/main" noGrp="1"/>
          </p:cNvSpPr>
          <p:nvPr/>
        </p:nvSpPr>
        <p:spPr>
          <a:xfrm xmlns:a="http://schemas.openxmlformats.org/drawingml/2006/main">
            <a:off x="800100" y="962025"/>
            <a:ext cx="1057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buNone/>
              <a:defRPr sz="1500" b="0">
                <a:solidFill>
                  <a:srgbClr val="64748B"/>
                </a:solidFill>
                <a:latin typeface="Yu Gothic"/>
                <a:ea typeface="Yu Gothic"/>
                <a:cs typeface="Yu Gothic"/>
              </a:defRPr>
            </a:pPr>
            <a:r>
              <a:rPr sz="1500" b="0">
                <a:solidFill>
                  <a:srgbClr val="64748B"/>
                </a:solidFill>
                <a:latin typeface="Yu Gothic"/>
                <a:ea typeface="Yu Gothic"/>
                <a:cs typeface="Yu Gothic"/>
              </a:rPr>
              <a:t>手法を決める前に、研究目的と評価軸を対応させる</a:t>
            </a:r>
          </a:p>
        </p:txBody>
      </p:sp>
      <p:sp>
        <p:nvSpPr>
          <p:cNvPr id="4" name="正方形/長方形 3">
            <a:extLst xmlns:a="http://schemas.openxmlformats.org/drawingml/2006/main">
              <a:ext uri="{FF2B5EF4-FFF2-40B4-BE49-F238E27FC236}">
                <a16:creationId xmlns:a16="http://schemas.microsoft.com/office/drawing/2014/main" id="{423A0C86-53AB-4232-9E61-38D0C6BB5E58}"/>
              </a:ext>
            </a:extLst>
          </p:cNvPr>
          <p:cNvSpPr>
            <a:spLocks xmlns:a="http://schemas.openxmlformats.org/drawingml/2006/main" noGrp="1"/>
          </p:cNvSpPr>
          <p:nvPr/>
        </p:nvSpPr>
        <p:spPr>
          <a:xfrm xmlns:a="http://schemas.openxmlformats.org/drawingml/2006/main">
            <a:off x="11239500" y="6438900"/>
            <a:ext cx="476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buNone/>
              <a:defRPr sz="1050" b="0">
                <a:solidFill>
                  <a:srgbClr val="64748B"/>
                </a:solidFill>
                <a:latin typeface="Yu Gothic"/>
                <a:ea typeface="Yu Gothic"/>
                <a:cs typeface="Yu Gothic"/>
              </a:defRPr>
            </a:pPr>
            <a:r>
              <a:rPr sz="1050" b="0">
                <a:solidFill>
                  <a:srgbClr val="64748B"/>
                </a:solidFill>
                <a:latin typeface="Yu Gothic"/>
                <a:ea typeface="Yu Gothic"/>
                <a:cs typeface="Yu Gothic"/>
              </a:rPr>
              <a:t>10</a:t>
            </a:r>
          </a:p>
        </p:txBody>
      </p:sp>
      <p:cxnSp>
        <p:nvCxnSpPr>
          <p:cNvPr id="54" name="直線矢印コネクタ 31"/>
          <p:cNvCxnSpPr/>
          <p:nvPr/>
        </p:nvCxnSpPr>
        <p:spPr>
          <a:xfrm xmlns:a="http://schemas.openxmlformats.org/drawingml/2006/main">
            <a:off x="4143375" y="1762125"/>
            <a:ext cx="0" cy="3143250"/>
          </a:xfrm>
          <a:prstGeom xmlns:a="http://schemas.openxmlformats.org/drawingml/2006/main" prst="straightConnector1">
            <a:avLst/>
          </a:prstGeom>
          <a:ln xmlns:a="http://schemas.openxmlformats.org/drawingml/2006/main" w="19050">
            <a:solidFill>
              <a:srgbClr val="CBD5E1"/>
            </a:solidFill>
            <a:prstDash val="solid"/>
          </a:ln>
        </p:spPr>
      </p:cxnSp>
      <p:cxnSp>
        <p:nvCxnSpPr>
          <p:cNvPr id="55" name="直線矢印コネクタ 32"/>
          <p:cNvCxnSpPr/>
          <p:nvPr/>
        </p:nvCxnSpPr>
        <p:spPr>
          <a:xfrm xmlns:a="http://schemas.openxmlformats.org/drawingml/2006/main">
            <a:off x="8048625" y="1762125"/>
            <a:ext cx="0" cy="3143250"/>
          </a:xfrm>
          <a:prstGeom xmlns:a="http://schemas.openxmlformats.org/drawingml/2006/main" prst="straightConnector1">
            <a:avLst/>
          </a:prstGeom>
          <a:ln xmlns:a="http://schemas.openxmlformats.org/drawingml/2006/main" w="19050">
            <a:solidFill>
              <a:srgbClr val="CBD5E1"/>
            </a:solidFill>
            <a:prstDash val="solid"/>
          </a:ln>
        </p:spPr>
      </p:cxnSp>
      <p:sp>
        <p:nvSpPr>
          <p:cNvPr id="7" name="正方形/長方形 6">
            <a:extLst xmlns:a="http://schemas.openxmlformats.org/drawingml/2006/main">
              <a:ext uri="{FF2B5EF4-FFF2-40B4-BE49-F238E27FC236}">
                <a16:creationId xmlns:a16="http://schemas.microsoft.com/office/drawing/2014/main" id="{7E184F1E-1F10-4A99-BA1F-03A7624D56F7}"/>
              </a:ext>
            </a:extLst>
          </p:cNvPr>
          <p:cNvSpPr>
            <a:spLocks xmlns:a="http://schemas.openxmlformats.org/drawingml/2006/main" noGrp="1"/>
          </p:cNvSpPr>
          <p:nvPr/>
        </p:nvSpPr>
        <p:spPr>
          <a:xfrm xmlns:a="http://schemas.openxmlformats.org/drawingml/2006/main">
            <a:off x="619125" y="1762125"/>
            <a:ext cx="1047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buNone/>
              <a:defRPr sz="3900" b="1">
                <a:solidFill>
                  <a:srgbClr val="2563EB"/>
                </a:solidFill>
                <a:latin typeface="Yu Gothic"/>
                <a:ea typeface="Yu Gothic"/>
                <a:cs typeface="Yu Gothic"/>
              </a:defRPr>
            </a:pPr>
            <a:r>
              <a:rPr sz="3900" b="1">
                <a:solidFill>
                  <a:srgbClr val="2563EB"/>
                </a:solidFill>
                <a:latin typeface="Yu Gothic"/>
                <a:ea typeface="Yu Gothic"/>
                <a:cs typeface="Yu Gothic"/>
              </a:rPr>
              <a:t>01</a:t>
            </a:r>
          </a:p>
        </p:txBody>
      </p:sp>
      <p:sp>
        <p:nvSpPr>
          <p:cNvPr id="8" name="正方形/長方形 7">
            <a:extLst xmlns:a="http://schemas.openxmlformats.org/drawingml/2006/main">
              <a:ext uri="{FF2B5EF4-FFF2-40B4-BE49-F238E27FC236}">
                <a16:creationId xmlns:a16="http://schemas.microsoft.com/office/drawing/2014/main" id="{6EB8A469-EF6A-4248-8B5C-340D0C3548C9}"/>
              </a:ext>
            </a:extLst>
          </p:cNvPr>
          <p:cNvSpPr>
            <a:spLocks xmlns:a="http://schemas.openxmlformats.org/drawingml/2006/main" noGrp="1"/>
          </p:cNvSpPr>
          <p:nvPr/>
        </p:nvSpPr>
        <p:spPr>
          <a:xfrm xmlns:a="http://schemas.openxmlformats.org/drawingml/2006/main">
            <a:off x="619125" y="2571750"/>
            <a:ext cx="3143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buNone/>
              <a:defRPr sz="2100" b="1">
                <a:solidFill>
                  <a:srgbClr val="111827"/>
                </a:solidFill>
                <a:latin typeface="Yu Gothic"/>
                <a:ea typeface="Yu Gothic"/>
                <a:cs typeface="Yu Gothic"/>
              </a:defRPr>
            </a:pPr>
            <a:r>
              <a:rPr sz="2100" b="1">
                <a:solidFill>
                  <a:srgbClr val="111827"/>
                </a:solidFill>
                <a:latin typeface="Yu Gothic"/>
                <a:ea typeface="Yu Gothic"/>
                <a:cs typeface="Yu Gothic"/>
              </a:rPr>
              <a:t>予測再現</a:t>
            </a:r>
          </a:p>
        </p:txBody>
      </p:sp>
      <p:sp>
        <p:nvSpPr>
          <p:cNvPr id="9" name="正方形/長方形 8">
            <a:extLst xmlns:a="http://schemas.openxmlformats.org/drawingml/2006/main">
              <a:ext uri="{FF2B5EF4-FFF2-40B4-BE49-F238E27FC236}">
                <a16:creationId xmlns:a16="http://schemas.microsoft.com/office/drawing/2014/main" id="{369C92C9-F4E1-4604-8D76-E321EB0BC4A3}"/>
              </a:ext>
            </a:extLst>
          </p:cNvPr>
          <p:cNvSpPr>
            <a:spLocks xmlns:a="http://schemas.openxmlformats.org/drawingml/2006/main" noGrp="1"/>
          </p:cNvSpPr>
          <p:nvPr/>
        </p:nvSpPr>
        <p:spPr>
          <a:xfrm xmlns:a="http://schemas.openxmlformats.org/drawingml/2006/main">
            <a:off x="619125" y="3190875"/>
            <a:ext cx="31432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buNone/>
              <a:defRPr sz="1650" b="1">
                <a:solidFill>
                  <a:srgbClr val="111827"/>
                </a:solidFill>
                <a:latin typeface="Yu Gothic"/>
                <a:ea typeface="Yu Gothic"/>
                <a:cs typeface="Yu Gothic"/>
              </a:defRPr>
            </a:pPr>
            <a:r>
              <a:rPr sz="1650" b="1">
                <a:solidFill>
                  <a:srgbClr val="111827"/>
                </a:solidFill>
                <a:latin typeface="Yu Gothic"/>
                <a:ea typeface="Yu Gothic"/>
                <a:cs typeface="Yu Gothic"/>
              </a:rPr>
              <a:t>元モデルを</a:t>
            </a:r>
          </a:p>
          <a:p xmlns:a="http://schemas.openxmlformats.org/drawingml/2006/main">
            <a:pPr algn="l">
              <a:buNone/>
              <a:defRPr sz="1650" b="1">
                <a:solidFill>
                  <a:srgbClr val="111827"/>
                </a:solidFill>
                <a:latin typeface="Yu Gothic"/>
                <a:ea typeface="Yu Gothic"/>
                <a:cs typeface="Yu Gothic"/>
              </a:defRPr>
            </a:pPr>
            <a:r>
              <a:rPr sz="1650" b="1">
                <a:solidFill>
                  <a:srgbClr val="111827"/>
                </a:solidFill>
                <a:latin typeface="Yu Gothic"/>
                <a:ea typeface="Yu Gothic"/>
                <a:cs typeface="Yu Gothic"/>
              </a:rPr>
              <a:t>まねられるか</a:t>
            </a:r>
          </a:p>
        </p:txBody>
      </p:sp>
      <p:cxnSp>
        <p:nvCxnSpPr>
          <p:cNvPr id="59" name="直線矢印コネクタ 36"/>
          <p:cNvCxnSpPr/>
          <p:nvPr/>
        </p:nvCxnSpPr>
        <p:spPr>
          <a:xfrm xmlns:a="http://schemas.openxmlformats.org/drawingml/2006/main">
            <a:off x="619125" y="4095750"/>
            <a:ext cx="2857500" cy="0"/>
          </a:xfrm>
          <a:prstGeom xmlns:a="http://schemas.openxmlformats.org/drawingml/2006/main" prst="straightConnector1">
            <a:avLst/>
          </a:prstGeom>
          <a:ln xmlns:a="http://schemas.openxmlformats.org/drawingml/2006/main" w="47625">
            <a:solidFill>
              <a:srgbClr val="2563EB"/>
            </a:solidFill>
            <a:prstDash val="solid"/>
          </a:ln>
        </p:spPr>
      </p:cxnSp>
      <p:sp>
        <p:nvSpPr>
          <p:cNvPr id="11" name="正方形/長方形 10">
            <a:extLst xmlns:a="http://schemas.openxmlformats.org/drawingml/2006/main">
              <a:ext uri="{FF2B5EF4-FFF2-40B4-BE49-F238E27FC236}">
                <a16:creationId xmlns:a16="http://schemas.microsoft.com/office/drawing/2014/main" id="{03629073-E411-4861-B32F-C3C8AFBE5271}"/>
              </a:ext>
            </a:extLst>
          </p:cNvPr>
          <p:cNvSpPr>
            <a:spLocks xmlns:a="http://schemas.openxmlformats.org/drawingml/2006/main" noGrp="1"/>
          </p:cNvSpPr>
          <p:nvPr/>
        </p:nvSpPr>
        <p:spPr>
          <a:xfrm xmlns:a="http://schemas.openxmlformats.org/drawingml/2006/main">
            <a:off x="619125" y="4362450"/>
            <a:ext cx="95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buNone/>
              <a:defRPr sz="1350" b="1">
                <a:solidFill>
                  <a:srgbClr val="64748B"/>
                </a:solidFill>
                <a:latin typeface="Yu Gothic"/>
                <a:ea typeface="Yu Gothic"/>
                <a:cs typeface="Yu Gothic"/>
              </a:defRPr>
            </a:pPr>
            <a:r>
              <a:rPr sz="1350" b="1">
                <a:solidFill>
                  <a:srgbClr val="64748B"/>
                </a:solidFill>
                <a:latin typeface="Yu Gothic"/>
                <a:ea typeface="Yu Gothic"/>
                <a:cs typeface="Yu Gothic"/>
              </a:rPr>
              <a:t>評価例</a:t>
            </a:r>
          </a:p>
        </p:txBody>
      </p:sp>
      <p:sp>
        <p:nvSpPr>
          <p:cNvPr id="12" name="正方形/長方形 11">
            <a:extLst xmlns:a="http://schemas.openxmlformats.org/drawingml/2006/main">
              <a:ext uri="{FF2B5EF4-FFF2-40B4-BE49-F238E27FC236}">
                <a16:creationId xmlns:a16="http://schemas.microsoft.com/office/drawing/2014/main" id="{B62BB417-B455-45EC-9855-B415D053B4D4}"/>
              </a:ext>
            </a:extLst>
          </p:cNvPr>
          <p:cNvSpPr>
            <a:spLocks xmlns:a="http://schemas.openxmlformats.org/drawingml/2006/main" noGrp="1"/>
          </p:cNvSpPr>
          <p:nvPr/>
        </p:nvSpPr>
        <p:spPr>
          <a:xfrm xmlns:a="http://schemas.openxmlformats.org/drawingml/2006/main">
            <a:off x="619125" y="4686300"/>
            <a:ext cx="28575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buNone/>
              <a:defRPr sz="1500" b="1">
                <a:solidFill>
                  <a:srgbClr val="2563EB"/>
                </a:solidFill>
                <a:latin typeface="Yu Gothic"/>
                <a:ea typeface="Yu Gothic"/>
                <a:cs typeface="Yu Gothic"/>
              </a:defRPr>
            </a:pPr>
            <a:r>
              <a:rPr sz="1500" b="1">
                <a:solidFill>
                  <a:srgbClr val="2563EB"/>
                </a:solidFill>
                <a:latin typeface="Yu Gothic"/>
                <a:ea typeface="Yu Gothic"/>
                <a:cs typeface="Yu Gothic"/>
              </a:rPr>
              <a:t>確率の誤差</a:t>
            </a:r>
          </a:p>
          <a:p xmlns:a="http://schemas.openxmlformats.org/drawingml/2006/main">
            <a:pPr algn="l">
              <a:buNone/>
              <a:defRPr sz="1500" b="1">
                <a:solidFill>
                  <a:srgbClr val="2563EB"/>
                </a:solidFill>
                <a:latin typeface="Yu Gothic"/>
                <a:ea typeface="Yu Gothic"/>
                <a:cs typeface="Yu Gothic"/>
              </a:defRPr>
            </a:pPr>
            <a:r>
              <a:rPr sz="1500" b="1">
                <a:solidFill>
                  <a:srgbClr val="2563EB"/>
                </a:solidFill>
                <a:latin typeface="Yu Gothic"/>
                <a:ea typeface="Yu Gothic"/>
                <a:cs typeface="Yu Gothic"/>
              </a:rPr>
              <a:t>局所忠実性</a:t>
            </a:r>
          </a:p>
        </p:txBody>
      </p:sp>
      <p:sp>
        <p:nvSpPr>
          <p:cNvPr id="13" name="正方形/長方形 12">
            <a:extLst xmlns:a="http://schemas.openxmlformats.org/drawingml/2006/main">
              <a:ext uri="{FF2B5EF4-FFF2-40B4-BE49-F238E27FC236}">
                <a16:creationId xmlns:a16="http://schemas.microsoft.com/office/drawing/2014/main" id="{CA675AF9-9E87-450B-88E1-6DE7C1A75A5C}"/>
              </a:ext>
            </a:extLst>
          </p:cNvPr>
          <p:cNvSpPr>
            <a:spLocks xmlns:a="http://schemas.openxmlformats.org/drawingml/2006/main" noGrp="1"/>
          </p:cNvSpPr>
          <p:nvPr/>
        </p:nvSpPr>
        <p:spPr>
          <a:xfrm xmlns:a="http://schemas.openxmlformats.org/drawingml/2006/main">
            <a:off x="4524375" y="1762125"/>
            <a:ext cx="1047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buNone/>
              <a:defRPr sz="3900" b="1">
                <a:solidFill>
                  <a:srgbClr val="F59E0B"/>
                </a:solidFill>
                <a:latin typeface="Yu Gothic"/>
                <a:ea typeface="Yu Gothic"/>
                <a:cs typeface="Yu Gothic"/>
              </a:defRPr>
            </a:pPr>
            <a:r>
              <a:rPr sz="3900" b="1">
                <a:solidFill>
                  <a:srgbClr val="F59E0B"/>
                </a:solidFill>
                <a:latin typeface="Yu Gothic"/>
                <a:ea typeface="Yu Gothic"/>
                <a:cs typeface="Yu Gothic"/>
              </a:rPr>
              <a:t>02</a:t>
            </a:r>
          </a:p>
        </p:txBody>
      </p:sp>
      <p:sp>
        <p:nvSpPr>
          <p:cNvPr id="14" name="正方形/長方形 13">
            <a:extLst xmlns:a="http://schemas.openxmlformats.org/drawingml/2006/main">
              <a:ext uri="{FF2B5EF4-FFF2-40B4-BE49-F238E27FC236}">
                <a16:creationId xmlns:a16="http://schemas.microsoft.com/office/drawing/2014/main" id="{A0A5EAF3-A961-4666-98BC-016F803D24E3}"/>
              </a:ext>
            </a:extLst>
          </p:cNvPr>
          <p:cNvSpPr>
            <a:spLocks xmlns:a="http://schemas.openxmlformats.org/drawingml/2006/main" noGrp="1"/>
          </p:cNvSpPr>
          <p:nvPr/>
        </p:nvSpPr>
        <p:spPr>
          <a:xfrm xmlns:a="http://schemas.openxmlformats.org/drawingml/2006/main">
            <a:off x="4524375" y="2571750"/>
            <a:ext cx="3143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buNone/>
              <a:defRPr sz="2100" b="1">
                <a:solidFill>
                  <a:srgbClr val="111827"/>
                </a:solidFill>
                <a:latin typeface="Yu Gothic"/>
                <a:ea typeface="Yu Gothic"/>
                <a:cs typeface="Yu Gothic"/>
              </a:defRPr>
            </a:pPr>
            <a:r>
              <a:rPr sz="2100" b="1">
                <a:solidFill>
                  <a:srgbClr val="111827"/>
                </a:solidFill>
                <a:latin typeface="Yu Gothic"/>
                <a:ea typeface="Yu Gothic"/>
                <a:cs typeface="Yu Gothic"/>
              </a:rPr>
              <a:t>説明の一貫性</a:t>
            </a:r>
          </a:p>
        </p:txBody>
      </p:sp>
      <p:sp>
        <p:nvSpPr>
          <p:cNvPr id="15" name="正方形/長方形 14">
            <a:extLst xmlns:a="http://schemas.openxmlformats.org/drawingml/2006/main">
              <a:ext uri="{FF2B5EF4-FFF2-40B4-BE49-F238E27FC236}">
                <a16:creationId xmlns:a16="http://schemas.microsoft.com/office/drawing/2014/main" id="{2B5D8ACA-4543-4A3F-BB81-FE17977D1830}"/>
              </a:ext>
            </a:extLst>
          </p:cNvPr>
          <p:cNvSpPr>
            <a:spLocks xmlns:a="http://schemas.openxmlformats.org/drawingml/2006/main" noGrp="1"/>
          </p:cNvSpPr>
          <p:nvPr/>
        </p:nvSpPr>
        <p:spPr>
          <a:xfrm xmlns:a="http://schemas.openxmlformats.org/drawingml/2006/main">
            <a:off x="4524375" y="3190875"/>
            <a:ext cx="31432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buNone/>
              <a:defRPr sz="1650" b="1">
                <a:solidFill>
                  <a:srgbClr val="111827"/>
                </a:solidFill>
                <a:latin typeface="Yu Gothic"/>
                <a:ea typeface="Yu Gothic"/>
                <a:cs typeface="Yu Gothic"/>
              </a:defRPr>
            </a:pPr>
            <a:r>
              <a:rPr sz="1650" b="1">
                <a:solidFill>
                  <a:srgbClr val="111827"/>
                </a:solidFill>
                <a:latin typeface="Yu Gothic"/>
                <a:ea typeface="Yu Gothic"/>
                <a:cs typeface="Yu Gothic"/>
              </a:rPr>
              <a:t>クラス間で説明が</a:t>
            </a:r>
          </a:p>
          <a:p xmlns:a="http://schemas.openxmlformats.org/drawingml/2006/main">
            <a:pPr algn="l">
              <a:buNone/>
              <a:defRPr sz="1650" b="1">
                <a:solidFill>
                  <a:srgbClr val="111827"/>
                </a:solidFill>
                <a:latin typeface="Yu Gothic"/>
                <a:ea typeface="Yu Gothic"/>
                <a:cs typeface="Yu Gothic"/>
              </a:defRPr>
            </a:pPr>
            <a:r>
              <a:rPr sz="1650" b="1">
                <a:solidFill>
                  <a:srgbClr val="111827"/>
                </a:solidFill>
                <a:latin typeface="Yu Gothic"/>
                <a:ea typeface="Yu Gothic"/>
                <a:cs typeface="Yu Gothic"/>
              </a:rPr>
              <a:t>つながるか</a:t>
            </a:r>
          </a:p>
        </p:txBody>
      </p:sp>
      <p:cxnSp>
        <p:nvCxnSpPr>
          <p:cNvPr id="65" name="直線矢印コネクタ 42"/>
          <p:cNvCxnSpPr/>
          <p:nvPr/>
        </p:nvCxnSpPr>
        <p:spPr>
          <a:xfrm xmlns:a="http://schemas.openxmlformats.org/drawingml/2006/main">
            <a:off x="4524375" y="4095750"/>
            <a:ext cx="2857500" cy="0"/>
          </a:xfrm>
          <a:prstGeom xmlns:a="http://schemas.openxmlformats.org/drawingml/2006/main" prst="straightConnector1">
            <a:avLst/>
          </a:prstGeom>
          <a:ln xmlns:a="http://schemas.openxmlformats.org/drawingml/2006/main" w="47625">
            <a:solidFill>
              <a:srgbClr val="F59E0B"/>
            </a:solidFill>
            <a:prstDash val="solid"/>
          </a:ln>
        </p:spPr>
      </p:cxnSp>
      <p:sp>
        <p:nvSpPr>
          <p:cNvPr id="17" name="正方形/長方形 16">
            <a:extLst xmlns:a="http://schemas.openxmlformats.org/drawingml/2006/main">
              <a:ext uri="{FF2B5EF4-FFF2-40B4-BE49-F238E27FC236}">
                <a16:creationId xmlns:a16="http://schemas.microsoft.com/office/drawing/2014/main" id="{186E0DE1-49AB-492D-80BE-B6B63220806A}"/>
              </a:ext>
            </a:extLst>
          </p:cNvPr>
          <p:cNvSpPr>
            <a:spLocks xmlns:a="http://schemas.openxmlformats.org/drawingml/2006/main" noGrp="1"/>
          </p:cNvSpPr>
          <p:nvPr/>
        </p:nvSpPr>
        <p:spPr>
          <a:xfrm xmlns:a="http://schemas.openxmlformats.org/drawingml/2006/main">
            <a:off x="4524375" y="4362450"/>
            <a:ext cx="95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buNone/>
              <a:defRPr sz="1350" b="1">
                <a:solidFill>
                  <a:srgbClr val="64748B"/>
                </a:solidFill>
                <a:latin typeface="Yu Gothic"/>
                <a:ea typeface="Yu Gothic"/>
                <a:cs typeface="Yu Gothic"/>
              </a:defRPr>
            </a:pPr>
            <a:r>
              <a:rPr sz="1350" b="1">
                <a:solidFill>
                  <a:srgbClr val="64748B"/>
                </a:solidFill>
                <a:latin typeface="Yu Gothic"/>
                <a:ea typeface="Yu Gothic"/>
                <a:cs typeface="Yu Gothic"/>
              </a:rPr>
              <a:t>評価例</a:t>
            </a:r>
          </a:p>
        </p:txBody>
      </p:sp>
      <p:sp>
        <p:nvSpPr>
          <p:cNvPr id="18" name="正方形/長方形 17">
            <a:extLst xmlns:a="http://schemas.openxmlformats.org/drawingml/2006/main">
              <a:ext uri="{FF2B5EF4-FFF2-40B4-BE49-F238E27FC236}">
                <a16:creationId xmlns:a16="http://schemas.microsoft.com/office/drawing/2014/main" id="{834464F6-44B8-4019-9FB8-AEFFA5CCFD86}"/>
              </a:ext>
            </a:extLst>
          </p:cNvPr>
          <p:cNvSpPr>
            <a:spLocks xmlns:a="http://schemas.openxmlformats.org/drawingml/2006/main" noGrp="1"/>
          </p:cNvSpPr>
          <p:nvPr/>
        </p:nvSpPr>
        <p:spPr>
          <a:xfrm xmlns:a="http://schemas.openxmlformats.org/drawingml/2006/main">
            <a:off x="4524375" y="4686300"/>
            <a:ext cx="28575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buNone/>
              <a:defRPr sz="1500" b="1">
                <a:solidFill>
                  <a:srgbClr val="F59E0B"/>
                </a:solidFill>
                <a:latin typeface="Yu Gothic"/>
                <a:ea typeface="Yu Gothic"/>
                <a:cs typeface="Yu Gothic"/>
              </a:defRPr>
            </a:pPr>
            <a:r>
              <a:rPr sz="1500" b="1">
                <a:solidFill>
                  <a:srgbClr val="F59E0B"/>
                </a:solidFill>
                <a:latin typeface="Yu Gothic"/>
                <a:ea typeface="Yu Gothic"/>
                <a:cs typeface="Yu Gothic"/>
              </a:rPr>
              <a:t>共通特徴・共通構造</a:t>
            </a:r>
          </a:p>
          <a:p xmlns:a="http://schemas.openxmlformats.org/drawingml/2006/main">
            <a:pPr algn="l">
              <a:buNone/>
              <a:defRPr sz="1500" b="1">
                <a:solidFill>
                  <a:srgbClr val="F59E0B"/>
                </a:solidFill>
                <a:latin typeface="Yu Gothic"/>
                <a:ea typeface="Yu Gothic"/>
                <a:cs typeface="Yu Gothic"/>
              </a:defRPr>
            </a:pPr>
            <a:r>
              <a:rPr sz="1500" b="1">
                <a:solidFill>
                  <a:srgbClr val="F59E0B"/>
                </a:solidFill>
                <a:latin typeface="Yu Gothic"/>
                <a:ea typeface="Yu Gothic"/>
                <a:cs typeface="Yu Gothic"/>
              </a:rPr>
              <a:t>安定性</a:t>
            </a:r>
          </a:p>
        </p:txBody>
      </p:sp>
      <p:sp>
        <p:nvSpPr>
          <p:cNvPr id="19" name="正方形/長方形 18">
            <a:extLst xmlns:a="http://schemas.openxmlformats.org/drawingml/2006/main">
              <a:ext uri="{FF2B5EF4-FFF2-40B4-BE49-F238E27FC236}">
                <a16:creationId xmlns:a16="http://schemas.microsoft.com/office/drawing/2014/main" id="{B9FC0B25-D2BE-4394-A794-C776B80C2E5B}"/>
              </a:ext>
            </a:extLst>
          </p:cNvPr>
          <p:cNvSpPr>
            <a:spLocks xmlns:a="http://schemas.openxmlformats.org/drawingml/2006/main" noGrp="1"/>
          </p:cNvSpPr>
          <p:nvPr/>
        </p:nvSpPr>
        <p:spPr>
          <a:xfrm xmlns:a="http://schemas.openxmlformats.org/drawingml/2006/main">
            <a:off x="8429625" y="1762125"/>
            <a:ext cx="1047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buNone/>
              <a:defRPr sz="3900" b="1">
                <a:solidFill>
                  <a:srgbClr val="10B981"/>
                </a:solidFill>
                <a:latin typeface="Yu Gothic"/>
                <a:ea typeface="Yu Gothic"/>
                <a:cs typeface="Yu Gothic"/>
              </a:defRPr>
            </a:pPr>
            <a:r>
              <a:rPr sz="3900" b="1">
                <a:solidFill>
                  <a:srgbClr val="10B981"/>
                </a:solidFill>
                <a:latin typeface="Yu Gothic"/>
                <a:ea typeface="Yu Gothic"/>
                <a:cs typeface="Yu Gothic"/>
              </a:rPr>
              <a:t>03</a:t>
            </a:r>
          </a:p>
        </p:txBody>
      </p:sp>
      <p:sp>
        <p:nvSpPr>
          <p:cNvPr id="20" name="正方形/長方形 19">
            <a:extLst xmlns:a="http://schemas.openxmlformats.org/drawingml/2006/main">
              <a:ext uri="{FF2B5EF4-FFF2-40B4-BE49-F238E27FC236}">
                <a16:creationId xmlns:a16="http://schemas.microsoft.com/office/drawing/2014/main" id="{948C1822-48A5-49B8-85AA-74473266740F}"/>
              </a:ext>
            </a:extLst>
          </p:cNvPr>
          <p:cNvSpPr>
            <a:spLocks xmlns:a="http://schemas.openxmlformats.org/drawingml/2006/main" noGrp="1"/>
          </p:cNvSpPr>
          <p:nvPr/>
        </p:nvSpPr>
        <p:spPr>
          <a:xfrm xmlns:a="http://schemas.openxmlformats.org/drawingml/2006/main">
            <a:off x="8429625" y="2571750"/>
            <a:ext cx="3143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buNone/>
              <a:defRPr sz="2100" b="1">
                <a:solidFill>
                  <a:srgbClr val="111827"/>
                </a:solidFill>
                <a:latin typeface="Yu Gothic"/>
                <a:ea typeface="Yu Gothic"/>
                <a:cs typeface="Yu Gothic"/>
              </a:defRPr>
            </a:pPr>
            <a:r>
              <a:rPr sz="2100" b="1">
                <a:solidFill>
                  <a:srgbClr val="111827"/>
                </a:solidFill>
                <a:latin typeface="Yu Gothic"/>
                <a:ea typeface="Yu Gothic"/>
                <a:cs typeface="Yu Gothic"/>
              </a:rPr>
              <a:t>対比の理解</a:t>
            </a:r>
          </a:p>
        </p:txBody>
      </p:sp>
      <p:sp>
        <p:nvSpPr>
          <p:cNvPr id="21" name="正方形/長方形 20">
            <a:extLst xmlns:a="http://schemas.openxmlformats.org/drawingml/2006/main">
              <a:ext uri="{FF2B5EF4-FFF2-40B4-BE49-F238E27FC236}">
                <a16:creationId xmlns:a16="http://schemas.microsoft.com/office/drawing/2014/main" id="{5A735760-5097-40E0-9009-540F15BBC145}"/>
              </a:ext>
            </a:extLst>
          </p:cNvPr>
          <p:cNvSpPr>
            <a:spLocks xmlns:a="http://schemas.openxmlformats.org/drawingml/2006/main" noGrp="1"/>
          </p:cNvSpPr>
          <p:nvPr/>
        </p:nvSpPr>
        <p:spPr>
          <a:xfrm xmlns:a="http://schemas.openxmlformats.org/drawingml/2006/main">
            <a:off x="8429625" y="3190875"/>
            <a:ext cx="31432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buNone/>
              <a:defRPr sz="1650" b="1">
                <a:solidFill>
                  <a:srgbClr val="111827"/>
                </a:solidFill>
                <a:latin typeface="Yu Gothic"/>
                <a:ea typeface="Yu Gothic"/>
                <a:cs typeface="Yu Gothic"/>
              </a:defRPr>
            </a:pPr>
            <a:r>
              <a:rPr sz="1650" b="1">
                <a:solidFill>
                  <a:srgbClr val="111827"/>
                </a:solidFill>
                <a:latin typeface="Yu Gothic"/>
                <a:ea typeface="Yu Gothic"/>
                <a:cs typeface="Yu Gothic"/>
              </a:rPr>
              <a:t>AとBの違いが</a:t>
            </a:r>
          </a:p>
          <a:p xmlns:a="http://schemas.openxmlformats.org/drawingml/2006/main">
            <a:pPr algn="l">
              <a:buNone/>
              <a:defRPr sz="1650" b="1">
                <a:solidFill>
                  <a:srgbClr val="111827"/>
                </a:solidFill>
                <a:latin typeface="Yu Gothic"/>
                <a:ea typeface="Yu Gothic"/>
                <a:cs typeface="Yu Gothic"/>
              </a:defRPr>
            </a:pPr>
            <a:r>
              <a:rPr sz="1650" b="1">
                <a:solidFill>
                  <a:srgbClr val="111827"/>
                </a:solidFill>
                <a:latin typeface="Yu Gothic"/>
                <a:ea typeface="Yu Gothic"/>
                <a:cs typeface="Yu Gothic"/>
              </a:rPr>
              <a:t>伝わるか</a:t>
            </a:r>
          </a:p>
        </p:txBody>
      </p:sp>
      <p:cxnSp>
        <p:nvCxnSpPr>
          <p:cNvPr id="71" name="直線矢印コネクタ 48"/>
          <p:cNvCxnSpPr/>
          <p:nvPr/>
        </p:nvCxnSpPr>
        <p:spPr>
          <a:xfrm xmlns:a="http://schemas.openxmlformats.org/drawingml/2006/main">
            <a:off x="8429625" y="4095750"/>
            <a:ext cx="2857500" cy="0"/>
          </a:xfrm>
          <a:prstGeom xmlns:a="http://schemas.openxmlformats.org/drawingml/2006/main" prst="straightConnector1">
            <a:avLst/>
          </a:prstGeom>
          <a:ln xmlns:a="http://schemas.openxmlformats.org/drawingml/2006/main" w="47625">
            <a:solidFill>
              <a:srgbClr val="10B981"/>
            </a:solidFill>
            <a:prstDash val="solid"/>
          </a:ln>
        </p:spPr>
      </p:cxnSp>
      <p:sp>
        <p:nvSpPr>
          <p:cNvPr id="23" name="正方形/長方形 22">
            <a:extLst xmlns:a="http://schemas.openxmlformats.org/drawingml/2006/main">
              <a:ext uri="{FF2B5EF4-FFF2-40B4-BE49-F238E27FC236}">
                <a16:creationId xmlns:a16="http://schemas.microsoft.com/office/drawing/2014/main" id="{DEAADF44-4BBF-4D7D-A30A-0E05182A3F86}"/>
              </a:ext>
            </a:extLst>
          </p:cNvPr>
          <p:cNvSpPr>
            <a:spLocks xmlns:a="http://schemas.openxmlformats.org/drawingml/2006/main" noGrp="1"/>
          </p:cNvSpPr>
          <p:nvPr/>
        </p:nvSpPr>
        <p:spPr>
          <a:xfrm xmlns:a="http://schemas.openxmlformats.org/drawingml/2006/main">
            <a:off x="8429625" y="4362450"/>
            <a:ext cx="95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buNone/>
              <a:defRPr sz="1350" b="1">
                <a:solidFill>
                  <a:srgbClr val="64748B"/>
                </a:solidFill>
                <a:latin typeface="Yu Gothic"/>
                <a:ea typeface="Yu Gothic"/>
                <a:cs typeface="Yu Gothic"/>
              </a:defRPr>
            </a:pPr>
            <a:r>
              <a:rPr sz="1350" b="1">
                <a:solidFill>
                  <a:srgbClr val="64748B"/>
                </a:solidFill>
                <a:latin typeface="Yu Gothic"/>
                <a:ea typeface="Yu Gothic"/>
                <a:cs typeface="Yu Gothic"/>
              </a:rPr>
              <a:t>評価例</a:t>
            </a:r>
          </a:p>
        </p:txBody>
      </p:sp>
      <p:sp>
        <p:nvSpPr>
          <p:cNvPr id="24" name="正方形/長方形 23">
            <a:extLst xmlns:a="http://schemas.openxmlformats.org/drawingml/2006/main">
              <a:ext uri="{FF2B5EF4-FFF2-40B4-BE49-F238E27FC236}">
                <a16:creationId xmlns:a16="http://schemas.microsoft.com/office/drawing/2014/main" id="{774215F6-B31D-45B0-8CB6-301A4AE7DD94}"/>
              </a:ext>
            </a:extLst>
          </p:cNvPr>
          <p:cNvSpPr>
            <a:spLocks xmlns:a="http://schemas.openxmlformats.org/drawingml/2006/main" noGrp="1"/>
          </p:cNvSpPr>
          <p:nvPr/>
        </p:nvSpPr>
        <p:spPr>
          <a:xfrm xmlns:a="http://schemas.openxmlformats.org/drawingml/2006/main">
            <a:off x="8429625" y="4686300"/>
            <a:ext cx="28575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buNone/>
              <a:defRPr sz="1500" b="1">
                <a:solidFill>
                  <a:srgbClr val="10B981"/>
                </a:solidFill>
                <a:latin typeface="Yu Gothic"/>
                <a:ea typeface="Yu Gothic"/>
                <a:cs typeface="Yu Gothic"/>
              </a:defRPr>
            </a:pPr>
            <a:r>
              <a:rPr sz="1500" b="1">
                <a:solidFill>
                  <a:srgbClr val="10B981"/>
                </a:solidFill>
                <a:latin typeface="Yu Gothic"/>
                <a:ea typeface="Yu Gothic"/>
                <a:cs typeface="Yu Gothic"/>
              </a:rPr>
              <a:t>正答率・読解時間</a:t>
            </a:r>
          </a:p>
          <a:p xmlns:a="http://schemas.openxmlformats.org/drawingml/2006/main">
            <a:pPr algn="l">
              <a:buNone/>
              <a:defRPr sz="1500" b="1">
                <a:solidFill>
                  <a:srgbClr val="10B981"/>
                </a:solidFill>
                <a:latin typeface="Yu Gothic"/>
                <a:ea typeface="Yu Gothic"/>
                <a:cs typeface="Yu Gothic"/>
              </a:defRPr>
            </a:pPr>
            <a:r>
              <a:rPr sz="1500" b="1">
                <a:solidFill>
                  <a:srgbClr val="10B981"/>
                </a:solidFill>
                <a:latin typeface="Yu Gothic"/>
                <a:ea typeface="Yu Gothic"/>
                <a:cs typeface="Yu Gothic"/>
              </a:rPr>
              <a:t>主観評価</a:t>
            </a:r>
          </a:p>
        </p:txBody>
      </p:sp>
      <p:sp>
        <p:nvSpPr>
          <p:cNvPr id="25" name="正方形/長方形 24">
            <a:extLst xmlns:a="http://schemas.openxmlformats.org/drawingml/2006/main">
              <a:ext uri="{FF2B5EF4-FFF2-40B4-BE49-F238E27FC236}">
                <a16:creationId xmlns:a16="http://schemas.microsoft.com/office/drawing/2014/main" id="{63213C25-13E5-4A9F-96F9-FE70978ED1FC}"/>
              </a:ext>
            </a:extLst>
          </p:cNvPr>
          <p:cNvSpPr>
            <a:spLocks xmlns:a="http://schemas.openxmlformats.org/drawingml/2006/main" noGrp="1"/>
          </p:cNvSpPr>
          <p:nvPr/>
        </p:nvSpPr>
        <p:spPr>
          <a:xfrm xmlns:a="http://schemas.openxmlformats.org/drawingml/2006/main">
            <a:off x="666750" y="5572125"/>
            <a:ext cx="10858500" cy="628650"/>
          </a:xfrm>
          <a:prstGeom xmlns:a="http://schemas.openxmlformats.org/drawingml/2006/main" prst="rect">
            <a:avLst/>
          </a:prstGeom>
          <a:solidFill xmlns:a="http://schemas.openxmlformats.org/drawingml/2006/main">
            <a:srgbClr val="2563EB"/>
          </a:solidFill>
          <a:ln xmlns:a="http://schemas.openxmlformats.org/drawingml/2006/main" w="0">
            <a:solidFill>
              <a:srgbClr val="2563EB"/>
            </a:solidFill>
            <a:prstDash val="solid"/>
          </a:ln>
        </p:spPr>
        <p:txBody>
          <a:bodyPr xmlns:a="http://schemas.openxmlformats.org/drawingml/2006/main"/>
          <a:lstStyle xmlns:a="http://schemas.openxmlformats.org/drawingml/2006/main"/>
          <a:p xmlns:a="http://schemas.openxmlformats.org/drawingml/2006/main">
            <a:endParaRPr/>
          </a:p>
        </p:txBody>
      </p:sp>
      <p:sp>
        <p:nvSpPr>
          <p:cNvPr id="26" name="正方形/長方形 25">
            <a:extLst xmlns:a="http://schemas.openxmlformats.org/drawingml/2006/main">
              <a:ext uri="{FF2B5EF4-FFF2-40B4-BE49-F238E27FC236}">
                <a16:creationId xmlns:a16="http://schemas.microsoft.com/office/drawing/2014/main" id="{1D39A03D-148E-4400-9982-C63EB8E2BD65}"/>
              </a:ext>
            </a:extLst>
          </p:cNvPr>
          <p:cNvSpPr>
            <a:spLocks xmlns:a="http://schemas.openxmlformats.org/drawingml/2006/main" noGrp="1"/>
          </p:cNvSpPr>
          <p:nvPr/>
        </p:nvSpPr>
        <p:spPr>
          <a:xfrm xmlns:a="http://schemas.openxmlformats.org/drawingml/2006/main">
            <a:off x="1238250" y="5724525"/>
            <a:ext cx="9715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buNone/>
              <a:defRPr sz="1950" b="1">
                <a:solidFill>
                  <a:srgbClr val="FFFFFF"/>
                </a:solidFill>
                <a:latin typeface="Yu Gothic"/>
                <a:ea typeface="Yu Gothic"/>
                <a:cs typeface="Yu Gothic"/>
              </a:defRPr>
            </a:pPr>
            <a:r>
              <a:rPr sz="1950" b="1">
                <a:solidFill>
                  <a:srgbClr val="FFFFFF"/>
                </a:solidFill>
                <a:latin typeface="Yu Gothic"/>
                <a:ea typeface="Yu Gothic"/>
                <a:cs typeface="Yu Gothic"/>
              </a:rPr>
              <a:t>改善したい性質を定めてから、手法と評価方法を選ぶ</a:t>
            </a:r>
          </a:p>
        </p:txBody>
      </p:sp>
      <p:sp>
        <p:nvSpPr>
          <p:cNvPr id="27" name="正方形/長方形 26">
            <a:extLst xmlns:a="http://schemas.openxmlformats.org/drawingml/2006/main">
              <a:ext uri="{FF2B5EF4-FFF2-40B4-BE49-F238E27FC236}">
                <a16:creationId xmlns:a16="http://schemas.microsoft.com/office/drawing/2014/main" id="{63B7EAD6-A4B7-478C-B42D-7DB55549EC0C}"/>
              </a:ext>
            </a:extLst>
          </p:cNvPr>
          <p:cNvSpPr>
            <a:spLocks xmlns:a="http://schemas.openxmlformats.org/drawingml/2006/main" noGrp="1"/>
          </p:cNvSpPr>
          <p:nvPr/>
        </p:nvSpPr>
        <p:spPr>
          <a:xfrm xmlns:a="http://schemas.openxmlformats.org/drawingml/2006/main">
            <a:off x="1666875" y="6334125"/>
            <a:ext cx="8858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buNone/>
              <a:defRPr sz="1350" b="0">
                <a:solidFill>
                  <a:srgbClr val="64748B"/>
                </a:solidFill>
                <a:latin typeface="Yu Gothic"/>
                <a:ea typeface="Yu Gothic"/>
                <a:cs typeface="Yu Gothic"/>
              </a:defRPr>
            </a:pPr>
            <a:r>
              <a:rPr sz="1350" b="0">
                <a:solidFill>
                  <a:srgbClr val="64748B"/>
                </a:solidFill>
                <a:latin typeface="Yu Gothic"/>
                <a:ea typeface="Yu Gothic"/>
                <a:cs typeface="Yu Gothic"/>
              </a:rPr>
              <a:t>LIMEの多クラス化で重要なのは、説明の数ではなくクラス間の関係の表し方</a:t>
            </a:r>
          </a:p>
        </p:txBody>
      </p:sp>
    </p:spTree>
    <p:extLst>
      <p:ext uri="{BB962C8B-B14F-4D97-AF65-F5344CB8AC3E}">
        <p14:creationId xmlns:p14="http://schemas.microsoft.com/office/powerpoint/2010/main" val="962546331"/>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8" name="">
            <a:extLst xmlns:a="http://schemas.openxmlformats.org/drawingml/2006/main">
              <a:ext uri="{FF2B5EF4-FFF2-40B4-BE49-F238E27FC236}">
                <a16:creationId xmlns:a16="http://schemas.microsoft.com/office/drawing/2014/main" id="{CF4B1DF2-00B2-4F96-A1F9-303E40142425}"/>
              </a:ext>
            </a:extLst>
          </p:cNvPr>
          <p:cNvSpPr>
            <a:spLocks xmlns:a="http://schemas.openxmlformats.org/drawingml/2006/main" noGrp="1"/>
          </p:cNvSpPr>
          <p:nvPr/>
        </p:nvSpPr>
        <p:spPr>
          <a:xfrm xmlns:a="http://schemas.openxmlformats.org/drawingml/2006/main">
            <a:off x="514350" y="409575"/>
            <a:ext cx="114300" cy="476250"/>
          </a:xfrm>
          <a:prstGeom xmlns:a="http://schemas.openxmlformats.org/drawingml/2006/main" prst="rect">
            <a:avLst/>
          </a:prstGeom>
          <a:solidFill xmlns:a="http://schemas.openxmlformats.org/drawingml/2006/main">
            <a:srgbClr val="1479C9"/>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48C00BD7-5FCF-4B53-B484-F66408CC68EF}"/>
              </a:ext>
            </a:extLst>
          </p:cNvPr>
          <p:cNvSpPr>
            <a:spLocks xmlns:a="http://schemas.openxmlformats.org/drawingml/2006/main" noGrp="1"/>
          </p:cNvSpPr>
          <p:nvPr/>
        </p:nvSpPr>
        <p:spPr>
          <a:xfrm xmlns:a="http://schemas.openxmlformats.org/drawingml/2006/main">
            <a:off x="762000" y="3429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9020"/>
          </a:bodyPr>
          <a:lstStyle xmlns:a="http://schemas.openxmlformats.org/drawingml/2006/main"/>
          <a:p xmlns:a="http://schemas.openxmlformats.org/drawingml/2006/main">
            <a:pPr algn="l">
              <a:defRPr sz="2550" b="1">
                <a:solidFill>
                  <a:srgbClr val="17233D"/>
                </a:solidFill>
                <a:latin typeface="YuGothic"/>
                <a:ea typeface="YuGothic"/>
                <a:cs typeface="YuGothic"/>
              </a:defRPr>
            </a:pPr>
            <a:r>
              <a:rPr sz="2550" b="1">
                <a:solidFill>
                  <a:srgbClr val="17233D"/>
                </a:solidFill>
                <a:latin typeface="YuGothic"/>
                <a:ea typeface="YuGothic"/>
                <a:cs typeface="YuGothic"/>
              </a:rPr>
              <a:t>評価設計</a:t>
            </a:r>
          </a:p>
        </p:txBody>
      </p:sp>
      <p:sp>
        <p:nvSpPr>
          <p:cNvPr id="3" name="">
            <a:extLst xmlns:a="http://schemas.openxmlformats.org/drawingml/2006/main">
              <a:ext uri="{FF2B5EF4-FFF2-40B4-BE49-F238E27FC236}">
                <a16:creationId xmlns:a16="http://schemas.microsoft.com/office/drawing/2014/main" id="{7F8EFFAF-F31D-4902-9E1E-E5C18580AAA7}"/>
              </a:ext>
            </a:extLst>
          </p:cNvPr>
          <p:cNvSpPr>
            <a:spLocks xmlns:a="http://schemas.openxmlformats.org/drawingml/2006/main" noGrp="1"/>
          </p:cNvSpPr>
          <p:nvPr/>
        </p:nvSpPr>
        <p:spPr>
          <a:xfrm xmlns:a="http://schemas.openxmlformats.org/drawingml/2006/main">
            <a:off x="762000" y="80010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417"/>
          </a:bodyPr>
          <a:lstStyle xmlns:a="http://schemas.openxmlformats.org/drawingml/2006/main"/>
          <a:p xmlns:a="http://schemas.openxmlformats.org/drawingml/2006/main">
            <a:pPr algn="l">
              <a:defRPr sz="1200" b="0">
                <a:solidFill>
                  <a:srgbClr val="687386"/>
                </a:solidFill>
                <a:latin typeface="YuGothic"/>
                <a:ea typeface="YuGothic"/>
                <a:cs typeface="YuGothic"/>
              </a:defRPr>
            </a:pPr>
            <a:r>
              <a:rPr sz="1200" b="0">
                <a:solidFill>
                  <a:srgbClr val="687386"/>
                </a:solidFill>
                <a:latin typeface="YuGothic"/>
                <a:ea typeface="YuGothic"/>
                <a:cs typeface="YuGothic"/>
              </a:rPr>
              <a:t>何を説明するかと、どの損失で当てはめるかを分けて比較</a:t>
            </a:r>
          </a:p>
        </p:txBody>
      </p:sp>
      <p:sp>
        <p:nvSpPr>
          <p:cNvPr id="4" name="">
            <a:extLst xmlns:a="http://schemas.openxmlformats.org/drawingml/2006/main">
              <a:ext uri="{FF2B5EF4-FFF2-40B4-BE49-F238E27FC236}">
                <a16:creationId xmlns:a16="http://schemas.microsoft.com/office/drawing/2014/main" id="{88E78324-9ECC-49E0-AC10-D0570422749F}"/>
              </a:ext>
            </a:extLst>
          </p:cNvPr>
          <p:cNvSpPr>
            <a:spLocks xmlns:a="http://schemas.openxmlformats.org/drawingml/2006/main" noGrp="1"/>
          </p:cNvSpPr>
          <p:nvPr/>
        </p:nvSpPr>
        <p:spPr>
          <a:xfrm xmlns:a="http://schemas.openxmlformats.org/drawingml/2006/main">
            <a:off x="11334750" y="6457950"/>
            <a:ext cx="4000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6667"/>
          </a:bodyPr>
          <a:lstStyle xmlns:a="http://schemas.openxmlformats.org/drawingml/2006/main"/>
          <a:p xmlns:a="http://schemas.openxmlformats.org/drawingml/2006/main">
            <a:pPr algn="r">
              <a:defRPr sz="975" b="0">
                <a:solidFill>
                  <a:srgbClr val="8993A4"/>
                </a:solidFill>
                <a:latin typeface="YuGothic"/>
                <a:ea typeface="YuGothic"/>
                <a:cs typeface="YuGothic"/>
              </a:defRPr>
            </a:pPr>
            <a:r>
              <a:rPr sz="975" b="0">
                <a:solidFill>
                  <a:srgbClr val="8993A4"/>
                </a:solidFill>
                <a:latin typeface="YuGothic"/>
                <a:ea typeface="YuGothic"/>
                <a:cs typeface="YuGothic"/>
              </a:rPr>
              <a:t>11</a:t>
            </a:r>
          </a:p>
        </p:txBody>
      </p:sp>
      <p:sp>
        <p:nvSpPr>
          <p:cNvPr id="5" name="">
            <a:extLst xmlns:a="http://schemas.openxmlformats.org/drawingml/2006/main">
              <a:ext uri="{FF2B5EF4-FFF2-40B4-BE49-F238E27FC236}">
                <a16:creationId xmlns:a16="http://schemas.microsoft.com/office/drawing/2014/main" id="{BA850B20-B277-46B1-A177-0F8BF8AAA2F8}"/>
              </a:ext>
            </a:extLst>
          </p:cNvPr>
          <p:cNvSpPr>
            <a:spLocks xmlns:a="http://schemas.openxmlformats.org/drawingml/2006/main" noGrp="1"/>
          </p:cNvSpPr>
          <p:nvPr/>
        </p:nvSpPr>
        <p:spPr>
          <a:xfrm xmlns:a="http://schemas.openxmlformats.org/drawingml/2006/main">
            <a:off x="590550" y="1276350"/>
            <a:ext cx="3524250" cy="3143250"/>
          </a:xfrm>
          <a:prstGeom xmlns:a="http://schemas.openxmlformats.org/drawingml/2006/main" prst="roundRect">
            <a:avLst>
              <a:gd name="adj" fmla="val 2424"/>
            </a:avLst>
          </a:prstGeom>
          <a:solidFill xmlns:a="http://schemas.openxmlformats.org/drawingml/2006/main">
            <a:srgbClr val="F7F9FC"/>
          </a:solidFill>
          <a:ln xmlns:a="http://schemas.openxmlformats.org/drawingml/2006/main" w="9525">
            <a:solidFill>
              <a:srgbClr val="E7EBF0"/>
            </a:solidFill>
          </a:ln>
        </p:spPr>
      </p:sp>
      <p:sp>
        <p:nvSpPr>
          <p:cNvPr id="6" name="">
            <a:extLst xmlns:a="http://schemas.openxmlformats.org/drawingml/2006/main">
              <a:ext uri="{FF2B5EF4-FFF2-40B4-BE49-F238E27FC236}">
                <a16:creationId xmlns:a16="http://schemas.microsoft.com/office/drawing/2014/main" id="{A8285880-D660-4A5C-B2E2-3A6776BE02F5}"/>
              </a:ext>
            </a:extLst>
          </p:cNvPr>
          <p:cNvSpPr>
            <a:spLocks xmlns:a="http://schemas.openxmlformats.org/drawingml/2006/main" noGrp="1"/>
          </p:cNvSpPr>
          <p:nvPr/>
        </p:nvSpPr>
        <p:spPr>
          <a:xfrm xmlns:a="http://schemas.openxmlformats.org/drawingml/2006/main">
            <a:off x="895350" y="1485900"/>
            <a:ext cx="2857500" cy="304800"/>
          </a:xfrm>
          <a:prstGeom xmlns:a="http://schemas.openxmlformats.org/drawingml/2006/main" prst="roundRect">
            <a:avLst>
              <a:gd name="adj" fmla="val 25000"/>
            </a:avLst>
          </a:prstGeom>
          <a:solidFill xmlns:a="http://schemas.openxmlformats.org/drawingml/2006/main">
            <a:srgbClr val="687386"/>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157CC177-6D5E-411A-AB0A-A67E199F5313}"/>
              </a:ext>
            </a:extLst>
          </p:cNvPr>
          <p:cNvSpPr>
            <a:spLocks xmlns:a="http://schemas.openxmlformats.org/drawingml/2006/main" noGrp="1"/>
          </p:cNvSpPr>
          <p:nvPr/>
        </p:nvSpPr>
        <p:spPr>
          <a:xfrm xmlns:a="http://schemas.openxmlformats.org/drawingml/2006/main">
            <a:off x="990600" y="1495425"/>
            <a:ext cx="26670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200" b="1">
                <a:solidFill>
                  <a:srgbClr val="FFFFFF"/>
                </a:solidFill>
                <a:latin typeface="YuGothic"/>
                <a:ea typeface="YuGothic"/>
                <a:cs typeface="YuGothic"/>
              </a:defRPr>
            </a:pPr>
            <a:r>
              <a:rPr sz="1200" b="1">
                <a:solidFill>
                  <a:srgbClr val="FFFFFF"/>
                </a:solidFill>
                <a:latin typeface="YuGothic"/>
                <a:ea typeface="YuGothic"/>
                <a:cs typeface="YuGothic"/>
              </a:rPr>
              <a:t>従来：One-vs-Rest</a:t>
            </a:r>
          </a:p>
        </p:txBody>
      </p:sp>
      <p:sp>
        <p:nvSpPr>
          <p:cNvPr id="8" name="">
            <a:extLst xmlns:a="http://schemas.openxmlformats.org/drawingml/2006/main">
              <a:ext uri="{FF2B5EF4-FFF2-40B4-BE49-F238E27FC236}">
                <a16:creationId xmlns:a16="http://schemas.microsoft.com/office/drawing/2014/main" id="{C92B68F8-BAE8-4977-8131-164614AE9628}"/>
              </a:ext>
            </a:extLst>
          </p:cNvPr>
          <p:cNvSpPr>
            <a:spLocks xmlns:a="http://schemas.openxmlformats.org/drawingml/2006/main" noGrp="1"/>
          </p:cNvSpPr>
          <p:nvPr/>
        </p:nvSpPr>
        <p:spPr>
          <a:xfrm xmlns:a="http://schemas.openxmlformats.org/drawingml/2006/main">
            <a:off x="876300" y="1981200"/>
            <a:ext cx="2952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575" b="1">
                <a:solidFill>
                  <a:srgbClr val="17233D"/>
                </a:solidFill>
                <a:latin typeface="YuGothic"/>
                <a:ea typeface="YuGothic"/>
                <a:cs typeface="YuGothic"/>
              </a:defRPr>
            </a:pPr>
            <a:r>
              <a:rPr sz="1575" b="1">
                <a:solidFill>
                  <a:srgbClr val="17233D"/>
                </a:solidFill>
                <a:latin typeface="YuGothic"/>
                <a:ea typeface="YuGothic"/>
                <a:cs typeface="YuGothic"/>
              </a:rPr>
              <a:t>各クラス対残りを別々に回帰</a:t>
            </a:r>
          </a:p>
        </p:txBody>
      </p:sp>
      <p:sp>
        <p:nvSpPr>
          <p:cNvPr id="9" name="">
            <a:extLst xmlns:a="http://schemas.openxmlformats.org/drawingml/2006/main">
              <a:ext uri="{FF2B5EF4-FFF2-40B4-BE49-F238E27FC236}">
                <a16:creationId xmlns:a16="http://schemas.microsoft.com/office/drawing/2014/main" id="{FE2B9C21-7589-4648-A0F0-8DD91A98AAEE}"/>
              </a:ext>
            </a:extLst>
          </p:cNvPr>
          <p:cNvSpPr>
            <a:spLocks xmlns:a="http://schemas.openxmlformats.org/drawingml/2006/main" noGrp="1"/>
          </p:cNvSpPr>
          <p:nvPr/>
        </p:nvSpPr>
        <p:spPr>
          <a:xfrm xmlns:a="http://schemas.openxmlformats.org/drawingml/2006/main">
            <a:off x="1104900" y="2438400"/>
            <a:ext cx="25241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875" b="0">
                <a:solidFill>
                  <a:srgbClr val="17233D"/>
                </a:solidFill>
                <a:latin typeface="YuGothic"/>
                <a:ea typeface="YuGothic"/>
                <a:cs typeface="YuGothic"/>
              </a:defRPr>
            </a:pPr>
            <a:r>
              <a:rPr sz="1875" b="0">
                <a:solidFill>
                  <a:srgbClr val="17233D"/>
                </a:solidFill>
                <a:latin typeface="YuGothic"/>
                <a:ea typeface="YuGothic"/>
                <a:cs typeface="YuGothic"/>
              </a:rPr>
              <a:t>p₁(z) ≈ f₁(z)</a:t>
            </a:r>
          </a:p>
          <a:p xmlns:a="http://schemas.openxmlformats.org/drawingml/2006/main">
            <a:pPr algn="ctr">
              <a:defRPr sz="1875" b="0">
                <a:solidFill>
                  <a:srgbClr val="17233D"/>
                </a:solidFill>
                <a:latin typeface="YuGothic"/>
                <a:ea typeface="YuGothic"/>
                <a:cs typeface="YuGothic"/>
              </a:defRPr>
            </a:pPr>
            <a:r>
              <a:rPr sz="1875" b="0">
                <a:solidFill>
                  <a:srgbClr val="17233D"/>
                </a:solidFill>
                <a:latin typeface="YuGothic"/>
                <a:ea typeface="YuGothic"/>
                <a:cs typeface="YuGothic"/>
              </a:rPr>
              <a:t>p₂(z) ≈ f₂(z)</a:t>
            </a:r>
          </a:p>
        </p:txBody>
      </p:sp>
      <p:sp>
        <p:nvSpPr>
          <p:cNvPr id="10" name="">
            <a:extLst xmlns:a="http://schemas.openxmlformats.org/drawingml/2006/main">
              <a:ext uri="{FF2B5EF4-FFF2-40B4-BE49-F238E27FC236}">
                <a16:creationId xmlns:a16="http://schemas.microsoft.com/office/drawing/2014/main" id="{BCCEBA6B-BCE8-4A34-85E1-61DB9CADDC0B}"/>
              </a:ext>
            </a:extLst>
          </p:cNvPr>
          <p:cNvSpPr>
            <a:spLocks xmlns:a="http://schemas.openxmlformats.org/drawingml/2006/main" noGrp="1"/>
          </p:cNvSpPr>
          <p:nvPr/>
        </p:nvSpPr>
        <p:spPr>
          <a:xfrm xmlns:a="http://schemas.openxmlformats.org/drawingml/2006/main">
            <a:off x="895350" y="3371850"/>
            <a:ext cx="29146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425" b="0">
                <a:solidFill>
                  <a:srgbClr val="687386"/>
                </a:solidFill>
                <a:latin typeface="YuGothic"/>
                <a:ea typeface="YuGothic"/>
                <a:cs typeface="YuGothic"/>
              </a:defRPr>
            </a:pPr>
            <a:r>
              <a:rPr sz="1425" b="0">
                <a:solidFill>
                  <a:srgbClr val="687386"/>
                </a:solidFill>
                <a:latin typeface="YuGothic"/>
                <a:ea typeface="YuGothic"/>
                <a:cs typeface="YuGothic"/>
              </a:rPr>
              <a:t>最後に f₁ − f₂ で</a:t>
            </a:r>
          </a:p>
          <a:p xmlns:a="http://schemas.openxmlformats.org/drawingml/2006/main">
            <a:pPr algn="ctr">
              <a:defRPr sz="1425" b="0">
                <a:solidFill>
                  <a:srgbClr val="687386"/>
                </a:solidFill>
                <a:latin typeface="YuGothic"/>
                <a:ea typeface="YuGothic"/>
                <a:cs typeface="YuGothic"/>
              </a:defRPr>
            </a:pPr>
            <a:r>
              <a:rPr sz="1425" b="0">
                <a:solidFill>
                  <a:srgbClr val="687386"/>
                </a:solidFill>
                <a:latin typeface="YuGothic"/>
                <a:ea typeface="YuGothic"/>
                <a:cs typeface="YuGothic"/>
              </a:rPr>
              <a:t>競合2クラスの方向を作る</a:t>
            </a:r>
          </a:p>
        </p:txBody>
      </p:sp>
      <p:sp>
        <p:nvSpPr>
          <p:cNvPr id="11" name="">
            <a:extLst xmlns:a="http://schemas.openxmlformats.org/drawingml/2006/main">
              <a:ext uri="{FF2B5EF4-FFF2-40B4-BE49-F238E27FC236}">
                <a16:creationId xmlns:a16="http://schemas.microsoft.com/office/drawing/2014/main" id="{44BA99E7-1FDB-4257-AC99-37013FDB857E}"/>
              </a:ext>
            </a:extLst>
          </p:cNvPr>
          <p:cNvSpPr>
            <a:spLocks xmlns:a="http://schemas.openxmlformats.org/drawingml/2006/main" noGrp="1"/>
          </p:cNvSpPr>
          <p:nvPr/>
        </p:nvSpPr>
        <p:spPr>
          <a:xfrm xmlns:a="http://schemas.openxmlformats.org/drawingml/2006/main">
            <a:off x="4210050" y="2571750"/>
            <a:ext cx="4286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1512"/>
          </a:bodyPr>
          <a:lstStyle xmlns:a="http://schemas.openxmlformats.org/drawingml/2006/main"/>
          <a:p xmlns:a="http://schemas.openxmlformats.org/drawingml/2006/main">
            <a:pPr algn="ctr">
              <a:defRPr sz="2700" b="1">
                <a:solidFill>
                  <a:srgbClr val="1479C9"/>
                </a:solidFill>
                <a:latin typeface="YuGothic"/>
                <a:ea typeface="YuGothic"/>
                <a:cs typeface="YuGothic"/>
              </a:defRPr>
            </a:pPr>
            <a:r>
              <a:rPr sz="2700" b="1">
                <a:solidFill>
                  <a:srgbClr val="1479C9"/>
                </a:solidFill>
                <a:latin typeface="YuGothic"/>
                <a:ea typeface="YuGothic"/>
                <a:cs typeface="YuGothic"/>
              </a:rPr>
              <a:t>→</a:t>
            </a:r>
          </a:p>
        </p:txBody>
      </p:sp>
      <p:sp>
        <p:nvSpPr>
          <p:cNvPr id="12" name="">
            <a:extLst xmlns:a="http://schemas.openxmlformats.org/drawingml/2006/main">
              <a:ext uri="{FF2B5EF4-FFF2-40B4-BE49-F238E27FC236}">
                <a16:creationId xmlns:a16="http://schemas.microsoft.com/office/drawing/2014/main" id="{CF4E64AC-5B3B-409A-A813-B005017AAC2B}"/>
              </a:ext>
            </a:extLst>
          </p:cNvPr>
          <p:cNvSpPr>
            <a:spLocks xmlns:a="http://schemas.openxmlformats.org/drawingml/2006/main" noGrp="1"/>
          </p:cNvSpPr>
          <p:nvPr/>
        </p:nvSpPr>
        <p:spPr>
          <a:xfrm xmlns:a="http://schemas.openxmlformats.org/drawingml/2006/main">
            <a:off x="4686300" y="1276350"/>
            <a:ext cx="6915150" cy="3143250"/>
          </a:xfrm>
          <a:prstGeom xmlns:a="http://schemas.openxmlformats.org/drawingml/2006/main" prst="roundRect">
            <a:avLst>
              <a:gd name="adj" fmla="val 2424"/>
            </a:avLst>
          </a:prstGeom>
          <a:solidFill xmlns:a="http://schemas.openxmlformats.org/drawingml/2006/main">
            <a:srgbClr val="EAF4FB"/>
          </a:solidFill>
          <a:ln xmlns:a="http://schemas.openxmlformats.org/drawingml/2006/main" w="9525">
            <a:solidFill>
              <a:srgbClr val="1479C9"/>
            </a:solidFill>
          </a:ln>
        </p:spPr>
      </p:sp>
      <p:sp>
        <p:nvSpPr>
          <p:cNvPr id="13" name="">
            <a:extLst xmlns:a="http://schemas.openxmlformats.org/drawingml/2006/main">
              <a:ext uri="{FF2B5EF4-FFF2-40B4-BE49-F238E27FC236}">
                <a16:creationId xmlns:a16="http://schemas.microsoft.com/office/drawing/2014/main" id="{C4D09EA2-660B-45AA-88E2-B57334DA2699}"/>
              </a:ext>
            </a:extLst>
          </p:cNvPr>
          <p:cNvSpPr>
            <a:spLocks xmlns:a="http://schemas.openxmlformats.org/drawingml/2006/main" noGrp="1"/>
          </p:cNvSpPr>
          <p:nvPr/>
        </p:nvSpPr>
        <p:spPr>
          <a:xfrm xmlns:a="http://schemas.openxmlformats.org/drawingml/2006/main">
            <a:off x="6381750" y="1485900"/>
            <a:ext cx="3524250" cy="304800"/>
          </a:xfrm>
          <a:prstGeom xmlns:a="http://schemas.openxmlformats.org/drawingml/2006/main" prst="roundRect">
            <a:avLst>
              <a:gd name="adj" fmla="val 25000"/>
            </a:avLst>
          </a:prstGeom>
          <a:solidFill xmlns:a="http://schemas.openxmlformats.org/drawingml/2006/main">
            <a:srgbClr val="1479C9"/>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FCB82AEF-DD08-4C0F-A996-127A995745A9}"/>
              </a:ext>
            </a:extLst>
          </p:cNvPr>
          <p:cNvSpPr>
            <a:spLocks xmlns:a="http://schemas.openxmlformats.org/drawingml/2006/main" noGrp="1"/>
          </p:cNvSpPr>
          <p:nvPr/>
        </p:nvSpPr>
        <p:spPr>
          <a:xfrm xmlns:a="http://schemas.openxmlformats.org/drawingml/2006/main">
            <a:off x="6477000" y="1495425"/>
            <a:ext cx="33337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200" b="1">
                <a:solidFill>
                  <a:srgbClr val="FFFFFF"/>
                </a:solidFill>
                <a:latin typeface="YuGothic"/>
                <a:ea typeface="YuGothic"/>
                <a:cs typeface="YuGothic"/>
              </a:defRPr>
            </a:pPr>
            <a:r>
              <a:rPr sz="1200" b="1">
                <a:solidFill>
                  <a:srgbClr val="FFFFFF"/>
                </a:solidFill>
                <a:latin typeface="YuGothic"/>
                <a:ea typeface="YuGothic"/>
                <a:cs typeface="YuGothic"/>
              </a:rPr>
              <a:t>提案の枠組み：Top-1 vs Top-2</a:t>
            </a:r>
          </a:p>
        </p:txBody>
      </p:sp>
      <p:sp>
        <p:nvSpPr>
          <p:cNvPr id="15" name="">
            <a:extLst xmlns:a="http://schemas.openxmlformats.org/drawingml/2006/main">
              <a:ext uri="{FF2B5EF4-FFF2-40B4-BE49-F238E27FC236}">
                <a16:creationId xmlns:a16="http://schemas.microsoft.com/office/drawing/2014/main" id="{423B6D01-3246-4338-B1F6-079C90033CEC}"/>
              </a:ext>
            </a:extLst>
          </p:cNvPr>
          <p:cNvSpPr>
            <a:spLocks xmlns:a="http://schemas.openxmlformats.org/drawingml/2006/main" noGrp="1"/>
          </p:cNvSpPr>
          <p:nvPr/>
        </p:nvSpPr>
        <p:spPr>
          <a:xfrm xmlns:a="http://schemas.openxmlformats.org/drawingml/2006/main">
            <a:off x="5638800" y="2019300"/>
            <a:ext cx="50101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875" b="1">
                <a:solidFill>
                  <a:srgbClr val="17233D"/>
                </a:solidFill>
                <a:latin typeface="YuGothic"/>
                <a:ea typeface="YuGothic"/>
                <a:cs typeface="YuGothic"/>
              </a:defRPr>
            </a:pPr>
            <a:r>
              <a:rPr sz="1875" b="1">
                <a:solidFill>
                  <a:srgbClr val="17233D"/>
                </a:solidFill>
                <a:latin typeface="YuGothic"/>
                <a:ea typeface="YuGothic"/>
                <a:cs typeface="YuGothic"/>
              </a:rPr>
              <a:t>q(z) = p₁(z) / {p₁(z)+p₂(z)}</a:t>
            </a:r>
          </a:p>
        </p:txBody>
      </p:sp>
      <p:sp>
        <p:nvSpPr>
          <p:cNvPr id="16" name="">
            <a:extLst xmlns:a="http://schemas.openxmlformats.org/drawingml/2006/main">
              <a:ext uri="{FF2B5EF4-FFF2-40B4-BE49-F238E27FC236}">
                <a16:creationId xmlns:a16="http://schemas.microsoft.com/office/drawing/2014/main" id="{1D6C1C0C-90A3-45A3-A346-88EE784AF0C7}"/>
              </a:ext>
            </a:extLst>
          </p:cNvPr>
          <p:cNvSpPr>
            <a:spLocks xmlns:a="http://schemas.openxmlformats.org/drawingml/2006/main" noGrp="1"/>
          </p:cNvSpPr>
          <p:nvPr/>
        </p:nvSpPr>
        <p:spPr>
          <a:xfrm xmlns:a="http://schemas.openxmlformats.org/drawingml/2006/main">
            <a:off x="5010150" y="2724150"/>
            <a:ext cx="1905000" cy="1162050"/>
          </a:xfrm>
          <a:prstGeom xmlns:a="http://schemas.openxmlformats.org/drawingml/2006/main" prst="roundRect">
            <a:avLst>
              <a:gd name="adj" fmla="val 6557"/>
            </a:avLst>
          </a:prstGeom>
          <a:solidFill xmlns:a="http://schemas.openxmlformats.org/drawingml/2006/main">
            <a:srgbClr val="FFFFFF"/>
          </a:solidFill>
          <a:ln xmlns:a="http://schemas.openxmlformats.org/drawingml/2006/main" w="9525">
            <a:solidFill>
              <a:srgbClr val="2AA876"/>
            </a:solidFill>
          </a:ln>
        </p:spPr>
      </p:sp>
      <p:sp>
        <p:nvSpPr>
          <p:cNvPr id="17" name="">
            <a:extLst xmlns:a="http://schemas.openxmlformats.org/drawingml/2006/main">
              <a:ext uri="{FF2B5EF4-FFF2-40B4-BE49-F238E27FC236}">
                <a16:creationId xmlns:a16="http://schemas.microsoft.com/office/drawing/2014/main" id="{C039F723-2470-4F56-A999-E4CE235E9968}"/>
              </a:ext>
            </a:extLst>
          </p:cNvPr>
          <p:cNvSpPr>
            <a:spLocks xmlns:a="http://schemas.openxmlformats.org/drawingml/2006/main" noGrp="1"/>
          </p:cNvSpPr>
          <p:nvPr/>
        </p:nvSpPr>
        <p:spPr>
          <a:xfrm xmlns:a="http://schemas.openxmlformats.org/drawingml/2006/main">
            <a:off x="5124450" y="2857500"/>
            <a:ext cx="1676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350" b="1">
                <a:solidFill>
                  <a:srgbClr val="2AA876"/>
                </a:solidFill>
                <a:latin typeface="YuGothic"/>
                <a:ea typeface="YuGothic"/>
                <a:cs typeface="YuGothic"/>
              </a:defRPr>
            </a:pPr>
            <a:r>
              <a:rPr sz="1350" b="1">
                <a:solidFill>
                  <a:srgbClr val="2AA876"/>
                </a:solidFill>
                <a:latin typeface="YuGothic"/>
                <a:ea typeface="YuGothic"/>
                <a:cs typeface="YuGothic"/>
              </a:rPr>
              <a:t>2クラスLIME</a:t>
            </a:r>
          </a:p>
        </p:txBody>
      </p:sp>
      <p:sp>
        <p:nvSpPr>
          <p:cNvPr id="18" name="">
            <a:extLst xmlns:a="http://schemas.openxmlformats.org/drawingml/2006/main">
              <a:ext uri="{FF2B5EF4-FFF2-40B4-BE49-F238E27FC236}">
                <a16:creationId xmlns:a16="http://schemas.microsoft.com/office/drawing/2014/main" id="{4131D9CA-BBF6-4744-8522-D9C5743AD87F}"/>
              </a:ext>
            </a:extLst>
          </p:cNvPr>
          <p:cNvSpPr>
            <a:spLocks xmlns:a="http://schemas.openxmlformats.org/drawingml/2006/main" noGrp="1"/>
          </p:cNvSpPr>
          <p:nvPr/>
        </p:nvSpPr>
        <p:spPr>
          <a:xfrm xmlns:a="http://schemas.openxmlformats.org/drawingml/2006/main">
            <a:off x="5143500" y="3238500"/>
            <a:ext cx="16383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200" b="0">
                <a:solidFill>
                  <a:srgbClr val="17233D"/>
                </a:solidFill>
                <a:latin typeface="YuGothic"/>
                <a:ea typeface="YuGothic"/>
                <a:cs typeface="YuGothic"/>
              </a:defRPr>
            </a:pPr>
            <a:r>
              <a:rPr sz="1200" b="0">
                <a:solidFill>
                  <a:srgbClr val="17233D"/>
                </a:solidFill>
                <a:latin typeface="YuGothic"/>
                <a:ea typeface="YuGothic"/>
                <a:cs typeface="YuGothic"/>
              </a:rPr>
              <a:t>q を Ridge 回帰</a:t>
            </a:r>
          </a:p>
        </p:txBody>
      </p:sp>
      <p:sp>
        <p:nvSpPr>
          <p:cNvPr id="19" name="">
            <a:extLst xmlns:a="http://schemas.openxmlformats.org/drawingml/2006/main">
              <a:ext uri="{FF2B5EF4-FFF2-40B4-BE49-F238E27FC236}">
                <a16:creationId xmlns:a16="http://schemas.microsoft.com/office/drawing/2014/main" id="{08C126D8-D408-4A23-B3B1-5AA0A7929945}"/>
              </a:ext>
            </a:extLst>
          </p:cNvPr>
          <p:cNvSpPr>
            <a:spLocks xmlns:a="http://schemas.openxmlformats.org/drawingml/2006/main" noGrp="1"/>
          </p:cNvSpPr>
          <p:nvPr/>
        </p:nvSpPr>
        <p:spPr>
          <a:xfrm xmlns:a="http://schemas.openxmlformats.org/drawingml/2006/main">
            <a:off x="7124700" y="2724150"/>
            <a:ext cx="1905000" cy="1162050"/>
          </a:xfrm>
          <a:prstGeom xmlns:a="http://schemas.openxmlformats.org/drawingml/2006/main" prst="roundRect">
            <a:avLst>
              <a:gd name="adj" fmla="val 6557"/>
            </a:avLst>
          </a:prstGeom>
          <a:solidFill xmlns:a="http://schemas.openxmlformats.org/drawingml/2006/main">
            <a:srgbClr val="FFFFFF"/>
          </a:solidFill>
          <a:ln xmlns:a="http://schemas.openxmlformats.org/drawingml/2006/main" w="9525">
            <a:solidFill>
              <a:srgbClr val="F28C28"/>
            </a:solidFill>
          </a:ln>
        </p:spPr>
      </p:sp>
      <p:sp>
        <p:nvSpPr>
          <p:cNvPr id="20" name="">
            <a:extLst xmlns:a="http://schemas.openxmlformats.org/drawingml/2006/main">
              <a:ext uri="{FF2B5EF4-FFF2-40B4-BE49-F238E27FC236}">
                <a16:creationId xmlns:a16="http://schemas.microsoft.com/office/drawing/2014/main" id="{D2D5540B-FE52-4E61-92D7-C896715C4917}"/>
              </a:ext>
            </a:extLst>
          </p:cNvPr>
          <p:cNvSpPr>
            <a:spLocks xmlns:a="http://schemas.openxmlformats.org/drawingml/2006/main" noGrp="1"/>
          </p:cNvSpPr>
          <p:nvPr/>
        </p:nvSpPr>
        <p:spPr>
          <a:xfrm xmlns:a="http://schemas.openxmlformats.org/drawingml/2006/main">
            <a:off x="7239000" y="2857500"/>
            <a:ext cx="1676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350" b="1">
                <a:solidFill>
                  <a:srgbClr val="F28C28"/>
                </a:solidFill>
                <a:latin typeface="YuGothic"/>
                <a:ea typeface="YuGothic"/>
                <a:cs typeface="YuGothic"/>
              </a:defRPr>
            </a:pPr>
            <a:r>
              <a:rPr sz="1350" b="1">
                <a:solidFill>
                  <a:srgbClr val="F28C28"/>
                </a:solidFill>
                <a:latin typeface="YuGothic"/>
                <a:ea typeface="YuGothic"/>
                <a:cs typeface="YuGothic"/>
              </a:rPr>
              <a:t>Contrastive</a:t>
            </a:r>
          </a:p>
        </p:txBody>
      </p:sp>
      <p:sp>
        <p:nvSpPr>
          <p:cNvPr id="21" name="">
            <a:extLst xmlns:a="http://schemas.openxmlformats.org/drawingml/2006/main">
              <a:ext uri="{FF2B5EF4-FFF2-40B4-BE49-F238E27FC236}">
                <a16:creationId xmlns:a16="http://schemas.microsoft.com/office/drawing/2014/main" id="{6D62FC1E-2BAF-4DD4-9DA9-994B5A0B0878}"/>
              </a:ext>
            </a:extLst>
          </p:cNvPr>
          <p:cNvSpPr>
            <a:spLocks xmlns:a="http://schemas.openxmlformats.org/drawingml/2006/main" noGrp="1"/>
          </p:cNvSpPr>
          <p:nvPr/>
        </p:nvSpPr>
        <p:spPr>
          <a:xfrm xmlns:a="http://schemas.openxmlformats.org/drawingml/2006/main">
            <a:off x="7258050" y="3238500"/>
            <a:ext cx="16383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200" b="0">
                <a:solidFill>
                  <a:srgbClr val="17233D"/>
                </a:solidFill>
                <a:latin typeface="YuGothic"/>
                <a:ea typeface="YuGothic"/>
                <a:cs typeface="YuGothic"/>
              </a:defRPr>
            </a:pPr>
            <a:r>
              <a:rPr sz="1200" b="0">
                <a:solidFill>
                  <a:srgbClr val="17233D"/>
                </a:solidFill>
                <a:latin typeface="YuGothic"/>
                <a:ea typeface="YuGothic"/>
                <a:cs typeface="YuGothic"/>
              </a:rPr>
              <a:t>log(p₁/p₂) を Ridge 回帰</a:t>
            </a:r>
          </a:p>
        </p:txBody>
      </p:sp>
      <p:sp>
        <p:nvSpPr>
          <p:cNvPr id="22" name="">
            <a:extLst xmlns:a="http://schemas.openxmlformats.org/drawingml/2006/main">
              <a:ext uri="{FF2B5EF4-FFF2-40B4-BE49-F238E27FC236}">
                <a16:creationId xmlns:a16="http://schemas.microsoft.com/office/drawing/2014/main" id="{9C6B1B2C-C5B8-4082-9629-8B4E47D7BC70}"/>
              </a:ext>
            </a:extLst>
          </p:cNvPr>
          <p:cNvSpPr>
            <a:spLocks xmlns:a="http://schemas.openxmlformats.org/drawingml/2006/main" noGrp="1"/>
          </p:cNvSpPr>
          <p:nvPr/>
        </p:nvSpPr>
        <p:spPr>
          <a:xfrm xmlns:a="http://schemas.openxmlformats.org/drawingml/2006/main">
            <a:off x="9239250" y="2724150"/>
            <a:ext cx="1905000" cy="1162050"/>
          </a:xfrm>
          <a:prstGeom xmlns:a="http://schemas.openxmlformats.org/drawingml/2006/main" prst="roundRect">
            <a:avLst>
              <a:gd name="adj" fmla="val 6557"/>
            </a:avLst>
          </a:prstGeom>
          <a:solidFill xmlns:a="http://schemas.openxmlformats.org/drawingml/2006/main">
            <a:srgbClr val="FFFFFF"/>
          </a:solidFill>
          <a:ln xmlns:a="http://schemas.openxmlformats.org/drawingml/2006/main" w="9525">
            <a:solidFill>
              <a:srgbClr val="7B61A8"/>
            </a:solidFill>
          </a:ln>
        </p:spPr>
      </p:sp>
      <p:sp>
        <p:nvSpPr>
          <p:cNvPr id="23" name="">
            <a:extLst xmlns:a="http://schemas.openxmlformats.org/drawingml/2006/main">
              <a:ext uri="{FF2B5EF4-FFF2-40B4-BE49-F238E27FC236}">
                <a16:creationId xmlns:a16="http://schemas.microsoft.com/office/drawing/2014/main" id="{9672BDE5-344D-4A76-82CF-B768B881405A}"/>
              </a:ext>
            </a:extLst>
          </p:cNvPr>
          <p:cNvSpPr>
            <a:spLocks xmlns:a="http://schemas.openxmlformats.org/drawingml/2006/main" noGrp="1"/>
          </p:cNvSpPr>
          <p:nvPr/>
        </p:nvSpPr>
        <p:spPr>
          <a:xfrm xmlns:a="http://schemas.openxmlformats.org/drawingml/2006/main">
            <a:off x="9353550" y="2857500"/>
            <a:ext cx="1676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350" b="1">
                <a:solidFill>
                  <a:srgbClr val="7B61A8"/>
                </a:solidFill>
                <a:latin typeface="YuGothic"/>
                <a:ea typeface="YuGothic"/>
                <a:cs typeface="YuGothic"/>
              </a:defRPr>
            </a:pPr>
            <a:r>
              <a:rPr sz="1350" b="1">
                <a:solidFill>
                  <a:srgbClr val="7B61A8"/>
                </a:solidFill>
                <a:latin typeface="YuGothic"/>
                <a:ea typeface="YuGothic"/>
                <a:cs typeface="YuGothic"/>
              </a:rPr>
              <a:t>OVO Logistic</a:t>
            </a:r>
          </a:p>
        </p:txBody>
      </p:sp>
      <p:sp>
        <p:nvSpPr>
          <p:cNvPr id="24" name="">
            <a:extLst xmlns:a="http://schemas.openxmlformats.org/drawingml/2006/main">
              <a:ext uri="{FF2B5EF4-FFF2-40B4-BE49-F238E27FC236}">
                <a16:creationId xmlns:a16="http://schemas.microsoft.com/office/drawing/2014/main" id="{F0FAFC5C-0A40-43AD-9058-30DAB74A2917}"/>
              </a:ext>
            </a:extLst>
          </p:cNvPr>
          <p:cNvSpPr>
            <a:spLocks xmlns:a="http://schemas.openxmlformats.org/drawingml/2006/main" noGrp="1"/>
          </p:cNvSpPr>
          <p:nvPr/>
        </p:nvSpPr>
        <p:spPr>
          <a:xfrm xmlns:a="http://schemas.openxmlformats.org/drawingml/2006/main">
            <a:off x="9372600" y="3238500"/>
            <a:ext cx="16383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0703"/>
          </a:bodyPr>
          <a:lstStyle xmlns:a="http://schemas.openxmlformats.org/drawingml/2006/main"/>
          <a:p xmlns:a="http://schemas.openxmlformats.org/drawingml/2006/main">
            <a:pPr algn="ctr">
              <a:defRPr sz="1200" b="0">
                <a:solidFill>
                  <a:srgbClr val="17233D"/>
                </a:solidFill>
                <a:latin typeface="YuGothic"/>
                <a:ea typeface="YuGothic"/>
                <a:cs typeface="YuGothic"/>
              </a:defRPr>
            </a:pPr>
            <a:r>
              <a:rPr sz="1200" b="0">
                <a:solidFill>
                  <a:srgbClr val="17233D"/>
                </a:solidFill>
                <a:latin typeface="YuGothic"/>
                <a:ea typeface="YuGothic"/>
                <a:cs typeface="YuGothic"/>
              </a:rPr>
              <a:t>q を交差エントロピーで回帰</a:t>
            </a:r>
          </a:p>
        </p:txBody>
      </p:sp>
      <p:sp>
        <p:nvSpPr>
          <p:cNvPr id="25" name="">
            <a:extLst xmlns:a="http://schemas.openxmlformats.org/drawingml/2006/main">
              <a:ext uri="{FF2B5EF4-FFF2-40B4-BE49-F238E27FC236}">
                <a16:creationId xmlns:a16="http://schemas.microsoft.com/office/drawing/2014/main" id="{CDA78484-938B-49AF-B919-4E43956DDB33}"/>
              </a:ext>
            </a:extLst>
          </p:cNvPr>
          <p:cNvSpPr>
            <a:spLocks xmlns:a="http://schemas.openxmlformats.org/drawingml/2006/main" noGrp="1"/>
          </p:cNvSpPr>
          <p:nvPr/>
        </p:nvSpPr>
        <p:spPr>
          <a:xfrm xmlns:a="http://schemas.openxmlformats.org/drawingml/2006/main">
            <a:off x="647700" y="4695825"/>
            <a:ext cx="1466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424"/>
          </a:bodyPr>
          <a:lstStyle xmlns:a="http://schemas.openxmlformats.org/drawingml/2006/main"/>
          <a:p xmlns:a="http://schemas.openxmlformats.org/drawingml/2006/main">
            <a:pPr algn="l">
              <a:defRPr sz="1650" b="1">
                <a:solidFill>
                  <a:srgbClr val="1479C9"/>
                </a:solidFill>
                <a:latin typeface="YuGothic"/>
                <a:ea typeface="YuGothic"/>
                <a:cs typeface="YuGothic"/>
              </a:defRPr>
            </a:pPr>
            <a:r>
              <a:rPr sz="1650" b="1">
                <a:solidFill>
                  <a:srgbClr val="1479C9"/>
                </a:solidFill>
                <a:latin typeface="YuGothic"/>
                <a:ea typeface="YuGothic"/>
                <a:cs typeface="YuGothic"/>
              </a:rPr>
              <a:t>評価指標</a:t>
            </a:r>
          </a:p>
        </p:txBody>
      </p:sp>
      <p:sp>
        <p:nvSpPr>
          <p:cNvPr id="26" name="">
            <a:extLst xmlns:a="http://schemas.openxmlformats.org/drawingml/2006/main">
              <a:ext uri="{FF2B5EF4-FFF2-40B4-BE49-F238E27FC236}">
                <a16:creationId xmlns:a16="http://schemas.microsoft.com/office/drawing/2014/main" id="{629D3E3C-8CBD-451D-957B-DE75D8E0F24A}"/>
              </a:ext>
            </a:extLst>
          </p:cNvPr>
          <p:cNvSpPr>
            <a:spLocks xmlns:a="http://schemas.openxmlformats.org/drawingml/2006/main" noGrp="1"/>
          </p:cNvSpPr>
          <p:nvPr/>
        </p:nvSpPr>
        <p:spPr>
          <a:xfrm xmlns:a="http://schemas.openxmlformats.org/drawingml/2006/main">
            <a:off x="647700" y="5105400"/>
            <a:ext cx="260985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E7EBF0"/>
            </a:solidFill>
          </a:ln>
        </p:spPr>
      </p:sp>
      <p:sp>
        <p:nvSpPr>
          <p:cNvPr id="27" name="">
            <a:extLst xmlns:a="http://schemas.openxmlformats.org/drawingml/2006/main">
              <a:ext uri="{FF2B5EF4-FFF2-40B4-BE49-F238E27FC236}">
                <a16:creationId xmlns:a16="http://schemas.microsoft.com/office/drawing/2014/main" id="{1DDBAA58-337F-4FF6-8641-8EFFC3BDB38D}"/>
              </a:ext>
            </a:extLst>
          </p:cNvPr>
          <p:cNvSpPr>
            <a:spLocks xmlns:a="http://schemas.openxmlformats.org/drawingml/2006/main" noGrp="1"/>
          </p:cNvSpPr>
          <p:nvPr/>
        </p:nvSpPr>
        <p:spPr>
          <a:xfrm xmlns:a="http://schemas.openxmlformats.org/drawingml/2006/main">
            <a:off x="762000" y="5210175"/>
            <a:ext cx="238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185"/>
          </a:bodyPr>
          <a:lstStyle xmlns:a="http://schemas.openxmlformats.org/drawingml/2006/main"/>
          <a:p xmlns:a="http://schemas.openxmlformats.org/drawingml/2006/main">
            <a:pPr algn="ctr">
              <a:defRPr sz="1350" b="1">
                <a:solidFill>
                  <a:srgbClr val="1479C9"/>
                </a:solidFill>
                <a:latin typeface="YuGothic"/>
                <a:ea typeface="YuGothic"/>
                <a:cs typeface="YuGothic"/>
              </a:defRPr>
            </a:pPr>
            <a:r>
              <a:rPr sz="1350" b="1">
                <a:solidFill>
                  <a:srgbClr val="1479C9"/>
                </a:solidFill>
                <a:latin typeface="YuGothic"/>
                <a:ea typeface="YuGothic"/>
                <a:cs typeface="YuGothic"/>
              </a:rPr>
              <a:t>ペア符号忠実度</a:t>
            </a:r>
          </a:p>
        </p:txBody>
      </p:sp>
      <p:sp>
        <p:nvSpPr>
          <p:cNvPr id="28" name="">
            <a:extLst xmlns:a="http://schemas.openxmlformats.org/drawingml/2006/main">
              <a:ext uri="{FF2B5EF4-FFF2-40B4-BE49-F238E27FC236}">
                <a16:creationId xmlns:a16="http://schemas.microsoft.com/office/drawing/2014/main" id="{A37340AD-B578-424B-AB04-6B9271B60839}"/>
              </a:ext>
            </a:extLst>
          </p:cNvPr>
          <p:cNvSpPr>
            <a:spLocks xmlns:a="http://schemas.openxmlformats.org/drawingml/2006/main" noGrp="1"/>
          </p:cNvSpPr>
          <p:nvPr/>
        </p:nvSpPr>
        <p:spPr>
          <a:xfrm xmlns:a="http://schemas.openxmlformats.org/drawingml/2006/main">
            <a:off x="781050" y="5534025"/>
            <a:ext cx="23431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125" b="0">
                <a:solidFill>
                  <a:srgbClr val="687386"/>
                </a:solidFill>
                <a:latin typeface="YuGothic"/>
                <a:ea typeface="YuGothic"/>
                <a:cs typeface="YuGothic"/>
              </a:defRPr>
            </a:pPr>
            <a:r>
              <a:rPr sz="1125" b="0">
                <a:solidFill>
                  <a:srgbClr val="687386"/>
                </a:solidFill>
                <a:latin typeface="YuGothic"/>
                <a:ea typeface="YuGothic"/>
                <a:cs typeface="YuGothic"/>
              </a:rPr>
              <a:t>Top-1 / Top-2 の大小関係を</a:t>
            </a:r>
          </a:p>
          <a:p xmlns:a="http://schemas.openxmlformats.org/drawingml/2006/main">
            <a:pPr algn="ctr">
              <a:defRPr sz="1125" b="0">
                <a:solidFill>
                  <a:srgbClr val="687386"/>
                </a:solidFill>
                <a:latin typeface="YuGothic"/>
                <a:ea typeface="YuGothic"/>
                <a:cs typeface="YuGothic"/>
              </a:defRPr>
            </a:pPr>
            <a:r>
              <a:rPr sz="1125" b="0">
                <a:solidFill>
                  <a:srgbClr val="687386"/>
                </a:solidFill>
                <a:latin typeface="YuGothic"/>
                <a:ea typeface="YuGothic"/>
                <a:cs typeface="YuGothic"/>
              </a:rPr>
              <a:t>未使用摂動で再現できた割合</a:t>
            </a:r>
          </a:p>
        </p:txBody>
      </p:sp>
      <p:sp>
        <p:nvSpPr>
          <p:cNvPr id="29" name="">
            <a:extLst xmlns:a="http://schemas.openxmlformats.org/drawingml/2006/main">
              <a:ext uri="{FF2B5EF4-FFF2-40B4-BE49-F238E27FC236}">
                <a16:creationId xmlns:a16="http://schemas.microsoft.com/office/drawing/2014/main" id="{36C4BACF-CC3E-4C36-8345-52983C156A22}"/>
              </a:ext>
            </a:extLst>
          </p:cNvPr>
          <p:cNvSpPr>
            <a:spLocks xmlns:a="http://schemas.openxmlformats.org/drawingml/2006/main" noGrp="1"/>
          </p:cNvSpPr>
          <p:nvPr/>
        </p:nvSpPr>
        <p:spPr>
          <a:xfrm xmlns:a="http://schemas.openxmlformats.org/drawingml/2006/main">
            <a:off x="3467100" y="5105400"/>
            <a:ext cx="260985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E7EBF0"/>
            </a:solidFill>
          </a:ln>
        </p:spPr>
      </p:sp>
      <p:sp>
        <p:nvSpPr>
          <p:cNvPr id="30" name="">
            <a:extLst xmlns:a="http://schemas.openxmlformats.org/drawingml/2006/main">
              <a:ext uri="{FF2B5EF4-FFF2-40B4-BE49-F238E27FC236}">
                <a16:creationId xmlns:a16="http://schemas.microsoft.com/office/drawing/2014/main" id="{1700D656-44CB-4FAB-B9D2-64F420D209B8}"/>
              </a:ext>
            </a:extLst>
          </p:cNvPr>
          <p:cNvSpPr>
            <a:spLocks xmlns:a="http://schemas.openxmlformats.org/drawingml/2006/main" noGrp="1"/>
          </p:cNvSpPr>
          <p:nvPr/>
        </p:nvSpPr>
        <p:spPr>
          <a:xfrm xmlns:a="http://schemas.openxmlformats.org/drawingml/2006/main">
            <a:off x="3581400" y="5210175"/>
            <a:ext cx="238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185"/>
          </a:bodyPr>
          <a:lstStyle xmlns:a="http://schemas.openxmlformats.org/drawingml/2006/main"/>
          <a:p xmlns:a="http://schemas.openxmlformats.org/drawingml/2006/main">
            <a:pPr algn="ctr">
              <a:defRPr sz="1350" b="1">
                <a:solidFill>
                  <a:srgbClr val="1479C9"/>
                </a:solidFill>
                <a:latin typeface="YuGothic"/>
                <a:ea typeface="YuGothic"/>
                <a:cs typeface="YuGothic"/>
              </a:defRPr>
            </a:pPr>
            <a:r>
              <a:rPr sz="1350" b="1">
                <a:solidFill>
                  <a:srgbClr val="1479C9"/>
                </a:solidFill>
                <a:latin typeface="YuGothic"/>
                <a:ea typeface="YuGothic"/>
                <a:cs typeface="YuGothic"/>
              </a:rPr>
              <a:t>重み付き Brier</a:t>
            </a:r>
          </a:p>
        </p:txBody>
      </p:sp>
      <p:sp>
        <p:nvSpPr>
          <p:cNvPr id="31" name="">
            <a:extLst xmlns:a="http://schemas.openxmlformats.org/drawingml/2006/main">
              <a:ext uri="{FF2B5EF4-FFF2-40B4-BE49-F238E27FC236}">
                <a16:creationId xmlns:a16="http://schemas.microsoft.com/office/drawing/2014/main" id="{2C5D5AE2-6D2F-4F0A-B8DA-67E4C8628853}"/>
              </a:ext>
            </a:extLst>
          </p:cNvPr>
          <p:cNvSpPr>
            <a:spLocks xmlns:a="http://schemas.openxmlformats.org/drawingml/2006/main" noGrp="1"/>
          </p:cNvSpPr>
          <p:nvPr/>
        </p:nvSpPr>
        <p:spPr>
          <a:xfrm xmlns:a="http://schemas.openxmlformats.org/drawingml/2006/main">
            <a:off x="3600450" y="5534025"/>
            <a:ext cx="23431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125" b="0">
                <a:solidFill>
                  <a:srgbClr val="687386"/>
                </a:solidFill>
                <a:latin typeface="YuGothic"/>
                <a:ea typeface="YuGothic"/>
                <a:cs typeface="YuGothic"/>
              </a:defRPr>
            </a:pPr>
            <a:r>
              <a:rPr sz="1125" b="0">
                <a:solidFill>
                  <a:srgbClr val="687386"/>
                </a:solidFill>
                <a:latin typeface="YuGothic"/>
                <a:ea typeface="YuGothic"/>
                <a:cs typeface="YuGothic"/>
              </a:rPr>
              <a:t>q の確率近似誤差</a:t>
            </a:r>
          </a:p>
          <a:p xmlns:a="http://schemas.openxmlformats.org/drawingml/2006/main">
            <a:pPr algn="ctr">
              <a:defRPr sz="1125" b="0">
                <a:solidFill>
                  <a:srgbClr val="687386"/>
                </a:solidFill>
                <a:latin typeface="YuGothic"/>
                <a:ea typeface="YuGothic"/>
                <a:cs typeface="YuGothic"/>
              </a:defRPr>
            </a:pPr>
            <a:r>
              <a:rPr sz="1125" b="0">
                <a:solidFill>
                  <a:srgbClr val="687386"/>
                </a:solidFill>
                <a:latin typeface="YuGothic"/>
                <a:ea typeface="YuGothic"/>
                <a:cs typeface="YuGothic"/>
              </a:rPr>
              <a:t>小さいほどよい</a:t>
            </a:r>
          </a:p>
        </p:txBody>
      </p:sp>
      <p:sp>
        <p:nvSpPr>
          <p:cNvPr id="32" name="">
            <a:extLst xmlns:a="http://schemas.openxmlformats.org/drawingml/2006/main">
              <a:ext uri="{FF2B5EF4-FFF2-40B4-BE49-F238E27FC236}">
                <a16:creationId xmlns:a16="http://schemas.microsoft.com/office/drawing/2014/main" id="{FDCA194D-8EA8-4940-B7A1-BC077EB1CE97}"/>
              </a:ext>
            </a:extLst>
          </p:cNvPr>
          <p:cNvSpPr>
            <a:spLocks xmlns:a="http://schemas.openxmlformats.org/drawingml/2006/main" noGrp="1"/>
          </p:cNvSpPr>
          <p:nvPr/>
        </p:nvSpPr>
        <p:spPr>
          <a:xfrm xmlns:a="http://schemas.openxmlformats.org/drawingml/2006/main">
            <a:off x="6286500" y="5105400"/>
            <a:ext cx="260985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E7EBF0"/>
            </a:solidFill>
          </a:ln>
        </p:spPr>
      </p:sp>
      <p:sp>
        <p:nvSpPr>
          <p:cNvPr id="33" name="">
            <a:extLst xmlns:a="http://schemas.openxmlformats.org/drawingml/2006/main">
              <a:ext uri="{FF2B5EF4-FFF2-40B4-BE49-F238E27FC236}">
                <a16:creationId xmlns:a16="http://schemas.microsoft.com/office/drawing/2014/main" id="{7EB34258-3FB6-454C-8D8A-48F4C1FF9DDA}"/>
              </a:ext>
            </a:extLst>
          </p:cNvPr>
          <p:cNvSpPr>
            <a:spLocks xmlns:a="http://schemas.openxmlformats.org/drawingml/2006/main" noGrp="1"/>
          </p:cNvSpPr>
          <p:nvPr/>
        </p:nvSpPr>
        <p:spPr>
          <a:xfrm xmlns:a="http://schemas.openxmlformats.org/drawingml/2006/main">
            <a:off x="6400800" y="5210175"/>
            <a:ext cx="238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185"/>
          </a:bodyPr>
          <a:lstStyle xmlns:a="http://schemas.openxmlformats.org/drawingml/2006/main"/>
          <a:p xmlns:a="http://schemas.openxmlformats.org/drawingml/2006/main">
            <a:pPr algn="ctr">
              <a:defRPr sz="1350" b="1">
                <a:solidFill>
                  <a:srgbClr val="1479C9"/>
                </a:solidFill>
                <a:latin typeface="YuGothic"/>
                <a:ea typeface="YuGothic"/>
                <a:cs typeface="YuGothic"/>
              </a:defRPr>
            </a:pPr>
            <a:r>
              <a:rPr sz="1350" b="1">
                <a:solidFill>
                  <a:srgbClr val="1479C9"/>
                </a:solidFill>
                <a:latin typeface="YuGothic"/>
                <a:ea typeface="YuGothic"/>
                <a:cs typeface="YuGothic"/>
              </a:rPr>
              <a:t>競合特徴再現率</a:t>
            </a:r>
          </a:p>
        </p:txBody>
      </p:sp>
      <p:sp>
        <p:nvSpPr>
          <p:cNvPr id="34" name="">
            <a:extLst xmlns:a="http://schemas.openxmlformats.org/drawingml/2006/main">
              <a:ext uri="{FF2B5EF4-FFF2-40B4-BE49-F238E27FC236}">
                <a16:creationId xmlns:a16="http://schemas.microsoft.com/office/drawing/2014/main" id="{BF1A4AEE-6C5E-432E-81BC-66DB478F616C}"/>
              </a:ext>
            </a:extLst>
          </p:cNvPr>
          <p:cNvSpPr>
            <a:spLocks xmlns:a="http://schemas.openxmlformats.org/drawingml/2006/main" noGrp="1"/>
          </p:cNvSpPr>
          <p:nvPr/>
        </p:nvSpPr>
        <p:spPr>
          <a:xfrm xmlns:a="http://schemas.openxmlformats.org/drawingml/2006/main">
            <a:off x="6419850" y="5534025"/>
            <a:ext cx="23431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125" b="0">
                <a:solidFill>
                  <a:srgbClr val="687386"/>
                </a:solidFill>
                <a:latin typeface="YuGothic"/>
                <a:ea typeface="YuGothic"/>
                <a:cs typeface="YuGothic"/>
              </a:defRPr>
            </a:pPr>
            <a:r>
              <a:rPr sz="1125" b="0">
                <a:solidFill>
                  <a:srgbClr val="687386"/>
                </a:solidFill>
                <a:latin typeface="YuGothic"/>
                <a:ea typeface="YuGothic"/>
                <a:cs typeface="YuGothic"/>
              </a:rPr>
              <a:t>本当にクラス差を作る特徴を</a:t>
            </a:r>
          </a:p>
          <a:p xmlns:a="http://schemas.openxmlformats.org/drawingml/2006/main">
            <a:pPr algn="ctr">
              <a:defRPr sz="1125" b="0">
                <a:solidFill>
                  <a:srgbClr val="687386"/>
                </a:solidFill>
                <a:latin typeface="YuGothic"/>
                <a:ea typeface="YuGothic"/>
                <a:cs typeface="YuGothic"/>
              </a:defRPr>
            </a:pPr>
            <a:r>
              <a:rPr sz="1125" b="0">
                <a:solidFill>
                  <a:srgbClr val="687386"/>
                </a:solidFill>
                <a:latin typeface="YuGothic"/>
                <a:ea typeface="YuGothic"/>
                <a:cs typeface="YuGothic"/>
              </a:rPr>
              <a:t>上位K個で拾えた割合</a:t>
            </a:r>
          </a:p>
        </p:txBody>
      </p:sp>
      <p:sp>
        <p:nvSpPr>
          <p:cNvPr id="35" name="">
            <a:extLst xmlns:a="http://schemas.openxmlformats.org/drawingml/2006/main">
              <a:ext uri="{FF2B5EF4-FFF2-40B4-BE49-F238E27FC236}">
                <a16:creationId xmlns:a16="http://schemas.microsoft.com/office/drawing/2014/main" id="{4787A88B-4A45-47C3-880E-68352F2E54AF}"/>
              </a:ext>
            </a:extLst>
          </p:cNvPr>
          <p:cNvSpPr>
            <a:spLocks xmlns:a="http://schemas.openxmlformats.org/drawingml/2006/main" noGrp="1"/>
          </p:cNvSpPr>
          <p:nvPr/>
        </p:nvSpPr>
        <p:spPr>
          <a:xfrm xmlns:a="http://schemas.openxmlformats.org/drawingml/2006/main">
            <a:off x="9105900" y="5105400"/>
            <a:ext cx="260985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E7EBF0"/>
            </a:solidFill>
          </a:ln>
        </p:spPr>
      </p:sp>
      <p:sp>
        <p:nvSpPr>
          <p:cNvPr id="36" name="">
            <a:extLst xmlns:a="http://schemas.openxmlformats.org/drawingml/2006/main">
              <a:ext uri="{FF2B5EF4-FFF2-40B4-BE49-F238E27FC236}">
                <a16:creationId xmlns:a16="http://schemas.microsoft.com/office/drawing/2014/main" id="{6DBED404-4683-43A9-9625-21C2FD49A29A}"/>
              </a:ext>
            </a:extLst>
          </p:cNvPr>
          <p:cNvSpPr>
            <a:spLocks xmlns:a="http://schemas.openxmlformats.org/drawingml/2006/main" noGrp="1"/>
          </p:cNvSpPr>
          <p:nvPr/>
        </p:nvSpPr>
        <p:spPr>
          <a:xfrm xmlns:a="http://schemas.openxmlformats.org/drawingml/2006/main">
            <a:off x="9220200" y="5210175"/>
            <a:ext cx="238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185"/>
          </a:bodyPr>
          <a:lstStyle xmlns:a="http://schemas.openxmlformats.org/drawingml/2006/main"/>
          <a:p xmlns:a="http://schemas.openxmlformats.org/drawingml/2006/main">
            <a:pPr algn="ctr">
              <a:defRPr sz="1350" b="1">
                <a:solidFill>
                  <a:srgbClr val="1479C9"/>
                </a:solidFill>
                <a:latin typeface="YuGothic"/>
                <a:ea typeface="YuGothic"/>
                <a:cs typeface="YuGothic"/>
              </a:defRPr>
            </a:pPr>
            <a:r>
              <a:rPr sz="1350" b="1">
                <a:solidFill>
                  <a:srgbClr val="1479C9"/>
                </a:solidFill>
                <a:latin typeface="YuGothic"/>
                <a:ea typeface="YuGothic"/>
                <a:cs typeface="YuGothic"/>
              </a:rPr>
              <a:t>計算時間</a:t>
            </a:r>
          </a:p>
        </p:txBody>
      </p:sp>
      <p:sp>
        <p:nvSpPr>
          <p:cNvPr id="37" name="">
            <a:extLst xmlns:a="http://schemas.openxmlformats.org/drawingml/2006/main">
              <a:ext uri="{FF2B5EF4-FFF2-40B4-BE49-F238E27FC236}">
                <a16:creationId xmlns:a16="http://schemas.microsoft.com/office/drawing/2014/main" id="{8C6C542F-6F13-41F1-AF96-A752A100B9AD}"/>
              </a:ext>
            </a:extLst>
          </p:cNvPr>
          <p:cNvSpPr>
            <a:spLocks xmlns:a="http://schemas.openxmlformats.org/drawingml/2006/main" noGrp="1"/>
          </p:cNvSpPr>
          <p:nvPr/>
        </p:nvSpPr>
        <p:spPr>
          <a:xfrm xmlns:a="http://schemas.openxmlformats.org/drawingml/2006/main">
            <a:off x="9239250" y="5534025"/>
            <a:ext cx="23431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125" b="0">
                <a:solidFill>
                  <a:srgbClr val="687386"/>
                </a:solidFill>
                <a:latin typeface="YuGothic"/>
                <a:ea typeface="YuGothic"/>
                <a:cs typeface="YuGothic"/>
              </a:defRPr>
            </a:pPr>
            <a:r>
              <a:rPr sz="1125" b="0">
                <a:solidFill>
                  <a:srgbClr val="687386"/>
                </a:solidFill>
                <a:latin typeface="YuGothic"/>
                <a:ea typeface="YuGothic"/>
                <a:cs typeface="YuGothic"/>
              </a:rPr>
              <a:t>説明1件の学習時間</a:t>
            </a:r>
          </a:p>
          <a:p xmlns:a="http://schemas.openxmlformats.org/drawingml/2006/main">
            <a:pPr algn="ctr">
              <a:defRPr sz="1125" b="0">
                <a:solidFill>
                  <a:srgbClr val="687386"/>
                </a:solidFill>
                <a:latin typeface="YuGothic"/>
                <a:ea typeface="YuGothic"/>
                <a:cs typeface="YuGothic"/>
              </a:defRPr>
            </a:pPr>
            <a:r>
              <a:rPr sz="1125" b="0">
                <a:solidFill>
                  <a:srgbClr val="687386"/>
                </a:solidFill>
                <a:latin typeface="YuGothic"/>
                <a:ea typeface="YuGothic"/>
                <a:cs typeface="YuGothic"/>
              </a:rPr>
              <a:t>次元数・クラス数を変化</a:t>
            </a:r>
          </a:p>
        </p:txBody>
      </p:sp>
    </p:spTree>
    <p:extLst>
      <p:ext uri="{BB962C8B-B14F-4D97-AF65-F5344CB8AC3E}">
        <p14:creationId xmlns:p14="http://schemas.microsoft.com/office/powerpoint/2010/main" val="437724588"/>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0FB8B319-9941-40F5-80F9-8CC8B56B25D7}"/>
              </a:ext>
            </a:extLst>
          </p:cNvPr>
          <p:cNvSpPr>
            <a:spLocks xmlns:a="http://schemas.openxmlformats.org/drawingml/2006/main" noGrp="1"/>
          </p:cNvSpPr>
          <p:nvPr/>
        </p:nvSpPr>
        <p:spPr>
          <a:xfrm xmlns:a="http://schemas.openxmlformats.org/drawingml/2006/main">
            <a:off x="514350" y="409575"/>
            <a:ext cx="114300" cy="476250"/>
          </a:xfrm>
          <a:prstGeom xmlns:a="http://schemas.openxmlformats.org/drawingml/2006/main" prst="rect">
            <a:avLst/>
          </a:prstGeom>
          <a:solidFill xmlns:a="http://schemas.openxmlformats.org/drawingml/2006/main">
            <a:srgbClr val="1479C9"/>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CF17338D-13CD-4EAC-AA02-43E43AAA861B}"/>
              </a:ext>
            </a:extLst>
          </p:cNvPr>
          <p:cNvSpPr>
            <a:spLocks xmlns:a="http://schemas.openxmlformats.org/drawingml/2006/main" noGrp="1"/>
          </p:cNvSpPr>
          <p:nvPr/>
        </p:nvSpPr>
        <p:spPr>
          <a:xfrm xmlns:a="http://schemas.openxmlformats.org/drawingml/2006/main">
            <a:off x="762000" y="3429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9020"/>
          </a:bodyPr>
          <a:lstStyle xmlns:a="http://schemas.openxmlformats.org/drawingml/2006/main"/>
          <a:p xmlns:a="http://schemas.openxmlformats.org/drawingml/2006/main">
            <a:pPr algn="l">
              <a:defRPr sz="2550" b="1">
                <a:solidFill>
                  <a:srgbClr val="17233D"/>
                </a:solidFill>
                <a:latin typeface="YuGothic"/>
                <a:ea typeface="YuGothic"/>
                <a:cs typeface="YuGothic"/>
              </a:defRPr>
            </a:pPr>
            <a:r>
              <a:rPr sz="2550" b="1">
                <a:solidFill>
                  <a:srgbClr val="17233D"/>
                </a:solidFill>
                <a:latin typeface="YuGothic"/>
                <a:ea typeface="YuGothic"/>
                <a:cs typeface="YuGothic"/>
              </a:rPr>
              <a:t>実験設定</a:t>
            </a:r>
          </a:p>
        </p:txBody>
      </p:sp>
      <p:sp>
        <p:nvSpPr>
          <p:cNvPr id="3" name="">
            <a:extLst xmlns:a="http://schemas.openxmlformats.org/drawingml/2006/main">
              <a:ext uri="{FF2B5EF4-FFF2-40B4-BE49-F238E27FC236}">
                <a16:creationId xmlns:a16="http://schemas.microsoft.com/office/drawing/2014/main" id="{100756D0-470C-4136-8BF5-976FF0351FAF}"/>
              </a:ext>
            </a:extLst>
          </p:cNvPr>
          <p:cNvSpPr>
            <a:spLocks xmlns:a="http://schemas.openxmlformats.org/drawingml/2006/main" noGrp="1"/>
          </p:cNvSpPr>
          <p:nvPr/>
        </p:nvSpPr>
        <p:spPr>
          <a:xfrm xmlns:a="http://schemas.openxmlformats.org/drawingml/2006/main">
            <a:off x="762000" y="80010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417"/>
          </a:bodyPr>
          <a:lstStyle xmlns:a="http://schemas.openxmlformats.org/drawingml/2006/main"/>
          <a:p xmlns:a="http://schemas.openxmlformats.org/drawingml/2006/main">
            <a:pPr algn="l">
              <a:defRPr sz="1200" b="0">
                <a:solidFill>
                  <a:srgbClr val="687386"/>
                </a:solidFill>
                <a:latin typeface="YuGothic"/>
                <a:ea typeface="YuGothic"/>
                <a:cs typeface="YuGothic"/>
              </a:defRPr>
            </a:pPr>
            <a:r>
              <a:rPr sz="1200" b="0">
                <a:solidFill>
                  <a:srgbClr val="687386"/>
                </a:solidFill>
                <a:latin typeface="YuGothic"/>
                <a:ea typeface="YuGothic"/>
                <a:cs typeface="YuGothic"/>
              </a:rPr>
              <a:t>すべての手法で摂動点・近接度重み・説明対象を共有</a:t>
            </a:r>
          </a:p>
        </p:txBody>
      </p:sp>
      <p:sp>
        <p:nvSpPr>
          <p:cNvPr id="4" name="">
            <a:extLst xmlns:a="http://schemas.openxmlformats.org/drawingml/2006/main">
              <a:ext uri="{FF2B5EF4-FFF2-40B4-BE49-F238E27FC236}">
                <a16:creationId xmlns:a16="http://schemas.microsoft.com/office/drawing/2014/main" id="{E4D384C3-7985-4858-A9B5-C6BA6A3830B3}"/>
              </a:ext>
            </a:extLst>
          </p:cNvPr>
          <p:cNvSpPr>
            <a:spLocks xmlns:a="http://schemas.openxmlformats.org/drawingml/2006/main" noGrp="1"/>
          </p:cNvSpPr>
          <p:nvPr/>
        </p:nvSpPr>
        <p:spPr>
          <a:xfrm xmlns:a="http://schemas.openxmlformats.org/drawingml/2006/main">
            <a:off x="11334750" y="6457950"/>
            <a:ext cx="4000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6667"/>
          </a:bodyPr>
          <a:lstStyle xmlns:a="http://schemas.openxmlformats.org/drawingml/2006/main"/>
          <a:p xmlns:a="http://schemas.openxmlformats.org/drawingml/2006/main">
            <a:pPr algn="r">
              <a:defRPr sz="975" b="0">
                <a:solidFill>
                  <a:srgbClr val="8993A4"/>
                </a:solidFill>
                <a:latin typeface="YuGothic"/>
                <a:ea typeface="YuGothic"/>
                <a:cs typeface="YuGothic"/>
              </a:defRPr>
            </a:pPr>
            <a:r>
              <a:rPr sz="975" b="0">
                <a:solidFill>
                  <a:srgbClr val="8993A4"/>
                </a:solidFill>
                <a:latin typeface="YuGothic"/>
                <a:ea typeface="YuGothic"/>
                <a:cs typeface="YuGothic"/>
              </a:rPr>
              <a:t>12</a:t>
            </a:r>
          </a:p>
        </p:txBody>
      </p:sp>
      <p:graphicFrame>
        <p:nvGraphicFramePr>
          <p:cNvPr id="11" name=""/>
          <p:cNvGraphicFramePr/>
          <p:nvPr/>
        </p:nvGraphicFramePr>
        <p:xfrm>
          <a:off xmlns:a="http://schemas.openxmlformats.org/drawingml/2006/main" x="762000" y="1295400"/>
          <a:ext xmlns:a="http://schemas.openxmlformats.org/drawingml/2006/main" cx="10668000" cy="4629150"/>
        </p:xfrm>
        <a:graphic xmlns:a="http://schemas.openxmlformats.org/drawingml/2006/main">
          <a:graphicData uri="http://schemas.openxmlformats.org/drawingml/2006/table">
            <a:tbl>
              <a:tblPr/>
              <a:tblGrid>
                <a:gridCol w="2333625"/>
                <a:gridCol w="8334375"/>
              </a:tblGrid>
              <a:tr h="514350">
                <a:tc>
                  <a:txBody>
                    <a:bodyPr/>
                    <a:lstStyle/>
                    <a:p>
                      <a:r>
                        <a:rPr sz="1275" b="1">
                          <a:solidFill>
                            <a:srgbClr val="FFFFFF"/>
                          </a:solidFill>
                          <a:latin typeface="YuGothic"/>
                          <a:ea typeface="YuGothic"/>
                          <a:cs typeface="YuGothic"/>
                        </a:rPr>
                        <a:t>項目</a:t>
                      </a:r>
                    </a:p>
                  </a:txBody>
                  <a:tcPr marL="114300" marR="114300" marT="76200" marB="76200" anchor="ctr">
                    <a:solidFill>
                      <a:srgbClr val="1479C9"/>
                    </a:solidFill>
                  </a:tcPr>
                </a:tc>
                <a:tc>
                  <a:txBody>
                    <a:bodyPr/>
                    <a:lstStyle/>
                    <a:p>
                      <a:r>
                        <a:rPr sz="1275" b="1">
                          <a:solidFill>
                            <a:srgbClr val="FFFFFF"/>
                          </a:solidFill>
                          <a:latin typeface="YuGothic"/>
                          <a:ea typeface="YuGothic"/>
                          <a:cs typeface="YuGothic"/>
                        </a:rPr>
                        <a:t>設定</a:t>
                      </a:r>
                    </a:p>
                  </a:txBody>
                  <a:tcPr marL="114300" marR="114300" marT="76200" marB="76200" anchor="ctr">
                    <a:solidFill>
                      <a:srgbClr val="1479C9"/>
                    </a:solidFill>
                  </a:tcPr>
                </a:tc>
              </a:tr>
              <a:tr h="514350">
                <a:tc>
                  <a:txBody>
                    <a:bodyPr/>
                    <a:lstStyle/>
                    <a:p>
                      <a:r>
                        <a:rPr sz="1125" b="1">
                          <a:solidFill>
                            <a:srgbClr val="1479C9"/>
                          </a:solidFill>
                          <a:latin typeface="YuGothic"/>
                          <a:ea typeface="YuGothic"/>
                          <a:cs typeface="YuGothic"/>
                        </a:rPr>
                        <a:t>データ</a:t>
                      </a:r>
                    </a:p>
                  </a:txBody>
                  <a:tcPr marL="114300" marR="114300" marT="57150" marB="57150" anchor="ctr">
                    <a:solidFill>
                      <a:srgbClr val="EAF4FB"/>
                    </a:solidFill>
                  </a:tcPr>
                </a:tc>
                <a:tc>
                  <a:txBody>
                    <a:bodyPr/>
                    <a:lstStyle/>
                    <a:p>
                      <a:r>
                        <a:rPr sz="1125">
                          <a:solidFill>
                            <a:srgbClr val="17233D"/>
                          </a:solidFill>
                          <a:latin typeface="YuGothic"/>
                          <a:ea typeface="YuGothic"/>
                          <a:cs typeface="YuGothic"/>
                        </a:rPr>
                        <a:t>make_classification、2,000件、学習70%／評価30%</a:t>
                      </a:r>
                    </a:p>
                  </a:txBody>
                  <a:tcPr marL="114300" marR="114300" marT="57150" marB="57150" anchor="ctr">
                    <a:solidFill>
                      <a:srgbClr val="FBFCFE"/>
                    </a:solidFill>
                  </a:tcPr>
                </a:tc>
              </a:tr>
              <a:tr h="514350">
                <a:tc>
                  <a:txBody>
                    <a:bodyPr/>
                    <a:lstStyle/>
                    <a:p>
                      <a:r>
                        <a:rPr sz="1125" b="1">
                          <a:solidFill>
                            <a:srgbClr val="1479C9"/>
                          </a:solidFill>
                          <a:latin typeface="YuGothic"/>
                          <a:ea typeface="YuGothic"/>
                          <a:cs typeface="YuGothic"/>
                        </a:rPr>
                        <a:t>次元数・クラス数</a:t>
                      </a:r>
                    </a:p>
                  </a:txBody>
                  <a:tcPr marL="114300" marR="114300" marT="57150" marB="57150" anchor="ctr">
                    <a:solidFill>
                      <a:srgbClr val="EAF4FB"/>
                    </a:solidFill>
                  </a:tcPr>
                </a:tc>
                <a:tc>
                  <a:txBody>
                    <a:bodyPr/>
                    <a:lstStyle/>
                    <a:p>
                      <a:r>
                        <a:rPr sz="1125">
                          <a:solidFill>
                            <a:srgbClr val="17233D"/>
                          </a:solidFill>
                          <a:latin typeface="YuGothic"/>
                          <a:ea typeface="YuGothic"/>
                          <a:cs typeface="YuGothic"/>
                        </a:rPr>
                        <a:t>主実験 d={8,14,20}, C={3,4,5} ／ BB比較 d={8,14}, C={3,5}</a:t>
                      </a:r>
                    </a:p>
                  </a:txBody>
                  <a:tcPr marL="114300" marR="114300" marT="57150" marB="57150" anchor="ctr"/>
                </a:tc>
              </a:tr>
              <a:tr h="514350">
                <a:tc>
                  <a:txBody>
                    <a:bodyPr/>
                    <a:lstStyle/>
                    <a:p>
                      <a:r>
                        <a:rPr sz="1125" b="1">
                          <a:solidFill>
                            <a:srgbClr val="1479C9"/>
                          </a:solidFill>
                          <a:latin typeface="YuGothic"/>
                          <a:ea typeface="YuGothic"/>
                          <a:cs typeface="YuGothic"/>
                        </a:rPr>
                        <a:t>表示特徴数 K</a:t>
                      </a:r>
                    </a:p>
                  </a:txBody>
                  <a:tcPr marL="114300" marR="114300" marT="57150" marB="57150" anchor="ctr">
                    <a:solidFill>
                      <a:srgbClr val="EAF4FB"/>
                    </a:solidFill>
                  </a:tcPr>
                </a:tc>
                <a:tc>
                  <a:txBody>
                    <a:bodyPr/>
                    <a:lstStyle/>
                    <a:p>
                      <a:r>
                        <a:rPr sz="1125">
                          <a:solidFill>
                            <a:srgbClr val="17233D"/>
                          </a:solidFill>
                          <a:latin typeface="YuGothic"/>
                          <a:ea typeface="YuGothic"/>
                          <a:cs typeface="YuGothic"/>
                        </a:rPr>
                        <a:t>round(0.25d), round(0.50d)。全手法で exact-K</a:t>
                      </a:r>
                    </a:p>
                  </a:txBody>
                  <a:tcPr marL="114300" marR="114300" marT="57150" marB="57150" anchor="ctr">
                    <a:solidFill>
                      <a:srgbClr val="FBFCFE"/>
                    </a:solidFill>
                  </a:tcPr>
                </a:tc>
              </a:tr>
              <a:tr h="514350">
                <a:tc>
                  <a:txBody>
                    <a:bodyPr/>
                    <a:lstStyle/>
                    <a:p>
                      <a:r>
                        <a:rPr sz="1125" b="1">
                          <a:solidFill>
                            <a:srgbClr val="1479C9"/>
                          </a:solidFill>
                          <a:latin typeface="YuGothic"/>
                          <a:ea typeface="YuGothic"/>
                          <a:cs typeface="YuGothic"/>
                        </a:rPr>
                        <a:t>ブラックボックス</a:t>
                      </a:r>
                    </a:p>
                  </a:txBody>
                  <a:tcPr marL="114300" marR="114300" marT="57150" marB="57150" anchor="ctr">
                    <a:solidFill>
                      <a:srgbClr val="EAF4FB"/>
                    </a:solidFill>
                  </a:tcPr>
                </a:tc>
                <a:tc>
                  <a:txBody>
                    <a:bodyPr/>
                    <a:lstStyle/>
                    <a:p>
                      <a:r>
                        <a:rPr sz="1125">
                          <a:solidFill>
                            <a:srgbClr val="17233D"/>
                          </a:solidFill>
                          <a:latin typeface="YuGothic"/>
                          <a:ea typeface="YuGothic"/>
                          <a:cs typeface="YuGothic"/>
                        </a:rPr>
                        <a:t>多項ロジスティック回帰、tanh MLP (32,16)、Random Forest 200本</a:t>
                      </a:r>
                    </a:p>
                  </a:txBody>
                  <a:tcPr marL="114300" marR="114300" marT="57150" marB="57150" anchor="ctr"/>
                </a:tc>
              </a:tr>
              <a:tr h="514350">
                <a:tc>
                  <a:txBody>
                    <a:bodyPr/>
                    <a:lstStyle/>
                    <a:p>
                      <a:r>
                        <a:rPr sz="1125" b="1">
                          <a:solidFill>
                            <a:srgbClr val="1479C9"/>
                          </a:solidFill>
                          <a:latin typeface="YuGothic"/>
                          <a:ea typeface="YuGothic"/>
                          <a:cs typeface="YuGothic"/>
                        </a:rPr>
                        <a:t>説明対象</a:t>
                      </a:r>
                    </a:p>
                  </a:txBody>
                  <a:tcPr marL="114300" marR="114300" marT="57150" marB="57150" anchor="ctr">
                    <a:solidFill>
                      <a:srgbClr val="EAF4FB"/>
                    </a:solidFill>
                  </a:tcPr>
                </a:tc>
                <a:tc>
                  <a:txBody>
                    <a:bodyPr/>
                    <a:lstStyle/>
                    <a:p>
                      <a:r>
                        <a:rPr sz="1125">
                          <a:solidFill>
                            <a:srgbClr val="17233D"/>
                          </a:solidFill>
                          <a:latin typeface="YuGothic"/>
                          <a:ea typeface="YuGothic"/>
                          <a:cs typeface="YuGothic"/>
                        </a:rPr>
                        <a:t>テスト点のうち Top-1 と Top-2 の確率差が小さい8点</a:t>
                      </a:r>
                    </a:p>
                  </a:txBody>
                  <a:tcPr marL="114300" marR="114300" marT="57150" marB="57150" anchor="ctr">
                    <a:solidFill>
                      <a:srgbClr val="FBFCFE"/>
                    </a:solidFill>
                  </a:tcPr>
                </a:tc>
              </a:tr>
              <a:tr h="514350">
                <a:tc>
                  <a:txBody>
                    <a:bodyPr/>
                    <a:lstStyle/>
                    <a:p>
                      <a:r>
                        <a:rPr sz="1125" b="1">
                          <a:solidFill>
                            <a:srgbClr val="1479C9"/>
                          </a:solidFill>
                          <a:latin typeface="YuGothic"/>
                          <a:ea typeface="YuGothic"/>
                          <a:cs typeface="YuGothic"/>
                        </a:rPr>
                        <a:t>摂動と局所重み</a:t>
                      </a:r>
                    </a:p>
                  </a:txBody>
                  <a:tcPr marL="114300" marR="114300" marT="57150" marB="57150" anchor="ctr">
                    <a:solidFill>
                      <a:srgbClr val="EAF4FB"/>
                    </a:solidFill>
                  </a:tcPr>
                </a:tc>
                <a:tc>
                  <a:txBody>
                    <a:bodyPr/>
                    <a:lstStyle/>
                    <a:p>
                      <a:r>
                        <a:rPr sz="1125">
                          <a:solidFill>
                            <a:srgbClr val="17233D"/>
                          </a:solidFill>
                          <a:latin typeface="YuGothic"/>
                          <a:ea typeface="YuGothic"/>
                          <a:cs typeface="YuGothic"/>
                        </a:rPr>
                        <a:t>学習300点＋未使用300点。特徴標準偏差に基づくGaussian摂動＋指数カーネル</a:t>
                      </a:r>
                    </a:p>
                  </a:txBody>
                  <a:tcPr marL="114300" marR="114300" marT="57150" marB="57150" anchor="ctr"/>
                </a:tc>
              </a:tr>
              <a:tr h="514350">
                <a:tc>
                  <a:txBody>
                    <a:bodyPr/>
                    <a:lstStyle/>
                    <a:p>
                      <a:r>
                        <a:rPr sz="1125" b="1">
                          <a:solidFill>
                            <a:srgbClr val="1479C9"/>
                          </a:solidFill>
                          <a:latin typeface="YuGothic"/>
                          <a:ea typeface="YuGothic"/>
                          <a:cs typeface="YuGothic"/>
                        </a:rPr>
                        <a:t>反復</a:t>
                      </a:r>
                    </a:p>
                  </a:txBody>
                  <a:tcPr marL="114300" marR="114300" marT="57150" marB="57150" anchor="ctr">
                    <a:solidFill>
                      <a:srgbClr val="EAF4FB"/>
                    </a:solidFill>
                  </a:tcPr>
                </a:tc>
                <a:tc>
                  <a:txBody>
                    <a:bodyPr/>
                    <a:lstStyle/>
                    <a:p>
                      <a:r>
                        <a:rPr sz="1125">
                          <a:solidFill>
                            <a:srgbClr val="17233D"/>
                          </a:solidFill>
                          <a:latin typeface="YuGothic"/>
                          <a:ea typeface="YuGothic"/>
                          <a:cs typeface="YuGothic"/>
                        </a:rPr>
                        <a:t>独立データ seed 20回（計算時間は10回）。各seed内で乱数を手法間共有</a:t>
                      </a:r>
                    </a:p>
                  </a:txBody>
                  <a:tcPr marL="114300" marR="114300" marT="57150" marB="57150" anchor="ctr">
                    <a:solidFill>
                      <a:srgbClr val="FBFCFE"/>
                    </a:solidFill>
                  </a:tcPr>
                </a:tc>
              </a:tr>
              <a:tr h="514350">
                <a:tc>
                  <a:txBody>
                    <a:bodyPr/>
                    <a:lstStyle/>
                    <a:p>
                      <a:r>
                        <a:rPr sz="1125" b="1">
                          <a:solidFill>
                            <a:srgbClr val="1479C9"/>
                          </a:solidFill>
                          <a:latin typeface="YuGothic"/>
                          <a:ea typeface="YuGothic"/>
                          <a:cs typeface="YuGothic"/>
                        </a:rPr>
                        <a:t>サロゲート</a:t>
                      </a:r>
                    </a:p>
                  </a:txBody>
                  <a:tcPr marL="114300" marR="114300" marT="57150" marB="57150" anchor="ctr">
                    <a:solidFill>
                      <a:srgbClr val="EAF4FB"/>
                    </a:solidFill>
                  </a:tcPr>
                </a:tc>
                <a:tc>
                  <a:txBody>
                    <a:bodyPr/>
                    <a:lstStyle/>
                    <a:p>
                      <a:r>
                        <a:rPr sz="1125">
                          <a:solidFill>
                            <a:srgbClr val="17233D"/>
                          </a:solidFill>
                          <a:latin typeface="YuGothic"/>
                          <a:ea typeface="YuGothic"/>
                          <a:cs typeface="YuGothic"/>
                        </a:rPr>
                        <a:t>Ridge α=1.0、Logistic C=1.0。Lasso pathでK特徴を選択後、選択特徴だけで再fit</a:t>
                      </a:r>
                    </a:p>
                  </a:txBody>
                  <a:tcPr marL="114300" marR="114300" marT="57150" marB="57150" anchor="ctr"/>
                </a:tc>
              </a:tr>
            </a:tbl>
          </a:graphicData>
        </a:graphic>
      </p:graphicFrame>
      <p:sp>
        <p:nvSpPr>
          <p:cNvPr id="6" name="">
            <a:extLst xmlns:a="http://schemas.openxmlformats.org/drawingml/2006/main">
              <a:ext uri="{FF2B5EF4-FFF2-40B4-BE49-F238E27FC236}">
                <a16:creationId xmlns:a16="http://schemas.microsoft.com/office/drawing/2014/main" id="{DC5BA9A1-981B-40CD-8C44-894F5CB8F1DE}"/>
              </a:ext>
            </a:extLst>
          </p:cNvPr>
          <p:cNvSpPr>
            <a:spLocks xmlns:a="http://schemas.openxmlformats.org/drawingml/2006/main" noGrp="1"/>
          </p:cNvSpPr>
          <p:nvPr/>
        </p:nvSpPr>
        <p:spPr>
          <a:xfrm xmlns:a="http://schemas.openxmlformats.org/drawingml/2006/main">
            <a:off x="762000" y="6067425"/>
            <a:ext cx="10668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350" b="1">
                <a:solidFill>
                  <a:srgbClr val="F28C28"/>
                </a:solidFill>
                <a:latin typeface="YuGothic"/>
                <a:ea typeface="YuGothic"/>
                <a:cs typeface="YuGothic"/>
              </a:defRPr>
            </a:pPr>
            <a:r>
              <a:rPr sz="1350" b="1">
                <a:solidFill>
                  <a:srgbClr val="F28C28"/>
                </a:solidFill>
                <a:latin typeface="YuGothic"/>
                <a:ea typeface="YuGothic"/>
                <a:cs typeface="YuGothic"/>
              </a:rPr>
              <a:t>主評価は、サロゲートの学習に使っていない摂動点で測定</a:t>
            </a:r>
          </a:p>
        </p:txBody>
      </p:sp>
    </p:spTree>
    <p:extLst>
      <p:ext uri="{BB962C8B-B14F-4D97-AF65-F5344CB8AC3E}">
        <p14:creationId xmlns:p14="http://schemas.microsoft.com/office/powerpoint/2010/main" val="1988171882"/>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96131B07-19CD-47FF-B146-4BA326F23AF4}"/>
              </a:ext>
            </a:extLst>
          </p:cNvPr>
          <p:cNvSpPr>
            <a:spLocks xmlns:a="http://schemas.openxmlformats.org/drawingml/2006/main" noGrp="1"/>
          </p:cNvSpPr>
          <p:nvPr/>
        </p:nvSpPr>
        <p:spPr>
          <a:xfrm xmlns:a="http://schemas.openxmlformats.org/drawingml/2006/main">
            <a:off x="514350" y="409575"/>
            <a:ext cx="114300" cy="476250"/>
          </a:xfrm>
          <a:prstGeom xmlns:a="http://schemas.openxmlformats.org/drawingml/2006/main" prst="rect">
            <a:avLst/>
          </a:prstGeom>
          <a:solidFill xmlns:a="http://schemas.openxmlformats.org/drawingml/2006/main">
            <a:srgbClr val="1479C9"/>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7C760AA-C886-4504-9B36-9ED8DAFCE683}"/>
              </a:ext>
            </a:extLst>
          </p:cNvPr>
          <p:cNvSpPr>
            <a:spLocks xmlns:a="http://schemas.openxmlformats.org/drawingml/2006/main" noGrp="1"/>
          </p:cNvSpPr>
          <p:nvPr/>
        </p:nvSpPr>
        <p:spPr>
          <a:xfrm xmlns:a="http://schemas.openxmlformats.org/drawingml/2006/main">
            <a:off x="762000" y="3429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9020"/>
          </a:bodyPr>
          <a:lstStyle xmlns:a="http://schemas.openxmlformats.org/drawingml/2006/main"/>
          <a:p xmlns:a="http://schemas.openxmlformats.org/drawingml/2006/main">
            <a:pPr algn="l">
              <a:defRPr sz="2550" b="1">
                <a:solidFill>
                  <a:srgbClr val="17233D"/>
                </a:solidFill>
                <a:latin typeface="YuGothic"/>
                <a:ea typeface="YuGothic"/>
                <a:cs typeface="YuGothic"/>
              </a:defRPr>
            </a:pPr>
            <a:r>
              <a:rPr sz="2550" b="1">
                <a:solidFill>
                  <a:srgbClr val="17233D"/>
                </a:solidFill>
                <a:latin typeface="YuGothic"/>
                <a:ea typeface="YuGothic"/>
                <a:cs typeface="YuGothic"/>
              </a:rPr>
              <a:t>主実験：Random Forestでの忠実度</a:t>
            </a:r>
          </a:p>
        </p:txBody>
      </p:sp>
      <p:sp>
        <p:nvSpPr>
          <p:cNvPr id="3" name="">
            <a:extLst xmlns:a="http://schemas.openxmlformats.org/drawingml/2006/main">
              <a:ext uri="{FF2B5EF4-FFF2-40B4-BE49-F238E27FC236}">
                <a16:creationId xmlns:a16="http://schemas.microsoft.com/office/drawing/2014/main" id="{962F4099-7DA4-48EE-992D-BF435903E231}"/>
              </a:ext>
            </a:extLst>
          </p:cNvPr>
          <p:cNvSpPr>
            <a:spLocks xmlns:a="http://schemas.openxmlformats.org/drawingml/2006/main" noGrp="1"/>
          </p:cNvSpPr>
          <p:nvPr/>
        </p:nvSpPr>
        <p:spPr>
          <a:xfrm xmlns:a="http://schemas.openxmlformats.org/drawingml/2006/main">
            <a:off x="762000" y="80010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417"/>
          </a:bodyPr>
          <a:lstStyle xmlns:a="http://schemas.openxmlformats.org/drawingml/2006/main"/>
          <a:p xmlns:a="http://schemas.openxmlformats.org/drawingml/2006/main">
            <a:pPr algn="l">
              <a:defRPr sz="1200" b="0">
                <a:solidFill>
                  <a:srgbClr val="687386"/>
                </a:solidFill>
                <a:latin typeface="YuGothic"/>
                <a:ea typeface="YuGothic"/>
                <a:cs typeface="YuGothic"/>
              </a:defRPr>
            </a:pPr>
            <a:r>
              <a:rPr sz="1200" b="0">
                <a:solidFill>
                  <a:srgbClr val="687386"/>
                </a:solidFill>
                <a:latin typeface="YuGothic"/>
                <a:ea typeface="YuGothic"/>
                <a:cs typeface="YuGothic"/>
              </a:rPr>
              <a:t>同じK個の特徴を表示し、未使用摂動でTop-1 / Top-2の大小関係を評価</a:t>
            </a:r>
          </a:p>
        </p:txBody>
      </p:sp>
      <p:sp>
        <p:nvSpPr>
          <p:cNvPr id="4" name="">
            <a:extLst xmlns:a="http://schemas.openxmlformats.org/drawingml/2006/main">
              <a:ext uri="{FF2B5EF4-FFF2-40B4-BE49-F238E27FC236}">
                <a16:creationId xmlns:a16="http://schemas.microsoft.com/office/drawing/2014/main" id="{5FEF75F9-9CB0-4EE0-8E46-8FF8F7D5606D}"/>
              </a:ext>
            </a:extLst>
          </p:cNvPr>
          <p:cNvSpPr>
            <a:spLocks xmlns:a="http://schemas.openxmlformats.org/drawingml/2006/main" noGrp="1"/>
          </p:cNvSpPr>
          <p:nvPr/>
        </p:nvSpPr>
        <p:spPr>
          <a:xfrm xmlns:a="http://schemas.openxmlformats.org/drawingml/2006/main">
            <a:off x="11334750" y="6457950"/>
            <a:ext cx="4000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6667"/>
          </a:bodyPr>
          <a:lstStyle xmlns:a="http://schemas.openxmlformats.org/drawingml/2006/main"/>
          <a:p xmlns:a="http://schemas.openxmlformats.org/drawingml/2006/main">
            <a:pPr algn="r">
              <a:defRPr sz="975" b="0">
                <a:solidFill>
                  <a:srgbClr val="8993A4"/>
                </a:solidFill>
                <a:latin typeface="YuGothic"/>
                <a:ea typeface="YuGothic"/>
                <a:cs typeface="YuGothic"/>
              </a:defRPr>
            </a:pPr>
            <a:r>
              <a:rPr sz="975" b="0">
                <a:solidFill>
                  <a:srgbClr val="8993A4"/>
                </a:solidFill>
                <a:latin typeface="YuGothic"/>
                <a:ea typeface="YuGothic"/>
                <a:cs typeface="YuGothic"/>
              </a:rPr>
              <a:t>13</a:t>
            </a:r>
          </a:p>
        </p:txBody>
      </p:sp>
      <p:graphicFrame>
        <p:nvGraphicFramePr>
          <p:cNvPr id="20" name="Chart"/>
          <p:cNvGraphicFramePr/>
          <p:nvPr/>
        </p:nvGraphicFramePr>
        <p:xfrm>
          <a:off xmlns:a="http://schemas.openxmlformats.org/drawingml/2006/main" x="628650" y="1371600"/>
          <a:ext xmlns:a="http://schemas.openxmlformats.org/drawingml/2006/main" cx="7334250" cy="4048125"/>
        </p:xfrm>
        <a:graphic xmlns:a="http://schemas.openxmlformats.org/drawingml/2006/main">
          <a:graphicData uri="http://schemas.openxmlformats.org/drawingml/2006/chart">
            <c:chart xmlns:r="http://schemas.openxmlformats.org/officeDocument/2006/relationships" xmlns:c="http://schemas.openxmlformats.org/drawingml/2006/chart" r:id="R9edb2b33c39f4a70"/>
          </a:graphicData>
        </a:graphic>
      </p:graphicFrame>
      <p:sp>
        <p:nvSpPr>
          <p:cNvPr id="6" name="">
            <a:extLst xmlns:a="http://schemas.openxmlformats.org/drawingml/2006/main">
              <a:ext uri="{FF2B5EF4-FFF2-40B4-BE49-F238E27FC236}">
                <a16:creationId xmlns:a16="http://schemas.microsoft.com/office/drawing/2014/main" id="{AE0558D9-94F4-4C8E-9B6C-882C7B2D91F0}"/>
              </a:ext>
            </a:extLst>
          </p:cNvPr>
          <p:cNvSpPr>
            <a:spLocks xmlns:a="http://schemas.openxmlformats.org/drawingml/2006/main" noGrp="1"/>
          </p:cNvSpPr>
          <p:nvPr/>
        </p:nvSpPr>
        <p:spPr>
          <a:xfrm xmlns:a="http://schemas.openxmlformats.org/drawingml/2006/main">
            <a:off x="8305800" y="1457325"/>
            <a:ext cx="3143250" cy="1123950"/>
          </a:xfrm>
          <a:prstGeom xmlns:a="http://schemas.openxmlformats.org/drawingml/2006/main" prst="roundRect">
            <a:avLst>
              <a:gd name="adj" fmla="val 6780"/>
            </a:avLst>
          </a:prstGeom>
          <a:solidFill xmlns:a="http://schemas.openxmlformats.org/drawingml/2006/main">
            <a:srgbClr val="EAF4FB"/>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CEDB9098-A578-4A08-8DBB-9C1C88E60B13}"/>
              </a:ext>
            </a:extLst>
          </p:cNvPr>
          <p:cNvSpPr>
            <a:spLocks xmlns:a="http://schemas.openxmlformats.org/drawingml/2006/main" noGrp="1"/>
          </p:cNvSpPr>
          <p:nvPr/>
        </p:nvSpPr>
        <p:spPr>
          <a:xfrm xmlns:a="http://schemas.openxmlformats.org/drawingml/2006/main">
            <a:off x="8534400" y="1562100"/>
            <a:ext cx="26860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4118"/>
          </a:bodyPr>
          <a:lstStyle xmlns:a="http://schemas.openxmlformats.org/drawingml/2006/main"/>
          <a:p xmlns:a="http://schemas.openxmlformats.org/drawingml/2006/main">
            <a:pPr algn="ctr">
              <a:defRPr sz="2550" b="1">
                <a:solidFill>
                  <a:srgbClr val="1479C9"/>
                </a:solidFill>
                <a:latin typeface="YuGothic"/>
                <a:ea typeface="YuGothic"/>
                <a:cs typeface="YuGothic"/>
              </a:defRPr>
            </a:pPr>
            <a:r>
              <a:rPr sz="2550" b="1">
                <a:solidFill>
                  <a:srgbClr val="1479C9"/>
                </a:solidFill>
                <a:latin typeface="YuGothic"/>
                <a:ea typeface="YuGothic"/>
                <a:cs typeface="YuGothic"/>
              </a:rPr>
              <a:t>+0.0041</a:t>
            </a:r>
          </a:p>
        </p:txBody>
      </p:sp>
      <p:sp>
        <p:nvSpPr>
          <p:cNvPr id="8" name="">
            <a:extLst xmlns:a="http://schemas.openxmlformats.org/drawingml/2006/main">
              <a:ext uri="{FF2B5EF4-FFF2-40B4-BE49-F238E27FC236}">
                <a16:creationId xmlns:a16="http://schemas.microsoft.com/office/drawing/2014/main" id="{05F7C931-8F2B-4C7A-B958-BD906849D84D}"/>
              </a:ext>
            </a:extLst>
          </p:cNvPr>
          <p:cNvSpPr>
            <a:spLocks xmlns:a="http://schemas.openxmlformats.org/drawingml/2006/main" noGrp="1"/>
          </p:cNvSpPr>
          <p:nvPr/>
        </p:nvSpPr>
        <p:spPr>
          <a:xfrm xmlns:a="http://schemas.openxmlformats.org/drawingml/2006/main">
            <a:off x="8534400" y="2047875"/>
            <a:ext cx="26860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275" b="0">
                <a:solidFill>
                  <a:srgbClr val="687386"/>
                </a:solidFill>
                <a:latin typeface="YuGothic"/>
                <a:ea typeface="YuGothic"/>
                <a:cs typeface="YuGothic"/>
              </a:defRPr>
            </a:pPr>
            <a:r>
              <a:rPr sz="1275" b="0">
                <a:solidFill>
                  <a:srgbClr val="687386"/>
                </a:solidFill>
                <a:latin typeface="YuGothic"/>
                <a:ea typeface="YuGothic"/>
                <a:cs typeface="YuGothic"/>
              </a:rPr>
              <a:t>2クラスLIME − OVR</a:t>
            </a:r>
          </a:p>
        </p:txBody>
      </p:sp>
      <p:sp>
        <p:nvSpPr>
          <p:cNvPr id="9" name="">
            <a:extLst xmlns:a="http://schemas.openxmlformats.org/drawingml/2006/main">
              <a:ext uri="{FF2B5EF4-FFF2-40B4-BE49-F238E27FC236}">
                <a16:creationId xmlns:a16="http://schemas.microsoft.com/office/drawing/2014/main" id="{5F39830E-E592-4300-B70F-09D82D6BE6C0}"/>
              </a:ext>
            </a:extLst>
          </p:cNvPr>
          <p:cNvSpPr>
            <a:spLocks xmlns:a="http://schemas.openxmlformats.org/drawingml/2006/main" noGrp="1"/>
          </p:cNvSpPr>
          <p:nvPr/>
        </p:nvSpPr>
        <p:spPr>
          <a:xfrm xmlns:a="http://schemas.openxmlformats.org/drawingml/2006/main">
            <a:off x="8305800" y="2752725"/>
            <a:ext cx="3143250" cy="1076325"/>
          </a:xfrm>
          <a:prstGeom xmlns:a="http://schemas.openxmlformats.org/drawingml/2006/main" prst="roundRect">
            <a:avLst>
              <a:gd name="adj" fmla="val 7080"/>
            </a:avLst>
          </a:prstGeom>
          <a:solidFill xmlns:a="http://schemas.openxmlformats.org/drawingml/2006/main">
            <a:srgbClr val="F7F9FC"/>
          </a:solidFill>
          <a:ln xmlns:a="http://schemas.openxmlformats.org/drawingml/2006/main" w="9525">
            <a:solidFill>
              <a:srgbClr val="E7EBF0"/>
            </a:solidFill>
          </a:ln>
        </p:spPr>
      </p:sp>
      <p:sp>
        <p:nvSpPr>
          <p:cNvPr id="10" name="">
            <a:extLst xmlns:a="http://schemas.openxmlformats.org/drawingml/2006/main">
              <a:ext uri="{FF2B5EF4-FFF2-40B4-BE49-F238E27FC236}">
                <a16:creationId xmlns:a16="http://schemas.microsoft.com/office/drawing/2014/main" id="{2B9B91C4-B079-4348-B93C-AFC81D8C2A82}"/>
              </a:ext>
            </a:extLst>
          </p:cNvPr>
          <p:cNvSpPr>
            <a:spLocks xmlns:a="http://schemas.openxmlformats.org/drawingml/2006/main" noGrp="1"/>
          </p:cNvSpPr>
          <p:nvPr/>
        </p:nvSpPr>
        <p:spPr>
          <a:xfrm xmlns:a="http://schemas.openxmlformats.org/drawingml/2006/main">
            <a:off x="8524875" y="2876550"/>
            <a:ext cx="27051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827"/>
          </a:bodyPr>
          <a:lstStyle xmlns:a="http://schemas.openxmlformats.org/drawingml/2006/main"/>
          <a:p xmlns:a="http://schemas.openxmlformats.org/drawingml/2006/main">
            <a:pPr algn="ctr">
              <a:defRPr sz="2025" b="1">
                <a:solidFill>
                  <a:srgbClr val="2AA876"/>
                </a:solidFill>
                <a:latin typeface="YuGothic"/>
                <a:ea typeface="YuGothic"/>
                <a:cs typeface="YuGothic"/>
              </a:defRPr>
            </a:pPr>
            <a:r>
              <a:rPr sz="2025" b="1">
                <a:solidFill>
                  <a:srgbClr val="2AA876"/>
                </a:solidFill>
                <a:latin typeface="YuGothic"/>
                <a:ea typeface="YuGothic"/>
                <a:cs typeface="YuGothic"/>
              </a:rPr>
              <a:t>5 / 18 条件</a:t>
            </a:r>
          </a:p>
        </p:txBody>
      </p:sp>
      <p:sp>
        <p:nvSpPr>
          <p:cNvPr id="11" name="">
            <a:extLst xmlns:a="http://schemas.openxmlformats.org/drawingml/2006/main">
              <a:ext uri="{FF2B5EF4-FFF2-40B4-BE49-F238E27FC236}">
                <a16:creationId xmlns:a16="http://schemas.microsoft.com/office/drawing/2014/main" id="{3F1EDB4D-A64E-4010-9475-AEA7EFC1764D}"/>
              </a:ext>
            </a:extLst>
          </p:cNvPr>
          <p:cNvSpPr>
            <a:spLocks xmlns:a="http://schemas.openxmlformats.org/drawingml/2006/main" noGrp="1"/>
          </p:cNvSpPr>
          <p:nvPr/>
        </p:nvSpPr>
        <p:spPr>
          <a:xfrm xmlns:a="http://schemas.openxmlformats.org/drawingml/2006/main">
            <a:off x="8524875" y="3314700"/>
            <a:ext cx="27051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275" b="0">
                <a:solidFill>
                  <a:srgbClr val="687386"/>
                </a:solidFill>
                <a:latin typeface="YuGothic"/>
                <a:ea typeface="YuGothic"/>
                <a:cs typeface="YuGothic"/>
              </a:defRPr>
            </a:pPr>
            <a:r>
              <a:rPr sz="1275" b="0">
                <a:solidFill>
                  <a:srgbClr val="687386"/>
                </a:solidFill>
                <a:latin typeface="YuGothic"/>
                <a:ea typeface="YuGothic"/>
                <a:cs typeface="YuGothic"/>
              </a:rPr>
              <a:t>Holm補正後も有意</a:t>
            </a:r>
          </a:p>
        </p:txBody>
      </p:sp>
      <p:sp>
        <p:nvSpPr>
          <p:cNvPr id="12" name="">
            <a:extLst xmlns:a="http://schemas.openxmlformats.org/drawingml/2006/main">
              <a:ext uri="{FF2B5EF4-FFF2-40B4-BE49-F238E27FC236}">
                <a16:creationId xmlns:a16="http://schemas.microsoft.com/office/drawing/2014/main" id="{B5FD9FB4-61FC-4744-93A2-D80539D4E1AD}"/>
              </a:ext>
            </a:extLst>
          </p:cNvPr>
          <p:cNvSpPr>
            <a:spLocks xmlns:a="http://schemas.openxmlformats.org/drawingml/2006/main" noGrp="1"/>
          </p:cNvSpPr>
          <p:nvPr/>
        </p:nvSpPr>
        <p:spPr>
          <a:xfrm xmlns:a="http://schemas.openxmlformats.org/drawingml/2006/main">
            <a:off x="8305800" y="4000500"/>
            <a:ext cx="3143250" cy="1419225"/>
          </a:xfrm>
          <a:prstGeom xmlns:a="http://schemas.openxmlformats.org/drawingml/2006/main" prst="roundRect">
            <a:avLst>
              <a:gd name="adj" fmla="val 5369"/>
            </a:avLst>
          </a:prstGeom>
          <a:solidFill xmlns:a="http://schemas.openxmlformats.org/drawingml/2006/main">
            <a:srgbClr val="FFF4D6"/>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8EDD196F-72EE-4904-ACCD-4463C9359AFF}"/>
              </a:ext>
            </a:extLst>
          </p:cNvPr>
          <p:cNvSpPr>
            <a:spLocks xmlns:a="http://schemas.openxmlformats.org/drawingml/2006/main" noGrp="1"/>
          </p:cNvSpPr>
          <p:nvPr/>
        </p:nvSpPr>
        <p:spPr>
          <a:xfrm xmlns:a="http://schemas.openxmlformats.org/drawingml/2006/main">
            <a:off x="8524875" y="4143375"/>
            <a:ext cx="27051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424"/>
          </a:bodyPr>
          <a:lstStyle xmlns:a="http://schemas.openxmlformats.org/drawingml/2006/main"/>
          <a:p xmlns:a="http://schemas.openxmlformats.org/drawingml/2006/main">
            <a:pPr algn="ctr">
              <a:defRPr sz="1650" b="1">
                <a:solidFill>
                  <a:srgbClr val="F28C28"/>
                </a:solidFill>
                <a:latin typeface="YuGothic"/>
                <a:ea typeface="YuGothic"/>
                <a:cs typeface="YuGothic"/>
              </a:defRPr>
            </a:pPr>
            <a:r>
              <a:rPr sz="1650" b="1">
                <a:solidFill>
                  <a:srgbClr val="F28C28"/>
                </a:solidFill>
                <a:latin typeface="YuGothic"/>
                <a:ea typeface="YuGothic"/>
                <a:cs typeface="YuGothic"/>
              </a:rPr>
              <a:t>忠実度の差は小さい</a:t>
            </a:r>
          </a:p>
        </p:txBody>
      </p:sp>
      <p:sp>
        <p:nvSpPr>
          <p:cNvPr id="14" name="">
            <a:extLst xmlns:a="http://schemas.openxmlformats.org/drawingml/2006/main">
              <a:ext uri="{FF2B5EF4-FFF2-40B4-BE49-F238E27FC236}">
                <a16:creationId xmlns:a16="http://schemas.microsoft.com/office/drawing/2014/main" id="{EB22A665-222E-4F38-A50B-6250E5E25958}"/>
              </a:ext>
            </a:extLst>
          </p:cNvPr>
          <p:cNvSpPr>
            <a:spLocks xmlns:a="http://schemas.openxmlformats.org/drawingml/2006/main" noGrp="1"/>
          </p:cNvSpPr>
          <p:nvPr/>
        </p:nvSpPr>
        <p:spPr>
          <a:xfrm xmlns:a="http://schemas.openxmlformats.org/drawingml/2006/main">
            <a:off x="8524875" y="4552950"/>
            <a:ext cx="27051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372"/>
          </a:bodyPr>
          <a:lstStyle xmlns:a="http://schemas.openxmlformats.org/drawingml/2006/main"/>
          <a:p xmlns:a="http://schemas.openxmlformats.org/drawingml/2006/main">
            <a:pPr algn="ctr">
              <a:defRPr sz="1200" b="0">
                <a:solidFill>
                  <a:srgbClr val="17233D"/>
                </a:solidFill>
                <a:latin typeface="YuGothic"/>
                <a:ea typeface="YuGothic"/>
                <a:cs typeface="YuGothic"/>
              </a:defRPr>
            </a:pPr>
            <a:r>
              <a:rPr sz="1200" b="0">
                <a:solidFill>
                  <a:srgbClr val="17233D"/>
                </a:solidFill>
                <a:latin typeface="YuGothic"/>
                <a:ea typeface="YuGothic"/>
                <a:cs typeface="YuGothic"/>
              </a:rPr>
              <a:t>+0.41ポイントだけで優位とは言い切らず、</a:t>
            </a:r>
          </a:p>
          <a:p xmlns:a="http://schemas.openxmlformats.org/drawingml/2006/main">
            <a:pPr algn="ctr">
              <a:defRPr sz="1200" b="0">
                <a:solidFill>
                  <a:srgbClr val="17233D"/>
                </a:solidFill>
                <a:latin typeface="YuGothic"/>
                <a:ea typeface="YuGothic"/>
                <a:cs typeface="YuGothic"/>
              </a:defRPr>
            </a:pPr>
            <a:r>
              <a:rPr sz="1200" b="0">
                <a:solidFill>
                  <a:srgbClr val="17233D"/>
                </a:solidFill>
                <a:latin typeface="YuGothic"/>
                <a:ea typeface="YuGothic"/>
                <a:cs typeface="YuGothic"/>
              </a:rPr>
              <a:t>特徴の関連性と計算時間も合わせて判断する</a:t>
            </a:r>
          </a:p>
        </p:txBody>
      </p:sp>
      <p:sp>
        <p:nvSpPr>
          <p:cNvPr id="15" name="">
            <a:extLst xmlns:a="http://schemas.openxmlformats.org/drawingml/2006/main">
              <a:ext uri="{FF2B5EF4-FFF2-40B4-BE49-F238E27FC236}">
                <a16:creationId xmlns:a16="http://schemas.microsoft.com/office/drawing/2014/main" id="{B0C3AE6C-D24D-4237-9301-F858A2087097}"/>
              </a:ext>
            </a:extLst>
          </p:cNvPr>
          <p:cNvSpPr>
            <a:spLocks xmlns:a="http://schemas.openxmlformats.org/drawingml/2006/main" noGrp="1"/>
          </p:cNvSpPr>
          <p:nvPr/>
        </p:nvSpPr>
        <p:spPr>
          <a:xfrm xmlns:a="http://schemas.openxmlformats.org/drawingml/2006/main">
            <a:off x="666750" y="5619750"/>
            <a:ext cx="7239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9487"/>
          </a:bodyPr>
          <a:lstStyle xmlns:a="http://schemas.openxmlformats.org/drawingml/2006/main"/>
          <a:p xmlns:a="http://schemas.openxmlformats.org/drawingml/2006/main">
            <a:pPr algn="ctr">
              <a:defRPr sz="975" b="0">
                <a:solidFill>
                  <a:srgbClr val="687386"/>
                </a:solidFill>
                <a:latin typeface="YuGothic"/>
                <a:ea typeface="YuGothic"/>
                <a:cs typeface="YuGothic"/>
              </a:defRPr>
            </a:pPr>
            <a:r>
              <a:rPr sz="975" b="0">
                <a:solidFill>
                  <a:srgbClr val="687386"/>
                </a:solidFill>
                <a:latin typeface="YuGothic"/>
                <a:ea typeface="YuGothic"/>
                <a:cs typeface="YuGothic"/>
              </a:rPr>
              <a:t>平均値、20 seeds</a:t>
            </a:r>
          </a:p>
        </p:txBody>
      </p:sp>
    </p:spTree>
    <p:extLst>
      <p:ext uri="{BB962C8B-B14F-4D97-AF65-F5344CB8AC3E}">
        <p14:creationId xmlns:p14="http://schemas.microsoft.com/office/powerpoint/2010/main" val="28138970"/>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1B0D16D9-EC0D-44D1-BD9C-E3DF288595B9}"/>
              </a:ext>
            </a:extLst>
          </p:cNvPr>
          <p:cNvSpPr>
            <a:spLocks xmlns:a="http://schemas.openxmlformats.org/drawingml/2006/main" noGrp="1"/>
          </p:cNvSpPr>
          <p:nvPr/>
        </p:nvSpPr>
        <p:spPr>
          <a:xfrm xmlns:a="http://schemas.openxmlformats.org/drawingml/2006/main">
            <a:off x="514350" y="409575"/>
            <a:ext cx="114300" cy="476250"/>
          </a:xfrm>
          <a:prstGeom xmlns:a="http://schemas.openxmlformats.org/drawingml/2006/main" prst="rect">
            <a:avLst/>
          </a:prstGeom>
          <a:solidFill xmlns:a="http://schemas.openxmlformats.org/drawingml/2006/main">
            <a:srgbClr val="1479C9"/>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5714A59-EB22-4662-90C2-3847FE843A6F}"/>
              </a:ext>
            </a:extLst>
          </p:cNvPr>
          <p:cNvSpPr>
            <a:spLocks xmlns:a="http://schemas.openxmlformats.org/drawingml/2006/main" noGrp="1"/>
          </p:cNvSpPr>
          <p:nvPr/>
        </p:nvSpPr>
        <p:spPr>
          <a:xfrm xmlns:a="http://schemas.openxmlformats.org/drawingml/2006/main">
            <a:off x="762000" y="3429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9020"/>
          </a:bodyPr>
          <a:lstStyle xmlns:a="http://schemas.openxmlformats.org/drawingml/2006/main"/>
          <a:p xmlns:a="http://schemas.openxmlformats.org/drawingml/2006/main">
            <a:pPr algn="l">
              <a:defRPr sz="2550" b="1">
                <a:solidFill>
                  <a:srgbClr val="17233D"/>
                </a:solidFill>
                <a:latin typeface="YuGothic"/>
                <a:ea typeface="YuGothic"/>
                <a:cs typeface="YuGothic"/>
              </a:defRPr>
            </a:pPr>
            <a:r>
              <a:rPr sz="2550" b="1">
                <a:solidFill>
                  <a:srgbClr val="17233D"/>
                </a:solidFill>
                <a:latin typeface="YuGothic"/>
                <a:ea typeface="YuGothic"/>
                <a:cs typeface="YuGothic"/>
              </a:rPr>
              <a:t>ブラックボックス別の比較</a:t>
            </a:r>
          </a:p>
        </p:txBody>
      </p:sp>
      <p:sp>
        <p:nvSpPr>
          <p:cNvPr id="3" name="">
            <a:extLst xmlns:a="http://schemas.openxmlformats.org/drawingml/2006/main">
              <a:ext uri="{FF2B5EF4-FFF2-40B4-BE49-F238E27FC236}">
                <a16:creationId xmlns:a16="http://schemas.microsoft.com/office/drawing/2014/main" id="{C4025E28-F29E-415C-B77F-7D62B2718C1B}"/>
              </a:ext>
            </a:extLst>
          </p:cNvPr>
          <p:cNvSpPr>
            <a:spLocks xmlns:a="http://schemas.openxmlformats.org/drawingml/2006/main" noGrp="1"/>
          </p:cNvSpPr>
          <p:nvPr/>
        </p:nvSpPr>
        <p:spPr>
          <a:xfrm xmlns:a="http://schemas.openxmlformats.org/drawingml/2006/main">
            <a:off x="762000" y="80010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417"/>
          </a:bodyPr>
          <a:lstStyle xmlns:a="http://schemas.openxmlformats.org/drawingml/2006/main"/>
          <a:p xmlns:a="http://schemas.openxmlformats.org/drawingml/2006/main">
            <a:pPr algn="l">
              <a:defRPr sz="1200" b="0">
                <a:solidFill>
                  <a:srgbClr val="687386"/>
                </a:solidFill>
                <a:latin typeface="YuGothic"/>
                <a:ea typeface="YuGothic"/>
                <a:cs typeface="YuGothic"/>
              </a:defRPr>
            </a:pPr>
            <a:r>
              <a:rPr sz="1200" b="0">
                <a:solidFill>
                  <a:srgbClr val="687386"/>
                </a:solidFill>
                <a:latin typeface="YuGothic"/>
                <a:ea typeface="YuGothic"/>
                <a:cs typeface="YuGothic"/>
              </a:rPr>
              <a:t>softmaxを含むモデルと含まないモデルで、同じ評価を実施</a:t>
            </a:r>
          </a:p>
        </p:txBody>
      </p:sp>
      <p:sp>
        <p:nvSpPr>
          <p:cNvPr id="4" name="">
            <a:extLst xmlns:a="http://schemas.openxmlformats.org/drawingml/2006/main">
              <a:ext uri="{FF2B5EF4-FFF2-40B4-BE49-F238E27FC236}">
                <a16:creationId xmlns:a16="http://schemas.microsoft.com/office/drawing/2014/main" id="{2CCF3ABE-A57E-4D3B-AA7C-8E60A3A0C6E6}"/>
              </a:ext>
            </a:extLst>
          </p:cNvPr>
          <p:cNvSpPr>
            <a:spLocks xmlns:a="http://schemas.openxmlformats.org/drawingml/2006/main" noGrp="1"/>
          </p:cNvSpPr>
          <p:nvPr/>
        </p:nvSpPr>
        <p:spPr>
          <a:xfrm xmlns:a="http://schemas.openxmlformats.org/drawingml/2006/main">
            <a:off x="11334750" y="6457950"/>
            <a:ext cx="4000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6667"/>
          </a:bodyPr>
          <a:lstStyle xmlns:a="http://schemas.openxmlformats.org/drawingml/2006/main"/>
          <a:p xmlns:a="http://schemas.openxmlformats.org/drawingml/2006/main">
            <a:pPr algn="r">
              <a:defRPr sz="975" b="0">
                <a:solidFill>
                  <a:srgbClr val="8993A4"/>
                </a:solidFill>
                <a:latin typeface="YuGothic"/>
                <a:ea typeface="YuGothic"/>
                <a:cs typeface="YuGothic"/>
              </a:defRPr>
            </a:pPr>
            <a:r>
              <a:rPr sz="975" b="0">
                <a:solidFill>
                  <a:srgbClr val="8993A4"/>
                </a:solidFill>
                <a:latin typeface="YuGothic"/>
                <a:ea typeface="YuGothic"/>
                <a:cs typeface="YuGothic"/>
              </a:rPr>
              <a:t>14</a:t>
            </a:r>
          </a:p>
        </p:txBody>
      </p:sp>
      <p:graphicFrame>
        <p:nvGraphicFramePr>
          <p:cNvPr id="20" name="Chart"/>
          <p:cNvGraphicFramePr/>
          <p:nvPr/>
        </p:nvGraphicFramePr>
        <p:xfrm>
          <a:off xmlns:a="http://schemas.openxmlformats.org/drawingml/2006/main" x="523875" y="1333500"/>
          <a:ext xmlns:a="http://schemas.openxmlformats.org/drawingml/2006/main" cx="8572500" cy="4333875"/>
        </p:xfrm>
        <a:graphic xmlns:a="http://schemas.openxmlformats.org/drawingml/2006/main">
          <a:graphicData uri="http://schemas.openxmlformats.org/drawingml/2006/chart">
            <c:chart xmlns:r="http://schemas.openxmlformats.org/officeDocument/2006/relationships" xmlns:c="http://schemas.openxmlformats.org/drawingml/2006/chart" r:id="Rcd41147f3cfd4f29"/>
          </a:graphicData>
        </a:graphic>
      </p:graphicFrame>
      <p:sp>
        <p:nvSpPr>
          <p:cNvPr id="6" name="">
            <a:extLst xmlns:a="http://schemas.openxmlformats.org/drawingml/2006/main">
              <a:ext uri="{FF2B5EF4-FFF2-40B4-BE49-F238E27FC236}">
                <a16:creationId xmlns:a16="http://schemas.microsoft.com/office/drawing/2014/main" id="{8FD28140-C5AC-4C43-8FFF-460CEB8B7AF2}"/>
              </a:ext>
            </a:extLst>
          </p:cNvPr>
          <p:cNvSpPr>
            <a:spLocks xmlns:a="http://schemas.openxmlformats.org/drawingml/2006/main" noGrp="1"/>
          </p:cNvSpPr>
          <p:nvPr/>
        </p:nvSpPr>
        <p:spPr>
          <a:xfrm xmlns:a="http://schemas.openxmlformats.org/drawingml/2006/main">
            <a:off x="9334500" y="1457325"/>
            <a:ext cx="2333625" cy="1285875"/>
          </a:xfrm>
          <a:prstGeom xmlns:a="http://schemas.openxmlformats.org/drawingml/2006/main" prst="roundRect">
            <a:avLst>
              <a:gd name="adj" fmla="val 5926"/>
            </a:avLst>
          </a:prstGeom>
          <a:solidFill xmlns:a="http://schemas.openxmlformats.org/drawingml/2006/main">
            <a:srgbClr val="EAF4FB"/>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EFB8FFB3-9873-4766-BE2C-C28B9214BEFD}"/>
              </a:ext>
            </a:extLst>
          </p:cNvPr>
          <p:cNvSpPr>
            <a:spLocks xmlns:a="http://schemas.openxmlformats.org/drawingml/2006/main" noGrp="1"/>
          </p:cNvSpPr>
          <p:nvPr/>
        </p:nvSpPr>
        <p:spPr>
          <a:xfrm xmlns:a="http://schemas.openxmlformats.org/drawingml/2006/main">
            <a:off x="9505950" y="1581150"/>
            <a:ext cx="20002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9815"/>
          </a:bodyPr>
          <a:lstStyle xmlns:a="http://schemas.openxmlformats.org/drawingml/2006/main"/>
          <a:p xmlns:a="http://schemas.openxmlformats.org/drawingml/2006/main">
            <a:pPr algn="ctr">
              <a:defRPr sz="1350" b="1">
                <a:solidFill>
                  <a:srgbClr val="1479C9"/>
                </a:solidFill>
                <a:latin typeface="YuGothic"/>
                <a:ea typeface="YuGothic"/>
                <a:cs typeface="YuGothic"/>
              </a:defRPr>
            </a:pPr>
            <a:r>
              <a:rPr sz="1350" b="1">
                <a:solidFill>
                  <a:srgbClr val="1479C9"/>
                </a:solidFill>
                <a:latin typeface="YuGothic"/>
                <a:ea typeface="YuGothic"/>
                <a:cs typeface="YuGothic"/>
              </a:rPr>
              <a:t>線形 softmax</a:t>
            </a:r>
          </a:p>
        </p:txBody>
      </p:sp>
      <p:sp>
        <p:nvSpPr>
          <p:cNvPr id="8" name="">
            <a:extLst xmlns:a="http://schemas.openxmlformats.org/drawingml/2006/main">
              <a:ext uri="{FF2B5EF4-FFF2-40B4-BE49-F238E27FC236}">
                <a16:creationId xmlns:a16="http://schemas.microsoft.com/office/drawing/2014/main" id="{95AD000C-7BE1-4359-9A7E-5007B8FB640B}"/>
              </a:ext>
            </a:extLst>
          </p:cNvPr>
          <p:cNvSpPr>
            <a:spLocks xmlns:a="http://schemas.openxmlformats.org/drawingml/2006/main" noGrp="1"/>
          </p:cNvSpPr>
          <p:nvPr/>
        </p:nvSpPr>
        <p:spPr>
          <a:xfrm xmlns:a="http://schemas.openxmlformats.org/drawingml/2006/main">
            <a:off x="9505950" y="1943100"/>
            <a:ext cx="2000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304"/>
          </a:bodyPr>
          <a:lstStyle xmlns:a="http://schemas.openxmlformats.org/drawingml/2006/main"/>
          <a:p xmlns:a="http://schemas.openxmlformats.org/drawingml/2006/main">
            <a:pPr algn="ctr">
              <a:defRPr sz="1725" b="1">
                <a:solidFill>
                  <a:srgbClr val="F28C28"/>
                </a:solidFill>
                <a:latin typeface="YuGothic"/>
                <a:ea typeface="YuGothic"/>
                <a:cs typeface="YuGothic"/>
              </a:defRPr>
            </a:pPr>
            <a:r>
              <a:rPr sz="1725" b="1">
                <a:solidFill>
                  <a:srgbClr val="F28C28"/>
                </a:solidFill>
                <a:latin typeface="YuGothic"/>
                <a:ea typeface="YuGothic"/>
                <a:cs typeface="YuGothic"/>
              </a:rPr>
              <a:t>Contrastive が最高</a:t>
            </a:r>
          </a:p>
          <a:p xmlns:a="http://schemas.openxmlformats.org/drawingml/2006/main">
            <a:pPr algn="ctr">
              <a:defRPr sz="1725" b="1">
                <a:solidFill>
                  <a:srgbClr val="F28C28"/>
                </a:solidFill>
                <a:latin typeface="YuGothic"/>
                <a:ea typeface="YuGothic"/>
                <a:cs typeface="YuGothic"/>
              </a:defRPr>
            </a:pPr>
            <a:r>
              <a:rPr sz="1725" b="1">
                <a:solidFill>
                  <a:srgbClr val="F28C28"/>
                </a:solidFill>
                <a:latin typeface="YuGothic"/>
                <a:ea typeface="YuGothic"/>
                <a:cs typeface="YuGothic"/>
              </a:rPr>
              <a:t>0.8655</a:t>
            </a:r>
          </a:p>
        </p:txBody>
      </p:sp>
      <p:sp>
        <p:nvSpPr>
          <p:cNvPr id="9" name="">
            <a:extLst xmlns:a="http://schemas.openxmlformats.org/drawingml/2006/main">
              <a:ext uri="{FF2B5EF4-FFF2-40B4-BE49-F238E27FC236}">
                <a16:creationId xmlns:a16="http://schemas.microsoft.com/office/drawing/2014/main" id="{9F32AD2D-1D6A-4475-968E-EAE7F6704CAD}"/>
              </a:ext>
            </a:extLst>
          </p:cNvPr>
          <p:cNvSpPr>
            <a:spLocks xmlns:a="http://schemas.openxmlformats.org/drawingml/2006/main" noGrp="1"/>
          </p:cNvSpPr>
          <p:nvPr/>
        </p:nvSpPr>
        <p:spPr>
          <a:xfrm xmlns:a="http://schemas.openxmlformats.org/drawingml/2006/main">
            <a:off x="9334500" y="2924175"/>
            <a:ext cx="2333625" cy="1285875"/>
          </a:xfrm>
          <a:prstGeom xmlns:a="http://schemas.openxmlformats.org/drawingml/2006/main" prst="roundRect">
            <a:avLst>
              <a:gd name="adj" fmla="val 5926"/>
            </a:avLst>
          </a:prstGeom>
          <a:solidFill xmlns:a="http://schemas.openxmlformats.org/drawingml/2006/main">
            <a:srgbClr val="F7F9FC"/>
          </a:solidFill>
          <a:ln xmlns:a="http://schemas.openxmlformats.org/drawingml/2006/main" w="9525">
            <a:solidFill>
              <a:srgbClr val="E7EBF0"/>
            </a:solidFill>
          </a:ln>
        </p:spPr>
      </p:sp>
      <p:sp>
        <p:nvSpPr>
          <p:cNvPr id="10" name="">
            <a:extLst xmlns:a="http://schemas.openxmlformats.org/drawingml/2006/main">
              <a:ext uri="{FF2B5EF4-FFF2-40B4-BE49-F238E27FC236}">
                <a16:creationId xmlns:a16="http://schemas.microsoft.com/office/drawing/2014/main" id="{3F2E91C9-385D-4363-8911-7278844795D0}"/>
              </a:ext>
            </a:extLst>
          </p:cNvPr>
          <p:cNvSpPr>
            <a:spLocks xmlns:a="http://schemas.openxmlformats.org/drawingml/2006/main" noGrp="1"/>
          </p:cNvSpPr>
          <p:nvPr/>
        </p:nvSpPr>
        <p:spPr>
          <a:xfrm xmlns:a="http://schemas.openxmlformats.org/drawingml/2006/main">
            <a:off x="9505950" y="3048000"/>
            <a:ext cx="20002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9815"/>
          </a:bodyPr>
          <a:lstStyle xmlns:a="http://schemas.openxmlformats.org/drawingml/2006/main"/>
          <a:p xmlns:a="http://schemas.openxmlformats.org/drawingml/2006/main">
            <a:pPr algn="ctr">
              <a:defRPr sz="1350" b="1">
                <a:solidFill>
                  <a:srgbClr val="1479C9"/>
                </a:solidFill>
                <a:latin typeface="YuGothic"/>
                <a:ea typeface="YuGothic"/>
                <a:cs typeface="YuGothic"/>
              </a:defRPr>
            </a:pPr>
            <a:r>
              <a:rPr sz="1350" b="1">
                <a:solidFill>
                  <a:srgbClr val="1479C9"/>
                </a:solidFill>
                <a:latin typeface="YuGothic"/>
                <a:ea typeface="YuGothic"/>
                <a:cs typeface="YuGothic"/>
              </a:rPr>
              <a:t>非線形NN・RF</a:t>
            </a:r>
          </a:p>
        </p:txBody>
      </p:sp>
      <p:sp>
        <p:nvSpPr>
          <p:cNvPr id="11" name="">
            <a:extLst xmlns:a="http://schemas.openxmlformats.org/drawingml/2006/main">
              <a:ext uri="{FF2B5EF4-FFF2-40B4-BE49-F238E27FC236}">
                <a16:creationId xmlns:a16="http://schemas.microsoft.com/office/drawing/2014/main" id="{975FC47F-4362-4D22-B9DD-4A12B0956E25}"/>
              </a:ext>
            </a:extLst>
          </p:cNvPr>
          <p:cNvSpPr>
            <a:spLocks xmlns:a="http://schemas.openxmlformats.org/drawingml/2006/main" noGrp="1"/>
          </p:cNvSpPr>
          <p:nvPr/>
        </p:nvSpPr>
        <p:spPr>
          <a:xfrm xmlns:a="http://schemas.openxmlformats.org/drawingml/2006/main">
            <a:off x="9505950" y="3448050"/>
            <a:ext cx="2000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8407"/>
          </a:bodyPr>
          <a:lstStyle xmlns:a="http://schemas.openxmlformats.org/drawingml/2006/main"/>
          <a:p xmlns:a="http://schemas.openxmlformats.org/drawingml/2006/main">
            <a:pPr algn="ctr">
              <a:defRPr sz="1575" b="1">
                <a:solidFill>
                  <a:srgbClr val="2AA876"/>
                </a:solidFill>
                <a:latin typeface="YuGothic"/>
                <a:ea typeface="YuGothic"/>
                <a:cs typeface="YuGothic"/>
              </a:defRPr>
            </a:pPr>
            <a:r>
              <a:rPr sz="1575" b="1">
                <a:solidFill>
                  <a:srgbClr val="2AA876"/>
                </a:solidFill>
                <a:latin typeface="YuGothic"/>
                <a:ea typeface="YuGothic"/>
                <a:cs typeface="YuGothic"/>
              </a:rPr>
              <a:t>2クラスLIME が最高</a:t>
            </a:r>
          </a:p>
        </p:txBody>
      </p:sp>
      <p:sp>
        <p:nvSpPr>
          <p:cNvPr id="12" name="">
            <a:extLst xmlns:a="http://schemas.openxmlformats.org/drawingml/2006/main">
              <a:ext uri="{FF2B5EF4-FFF2-40B4-BE49-F238E27FC236}">
                <a16:creationId xmlns:a16="http://schemas.microsoft.com/office/drawing/2014/main" id="{15AE08F2-1EF9-4DDB-86B7-21DA6E68207E}"/>
              </a:ext>
            </a:extLst>
          </p:cNvPr>
          <p:cNvSpPr>
            <a:spLocks xmlns:a="http://schemas.openxmlformats.org/drawingml/2006/main" noGrp="1"/>
          </p:cNvSpPr>
          <p:nvPr/>
        </p:nvSpPr>
        <p:spPr>
          <a:xfrm xmlns:a="http://schemas.openxmlformats.org/drawingml/2006/main">
            <a:off x="9334500" y="4391025"/>
            <a:ext cx="2333625" cy="1276350"/>
          </a:xfrm>
          <a:prstGeom xmlns:a="http://schemas.openxmlformats.org/drawingml/2006/main" prst="roundRect">
            <a:avLst>
              <a:gd name="adj" fmla="val 5970"/>
            </a:avLst>
          </a:prstGeom>
          <a:solidFill xmlns:a="http://schemas.openxmlformats.org/drawingml/2006/main">
            <a:srgbClr val="FFF4D6"/>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0A92DECD-F8F0-4A47-A4B5-13FC051E3315}"/>
              </a:ext>
            </a:extLst>
          </p:cNvPr>
          <p:cNvSpPr>
            <a:spLocks xmlns:a="http://schemas.openxmlformats.org/drawingml/2006/main" noGrp="1"/>
          </p:cNvSpPr>
          <p:nvPr/>
        </p:nvSpPr>
        <p:spPr>
          <a:xfrm xmlns:a="http://schemas.openxmlformats.org/drawingml/2006/main">
            <a:off x="9505950" y="4514850"/>
            <a:ext cx="2000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185"/>
          </a:bodyPr>
          <a:lstStyle xmlns:a="http://schemas.openxmlformats.org/drawingml/2006/main"/>
          <a:p xmlns:a="http://schemas.openxmlformats.org/drawingml/2006/main">
            <a:pPr algn="ctr">
              <a:defRPr sz="1350" b="1">
                <a:solidFill>
                  <a:srgbClr val="F28C28"/>
                </a:solidFill>
                <a:latin typeface="YuGothic"/>
                <a:ea typeface="YuGothic"/>
                <a:cs typeface="YuGothic"/>
              </a:defRPr>
            </a:pPr>
            <a:r>
              <a:rPr sz="1350" b="1">
                <a:solidFill>
                  <a:srgbClr val="F28C28"/>
                </a:solidFill>
                <a:latin typeface="YuGothic"/>
                <a:ea typeface="YuGothic"/>
                <a:cs typeface="YuGothic"/>
              </a:rPr>
              <a:t>示唆</a:t>
            </a:r>
          </a:p>
        </p:txBody>
      </p:sp>
      <p:sp>
        <p:nvSpPr>
          <p:cNvPr id="14" name="">
            <a:extLst xmlns:a="http://schemas.openxmlformats.org/drawingml/2006/main">
              <a:ext uri="{FF2B5EF4-FFF2-40B4-BE49-F238E27FC236}">
                <a16:creationId xmlns:a16="http://schemas.microsoft.com/office/drawing/2014/main" id="{33C9F5A7-7773-4ABD-B7B1-34AD9EA35B50}"/>
              </a:ext>
            </a:extLst>
          </p:cNvPr>
          <p:cNvSpPr>
            <a:spLocks xmlns:a="http://schemas.openxmlformats.org/drawingml/2006/main" noGrp="1"/>
          </p:cNvSpPr>
          <p:nvPr/>
        </p:nvSpPr>
        <p:spPr>
          <a:xfrm xmlns:a="http://schemas.openxmlformats.org/drawingml/2006/main">
            <a:off x="9505950" y="4857750"/>
            <a:ext cx="2000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275" b="0">
                <a:solidFill>
                  <a:srgbClr val="17233D"/>
                </a:solidFill>
                <a:latin typeface="YuGothic"/>
                <a:ea typeface="YuGothic"/>
                <a:cs typeface="YuGothic"/>
              </a:defRPr>
            </a:pPr>
            <a:r>
              <a:rPr sz="1275" b="0">
                <a:solidFill>
                  <a:srgbClr val="17233D"/>
                </a:solidFill>
                <a:latin typeface="YuGothic"/>
                <a:ea typeface="YuGothic"/>
                <a:cs typeface="YuGothic"/>
              </a:rPr>
              <a:t>対数比の利点は</a:t>
            </a:r>
          </a:p>
          <a:p xmlns:a="http://schemas.openxmlformats.org/drawingml/2006/main">
            <a:pPr algn="ctr">
              <a:defRPr sz="1275" b="0">
                <a:solidFill>
                  <a:srgbClr val="17233D"/>
                </a:solidFill>
                <a:latin typeface="YuGothic"/>
                <a:ea typeface="YuGothic"/>
                <a:cs typeface="YuGothic"/>
              </a:defRPr>
            </a:pPr>
            <a:r>
              <a:rPr sz="1275" b="0">
                <a:solidFill>
                  <a:srgbClr val="17233D"/>
                </a:solidFill>
                <a:latin typeface="YuGothic"/>
                <a:ea typeface="YuGothic"/>
                <a:cs typeface="YuGothic"/>
              </a:rPr>
              <a:t>線形logit構造で最も出る</a:t>
            </a:r>
          </a:p>
        </p:txBody>
      </p:sp>
      <p:sp>
        <p:nvSpPr>
          <p:cNvPr id="15" name="">
            <a:extLst xmlns:a="http://schemas.openxmlformats.org/drawingml/2006/main">
              <a:ext uri="{FF2B5EF4-FFF2-40B4-BE49-F238E27FC236}">
                <a16:creationId xmlns:a16="http://schemas.microsoft.com/office/drawing/2014/main" id="{51C531D7-4AC1-4219-A984-C22CE6887C6B}"/>
              </a:ext>
            </a:extLst>
          </p:cNvPr>
          <p:cNvSpPr>
            <a:spLocks xmlns:a="http://schemas.openxmlformats.org/drawingml/2006/main" noGrp="1"/>
          </p:cNvSpPr>
          <p:nvPr/>
        </p:nvSpPr>
        <p:spPr>
          <a:xfrm xmlns:a="http://schemas.openxmlformats.org/drawingml/2006/main">
            <a:off x="619125" y="5819775"/>
            <a:ext cx="8382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9487"/>
          </a:bodyPr>
          <a:lstStyle xmlns:a="http://schemas.openxmlformats.org/drawingml/2006/main"/>
          <a:p xmlns:a="http://schemas.openxmlformats.org/drawingml/2006/main">
            <a:pPr algn="ctr">
              <a:defRPr sz="975" b="0">
                <a:solidFill>
                  <a:srgbClr val="687386"/>
                </a:solidFill>
                <a:latin typeface="YuGothic"/>
                <a:ea typeface="YuGothic"/>
                <a:cs typeface="YuGothic"/>
              </a:defRPr>
            </a:pPr>
            <a:r>
              <a:rPr sz="975" b="0">
                <a:solidFill>
                  <a:srgbClr val="687386"/>
                </a:solidFill>
                <a:latin typeface="YuGothic"/>
                <a:ea typeface="YuGothic"/>
                <a:cs typeface="YuGothic"/>
              </a:rPr>
              <a:t>平均値、20 seeds</a:t>
            </a:r>
          </a:p>
        </p:txBody>
      </p:sp>
    </p:spTree>
    <p:extLst>
      <p:ext uri="{BB962C8B-B14F-4D97-AF65-F5344CB8AC3E}">
        <p14:creationId xmlns:p14="http://schemas.microsoft.com/office/powerpoint/2010/main" val="977511578"/>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4528D85D-BEB7-45D3-A9A0-36EB5C289735}"/>
              </a:ext>
            </a:extLst>
          </p:cNvPr>
          <p:cNvSpPr>
            <a:spLocks xmlns:a="http://schemas.openxmlformats.org/drawingml/2006/main" noGrp="1"/>
          </p:cNvSpPr>
          <p:nvPr/>
        </p:nvSpPr>
        <p:spPr>
          <a:xfrm xmlns:a="http://schemas.openxmlformats.org/drawingml/2006/main">
            <a:off x="514350" y="409575"/>
            <a:ext cx="114300" cy="476250"/>
          </a:xfrm>
          <a:prstGeom xmlns:a="http://schemas.openxmlformats.org/drawingml/2006/main" prst="rect">
            <a:avLst/>
          </a:prstGeom>
          <a:solidFill xmlns:a="http://schemas.openxmlformats.org/drawingml/2006/main">
            <a:srgbClr val="1479C9"/>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8A8E90DC-291C-4F08-A613-F7E3432A7159}"/>
              </a:ext>
            </a:extLst>
          </p:cNvPr>
          <p:cNvSpPr>
            <a:spLocks xmlns:a="http://schemas.openxmlformats.org/drawingml/2006/main" noGrp="1"/>
          </p:cNvSpPr>
          <p:nvPr/>
        </p:nvSpPr>
        <p:spPr>
          <a:xfrm xmlns:a="http://schemas.openxmlformats.org/drawingml/2006/main">
            <a:off x="762000" y="3429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9020"/>
          </a:bodyPr>
          <a:lstStyle xmlns:a="http://schemas.openxmlformats.org/drawingml/2006/main"/>
          <a:p xmlns:a="http://schemas.openxmlformats.org/drawingml/2006/main">
            <a:pPr algn="l">
              <a:defRPr sz="2550" b="1">
                <a:solidFill>
                  <a:srgbClr val="17233D"/>
                </a:solidFill>
                <a:latin typeface="YuGothic"/>
                <a:ea typeface="YuGothic"/>
                <a:cs typeface="YuGothic"/>
              </a:defRPr>
            </a:pPr>
            <a:r>
              <a:rPr sz="2550" b="1">
                <a:solidFill>
                  <a:srgbClr val="17233D"/>
                </a:solidFill>
                <a:latin typeface="YuGothic"/>
                <a:ea typeface="YuGothic"/>
                <a:cs typeface="YuGothic"/>
              </a:rPr>
              <a:t>解釈性：競合に関係する特徴を選べるか</a:t>
            </a:r>
          </a:p>
        </p:txBody>
      </p:sp>
      <p:sp>
        <p:nvSpPr>
          <p:cNvPr id="3" name="">
            <a:extLst xmlns:a="http://schemas.openxmlformats.org/drawingml/2006/main">
              <a:ext uri="{FF2B5EF4-FFF2-40B4-BE49-F238E27FC236}">
                <a16:creationId xmlns:a16="http://schemas.microsoft.com/office/drawing/2014/main" id="{4B0700C1-90EE-4B7F-85DB-26B5D865D4CC}"/>
              </a:ext>
            </a:extLst>
          </p:cNvPr>
          <p:cNvSpPr>
            <a:spLocks xmlns:a="http://schemas.openxmlformats.org/drawingml/2006/main" noGrp="1"/>
          </p:cNvSpPr>
          <p:nvPr/>
        </p:nvSpPr>
        <p:spPr>
          <a:xfrm xmlns:a="http://schemas.openxmlformats.org/drawingml/2006/main">
            <a:off x="762000" y="80010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417"/>
          </a:bodyPr>
          <a:lstStyle xmlns:a="http://schemas.openxmlformats.org/drawingml/2006/main"/>
          <a:p xmlns:a="http://schemas.openxmlformats.org/drawingml/2006/main">
            <a:pPr algn="l">
              <a:defRPr sz="1200" b="0">
                <a:solidFill>
                  <a:srgbClr val="687386"/>
                </a:solidFill>
                <a:latin typeface="YuGothic"/>
                <a:ea typeface="YuGothic"/>
                <a:cs typeface="YuGothic"/>
              </a:defRPr>
            </a:pPr>
            <a:r>
              <a:rPr sz="1200" b="0">
                <a:solidFill>
                  <a:srgbClr val="687386"/>
                </a:solidFill>
                <a:latin typeface="YuGothic"/>
                <a:ea typeface="YuGothic"/>
                <a:cs typeface="YuGothic"/>
              </a:rPr>
              <a:t>2クラスに共通するだけの特徴を強くし、表示上位K個への混入を測定</a:t>
            </a:r>
          </a:p>
        </p:txBody>
      </p:sp>
      <p:sp>
        <p:nvSpPr>
          <p:cNvPr id="4" name="">
            <a:extLst xmlns:a="http://schemas.openxmlformats.org/drawingml/2006/main">
              <a:ext uri="{FF2B5EF4-FFF2-40B4-BE49-F238E27FC236}">
                <a16:creationId xmlns:a16="http://schemas.microsoft.com/office/drawing/2014/main" id="{B238C0EA-AF1D-4ACB-9FDB-5831D506DFFF}"/>
              </a:ext>
            </a:extLst>
          </p:cNvPr>
          <p:cNvSpPr>
            <a:spLocks xmlns:a="http://schemas.openxmlformats.org/drawingml/2006/main" noGrp="1"/>
          </p:cNvSpPr>
          <p:nvPr/>
        </p:nvSpPr>
        <p:spPr>
          <a:xfrm xmlns:a="http://schemas.openxmlformats.org/drawingml/2006/main">
            <a:off x="11334750" y="6457950"/>
            <a:ext cx="4000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6667"/>
          </a:bodyPr>
          <a:lstStyle xmlns:a="http://schemas.openxmlformats.org/drawingml/2006/main"/>
          <a:p xmlns:a="http://schemas.openxmlformats.org/drawingml/2006/main">
            <a:pPr algn="r">
              <a:defRPr sz="975" b="0">
                <a:solidFill>
                  <a:srgbClr val="8993A4"/>
                </a:solidFill>
                <a:latin typeface="YuGothic"/>
                <a:ea typeface="YuGothic"/>
                <a:cs typeface="YuGothic"/>
              </a:defRPr>
            </a:pPr>
            <a:r>
              <a:rPr sz="975" b="0">
                <a:solidFill>
                  <a:srgbClr val="8993A4"/>
                </a:solidFill>
                <a:latin typeface="YuGothic"/>
                <a:ea typeface="YuGothic"/>
                <a:cs typeface="YuGothic"/>
              </a:rPr>
              <a:t>15</a:t>
            </a:r>
          </a:p>
        </p:txBody>
      </p:sp>
      <p:graphicFrame>
        <p:nvGraphicFramePr>
          <p:cNvPr id="19" name="Chart"/>
          <p:cNvGraphicFramePr/>
          <p:nvPr/>
        </p:nvGraphicFramePr>
        <p:xfrm>
          <a:off xmlns:a="http://schemas.openxmlformats.org/drawingml/2006/main" x="552450" y="1362075"/>
          <a:ext xmlns:a="http://schemas.openxmlformats.org/drawingml/2006/main" cx="8096250" cy="4171950"/>
        </p:xfrm>
        <a:graphic xmlns:a="http://schemas.openxmlformats.org/drawingml/2006/main">
          <a:graphicData uri="http://schemas.openxmlformats.org/drawingml/2006/chart">
            <c:chart xmlns:r="http://schemas.openxmlformats.org/officeDocument/2006/relationships" xmlns:c="http://schemas.openxmlformats.org/drawingml/2006/chart" r:id="Rd4f4ff27fe28405e"/>
          </a:graphicData>
        </a:graphic>
      </p:graphicFrame>
      <p:sp>
        <p:nvSpPr>
          <p:cNvPr id="6" name="">
            <a:extLst xmlns:a="http://schemas.openxmlformats.org/drawingml/2006/main">
              <a:ext uri="{FF2B5EF4-FFF2-40B4-BE49-F238E27FC236}">
                <a16:creationId xmlns:a16="http://schemas.microsoft.com/office/drawing/2014/main" id="{28EFE376-2F45-4697-ADC0-A98F3F6E6B88}"/>
              </a:ext>
            </a:extLst>
          </p:cNvPr>
          <p:cNvSpPr>
            <a:spLocks xmlns:a="http://schemas.openxmlformats.org/drawingml/2006/main" noGrp="1"/>
          </p:cNvSpPr>
          <p:nvPr/>
        </p:nvSpPr>
        <p:spPr>
          <a:xfrm xmlns:a="http://schemas.openxmlformats.org/drawingml/2006/main">
            <a:off x="8972550" y="1438275"/>
            <a:ext cx="2628900" cy="1600200"/>
          </a:xfrm>
          <a:prstGeom xmlns:a="http://schemas.openxmlformats.org/drawingml/2006/main" prst="roundRect">
            <a:avLst>
              <a:gd name="adj" fmla="val 4762"/>
            </a:avLst>
          </a:prstGeom>
          <a:solidFill xmlns:a="http://schemas.openxmlformats.org/drawingml/2006/main">
            <a:srgbClr val="EAF4FB"/>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B1EAEFC9-74B2-4AE1-8214-C64CEF70897A}"/>
              </a:ext>
            </a:extLst>
          </p:cNvPr>
          <p:cNvSpPr>
            <a:spLocks xmlns:a="http://schemas.openxmlformats.org/drawingml/2006/main" noGrp="1"/>
          </p:cNvSpPr>
          <p:nvPr/>
        </p:nvSpPr>
        <p:spPr>
          <a:xfrm xmlns:a="http://schemas.openxmlformats.org/drawingml/2006/main">
            <a:off x="9134475" y="1581150"/>
            <a:ext cx="23050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4444"/>
          </a:bodyPr>
          <a:lstStyle xmlns:a="http://schemas.openxmlformats.org/drawingml/2006/main"/>
          <a:p xmlns:a="http://schemas.openxmlformats.org/drawingml/2006/main">
            <a:pPr algn="ctr">
              <a:defRPr sz="1350" b="1">
                <a:solidFill>
                  <a:srgbClr val="1479C9"/>
                </a:solidFill>
                <a:latin typeface="YuGothic"/>
                <a:ea typeface="YuGothic"/>
                <a:cs typeface="YuGothic"/>
              </a:defRPr>
            </a:pPr>
            <a:r>
              <a:rPr sz="1350" b="1">
                <a:solidFill>
                  <a:srgbClr val="1479C9"/>
                </a:solidFill>
                <a:latin typeface="YuGothic"/>
                <a:ea typeface="YuGothic"/>
                <a:cs typeface="YuGothic"/>
              </a:rPr>
              <a:t>共通特徴の強さ = 5</a:t>
            </a:r>
          </a:p>
        </p:txBody>
      </p:sp>
      <p:sp>
        <p:nvSpPr>
          <p:cNvPr id="8" name="">
            <a:extLst xmlns:a="http://schemas.openxmlformats.org/drawingml/2006/main">
              <a:ext uri="{FF2B5EF4-FFF2-40B4-BE49-F238E27FC236}">
                <a16:creationId xmlns:a16="http://schemas.microsoft.com/office/drawing/2014/main" id="{0A502834-DB08-4A48-831E-9120E5B583E2}"/>
              </a:ext>
            </a:extLst>
          </p:cNvPr>
          <p:cNvSpPr>
            <a:spLocks xmlns:a="http://schemas.openxmlformats.org/drawingml/2006/main" noGrp="1"/>
          </p:cNvSpPr>
          <p:nvPr/>
        </p:nvSpPr>
        <p:spPr>
          <a:xfrm xmlns:a="http://schemas.openxmlformats.org/drawingml/2006/main">
            <a:off x="9220200" y="2000250"/>
            <a:ext cx="2133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4722"/>
          </a:bodyPr>
          <a:lstStyle xmlns:a="http://schemas.openxmlformats.org/drawingml/2006/main"/>
          <a:p xmlns:a="http://schemas.openxmlformats.org/drawingml/2006/main">
            <a:pPr algn="ctr">
              <a:defRPr sz="1800" b="1">
                <a:solidFill>
                  <a:srgbClr val="1479C9"/>
                </a:solidFill>
                <a:latin typeface="YuGothic"/>
                <a:ea typeface="YuGothic"/>
                <a:cs typeface="YuGothic"/>
              </a:defRPr>
            </a:pPr>
            <a:r>
              <a:rPr sz="1800" b="1">
                <a:solidFill>
                  <a:srgbClr val="1479C9"/>
                </a:solidFill>
                <a:latin typeface="YuGothic"/>
                <a:ea typeface="YuGothic"/>
                <a:cs typeface="YuGothic"/>
              </a:rPr>
              <a:t>OVR　0.807</a:t>
            </a:r>
          </a:p>
        </p:txBody>
      </p:sp>
      <p:sp>
        <p:nvSpPr>
          <p:cNvPr id="9" name="">
            <a:extLst xmlns:a="http://schemas.openxmlformats.org/drawingml/2006/main">
              <a:ext uri="{FF2B5EF4-FFF2-40B4-BE49-F238E27FC236}">
                <a16:creationId xmlns:a16="http://schemas.microsoft.com/office/drawing/2014/main" id="{44F65D03-3E64-485A-9C7B-86617FDE3315}"/>
              </a:ext>
            </a:extLst>
          </p:cNvPr>
          <p:cNvSpPr>
            <a:spLocks xmlns:a="http://schemas.openxmlformats.org/drawingml/2006/main" noGrp="1"/>
          </p:cNvSpPr>
          <p:nvPr/>
        </p:nvSpPr>
        <p:spPr>
          <a:xfrm xmlns:a="http://schemas.openxmlformats.org/drawingml/2006/main">
            <a:off x="9124950" y="2428875"/>
            <a:ext cx="23241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650" b="1">
                <a:solidFill>
                  <a:srgbClr val="2AA876"/>
                </a:solidFill>
                <a:latin typeface="YuGothic"/>
                <a:ea typeface="YuGothic"/>
                <a:cs typeface="YuGothic"/>
              </a:defRPr>
            </a:pPr>
            <a:r>
              <a:rPr sz="1650" b="1">
                <a:solidFill>
                  <a:srgbClr val="2AA876"/>
                </a:solidFill>
                <a:latin typeface="YuGothic"/>
                <a:ea typeface="YuGothic"/>
                <a:cs typeface="YuGothic"/>
              </a:rPr>
              <a:t>2クラス方式　約1.000</a:t>
            </a:r>
          </a:p>
        </p:txBody>
      </p:sp>
      <p:sp>
        <p:nvSpPr>
          <p:cNvPr id="10" name="">
            <a:extLst xmlns:a="http://schemas.openxmlformats.org/drawingml/2006/main">
              <a:ext uri="{FF2B5EF4-FFF2-40B4-BE49-F238E27FC236}">
                <a16:creationId xmlns:a16="http://schemas.microsoft.com/office/drawing/2014/main" id="{B02DEE7E-B845-48B7-AF76-12B15D787D87}"/>
              </a:ext>
            </a:extLst>
          </p:cNvPr>
          <p:cNvSpPr>
            <a:spLocks xmlns:a="http://schemas.openxmlformats.org/drawingml/2006/main" noGrp="1"/>
          </p:cNvSpPr>
          <p:nvPr/>
        </p:nvSpPr>
        <p:spPr>
          <a:xfrm xmlns:a="http://schemas.openxmlformats.org/drawingml/2006/main">
            <a:off x="8972550" y="3219450"/>
            <a:ext cx="2628900" cy="1524000"/>
          </a:xfrm>
          <a:prstGeom xmlns:a="http://schemas.openxmlformats.org/drawingml/2006/main" prst="roundRect">
            <a:avLst>
              <a:gd name="adj" fmla="val 5000"/>
            </a:avLst>
          </a:prstGeom>
          <a:solidFill xmlns:a="http://schemas.openxmlformats.org/drawingml/2006/main">
            <a:srgbClr val="FFF4D6"/>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C413C182-BB74-4210-A742-FE633AE4235B}"/>
              </a:ext>
            </a:extLst>
          </p:cNvPr>
          <p:cNvSpPr>
            <a:spLocks xmlns:a="http://schemas.openxmlformats.org/drawingml/2006/main" noGrp="1"/>
          </p:cNvSpPr>
          <p:nvPr/>
        </p:nvSpPr>
        <p:spPr>
          <a:xfrm xmlns:a="http://schemas.openxmlformats.org/drawingml/2006/main">
            <a:off x="9134475" y="3343275"/>
            <a:ext cx="23050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185"/>
          </a:bodyPr>
          <a:lstStyle xmlns:a="http://schemas.openxmlformats.org/drawingml/2006/main"/>
          <a:p xmlns:a="http://schemas.openxmlformats.org/drawingml/2006/main">
            <a:pPr algn="ctr">
              <a:defRPr sz="1350" b="1">
                <a:solidFill>
                  <a:srgbClr val="F28C28"/>
                </a:solidFill>
                <a:latin typeface="YuGothic"/>
                <a:ea typeface="YuGothic"/>
                <a:cs typeface="YuGothic"/>
              </a:defRPr>
            </a:pPr>
            <a:r>
              <a:rPr sz="1350" b="1">
                <a:solidFill>
                  <a:srgbClr val="F28C28"/>
                </a:solidFill>
                <a:latin typeface="YuGothic"/>
                <a:ea typeface="YuGothic"/>
                <a:cs typeface="YuGothic"/>
              </a:rPr>
              <a:t>なぜ差が出るか</a:t>
            </a:r>
          </a:p>
        </p:txBody>
      </p:sp>
      <p:sp>
        <p:nvSpPr>
          <p:cNvPr id="12" name="">
            <a:extLst xmlns:a="http://schemas.openxmlformats.org/drawingml/2006/main">
              <a:ext uri="{FF2B5EF4-FFF2-40B4-BE49-F238E27FC236}">
                <a16:creationId xmlns:a16="http://schemas.microsoft.com/office/drawing/2014/main" id="{1125DAE0-D712-4A34-B104-3D8D32EF163D}"/>
              </a:ext>
            </a:extLst>
          </p:cNvPr>
          <p:cNvSpPr>
            <a:spLocks xmlns:a="http://schemas.openxmlformats.org/drawingml/2006/main" noGrp="1"/>
          </p:cNvSpPr>
          <p:nvPr/>
        </p:nvSpPr>
        <p:spPr>
          <a:xfrm xmlns:a="http://schemas.openxmlformats.org/drawingml/2006/main">
            <a:off x="9144000" y="3724275"/>
            <a:ext cx="22860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573"/>
          </a:bodyPr>
          <a:lstStyle xmlns:a="http://schemas.openxmlformats.org/drawingml/2006/main"/>
          <a:p xmlns:a="http://schemas.openxmlformats.org/drawingml/2006/main">
            <a:pPr algn="ctr">
              <a:defRPr sz="1200" b="0">
                <a:solidFill>
                  <a:srgbClr val="17233D"/>
                </a:solidFill>
                <a:latin typeface="YuGothic"/>
                <a:ea typeface="YuGothic"/>
                <a:cs typeface="YuGothic"/>
              </a:defRPr>
            </a:pPr>
            <a:r>
              <a:rPr sz="1200" b="0">
                <a:solidFill>
                  <a:srgbClr val="17233D"/>
                </a:solidFill>
                <a:latin typeface="YuGothic"/>
                <a:ea typeface="YuGothic"/>
                <a:cs typeface="YuGothic"/>
              </a:rPr>
              <a:t>共通特徴は両クラスを同じ方向に動かす。</a:t>
            </a:r>
          </a:p>
          <a:p xmlns:a="http://schemas.openxmlformats.org/drawingml/2006/main">
            <a:pPr algn="ctr">
              <a:defRPr sz="1200" b="0">
                <a:solidFill>
                  <a:srgbClr val="17233D"/>
                </a:solidFill>
                <a:latin typeface="YuGothic"/>
                <a:ea typeface="YuGothic"/>
                <a:cs typeface="YuGothic"/>
              </a:defRPr>
            </a:pPr>
            <a:r>
              <a:rPr sz="1200" b="0">
                <a:solidFill>
                  <a:srgbClr val="17233D"/>
                </a:solidFill>
                <a:latin typeface="YuGothic"/>
                <a:ea typeface="YuGothic"/>
                <a:cs typeface="YuGothic"/>
              </a:rPr>
              <a:t>OVRでは重要に見えるが、クラス間の差には寄与しない。</a:t>
            </a:r>
          </a:p>
        </p:txBody>
      </p:sp>
      <p:sp>
        <p:nvSpPr>
          <p:cNvPr id="13" name="">
            <a:extLst xmlns:a="http://schemas.openxmlformats.org/drawingml/2006/main">
              <a:ext uri="{FF2B5EF4-FFF2-40B4-BE49-F238E27FC236}">
                <a16:creationId xmlns:a16="http://schemas.microsoft.com/office/drawing/2014/main" id="{BE25B8F0-4925-4AFC-BBD6-9EE6149615D8}"/>
              </a:ext>
            </a:extLst>
          </p:cNvPr>
          <p:cNvSpPr>
            <a:spLocks xmlns:a="http://schemas.openxmlformats.org/drawingml/2006/main" noGrp="1"/>
          </p:cNvSpPr>
          <p:nvPr/>
        </p:nvSpPr>
        <p:spPr>
          <a:xfrm xmlns:a="http://schemas.openxmlformats.org/drawingml/2006/main">
            <a:off x="8915400" y="4953000"/>
            <a:ext cx="27813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7368"/>
          </a:bodyPr>
          <a:lstStyle xmlns:a="http://schemas.openxmlformats.org/drawingml/2006/main"/>
          <a:p xmlns:a="http://schemas.openxmlformats.org/drawingml/2006/main">
            <a:pPr algn="ctr">
              <a:defRPr sz="1425" b="1">
                <a:solidFill>
                  <a:srgbClr val="F28C28"/>
                </a:solidFill>
                <a:latin typeface="YuGothic"/>
                <a:ea typeface="YuGothic"/>
                <a:cs typeface="YuGothic"/>
              </a:defRPr>
            </a:pPr>
            <a:r>
              <a:rPr sz="1425" b="1">
                <a:solidFill>
                  <a:srgbClr val="F28C28"/>
                </a:solidFill>
                <a:latin typeface="YuGothic"/>
                <a:ea typeface="YuGothic"/>
                <a:cs typeface="YuGothic"/>
              </a:rPr>
              <a:t>表示枠を『どちらのクラスを支持するか』に集中できる</a:t>
            </a:r>
          </a:p>
        </p:txBody>
      </p:sp>
      <p:sp>
        <p:nvSpPr>
          <p:cNvPr id="14" name="">
            <a:extLst xmlns:a="http://schemas.openxmlformats.org/drawingml/2006/main">
              <a:ext uri="{FF2B5EF4-FFF2-40B4-BE49-F238E27FC236}">
                <a16:creationId xmlns:a16="http://schemas.microsoft.com/office/drawing/2014/main" id="{4A1CD721-300A-495B-9121-163FB048A052}"/>
              </a:ext>
            </a:extLst>
          </p:cNvPr>
          <p:cNvSpPr>
            <a:spLocks xmlns:a="http://schemas.openxmlformats.org/drawingml/2006/main" noGrp="1"/>
          </p:cNvSpPr>
          <p:nvPr/>
        </p:nvSpPr>
        <p:spPr>
          <a:xfrm xmlns:a="http://schemas.openxmlformats.org/drawingml/2006/main">
            <a:off x="628650" y="5724525"/>
            <a:ext cx="7810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9487"/>
          </a:bodyPr>
          <a:lstStyle xmlns:a="http://schemas.openxmlformats.org/drawingml/2006/main"/>
          <a:p xmlns:a="http://schemas.openxmlformats.org/drawingml/2006/main">
            <a:pPr algn="ctr">
              <a:defRPr sz="975" b="0">
                <a:solidFill>
                  <a:srgbClr val="687386"/>
                </a:solidFill>
                <a:latin typeface="YuGothic"/>
                <a:ea typeface="YuGothic"/>
                <a:cs typeface="YuGothic"/>
              </a:defRPr>
            </a:pPr>
            <a:r>
              <a:rPr sz="975" b="0">
                <a:solidFill>
                  <a:srgbClr val="687386"/>
                </a:solidFill>
                <a:latin typeface="YuGothic"/>
                <a:ea typeface="YuGothic"/>
                <a:cs typeface="YuGothic"/>
              </a:rPr>
              <a:t>平均値、20 seeds</a:t>
            </a:r>
          </a:p>
        </p:txBody>
      </p:sp>
    </p:spTree>
    <p:extLst>
      <p:ext uri="{BB962C8B-B14F-4D97-AF65-F5344CB8AC3E}">
        <p14:creationId xmlns:p14="http://schemas.microsoft.com/office/powerpoint/2010/main" val="2094969485"/>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68C2E416-55DD-4294-8320-29D26ABC1334}"/>
              </a:ext>
            </a:extLst>
          </p:cNvPr>
          <p:cNvSpPr>
            <a:spLocks xmlns:a="http://schemas.openxmlformats.org/drawingml/2006/main" noGrp="1"/>
          </p:cNvSpPr>
          <p:nvPr/>
        </p:nvSpPr>
        <p:spPr>
          <a:xfrm xmlns:a="http://schemas.openxmlformats.org/drawingml/2006/main">
            <a:off x="514350" y="409575"/>
            <a:ext cx="114300" cy="476250"/>
          </a:xfrm>
          <a:prstGeom xmlns:a="http://schemas.openxmlformats.org/drawingml/2006/main" prst="rect">
            <a:avLst/>
          </a:prstGeom>
          <a:solidFill xmlns:a="http://schemas.openxmlformats.org/drawingml/2006/main">
            <a:srgbClr val="1479C9"/>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B5382BD-82E2-4B1F-B18D-7376221C000B}"/>
              </a:ext>
            </a:extLst>
          </p:cNvPr>
          <p:cNvSpPr>
            <a:spLocks xmlns:a="http://schemas.openxmlformats.org/drawingml/2006/main" noGrp="1"/>
          </p:cNvSpPr>
          <p:nvPr/>
        </p:nvSpPr>
        <p:spPr>
          <a:xfrm xmlns:a="http://schemas.openxmlformats.org/drawingml/2006/main">
            <a:off x="762000" y="3429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9020"/>
          </a:bodyPr>
          <a:lstStyle xmlns:a="http://schemas.openxmlformats.org/drawingml/2006/main"/>
          <a:p xmlns:a="http://schemas.openxmlformats.org/drawingml/2006/main">
            <a:pPr algn="l">
              <a:defRPr sz="2550" b="1">
                <a:solidFill>
                  <a:srgbClr val="17233D"/>
                </a:solidFill>
                <a:latin typeface="YuGothic"/>
                <a:ea typeface="YuGothic"/>
                <a:cs typeface="YuGothic"/>
              </a:defRPr>
            </a:pPr>
            <a:r>
              <a:rPr sz="2550" b="1">
                <a:solidFill>
                  <a:srgbClr val="17233D"/>
                </a:solidFill>
                <a:latin typeface="YuGothic"/>
                <a:ea typeface="YuGothic"/>
                <a:cs typeface="YuGothic"/>
              </a:rPr>
              <a:t>計算時間</a:t>
            </a:r>
          </a:p>
        </p:txBody>
      </p:sp>
      <p:sp>
        <p:nvSpPr>
          <p:cNvPr id="3" name="">
            <a:extLst xmlns:a="http://schemas.openxmlformats.org/drawingml/2006/main">
              <a:ext uri="{FF2B5EF4-FFF2-40B4-BE49-F238E27FC236}">
                <a16:creationId xmlns:a16="http://schemas.microsoft.com/office/drawing/2014/main" id="{DF251AB1-91D4-43BA-93E1-2D99999ECF7E}"/>
              </a:ext>
            </a:extLst>
          </p:cNvPr>
          <p:cNvSpPr>
            <a:spLocks xmlns:a="http://schemas.openxmlformats.org/drawingml/2006/main" noGrp="1"/>
          </p:cNvSpPr>
          <p:nvPr/>
        </p:nvSpPr>
        <p:spPr>
          <a:xfrm xmlns:a="http://schemas.openxmlformats.org/drawingml/2006/main">
            <a:off x="762000" y="80010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417"/>
          </a:bodyPr>
          <a:lstStyle xmlns:a="http://schemas.openxmlformats.org/drawingml/2006/main"/>
          <a:p xmlns:a="http://schemas.openxmlformats.org/drawingml/2006/main">
            <a:pPr algn="l">
              <a:defRPr sz="1200" b="0">
                <a:solidFill>
                  <a:srgbClr val="687386"/>
                </a:solidFill>
                <a:latin typeface="YuGothic"/>
                <a:ea typeface="YuGothic"/>
                <a:cs typeface="YuGothic"/>
              </a:defRPr>
            </a:pPr>
            <a:r>
              <a:rPr sz="1200" b="0">
                <a:solidFill>
                  <a:srgbClr val="687386"/>
                </a:solidFill>
                <a:latin typeface="YuGothic"/>
                <a:ea typeface="YuGothic"/>
                <a:cs typeface="YuGothic"/>
              </a:rPr>
              <a:t>説明1件あたりのサロゲート学習時間。次元数とクラス数を別々に変化</a:t>
            </a:r>
          </a:p>
        </p:txBody>
      </p:sp>
      <p:sp>
        <p:nvSpPr>
          <p:cNvPr id="4" name="">
            <a:extLst xmlns:a="http://schemas.openxmlformats.org/drawingml/2006/main">
              <a:ext uri="{FF2B5EF4-FFF2-40B4-BE49-F238E27FC236}">
                <a16:creationId xmlns:a16="http://schemas.microsoft.com/office/drawing/2014/main" id="{C75F1A75-E43A-4F07-8182-A47CD562A237}"/>
              </a:ext>
            </a:extLst>
          </p:cNvPr>
          <p:cNvSpPr>
            <a:spLocks xmlns:a="http://schemas.openxmlformats.org/drawingml/2006/main" noGrp="1"/>
          </p:cNvSpPr>
          <p:nvPr/>
        </p:nvSpPr>
        <p:spPr>
          <a:xfrm xmlns:a="http://schemas.openxmlformats.org/drawingml/2006/main">
            <a:off x="11334750" y="6457950"/>
            <a:ext cx="4000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6667"/>
          </a:bodyPr>
          <a:lstStyle xmlns:a="http://schemas.openxmlformats.org/drawingml/2006/main"/>
          <a:p xmlns:a="http://schemas.openxmlformats.org/drawingml/2006/main">
            <a:pPr algn="r">
              <a:defRPr sz="975" b="0">
                <a:solidFill>
                  <a:srgbClr val="8993A4"/>
                </a:solidFill>
                <a:latin typeface="YuGothic"/>
                <a:ea typeface="YuGothic"/>
                <a:cs typeface="YuGothic"/>
              </a:defRPr>
            </a:pPr>
            <a:r>
              <a:rPr sz="975" b="0">
                <a:solidFill>
                  <a:srgbClr val="8993A4"/>
                </a:solidFill>
                <a:latin typeface="YuGothic"/>
                <a:ea typeface="YuGothic"/>
                <a:cs typeface="YuGothic"/>
              </a:rPr>
              <a:t>16</a:t>
            </a:r>
          </a:p>
        </p:txBody>
      </p:sp>
      <p:graphicFrame>
        <p:nvGraphicFramePr>
          <p:cNvPr id="21" name="Chart"/>
          <p:cNvGraphicFramePr/>
          <p:nvPr/>
        </p:nvGraphicFramePr>
        <p:xfrm>
          <a:off xmlns:a="http://schemas.openxmlformats.org/drawingml/2006/main" x="523875" y="1381125"/>
          <a:ext xmlns:a="http://schemas.openxmlformats.org/drawingml/2006/main" cx="5381625" cy="3829050"/>
        </p:xfrm>
        <a:graphic xmlns:a="http://schemas.openxmlformats.org/drawingml/2006/main">
          <a:graphicData uri="http://schemas.openxmlformats.org/drawingml/2006/chart">
            <c:chart xmlns:r="http://schemas.openxmlformats.org/officeDocument/2006/relationships" xmlns:c="http://schemas.openxmlformats.org/drawingml/2006/chart" r:id="R99ce9dd4156a4337"/>
          </a:graphicData>
        </a:graphic>
      </p:graphicFrame>
      <p:graphicFrame>
        <p:nvGraphicFramePr>
          <p:cNvPr id="22" name="Chart"/>
          <p:cNvGraphicFramePr/>
          <p:nvPr/>
        </p:nvGraphicFramePr>
        <p:xfrm>
          <a:off xmlns:a="http://schemas.openxmlformats.org/drawingml/2006/main" x="6238875" y="1381125"/>
          <a:ext xmlns:a="http://schemas.openxmlformats.org/drawingml/2006/main" cx="5381625" cy="3829050"/>
        </p:xfrm>
        <a:graphic xmlns:a="http://schemas.openxmlformats.org/drawingml/2006/main">
          <a:graphicData uri="http://schemas.openxmlformats.org/drawingml/2006/chart">
            <c:chart xmlns:r="http://schemas.openxmlformats.org/officeDocument/2006/relationships" xmlns:c="http://schemas.openxmlformats.org/drawingml/2006/chart" r:id="Rbe9dc33c14334bc0"/>
          </a:graphicData>
        </a:graphic>
      </p:graphicFrame>
      <p:sp>
        <p:nvSpPr>
          <p:cNvPr id="7" name="">
            <a:extLst xmlns:a="http://schemas.openxmlformats.org/drawingml/2006/main">
              <a:ext uri="{FF2B5EF4-FFF2-40B4-BE49-F238E27FC236}">
                <a16:creationId xmlns:a16="http://schemas.microsoft.com/office/drawing/2014/main" id="{8C1ABDA5-711F-4B72-A763-BC3D2E2C4942}"/>
              </a:ext>
            </a:extLst>
          </p:cNvPr>
          <p:cNvSpPr>
            <a:spLocks xmlns:a="http://schemas.openxmlformats.org/drawingml/2006/main" noGrp="1"/>
          </p:cNvSpPr>
          <p:nvPr/>
        </p:nvSpPr>
        <p:spPr>
          <a:xfrm xmlns:a="http://schemas.openxmlformats.org/drawingml/2006/main">
            <a:off x="1924050" y="5419725"/>
            <a:ext cx="209550" cy="76200"/>
          </a:xfrm>
          <a:prstGeom xmlns:a="http://schemas.openxmlformats.org/drawingml/2006/main" prst="roundRect">
            <a:avLst>
              <a:gd name="adj" fmla="val 50000"/>
            </a:avLst>
          </a:prstGeom>
          <a:solidFill xmlns:a="http://schemas.openxmlformats.org/drawingml/2006/main">
            <a:srgbClr val="687386"/>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6AF7856D-CBE8-4104-A69A-4CE69B3AE5BD}"/>
              </a:ext>
            </a:extLst>
          </p:cNvPr>
          <p:cNvSpPr>
            <a:spLocks xmlns:a="http://schemas.openxmlformats.org/drawingml/2006/main" noGrp="1"/>
          </p:cNvSpPr>
          <p:nvPr/>
        </p:nvSpPr>
        <p:spPr>
          <a:xfrm xmlns:a="http://schemas.openxmlformats.org/drawingml/2006/main">
            <a:off x="2209800" y="5267325"/>
            <a:ext cx="1524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125" b="0">
                <a:solidFill>
                  <a:srgbClr val="17233D"/>
                </a:solidFill>
                <a:latin typeface="YuGothic"/>
                <a:ea typeface="YuGothic"/>
                <a:cs typeface="YuGothic"/>
              </a:defRPr>
            </a:pPr>
            <a:r>
              <a:rPr sz="1125" b="0">
                <a:solidFill>
                  <a:srgbClr val="17233D"/>
                </a:solidFill>
                <a:latin typeface="YuGothic"/>
                <a:ea typeface="YuGothic"/>
                <a:cs typeface="YuGothic"/>
              </a:rPr>
              <a:t>OVR exact-K</a:t>
            </a:r>
          </a:p>
        </p:txBody>
      </p:sp>
      <p:sp>
        <p:nvSpPr>
          <p:cNvPr id="9" name="">
            <a:extLst xmlns:a="http://schemas.openxmlformats.org/drawingml/2006/main">
              <a:ext uri="{FF2B5EF4-FFF2-40B4-BE49-F238E27FC236}">
                <a16:creationId xmlns:a16="http://schemas.microsoft.com/office/drawing/2014/main" id="{4F05C15A-02E0-410F-A77D-AC44C9DB19CE}"/>
              </a:ext>
            </a:extLst>
          </p:cNvPr>
          <p:cNvSpPr>
            <a:spLocks xmlns:a="http://schemas.openxmlformats.org/drawingml/2006/main" noGrp="1"/>
          </p:cNvSpPr>
          <p:nvPr/>
        </p:nvSpPr>
        <p:spPr>
          <a:xfrm xmlns:a="http://schemas.openxmlformats.org/drawingml/2006/main">
            <a:off x="4067175" y="5419725"/>
            <a:ext cx="209550" cy="76200"/>
          </a:xfrm>
          <a:prstGeom xmlns:a="http://schemas.openxmlformats.org/drawingml/2006/main" prst="roundRect">
            <a:avLst>
              <a:gd name="adj" fmla="val 50000"/>
            </a:avLst>
          </a:prstGeom>
          <a:solidFill xmlns:a="http://schemas.openxmlformats.org/drawingml/2006/main">
            <a:srgbClr val="2AA876"/>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DAB5B4F6-0B49-4380-97D8-D841E7E391D4}"/>
              </a:ext>
            </a:extLst>
          </p:cNvPr>
          <p:cNvSpPr>
            <a:spLocks xmlns:a="http://schemas.openxmlformats.org/drawingml/2006/main" noGrp="1"/>
          </p:cNvSpPr>
          <p:nvPr/>
        </p:nvSpPr>
        <p:spPr>
          <a:xfrm xmlns:a="http://schemas.openxmlformats.org/drawingml/2006/main">
            <a:off x="4352925" y="5267325"/>
            <a:ext cx="1524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125" b="0">
                <a:solidFill>
                  <a:srgbClr val="17233D"/>
                </a:solidFill>
                <a:latin typeface="YuGothic"/>
                <a:ea typeface="YuGothic"/>
                <a:cs typeface="YuGothic"/>
              </a:defRPr>
            </a:pPr>
            <a:r>
              <a:rPr sz="1125" b="0">
                <a:solidFill>
                  <a:srgbClr val="17233D"/>
                </a:solidFill>
                <a:latin typeface="YuGothic"/>
                <a:ea typeface="YuGothic"/>
                <a:cs typeface="YuGothic"/>
              </a:rPr>
              <a:t>2クラスLIME</a:t>
            </a:r>
          </a:p>
        </p:txBody>
      </p:sp>
      <p:sp>
        <p:nvSpPr>
          <p:cNvPr id="11" name="">
            <a:extLst xmlns:a="http://schemas.openxmlformats.org/drawingml/2006/main">
              <a:ext uri="{FF2B5EF4-FFF2-40B4-BE49-F238E27FC236}">
                <a16:creationId xmlns:a16="http://schemas.microsoft.com/office/drawing/2014/main" id="{12D26EB6-7EDD-4260-8061-CE92C6BEB28A}"/>
              </a:ext>
            </a:extLst>
          </p:cNvPr>
          <p:cNvSpPr>
            <a:spLocks xmlns:a="http://schemas.openxmlformats.org/drawingml/2006/main" noGrp="1"/>
          </p:cNvSpPr>
          <p:nvPr/>
        </p:nvSpPr>
        <p:spPr>
          <a:xfrm xmlns:a="http://schemas.openxmlformats.org/drawingml/2006/main">
            <a:off x="6210300" y="5419725"/>
            <a:ext cx="209550" cy="76200"/>
          </a:xfrm>
          <a:prstGeom xmlns:a="http://schemas.openxmlformats.org/drawingml/2006/main" prst="roundRect">
            <a:avLst>
              <a:gd name="adj" fmla="val 50000"/>
            </a:avLst>
          </a:prstGeom>
          <a:solidFill xmlns:a="http://schemas.openxmlformats.org/drawingml/2006/main">
            <a:srgbClr val="F28C28"/>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5BA59EF1-3310-4910-8B01-35F22F6EA6A6}"/>
              </a:ext>
            </a:extLst>
          </p:cNvPr>
          <p:cNvSpPr>
            <a:spLocks xmlns:a="http://schemas.openxmlformats.org/drawingml/2006/main" noGrp="1"/>
          </p:cNvSpPr>
          <p:nvPr/>
        </p:nvSpPr>
        <p:spPr>
          <a:xfrm xmlns:a="http://schemas.openxmlformats.org/drawingml/2006/main">
            <a:off x="6496050" y="5267325"/>
            <a:ext cx="1524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125" b="0">
                <a:solidFill>
                  <a:srgbClr val="17233D"/>
                </a:solidFill>
                <a:latin typeface="YuGothic"/>
                <a:ea typeface="YuGothic"/>
                <a:cs typeface="YuGothic"/>
              </a:defRPr>
            </a:pPr>
            <a:r>
              <a:rPr sz="1125" b="0">
                <a:solidFill>
                  <a:srgbClr val="17233D"/>
                </a:solidFill>
                <a:latin typeface="YuGothic"/>
                <a:ea typeface="YuGothic"/>
                <a:cs typeface="YuGothic"/>
              </a:rPr>
              <a:t>Contrastive</a:t>
            </a:r>
          </a:p>
        </p:txBody>
      </p:sp>
      <p:sp>
        <p:nvSpPr>
          <p:cNvPr id="13" name="">
            <a:extLst xmlns:a="http://schemas.openxmlformats.org/drawingml/2006/main">
              <a:ext uri="{FF2B5EF4-FFF2-40B4-BE49-F238E27FC236}">
                <a16:creationId xmlns:a16="http://schemas.microsoft.com/office/drawing/2014/main" id="{CC52AAFC-6E7C-4D57-8016-3DDCACBF266F}"/>
              </a:ext>
            </a:extLst>
          </p:cNvPr>
          <p:cNvSpPr>
            <a:spLocks xmlns:a="http://schemas.openxmlformats.org/drawingml/2006/main" noGrp="1"/>
          </p:cNvSpPr>
          <p:nvPr/>
        </p:nvSpPr>
        <p:spPr>
          <a:xfrm xmlns:a="http://schemas.openxmlformats.org/drawingml/2006/main">
            <a:off x="8353425" y="5419725"/>
            <a:ext cx="209550" cy="76200"/>
          </a:xfrm>
          <a:prstGeom xmlns:a="http://schemas.openxmlformats.org/drawingml/2006/main" prst="roundRect">
            <a:avLst>
              <a:gd name="adj" fmla="val 50000"/>
            </a:avLst>
          </a:prstGeom>
          <a:solidFill xmlns:a="http://schemas.openxmlformats.org/drawingml/2006/main">
            <a:srgbClr val="7B61A8"/>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C66AC845-BC11-4A28-B178-52AC85D9C5F5}"/>
              </a:ext>
            </a:extLst>
          </p:cNvPr>
          <p:cNvSpPr>
            <a:spLocks xmlns:a="http://schemas.openxmlformats.org/drawingml/2006/main" noGrp="1"/>
          </p:cNvSpPr>
          <p:nvPr/>
        </p:nvSpPr>
        <p:spPr>
          <a:xfrm xmlns:a="http://schemas.openxmlformats.org/drawingml/2006/main">
            <a:off x="8639175" y="5267325"/>
            <a:ext cx="1524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125" b="0">
                <a:solidFill>
                  <a:srgbClr val="17233D"/>
                </a:solidFill>
                <a:latin typeface="YuGothic"/>
                <a:ea typeface="YuGothic"/>
                <a:cs typeface="YuGothic"/>
              </a:defRPr>
            </a:pPr>
            <a:r>
              <a:rPr sz="1125" b="0">
                <a:solidFill>
                  <a:srgbClr val="17233D"/>
                </a:solidFill>
                <a:latin typeface="YuGothic"/>
                <a:ea typeface="YuGothic"/>
                <a:cs typeface="YuGothic"/>
              </a:rPr>
              <a:t>OVO Logistic</a:t>
            </a:r>
          </a:p>
        </p:txBody>
      </p:sp>
      <p:sp>
        <p:nvSpPr>
          <p:cNvPr id="15" name="">
            <a:extLst xmlns:a="http://schemas.openxmlformats.org/drawingml/2006/main">
              <a:ext uri="{FF2B5EF4-FFF2-40B4-BE49-F238E27FC236}">
                <a16:creationId xmlns:a16="http://schemas.microsoft.com/office/drawing/2014/main" id="{2F959D9F-50BF-458E-B76C-6F7CEF2C0460}"/>
              </a:ext>
            </a:extLst>
          </p:cNvPr>
          <p:cNvSpPr>
            <a:spLocks xmlns:a="http://schemas.openxmlformats.org/drawingml/2006/main" noGrp="1"/>
          </p:cNvSpPr>
          <p:nvPr/>
        </p:nvSpPr>
        <p:spPr>
          <a:xfrm xmlns:a="http://schemas.openxmlformats.org/drawingml/2006/main">
            <a:off x="1743075" y="5819775"/>
            <a:ext cx="8705850" cy="476250"/>
          </a:xfrm>
          <a:prstGeom xmlns:a="http://schemas.openxmlformats.org/drawingml/2006/main" prst="roundRect">
            <a:avLst>
              <a:gd name="adj" fmla="val 16000"/>
            </a:avLst>
          </a:prstGeom>
          <a:solidFill xmlns:a="http://schemas.openxmlformats.org/drawingml/2006/main">
            <a:srgbClr val="EAF4FB"/>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1C91C0E9-21BA-4576-B49D-0C7E3A7041FF}"/>
              </a:ext>
            </a:extLst>
          </p:cNvPr>
          <p:cNvSpPr>
            <a:spLocks xmlns:a="http://schemas.openxmlformats.org/drawingml/2006/main" noGrp="1"/>
          </p:cNvSpPr>
          <p:nvPr/>
        </p:nvSpPr>
        <p:spPr>
          <a:xfrm xmlns:a="http://schemas.openxmlformats.org/drawingml/2006/main">
            <a:off x="1952625" y="5895975"/>
            <a:ext cx="8286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500" b="1">
                <a:solidFill>
                  <a:srgbClr val="1479C9"/>
                </a:solidFill>
                <a:latin typeface="YuGothic"/>
                <a:ea typeface="YuGothic"/>
                <a:cs typeface="YuGothic"/>
              </a:defRPr>
            </a:pPr>
            <a:r>
              <a:rPr sz="1500" b="1">
                <a:solidFill>
                  <a:srgbClr val="1479C9"/>
                </a:solidFill>
                <a:latin typeface="YuGothic"/>
                <a:ea typeface="YuGothic"/>
                <a:cs typeface="YuGothic"/>
              </a:rPr>
              <a:t>C=10：OVR 63.46 ms ／ 2クラスLIME 6.48 ms ／ Contrastive 6.51 ms</a:t>
            </a:r>
          </a:p>
        </p:txBody>
      </p:sp>
    </p:spTree>
    <p:extLst>
      <p:ext uri="{BB962C8B-B14F-4D97-AF65-F5344CB8AC3E}">
        <p14:creationId xmlns:p14="http://schemas.microsoft.com/office/powerpoint/2010/main" val="723599067"/>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EE092582-B761-4FD7-A8DB-43024F1AA17B}"/>
              </a:ext>
            </a:extLst>
          </p:cNvPr>
          <p:cNvSpPr>
            <a:spLocks xmlns:a="http://schemas.openxmlformats.org/drawingml/2006/main" noGrp="1"/>
          </p:cNvSpPr>
          <p:nvPr/>
        </p:nvSpPr>
        <p:spPr>
          <a:xfrm xmlns:a="http://schemas.openxmlformats.org/drawingml/2006/main">
            <a:off x="514350" y="409575"/>
            <a:ext cx="114300" cy="476250"/>
          </a:xfrm>
          <a:prstGeom xmlns:a="http://schemas.openxmlformats.org/drawingml/2006/main" prst="rect">
            <a:avLst/>
          </a:prstGeom>
          <a:solidFill xmlns:a="http://schemas.openxmlformats.org/drawingml/2006/main">
            <a:srgbClr val="1479C9"/>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73AD3578-FF11-4E74-8008-B9995E14B627}"/>
              </a:ext>
            </a:extLst>
          </p:cNvPr>
          <p:cNvSpPr>
            <a:spLocks xmlns:a="http://schemas.openxmlformats.org/drawingml/2006/main" noGrp="1"/>
          </p:cNvSpPr>
          <p:nvPr/>
        </p:nvSpPr>
        <p:spPr>
          <a:xfrm xmlns:a="http://schemas.openxmlformats.org/drawingml/2006/main">
            <a:off x="762000" y="3429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9020"/>
          </a:bodyPr>
          <a:lstStyle xmlns:a="http://schemas.openxmlformats.org/drawingml/2006/main"/>
          <a:p xmlns:a="http://schemas.openxmlformats.org/drawingml/2006/main">
            <a:pPr algn="l">
              <a:defRPr sz="2550" b="1">
                <a:solidFill>
                  <a:srgbClr val="17233D"/>
                </a:solidFill>
                <a:latin typeface="YuGothic"/>
                <a:ea typeface="YuGothic"/>
                <a:cs typeface="YuGothic"/>
              </a:defRPr>
            </a:pPr>
            <a:r>
              <a:rPr sz="2550" b="1">
                <a:solidFill>
                  <a:srgbClr val="17233D"/>
                </a:solidFill>
                <a:latin typeface="YuGothic"/>
                <a:ea typeface="YuGothic"/>
                <a:cs typeface="YuGothic"/>
              </a:rPr>
              <a:t>結果からの考察</a:t>
            </a:r>
          </a:p>
        </p:txBody>
      </p:sp>
      <p:sp>
        <p:nvSpPr>
          <p:cNvPr id="3" name="">
            <a:extLst xmlns:a="http://schemas.openxmlformats.org/drawingml/2006/main">
              <a:ext uri="{FF2B5EF4-FFF2-40B4-BE49-F238E27FC236}">
                <a16:creationId xmlns:a16="http://schemas.microsoft.com/office/drawing/2014/main" id="{553F41FA-5DD1-407E-B368-7435BED8497F}"/>
              </a:ext>
            </a:extLst>
          </p:cNvPr>
          <p:cNvSpPr>
            <a:spLocks xmlns:a="http://schemas.openxmlformats.org/drawingml/2006/main" noGrp="1"/>
          </p:cNvSpPr>
          <p:nvPr/>
        </p:nvSpPr>
        <p:spPr>
          <a:xfrm xmlns:a="http://schemas.openxmlformats.org/drawingml/2006/main">
            <a:off x="762000" y="80010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417"/>
          </a:bodyPr>
          <a:lstStyle xmlns:a="http://schemas.openxmlformats.org/drawingml/2006/main"/>
          <a:p xmlns:a="http://schemas.openxmlformats.org/drawingml/2006/main">
            <a:pPr algn="l">
              <a:defRPr sz="1200" b="0">
                <a:solidFill>
                  <a:srgbClr val="687386"/>
                </a:solidFill>
                <a:latin typeface="YuGothic"/>
                <a:ea typeface="YuGothic"/>
                <a:cs typeface="YuGothic"/>
              </a:defRPr>
            </a:pPr>
            <a:r>
              <a:rPr sz="1200" b="0">
                <a:solidFill>
                  <a:srgbClr val="687386"/>
                </a:solidFill>
                <a:latin typeface="YuGothic"/>
                <a:ea typeface="YuGothic"/>
                <a:cs typeface="YuGothic"/>
              </a:rPr>
              <a:t>忠実度・特徴選択・計算量を合わせて提案の位置づけを整理</a:t>
            </a:r>
          </a:p>
        </p:txBody>
      </p:sp>
      <p:sp>
        <p:nvSpPr>
          <p:cNvPr id="4" name="">
            <a:extLst xmlns:a="http://schemas.openxmlformats.org/drawingml/2006/main">
              <a:ext uri="{FF2B5EF4-FFF2-40B4-BE49-F238E27FC236}">
                <a16:creationId xmlns:a16="http://schemas.microsoft.com/office/drawing/2014/main" id="{2FB92DD6-3A12-455C-91C0-63E4FC646854}"/>
              </a:ext>
            </a:extLst>
          </p:cNvPr>
          <p:cNvSpPr>
            <a:spLocks xmlns:a="http://schemas.openxmlformats.org/drawingml/2006/main" noGrp="1"/>
          </p:cNvSpPr>
          <p:nvPr/>
        </p:nvSpPr>
        <p:spPr>
          <a:xfrm xmlns:a="http://schemas.openxmlformats.org/drawingml/2006/main">
            <a:off x="11334750" y="6457950"/>
            <a:ext cx="4000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6667"/>
          </a:bodyPr>
          <a:lstStyle xmlns:a="http://schemas.openxmlformats.org/drawingml/2006/main"/>
          <a:p xmlns:a="http://schemas.openxmlformats.org/drawingml/2006/main">
            <a:pPr algn="r">
              <a:defRPr sz="975" b="0">
                <a:solidFill>
                  <a:srgbClr val="8993A4"/>
                </a:solidFill>
                <a:latin typeface="YuGothic"/>
                <a:ea typeface="YuGothic"/>
                <a:cs typeface="YuGothic"/>
              </a:defRPr>
            </a:pPr>
            <a:r>
              <a:rPr sz="975" b="0">
                <a:solidFill>
                  <a:srgbClr val="8993A4"/>
                </a:solidFill>
                <a:latin typeface="YuGothic"/>
                <a:ea typeface="YuGothic"/>
                <a:cs typeface="YuGothic"/>
              </a:rPr>
              <a:t>17</a:t>
            </a:r>
          </a:p>
        </p:txBody>
      </p:sp>
      <p:sp>
        <p:nvSpPr>
          <p:cNvPr id="5" name="">
            <a:extLst xmlns:a="http://schemas.openxmlformats.org/drawingml/2006/main">
              <a:ext uri="{FF2B5EF4-FFF2-40B4-BE49-F238E27FC236}">
                <a16:creationId xmlns:a16="http://schemas.microsoft.com/office/drawing/2014/main" id="{6C133A5B-122B-4C50-9DE7-69AEEBA90054}"/>
              </a:ext>
            </a:extLst>
          </p:cNvPr>
          <p:cNvSpPr>
            <a:spLocks xmlns:a="http://schemas.openxmlformats.org/drawingml/2006/main" noGrp="1"/>
          </p:cNvSpPr>
          <p:nvPr/>
        </p:nvSpPr>
        <p:spPr>
          <a:xfrm xmlns:a="http://schemas.openxmlformats.org/drawingml/2006/main">
            <a:off x="666750" y="1257300"/>
            <a:ext cx="10858500" cy="914400"/>
          </a:xfrm>
          <a:prstGeom xmlns:a="http://schemas.openxmlformats.org/drawingml/2006/main" prst="roundRect">
            <a:avLst>
              <a:gd name="adj" fmla="val 8333"/>
            </a:avLst>
          </a:prstGeom>
          <a:solidFill xmlns:a="http://schemas.openxmlformats.org/drawingml/2006/main">
            <a:srgbClr val="EAF4FB"/>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C4B75597-DEF8-457B-8777-B5E18851E34B}"/>
              </a:ext>
            </a:extLst>
          </p:cNvPr>
          <p:cNvSpPr>
            <a:spLocks xmlns:a="http://schemas.openxmlformats.org/drawingml/2006/main" noGrp="1"/>
          </p:cNvSpPr>
          <p:nvPr/>
        </p:nvSpPr>
        <p:spPr>
          <a:xfrm xmlns:a="http://schemas.openxmlformats.org/drawingml/2006/main">
            <a:off x="1000125" y="1381125"/>
            <a:ext cx="10191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8205"/>
          </a:bodyPr>
          <a:lstStyle xmlns:a="http://schemas.openxmlformats.org/drawingml/2006/main"/>
          <a:p xmlns:a="http://schemas.openxmlformats.org/drawingml/2006/main">
            <a:pPr algn="ctr">
              <a:defRPr sz="1950" b="1">
                <a:solidFill>
                  <a:srgbClr val="1479C9"/>
                </a:solidFill>
                <a:latin typeface="YuGothic"/>
                <a:ea typeface="YuGothic"/>
                <a:cs typeface="YuGothic"/>
              </a:defRPr>
            </a:pPr>
            <a:r>
              <a:rPr sz="1950" b="1">
                <a:solidFill>
                  <a:srgbClr val="1479C9"/>
                </a:solidFill>
                <a:latin typeface="YuGothic"/>
                <a:ea typeface="YuGothic"/>
                <a:cs typeface="YuGothic"/>
              </a:rPr>
              <a:t>2クラスに絞る価値は、忠実度の小幅改善だけではない</a:t>
            </a:r>
          </a:p>
        </p:txBody>
      </p:sp>
      <p:sp>
        <p:nvSpPr>
          <p:cNvPr id="7" name="">
            <a:extLst xmlns:a="http://schemas.openxmlformats.org/drawingml/2006/main">
              <a:ext uri="{FF2B5EF4-FFF2-40B4-BE49-F238E27FC236}">
                <a16:creationId xmlns:a16="http://schemas.microsoft.com/office/drawing/2014/main" id="{CE729F22-0EA0-43A5-B0F3-ED7415A45F6E}"/>
              </a:ext>
            </a:extLst>
          </p:cNvPr>
          <p:cNvSpPr>
            <a:spLocks xmlns:a="http://schemas.openxmlformats.org/drawingml/2006/main" noGrp="1"/>
          </p:cNvSpPr>
          <p:nvPr/>
        </p:nvSpPr>
        <p:spPr>
          <a:xfrm xmlns:a="http://schemas.openxmlformats.org/drawingml/2006/main">
            <a:off x="1000125" y="1752600"/>
            <a:ext cx="10191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000"/>
          </a:bodyPr>
          <a:lstStyle xmlns:a="http://schemas.openxmlformats.org/drawingml/2006/main"/>
          <a:p xmlns:a="http://schemas.openxmlformats.org/drawingml/2006/main">
            <a:pPr algn="ctr">
              <a:defRPr sz="1500" b="0">
                <a:solidFill>
                  <a:srgbClr val="17233D"/>
                </a:solidFill>
                <a:latin typeface="YuGothic"/>
                <a:ea typeface="YuGothic"/>
                <a:cs typeface="YuGothic"/>
              </a:defRPr>
            </a:pPr>
            <a:r>
              <a:rPr sz="1500" b="0">
                <a:solidFill>
                  <a:srgbClr val="17233D"/>
                </a:solidFill>
                <a:latin typeface="YuGothic"/>
                <a:ea typeface="YuGothic"/>
                <a:cs typeface="YuGothic"/>
              </a:rPr>
              <a:t>『なぜ1位が2位より選ばれたか』に関係する特徴へ、限られた表示枠を集中できる</a:t>
            </a:r>
          </a:p>
        </p:txBody>
      </p:sp>
      <p:sp>
        <p:nvSpPr>
          <p:cNvPr id="8" name="">
            <a:extLst xmlns:a="http://schemas.openxmlformats.org/drawingml/2006/main">
              <a:ext uri="{FF2B5EF4-FFF2-40B4-BE49-F238E27FC236}">
                <a16:creationId xmlns:a16="http://schemas.microsoft.com/office/drawing/2014/main" id="{5F931079-EF29-4DF0-96D4-D83BBD8C9F49}"/>
              </a:ext>
            </a:extLst>
          </p:cNvPr>
          <p:cNvSpPr>
            <a:spLocks xmlns:a="http://schemas.openxmlformats.org/drawingml/2006/main" noGrp="1"/>
          </p:cNvSpPr>
          <p:nvPr/>
        </p:nvSpPr>
        <p:spPr>
          <a:xfrm xmlns:a="http://schemas.openxmlformats.org/drawingml/2006/main">
            <a:off x="762000" y="2552700"/>
            <a:ext cx="1809750" cy="304800"/>
          </a:xfrm>
          <a:prstGeom xmlns:a="http://schemas.openxmlformats.org/drawingml/2006/main" prst="roundRect">
            <a:avLst>
              <a:gd name="adj" fmla="val 25000"/>
            </a:avLst>
          </a:prstGeom>
          <a:solidFill xmlns:a="http://schemas.openxmlformats.org/drawingml/2006/main">
            <a:srgbClr val="2AA876"/>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90F5F759-F0BB-444D-87B7-501BA5BD8E2F}"/>
              </a:ext>
            </a:extLst>
          </p:cNvPr>
          <p:cNvSpPr>
            <a:spLocks xmlns:a="http://schemas.openxmlformats.org/drawingml/2006/main" noGrp="1"/>
          </p:cNvSpPr>
          <p:nvPr/>
        </p:nvSpPr>
        <p:spPr>
          <a:xfrm xmlns:a="http://schemas.openxmlformats.org/drawingml/2006/main">
            <a:off x="857250" y="2562225"/>
            <a:ext cx="16192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200" b="1">
                <a:solidFill>
                  <a:srgbClr val="FFFFFF"/>
                </a:solidFill>
                <a:latin typeface="YuGothic"/>
                <a:ea typeface="YuGothic"/>
                <a:cs typeface="YuGothic"/>
              </a:defRPr>
            </a:pPr>
            <a:r>
              <a:rPr sz="1200" b="1">
                <a:solidFill>
                  <a:srgbClr val="FFFFFF"/>
                </a:solidFill>
                <a:latin typeface="YuGothic"/>
                <a:ea typeface="YuGothic"/>
                <a:cs typeface="YuGothic"/>
              </a:rPr>
              <a:t>汎用的な基準手法</a:t>
            </a:r>
          </a:p>
        </p:txBody>
      </p:sp>
      <p:sp>
        <p:nvSpPr>
          <p:cNvPr id="10" name="">
            <a:extLst xmlns:a="http://schemas.openxmlformats.org/drawingml/2006/main">
              <a:ext uri="{FF2B5EF4-FFF2-40B4-BE49-F238E27FC236}">
                <a16:creationId xmlns:a16="http://schemas.microsoft.com/office/drawing/2014/main" id="{17B4B79E-7A2E-4A4C-AD0B-8057B2D0FCB5}"/>
              </a:ext>
            </a:extLst>
          </p:cNvPr>
          <p:cNvSpPr>
            <a:spLocks xmlns:a="http://schemas.openxmlformats.org/drawingml/2006/main" noGrp="1"/>
          </p:cNvSpPr>
          <p:nvPr/>
        </p:nvSpPr>
        <p:spPr>
          <a:xfrm xmlns:a="http://schemas.openxmlformats.org/drawingml/2006/main">
            <a:off x="2838450" y="2457450"/>
            <a:ext cx="2095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725" b="1">
                <a:solidFill>
                  <a:srgbClr val="2AA876"/>
                </a:solidFill>
                <a:latin typeface="YuGothic"/>
                <a:ea typeface="YuGothic"/>
                <a:cs typeface="YuGothic"/>
              </a:defRPr>
            </a:pPr>
            <a:r>
              <a:rPr sz="1725" b="1">
                <a:solidFill>
                  <a:srgbClr val="2AA876"/>
                </a:solidFill>
                <a:latin typeface="YuGothic"/>
                <a:ea typeface="YuGothic"/>
                <a:cs typeface="YuGothic"/>
              </a:rPr>
              <a:t>2クラスLIME</a:t>
            </a:r>
          </a:p>
        </p:txBody>
      </p:sp>
      <p:sp>
        <p:nvSpPr>
          <p:cNvPr id="11" name="">
            <a:extLst xmlns:a="http://schemas.openxmlformats.org/drawingml/2006/main">
              <a:ext uri="{FF2B5EF4-FFF2-40B4-BE49-F238E27FC236}">
                <a16:creationId xmlns:a16="http://schemas.microsoft.com/office/drawing/2014/main" id="{924E720B-68E2-4753-9CF7-214CD58A3B92}"/>
              </a:ext>
            </a:extLst>
          </p:cNvPr>
          <p:cNvSpPr>
            <a:spLocks xmlns:a="http://schemas.openxmlformats.org/drawingml/2006/main" noGrp="1"/>
          </p:cNvSpPr>
          <p:nvPr/>
        </p:nvSpPr>
        <p:spPr>
          <a:xfrm xmlns:a="http://schemas.openxmlformats.org/drawingml/2006/main">
            <a:off x="4953000" y="2447925"/>
            <a:ext cx="6400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17233D"/>
                </a:solidFill>
                <a:latin typeface="YuGothic"/>
                <a:ea typeface="YuGothic"/>
                <a:cs typeface="YuGothic"/>
              </a:defRPr>
            </a:pPr>
            <a:r>
              <a:rPr sz="1350" b="0">
                <a:solidFill>
                  <a:srgbClr val="17233D"/>
                </a:solidFill>
                <a:latin typeface="YuGothic"/>
                <a:ea typeface="YuGothic"/>
                <a:cs typeface="YuGothic"/>
              </a:rPr>
              <a:t>3種類のBBで安定。実装が単純で、OVRより高速。</a:t>
            </a:r>
          </a:p>
        </p:txBody>
      </p:sp>
      <p:sp>
        <p:nvSpPr>
          <p:cNvPr id="12" name="">
            <a:extLst xmlns:a="http://schemas.openxmlformats.org/drawingml/2006/main">
              <a:ext uri="{FF2B5EF4-FFF2-40B4-BE49-F238E27FC236}">
                <a16:creationId xmlns:a16="http://schemas.microsoft.com/office/drawing/2014/main" id="{3F6A0FFA-8B9F-4B08-B2EE-9008AE6F6C74}"/>
              </a:ext>
            </a:extLst>
          </p:cNvPr>
          <p:cNvSpPr>
            <a:spLocks xmlns:a="http://schemas.openxmlformats.org/drawingml/2006/main" noGrp="1"/>
          </p:cNvSpPr>
          <p:nvPr/>
        </p:nvSpPr>
        <p:spPr>
          <a:xfrm xmlns:a="http://schemas.openxmlformats.org/drawingml/2006/main">
            <a:off x="2809875" y="3190875"/>
            <a:ext cx="8543925" cy="9525"/>
          </a:xfrm>
          <a:prstGeom xmlns:a="http://schemas.openxmlformats.org/drawingml/2006/main" prst="rect">
            <a:avLst/>
          </a:prstGeom>
          <a:solidFill xmlns:a="http://schemas.openxmlformats.org/drawingml/2006/main">
            <a:srgbClr val="E7EBF0"/>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990210C3-BD95-428E-B3AD-01A80690758D}"/>
              </a:ext>
            </a:extLst>
          </p:cNvPr>
          <p:cNvSpPr>
            <a:spLocks xmlns:a="http://schemas.openxmlformats.org/drawingml/2006/main" noGrp="1"/>
          </p:cNvSpPr>
          <p:nvPr/>
        </p:nvSpPr>
        <p:spPr>
          <a:xfrm xmlns:a="http://schemas.openxmlformats.org/drawingml/2006/main">
            <a:off x="762000" y="3543300"/>
            <a:ext cx="1809750" cy="304800"/>
          </a:xfrm>
          <a:prstGeom xmlns:a="http://schemas.openxmlformats.org/drawingml/2006/main" prst="roundRect">
            <a:avLst>
              <a:gd name="adj" fmla="val 25000"/>
            </a:avLst>
          </a:prstGeom>
          <a:solidFill xmlns:a="http://schemas.openxmlformats.org/drawingml/2006/main">
            <a:srgbClr val="F28C28"/>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A630C845-B037-43E1-A462-76A203DC96FC}"/>
              </a:ext>
            </a:extLst>
          </p:cNvPr>
          <p:cNvSpPr>
            <a:spLocks xmlns:a="http://schemas.openxmlformats.org/drawingml/2006/main" noGrp="1"/>
          </p:cNvSpPr>
          <p:nvPr/>
        </p:nvSpPr>
        <p:spPr>
          <a:xfrm xmlns:a="http://schemas.openxmlformats.org/drawingml/2006/main">
            <a:off x="857250" y="3552825"/>
            <a:ext cx="16192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200" b="1">
                <a:solidFill>
                  <a:srgbClr val="FFFFFF"/>
                </a:solidFill>
                <a:latin typeface="YuGothic"/>
                <a:ea typeface="YuGothic"/>
                <a:cs typeface="YuGothic"/>
              </a:defRPr>
            </a:pPr>
            <a:r>
              <a:rPr sz="1200" b="1">
                <a:solidFill>
                  <a:srgbClr val="FFFFFF"/>
                </a:solidFill>
                <a:latin typeface="YuGothic"/>
                <a:ea typeface="YuGothic"/>
                <a:cs typeface="YuGothic"/>
              </a:rPr>
              <a:t>線形logit構造</a:t>
            </a:r>
          </a:p>
        </p:txBody>
      </p:sp>
      <p:sp>
        <p:nvSpPr>
          <p:cNvPr id="15" name="">
            <a:extLst xmlns:a="http://schemas.openxmlformats.org/drawingml/2006/main">
              <a:ext uri="{FF2B5EF4-FFF2-40B4-BE49-F238E27FC236}">
                <a16:creationId xmlns:a16="http://schemas.microsoft.com/office/drawing/2014/main" id="{2A153C29-1F28-408E-96FF-FDC30C01AF76}"/>
              </a:ext>
            </a:extLst>
          </p:cNvPr>
          <p:cNvSpPr>
            <a:spLocks xmlns:a="http://schemas.openxmlformats.org/drawingml/2006/main" noGrp="1"/>
          </p:cNvSpPr>
          <p:nvPr/>
        </p:nvSpPr>
        <p:spPr>
          <a:xfrm xmlns:a="http://schemas.openxmlformats.org/drawingml/2006/main">
            <a:off x="2838450" y="3448050"/>
            <a:ext cx="2095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725" b="1">
                <a:solidFill>
                  <a:srgbClr val="F28C28"/>
                </a:solidFill>
                <a:latin typeface="YuGothic"/>
                <a:ea typeface="YuGothic"/>
                <a:cs typeface="YuGothic"/>
              </a:defRPr>
            </a:pPr>
            <a:r>
              <a:rPr sz="1725" b="1">
                <a:solidFill>
                  <a:srgbClr val="F28C28"/>
                </a:solidFill>
                <a:latin typeface="YuGothic"/>
                <a:ea typeface="YuGothic"/>
                <a:cs typeface="YuGothic"/>
              </a:rPr>
              <a:t>Contrastive</a:t>
            </a:r>
          </a:p>
        </p:txBody>
      </p:sp>
      <p:sp>
        <p:nvSpPr>
          <p:cNvPr id="16" name="">
            <a:extLst xmlns:a="http://schemas.openxmlformats.org/drawingml/2006/main">
              <a:ext uri="{FF2B5EF4-FFF2-40B4-BE49-F238E27FC236}">
                <a16:creationId xmlns:a16="http://schemas.microsoft.com/office/drawing/2014/main" id="{D21CF50C-F95A-49A3-83EE-51A36C9F6CC0}"/>
              </a:ext>
            </a:extLst>
          </p:cNvPr>
          <p:cNvSpPr>
            <a:spLocks xmlns:a="http://schemas.openxmlformats.org/drawingml/2006/main" noGrp="1"/>
          </p:cNvSpPr>
          <p:nvPr/>
        </p:nvSpPr>
        <p:spPr>
          <a:xfrm xmlns:a="http://schemas.openxmlformats.org/drawingml/2006/main">
            <a:off x="4953000" y="3438525"/>
            <a:ext cx="6400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17233D"/>
                </a:solidFill>
                <a:latin typeface="YuGothic"/>
                <a:ea typeface="YuGothic"/>
                <a:cs typeface="YuGothic"/>
              </a:defRPr>
            </a:pPr>
            <a:r>
              <a:rPr sz="1350" b="0">
                <a:solidFill>
                  <a:srgbClr val="17233D"/>
                </a:solidFill>
                <a:latin typeface="YuGothic"/>
                <a:ea typeface="YuGothic"/>
                <a:cs typeface="YuGothic"/>
              </a:rPr>
              <a:t>線形softmaxで最高忠実度。対数比がスコア差と一致する条件を活かせる。</a:t>
            </a:r>
          </a:p>
        </p:txBody>
      </p:sp>
      <p:sp>
        <p:nvSpPr>
          <p:cNvPr id="17" name="">
            <a:extLst xmlns:a="http://schemas.openxmlformats.org/drawingml/2006/main">
              <a:ext uri="{FF2B5EF4-FFF2-40B4-BE49-F238E27FC236}">
                <a16:creationId xmlns:a16="http://schemas.microsoft.com/office/drawing/2014/main" id="{6CF40F78-D832-4768-96B8-BFE3FA6147DF}"/>
              </a:ext>
            </a:extLst>
          </p:cNvPr>
          <p:cNvSpPr>
            <a:spLocks xmlns:a="http://schemas.openxmlformats.org/drawingml/2006/main" noGrp="1"/>
          </p:cNvSpPr>
          <p:nvPr/>
        </p:nvSpPr>
        <p:spPr>
          <a:xfrm xmlns:a="http://schemas.openxmlformats.org/drawingml/2006/main">
            <a:off x="2809875" y="4181475"/>
            <a:ext cx="8543925" cy="9525"/>
          </a:xfrm>
          <a:prstGeom xmlns:a="http://schemas.openxmlformats.org/drawingml/2006/main" prst="rect">
            <a:avLst/>
          </a:prstGeom>
          <a:solidFill xmlns:a="http://schemas.openxmlformats.org/drawingml/2006/main">
            <a:srgbClr val="E7EBF0"/>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CEDAEDE1-C460-440F-8351-DE536A874CB5}"/>
              </a:ext>
            </a:extLst>
          </p:cNvPr>
          <p:cNvSpPr>
            <a:spLocks xmlns:a="http://schemas.openxmlformats.org/drawingml/2006/main" noGrp="1"/>
          </p:cNvSpPr>
          <p:nvPr/>
        </p:nvSpPr>
        <p:spPr>
          <a:xfrm xmlns:a="http://schemas.openxmlformats.org/drawingml/2006/main">
            <a:off x="762000" y="4533900"/>
            <a:ext cx="1809750" cy="304800"/>
          </a:xfrm>
          <a:prstGeom xmlns:a="http://schemas.openxmlformats.org/drawingml/2006/main" prst="roundRect">
            <a:avLst>
              <a:gd name="adj" fmla="val 25000"/>
            </a:avLst>
          </a:prstGeom>
          <a:solidFill xmlns:a="http://schemas.openxmlformats.org/drawingml/2006/main">
            <a:srgbClr val="7B61A8"/>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E60CDE14-AED3-4737-A718-3CF9910B7C7D}"/>
              </a:ext>
            </a:extLst>
          </p:cNvPr>
          <p:cNvSpPr>
            <a:spLocks xmlns:a="http://schemas.openxmlformats.org/drawingml/2006/main" noGrp="1"/>
          </p:cNvSpPr>
          <p:nvPr/>
        </p:nvSpPr>
        <p:spPr>
          <a:xfrm xmlns:a="http://schemas.openxmlformats.org/drawingml/2006/main">
            <a:off x="857250" y="4543425"/>
            <a:ext cx="16192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200" b="1">
                <a:solidFill>
                  <a:srgbClr val="FFFFFF"/>
                </a:solidFill>
                <a:latin typeface="YuGothic"/>
                <a:ea typeface="YuGothic"/>
                <a:cs typeface="YuGothic"/>
              </a:defRPr>
            </a:pPr>
            <a:r>
              <a:rPr sz="1200" b="1">
                <a:solidFill>
                  <a:srgbClr val="FFFFFF"/>
                </a:solidFill>
                <a:latin typeface="YuGothic"/>
                <a:ea typeface="YuGothic"/>
                <a:cs typeface="YuGothic"/>
              </a:rPr>
              <a:t>現状の課題</a:t>
            </a:r>
          </a:p>
        </p:txBody>
      </p:sp>
      <p:sp>
        <p:nvSpPr>
          <p:cNvPr id="20" name="">
            <a:extLst xmlns:a="http://schemas.openxmlformats.org/drawingml/2006/main">
              <a:ext uri="{FF2B5EF4-FFF2-40B4-BE49-F238E27FC236}">
                <a16:creationId xmlns:a16="http://schemas.microsoft.com/office/drawing/2014/main" id="{A5E2E013-2D23-490A-B2AA-17709679AA8F}"/>
              </a:ext>
            </a:extLst>
          </p:cNvPr>
          <p:cNvSpPr>
            <a:spLocks xmlns:a="http://schemas.openxmlformats.org/drawingml/2006/main" noGrp="1"/>
          </p:cNvSpPr>
          <p:nvPr/>
        </p:nvSpPr>
        <p:spPr>
          <a:xfrm xmlns:a="http://schemas.openxmlformats.org/drawingml/2006/main">
            <a:off x="2838450" y="4438650"/>
            <a:ext cx="2095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725" b="1">
                <a:solidFill>
                  <a:srgbClr val="7B61A8"/>
                </a:solidFill>
                <a:latin typeface="YuGothic"/>
                <a:ea typeface="YuGothic"/>
                <a:cs typeface="YuGothic"/>
              </a:defRPr>
            </a:pPr>
            <a:r>
              <a:rPr sz="1725" b="1">
                <a:solidFill>
                  <a:srgbClr val="7B61A8"/>
                </a:solidFill>
                <a:latin typeface="YuGothic"/>
                <a:ea typeface="YuGothic"/>
                <a:cs typeface="YuGothic"/>
              </a:rPr>
              <a:t>OVO Logistic</a:t>
            </a:r>
          </a:p>
        </p:txBody>
      </p:sp>
      <p:sp>
        <p:nvSpPr>
          <p:cNvPr id="21" name="">
            <a:extLst xmlns:a="http://schemas.openxmlformats.org/drawingml/2006/main">
              <a:ext uri="{FF2B5EF4-FFF2-40B4-BE49-F238E27FC236}">
                <a16:creationId xmlns:a16="http://schemas.microsoft.com/office/drawing/2014/main" id="{AB2C26CB-E2FE-4793-9F0A-05D23BF0BE83}"/>
              </a:ext>
            </a:extLst>
          </p:cNvPr>
          <p:cNvSpPr>
            <a:spLocks xmlns:a="http://schemas.openxmlformats.org/drawingml/2006/main" noGrp="1"/>
          </p:cNvSpPr>
          <p:nvPr/>
        </p:nvSpPr>
        <p:spPr>
          <a:xfrm xmlns:a="http://schemas.openxmlformats.org/drawingml/2006/main">
            <a:off x="4953000" y="4429125"/>
            <a:ext cx="6400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17233D"/>
                </a:solidFill>
                <a:latin typeface="YuGothic"/>
                <a:ea typeface="YuGothic"/>
                <a:cs typeface="YuGothic"/>
              </a:defRPr>
            </a:pPr>
            <a:r>
              <a:rPr sz="1350" b="0">
                <a:solidFill>
                  <a:srgbClr val="17233D"/>
                </a:solidFill>
                <a:latin typeface="YuGothic"/>
                <a:ea typeface="YuGothic"/>
                <a:cs typeface="YuGothic"/>
              </a:rPr>
              <a:t>特徴の関連性は高いが、忠実度と次元方向の計算時間で劣る。正則化の再調整が必要。</a:t>
            </a:r>
          </a:p>
        </p:txBody>
      </p:sp>
      <p:sp>
        <p:nvSpPr>
          <p:cNvPr id="22" name="">
            <a:extLst xmlns:a="http://schemas.openxmlformats.org/drawingml/2006/main">
              <a:ext uri="{FF2B5EF4-FFF2-40B4-BE49-F238E27FC236}">
                <a16:creationId xmlns:a16="http://schemas.microsoft.com/office/drawing/2014/main" id="{85827579-35A0-4B0D-8887-34A8F0C09D83}"/>
              </a:ext>
            </a:extLst>
          </p:cNvPr>
          <p:cNvSpPr>
            <a:spLocks xmlns:a="http://schemas.openxmlformats.org/drawingml/2006/main" noGrp="1"/>
          </p:cNvSpPr>
          <p:nvPr/>
        </p:nvSpPr>
        <p:spPr>
          <a:xfrm xmlns:a="http://schemas.openxmlformats.org/drawingml/2006/main">
            <a:off x="723900" y="5505450"/>
            <a:ext cx="10782300" cy="666750"/>
          </a:xfrm>
          <a:prstGeom xmlns:a="http://schemas.openxmlformats.org/drawingml/2006/main" prst="roundRect">
            <a:avLst>
              <a:gd name="adj" fmla="val 11429"/>
            </a:avLst>
          </a:prstGeom>
          <a:solidFill xmlns:a="http://schemas.openxmlformats.org/drawingml/2006/main">
            <a:srgbClr val="FFF4D6"/>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A5E0C956-30A9-4FAA-9FED-7D2BD268E971}"/>
              </a:ext>
            </a:extLst>
          </p:cNvPr>
          <p:cNvSpPr>
            <a:spLocks xmlns:a="http://schemas.openxmlformats.org/drawingml/2006/main" noGrp="1"/>
          </p:cNvSpPr>
          <p:nvPr/>
        </p:nvSpPr>
        <p:spPr>
          <a:xfrm xmlns:a="http://schemas.openxmlformats.org/drawingml/2006/main">
            <a:off x="971550" y="5648325"/>
            <a:ext cx="102870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425" b="1">
                <a:solidFill>
                  <a:srgbClr val="F28C28"/>
                </a:solidFill>
                <a:latin typeface="YuGothic"/>
                <a:ea typeface="YuGothic"/>
                <a:cs typeface="YuGothic"/>
              </a:defRPr>
            </a:pPr>
            <a:r>
              <a:rPr sz="1425" b="1">
                <a:solidFill>
                  <a:srgbClr val="F28C28"/>
                </a:solidFill>
                <a:latin typeface="YuGothic"/>
                <a:ea typeface="YuGothic"/>
                <a:cs typeface="YuGothic"/>
              </a:rPr>
              <a:t>今後：実データ・他の摂動法で再検証し、説明の分かりやすさはユーザ実験で評価する</a:t>
            </a:r>
          </a:p>
        </p:txBody>
      </p:sp>
    </p:spTree>
    <p:extLst>
      <p:ext uri="{BB962C8B-B14F-4D97-AF65-F5344CB8AC3E}">
        <p14:creationId xmlns:p14="http://schemas.microsoft.com/office/powerpoint/2010/main" val="104947451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2026-09-09T08:07:59.0790000Z</dcterms:created>
  <dcterms:modified xsi:type="dcterms:W3CDTF">2026-09-09T08:07:59.0790000Z</dcterms:modified>
</coreProperties>
</file>